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3.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8" r:id="rId3"/>
    <p:sldMasterId id="2147483673" r:id="rId4"/>
  </p:sldMasterIdLst>
  <p:notesMasterIdLst>
    <p:notesMasterId r:id="rId75"/>
  </p:notesMasterIdLst>
  <p:sldIdLst>
    <p:sldId id="1225" r:id="rId5"/>
    <p:sldId id="1129" r:id="rId6"/>
    <p:sldId id="1047" r:id="rId7"/>
    <p:sldId id="1048" r:id="rId8"/>
    <p:sldId id="1049" r:id="rId9"/>
    <p:sldId id="1058" r:id="rId10"/>
    <p:sldId id="1195" r:id="rId11"/>
    <p:sldId id="1199" r:id="rId12"/>
    <p:sldId id="1200" r:id="rId13"/>
    <p:sldId id="1201" r:id="rId14"/>
    <p:sldId id="1202" r:id="rId15"/>
    <p:sldId id="1061" r:id="rId16"/>
    <p:sldId id="1077" r:id="rId17"/>
    <p:sldId id="1078" r:id="rId18"/>
    <p:sldId id="1099" r:id="rId19"/>
    <p:sldId id="1100" r:id="rId20"/>
    <p:sldId id="1102" r:id="rId21"/>
    <p:sldId id="1101" r:id="rId22"/>
    <p:sldId id="1103" r:id="rId23"/>
    <p:sldId id="1079" r:id="rId24"/>
    <p:sldId id="1080" r:id="rId25"/>
    <p:sldId id="1284" r:id="rId26"/>
    <p:sldId id="1277" r:id="rId27"/>
    <p:sldId id="1269" r:id="rId28"/>
    <p:sldId id="1279" r:id="rId29"/>
    <p:sldId id="1270" r:id="rId30"/>
    <p:sldId id="1278" r:id="rId31"/>
    <p:sldId id="1281" r:id="rId32"/>
    <p:sldId id="1282" r:id="rId33"/>
    <p:sldId id="1283" r:id="rId34"/>
    <p:sldId id="1280" r:id="rId35"/>
    <p:sldId id="1271" r:id="rId36"/>
    <p:sldId id="1272" r:id="rId37"/>
    <p:sldId id="1273" r:id="rId38"/>
    <p:sldId id="1274" r:id="rId39"/>
    <p:sldId id="1275" r:id="rId40"/>
    <p:sldId id="1276" r:id="rId41"/>
    <p:sldId id="1227" r:id="rId42"/>
    <p:sldId id="1231" r:id="rId43"/>
    <p:sldId id="1232" r:id="rId44"/>
    <p:sldId id="1233" r:id="rId45"/>
    <p:sldId id="1234" r:id="rId46"/>
    <p:sldId id="1235" r:id="rId47"/>
    <p:sldId id="1236" r:id="rId48"/>
    <p:sldId id="1237" r:id="rId49"/>
    <p:sldId id="1238" r:id="rId50"/>
    <p:sldId id="1239" r:id="rId51"/>
    <p:sldId id="1243" r:id="rId52"/>
    <p:sldId id="1244" r:id="rId53"/>
    <p:sldId id="1245" r:id="rId54"/>
    <p:sldId id="1246" r:id="rId55"/>
    <p:sldId id="1247" r:id="rId56"/>
    <p:sldId id="1248" r:id="rId57"/>
    <p:sldId id="1249" r:id="rId58"/>
    <p:sldId id="1250" r:id="rId59"/>
    <p:sldId id="1251" r:id="rId60"/>
    <p:sldId id="1252" r:id="rId61"/>
    <p:sldId id="1253" r:id="rId62"/>
    <p:sldId id="1254" r:id="rId63"/>
    <p:sldId id="1255" r:id="rId64"/>
    <p:sldId id="1256" r:id="rId65"/>
    <p:sldId id="1257" r:id="rId66"/>
    <p:sldId id="1258" r:id="rId67"/>
    <p:sldId id="1259" r:id="rId68"/>
    <p:sldId id="1263" r:id="rId69"/>
    <p:sldId id="1264" r:id="rId70"/>
    <p:sldId id="1265" r:id="rId71"/>
    <p:sldId id="1266" r:id="rId72"/>
    <p:sldId id="1267" r:id="rId73"/>
    <p:sldId id="1268" r:id="rId7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562" autoAdjust="0"/>
    <p:restoredTop sz="89660" autoAdjust="0"/>
  </p:normalViewPr>
  <p:slideViewPr>
    <p:cSldViewPr snapToGrid="0" snapToObjects="1">
      <p:cViewPr varScale="1">
        <p:scale>
          <a:sx n="102" d="100"/>
          <a:sy n="102" d="100"/>
        </p:scale>
        <p:origin x="864" y="10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16" Type="http://schemas.openxmlformats.org/officeDocument/2006/relationships/slide" Target="slides/slide1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slide" Target="slides/slide70.xml"/><Relationship Id="rId79" Type="http://schemas.openxmlformats.org/officeDocument/2006/relationships/tableStyles" Target="tableStyle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viewProps" Target="view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slideMaster" Target="slideMasters/slideMaster2.xml"/><Relationship Id="rId29" Type="http://schemas.openxmlformats.org/officeDocument/2006/relationships/slide" Target="slides/slide2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9/17/2026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a:t>
            </a:fld>
            <a:endParaRPr lang="en-US"/>
          </a:p>
        </p:txBody>
      </p:sp>
    </p:spTree>
    <p:extLst>
      <p:ext uri="{BB962C8B-B14F-4D97-AF65-F5344CB8AC3E}">
        <p14:creationId xmlns:p14="http://schemas.microsoft.com/office/powerpoint/2010/main" val="81524415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Tx/>
              <a:buNone/>
            </a:pPr>
            <a:r>
              <a:rPr lang="en-US" sz="1200" dirty="0">
                <a:solidFill>
                  <a:schemeClr val="accent5">
                    <a:lumMod val="40000"/>
                    <a:lumOff val="60000"/>
                  </a:schemeClr>
                </a:solidFill>
              </a:rPr>
              <a:t>8</a:t>
            </a:r>
            <a:r>
              <a:rPr lang="en-US" sz="1200" baseline="0" dirty="0">
                <a:solidFill>
                  <a:schemeClr val="accent5">
                    <a:lumMod val="40000"/>
                    <a:lumOff val="60000"/>
                  </a:schemeClr>
                </a:solidFill>
              </a:rPr>
              <a:t> – </a:t>
            </a:r>
            <a:r>
              <a:rPr lang="en-US" sz="1200" dirty="0">
                <a:solidFill>
                  <a:schemeClr val="accent5">
                    <a:lumMod val="40000"/>
                    <a:lumOff val="60000"/>
                  </a:schemeClr>
                </a:solidFill>
              </a:rPr>
              <a:t>Network Layer</a:t>
            </a:r>
            <a:endParaRPr lang="en-US" dirty="0"/>
          </a:p>
          <a:p>
            <a:pPr>
              <a:buFontTx/>
              <a:buNone/>
            </a:pPr>
            <a:r>
              <a:rPr lang="en-US" sz="1200" b="0" dirty="0"/>
              <a:t>8.3 – </a:t>
            </a:r>
            <a:r>
              <a:rPr lang="en-US" dirty="0">
                <a:solidFill>
                  <a:schemeClr val="accent5">
                    <a:lumMod val="40000"/>
                    <a:lumOff val="60000"/>
                  </a:schemeClr>
                </a:solidFill>
              </a:rPr>
              <a:t>IPv6 Packets</a:t>
            </a:r>
          </a:p>
          <a:p>
            <a:pPr>
              <a:buFontTx/>
              <a:buNone/>
            </a:pPr>
            <a:r>
              <a:rPr lang="en-US" sz="1200" kern="1200" dirty="0">
                <a:solidFill>
                  <a:schemeClr val="tx1"/>
                </a:solidFill>
                <a:latin typeface="Arial" charset="0"/>
                <a:ea typeface="ＭＳ Ｐゴシック" charset="0"/>
                <a:cs typeface="ＭＳ Ｐゴシック" charset="0"/>
              </a:rPr>
              <a:t>8.3.1</a:t>
            </a:r>
            <a:r>
              <a:rPr lang="en-US" sz="1200" kern="1200" baseline="0" dirty="0">
                <a:solidFill>
                  <a:schemeClr val="tx1"/>
                </a:solidFill>
                <a:latin typeface="Arial" charset="0"/>
                <a:ea typeface="ＭＳ Ｐゴシック" charset="0"/>
                <a:cs typeface="ＭＳ Ｐゴシック" charset="0"/>
              </a:rPr>
              <a:t> </a:t>
            </a:r>
            <a:r>
              <a:rPr lang="en-US" sz="1200" kern="1200" dirty="0">
                <a:solidFill>
                  <a:schemeClr val="tx1"/>
                </a:solidFill>
                <a:latin typeface="Arial" charset="0"/>
                <a:ea typeface="ＭＳ Ｐゴシック" charset="0"/>
                <a:cs typeface="ＭＳ Ｐゴシック" charset="0"/>
              </a:rPr>
              <a:t>– </a:t>
            </a:r>
            <a:r>
              <a:rPr lang="en-US" altLang="en-US" dirty="0"/>
              <a:t>Limitations of IPv4</a:t>
            </a:r>
          </a:p>
          <a:p>
            <a:endParaRPr lang="en-US" dirty="0"/>
          </a:p>
        </p:txBody>
      </p:sp>
      <p:sp>
        <p:nvSpPr>
          <p:cNvPr id="4" name="Slide Number Placeholder 3"/>
          <p:cNvSpPr>
            <a:spLocks noGrp="1"/>
          </p:cNvSpPr>
          <p:nvPr>
            <p:ph type="sldNum" sz="quarter" idx="10"/>
          </p:nvPr>
        </p:nvSpPr>
        <p:spPr/>
        <p:txBody>
          <a:bodyPr/>
          <a:lstStyle/>
          <a:p>
            <a:fld id="{5641018C-6CAF-B84E-B92C-ECB119457FBA}" type="slidenum">
              <a:rPr lang="en-US" smtClean="0">
                <a:solidFill>
                  <a:prstClr val="black"/>
                </a:solidFill>
              </a:rPr>
              <a:pPr/>
              <a:t>23</a:t>
            </a:fld>
            <a:endParaRPr lang="en-US" dirty="0">
              <a:solidFill>
                <a:prstClr val="black"/>
              </a:solidFill>
            </a:endParaRPr>
          </a:p>
        </p:txBody>
      </p:sp>
    </p:spTree>
    <p:extLst>
      <p:ext uri="{BB962C8B-B14F-4D97-AF65-F5344CB8AC3E}">
        <p14:creationId xmlns:p14="http://schemas.microsoft.com/office/powerpoint/2010/main" val="7188958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24</a:t>
            </a:fld>
            <a:endParaRPr lang="en-US" dirty="0">
              <a:solidFill>
                <a:prstClr val="black"/>
              </a:solidFill>
            </a:endParaRPr>
          </a:p>
        </p:txBody>
      </p:sp>
    </p:spTree>
    <p:extLst>
      <p:ext uri="{BB962C8B-B14F-4D97-AF65-F5344CB8AC3E}">
        <p14:creationId xmlns:p14="http://schemas.microsoft.com/office/powerpoint/2010/main" val="29869669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12.1 – IPv4 Issues</a:t>
            </a:r>
          </a:p>
          <a:p>
            <a:r>
              <a:rPr lang="en-US" dirty="0"/>
              <a:t>12.1.1 – Need for IPv6</a:t>
            </a:r>
          </a:p>
        </p:txBody>
      </p:sp>
      <p:sp>
        <p:nvSpPr>
          <p:cNvPr id="4" name="Slide Number Placeholder 3"/>
          <p:cNvSpPr>
            <a:spLocks noGrp="1"/>
          </p:cNvSpPr>
          <p:nvPr>
            <p:ph type="sldNum" sz="quarter" idx="5"/>
          </p:nvPr>
        </p:nvSpPr>
        <p:spPr/>
        <p:txBody>
          <a:bodyPr/>
          <a:lstStyle/>
          <a:p>
            <a:fld id="{5641018C-6CAF-B84E-B92C-ECB119457FBA}" type="slidenum">
              <a:rPr lang="en-US" smtClean="0"/>
              <a:t>25</a:t>
            </a:fld>
            <a:endParaRPr lang="en-US" dirty="0"/>
          </a:p>
        </p:txBody>
      </p:sp>
    </p:spTree>
    <p:extLst>
      <p:ext uri="{BB962C8B-B14F-4D97-AF65-F5344CB8AC3E}">
        <p14:creationId xmlns:p14="http://schemas.microsoft.com/office/powerpoint/2010/main" val="4705197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26</a:t>
            </a:fld>
            <a:endParaRPr lang="en-US" dirty="0">
              <a:solidFill>
                <a:prstClr val="black"/>
              </a:solidFill>
            </a:endParaRPr>
          </a:p>
        </p:txBody>
      </p:sp>
    </p:spTree>
    <p:extLst>
      <p:ext uri="{BB962C8B-B14F-4D97-AF65-F5344CB8AC3E}">
        <p14:creationId xmlns:p14="http://schemas.microsoft.com/office/powerpoint/2010/main" val="23403738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Tx/>
              <a:buNone/>
            </a:pPr>
            <a:r>
              <a:rPr lang="en-US" sz="1200" dirty="0">
                <a:solidFill>
                  <a:schemeClr val="accent5">
                    <a:lumMod val="40000"/>
                    <a:lumOff val="60000"/>
                  </a:schemeClr>
                </a:solidFill>
              </a:rPr>
              <a:t>8</a:t>
            </a:r>
            <a:r>
              <a:rPr lang="en-US" sz="1200" baseline="0" dirty="0">
                <a:solidFill>
                  <a:schemeClr val="accent5">
                    <a:lumMod val="40000"/>
                    <a:lumOff val="60000"/>
                  </a:schemeClr>
                </a:solidFill>
              </a:rPr>
              <a:t> – </a:t>
            </a:r>
            <a:r>
              <a:rPr lang="en-US" sz="1200" dirty="0">
                <a:solidFill>
                  <a:schemeClr val="accent5">
                    <a:lumMod val="40000"/>
                    <a:lumOff val="60000"/>
                  </a:schemeClr>
                </a:solidFill>
              </a:rPr>
              <a:t>Network Layer</a:t>
            </a:r>
            <a:endParaRPr lang="en-US" dirty="0"/>
          </a:p>
          <a:p>
            <a:pPr>
              <a:buFontTx/>
              <a:buNone/>
            </a:pPr>
            <a:r>
              <a:rPr lang="en-US" sz="1200" b="0" dirty="0"/>
              <a:t>8.3 – </a:t>
            </a:r>
            <a:r>
              <a:rPr lang="en-US" dirty="0">
                <a:solidFill>
                  <a:schemeClr val="accent5">
                    <a:lumMod val="40000"/>
                    <a:lumOff val="60000"/>
                  </a:schemeClr>
                </a:solidFill>
              </a:rPr>
              <a:t>IPv6 Packets</a:t>
            </a:r>
          </a:p>
          <a:p>
            <a:pPr>
              <a:buFontTx/>
              <a:buNone/>
            </a:pPr>
            <a:r>
              <a:rPr lang="en-US" sz="1200" kern="1200" dirty="0">
                <a:solidFill>
                  <a:schemeClr val="tx1"/>
                </a:solidFill>
                <a:latin typeface="Arial" charset="0"/>
                <a:ea typeface="ＭＳ Ｐゴシック" charset="0"/>
                <a:cs typeface="ＭＳ Ｐゴシック" charset="0"/>
              </a:rPr>
              <a:t>8.3.4</a:t>
            </a:r>
            <a:r>
              <a:rPr lang="en-US" sz="1200" kern="1200" baseline="0" dirty="0">
                <a:solidFill>
                  <a:schemeClr val="tx1"/>
                </a:solidFill>
                <a:latin typeface="Arial" charset="0"/>
                <a:ea typeface="ＭＳ Ｐゴシック" charset="0"/>
                <a:cs typeface="ＭＳ Ｐゴシック" charset="0"/>
              </a:rPr>
              <a:t> </a:t>
            </a:r>
            <a:r>
              <a:rPr lang="en-US" sz="1200" kern="1200" dirty="0">
                <a:solidFill>
                  <a:schemeClr val="tx1"/>
                </a:solidFill>
                <a:latin typeface="Arial" charset="0"/>
                <a:ea typeface="ＭＳ Ｐゴシック" charset="0"/>
                <a:cs typeface="ＭＳ Ｐゴシック" charset="0"/>
              </a:rPr>
              <a:t>– </a:t>
            </a:r>
            <a:r>
              <a:rPr lang="en-US" altLang="en-US" dirty="0"/>
              <a:t>IPv6 Packet Header</a:t>
            </a:r>
            <a:endParaRPr lang="en-US" dirty="0"/>
          </a:p>
        </p:txBody>
      </p:sp>
      <p:sp>
        <p:nvSpPr>
          <p:cNvPr id="4" name="Slide Number Placeholder 3"/>
          <p:cNvSpPr>
            <a:spLocks noGrp="1"/>
          </p:cNvSpPr>
          <p:nvPr>
            <p:ph type="sldNum" sz="quarter" idx="10"/>
          </p:nvPr>
        </p:nvSpPr>
        <p:spPr/>
        <p:txBody>
          <a:bodyPr/>
          <a:lstStyle/>
          <a:p>
            <a:fld id="{5641018C-6CAF-B84E-B92C-ECB119457FBA}" type="slidenum">
              <a:rPr lang="en-US" smtClean="0">
                <a:solidFill>
                  <a:prstClr val="black"/>
                </a:solidFill>
              </a:rPr>
              <a:pPr/>
              <a:t>27</a:t>
            </a:fld>
            <a:endParaRPr lang="en-US" dirty="0">
              <a:solidFill>
                <a:prstClr val="black"/>
              </a:solidFill>
            </a:endParaRPr>
          </a:p>
        </p:txBody>
      </p:sp>
    </p:spTree>
    <p:extLst>
      <p:ext uri="{BB962C8B-B14F-4D97-AF65-F5344CB8AC3E}">
        <p14:creationId xmlns:p14="http://schemas.microsoft.com/office/powerpoint/2010/main" val="282846179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12.2 – IPv6 Address Representation</a:t>
            </a:r>
          </a:p>
          <a:p>
            <a:r>
              <a:rPr lang="en-US" dirty="0"/>
              <a:t>12.2.1 – IPv6 Addressing Formats</a:t>
            </a:r>
          </a:p>
        </p:txBody>
      </p:sp>
      <p:sp>
        <p:nvSpPr>
          <p:cNvPr id="4" name="Slide Number Placeholder 3"/>
          <p:cNvSpPr>
            <a:spLocks noGrp="1"/>
          </p:cNvSpPr>
          <p:nvPr>
            <p:ph type="sldNum" sz="quarter" idx="5"/>
          </p:nvPr>
        </p:nvSpPr>
        <p:spPr/>
        <p:txBody>
          <a:bodyPr/>
          <a:lstStyle/>
          <a:p>
            <a:fld id="{5641018C-6CAF-B84E-B92C-ECB119457FBA}" type="slidenum">
              <a:rPr lang="en-US" smtClean="0"/>
              <a:t>28</a:t>
            </a:fld>
            <a:endParaRPr lang="en-US" dirty="0"/>
          </a:p>
        </p:txBody>
      </p:sp>
    </p:spTree>
    <p:extLst>
      <p:ext uri="{BB962C8B-B14F-4D97-AF65-F5344CB8AC3E}">
        <p14:creationId xmlns:p14="http://schemas.microsoft.com/office/powerpoint/2010/main" val="227616390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12.2 – IPv6 Address Representation</a:t>
            </a:r>
          </a:p>
          <a:p>
            <a:r>
              <a:rPr lang="en-US" dirty="0"/>
              <a:t>12.2.2 – Omit Leading Zero</a:t>
            </a:r>
          </a:p>
        </p:txBody>
      </p:sp>
      <p:sp>
        <p:nvSpPr>
          <p:cNvPr id="4" name="Slide Number Placeholder 3"/>
          <p:cNvSpPr>
            <a:spLocks noGrp="1"/>
          </p:cNvSpPr>
          <p:nvPr>
            <p:ph type="sldNum" sz="quarter" idx="5"/>
          </p:nvPr>
        </p:nvSpPr>
        <p:spPr/>
        <p:txBody>
          <a:bodyPr/>
          <a:lstStyle/>
          <a:p>
            <a:fld id="{5641018C-6CAF-B84E-B92C-ECB119457FBA}" type="slidenum">
              <a:rPr lang="en-US" smtClean="0"/>
              <a:t>29</a:t>
            </a:fld>
            <a:endParaRPr lang="en-US" dirty="0"/>
          </a:p>
        </p:txBody>
      </p:sp>
    </p:spTree>
    <p:extLst>
      <p:ext uri="{BB962C8B-B14F-4D97-AF65-F5344CB8AC3E}">
        <p14:creationId xmlns:p14="http://schemas.microsoft.com/office/powerpoint/2010/main" val="248206657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12.2 – IPv6 Address Representation</a:t>
            </a:r>
          </a:p>
          <a:p>
            <a:r>
              <a:rPr lang="en-US" dirty="0"/>
              <a:t>12.2.2 – Rule 2 – Double Colon</a:t>
            </a:r>
          </a:p>
          <a:p>
            <a:r>
              <a:rPr lang="en-US" dirty="0"/>
              <a:t>12.2.4 – Activity – IPv6 Address Representation</a:t>
            </a:r>
          </a:p>
        </p:txBody>
      </p:sp>
      <p:sp>
        <p:nvSpPr>
          <p:cNvPr id="4" name="Slide Number Placeholder 3"/>
          <p:cNvSpPr>
            <a:spLocks noGrp="1"/>
          </p:cNvSpPr>
          <p:nvPr>
            <p:ph type="sldNum" sz="quarter" idx="5"/>
          </p:nvPr>
        </p:nvSpPr>
        <p:spPr/>
        <p:txBody>
          <a:bodyPr/>
          <a:lstStyle/>
          <a:p>
            <a:fld id="{5641018C-6CAF-B84E-B92C-ECB119457FBA}" type="slidenum">
              <a:rPr lang="en-US" smtClean="0"/>
              <a:t>30</a:t>
            </a:fld>
            <a:endParaRPr lang="en-US" dirty="0"/>
          </a:p>
        </p:txBody>
      </p:sp>
    </p:spTree>
    <p:extLst>
      <p:ext uri="{BB962C8B-B14F-4D97-AF65-F5344CB8AC3E}">
        <p14:creationId xmlns:p14="http://schemas.microsoft.com/office/powerpoint/2010/main" val="35537620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12.1 – IPv4 Issues</a:t>
            </a:r>
          </a:p>
          <a:p>
            <a:r>
              <a:rPr lang="en-US" dirty="0"/>
              <a:t>12.1.2 – IPv4 and IPv6 Coexistence</a:t>
            </a:r>
          </a:p>
          <a:p>
            <a:r>
              <a:rPr lang="en-US" dirty="0"/>
              <a:t>12.1.3 – Check Your Understanding – IPv4 Issues</a:t>
            </a:r>
          </a:p>
        </p:txBody>
      </p:sp>
      <p:sp>
        <p:nvSpPr>
          <p:cNvPr id="4" name="Slide Number Placeholder 3"/>
          <p:cNvSpPr>
            <a:spLocks noGrp="1"/>
          </p:cNvSpPr>
          <p:nvPr>
            <p:ph type="sldNum" sz="quarter" idx="5"/>
          </p:nvPr>
        </p:nvSpPr>
        <p:spPr/>
        <p:txBody>
          <a:bodyPr/>
          <a:lstStyle/>
          <a:p>
            <a:fld id="{5641018C-6CAF-B84E-B92C-ECB119457FBA}" type="slidenum">
              <a:rPr lang="en-US" smtClean="0"/>
              <a:t>31</a:t>
            </a:fld>
            <a:endParaRPr lang="en-US" dirty="0"/>
          </a:p>
        </p:txBody>
      </p:sp>
    </p:spTree>
    <p:extLst>
      <p:ext uri="{BB962C8B-B14F-4D97-AF65-F5344CB8AC3E}">
        <p14:creationId xmlns:p14="http://schemas.microsoft.com/office/powerpoint/2010/main" val="163788703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32</a:t>
            </a:fld>
            <a:endParaRPr lang="en-US" dirty="0">
              <a:solidFill>
                <a:prstClr val="black"/>
              </a:solidFill>
            </a:endParaRPr>
          </a:p>
        </p:txBody>
      </p:sp>
    </p:spTree>
    <p:extLst>
      <p:ext uri="{BB962C8B-B14F-4D97-AF65-F5344CB8AC3E}">
        <p14:creationId xmlns:p14="http://schemas.microsoft.com/office/powerpoint/2010/main" val="304969583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33</a:t>
            </a:fld>
            <a:endParaRPr lang="en-US" dirty="0">
              <a:solidFill>
                <a:prstClr val="black"/>
              </a:solidFill>
            </a:endParaRPr>
          </a:p>
        </p:txBody>
      </p:sp>
    </p:spTree>
    <p:extLst>
      <p:ext uri="{BB962C8B-B14F-4D97-AF65-F5344CB8AC3E}">
        <p14:creationId xmlns:p14="http://schemas.microsoft.com/office/powerpoint/2010/main" val="378419718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34</a:t>
            </a:fld>
            <a:endParaRPr lang="en-US" dirty="0">
              <a:solidFill>
                <a:prstClr val="black"/>
              </a:solidFill>
            </a:endParaRPr>
          </a:p>
        </p:txBody>
      </p:sp>
    </p:spTree>
    <p:extLst>
      <p:ext uri="{BB962C8B-B14F-4D97-AF65-F5344CB8AC3E}">
        <p14:creationId xmlns:p14="http://schemas.microsoft.com/office/powerpoint/2010/main" val="374652667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35</a:t>
            </a:fld>
            <a:endParaRPr lang="en-US" dirty="0">
              <a:solidFill>
                <a:prstClr val="black"/>
              </a:solidFill>
            </a:endParaRPr>
          </a:p>
        </p:txBody>
      </p:sp>
    </p:spTree>
    <p:extLst>
      <p:ext uri="{BB962C8B-B14F-4D97-AF65-F5344CB8AC3E}">
        <p14:creationId xmlns:p14="http://schemas.microsoft.com/office/powerpoint/2010/main" val="120808806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36</a:t>
            </a:fld>
            <a:endParaRPr lang="en-US" dirty="0">
              <a:solidFill>
                <a:prstClr val="black"/>
              </a:solidFill>
            </a:endParaRPr>
          </a:p>
        </p:txBody>
      </p:sp>
    </p:spTree>
    <p:extLst>
      <p:ext uri="{BB962C8B-B14F-4D97-AF65-F5344CB8AC3E}">
        <p14:creationId xmlns:p14="http://schemas.microsoft.com/office/powerpoint/2010/main" val="413182182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37</a:t>
            </a:fld>
            <a:endParaRPr lang="en-US" dirty="0">
              <a:solidFill>
                <a:prstClr val="black"/>
              </a:solidFill>
            </a:endParaRPr>
          </a:p>
        </p:txBody>
      </p:sp>
    </p:spTree>
    <p:extLst>
      <p:ext uri="{BB962C8B-B14F-4D97-AF65-F5344CB8AC3E}">
        <p14:creationId xmlns:p14="http://schemas.microsoft.com/office/powerpoint/2010/main" val="322121105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39</a:t>
            </a:fld>
            <a:endParaRPr lang="en-US" dirty="0">
              <a:solidFill>
                <a:prstClr val="black"/>
              </a:solidFill>
            </a:endParaRPr>
          </a:p>
        </p:txBody>
      </p:sp>
    </p:spTree>
    <p:extLst>
      <p:ext uri="{BB962C8B-B14F-4D97-AF65-F5344CB8AC3E}">
        <p14:creationId xmlns:p14="http://schemas.microsoft.com/office/powerpoint/2010/main" val="52967363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40</a:t>
            </a:fld>
            <a:endParaRPr lang="en-US" dirty="0">
              <a:solidFill>
                <a:prstClr val="black"/>
              </a:solidFill>
            </a:endParaRPr>
          </a:p>
        </p:txBody>
      </p:sp>
    </p:spTree>
    <p:extLst>
      <p:ext uri="{BB962C8B-B14F-4D97-AF65-F5344CB8AC3E}">
        <p14:creationId xmlns:p14="http://schemas.microsoft.com/office/powerpoint/2010/main" val="124769900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41</a:t>
            </a:fld>
            <a:endParaRPr lang="en-US" dirty="0">
              <a:solidFill>
                <a:prstClr val="black"/>
              </a:solidFill>
            </a:endParaRPr>
          </a:p>
        </p:txBody>
      </p:sp>
    </p:spTree>
    <p:extLst>
      <p:ext uri="{BB962C8B-B14F-4D97-AF65-F5344CB8AC3E}">
        <p14:creationId xmlns:p14="http://schemas.microsoft.com/office/powerpoint/2010/main" val="257479955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42</a:t>
            </a:fld>
            <a:endParaRPr lang="en-US" dirty="0">
              <a:solidFill>
                <a:prstClr val="black"/>
              </a:solidFill>
            </a:endParaRPr>
          </a:p>
        </p:txBody>
      </p:sp>
    </p:spTree>
    <p:extLst>
      <p:ext uri="{BB962C8B-B14F-4D97-AF65-F5344CB8AC3E}">
        <p14:creationId xmlns:p14="http://schemas.microsoft.com/office/powerpoint/2010/main" val="386592786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43</a:t>
            </a:fld>
            <a:endParaRPr lang="en-US" dirty="0">
              <a:solidFill>
                <a:prstClr val="black"/>
              </a:solidFill>
            </a:endParaRPr>
          </a:p>
        </p:txBody>
      </p:sp>
    </p:spTree>
    <p:extLst>
      <p:ext uri="{BB962C8B-B14F-4D97-AF65-F5344CB8AC3E}">
        <p14:creationId xmlns:p14="http://schemas.microsoft.com/office/powerpoint/2010/main" val="291972181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44</a:t>
            </a:fld>
            <a:endParaRPr lang="en-US" dirty="0">
              <a:solidFill>
                <a:prstClr val="black"/>
              </a:solidFill>
            </a:endParaRPr>
          </a:p>
        </p:txBody>
      </p:sp>
    </p:spTree>
    <p:extLst>
      <p:ext uri="{BB962C8B-B14F-4D97-AF65-F5344CB8AC3E}">
        <p14:creationId xmlns:p14="http://schemas.microsoft.com/office/powerpoint/2010/main" val="10723328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45</a:t>
            </a:fld>
            <a:endParaRPr lang="en-US" dirty="0">
              <a:solidFill>
                <a:prstClr val="black"/>
              </a:solidFill>
            </a:endParaRPr>
          </a:p>
        </p:txBody>
      </p:sp>
    </p:spTree>
    <p:extLst>
      <p:ext uri="{BB962C8B-B14F-4D97-AF65-F5344CB8AC3E}">
        <p14:creationId xmlns:p14="http://schemas.microsoft.com/office/powerpoint/2010/main" val="26711692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46</a:t>
            </a:fld>
            <a:endParaRPr lang="en-US" dirty="0">
              <a:solidFill>
                <a:prstClr val="black"/>
              </a:solidFill>
            </a:endParaRPr>
          </a:p>
        </p:txBody>
      </p:sp>
    </p:spTree>
    <p:extLst>
      <p:ext uri="{BB962C8B-B14F-4D97-AF65-F5344CB8AC3E}">
        <p14:creationId xmlns:p14="http://schemas.microsoft.com/office/powerpoint/2010/main" val="299679483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47</a:t>
            </a:fld>
            <a:endParaRPr lang="en-US" dirty="0">
              <a:solidFill>
                <a:prstClr val="black"/>
              </a:solidFill>
            </a:endParaRPr>
          </a:p>
        </p:txBody>
      </p:sp>
    </p:spTree>
    <p:extLst>
      <p:ext uri="{BB962C8B-B14F-4D97-AF65-F5344CB8AC3E}">
        <p14:creationId xmlns:p14="http://schemas.microsoft.com/office/powerpoint/2010/main" val="129646178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52</a:t>
            </a:fld>
            <a:endParaRPr lang="en-US" dirty="0">
              <a:solidFill>
                <a:prstClr val="black"/>
              </a:solidFill>
            </a:endParaRPr>
          </a:p>
        </p:txBody>
      </p:sp>
    </p:spTree>
    <p:extLst>
      <p:ext uri="{BB962C8B-B14F-4D97-AF65-F5344CB8AC3E}">
        <p14:creationId xmlns:p14="http://schemas.microsoft.com/office/powerpoint/2010/main" val="43907694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53</a:t>
            </a:fld>
            <a:endParaRPr lang="en-US" dirty="0">
              <a:solidFill>
                <a:prstClr val="black"/>
              </a:solidFill>
            </a:endParaRPr>
          </a:p>
        </p:txBody>
      </p:sp>
    </p:spTree>
    <p:extLst>
      <p:ext uri="{BB962C8B-B14F-4D97-AF65-F5344CB8AC3E}">
        <p14:creationId xmlns:p14="http://schemas.microsoft.com/office/powerpoint/2010/main" val="391625092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54</a:t>
            </a:fld>
            <a:endParaRPr lang="en-US" dirty="0">
              <a:solidFill>
                <a:prstClr val="black"/>
              </a:solidFill>
            </a:endParaRPr>
          </a:p>
        </p:txBody>
      </p:sp>
    </p:spTree>
    <p:extLst>
      <p:ext uri="{BB962C8B-B14F-4D97-AF65-F5344CB8AC3E}">
        <p14:creationId xmlns:p14="http://schemas.microsoft.com/office/powerpoint/2010/main" val="55745788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55</a:t>
            </a:fld>
            <a:endParaRPr lang="en-US" dirty="0">
              <a:solidFill>
                <a:prstClr val="black"/>
              </a:solidFill>
            </a:endParaRPr>
          </a:p>
        </p:txBody>
      </p:sp>
    </p:spTree>
    <p:extLst>
      <p:ext uri="{BB962C8B-B14F-4D97-AF65-F5344CB8AC3E}">
        <p14:creationId xmlns:p14="http://schemas.microsoft.com/office/powerpoint/2010/main" val="155427942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56</a:t>
            </a:fld>
            <a:endParaRPr lang="en-US" dirty="0">
              <a:solidFill>
                <a:prstClr val="black"/>
              </a:solidFill>
            </a:endParaRPr>
          </a:p>
        </p:txBody>
      </p:sp>
    </p:spTree>
    <p:extLst>
      <p:ext uri="{BB962C8B-B14F-4D97-AF65-F5344CB8AC3E}">
        <p14:creationId xmlns:p14="http://schemas.microsoft.com/office/powerpoint/2010/main" val="64435307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57</a:t>
            </a:fld>
            <a:endParaRPr lang="en-US" dirty="0">
              <a:solidFill>
                <a:prstClr val="black"/>
              </a:solidFill>
            </a:endParaRPr>
          </a:p>
        </p:txBody>
      </p:sp>
    </p:spTree>
    <p:extLst>
      <p:ext uri="{BB962C8B-B14F-4D97-AF65-F5344CB8AC3E}">
        <p14:creationId xmlns:p14="http://schemas.microsoft.com/office/powerpoint/2010/main" val="82369866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58</a:t>
            </a:fld>
            <a:endParaRPr lang="en-US" dirty="0">
              <a:solidFill>
                <a:prstClr val="black"/>
              </a:solidFill>
            </a:endParaRPr>
          </a:p>
        </p:txBody>
      </p:sp>
    </p:spTree>
    <p:extLst>
      <p:ext uri="{BB962C8B-B14F-4D97-AF65-F5344CB8AC3E}">
        <p14:creationId xmlns:p14="http://schemas.microsoft.com/office/powerpoint/2010/main" val="395025506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59</a:t>
            </a:fld>
            <a:endParaRPr lang="en-US" dirty="0">
              <a:solidFill>
                <a:prstClr val="black"/>
              </a:solidFill>
            </a:endParaRPr>
          </a:p>
        </p:txBody>
      </p:sp>
    </p:spTree>
    <p:extLst>
      <p:ext uri="{BB962C8B-B14F-4D97-AF65-F5344CB8AC3E}">
        <p14:creationId xmlns:p14="http://schemas.microsoft.com/office/powerpoint/2010/main" val="364491856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60</a:t>
            </a:fld>
            <a:endParaRPr lang="en-US" dirty="0">
              <a:solidFill>
                <a:prstClr val="black"/>
              </a:solidFill>
            </a:endParaRPr>
          </a:p>
        </p:txBody>
      </p:sp>
    </p:spTree>
    <p:extLst>
      <p:ext uri="{BB962C8B-B14F-4D97-AF65-F5344CB8AC3E}">
        <p14:creationId xmlns:p14="http://schemas.microsoft.com/office/powerpoint/2010/main" val="419399590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61</a:t>
            </a:fld>
            <a:endParaRPr lang="en-US" dirty="0">
              <a:solidFill>
                <a:prstClr val="black"/>
              </a:solidFill>
            </a:endParaRPr>
          </a:p>
        </p:txBody>
      </p:sp>
    </p:spTree>
    <p:extLst>
      <p:ext uri="{BB962C8B-B14F-4D97-AF65-F5344CB8AC3E}">
        <p14:creationId xmlns:p14="http://schemas.microsoft.com/office/powerpoint/2010/main" val="316204722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62</a:t>
            </a:fld>
            <a:endParaRPr lang="en-US" dirty="0">
              <a:solidFill>
                <a:prstClr val="black"/>
              </a:solidFill>
            </a:endParaRPr>
          </a:p>
        </p:txBody>
      </p:sp>
    </p:spTree>
    <p:extLst>
      <p:ext uri="{BB962C8B-B14F-4D97-AF65-F5344CB8AC3E}">
        <p14:creationId xmlns:p14="http://schemas.microsoft.com/office/powerpoint/2010/main" val="200434183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63</a:t>
            </a:fld>
            <a:endParaRPr lang="en-US" dirty="0">
              <a:solidFill>
                <a:prstClr val="black"/>
              </a:solidFill>
            </a:endParaRPr>
          </a:p>
        </p:txBody>
      </p:sp>
    </p:spTree>
    <p:extLst>
      <p:ext uri="{BB962C8B-B14F-4D97-AF65-F5344CB8AC3E}">
        <p14:creationId xmlns:p14="http://schemas.microsoft.com/office/powerpoint/2010/main" val="81814355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64</a:t>
            </a:fld>
            <a:endParaRPr lang="en-US" dirty="0">
              <a:solidFill>
                <a:prstClr val="black"/>
              </a:solidFill>
            </a:endParaRPr>
          </a:p>
        </p:txBody>
      </p:sp>
    </p:spTree>
    <p:extLst>
      <p:ext uri="{BB962C8B-B14F-4D97-AF65-F5344CB8AC3E}">
        <p14:creationId xmlns:p14="http://schemas.microsoft.com/office/powerpoint/2010/main" val="11111711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cSld name="Multi_Slide">
    <p:spTree>
      <p:nvGrpSpPr>
        <p:cNvPr id="1" name=""/>
        <p:cNvGrpSpPr/>
        <p:nvPr/>
      </p:nvGrpSpPr>
      <p:grpSpPr>
        <a:xfrm>
          <a:off x="0" y="0"/>
          <a:ext cx="0" cy="0"/>
          <a:chOff x="0" y="0"/>
          <a:chExt cx="0" cy="0"/>
        </a:xfrm>
      </p:grpSpPr>
      <p:sp>
        <p:nvSpPr>
          <p:cNvPr id="5" name="Content Placeholder 2"/>
          <p:cNvSpPr>
            <a:spLocks noGrp="1"/>
          </p:cNvSpPr>
          <p:nvPr>
            <p:ph idx="1"/>
          </p:nvPr>
        </p:nvSpPr>
        <p:spPr>
          <a:xfrm>
            <a:off x="632883" y="1797051"/>
            <a:ext cx="11040076" cy="4098595"/>
          </a:xfrm>
          <a:prstGeom prst="rect">
            <a:avLst/>
          </a:prstGeom>
        </p:spPr>
        <p:txBody>
          <a:bodyPr lIns="91420" tIns="45710" rIns="91420" bIns="45710">
            <a:noAutofit/>
          </a:bodyPr>
          <a:lstStyle>
            <a:lvl1pPr marL="380910" marR="0" indent="-380910" algn="ctr" defTabSz="609458" rtl="0" eaLnBrk="1" fontAlgn="auto" latinLnBrk="0" hangingPunct="1">
              <a:lnSpc>
                <a:spcPct val="100000"/>
              </a:lnSpc>
              <a:spcBef>
                <a:spcPct val="20000"/>
              </a:spcBef>
              <a:spcAft>
                <a:spcPts val="0"/>
              </a:spcAft>
              <a:buClrTx/>
              <a:buSzTx/>
              <a:buFont typeface="Arial"/>
              <a:buNone/>
              <a:tabLst/>
              <a:defRPr sz="2667" b="0" i="0" baseline="0">
                <a:solidFill>
                  <a:schemeClr val="bg1"/>
                </a:solidFill>
                <a:latin typeface="+mn-lt"/>
                <a:cs typeface="CiscoSans ExtraLight"/>
              </a:defRPr>
            </a:lvl1pPr>
          </a:lstStyle>
          <a:p>
            <a:pPr lvl="0"/>
            <a:r>
              <a:rPr lang="en-US"/>
              <a:t>Click to edit Master text styles</a:t>
            </a:r>
          </a:p>
        </p:txBody>
      </p:sp>
      <p:sp>
        <p:nvSpPr>
          <p:cNvPr id="4" name="Title Placeholder 5"/>
          <p:cNvSpPr>
            <a:spLocks noGrp="1"/>
          </p:cNvSpPr>
          <p:nvPr>
            <p:ph type="title"/>
          </p:nvPr>
        </p:nvSpPr>
        <p:spPr bwMode="auto">
          <a:xfrm>
            <a:off x="583688" y="455085"/>
            <a:ext cx="11127317" cy="97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rgbClr val="004C69"/>
                </a:solidFill>
              </a:defRPr>
            </a:lvl1pPr>
          </a:lstStyle>
          <a:p>
            <a:pPr lvl="0"/>
            <a:r>
              <a:rPr lang="en-US"/>
              <a:t>Click to edit Master title style</a:t>
            </a:r>
            <a:endParaRPr lang="en-GB" dirty="0"/>
          </a:p>
        </p:txBody>
      </p:sp>
    </p:spTree>
    <p:extLst>
      <p:ext uri="{BB962C8B-B14F-4D97-AF65-F5344CB8AC3E}">
        <p14:creationId xmlns:p14="http://schemas.microsoft.com/office/powerpoint/2010/main" val="41499341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fld id="{A9E7E5D2-54C1-46B9-BFF0-F980B991154B}" type="datetime1">
              <a:rPr lang="en-US">
                <a:solidFill>
                  <a:srgbClr val="000000"/>
                </a:solidFill>
              </a:rPr>
              <a:pPr>
                <a:defRPr/>
              </a:pPr>
              <a:t>9/17/2026</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6"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8793C224-7832-4522-BDD2-BB4A5C4CE6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9020801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fld id="{B8B9F772-B5F9-4485-8093-1C58D8E09F9F}" type="datetime1">
              <a:rPr lang="en-US">
                <a:solidFill>
                  <a:srgbClr val="000000"/>
                </a:solidFill>
              </a:rPr>
              <a:pPr>
                <a:defRPr/>
              </a:pPr>
              <a:t>9/17/2026</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6"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3EE675D4-557A-44CE-A602-5DD4A6B4AAC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232246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fld id="{89C5E42D-72D9-4C3E-BBE0-ED03F6001AEF}" type="datetime1">
              <a:rPr lang="en-US">
                <a:solidFill>
                  <a:srgbClr val="000000"/>
                </a:solidFill>
              </a:rPr>
              <a:pPr>
                <a:defRPr/>
              </a:pPr>
              <a:t>9/17/2026</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6"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332CAC79-B11F-4E2C-A58E-9C4C7B36495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7230399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11200" y="1611313"/>
            <a:ext cx="508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994400" y="1611313"/>
            <a:ext cx="508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fld id="{704EBAF6-5D4A-49A3-9383-1C1EDE694D37}" type="datetime1">
              <a:rPr lang="en-US">
                <a:solidFill>
                  <a:srgbClr val="000000"/>
                </a:solidFill>
              </a:rPr>
              <a:pPr>
                <a:defRPr/>
              </a:pPr>
              <a:t>9/17/2026</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7"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EC3CD4FA-E732-42C8-9DFD-A89B89B3BA6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784243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fld id="{A7B54B03-1762-4148-8966-66A24A8F81F7}" type="datetime1">
              <a:rPr lang="en-US">
                <a:solidFill>
                  <a:srgbClr val="000000"/>
                </a:solidFill>
              </a:rPr>
              <a:pPr>
                <a:defRPr/>
              </a:pPr>
              <a:t>9/17/2026</a:t>
            </a:fld>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9"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2A8C2DEC-60F0-4E28-9748-7A4134007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58180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fld id="{02BC59BF-589F-4B10-AB22-9A66299C79F6}" type="datetime1">
              <a:rPr lang="en-US">
                <a:solidFill>
                  <a:srgbClr val="000000"/>
                </a:solidFill>
              </a:rPr>
              <a:pPr>
                <a:defRPr/>
              </a:pPr>
              <a:t>9/17/2026</a:t>
            </a:fld>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5"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7B5660BF-E205-464C-8309-EE40A8933B9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8618384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pPr>
              <a:defRPr/>
            </a:pPr>
            <a:fld id="{5E4BE181-F174-4CE4-8BC3-93372EFC3D2E}" type="datetime1">
              <a:rPr lang="en-US">
                <a:solidFill>
                  <a:srgbClr val="000000"/>
                </a:solidFill>
              </a:rPr>
              <a:pPr>
                <a:defRPr/>
              </a:pPr>
              <a:t>9/17/2026</a:t>
            </a:fld>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4" name="Slide Number Placeholder 3"/>
          <p:cNvSpPr>
            <a:spLocks noGrp="1"/>
          </p:cNvSpPr>
          <p:nvPr>
            <p:ph type="sldNum" sz="quarter" idx="12"/>
          </p:nvPr>
        </p:nvSpPr>
        <p:spPr/>
        <p:txBody>
          <a:bodyPr/>
          <a:lstStyle>
            <a:lvl1pPr>
              <a:defRPr/>
            </a:lvl1pPr>
          </a:lstStyle>
          <a:p>
            <a:pPr>
              <a:defRPr/>
            </a:pPr>
            <a:r>
              <a:rPr lang="en-US">
                <a:solidFill>
                  <a:srgbClr val="000000"/>
                </a:solidFill>
              </a:rPr>
              <a:t>1-</a:t>
            </a:r>
            <a:fld id="{374691CE-044E-4E8D-8802-AE8864F9EED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6357420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pPr>
              <a:defRPr/>
            </a:pPr>
            <a:fld id="{2E88C410-9EED-421F-B4D9-11E36DBFBC79}" type="datetime1">
              <a:rPr lang="en-US">
                <a:solidFill>
                  <a:srgbClr val="000000"/>
                </a:solidFill>
              </a:rPr>
              <a:pPr>
                <a:defRPr/>
              </a:pPr>
              <a:t>9/17/2026</a:t>
            </a:fld>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7" name="Slide Number Placeholder 6"/>
          <p:cNvSpPr>
            <a:spLocks noGrp="1"/>
          </p:cNvSpPr>
          <p:nvPr>
            <p:ph type="sldNum" sz="quarter" idx="12"/>
          </p:nvPr>
        </p:nvSpPr>
        <p:spPr/>
        <p:txBody>
          <a:bodyPr/>
          <a:lstStyle>
            <a:lvl1pPr>
              <a:defRPr/>
            </a:lvl1pPr>
          </a:lstStyle>
          <a:p>
            <a:pPr>
              <a:defRPr/>
            </a:pPr>
            <a:r>
              <a:rPr lang="en-US">
                <a:solidFill>
                  <a:srgbClr val="000000"/>
                </a:solidFill>
              </a:rPr>
              <a:t>1-</a:t>
            </a:r>
            <a:fld id="{DF678C10-2276-4138-9BFE-8AF24E452E0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41994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fld id="{CAD42C4D-4715-48A9-8643-6FC467265391}" type="datetime1">
              <a:rPr lang="en-US">
                <a:solidFill>
                  <a:srgbClr val="000000"/>
                </a:solidFill>
              </a:rPr>
              <a:pPr>
                <a:defRPr/>
              </a:pPr>
              <a:t>9/17/2026</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7"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1DF13146-B040-4A60-B34B-9DA9A7846D4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7918613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DFE1407F-E85A-4C98-9526-A6AE6F7EA480}" type="datetime1">
              <a:rPr lang="en-US">
                <a:solidFill>
                  <a:srgbClr val="000000"/>
                </a:solidFill>
              </a:rPr>
              <a:pPr>
                <a:defRPr/>
              </a:pPr>
              <a:t>9/17/2026</a:t>
            </a:fld>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6" name="Slide Number Placeholder 5"/>
          <p:cNvSpPr>
            <a:spLocks noGrp="1"/>
          </p:cNvSpPr>
          <p:nvPr>
            <p:ph type="sldNum" sz="quarter" idx="12"/>
          </p:nvPr>
        </p:nvSpPr>
        <p:spPr/>
        <p:txBody>
          <a:bodyPr/>
          <a:lstStyle>
            <a:lvl1pPr>
              <a:defRPr/>
            </a:lvl1pPr>
          </a:lstStyle>
          <a:p>
            <a:pPr>
              <a:defRPr/>
            </a:pPr>
            <a:r>
              <a:rPr lang="en-US">
                <a:solidFill>
                  <a:srgbClr val="000000"/>
                </a:solidFill>
              </a:rPr>
              <a:t>1-</a:t>
            </a:r>
            <a:fld id="{EE7FE3F1-EB3A-4D51-A34C-6689936700C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331032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483600" y="228601"/>
            <a:ext cx="2590800" cy="603091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711200" y="228601"/>
            <a:ext cx="7569200" cy="603091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047BF0AF-EA14-4533-ABFB-5374C7D0106C}" type="datetime1">
              <a:rPr lang="en-US">
                <a:solidFill>
                  <a:srgbClr val="000000"/>
                </a:solidFill>
              </a:rPr>
              <a:pPr>
                <a:defRPr/>
              </a:pPr>
              <a:t>9/17/2026</a:t>
            </a:fld>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6" name="Slide Number Placeholder 5"/>
          <p:cNvSpPr>
            <a:spLocks noGrp="1"/>
          </p:cNvSpPr>
          <p:nvPr>
            <p:ph type="sldNum" sz="quarter" idx="12"/>
          </p:nvPr>
        </p:nvSpPr>
        <p:spPr/>
        <p:txBody>
          <a:bodyPr/>
          <a:lstStyle>
            <a:lvl1pPr>
              <a:defRPr/>
            </a:lvl1pPr>
          </a:lstStyle>
          <a:p>
            <a:pPr>
              <a:defRPr/>
            </a:pPr>
            <a:r>
              <a:rPr lang="en-US">
                <a:solidFill>
                  <a:srgbClr val="000000"/>
                </a:solidFill>
              </a:rPr>
              <a:t>1-</a:t>
            </a:r>
            <a:fld id="{93394F71-A0EF-4328-9B4C-2FAFD5A0EBE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2288302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711200" y="228600"/>
            <a:ext cx="10363200" cy="1143000"/>
          </a:xfrm>
        </p:spPr>
        <p:txBody>
          <a:bodyPr/>
          <a:lstStyle/>
          <a:p>
            <a:r>
              <a:rPr lang="en-US"/>
              <a:t>Click to edit Master title style</a:t>
            </a:r>
          </a:p>
        </p:txBody>
      </p:sp>
      <p:sp>
        <p:nvSpPr>
          <p:cNvPr id="3" name="Content Placeholder 2"/>
          <p:cNvSpPr>
            <a:spLocks noGrp="1"/>
          </p:cNvSpPr>
          <p:nvPr>
            <p:ph sz="half" idx="1"/>
          </p:nvPr>
        </p:nvSpPr>
        <p:spPr>
          <a:xfrm>
            <a:off x="711200" y="1611313"/>
            <a:ext cx="508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5994400" y="1611313"/>
            <a:ext cx="5080000" cy="2247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994400" y="4011613"/>
            <a:ext cx="5080000" cy="2247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5"/>
          <p:cNvSpPr>
            <a:spLocks noGrp="1"/>
          </p:cNvSpPr>
          <p:nvPr>
            <p:ph type="dt" sz="half" idx="10"/>
          </p:nvPr>
        </p:nvSpPr>
        <p:spPr/>
        <p:txBody>
          <a:bodyPr/>
          <a:lstStyle>
            <a:lvl1pPr>
              <a:defRPr/>
            </a:lvl1pPr>
          </a:lstStyle>
          <a:p>
            <a:pPr>
              <a:defRPr/>
            </a:pPr>
            <a:fld id="{EFCA2322-715F-4B46-88A6-3241B6C9EEF3}" type="datetime1">
              <a:rPr lang="en-US">
                <a:solidFill>
                  <a:srgbClr val="000000"/>
                </a:solidFill>
              </a:rPr>
              <a:pPr>
                <a:defRPr/>
              </a:pPr>
              <a:t>9/17/2026</a:t>
            </a:fld>
            <a:endParaRPr lang="en-US">
              <a:solidFill>
                <a:srgbClr val="000000"/>
              </a:solidFill>
            </a:endParaRPr>
          </a:p>
        </p:txBody>
      </p:sp>
      <p:sp>
        <p:nvSpPr>
          <p:cNvPr id="7" name="Footer Placeholder 6"/>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8" name="Slide Number Placeholder 7"/>
          <p:cNvSpPr>
            <a:spLocks noGrp="1"/>
          </p:cNvSpPr>
          <p:nvPr>
            <p:ph type="sldNum" sz="quarter" idx="12"/>
          </p:nvPr>
        </p:nvSpPr>
        <p:spPr/>
        <p:txBody>
          <a:bodyPr/>
          <a:lstStyle>
            <a:lvl1pPr>
              <a:defRPr/>
            </a:lvl1pPr>
          </a:lstStyle>
          <a:p>
            <a:pPr>
              <a:defRPr/>
            </a:pPr>
            <a:r>
              <a:rPr lang="en-US">
                <a:solidFill>
                  <a:srgbClr val="000000"/>
                </a:solidFill>
              </a:rPr>
              <a:t>1</a:t>
            </a:r>
            <a:fld id="{95AF20B9-F549-4459-B322-84CE730D69E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0314289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785518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817915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3502220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17635032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7547140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0138092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8734553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712810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3.xml"/><Relationship Id="rId13" Type="http://schemas.openxmlformats.org/officeDocument/2006/relationships/theme" Target="../theme/theme2.xml"/><Relationship Id="rId3" Type="http://schemas.openxmlformats.org/officeDocument/2006/relationships/slideLayout" Target="../slideLayouts/slideLayout8.xml"/><Relationship Id="rId7" Type="http://schemas.openxmlformats.org/officeDocument/2006/relationships/slideLayout" Target="../slideLayouts/slideLayout12.xml"/><Relationship Id="rId12" Type="http://schemas.openxmlformats.org/officeDocument/2006/relationships/slideLayout" Target="../slideLayouts/slideLayout17.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slideLayout" Target="../slideLayouts/slideLayout16.xml"/><Relationship Id="rId5" Type="http://schemas.openxmlformats.org/officeDocument/2006/relationships/slideLayout" Target="../slideLayouts/slideLayout10.xml"/><Relationship Id="rId10" Type="http://schemas.openxmlformats.org/officeDocument/2006/relationships/slideLayout" Target="../slideLayouts/slideLayout15.xml"/><Relationship Id="rId4" Type="http://schemas.openxmlformats.org/officeDocument/2006/relationships/slideLayout" Target="../slideLayouts/slideLayout9.xml"/><Relationship Id="rId9" Type="http://schemas.openxmlformats.org/officeDocument/2006/relationships/slideLayout" Target="../slideLayouts/slideLayout14.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slideLayout" Target="../slideLayouts/slideLayout19.xml"/><Relationship Id="rId1" Type="http://schemas.openxmlformats.org/officeDocument/2006/relationships/slideLayout" Target="../slideLayouts/slideLayout18.xml"/><Relationship Id="rId5" Type="http://schemas.openxmlformats.org/officeDocument/2006/relationships/theme" Target="../theme/theme3.xml"/><Relationship Id="rId4"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slideLayout" Target="../slideLayouts/slideLayout23.xml"/><Relationship Id="rId1" Type="http://schemas.openxmlformats.org/officeDocument/2006/relationships/slideLayout" Target="../slideLayouts/slideLayout22.xml"/><Relationship Id="rId5" Type="http://schemas.openxmlformats.org/officeDocument/2006/relationships/theme" Target="../theme/theme4.xml"/><Relationship Id="rId4"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78" r:id="rId5"/>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711200" y="228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711200" y="1611313"/>
            <a:ext cx="103632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latin typeface="Times New Roman" pitchFamily="18" charset="0"/>
              </a:defRPr>
            </a:lvl1pPr>
          </a:lstStyle>
          <a:p>
            <a:pPr fontAlgn="base">
              <a:spcBef>
                <a:spcPct val="0"/>
              </a:spcBef>
              <a:spcAft>
                <a:spcPct val="0"/>
              </a:spcAft>
              <a:defRPr/>
            </a:pPr>
            <a:fld id="{E0C60132-7770-4B5C-B292-468C3AAC95C1}" type="datetime1">
              <a:rPr lang="en-US">
                <a:solidFill>
                  <a:srgbClr val="000000"/>
                </a:solidFill>
                <a:ea typeface="ＭＳ Ｐゴシック" panose="020B0600070205080204" pitchFamily="34" charset="-128"/>
              </a:rPr>
              <a:pPr fontAlgn="base">
                <a:spcBef>
                  <a:spcPct val="0"/>
                </a:spcBef>
                <a:spcAft>
                  <a:spcPct val="0"/>
                </a:spcAft>
                <a:defRPr/>
              </a:pPr>
              <a:t>9/17/2026</a:t>
            </a:fld>
            <a:endParaRPr lang="en-US">
              <a:solidFill>
                <a:srgbClr val="000000"/>
              </a:solidFill>
              <a:ea typeface="ＭＳ Ｐゴシック" panose="020B0600070205080204" pitchFamily="34" charset="-128"/>
            </a:endParaRPr>
          </a:p>
        </p:txBody>
      </p:sp>
      <p:sp>
        <p:nvSpPr>
          <p:cNvPr id="195589" name="Rectangle 5"/>
          <p:cNvSpPr>
            <a:spLocks noGrp="1" noChangeArrowheads="1"/>
          </p:cNvSpPr>
          <p:nvPr>
            <p:ph type="ftr" sz="quarter" idx="3"/>
          </p:nvPr>
        </p:nvSpPr>
        <p:spPr bwMode="auto">
          <a:xfrm>
            <a:off x="7435851" y="6467475"/>
            <a:ext cx="38608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200">
                <a:latin typeface="Tahoma" pitchFamily="34" charset="0"/>
                <a:ea typeface="+mn-ea"/>
                <a:cs typeface="+mn-cs"/>
              </a:defRPr>
            </a:lvl1pPr>
          </a:lstStyle>
          <a:p>
            <a:pPr fontAlgn="base">
              <a:spcBef>
                <a:spcPct val="0"/>
              </a:spcBef>
              <a:spcAft>
                <a:spcPct val="0"/>
              </a:spcAft>
              <a:defRPr/>
            </a:pPr>
            <a:r>
              <a:rPr lang="en-US">
                <a:solidFill>
                  <a:srgbClr val="000000"/>
                </a:solidFill>
              </a:rPr>
              <a:t>Introduction</a:t>
            </a:r>
          </a:p>
        </p:txBody>
      </p:sp>
      <p:sp>
        <p:nvSpPr>
          <p:cNvPr id="195590" name="Rectangle 6"/>
          <p:cNvSpPr>
            <a:spLocks noGrp="1" noChangeArrowheads="1"/>
          </p:cNvSpPr>
          <p:nvPr>
            <p:ph type="sldNum" sz="quarter" idx="4"/>
          </p:nvPr>
        </p:nvSpPr>
        <p:spPr bwMode="auto">
          <a:xfrm>
            <a:off x="11099801" y="6462714"/>
            <a:ext cx="901700" cy="2762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200">
                <a:latin typeface="Tahoma" panose="020B0604030504040204" pitchFamily="34" charset="0"/>
              </a:defRPr>
            </a:lvl1pPr>
          </a:lstStyle>
          <a:p>
            <a:pPr fontAlgn="base">
              <a:spcBef>
                <a:spcPct val="0"/>
              </a:spcBef>
              <a:spcAft>
                <a:spcPct val="0"/>
              </a:spcAft>
              <a:defRPr/>
            </a:pPr>
            <a:r>
              <a:rPr lang="en-US">
                <a:solidFill>
                  <a:srgbClr val="000000"/>
                </a:solidFill>
                <a:ea typeface="ＭＳ Ｐゴシック" panose="020B0600070205080204" pitchFamily="34" charset="-128"/>
              </a:rPr>
              <a:t>2-</a:t>
            </a:r>
            <a:fld id="{6FF1A3BC-2A53-4070-BB21-9EE0FD9ED5DD}" type="slidenum">
              <a:rPr lang="en-US">
                <a:solidFill>
                  <a:srgbClr val="000000"/>
                </a:solidFill>
                <a:ea typeface="ＭＳ Ｐゴシック" panose="020B0600070205080204" pitchFamily="34" charset="-128"/>
              </a:rPr>
              <a:pPr fontAlgn="base">
                <a:spcBef>
                  <a:spcPct val="0"/>
                </a:spcBef>
                <a:spcAft>
                  <a:spcPct val="0"/>
                </a:spcAft>
                <a:defRPr/>
              </a:pPr>
              <a:t>‹#›</a:t>
            </a:fld>
            <a:endParaRPr lang="en-US">
              <a:solidFill>
                <a:srgbClr val="000000"/>
              </a:solidFill>
              <a:ea typeface="ＭＳ Ｐゴシック" panose="020B0600070205080204" pitchFamily="34" charset="-128"/>
            </a:endParaRPr>
          </a:p>
        </p:txBody>
      </p:sp>
    </p:spTree>
    <p:extLst>
      <p:ext uri="{BB962C8B-B14F-4D97-AF65-F5344CB8AC3E}">
        <p14:creationId xmlns:p14="http://schemas.microsoft.com/office/powerpoint/2010/main" val="4213785178"/>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 id="2147483660" r:id="rId5"/>
    <p:sldLayoutId id="2147483661" r:id="rId6"/>
    <p:sldLayoutId id="2147483662" r:id="rId7"/>
    <p:sldLayoutId id="2147483663" r:id="rId8"/>
    <p:sldLayoutId id="2147483664" r:id="rId9"/>
    <p:sldLayoutId id="2147483665" r:id="rId10"/>
    <p:sldLayoutId id="2147483666" r:id="rId11"/>
    <p:sldLayoutId id="2147483667" r:id="rId12"/>
  </p:sldLayoutIdLst>
  <p:hf hdr="0" dt="0"/>
  <p:txStyles>
    <p:title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p:titleStyle>
    <p:body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315862609"/>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1462673897"/>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image" Target="../media/image1.png"/><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2.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37.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19.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9.xml"/></Relationships>
</file>

<file path=ppt/slides/_rels/slide42.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40.xml"/><Relationship Id="rId1" Type="http://schemas.openxmlformats.org/officeDocument/2006/relationships/slideLayout" Target="../slideLayouts/slideLayout2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0.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0.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0.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0.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Footer Placeholder 2"/>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sz="1200">
                <a:solidFill>
                  <a:srgbClr val="000000"/>
                </a:solidFill>
                <a:latin typeface="Tahoma" panose="020B0604030504040204" pitchFamily="34" charset="0"/>
              </a:rPr>
              <a:t>Introduction</a:t>
            </a:r>
          </a:p>
        </p:txBody>
      </p:sp>
      <p:sp>
        <p:nvSpPr>
          <p:cNvPr id="14339" name="Slide Number Placeholder 3"/>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sz="1200">
                <a:solidFill>
                  <a:srgbClr val="000000"/>
                </a:solidFill>
                <a:latin typeface="Tahoma" panose="020B0604030504040204" pitchFamily="34" charset="0"/>
              </a:rPr>
              <a:t>1-</a:t>
            </a:r>
            <a:fld id="{4E4CB2DF-46E8-4DFD-BEF7-96FFDAFA7596}" type="slidenum">
              <a:rPr lang="en-US" sz="1200">
                <a:solidFill>
                  <a:srgbClr val="000000"/>
                </a:solidFill>
                <a:latin typeface="Tahoma" panose="020B0604030504040204" pitchFamily="34" charset="0"/>
              </a:rPr>
              <a:pPr>
                <a:lnSpc>
                  <a:spcPct val="100000"/>
                </a:lnSpc>
                <a:spcBef>
                  <a:spcPct val="0"/>
                </a:spcBef>
                <a:buClrTx/>
                <a:buSzTx/>
                <a:buFontTx/>
                <a:buNone/>
              </a:pPr>
              <a:t>1</a:t>
            </a:fld>
            <a:endParaRPr lang="en-US" sz="1200">
              <a:solidFill>
                <a:srgbClr val="000000"/>
              </a:solidFill>
              <a:latin typeface="Tahoma" panose="020B0604030504040204" pitchFamily="34" charset="0"/>
            </a:endParaRPr>
          </a:p>
        </p:txBody>
      </p:sp>
      <p:sp>
        <p:nvSpPr>
          <p:cNvPr id="14340" name="Rectangle 3"/>
          <p:cNvSpPr>
            <a:spLocks noChangeArrowheads="1"/>
          </p:cNvSpPr>
          <p:nvPr/>
        </p:nvSpPr>
        <p:spPr bwMode="auto">
          <a:xfrm>
            <a:off x="1707614" y="180976"/>
            <a:ext cx="5875875" cy="2221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fontAlgn="base">
              <a:spcBef>
                <a:spcPct val="0"/>
              </a:spcBef>
              <a:spcAft>
                <a:spcPct val="0"/>
              </a:spcAft>
              <a:buClrTx/>
              <a:buSzTx/>
              <a:buFontTx/>
              <a:buNone/>
            </a:pPr>
            <a:r>
              <a:rPr lang="en-US" sz="4400">
                <a:solidFill>
                  <a:srgbClr val="000099"/>
                </a:solidFill>
              </a:rPr>
              <a:t>Lecture </a:t>
            </a:r>
            <a:r>
              <a:rPr lang="en-US" sz="4400" dirty="0">
                <a:solidFill>
                  <a:srgbClr val="000099"/>
                </a:solidFill>
              </a:rPr>
              <a:t>06 </a:t>
            </a:r>
          </a:p>
          <a:p>
            <a:pPr algn="ctr" fontAlgn="base">
              <a:spcBef>
                <a:spcPct val="0"/>
              </a:spcBef>
              <a:spcAft>
                <a:spcPct val="0"/>
              </a:spcAft>
              <a:buClrTx/>
              <a:buSzTx/>
              <a:buFontTx/>
              <a:buNone/>
            </a:pPr>
            <a:r>
              <a:rPr lang="en-US" sz="4000" dirty="0">
                <a:solidFill>
                  <a:srgbClr val="000099"/>
                </a:solidFill>
              </a:rPr>
              <a:t>(</a:t>
            </a:r>
            <a:r>
              <a:rPr lang="en-US" sz="4000" dirty="0">
                <a:solidFill>
                  <a:srgbClr val="7030A0"/>
                </a:solidFill>
              </a:rPr>
              <a:t>Ch04:</a:t>
            </a:r>
            <a:r>
              <a:rPr lang="en-US" sz="4000" dirty="0">
                <a:solidFill>
                  <a:srgbClr val="000099"/>
                </a:solidFill>
              </a:rPr>
              <a:t> </a:t>
            </a:r>
            <a:r>
              <a:rPr lang="en-US" sz="4000" dirty="0">
                <a:solidFill>
                  <a:srgbClr val="FF0000"/>
                </a:solidFill>
              </a:rPr>
              <a:t>Sec – 4.1, 4.3, &amp; 5.2</a:t>
            </a:r>
            <a:r>
              <a:rPr lang="en-US" sz="4000" dirty="0">
                <a:solidFill>
                  <a:srgbClr val="000099"/>
                </a:solidFill>
              </a:rPr>
              <a:t>)</a:t>
            </a:r>
          </a:p>
        </p:txBody>
      </p:sp>
      <p:sp>
        <p:nvSpPr>
          <p:cNvPr id="14341" name="Rectangle 4"/>
          <p:cNvSpPr>
            <a:spLocks noChangeArrowheads="1"/>
          </p:cNvSpPr>
          <p:nvPr/>
        </p:nvSpPr>
        <p:spPr bwMode="auto">
          <a:xfrm>
            <a:off x="8050420" y="3485793"/>
            <a:ext cx="2881313"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fontAlgn="base">
              <a:spcBef>
                <a:spcPct val="0"/>
              </a:spcBef>
              <a:spcAft>
                <a:spcPct val="0"/>
              </a:spcAft>
              <a:buClrTx/>
              <a:buSzTx/>
              <a:buFontTx/>
              <a:buNone/>
            </a:pPr>
            <a:r>
              <a:rPr lang="en-US" i="1" dirty="0">
                <a:solidFill>
                  <a:srgbClr val="008000"/>
                </a:solidFill>
              </a:rPr>
              <a:t>Computer Networking: A Top Down Approach </a:t>
            </a:r>
            <a:br>
              <a:rPr lang="en-US" dirty="0">
                <a:solidFill>
                  <a:srgbClr val="008000"/>
                </a:solidFill>
              </a:rPr>
            </a:br>
            <a:r>
              <a:rPr lang="en-US" sz="2000" dirty="0">
                <a:solidFill>
                  <a:srgbClr val="008000"/>
                </a:solidFill>
              </a:rPr>
              <a:t>8</a:t>
            </a:r>
            <a:r>
              <a:rPr lang="en-US" sz="2000" baseline="30000" dirty="0">
                <a:solidFill>
                  <a:srgbClr val="008000"/>
                </a:solidFill>
              </a:rPr>
              <a:t>th</a:t>
            </a:r>
            <a:r>
              <a:rPr lang="en-US" sz="2000" dirty="0">
                <a:solidFill>
                  <a:srgbClr val="008000"/>
                </a:solidFill>
              </a:rPr>
              <a:t> edition </a:t>
            </a:r>
            <a:br>
              <a:rPr lang="en-US" sz="2000" dirty="0">
                <a:solidFill>
                  <a:srgbClr val="008000"/>
                </a:solidFill>
              </a:rPr>
            </a:br>
            <a:r>
              <a:rPr lang="en-US" sz="2000" dirty="0">
                <a:solidFill>
                  <a:srgbClr val="008000"/>
                </a:solidFill>
              </a:rPr>
              <a:t>Jim Kurose, Keith Ross</a:t>
            </a:r>
            <a:br>
              <a:rPr lang="en-US" sz="2000" dirty="0">
                <a:solidFill>
                  <a:srgbClr val="008000"/>
                </a:solidFill>
              </a:rPr>
            </a:br>
            <a:r>
              <a:rPr lang="en-US" sz="2000" dirty="0">
                <a:solidFill>
                  <a:srgbClr val="008000"/>
                </a:solidFill>
              </a:rPr>
              <a:t>Addison-Wesley</a:t>
            </a:r>
            <a:br>
              <a:rPr lang="en-US" sz="2000" dirty="0">
                <a:solidFill>
                  <a:srgbClr val="008000"/>
                </a:solidFill>
              </a:rPr>
            </a:br>
            <a:r>
              <a:rPr lang="en-US" sz="2000" dirty="0">
                <a:solidFill>
                  <a:srgbClr val="008000"/>
                </a:solidFill>
              </a:rPr>
              <a:t>2021</a:t>
            </a:r>
          </a:p>
        </p:txBody>
      </p:sp>
      <p:pic>
        <p:nvPicPr>
          <p:cNvPr id="14342" name="Picture 9"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95476" y="2329962"/>
            <a:ext cx="54705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1826419" y="2647840"/>
            <a:ext cx="5826125" cy="3795712"/>
          </a:xfrm>
          <a:prstGeom prst="rect">
            <a:avLst/>
          </a:prstGeom>
          <a:noFill/>
          <a:ln w="9525">
            <a:noFill/>
            <a:miter lim="800000"/>
            <a:headEnd/>
            <a:tailEnd/>
          </a:ln>
        </p:spPr>
        <p:txBody>
          <a:bodyPr/>
          <a:lstStyle/>
          <a:p>
            <a:pPr marL="342900" indent="-342900" eaLnBrk="0" fontAlgn="base" hangingPunct="0">
              <a:spcBef>
                <a:spcPct val="20000"/>
              </a:spcBef>
              <a:spcAft>
                <a:spcPct val="0"/>
              </a:spcAft>
              <a:buClr>
                <a:srgbClr val="3333CC"/>
              </a:buClr>
              <a:buSzPct val="85000"/>
              <a:defRPr/>
            </a:pPr>
            <a:endParaRPr lang="en-US" sz="2000" dirty="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endParaRPr lang="en-US" sz="2000" dirty="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endParaRPr lang="en-US" sz="2000" dirty="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r>
              <a:rPr lang="en-US" sz="2000" dirty="0">
                <a:solidFill>
                  <a:srgbClr val="000000"/>
                </a:solidFill>
                <a:ea typeface="Cambria Math" pitchFamily="18" charset="0"/>
              </a:rPr>
              <a:t>Notes derived from “</a:t>
            </a:r>
            <a:r>
              <a:rPr lang="en-US" sz="2000" i="1" dirty="0">
                <a:solidFill>
                  <a:srgbClr val="3333CC"/>
                </a:solidFill>
                <a:ea typeface="Cambria Math" pitchFamily="18" charset="0"/>
              </a:rPr>
              <a:t>Computer Networking: A Top Down Approach</a:t>
            </a:r>
            <a:r>
              <a:rPr lang="en-US" sz="2000" i="1" dirty="0">
                <a:solidFill>
                  <a:srgbClr val="000000"/>
                </a:solidFill>
                <a:ea typeface="Cambria Math" pitchFamily="18" charset="0"/>
              </a:rPr>
              <a:t>”</a:t>
            </a:r>
            <a:r>
              <a:rPr lang="en-US" sz="2000" dirty="0">
                <a:solidFill>
                  <a:srgbClr val="000000"/>
                </a:solidFill>
                <a:ea typeface="Cambria Math" pitchFamily="18" charset="0"/>
              </a:rPr>
              <a:t>, Jim Kurose, Keith Ross, Addison-Wesley.</a:t>
            </a:r>
          </a:p>
          <a:p>
            <a:pPr marL="342900" indent="-342900" eaLnBrk="0" fontAlgn="base" hangingPunct="0">
              <a:spcBef>
                <a:spcPct val="20000"/>
              </a:spcBef>
              <a:spcAft>
                <a:spcPct val="0"/>
              </a:spcAft>
              <a:buClr>
                <a:srgbClr val="3333CC"/>
              </a:buClr>
              <a:buSzPct val="85000"/>
              <a:defRPr/>
            </a:pPr>
            <a:endParaRPr lang="en-US" sz="1000" dirty="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r>
              <a:rPr lang="en-US" sz="2000" dirty="0">
                <a:solidFill>
                  <a:srgbClr val="000000"/>
                </a:solidFill>
                <a:ea typeface="Cambria Math" pitchFamily="18" charset="0"/>
              </a:rPr>
              <a:t> </a:t>
            </a:r>
          </a:p>
          <a:p>
            <a:pPr eaLnBrk="0" fontAlgn="base" hangingPunct="0">
              <a:spcBef>
                <a:spcPct val="20000"/>
              </a:spcBef>
              <a:spcAft>
                <a:spcPct val="0"/>
              </a:spcAft>
              <a:buClr>
                <a:srgbClr val="3333CC"/>
              </a:buClr>
              <a:buSzPct val="85000"/>
              <a:defRPr/>
            </a:pPr>
            <a:r>
              <a:rPr lang="en-US" sz="2000" dirty="0">
                <a:solidFill>
                  <a:srgbClr val="C00000"/>
                </a:solidFill>
                <a:ea typeface="Cambria Math" pitchFamily="18" charset="0"/>
              </a:rPr>
              <a:t>Based on the companion website’s </a:t>
            </a:r>
            <a:r>
              <a:rPr lang="en-US" sz="2000" dirty="0" err="1">
                <a:solidFill>
                  <a:srgbClr val="C00000"/>
                </a:solidFill>
                <a:ea typeface="Cambria Math" pitchFamily="18" charset="0"/>
              </a:rPr>
              <a:t>powerpoint</a:t>
            </a:r>
            <a:r>
              <a:rPr lang="en-US" sz="2000" dirty="0">
                <a:solidFill>
                  <a:srgbClr val="C00000"/>
                </a:solidFill>
                <a:ea typeface="Cambria Math" pitchFamily="18" charset="0"/>
              </a:rPr>
              <a:t> slides as modified by Mohammad </a:t>
            </a:r>
            <a:r>
              <a:rPr lang="en-US" sz="2000" dirty="0" err="1">
                <a:solidFill>
                  <a:srgbClr val="C00000"/>
                </a:solidFill>
                <a:ea typeface="Cambria Math" pitchFamily="18" charset="0"/>
              </a:rPr>
              <a:t>Mamun</a:t>
            </a:r>
            <a:r>
              <a:rPr lang="en-US" sz="2000" dirty="0">
                <a:solidFill>
                  <a:srgbClr val="C00000"/>
                </a:solidFill>
                <a:ea typeface="Cambria Math" pitchFamily="18" charset="0"/>
              </a:rPr>
              <a:t> </a:t>
            </a:r>
            <a:r>
              <a:rPr lang="en-US" sz="2000" dirty="0" err="1">
                <a:solidFill>
                  <a:srgbClr val="C00000"/>
                </a:solidFill>
                <a:ea typeface="Cambria Math" pitchFamily="18" charset="0"/>
              </a:rPr>
              <a:t>Elahi</a:t>
            </a:r>
            <a:r>
              <a:rPr lang="en-US" sz="2000" dirty="0">
                <a:solidFill>
                  <a:srgbClr val="C00000"/>
                </a:solidFill>
                <a:ea typeface="Cambria Math" pitchFamily="18" charset="0"/>
              </a:rPr>
              <a:t>. Further modifications were done by Al-</a:t>
            </a:r>
            <a:r>
              <a:rPr lang="en-US" sz="2000" dirty="0" err="1">
                <a:solidFill>
                  <a:srgbClr val="C00000"/>
                </a:solidFill>
                <a:ea typeface="Cambria Math" pitchFamily="18" charset="0"/>
              </a:rPr>
              <a:t>Sakib</a:t>
            </a:r>
            <a:r>
              <a:rPr lang="en-US" sz="2000" dirty="0">
                <a:solidFill>
                  <a:srgbClr val="C00000"/>
                </a:solidFill>
                <a:ea typeface="Cambria Math" pitchFamily="18" charset="0"/>
              </a:rPr>
              <a:t> Khan </a:t>
            </a:r>
            <a:r>
              <a:rPr lang="en-US" sz="2000" dirty="0" err="1">
                <a:solidFill>
                  <a:srgbClr val="C00000"/>
                </a:solidFill>
                <a:ea typeface="Cambria Math" pitchFamily="18" charset="0"/>
              </a:rPr>
              <a:t>Pathan</a:t>
            </a:r>
            <a:r>
              <a:rPr lang="en-US" sz="2000" dirty="0">
                <a:solidFill>
                  <a:srgbClr val="C00000"/>
                </a:solidFill>
                <a:ea typeface="Cambria Math" pitchFamily="18" charset="0"/>
              </a:rPr>
              <a:t>.</a:t>
            </a: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35322" y="588605"/>
            <a:ext cx="2520240" cy="3199999"/>
          </a:xfrm>
          <a:prstGeom prst="rect">
            <a:avLst/>
          </a:prstGeom>
        </p:spPr>
      </p:pic>
    </p:spTree>
    <p:extLst>
      <p:ext uri="{BB962C8B-B14F-4D97-AF65-F5344CB8AC3E}">
        <p14:creationId xmlns:p14="http://schemas.microsoft.com/office/powerpoint/2010/main" val="278732302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35090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186525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48743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27642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25578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21292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25419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50013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043064" y="3813424"/>
            <a:ext cx="9316576" cy="3044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lvl="0">
              <a:lnSpc>
                <a:spcPct val="90000"/>
              </a:lnSpc>
              <a:defRPr/>
            </a:pPr>
            <a:r>
              <a:rPr kumimoji="0" lang="en-US" altLang="en-US" sz="2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a:t>
            </a:r>
            <a:r>
              <a:rPr lang="en-US" altLang="en-US" sz="2200" dirty="0">
                <a:solidFill>
                  <a:prstClr val="black"/>
                </a:solidFill>
                <a:ea typeface="ＭＳ Ｐゴシック" panose="020B0600070205080204" pitchFamily="34" charset="-128"/>
                <a:cs typeface="ＭＳ Ｐゴシック" panose="020B0600070205080204" pitchFamily="34" charset="-128"/>
              </a:rPr>
              <a:t>values (When a packet arrives, the switch looks up these entries in the flow table and if a match is found, the associated action is executed. The action indicates the next hop for the packet.)</a:t>
            </a: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09874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73495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186367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10655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78759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11462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49688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30224"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3.75E-6 1.11022E-16 L 0.00052 0.10718 " pathEditMode="relative" rAng="0" ptsTypes="AA">
                                      <p:cBhvr>
                                        <p:cTn id="6" dur="2000" fill="hold"/>
                                        <p:tgtEl>
                                          <p:spTgt spid="27"/>
                                        </p:tgtEl>
                                        <p:attrNameLst>
                                          <p:attrName>ppt_x</p:attrName>
                                          <p:attrName>ppt_y</p:attrName>
                                        </p:attrNameLst>
                                      </p:cBhvr>
                                      <p:rCtr x="26" y="5347"/>
                                    </p:animMotion>
                                  </p:childTnLst>
                                </p:cTn>
                              </p:par>
                              <p:par>
                                <p:cTn id="7" presetID="42" presetClass="path" presetSubtype="0" accel="50000" decel="50000" fill="hold" nodeType="withEffect">
                                  <p:stCondLst>
                                    <p:cond delay="0"/>
                                  </p:stCondLst>
                                  <p:childTnLst>
                                    <p:animMotion origin="layout" path="M -4.375E-6 1.85185E-6 L 0.00013 -0.05417 " pathEditMode="relative" rAng="0" ptsTypes="AA">
                                      <p:cBhvr>
                                        <p:cTn id="8"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 name="TextBox 1"/>
          <p:cNvSpPr txBox="1"/>
          <p:nvPr/>
        </p:nvSpPr>
        <p:spPr>
          <a:xfrm>
            <a:off x="474133" y="6028267"/>
            <a:ext cx="10879667" cy="646331"/>
          </a:xfrm>
          <a:prstGeom prst="rect">
            <a:avLst/>
          </a:prstGeom>
          <a:noFill/>
        </p:spPr>
        <p:txBody>
          <a:bodyPr wrap="square" rtlCol="0">
            <a:spAutoFit/>
          </a:bodyPr>
          <a:lstStyle/>
          <a:p>
            <a:r>
              <a:rPr lang="en-US" dirty="0">
                <a:solidFill>
                  <a:srgbClr val="C00000"/>
                </a:solidFill>
              </a:rPr>
              <a:t>A datagram of </a:t>
            </a:r>
            <a:r>
              <a:rPr lang="en-US" b="1" dirty="0">
                <a:solidFill>
                  <a:srgbClr val="C00000"/>
                </a:solidFill>
              </a:rPr>
              <a:t>4,000 bytes (20 bytes of IP header plus 3,980 bytes of IP payload) </a:t>
            </a:r>
            <a:r>
              <a:rPr lang="en-US" dirty="0">
                <a:solidFill>
                  <a:srgbClr val="C00000"/>
                </a:solidFill>
              </a:rPr>
              <a:t>arrives at a router and must be forwarded to a link with an MTU of 1,500 bytes.</a:t>
            </a: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fragments</a:t>
            </a:r>
            <a:endParaRPr lang="en-US"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054" y="1803399"/>
            <a:ext cx="9518063" cy="3158067"/>
          </a:xfrm>
          <a:prstGeom prst="rect">
            <a:avLst/>
          </a:prstGeom>
        </p:spPr>
      </p:pic>
      <p:sp>
        <p:nvSpPr>
          <p:cNvPr id="7" name="TextBox 6"/>
          <p:cNvSpPr txBox="1"/>
          <p:nvPr/>
        </p:nvSpPr>
        <p:spPr>
          <a:xfrm>
            <a:off x="3758849" y="5506535"/>
            <a:ext cx="4859985" cy="369332"/>
          </a:xfrm>
          <a:prstGeom prst="rect">
            <a:avLst/>
          </a:prstGeom>
          <a:noFill/>
        </p:spPr>
        <p:txBody>
          <a:bodyPr wrap="none" rtlCol="0">
            <a:spAutoFit/>
          </a:bodyPr>
          <a:lstStyle/>
          <a:p>
            <a:r>
              <a:rPr lang="en-US" b="1" dirty="0">
                <a:solidFill>
                  <a:srgbClr val="C00000"/>
                </a:solidFill>
              </a:rPr>
              <a:t>Offset</a:t>
            </a:r>
            <a:r>
              <a:rPr lang="en-US" dirty="0">
                <a:solidFill>
                  <a:srgbClr val="C00000"/>
                </a:solidFill>
              </a:rPr>
              <a:t> </a:t>
            </a:r>
            <a:r>
              <a:rPr lang="en-US" b="1" dirty="0">
                <a:solidFill>
                  <a:srgbClr val="C00000"/>
                </a:solidFill>
              </a:rPr>
              <a:t>value</a:t>
            </a:r>
            <a:r>
              <a:rPr lang="en-US" dirty="0">
                <a:solidFill>
                  <a:srgbClr val="C00000"/>
                </a:solidFill>
              </a:rPr>
              <a:t> be specified in units of 8-byte chunks</a:t>
            </a:r>
          </a:p>
        </p:txBody>
      </p:sp>
    </p:spTree>
    <p:extLst>
      <p:ext uri="{BB962C8B-B14F-4D97-AF65-F5344CB8AC3E}">
        <p14:creationId xmlns:p14="http://schemas.microsoft.com/office/powerpoint/2010/main" val="365847640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itle 1"/>
          <p:cNvSpPr>
            <a:spLocks noGrp="1"/>
          </p:cNvSpPr>
          <p:nvPr>
            <p:ph type="title"/>
          </p:nvPr>
        </p:nvSpPr>
        <p:spPr/>
        <p:txBody>
          <a:bodyPr>
            <a:normAutofit fontScale="90000"/>
          </a:bodyPr>
          <a:lstStyle/>
          <a:p>
            <a:r>
              <a:rPr lang="en-US" altLang="en-US" sz="2133" dirty="0"/>
              <a:t>IPv6 Packets</a:t>
            </a:r>
            <a:br>
              <a:rPr lang="en-US" altLang="en-US" dirty="0"/>
            </a:br>
            <a:r>
              <a:rPr lang="en-US" altLang="en-US" dirty="0"/>
              <a:t>Limitations of IPv4</a:t>
            </a:r>
            <a:endParaRPr lang="en-CA" altLang="en-US" dirty="0"/>
          </a:p>
        </p:txBody>
      </p:sp>
      <p:sp>
        <p:nvSpPr>
          <p:cNvPr id="13315" name="Content Placeholder 2"/>
          <p:cNvSpPr>
            <a:spLocks noGrp="1"/>
          </p:cNvSpPr>
          <p:nvPr>
            <p:ph idx="1"/>
          </p:nvPr>
        </p:nvSpPr>
        <p:spPr>
          <a:xfrm>
            <a:off x="314030" y="1688204"/>
            <a:ext cx="11563939" cy="3178763"/>
          </a:xfrm>
        </p:spPr>
        <p:txBody>
          <a:bodyPr>
            <a:normAutofit/>
          </a:bodyPr>
          <a:lstStyle/>
          <a:p>
            <a:pPr marL="0" indent="0">
              <a:spcBef>
                <a:spcPts val="600"/>
              </a:spcBef>
              <a:spcAft>
                <a:spcPts val="600"/>
              </a:spcAft>
              <a:buNone/>
            </a:pPr>
            <a:r>
              <a:rPr lang="en-US" sz="2400" dirty="0"/>
              <a:t>IPv4 has </a:t>
            </a:r>
            <a:r>
              <a:rPr lang="en-US" sz="2400" dirty="0">
                <a:solidFill>
                  <a:srgbClr val="FF0000"/>
                </a:solidFill>
              </a:rPr>
              <a:t>three major limitations</a:t>
            </a:r>
            <a:r>
              <a:rPr lang="en-US" sz="2400" dirty="0"/>
              <a:t>:</a:t>
            </a:r>
          </a:p>
          <a:p>
            <a:pPr lvl="1">
              <a:spcBef>
                <a:spcPts val="600"/>
              </a:spcBef>
              <a:spcAft>
                <a:spcPts val="600"/>
              </a:spcAft>
            </a:pPr>
            <a:r>
              <a:rPr lang="en-US" dirty="0">
                <a:solidFill>
                  <a:srgbClr val="FF0000"/>
                </a:solidFill>
              </a:rPr>
              <a:t>IPv4 address depletion </a:t>
            </a:r>
            <a:r>
              <a:rPr lang="en-US" dirty="0"/>
              <a:t>– We have basically run out of IPv4 addressing.</a:t>
            </a:r>
          </a:p>
          <a:p>
            <a:pPr lvl="1">
              <a:spcBef>
                <a:spcPts val="600"/>
              </a:spcBef>
              <a:spcAft>
                <a:spcPts val="600"/>
              </a:spcAft>
            </a:pPr>
            <a:r>
              <a:rPr lang="en-US" dirty="0">
                <a:solidFill>
                  <a:srgbClr val="FF0000"/>
                </a:solidFill>
              </a:rPr>
              <a:t>Lack of end-to-end connectivity </a:t>
            </a:r>
            <a:r>
              <a:rPr lang="en-US" dirty="0"/>
              <a:t>– To make IPv4 survive this long, private addressing and NAT were created. This ended direct communications with public addressing.</a:t>
            </a:r>
          </a:p>
          <a:p>
            <a:pPr lvl="1">
              <a:spcBef>
                <a:spcPts val="600"/>
              </a:spcBef>
              <a:spcAft>
                <a:spcPts val="600"/>
              </a:spcAft>
            </a:pPr>
            <a:r>
              <a:rPr lang="en-US" dirty="0">
                <a:solidFill>
                  <a:srgbClr val="FF0000"/>
                </a:solidFill>
              </a:rPr>
              <a:t>Increased network complexity </a:t>
            </a:r>
            <a:r>
              <a:rPr lang="en-US" dirty="0"/>
              <a:t>– NAT was meant as temporary solution and creates issues on the network as a side effect of manipulating the network headers addressing. NAT causes latency and troubleshooting issues.</a:t>
            </a:r>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p:txBody>
      </p:sp>
    </p:spTree>
    <p:extLst>
      <p:ext uri="{BB962C8B-B14F-4D97-AF65-F5344CB8AC3E}">
        <p14:creationId xmlns:p14="http://schemas.microsoft.com/office/powerpoint/2010/main" val="4072055983"/>
      </p:ext>
    </p:extLst>
  </p:cSld>
  <p:clrMapOvr>
    <a:masterClrMapping/>
  </p:clrMapOvr>
  <p:transition spd="slow">
    <p:wip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indent="-341313">
              <a:defRPr/>
            </a:pPr>
            <a:r>
              <a:rPr lang="en-US" altLang="en-US" sz="3200" dirty="0">
                <a:solidFill>
                  <a:srgbClr val="CC0000"/>
                </a:solidFill>
                <a:ea typeface="ＭＳ Ｐゴシック" panose="020B0600070205080204" pitchFamily="34" charset="-128"/>
                <a:cs typeface="ＭＳ Ｐゴシック" panose="020B0600070205080204" pitchFamily="34" charset="-128"/>
              </a:rPr>
              <a:t>initial motivation:</a:t>
            </a:r>
            <a:r>
              <a:rPr lang="en-US" altLang="en-US" sz="3200" dirty="0">
                <a:solidFill>
                  <a:prstClr val="black"/>
                </a:solidFill>
                <a:ea typeface="ＭＳ Ｐゴシック" panose="020B0600070205080204" pitchFamily="34" charset="-128"/>
                <a:cs typeface="ＭＳ Ｐゴシック" panose="020B0600070205080204" pitchFamily="34" charset="-128"/>
              </a:rPr>
              <a:t> 32-bit IPv4 address space would be completely allocated  </a:t>
            </a:r>
          </a:p>
          <a:p>
            <a:pPr marL="471488" indent="-341313">
              <a:defRPr/>
            </a:pPr>
            <a:r>
              <a:rPr lang="en-US" altLang="en-US" sz="3200" dirty="0">
                <a:solidFill>
                  <a:prstClr val="black"/>
                </a:solidFill>
                <a:ea typeface="ＭＳ Ｐゴシック" panose="020B0600070205080204" pitchFamily="34" charset="-128"/>
                <a:cs typeface="ＭＳ Ｐゴシック" panose="020B0600070205080204" pitchFamily="34" charset="-128"/>
              </a:rPr>
              <a:t>additional motivation:</a:t>
            </a:r>
          </a:p>
          <a:p>
            <a:pPr lvl="1">
              <a:defRPr/>
            </a:pPr>
            <a:r>
              <a:rPr lang="en-US" altLang="en-US" sz="2800" dirty="0">
                <a:solidFill>
                  <a:prstClr val="black"/>
                </a:solidFill>
                <a:ea typeface="ＭＳ Ｐゴシック" panose="020B0600070205080204" pitchFamily="34" charset="-128"/>
              </a:rPr>
              <a:t>speed processing/forwarding: 40-byte fixed length header</a:t>
            </a:r>
          </a:p>
          <a:p>
            <a:pPr lvl="1">
              <a:defRPr/>
            </a:pPr>
            <a:r>
              <a:rPr lang="en-US" altLang="en-US" sz="2800" dirty="0">
                <a:solidFill>
                  <a:prstClr val="black"/>
                </a:solidFill>
                <a:ea typeface="ＭＳ Ｐゴシック" panose="020B0600070205080204" pitchFamily="34" charset="-128"/>
              </a:rPr>
              <a:t>enable different network-layer treatment of “flows”</a:t>
            </a:r>
          </a:p>
          <a:p>
            <a:pPr lvl="1">
              <a:defRPr/>
            </a:pPr>
            <a:endParaRPr lang="en-US" altLang="en-US" sz="2800" dirty="0">
              <a:solidFill>
                <a:prstClr val="black"/>
              </a:solidFill>
              <a:ea typeface="ＭＳ Ｐゴシック" panose="020B0600070205080204" pitchFamily="34" charset="-128"/>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24</a:t>
            </a:fld>
            <a:endParaRPr lang="en-US" dirty="0">
              <a:solidFill>
                <a:prstClr val="white">
                  <a:lumMod val="50000"/>
                </a:prstClr>
              </a:solidFill>
            </a:endParaRPr>
          </a:p>
        </p:txBody>
      </p:sp>
      <p:sp>
        <p:nvSpPr>
          <p:cNvPr id="2" name="TextBox 1"/>
          <p:cNvSpPr txBox="1"/>
          <p:nvPr/>
        </p:nvSpPr>
        <p:spPr>
          <a:xfrm>
            <a:off x="955011" y="4957002"/>
            <a:ext cx="10396071" cy="923330"/>
          </a:xfrm>
          <a:prstGeom prst="rect">
            <a:avLst/>
          </a:prstGeom>
          <a:noFill/>
        </p:spPr>
        <p:txBody>
          <a:bodyPr wrap="square" rtlCol="0">
            <a:spAutoFit/>
          </a:bodyPr>
          <a:lstStyle/>
          <a:p>
            <a:r>
              <a:rPr lang="en-US" dirty="0">
                <a:solidFill>
                  <a:srgbClr val="C00000"/>
                </a:solidFill>
              </a:rPr>
              <a:t>The header structure of an IPv6 packet is specified in RFC 2460. The header has a fixed length of 40 bytes. The two fields for source and destination addresses each use 16 bytes (128 bits), so there are only 8 bytes for general header information.</a:t>
            </a:r>
          </a:p>
        </p:txBody>
      </p:sp>
    </p:spTree>
    <p:extLst>
      <p:ext uri="{BB962C8B-B14F-4D97-AF65-F5344CB8AC3E}">
        <p14:creationId xmlns:p14="http://schemas.microsoft.com/office/powerpoint/2010/main" val="605855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P spid="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255638" y="164776"/>
            <a:ext cx="11127317" cy="975783"/>
          </a:xfrm>
        </p:spPr>
        <p:txBody>
          <a:bodyPr/>
          <a:lstStyle/>
          <a:p>
            <a:r>
              <a:rPr lang="en-US" sz="2133" dirty="0"/>
              <a:t>IPv4 Issues</a:t>
            </a:r>
            <a:br>
              <a:rPr lang="en-US" dirty="0"/>
            </a:br>
            <a:r>
              <a:rPr lang="en-US" sz="3200" dirty="0"/>
              <a:t>Need for IPv6</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1494520"/>
            <a:ext cx="5520037" cy="4098595"/>
          </a:xfrm>
        </p:spPr>
        <p:txBody>
          <a:bodyPr/>
          <a:lstStyle/>
          <a:p>
            <a:pPr marL="457189" indent="-457189" algn="l">
              <a:buFont typeface="Arial" panose="020B0604020202020204" pitchFamily="34" charset="0"/>
              <a:buChar char="•"/>
            </a:pPr>
            <a:r>
              <a:rPr lang="en-US" sz="2400" dirty="0">
                <a:solidFill>
                  <a:schemeClr val="tx1"/>
                </a:solidFill>
              </a:rPr>
              <a:t>IPv4 is running out of addresses. IPv6 is the successor to IPv4. IPv6 has a much larger </a:t>
            </a:r>
            <a:r>
              <a:rPr lang="en-US" sz="2400" dirty="0">
                <a:solidFill>
                  <a:srgbClr val="FF0000"/>
                </a:solidFill>
              </a:rPr>
              <a:t>128-bit address space</a:t>
            </a:r>
            <a:r>
              <a:rPr lang="en-US" sz="2400" dirty="0">
                <a:solidFill>
                  <a:schemeClr val="tx1"/>
                </a:solidFill>
              </a:rPr>
              <a:t>.</a:t>
            </a:r>
          </a:p>
          <a:p>
            <a:pPr marL="457189" indent="-457189" algn="l">
              <a:buFont typeface="Arial" panose="020B0604020202020204" pitchFamily="34" charset="0"/>
              <a:buChar char="•"/>
            </a:pPr>
            <a:r>
              <a:rPr lang="en-US" sz="2400" dirty="0">
                <a:solidFill>
                  <a:schemeClr val="tx1"/>
                </a:solidFill>
              </a:rPr>
              <a:t>The development of IPv6 also included </a:t>
            </a:r>
            <a:r>
              <a:rPr lang="en-US" sz="2400" dirty="0">
                <a:solidFill>
                  <a:srgbClr val="FF0000"/>
                </a:solidFill>
              </a:rPr>
              <a:t>fixes for IPv4 limitations </a:t>
            </a:r>
            <a:r>
              <a:rPr lang="en-US" sz="2400" dirty="0">
                <a:solidFill>
                  <a:schemeClr val="tx1"/>
                </a:solidFill>
              </a:rPr>
              <a:t>and other enhancements.</a:t>
            </a:r>
          </a:p>
          <a:p>
            <a:pPr marL="457189" indent="-457189" algn="l">
              <a:buFont typeface="Arial" panose="020B0604020202020204" pitchFamily="34" charset="0"/>
              <a:buChar char="•"/>
            </a:pPr>
            <a:r>
              <a:rPr lang="en-US" sz="2400" dirty="0">
                <a:solidFill>
                  <a:schemeClr val="tx1"/>
                </a:solidFill>
              </a:rPr>
              <a:t>With an increasing internet population, a limited IPv4 address space, issues with </a:t>
            </a:r>
            <a:r>
              <a:rPr lang="en-US" sz="2400" dirty="0">
                <a:solidFill>
                  <a:srgbClr val="FF0000"/>
                </a:solidFill>
              </a:rPr>
              <a:t>NAT and the IoT</a:t>
            </a:r>
            <a:r>
              <a:rPr lang="en-US" sz="2400" dirty="0">
                <a:solidFill>
                  <a:schemeClr val="tx1"/>
                </a:solidFill>
              </a:rPr>
              <a:t>, the time has come to begin the transition to IPv6.</a:t>
            </a:r>
          </a:p>
          <a:p>
            <a:pPr marL="457189" indent="-457189" algn="l">
              <a:buFont typeface="Arial" panose="020B0604020202020204" pitchFamily="34" charset="0"/>
              <a:buChar char="•"/>
            </a:pPr>
            <a:endParaRPr lang="en-US" sz="2400" dirty="0">
              <a:solidFill>
                <a:schemeClr val="tx1"/>
              </a:solidFill>
            </a:endParaRPr>
          </a:p>
        </p:txBody>
      </p:sp>
      <p:pic>
        <p:nvPicPr>
          <p:cNvPr id="5" name="Picture 4">
            <a:extLst>
              <a:ext uri="{FF2B5EF4-FFF2-40B4-BE49-F238E27FC236}">
                <a16:creationId xmlns:a16="http://schemas.microsoft.com/office/drawing/2014/main" id="{BFB1C0E8-9A48-4776-9AE6-431C4EFFF458}"/>
              </a:ext>
            </a:extLst>
          </p:cNvPr>
          <p:cNvPicPr>
            <a:picLocks noChangeAspect="1"/>
          </p:cNvPicPr>
          <p:nvPr/>
        </p:nvPicPr>
        <p:blipFill>
          <a:blip r:embed="rId3"/>
          <a:stretch>
            <a:fillRect/>
          </a:stretch>
        </p:blipFill>
        <p:spPr>
          <a:xfrm>
            <a:off x="6209700" y="1140559"/>
            <a:ext cx="4638469" cy="2751635"/>
          </a:xfrm>
          <a:prstGeom prst="rect">
            <a:avLst/>
          </a:prstGeom>
        </p:spPr>
      </p:pic>
    </p:spTree>
    <p:extLst>
      <p:ext uri="{BB962C8B-B14F-4D97-AF65-F5344CB8AC3E}">
        <p14:creationId xmlns:p14="http://schemas.microsoft.com/office/powerpoint/2010/main" val="3062082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800" dirty="0">
                <a:solidFill>
                  <a:prstClr val="black"/>
                </a:solidFill>
              </a:rPr>
              <a:t>destination address</a:t>
            </a:r>
          </a:p>
          <a:p>
            <a:pPr algn="ctr">
              <a:lnSpc>
                <a:spcPct val="85000"/>
              </a:lnSpc>
              <a:defRPr/>
            </a:pPr>
            <a:r>
              <a:rPr lang="en-US" altLang="en-US" sz="1800" dirty="0">
                <a:solidFill>
                  <a:prstClr val="black"/>
                </a:solidFill>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800" dirty="0">
                <a:solidFill>
                  <a:prstClr val="black"/>
                </a:solidFill>
              </a:rPr>
              <a:t>source address</a:t>
            </a:r>
          </a:p>
          <a:p>
            <a:pPr algn="ctr">
              <a:lnSpc>
                <a:spcPct val="85000"/>
              </a:lnSpc>
              <a:defRPr/>
            </a:pPr>
            <a:r>
              <a:rPr lang="en-US" altLang="en-US" sz="1800" dirty="0">
                <a:solidFill>
                  <a:prstClr val="black"/>
                </a:solidFill>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a:defRPr/>
            </a:pPr>
            <a:r>
              <a:rPr lang="en-US" dirty="0">
                <a:solidFill>
                  <a:prstClr val="black"/>
                </a:solidFill>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90000"/>
                </a:lnSpc>
                <a:defRPr/>
              </a:pPr>
              <a:r>
                <a:rPr lang="en-US" altLang="en-US" dirty="0">
                  <a:solidFill>
                    <a:srgbClr val="C00000"/>
                  </a:solidFill>
                  <a:latin typeface="Calibri" panose="020F0502020204030204"/>
                </a:rPr>
                <a:t>priority:  </a:t>
              </a:r>
              <a:r>
                <a:rPr lang="en-US" altLang="en-US" dirty="0">
                  <a:solidFill>
                    <a:prstClr val="black"/>
                  </a:solidFill>
                  <a:latin typeface="Calibri" panose="020F0502020204030204"/>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defRPr/>
              </a:pPr>
              <a:r>
                <a:rPr lang="en-US" altLang="en-US" dirty="0">
                  <a:solidFill>
                    <a:srgbClr val="C00000"/>
                  </a:solidFill>
                  <a:latin typeface="Calibri" panose="020F0502020204030204"/>
                </a:rPr>
                <a:t>flow label: </a:t>
              </a:r>
              <a:r>
                <a:rPr lang="en-US" altLang="en-US" dirty="0">
                  <a:solidFill>
                    <a:prstClr val="black"/>
                  </a:solidFill>
                  <a:latin typeface="Calibri" panose="020F0502020204030204"/>
                </a:rPr>
                <a:t>identify datagrams in same "</a:t>
              </a:r>
              <a:r>
                <a:rPr lang="en-US" altLang="ja-JP" dirty="0">
                  <a:solidFill>
                    <a:prstClr val="black"/>
                  </a:solidFill>
                  <a:latin typeface="Calibri" panose="020F0502020204030204"/>
                </a:rPr>
                <a:t>flow.” </a:t>
              </a:r>
              <a:r>
                <a:rPr lang="en-US" altLang="en-US" dirty="0">
                  <a:solidFill>
                    <a:prstClr val="black"/>
                  </a:solidFill>
                  <a:latin typeface="Calibri" panose="020F0502020204030204"/>
                </a:rPr>
                <a:t>(concept of “</a:t>
              </a:r>
              <a:r>
                <a:rPr lang="en-US" altLang="ja-JP" dirty="0">
                  <a:solidFill>
                    <a:prstClr val="black"/>
                  </a:solidFill>
                  <a:latin typeface="Calibri" panose="020F0502020204030204"/>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90000"/>
                </a:lnSpc>
                <a:defRPr/>
              </a:pPr>
              <a:r>
                <a:rPr lang="en-US" altLang="en-US" dirty="0">
                  <a:solidFill>
                    <a:srgbClr val="C00000"/>
                  </a:solidFill>
                  <a:latin typeface="Calibri" panose="020F0502020204030204"/>
                </a:rPr>
                <a:t>128-bit </a:t>
              </a:r>
            </a:p>
            <a:p>
              <a:pPr algn="r">
                <a:lnSpc>
                  <a:spcPct val="90000"/>
                </a:lnSpc>
                <a:defRPr/>
              </a:pPr>
              <a:r>
                <a:rPr lang="en-US" altLang="en-US" dirty="0">
                  <a:solidFill>
                    <a:prstClr val="black"/>
                  </a:solidFill>
                  <a:latin typeface="Calibri" panose="020F0502020204030204"/>
                </a:rPr>
                <a:t>IPv6 addresses</a:t>
              </a:r>
              <a:endParaRPr lang="en-US" altLang="ja-JP" dirty="0">
                <a:solidFill>
                  <a:prstClr val="black"/>
                </a:solidFill>
                <a:latin typeface="Calibri" panose="020F0502020204030204"/>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a:defRPr/>
            </a:pPr>
            <a:r>
              <a:rPr lang="en-US" sz="2400" dirty="0">
                <a:solidFill>
                  <a:prstClr val="black"/>
                </a:solidFill>
              </a:rPr>
              <a:t>What’s missing (compared with IPv4): </a:t>
            </a:r>
          </a:p>
          <a:p>
            <a:pPr marL="285750" indent="-285750">
              <a:buClr>
                <a:srgbClr val="0000A3"/>
              </a:buClr>
              <a:buFont typeface="Wingdings" pitchFamily="2" charset="2"/>
              <a:buChar char="§"/>
              <a:defRPr/>
            </a:pPr>
            <a:r>
              <a:rPr lang="en-US" sz="2400" dirty="0">
                <a:solidFill>
                  <a:prstClr val="black"/>
                </a:solidFill>
              </a:rPr>
              <a:t>no checksum (to speed processing at routers)</a:t>
            </a:r>
          </a:p>
          <a:p>
            <a:pPr marL="285750" indent="-285750">
              <a:buClr>
                <a:srgbClr val="0000A3"/>
              </a:buClr>
              <a:buFont typeface="Wingdings" pitchFamily="2" charset="2"/>
              <a:buChar char="§"/>
              <a:defRPr/>
            </a:pPr>
            <a:r>
              <a:rPr lang="en-US" sz="2400" dirty="0">
                <a:solidFill>
                  <a:prstClr val="black"/>
                </a:solidFill>
              </a:rPr>
              <a:t>no fragmentation/reassembly</a:t>
            </a:r>
          </a:p>
          <a:p>
            <a:pPr marL="285750" indent="-285750">
              <a:buClr>
                <a:srgbClr val="0000A3"/>
              </a:buClr>
              <a:buFont typeface="Wingdings" pitchFamily="2" charset="2"/>
              <a:buChar char="§"/>
              <a:defRPr/>
            </a:pPr>
            <a:r>
              <a:rPr lang="en-US" sz="2400" dirty="0">
                <a:solidFill>
                  <a:prstClr val="black"/>
                </a:solidFill>
              </a:rPr>
              <a:t>no options (available as upper-layer, next-header protocol at router)</a:t>
            </a:r>
            <a:endParaRPr lang="en-US" dirty="0">
              <a:solidFill>
                <a:prstClr val="black"/>
              </a:solidFill>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26</a:t>
            </a:fld>
            <a:endParaRPr lang="en-US" dirty="0">
              <a:solidFill>
                <a:prstClr val="white">
                  <a:lumMod val="50000"/>
                </a:prstClr>
              </a:solidFill>
            </a:endParaRPr>
          </a:p>
        </p:txBody>
      </p:sp>
    </p:spTree>
    <p:extLst>
      <p:ext uri="{BB962C8B-B14F-4D97-AF65-F5344CB8AC3E}">
        <p14:creationId xmlns:p14="http://schemas.microsoft.com/office/powerpoint/2010/main" val="2554770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itle 1"/>
          <p:cNvSpPr>
            <a:spLocks noGrp="1"/>
          </p:cNvSpPr>
          <p:nvPr>
            <p:ph type="title"/>
          </p:nvPr>
        </p:nvSpPr>
        <p:spPr>
          <a:xfrm>
            <a:off x="700549" y="127357"/>
            <a:ext cx="10515600" cy="894622"/>
          </a:xfrm>
        </p:spPr>
        <p:txBody>
          <a:bodyPr>
            <a:normAutofit fontScale="90000"/>
          </a:bodyPr>
          <a:lstStyle/>
          <a:p>
            <a:r>
              <a:rPr lang="en-US" altLang="en-US" sz="2133" dirty="0"/>
              <a:t>IPv6 Packets</a:t>
            </a:r>
            <a:br>
              <a:rPr lang="en-US" altLang="en-US" dirty="0"/>
            </a:br>
            <a:r>
              <a:rPr lang="en-US" altLang="en-US" dirty="0"/>
              <a:t>IPv6 Packet Header</a:t>
            </a:r>
            <a:endParaRPr lang="en-CA" altLang="en-US" dirty="0"/>
          </a:p>
        </p:txBody>
      </p:sp>
      <p:sp>
        <p:nvSpPr>
          <p:cNvPr id="13315" name="Content Placeholder 2"/>
          <p:cNvSpPr>
            <a:spLocks noGrp="1"/>
          </p:cNvSpPr>
          <p:nvPr>
            <p:ph idx="1"/>
          </p:nvPr>
        </p:nvSpPr>
        <p:spPr>
          <a:xfrm>
            <a:off x="772127" y="1059679"/>
            <a:ext cx="10141383" cy="484723"/>
          </a:xfrm>
        </p:spPr>
        <p:txBody>
          <a:bodyPr>
            <a:normAutofit/>
          </a:bodyPr>
          <a:lstStyle/>
          <a:p>
            <a:pPr marL="0" indent="0">
              <a:buNone/>
            </a:pPr>
            <a:r>
              <a:rPr lang="en-US" altLang="ja-JP" sz="2133" dirty="0"/>
              <a:t>Significant fields in the IPv6 header:</a:t>
            </a:r>
          </a:p>
          <a:p>
            <a:pPr lvl="1"/>
            <a:endParaRPr lang="en-CA" altLang="en-US" dirty="0"/>
          </a:p>
        </p:txBody>
      </p:sp>
      <p:graphicFrame>
        <p:nvGraphicFramePr>
          <p:cNvPr id="5" name="Table 4"/>
          <p:cNvGraphicFramePr>
            <a:graphicFrameLocks noGrp="1"/>
          </p:cNvGraphicFramePr>
          <p:nvPr>
            <p:extLst>
              <p:ext uri="{D42A27DB-BD31-4B8C-83A1-F6EECF244321}">
                <p14:modId xmlns:p14="http://schemas.microsoft.com/office/powerpoint/2010/main" val="3043402814"/>
              </p:ext>
            </p:extLst>
          </p:nvPr>
        </p:nvGraphicFramePr>
        <p:xfrm>
          <a:off x="772127" y="1517211"/>
          <a:ext cx="10746660" cy="5230898"/>
        </p:xfrm>
        <a:graphic>
          <a:graphicData uri="http://schemas.openxmlformats.org/drawingml/2006/table">
            <a:tbl>
              <a:tblPr firstRow="1" bandRow="1">
                <a:tableStyleId>{5C22544A-7EE6-4342-B048-85BDC9FD1C3A}</a:tableStyleId>
              </a:tblPr>
              <a:tblGrid>
                <a:gridCol w="3067666">
                  <a:extLst>
                    <a:ext uri="{9D8B030D-6E8A-4147-A177-3AD203B41FA5}">
                      <a16:colId xmlns:a16="http://schemas.microsoft.com/office/drawing/2014/main" val="20000"/>
                    </a:ext>
                  </a:extLst>
                </a:gridCol>
                <a:gridCol w="7678994">
                  <a:extLst>
                    <a:ext uri="{9D8B030D-6E8A-4147-A177-3AD203B41FA5}">
                      <a16:colId xmlns:a16="http://schemas.microsoft.com/office/drawing/2014/main" val="20001"/>
                    </a:ext>
                  </a:extLst>
                </a:gridCol>
              </a:tblGrid>
              <a:tr h="476865">
                <a:tc>
                  <a:txBody>
                    <a:bodyPr/>
                    <a:lstStyle/>
                    <a:p>
                      <a:r>
                        <a:rPr lang="en-US" sz="2400" dirty="0"/>
                        <a:t>Function</a:t>
                      </a:r>
                    </a:p>
                  </a:txBody>
                  <a:tcPr marL="121920" marR="121920" marT="60960" marB="60960"/>
                </a:tc>
                <a:tc>
                  <a:txBody>
                    <a:bodyPr/>
                    <a:lstStyle/>
                    <a:p>
                      <a:r>
                        <a:rPr lang="en-US" sz="2400" dirty="0"/>
                        <a:t>Description</a:t>
                      </a:r>
                    </a:p>
                  </a:txBody>
                  <a:tcPr marL="121920" marR="121920" marT="60960" marB="60960"/>
                </a:tc>
                <a:extLst>
                  <a:ext uri="{0D108BD9-81ED-4DB2-BD59-A6C34878D82A}">
                    <a16:rowId xmlns:a16="http://schemas.microsoft.com/office/drawing/2014/main" val="10000"/>
                  </a:ext>
                </a:extLst>
              </a:tr>
              <a:tr h="650472">
                <a:tc>
                  <a:txBody>
                    <a:bodyPr/>
                    <a:lstStyle/>
                    <a:p>
                      <a:r>
                        <a:rPr lang="en-US" sz="2000" b="1" dirty="0"/>
                        <a:t>Version</a:t>
                      </a:r>
                      <a:endParaRPr lang="en-US" sz="2000" dirty="0"/>
                    </a:p>
                  </a:txBody>
                  <a:tcPr marL="121920" marR="121920" marT="60960" marB="60960"/>
                </a:tc>
                <a:tc>
                  <a:txBody>
                    <a:bodyPr/>
                    <a:lstStyle/>
                    <a:p>
                      <a:r>
                        <a:rPr lang="en-US" sz="2000" dirty="0"/>
                        <a:t>This</a:t>
                      </a:r>
                      <a:r>
                        <a:rPr lang="en-US" sz="2000" baseline="0" dirty="0"/>
                        <a:t> will be for v6, as opposed to v4, a 4 bit field= 0110  </a:t>
                      </a:r>
                      <a:endParaRPr lang="en-US" sz="2000" dirty="0"/>
                    </a:p>
                  </a:txBody>
                  <a:tcPr marL="121920" marR="121920" marT="60960" marB="60960"/>
                </a:tc>
                <a:extLst>
                  <a:ext uri="{0D108BD9-81ED-4DB2-BD59-A6C34878D82A}">
                    <a16:rowId xmlns:a16="http://schemas.microsoft.com/office/drawing/2014/main" val="10001"/>
                  </a:ext>
                </a:extLst>
              </a:tr>
              <a:tr h="417257">
                <a:tc>
                  <a:txBody>
                    <a:bodyPr/>
                    <a:lstStyle/>
                    <a:p>
                      <a:r>
                        <a:rPr lang="en-US" sz="2000" b="1" dirty="0"/>
                        <a:t>Traffic Class</a:t>
                      </a:r>
                      <a:endParaRPr lang="en-US" sz="2000" dirty="0"/>
                    </a:p>
                  </a:txBody>
                  <a:tcPr marL="121920" marR="121920" marT="60960" marB="60960"/>
                </a:tc>
                <a:tc>
                  <a:txBody>
                    <a:bodyPr/>
                    <a:lstStyle/>
                    <a:p>
                      <a:r>
                        <a:rPr lang="en-US" sz="2000" dirty="0"/>
                        <a:t>Used for </a:t>
                      </a:r>
                      <a:r>
                        <a:rPr lang="en-US" sz="2000" dirty="0" err="1"/>
                        <a:t>QoS</a:t>
                      </a:r>
                      <a:r>
                        <a:rPr lang="en-US" sz="2000" baseline="0" dirty="0"/>
                        <a:t>: Equivalent to </a:t>
                      </a:r>
                      <a:r>
                        <a:rPr lang="en-US" sz="2000" baseline="0" dirty="0" err="1"/>
                        <a:t>DiffServ</a:t>
                      </a:r>
                      <a:r>
                        <a:rPr lang="en-US" sz="2000" baseline="0" dirty="0"/>
                        <a:t> – DS field </a:t>
                      </a:r>
                      <a:endParaRPr lang="en-US" sz="2000" dirty="0"/>
                    </a:p>
                  </a:txBody>
                  <a:tcPr marL="121920" marR="121920" marT="60960" marB="60960"/>
                </a:tc>
                <a:extLst>
                  <a:ext uri="{0D108BD9-81ED-4DB2-BD59-A6C34878D82A}">
                    <a16:rowId xmlns:a16="http://schemas.microsoft.com/office/drawing/2014/main" val="10002"/>
                  </a:ext>
                </a:extLst>
              </a:tr>
              <a:tr h="715297">
                <a:tc>
                  <a:txBody>
                    <a:bodyPr/>
                    <a:lstStyle/>
                    <a:p>
                      <a:r>
                        <a:rPr lang="en-US" sz="2000" b="1" dirty="0"/>
                        <a:t>Flow Label</a:t>
                      </a:r>
                      <a:endParaRPr lang="en-US" sz="2000" dirty="0"/>
                    </a:p>
                  </a:txBody>
                  <a:tcPr marL="121920" marR="121920" marT="60960" marB="60960"/>
                </a:tc>
                <a:tc>
                  <a:txBody>
                    <a:bodyPr/>
                    <a:lstStyle/>
                    <a:p>
                      <a:r>
                        <a:rPr lang="en-US" sz="2000" baseline="0" dirty="0"/>
                        <a:t>Informs device to handle identical flow labels the same way, </a:t>
                      </a:r>
                      <a:r>
                        <a:rPr lang="en-US" sz="2000" dirty="0"/>
                        <a:t>20 bit field</a:t>
                      </a:r>
                    </a:p>
                  </a:txBody>
                  <a:tcPr marL="121920" marR="121920" marT="60960" marB="60960"/>
                </a:tc>
                <a:extLst>
                  <a:ext uri="{0D108BD9-81ED-4DB2-BD59-A6C34878D82A}">
                    <a16:rowId xmlns:a16="http://schemas.microsoft.com/office/drawing/2014/main" val="10003"/>
                  </a:ext>
                </a:extLst>
              </a:tr>
              <a:tr h="715297">
                <a:tc>
                  <a:txBody>
                    <a:bodyPr/>
                    <a:lstStyle/>
                    <a:p>
                      <a:r>
                        <a:rPr lang="en-US" sz="2000" b="1" dirty="0"/>
                        <a:t>Payload Length</a:t>
                      </a:r>
                      <a:endParaRPr lang="en-US" sz="2000" dirty="0"/>
                    </a:p>
                  </a:txBody>
                  <a:tcPr marL="121920" marR="121920" marT="60960" marB="60960"/>
                </a:tc>
                <a:tc>
                  <a:txBody>
                    <a:bodyPr/>
                    <a:lstStyle/>
                    <a:p>
                      <a:r>
                        <a:rPr lang="en-US" sz="2000" dirty="0"/>
                        <a:t>This 16-bit field indicates the length of the data portion or payload of the IPv6 packet</a:t>
                      </a:r>
                    </a:p>
                  </a:txBody>
                  <a:tcPr marL="121920" marR="121920" marT="60960" marB="60960"/>
                </a:tc>
                <a:extLst>
                  <a:ext uri="{0D108BD9-81ED-4DB2-BD59-A6C34878D82A}">
                    <a16:rowId xmlns:a16="http://schemas.microsoft.com/office/drawing/2014/main" val="10004"/>
                  </a:ext>
                </a:extLst>
              </a:tr>
              <a:tr h="417257">
                <a:tc>
                  <a:txBody>
                    <a:bodyPr/>
                    <a:lstStyle/>
                    <a:p>
                      <a:r>
                        <a:rPr lang="en-US" sz="2000" b="1" dirty="0"/>
                        <a:t>Next Header</a:t>
                      </a:r>
                      <a:endParaRPr lang="en-US" sz="2000" dirty="0"/>
                    </a:p>
                  </a:txBody>
                  <a:tcPr marL="121920" marR="121920" marT="60960" marB="60960"/>
                </a:tc>
                <a:tc>
                  <a:txBody>
                    <a:bodyPr/>
                    <a:lstStyle/>
                    <a:p>
                      <a:r>
                        <a:rPr lang="en-US" sz="2000" dirty="0"/>
                        <a:t>I.D.s next level</a:t>
                      </a:r>
                      <a:r>
                        <a:rPr lang="en-US" sz="2000" baseline="0" dirty="0"/>
                        <a:t> protocol: ICMP, TCP, UDP, etc.</a:t>
                      </a:r>
                      <a:endParaRPr lang="en-US" sz="2000" dirty="0"/>
                    </a:p>
                  </a:txBody>
                  <a:tcPr marL="121920" marR="121920" marT="60960" marB="60960"/>
                </a:tc>
                <a:extLst>
                  <a:ext uri="{0D108BD9-81ED-4DB2-BD59-A6C34878D82A}">
                    <a16:rowId xmlns:a16="http://schemas.microsoft.com/office/drawing/2014/main" val="10005"/>
                  </a:ext>
                </a:extLst>
              </a:tr>
              <a:tr h="417257">
                <a:tc>
                  <a:txBody>
                    <a:bodyPr/>
                    <a:lstStyle/>
                    <a:p>
                      <a:r>
                        <a:rPr lang="en-US" sz="2000" b="1" dirty="0"/>
                        <a:t>Hop Limit</a:t>
                      </a:r>
                    </a:p>
                  </a:txBody>
                  <a:tcPr marL="121920" marR="121920" marT="60960" marB="60960"/>
                </a:tc>
                <a:tc>
                  <a:txBody>
                    <a:bodyPr/>
                    <a:lstStyle/>
                    <a:p>
                      <a:pPr marL="0" marR="0" indent="0" algn="l" defTabSz="685777" rtl="0" eaLnBrk="1" fontAlgn="auto" latinLnBrk="0" hangingPunct="1">
                        <a:lnSpc>
                          <a:spcPct val="100000"/>
                        </a:lnSpc>
                        <a:spcBef>
                          <a:spcPts val="0"/>
                        </a:spcBef>
                        <a:spcAft>
                          <a:spcPts val="0"/>
                        </a:spcAft>
                        <a:buClrTx/>
                        <a:buSzTx/>
                        <a:buFontTx/>
                        <a:buNone/>
                        <a:tabLst/>
                        <a:defRPr/>
                      </a:pPr>
                      <a:r>
                        <a:rPr lang="en-US" sz="2000" dirty="0"/>
                        <a:t>Replaces</a:t>
                      </a:r>
                      <a:r>
                        <a:rPr lang="en-US" sz="2000" baseline="0" dirty="0"/>
                        <a:t> TTL field </a:t>
                      </a:r>
                      <a:r>
                        <a:rPr lang="en-US" sz="2000" dirty="0"/>
                        <a:t>Layer 3 hop count</a:t>
                      </a:r>
                    </a:p>
                  </a:txBody>
                  <a:tcPr marL="121920" marR="121920" marT="60960" marB="60960"/>
                </a:tc>
                <a:extLst>
                  <a:ext uri="{0D108BD9-81ED-4DB2-BD59-A6C34878D82A}">
                    <a16:rowId xmlns:a16="http://schemas.microsoft.com/office/drawing/2014/main" val="10007"/>
                  </a:ext>
                </a:extLst>
              </a:tr>
              <a:tr h="650472">
                <a:tc>
                  <a:txBody>
                    <a:bodyPr/>
                    <a:lstStyle/>
                    <a:p>
                      <a:r>
                        <a:rPr lang="en-US" sz="2000" b="1" dirty="0"/>
                        <a:t>Source IPv4 Address</a:t>
                      </a:r>
                      <a:endParaRPr lang="en-US" sz="2000" dirty="0"/>
                    </a:p>
                  </a:txBody>
                  <a:tcPr marL="121920" marR="121920" marT="60960" marB="60960"/>
                </a:tc>
                <a:tc>
                  <a:txBody>
                    <a:bodyPr/>
                    <a:lstStyle/>
                    <a:p>
                      <a:r>
                        <a:rPr lang="en-US" sz="2000" dirty="0"/>
                        <a:t>128 bit source address</a:t>
                      </a:r>
                    </a:p>
                  </a:txBody>
                  <a:tcPr marL="121920" marR="121920" marT="60960" marB="60960"/>
                </a:tc>
                <a:extLst>
                  <a:ext uri="{0D108BD9-81ED-4DB2-BD59-A6C34878D82A}">
                    <a16:rowId xmlns:a16="http://schemas.microsoft.com/office/drawing/2014/main" val="10006"/>
                  </a:ext>
                </a:extLst>
              </a:tr>
              <a:tr h="715297">
                <a:tc>
                  <a:txBody>
                    <a:bodyPr/>
                    <a:lstStyle/>
                    <a:p>
                      <a:r>
                        <a:rPr lang="en-US" sz="2000" b="1" dirty="0"/>
                        <a:t>Destination IPV4 Address</a:t>
                      </a:r>
                    </a:p>
                  </a:txBody>
                  <a:tcPr marL="121920" marR="121920" marT="60960" marB="60960"/>
                </a:tc>
                <a:tc>
                  <a:txBody>
                    <a:bodyPr/>
                    <a:lstStyle/>
                    <a:p>
                      <a:r>
                        <a:rPr lang="en-US" sz="2000" dirty="0"/>
                        <a:t>128 bit destination</a:t>
                      </a:r>
                      <a:r>
                        <a:rPr lang="en-US" sz="2000" baseline="0" dirty="0"/>
                        <a:t> address</a:t>
                      </a:r>
                      <a:endParaRPr lang="en-US" sz="2000" dirty="0"/>
                    </a:p>
                  </a:txBody>
                  <a:tcPr marL="121920" marR="121920" marT="60960" marB="60960"/>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10791647"/>
      </p:ext>
    </p:extLst>
  </p:cSld>
  <p:clrMapOvr>
    <a:masterClrMapping/>
  </p:clrMapOvr>
  <p:transition spd="slow">
    <p:wip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0" y="1"/>
            <a:ext cx="11127317" cy="975783"/>
          </a:xfrm>
        </p:spPr>
        <p:txBody>
          <a:bodyPr/>
          <a:lstStyle/>
          <a:p>
            <a:r>
              <a:rPr lang="en-US" sz="2133" dirty="0"/>
              <a:t>IPv6 Address Representation</a:t>
            </a:r>
            <a:br>
              <a:rPr lang="en-US" dirty="0"/>
            </a:br>
            <a:r>
              <a:rPr lang="en-US" sz="3200" dirty="0"/>
              <a:t>IPv6 Addressing Formats</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1140559"/>
            <a:ext cx="10551355" cy="5337579"/>
          </a:xfrm>
        </p:spPr>
        <p:txBody>
          <a:bodyPr/>
          <a:lstStyle/>
          <a:p>
            <a:pPr marL="457189" indent="-457189" algn="l">
              <a:buFont typeface="Arial" panose="020B0604020202020204" pitchFamily="34" charset="0"/>
              <a:buChar char="•"/>
            </a:pPr>
            <a:r>
              <a:rPr lang="en-US" sz="2133" dirty="0">
                <a:solidFill>
                  <a:schemeClr val="tx1"/>
                </a:solidFill>
              </a:rPr>
              <a:t>IPv6 addresses are 128 bits in length and written in hexadecimal.</a:t>
            </a:r>
          </a:p>
          <a:p>
            <a:pPr marL="457189" indent="-457189" algn="l">
              <a:buFont typeface="Arial" panose="020B0604020202020204" pitchFamily="34" charset="0"/>
              <a:buChar char="•"/>
            </a:pPr>
            <a:r>
              <a:rPr lang="en-US" sz="2133" dirty="0">
                <a:solidFill>
                  <a:schemeClr val="tx1"/>
                </a:solidFill>
              </a:rPr>
              <a:t>IPv6 addresses are not case-sensitive and can be written in either lowercase or uppercase.</a:t>
            </a:r>
          </a:p>
          <a:p>
            <a:pPr marL="457189" indent="-457189" algn="l">
              <a:buFont typeface="Arial" panose="020B0604020202020204" pitchFamily="34" charset="0"/>
              <a:buChar char="•"/>
            </a:pPr>
            <a:r>
              <a:rPr lang="en-US" sz="2133" dirty="0">
                <a:solidFill>
                  <a:schemeClr val="tx1"/>
                </a:solidFill>
              </a:rPr>
              <a:t>The preferred format for writing an IPv6 address is x:x:x:x:x:x:x:x, with each “x” consisting of four hexadecimal values.</a:t>
            </a:r>
          </a:p>
          <a:p>
            <a:pPr marL="457189" indent="-457189" algn="l">
              <a:buFont typeface="Arial" panose="020B0604020202020204" pitchFamily="34" charset="0"/>
              <a:buChar char="•"/>
            </a:pPr>
            <a:r>
              <a:rPr lang="en-US" sz="2133" dirty="0">
                <a:solidFill>
                  <a:schemeClr val="tx1"/>
                </a:solidFill>
              </a:rPr>
              <a:t>In IPv6, a hextet is the unofficial term used to refer to a segment of 16 bits, or four hexadecimal values.</a:t>
            </a:r>
          </a:p>
          <a:p>
            <a:pPr marL="457189" indent="-457189" algn="l">
              <a:buFont typeface="Arial" panose="020B0604020202020204" pitchFamily="34" charset="0"/>
              <a:buChar char="•"/>
            </a:pPr>
            <a:r>
              <a:rPr lang="en-US" sz="2133" dirty="0">
                <a:solidFill>
                  <a:schemeClr val="tx1"/>
                </a:solidFill>
              </a:rPr>
              <a:t>Examples of IPv6 addresses in the preferred format:</a:t>
            </a:r>
          </a:p>
          <a:p>
            <a:pPr marL="478355" lvl="4" indent="0">
              <a:buNone/>
            </a:pPr>
            <a:r>
              <a:rPr lang="pt-BR" sz="2133" dirty="0">
                <a:latin typeface="Courier New" panose="02070309020205020404" pitchFamily="49" charset="0"/>
                <a:cs typeface="Courier New" panose="02070309020205020404" pitchFamily="49" charset="0"/>
              </a:rPr>
              <a:t>2001:0db8:0000:1111:0000:0000:0000:0200 </a:t>
            </a:r>
          </a:p>
          <a:p>
            <a:pPr marL="478355" lvl="4" indent="0">
              <a:buNone/>
            </a:pPr>
            <a:r>
              <a:rPr lang="pt-BR" sz="2133" dirty="0">
                <a:latin typeface="Courier New" panose="02070309020205020404" pitchFamily="49" charset="0"/>
                <a:cs typeface="Courier New" panose="02070309020205020404" pitchFamily="49" charset="0"/>
              </a:rPr>
              <a:t>2001:0db8:0000:00a3:abcd:0000:0000:1234 </a:t>
            </a:r>
            <a:endParaRPr lang="en-US" sz="2133" dirty="0">
              <a:latin typeface="Courier New" panose="02070309020205020404" pitchFamily="49" charset="0"/>
              <a:cs typeface="Courier New" panose="02070309020205020404" pitchFamily="49" charset="0"/>
            </a:endParaRPr>
          </a:p>
          <a:p>
            <a:pPr marL="457189" indent="-457189" algn="l">
              <a:buFont typeface="Arial" panose="020B0604020202020204" pitchFamily="34" charset="0"/>
              <a:buChar char="•"/>
            </a:pPr>
            <a:endParaRPr lang="en-US" sz="2400" dirty="0">
              <a:solidFill>
                <a:schemeClr val="tx1"/>
              </a:solidFill>
            </a:endParaRPr>
          </a:p>
          <a:p>
            <a:pPr marL="0" indent="0" algn="l"/>
            <a:endParaRPr lang="en-US" sz="2133" dirty="0">
              <a:solidFill>
                <a:schemeClr val="tx1"/>
              </a:solidFill>
            </a:endParaRPr>
          </a:p>
        </p:txBody>
      </p:sp>
    </p:spTree>
    <p:extLst>
      <p:ext uri="{BB962C8B-B14F-4D97-AF65-F5344CB8AC3E}">
        <p14:creationId xmlns:p14="http://schemas.microsoft.com/office/powerpoint/2010/main" val="1331438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0" y="1"/>
            <a:ext cx="11127317" cy="975783"/>
          </a:xfrm>
        </p:spPr>
        <p:txBody>
          <a:bodyPr/>
          <a:lstStyle/>
          <a:p>
            <a:r>
              <a:rPr lang="en-US" sz="2133" dirty="0"/>
              <a:t>IPv6 Address Representation</a:t>
            </a:r>
            <a:br>
              <a:rPr lang="en-US" dirty="0"/>
            </a:br>
            <a:r>
              <a:rPr lang="en-US" sz="3200" dirty="0"/>
              <a:t>Rule 1 – Omit Leading Zero</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798302"/>
            <a:ext cx="10551355" cy="3860327"/>
          </a:xfrm>
        </p:spPr>
        <p:txBody>
          <a:bodyPr/>
          <a:lstStyle/>
          <a:p>
            <a:pPr marL="0" indent="0" algn="l"/>
            <a:r>
              <a:rPr lang="en-US" sz="2133" dirty="0">
                <a:solidFill>
                  <a:schemeClr val="tx1"/>
                </a:solidFill>
              </a:rPr>
              <a:t>The first rule to help reduce the notation of IPv6 addresses is to omit any leading 0s (zeros).</a:t>
            </a:r>
          </a:p>
          <a:p>
            <a:pPr marL="97444" lvl="1" indent="0">
              <a:buNone/>
            </a:pPr>
            <a:r>
              <a:rPr lang="en-US" sz="2133" b="1" dirty="0"/>
              <a:t>Examples:</a:t>
            </a:r>
          </a:p>
          <a:p>
            <a:pPr marL="380990" indent="-380990" algn="l">
              <a:buFont typeface="Arial" panose="020B0604020202020204" pitchFamily="34" charset="0"/>
              <a:buChar char="•"/>
            </a:pPr>
            <a:r>
              <a:rPr lang="en-US" sz="2133" dirty="0">
                <a:solidFill>
                  <a:schemeClr val="tx1"/>
                </a:solidFill>
              </a:rPr>
              <a:t>01ab can be represented as 1ab</a:t>
            </a:r>
          </a:p>
          <a:p>
            <a:pPr marL="380990" indent="-380990" algn="l">
              <a:buFont typeface="Arial" panose="020B0604020202020204" pitchFamily="34" charset="0"/>
              <a:buChar char="•"/>
            </a:pPr>
            <a:r>
              <a:rPr lang="en-US" sz="2133" dirty="0">
                <a:solidFill>
                  <a:schemeClr val="tx1"/>
                </a:solidFill>
              </a:rPr>
              <a:t>09f0 can be represented as 9f0</a:t>
            </a:r>
          </a:p>
          <a:p>
            <a:pPr marL="380990" indent="-380990" algn="l">
              <a:buFont typeface="Arial" panose="020B0604020202020204" pitchFamily="34" charset="0"/>
              <a:buChar char="•"/>
            </a:pPr>
            <a:r>
              <a:rPr lang="en-US" sz="2133" dirty="0">
                <a:solidFill>
                  <a:schemeClr val="tx1"/>
                </a:solidFill>
              </a:rPr>
              <a:t>0a00 can be represented as a00</a:t>
            </a:r>
          </a:p>
          <a:p>
            <a:pPr marL="380990" indent="-380990" algn="l">
              <a:buFont typeface="Arial" panose="020B0604020202020204" pitchFamily="34" charset="0"/>
              <a:buChar char="•"/>
            </a:pPr>
            <a:r>
              <a:rPr lang="en-US" sz="2133" dirty="0">
                <a:solidFill>
                  <a:schemeClr val="tx1"/>
                </a:solidFill>
              </a:rPr>
              <a:t>00ab can be represented as ab</a:t>
            </a:r>
          </a:p>
          <a:p>
            <a:pPr marL="380990" indent="-380990" algn="l">
              <a:buFont typeface="Arial" panose="020B0604020202020204" pitchFamily="34" charset="0"/>
              <a:buChar char="•"/>
            </a:pPr>
            <a:endParaRPr lang="en-US" sz="2133" dirty="0">
              <a:solidFill>
                <a:schemeClr val="tx1"/>
              </a:solidFill>
            </a:endParaRPr>
          </a:p>
          <a:p>
            <a:pPr marL="0" indent="0" algn="l"/>
            <a:r>
              <a:rPr lang="en-US" sz="2133" b="1" dirty="0">
                <a:solidFill>
                  <a:schemeClr val="tx1"/>
                </a:solidFill>
              </a:rPr>
              <a:t>Note</a:t>
            </a:r>
            <a:r>
              <a:rPr lang="en-US" sz="2133" dirty="0">
                <a:solidFill>
                  <a:schemeClr val="tx1"/>
                </a:solidFill>
              </a:rPr>
              <a:t>:</a:t>
            </a:r>
            <a:r>
              <a:rPr lang="en-US" sz="2133" b="1" dirty="0">
                <a:solidFill>
                  <a:schemeClr val="tx1"/>
                </a:solidFill>
              </a:rPr>
              <a:t> </a:t>
            </a:r>
            <a:r>
              <a:rPr lang="en-US" sz="2133" dirty="0">
                <a:solidFill>
                  <a:schemeClr val="tx1"/>
                </a:solidFill>
              </a:rPr>
              <a:t>This rule only applies to leading 0s, NOT to trailing 0s, otherwise the address would be ambiguous. </a:t>
            </a:r>
          </a:p>
          <a:p>
            <a:pPr marL="554633" lvl="1" indent="-457189"/>
            <a:endParaRPr lang="en-US" sz="1600" dirty="0"/>
          </a:p>
          <a:p>
            <a:pPr marL="0" indent="0" algn="l"/>
            <a:endParaRPr lang="en-US" sz="2133" dirty="0">
              <a:solidFill>
                <a:schemeClr val="tx1"/>
              </a:solidFill>
            </a:endParaRPr>
          </a:p>
        </p:txBody>
      </p:sp>
      <p:graphicFrame>
        <p:nvGraphicFramePr>
          <p:cNvPr id="5" name="Content Placeholder 6">
            <a:extLst>
              <a:ext uri="{FF2B5EF4-FFF2-40B4-BE49-F238E27FC236}">
                <a16:creationId xmlns:a16="http://schemas.microsoft.com/office/drawing/2014/main" id="{8D418206-3EDF-4754-9AFB-FFEB638592BB}"/>
              </a:ext>
            </a:extLst>
          </p:cNvPr>
          <p:cNvGraphicFramePr>
            <a:graphicFrameLocks/>
          </p:cNvGraphicFramePr>
          <p:nvPr/>
        </p:nvGraphicFramePr>
        <p:xfrm>
          <a:off x="1000994" y="5023379"/>
          <a:ext cx="8822796" cy="1051560"/>
        </p:xfrm>
        <a:graphic>
          <a:graphicData uri="http://schemas.openxmlformats.org/drawingml/2006/table">
            <a:tbl>
              <a:tblPr firstRow="1" bandRow="1">
                <a:tableStyleId>{5C22544A-7EE6-4342-B048-85BDC9FD1C3A}</a:tableStyleId>
              </a:tblPr>
              <a:tblGrid>
                <a:gridCol w="2617503">
                  <a:extLst>
                    <a:ext uri="{9D8B030D-6E8A-4147-A177-3AD203B41FA5}">
                      <a16:colId xmlns:a16="http://schemas.microsoft.com/office/drawing/2014/main" val="3729139006"/>
                    </a:ext>
                  </a:extLst>
                </a:gridCol>
                <a:gridCol w="6205293">
                  <a:extLst>
                    <a:ext uri="{9D8B030D-6E8A-4147-A177-3AD203B41FA5}">
                      <a16:colId xmlns:a16="http://schemas.microsoft.com/office/drawing/2014/main" val="1988913492"/>
                    </a:ext>
                  </a:extLst>
                </a:gridCol>
              </a:tblGrid>
              <a:tr h="345440">
                <a:tc>
                  <a:txBody>
                    <a:bodyPr/>
                    <a:lstStyle/>
                    <a:p>
                      <a:r>
                        <a:rPr lang="en-US" sz="1500" dirty="0"/>
                        <a:t>Type</a:t>
                      </a:r>
                    </a:p>
                  </a:txBody>
                  <a:tcPr marL="121920" marR="121920" marT="60960" marB="60960"/>
                </a:tc>
                <a:tc>
                  <a:txBody>
                    <a:bodyPr/>
                    <a:lstStyle/>
                    <a:p>
                      <a:r>
                        <a:rPr lang="en-US" sz="1500" dirty="0"/>
                        <a:t>Format</a:t>
                      </a:r>
                    </a:p>
                  </a:txBody>
                  <a:tcPr marL="121920" marR="121920" marT="60960" marB="60960"/>
                </a:tc>
                <a:extLst>
                  <a:ext uri="{0D108BD9-81ED-4DB2-BD59-A6C34878D82A}">
                    <a16:rowId xmlns:a16="http://schemas.microsoft.com/office/drawing/2014/main" val="2583676789"/>
                  </a:ext>
                </a:extLst>
              </a:tr>
              <a:tr h="345440">
                <a:tc>
                  <a:txBody>
                    <a:bodyPr/>
                    <a:lstStyle/>
                    <a:p>
                      <a:r>
                        <a:rPr lang="en-US" sz="1500" dirty="0">
                          <a:solidFill>
                            <a:srgbClr val="000000"/>
                          </a:solidFill>
                        </a:rPr>
                        <a:t>Preferred</a:t>
                      </a:r>
                    </a:p>
                  </a:txBody>
                  <a:tcPr marL="121920" marR="121920" marT="60960" marB="60960"/>
                </a:tc>
                <a:tc>
                  <a:txBody>
                    <a:bodyPr/>
                    <a:lstStyle/>
                    <a:p>
                      <a:r>
                        <a:rPr lang="en-US" sz="1500" dirty="0"/>
                        <a:t>2001 : </a:t>
                      </a:r>
                      <a:r>
                        <a:rPr lang="en-US" sz="1500" b="1" dirty="0"/>
                        <a:t>0</a:t>
                      </a:r>
                      <a:r>
                        <a:rPr lang="en-US" sz="1500" dirty="0"/>
                        <a:t>db8 : </a:t>
                      </a:r>
                      <a:r>
                        <a:rPr lang="en-US" sz="1500" b="1" dirty="0"/>
                        <a:t>000</a:t>
                      </a:r>
                      <a:r>
                        <a:rPr lang="en-US" sz="1500" dirty="0"/>
                        <a:t>0 : 1111 : </a:t>
                      </a:r>
                      <a:r>
                        <a:rPr lang="en-US" sz="1500" b="1" dirty="0"/>
                        <a:t>000</a:t>
                      </a:r>
                      <a:r>
                        <a:rPr lang="en-US" sz="1500" dirty="0"/>
                        <a:t>0 : </a:t>
                      </a:r>
                      <a:r>
                        <a:rPr lang="en-US" sz="1500" b="1" dirty="0"/>
                        <a:t>000</a:t>
                      </a:r>
                      <a:r>
                        <a:rPr lang="en-US" sz="1500" dirty="0"/>
                        <a:t>0 : </a:t>
                      </a:r>
                      <a:r>
                        <a:rPr lang="en-US" sz="1500" b="1" dirty="0"/>
                        <a:t>000</a:t>
                      </a:r>
                      <a:r>
                        <a:rPr lang="en-US" sz="1500" dirty="0"/>
                        <a:t>0 : </a:t>
                      </a:r>
                      <a:r>
                        <a:rPr lang="en-US" sz="1500" b="1" dirty="0"/>
                        <a:t>0</a:t>
                      </a:r>
                      <a:r>
                        <a:rPr lang="en-US" sz="1500" dirty="0"/>
                        <a:t>200</a:t>
                      </a:r>
                      <a:endParaRPr lang="en-US" sz="1500" dirty="0">
                        <a:solidFill>
                          <a:srgbClr val="000000"/>
                        </a:solidFill>
                      </a:endParaRPr>
                    </a:p>
                  </a:txBody>
                  <a:tcPr marL="121920" marR="121920" marT="60960" marB="60960"/>
                </a:tc>
                <a:extLst>
                  <a:ext uri="{0D108BD9-81ED-4DB2-BD59-A6C34878D82A}">
                    <a16:rowId xmlns:a16="http://schemas.microsoft.com/office/drawing/2014/main" val="3849654457"/>
                  </a:ext>
                </a:extLst>
              </a:tr>
              <a:tr h="345440">
                <a:tc>
                  <a:txBody>
                    <a:bodyPr/>
                    <a:lstStyle/>
                    <a:p>
                      <a:pPr marL="0" marR="0" lvl="0" indent="0" algn="l" defTabSz="685777" rtl="0" eaLnBrk="1" fontAlgn="auto" latinLnBrk="0" hangingPunct="1">
                        <a:lnSpc>
                          <a:spcPct val="100000"/>
                        </a:lnSpc>
                        <a:spcBef>
                          <a:spcPts val="0"/>
                        </a:spcBef>
                        <a:spcAft>
                          <a:spcPts val="0"/>
                        </a:spcAft>
                        <a:buClrTx/>
                        <a:buSzTx/>
                        <a:buFontTx/>
                        <a:buNone/>
                        <a:tabLst/>
                        <a:defRPr/>
                      </a:pPr>
                      <a:r>
                        <a:rPr lang="en-US" sz="1500" dirty="0">
                          <a:solidFill>
                            <a:srgbClr val="000000"/>
                          </a:solidFill>
                        </a:rPr>
                        <a:t>No leading zeros</a:t>
                      </a:r>
                    </a:p>
                  </a:txBody>
                  <a:tcPr marL="121920" marR="121920" marT="60960" marB="60960"/>
                </a:tc>
                <a:tc>
                  <a:txBody>
                    <a:bodyPr/>
                    <a:lstStyle/>
                    <a:p>
                      <a:r>
                        <a:rPr lang="en-US" sz="1500" dirty="0"/>
                        <a:t>2001 : db8 : 0 : 1111 : 0 : 0 : 0 : 200</a:t>
                      </a:r>
                      <a:endParaRPr lang="en-US" sz="1500" dirty="0">
                        <a:solidFill>
                          <a:srgbClr val="000000"/>
                        </a:solidFill>
                      </a:endParaRPr>
                    </a:p>
                  </a:txBody>
                  <a:tcPr marL="121920" marR="121920" marT="60960" marB="60960"/>
                </a:tc>
                <a:extLst>
                  <a:ext uri="{0D108BD9-81ED-4DB2-BD59-A6C34878D82A}">
                    <a16:rowId xmlns:a16="http://schemas.microsoft.com/office/drawing/2014/main" val="235735172"/>
                  </a:ext>
                </a:extLst>
              </a:tr>
            </a:tbl>
          </a:graphicData>
        </a:graphic>
      </p:graphicFrame>
    </p:spTree>
    <p:extLst>
      <p:ext uri="{BB962C8B-B14F-4D97-AF65-F5344CB8AC3E}">
        <p14:creationId xmlns:p14="http://schemas.microsoft.com/office/powerpoint/2010/main" val="1120345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0" y="1"/>
            <a:ext cx="11127317" cy="975783"/>
          </a:xfrm>
        </p:spPr>
        <p:txBody>
          <a:bodyPr/>
          <a:lstStyle/>
          <a:p>
            <a:r>
              <a:rPr lang="en-US" sz="2133" dirty="0"/>
              <a:t>IPv6 Address Representation</a:t>
            </a:r>
            <a:br>
              <a:rPr lang="en-US" dirty="0"/>
            </a:br>
            <a:r>
              <a:rPr lang="en-US" sz="3200" dirty="0"/>
              <a:t>Rule 2 – Double Colon</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1140559"/>
            <a:ext cx="10551355" cy="3199884"/>
          </a:xfrm>
        </p:spPr>
        <p:txBody>
          <a:bodyPr/>
          <a:lstStyle/>
          <a:p>
            <a:pPr marL="0" indent="0" algn="l"/>
            <a:r>
              <a:rPr lang="en-US" sz="2400" dirty="0">
                <a:solidFill>
                  <a:schemeClr val="tx1"/>
                </a:solidFill>
              </a:rPr>
              <a:t>The IPv6 addressing architecture allows you use the double colon (::) notation to represent contiguous 16-bit </a:t>
            </a:r>
            <a:r>
              <a:rPr lang="en-US" sz="2400" dirty="0" err="1">
                <a:solidFill>
                  <a:schemeClr val="tx1"/>
                </a:solidFill>
              </a:rPr>
              <a:t>hextets</a:t>
            </a:r>
            <a:r>
              <a:rPr lang="en-US" sz="2400" dirty="0">
                <a:solidFill>
                  <a:schemeClr val="tx1"/>
                </a:solidFill>
              </a:rPr>
              <a:t>/fields of zeros (all zeros)</a:t>
            </a:r>
          </a:p>
          <a:p>
            <a:pPr marL="0" indent="0" algn="l"/>
            <a:r>
              <a:rPr lang="en-US" sz="2133" b="1" dirty="0">
                <a:solidFill>
                  <a:schemeClr val="tx1"/>
                </a:solidFill>
              </a:rPr>
              <a:t>Example:</a:t>
            </a:r>
          </a:p>
          <a:p>
            <a:pPr marL="380990" indent="-380990" algn="l">
              <a:buFont typeface="Arial" panose="020B0604020202020204" pitchFamily="34" charset="0"/>
              <a:buChar char="•"/>
            </a:pPr>
            <a:r>
              <a:rPr lang="en-US" sz="1867" dirty="0">
                <a:solidFill>
                  <a:schemeClr val="tx1"/>
                </a:solidFill>
              </a:rPr>
              <a:t>2001:db8:cafe:1:0:0:0:1 (leading 0s omitted) could be represented as 2001:db8:cafe:1::1</a:t>
            </a:r>
          </a:p>
          <a:p>
            <a:pPr marL="0" indent="0" algn="l"/>
            <a:endParaRPr lang="en-US" sz="2133" dirty="0">
              <a:solidFill>
                <a:schemeClr val="tx1"/>
              </a:solidFill>
            </a:endParaRPr>
          </a:p>
          <a:p>
            <a:pPr marL="0" indent="0" algn="l"/>
            <a:r>
              <a:rPr lang="en-US" sz="2133" b="1" dirty="0">
                <a:solidFill>
                  <a:schemeClr val="tx1"/>
                </a:solidFill>
              </a:rPr>
              <a:t>Note</a:t>
            </a:r>
            <a:r>
              <a:rPr lang="en-US" sz="2133" dirty="0">
                <a:solidFill>
                  <a:schemeClr val="tx1"/>
                </a:solidFill>
              </a:rPr>
              <a:t>: </a:t>
            </a:r>
            <a:r>
              <a:rPr lang="en-US" sz="1867" dirty="0">
                <a:solidFill>
                  <a:schemeClr val="tx1"/>
                </a:solidFill>
              </a:rPr>
              <a:t>The double colon (::) can only be used once within an address, otherwise there would be more than one possible resulting addresses.</a:t>
            </a:r>
          </a:p>
          <a:p>
            <a:pPr marL="0" indent="0" algn="l"/>
            <a:endParaRPr lang="en-US" sz="2133" dirty="0">
              <a:solidFill>
                <a:schemeClr val="tx1"/>
              </a:solidFill>
            </a:endParaRPr>
          </a:p>
        </p:txBody>
      </p:sp>
      <p:graphicFrame>
        <p:nvGraphicFramePr>
          <p:cNvPr id="5" name="Content Placeholder 6">
            <a:extLst>
              <a:ext uri="{FF2B5EF4-FFF2-40B4-BE49-F238E27FC236}">
                <a16:creationId xmlns:a16="http://schemas.microsoft.com/office/drawing/2014/main" id="{8D418206-3EDF-4754-9AFB-FFEB638592BB}"/>
              </a:ext>
            </a:extLst>
          </p:cNvPr>
          <p:cNvGraphicFramePr>
            <a:graphicFrameLocks/>
          </p:cNvGraphicFramePr>
          <p:nvPr/>
        </p:nvGraphicFramePr>
        <p:xfrm>
          <a:off x="891811" y="4340443"/>
          <a:ext cx="8822796" cy="1051560"/>
        </p:xfrm>
        <a:graphic>
          <a:graphicData uri="http://schemas.openxmlformats.org/drawingml/2006/table">
            <a:tbl>
              <a:tblPr firstRow="1" bandRow="1">
                <a:tableStyleId>{5C22544A-7EE6-4342-B048-85BDC9FD1C3A}</a:tableStyleId>
              </a:tblPr>
              <a:tblGrid>
                <a:gridCol w="2617503">
                  <a:extLst>
                    <a:ext uri="{9D8B030D-6E8A-4147-A177-3AD203B41FA5}">
                      <a16:colId xmlns:a16="http://schemas.microsoft.com/office/drawing/2014/main" val="3729139006"/>
                    </a:ext>
                  </a:extLst>
                </a:gridCol>
                <a:gridCol w="6205293">
                  <a:extLst>
                    <a:ext uri="{9D8B030D-6E8A-4147-A177-3AD203B41FA5}">
                      <a16:colId xmlns:a16="http://schemas.microsoft.com/office/drawing/2014/main" val="1988913492"/>
                    </a:ext>
                  </a:extLst>
                </a:gridCol>
              </a:tblGrid>
              <a:tr h="345440">
                <a:tc>
                  <a:txBody>
                    <a:bodyPr/>
                    <a:lstStyle/>
                    <a:p>
                      <a:r>
                        <a:rPr lang="en-US" sz="1500" dirty="0"/>
                        <a:t>Type</a:t>
                      </a:r>
                    </a:p>
                  </a:txBody>
                  <a:tcPr marL="121920" marR="121920" marT="60960" marB="60960"/>
                </a:tc>
                <a:tc>
                  <a:txBody>
                    <a:bodyPr/>
                    <a:lstStyle/>
                    <a:p>
                      <a:r>
                        <a:rPr lang="en-US" sz="1500" dirty="0"/>
                        <a:t>Format</a:t>
                      </a:r>
                    </a:p>
                  </a:txBody>
                  <a:tcPr marL="121920" marR="121920" marT="60960" marB="60960"/>
                </a:tc>
                <a:extLst>
                  <a:ext uri="{0D108BD9-81ED-4DB2-BD59-A6C34878D82A}">
                    <a16:rowId xmlns:a16="http://schemas.microsoft.com/office/drawing/2014/main" val="2583676789"/>
                  </a:ext>
                </a:extLst>
              </a:tr>
              <a:tr h="345440">
                <a:tc>
                  <a:txBody>
                    <a:bodyPr/>
                    <a:lstStyle/>
                    <a:p>
                      <a:r>
                        <a:rPr lang="en-US" sz="1500" dirty="0">
                          <a:solidFill>
                            <a:srgbClr val="000000"/>
                          </a:solidFill>
                        </a:rPr>
                        <a:t>Preferred</a:t>
                      </a:r>
                    </a:p>
                  </a:txBody>
                  <a:tcPr marL="121920" marR="121920" marT="60960" marB="60960"/>
                </a:tc>
                <a:tc>
                  <a:txBody>
                    <a:bodyPr/>
                    <a:lstStyle/>
                    <a:p>
                      <a:r>
                        <a:rPr lang="en-US" sz="1500" dirty="0"/>
                        <a:t>2001 : </a:t>
                      </a:r>
                      <a:r>
                        <a:rPr lang="en-US" sz="1500" b="1" dirty="0"/>
                        <a:t>0</a:t>
                      </a:r>
                      <a:r>
                        <a:rPr lang="en-US" sz="1500" dirty="0"/>
                        <a:t>db8 : </a:t>
                      </a:r>
                      <a:r>
                        <a:rPr lang="en-US" sz="1500" b="1" dirty="0"/>
                        <a:t>000</a:t>
                      </a:r>
                      <a:r>
                        <a:rPr lang="en-US" sz="1500" dirty="0"/>
                        <a:t>0 : 1111 : </a:t>
                      </a:r>
                      <a:r>
                        <a:rPr lang="en-US" sz="1500" b="1" dirty="0"/>
                        <a:t>0000</a:t>
                      </a:r>
                      <a:r>
                        <a:rPr lang="en-US" sz="1500" dirty="0"/>
                        <a:t> : </a:t>
                      </a:r>
                      <a:r>
                        <a:rPr lang="en-US" sz="1500" b="1" dirty="0"/>
                        <a:t>0000</a:t>
                      </a:r>
                      <a:r>
                        <a:rPr lang="en-US" sz="1500" dirty="0"/>
                        <a:t> : </a:t>
                      </a:r>
                      <a:r>
                        <a:rPr lang="en-US" sz="1500" b="1" dirty="0"/>
                        <a:t>0000</a:t>
                      </a:r>
                      <a:r>
                        <a:rPr lang="en-US" sz="1500" dirty="0"/>
                        <a:t> : </a:t>
                      </a:r>
                      <a:r>
                        <a:rPr lang="en-US" sz="1500" b="1" dirty="0"/>
                        <a:t>0</a:t>
                      </a:r>
                      <a:r>
                        <a:rPr lang="en-US" sz="1500" dirty="0"/>
                        <a:t>200</a:t>
                      </a:r>
                      <a:endParaRPr lang="en-US" sz="1500" dirty="0">
                        <a:solidFill>
                          <a:srgbClr val="000000"/>
                        </a:solidFill>
                      </a:endParaRPr>
                    </a:p>
                  </a:txBody>
                  <a:tcPr marL="121920" marR="121920" marT="60960" marB="60960"/>
                </a:tc>
                <a:extLst>
                  <a:ext uri="{0D108BD9-81ED-4DB2-BD59-A6C34878D82A}">
                    <a16:rowId xmlns:a16="http://schemas.microsoft.com/office/drawing/2014/main" val="3849654457"/>
                  </a:ext>
                </a:extLst>
              </a:tr>
              <a:tr h="345440">
                <a:tc>
                  <a:txBody>
                    <a:bodyPr/>
                    <a:lstStyle/>
                    <a:p>
                      <a:pPr marL="0" marR="0" lvl="0" indent="0" algn="l" defTabSz="685777" rtl="0" eaLnBrk="1" fontAlgn="auto" latinLnBrk="0" hangingPunct="1">
                        <a:lnSpc>
                          <a:spcPct val="100000"/>
                        </a:lnSpc>
                        <a:spcBef>
                          <a:spcPts val="0"/>
                        </a:spcBef>
                        <a:spcAft>
                          <a:spcPts val="0"/>
                        </a:spcAft>
                        <a:buClrTx/>
                        <a:buSzTx/>
                        <a:buFontTx/>
                        <a:buNone/>
                        <a:tabLst/>
                        <a:defRPr/>
                      </a:pPr>
                      <a:r>
                        <a:rPr lang="en-US" sz="1500" dirty="0">
                          <a:solidFill>
                            <a:srgbClr val="000000"/>
                          </a:solidFill>
                        </a:rPr>
                        <a:t>Compressed</a:t>
                      </a:r>
                    </a:p>
                  </a:txBody>
                  <a:tcPr marL="121920" marR="121920" marT="60960" marB="60960"/>
                </a:tc>
                <a:tc>
                  <a:txBody>
                    <a:bodyPr/>
                    <a:lstStyle/>
                    <a:p>
                      <a:r>
                        <a:rPr lang="en-US" sz="1500" dirty="0"/>
                        <a:t>2001:db8:0:1111::200</a:t>
                      </a:r>
                      <a:endParaRPr lang="en-US" sz="1500" dirty="0">
                        <a:solidFill>
                          <a:srgbClr val="000000"/>
                        </a:solidFill>
                      </a:endParaRPr>
                    </a:p>
                  </a:txBody>
                  <a:tcPr marL="121920" marR="121920" marT="60960" marB="60960"/>
                </a:tc>
                <a:extLst>
                  <a:ext uri="{0D108BD9-81ED-4DB2-BD59-A6C34878D82A}">
                    <a16:rowId xmlns:a16="http://schemas.microsoft.com/office/drawing/2014/main" val="235735172"/>
                  </a:ext>
                </a:extLst>
              </a:tr>
            </a:tbl>
          </a:graphicData>
        </a:graphic>
      </p:graphicFrame>
    </p:spTree>
    <p:extLst>
      <p:ext uri="{BB962C8B-B14F-4D97-AF65-F5344CB8AC3E}">
        <p14:creationId xmlns:p14="http://schemas.microsoft.com/office/powerpoint/2010/main" val="873483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176981" y="164776"/>
            <a:ext cx="11127317" cy="975783"/>
          </a:xfrm>
        </p:spPr>
        <p:txBody>
          <a:bodyPr/>
          <a:lstStyle/>
          <a:p>
            <a:r>
              <a:rPr lang="en-US" sz="2133" dirty="0"/>
              <a:t>IPv4 Issues</a:t>
            </a:r>
            <a:br>
              <a:rPr lang="en-US" dirty="0"/>
            </a:br>
            <a:r>
              <a:rPr lang="en-US" sz="3200" dirty="0"/>
              <a:t>IPv4 and IPv6 Coexistence</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2" y="1455191"/>
            <a:ext cx="10551356" cy="4098595"/>
          </a:xfrm>
        </p:spPr>
        <p:txBody>
          <a:bodyPr/>
          <a:lstStyle/>
          <a:p>
            <a:pPr marL="0" indent="0" algn="l">
              <a:spcBef>
                <a:spcPts val="600"/>
              </a:spcBef>
              <a:spcAft>
                <a:spcPts val="600"/>
              </a:spcAft>
            </a:pPr>
            <a:r>
              <a:rPr lang="en-US" sz="2133" dirty="0">
                <a:solidFill>
                  <a:schemeClr val="tx1"/>
                </a:solidFill>
              </a:rPr>
              <a:t>Both IPv4 and IPv6 will coexist in the near future and the transition will take several years.</a:t>
            </a:r>
          </a:p>
          <a:p>
            <a:pPr marL="0" indent="0" algn="l">
              <a:spcBef>
                <a:spcPts val="600"/>
              </a:spcBef>
              <a:spcAft>
                <a:spcPts val="600"/>
              </a:spcAft>
            </a:pPr>
            <a:r>
              <a:rPr lang="en-US" sz="2133" dirty="0">
                <a:solidFill>
                  <a:schemeClr val="tx1"/>
                </a:solidFill>
              </a:rPr>
              <a:t>The IETF has created various protocols and tools to help network administrators migrate their networks to IPv6. These migration techniques can be divided into three categories:</a:t>
            </a:r>
          </a:p>
          <a:p>
            <a:pPr marL="554633" lvl="1" indent="-457189">
              <a:spcBef>
                <a:spcPts val="600"/>
              </a:spcBef>
              <a:spcAft>
                <a:spcPts val="600"/>
              </a:spcAft>
            </a:pPr>
            <a:r>
              <a:rPr lang="en-US" b="1" dirty="0">
                <a:solidFill>
                  <a:schemeClr val="tx1"/>
                </a:solidFill>
              </a:rPr>
              <a:t>Dual stack </a:t>
            </a:r>
            <a:r>
              <a:rPr lang="en-US" dirty="0">
                <a:solidFill>
                  <a:schemeClr val="tx1"/>
                </a:solidFill>
              </a:rPr>
              <a:t>-The devices run both IPv4 and IPv6 protocol stacks simultaneously.</a:t>
            </a:r>
          </a:p>
          <a:p>
            <a:pPr marL="554633" lvl="1" indent="-457189">
              <a:spcBef>
                <a:spcPts val="600"/>
              </a:spcBef>
              <a:spcAft>
                <a:spcPts val="600"/>
              </a:spcAft>
            </a:pPr>
            <a:r>
              <a:rPr lang="en-US" b="1" dirty="0"/>
              <a:t>Tunneling</a:t>
            </a:r>
            <a:r>
              <a:rPr lang="en-US" dirty="0"/>
              <a:t> – A method of transporting an IPv6 packet over an IPv4 network. The IPv6 packet is encapsulated inside an IPv4 packet.</a:t>
            </a:r>
          </a:p>
          <a:p>
            <a:pPr marL="554633" lvl="1" indent="-457189">
              <a:spcBef>
                <a:spcPts val="600"/>
              </a:spcBef>
              <a:spcAft>
                <a:spcPts val="600"/>
              </a:spcAft>
            </a:pPr>
            <a:r>
              <a:rPr lang="en-US" b="1" dirty="0">
                <a:solidFill>
                  <a:schemeClr val="tx1"/>
                </a:solidFill>
              </a:rPr>
              <a:t>Translation</a:t>
            </a:r>
            <a:r>
              <a:rPr lang="en-US" dirty="0">
                <a:solidFill>
                  <a:schemeClr val="tx1"/>
                </a:solidFill>
              </a:rPr>
              <a:t> - </a:t>
            </a:r>
            <a:r>
              <a:rPr lang="en-US" dirty="0"/>
              <a:t>Network Address Translation 64 (NAT64) allows IPv6-enabled devices to communicate with IPv4-enabled devices using a translation technique similar to NAT for IPv4. </a:t>
            </a:r>
            <a:endParaRPr lang="en-US" dirty="0">
              <a:solidFill>
                <a:schemeClr val="tx1"/>
              </a:solidFill>
            </a:endParaRPr>
          </a:p>
        </p:txBody>
      </p:sp>
    </p:spTree>
    <p:extLst>
      <p:ext uri="{BB962C8B-B14F-4D97-AF65-F5344CB8AC3E}">
        <p14:creationId xmlns:p14="http://schemas.microsoft.com/office/powerpoint/2010/main" val="34796456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altLang="en-US" dirty="0">
                <a:solidFill>
                  <a:srgbClr val="C00000"/>
                </a:solidFill>
                <a:ea typeface="ＭＳ Ｐゴシック" panose="020B0600070205080204" pitchFamily="34" charset="-128"/>
                <a:cs typeface="ＭＳ Ｐゴシック" panose="020B0600070205080204" pitchFamily="34" charset="-128"/>
              </a:rPr>
              <a:t>tunneling: </a:t>
            </a:r>
            <a:r>
              <a:rPr lang="en-US" altLang="en-US" dirty="0">
                <a:solidFill>
                  <a:prstClr val="black"/>
                </a:solidFill>
                <a:ea typeface="ＭＳ Ｐゴシック" panose="020B0600070205080204" pitchFamily="34" charset="-128"/>
                <a:cs typeface="ＭＳ Ｐゴシック" panose="020B0600070205080204" pitchFamily="34" charset="-128"/>
              </a:rPr>
              <a:t>IPv6 datagram carried as </a:t>
            </a:r>
            <a:r>
              <a:rPr lang="en-US" altLang="en-US" i="1" dirty="0">
                <a:solidFill>
                  <a:prstClr val="black"/>
                </a:solidFill>
                <a:ea typeface="ＭＳ Ｐゴシック" panose="020B0600070205080204" pitchFamily="34" charset="-128"/>
                <a:cs typeface="ＭＳ Ｐゴシック" panose="020B0600070205080204" pitchFamily="34" charset="-128"/>
              </a:rPr>
              <a:t>payload</a:t>
            </a:r>
            <a:r>
              <a:rPr lang="en-US" altLang="en-US" dirty="0">
                <a:solidFill>
                  <a:prstClr val="black"/>
                </a:solidFill>
                <a:ea typeface="ＭＳ Ｐゴシック" panose="020B0600070205080204" pitchFamily="34" charset="-128"/>
                <a:cs typeface="ＭＳ Ｐゴシック" panose="020B0600070205080204" pitchFamily="34" charset="-128"/>
              </a:rPr>
              <a:t> in IPv4 datagram among IPv4 </a:t>
            </a:r>
            <a:r>
              <a:rPr lang="en-US" altLang="en-US" sz="2400" dirty="0">
                <a:solidFill>
                  <a:prstClr val="black"/>
                </a:solidFill>
                <a:ea typeface="ＭＳ Ｐゴシック" panose="020B0600070205080204" pitchFamily="34" charset="-128"/>
                <a:cs typeface="ＭＳ Ｐゴシック" panose="020B0600070205080204" pitchFamily="34" charset="-128"/>
              </a:rPr>
              <a:t>routers (“packet within a packet”)</a:t>
            </a:r>
          </a:p>
          <a:p>
            <a:pPr lvl="1">
              <a:defRPr/>
            </a:pPr>
            <a:r>
              <a:rPr lang="en-US" altLang="en-US" sz="2800" dirty="0">
                <a:solidFill>
                  <a:prstClr val="black"/>
                </a:solidFill>
                <a:ea typeface="ＭＳ Ｐゴシック" panose="020B0600070205080204" pitchFamily="34" charset="-128"/>
                <a:cs typeface="ＭＳ Ｐゴシック" panose="020B0600070205080204" pitchFamily="34" charset="-128"/>
              </a:rPr>
              <a:t>tunneling used extensively in other contexts (4G/5G)</a:t>
            </a:r>
          </a:p>
          <a:p>
            <a:pPr>
              <a:defRPr/>
            </a:pPr>
            <a:endParaRPr lang="en-US" dirty="0">
              <a:solidFill>
                <a:prstClr val="black"/>
              </a:solidFill>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32</a:t>
            </a:fld>
            <a:endParaRPr lang="en-US" dirty="0">
              <a:solidFill>
                <a:prstClr val="white">
                  <a:lumMod val="50000"/>
                </a:prstClr>
              </a:solidFill>
            </a:endParaRPr>
          </a:p>
        </p:txBody>
      </p:sp>
    </p:spTree>
    <p:extLst>
      <p:ext uri="{BB962C8B-B14F-4D97-AF65-F5344CB8AC3E}">
        <p14:creationId xmlns:p14="http://schemas.microsoft.com/office/powerpoint/2010/main" val="349154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defRPr/>
                </a:pPr>
                <a:endParaRPr lang="en-US" altLang="en-US" sz="1800" dirty="0">
                  <a:solidFill>
                    <a:srgbClr val="FFFFFF"/>
                  </a:solidFill>
                  <a:latin typeface="Calibri" panose="020F0502020204030204" pitchFamily="34" charset="0"/>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a:defRPr/>
            </a:pPr>
            <a:r>
              <a:rPr lang="en-US" dirty="0">
                <a:solidFill>
                  <a:prstClr val="black"/>
                </a:solidFill>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a:defRPr/>
                </a:pPr>
                <a:endParaRPr lang="en-US" dirty="0">
                  <a:solidFill>
                    <a:prstClr val="black"/>
                  </a:solidFill>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a:defRPr/>
              </a:pPr>
              <a:r>
                <a:rPr lang="en-US" sz="1600" dirty="0">
                  <a:solidFill>
                    <a:prstClr val="black"/>
                  </a:solidFill>
                </a:rPr>
                <a:t>IPv4 network</a:t>
              </a:r>
              <a:endParaRPr lang="en-US" dirty="0">
                <a:solidFill>
                  <a:prstClr val="black"/>
                </a:solidFill>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33</a:t>
            </a:fld>
            <a:endParaRPr lang="en-US" dirty="0">
              <a:solidFill>
                <a:prstClr val="white">
                  <a:lumMod val="50000"/>
                </a:prstClr>
              </a:solidFill>
            </a:endParaRPr>
          </a:p>
        </p:txBody>
      </p:sp>
    </p:spTree>
    <p:extLst>
      <p:ext uri="{BB962C8B-B14F-4D97-AF65-F5344CB8AC3E}">
        <p14:creationId xmlns:p14="http://schemas.microsoft.com/office/powerpoint/2010/main" val="410278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IPv4 tunnel </a:t>
              </a:r>
            </a:p>
            <a:p>
              <a:pPr algn="ctr">
                <a:lnSpc>
                  <a:spcPct val="85000"/>
                </a:lnSpc>
                <a:defRPr/>
              </a:pPr>
              <a:r>
                <a:rPr lang="en-US" altLang="en-US" sz="1600" i="1" dirty="0">
                  <a:solidFill>
                    <a:srgbClr val="CC0000"/>
                  </a:solidFill>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defRPr/>
                </a:pPr>
                <a:endParaRPr lang="en-US" altLang="en-US" sz="1800" dirty="0">
                  <a:solidFill>
                    <a:srgbClr val="FFFFFF"/>
                  </a:solidFill>
                  <a:latin typeface="Calibri" panose="020F0502020204030204" pitchFamily="34" charset="0"/>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a:defRPr/>
            </a:pPr>
            <a:r>
              <a:rPr lang="en-US" dirty="0">
                <a:solidFill>
                  <a:prstClr val="black"/>
                </a:solidFill>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a:defRPr/>
            </a:pPr>
            <a:r>
              <a:rPr lang="en-US" dirty="0">
                <a:solidFill>
                  <a:prstClr val="black"/>
                </a:solidFill>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defRPr/>
                </a:pPr>
                <a:endParaRPr lang="en-US" altLang="en-US" sz="1800" dirty="0">
                  <a:solidFill>
                    <a:srgbClr val="FFFFFF"/>
                  </a:solidFill>
                  <a:latin typeface="Calibri" panose="020F0502020204030204" pitchFamily="34" charset="0"/>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34</a:t>
            </a:fld>
            <a:endParaRPr lang="en-US" dirty="0">
              <a:solidFill>
                <a:prstClr val="white">
                  <a:lumMod val="50000"/>
                </a:prstClr>
              </a:solidFill>
            </a:endParaRPr>
          </a:p>
        </p:txBody>
      </p:sp>
    </p:spTree>
    <p:extLst>
      <p:ext uri="{BB962C8B-B14F-4D97-AF65-F5344CB8AC3E}">
        <p14:creationId xmlns:p14="http://schemas.microsoft.com/office/powerpoint/2010/main" val="1791517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B-to-C:</a:t>
              </a:r>
            </a:p>
            <a:p>
              <a:pPr algn="ctr">
                <a:lnSpc>
                  <a:spcPct val="85000"/>
                </a:lnSpc>
                <a:defRPr/>
              </a:pPr>
              <a:r>
                <a:rPr lang="en-US" altLang="en-US" sz="1600" dirty="0">
                  <a:solidFill>
                    <a:prstClr val="black"/>
                  </a:solidFill>
                </a:rPr>
                <a:t>IPv6 inside</a:t>
              </a:r>
            </a:p>
            <a:p>
              <a:pPr algn="ctr">
                <a:lnSpc>
                  <a:spcPct val="85000"/>
                </a:lnSpc>
                <a:defRPr/>
              </a:pPr>
              <a:r>
                <a:rPr lang="en-US" altLang="en-US" sz="1600" dirty="0">
                  <a:solidFill>
                    <a:prstClr val="black"/>
                  </a:solidFill>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white"/>
                    </a:solidFill>
                  </a:rPr>
                  <a:t>src:B</a:t>
                </a:r>
              </a:p>
              <a:p>
                <a:pPr>
                  <a:defRPr/>
                </a:pPr>
                <a:r>
                  <a:rPr lang="en-US" altLang="en-US" sz="1800" dirty="0">
                    <a:solidFill>
                      <a:prstClr val="white"/>
                    </a:solidFill>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srgbClr val="CC0000"/>
                </a:solidFill>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srgbClr val="CC0000"/>
                </a:solidFill>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IPv4 tunnel </a:t>
            </a:r>
          </a:p>
          <a:p>
            <a:pPr algn="ctr">
              <a:lnSpc>
                <a:spcPct val="85000"/>
              </a:lnSpc>
              <a:defRPr/>
            </a:pPr>
            <a:r>
              <a:rPr lang="en-US" altLang="en-US" sz="1600" i="1" dirty="0">
                <a:solidFill>
                  <a:srgbClr val="CC0000"/>
                </a:solidFill>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A-to-B:</a:t>
              </a:r>
            </a:p>
            <a:p>
              <a:pPr algn="ctr">
                <a:lnSpc>
                  <a:spcPct val="85000"/>
                </a:lnSpc>
                <a:defRPr/>
              </a:pPr>
              <a:r>
                <a:rPr lang="en-US" altLang="en-US" sz="1600" dirty="0">
                  <a:solidFill>
                    <a:prstClr val="black"/>
                  </a:solidFill>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white"/>
                    </a:solidFill>
                  </a:rPr>
                  <a:t>src:B</a:t>
                </a:r>
              </a:p>
              <a:p>
                <a:pPr>
                  <a:defRPr/>
                </a:pPr>
                <a:r>
                  <a:rPr lang="en-US" altLang="en-US" sz="1800" dirty="0">
                    <a:solidFill>
                      <a:prstClr val="white"/>
                    </a:solidFill>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B-to-C:</a:t>
              </a:r>
            </a:p>
            <a:p>
              <a:pPr algn="ctr">
                <a:lnSpc>
                  <a:spcPct val="85000"/>
                </a:lnSpc>
                <a:defRPr/>
              </a:pPr>
              <a:r>
                <a:rPr lang="en-US" altLang="en-US" sz="1600" dirty="0">
                  <a:solidFill>
                    <a:prstClr val="black"/>
                  </a:solidFill>
                </a:rPr>
                <a:t>IPv6 inside</a:t>
              </a:r>
            </a:p>
            <a:p>
              <a:pPr algn="ctr">
                <a:lnSpc>
                  <a:spcPct val="85000"/>
                </a:lnSpc>
                <a:defRPr/>
              </a:pPr>
              <a:r>
                <a:rPr lang="en-US" altLang="en-US" sz="1600" dirty="0">
                  <a:solidFill>
                    <a:prstClr val="black"/>
                  </a:solidFill>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E-to-F:</a:t>
              </a:r>
            </a:p>
            <a:p>
              <a:pPr algn="ctr">
                <a:lnSpc>
                  <a:spcPct val="85000"/>
                </a:lnSpc>
                <a:defRPr/>
              </a:pPr>
              <a:r>
                <a:rPr lang="en-US" altLang="en-US" sz="1600" dirty="0">
                  <a:solidFill>
                    <a:prstClr val="black"/>
                  </a:solidFill>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B-to-C:</a:t>
              </a:r>
            </a:p>
            <a:p>
              <a:pPr algn="ctr">
                <a:lnSpc>
                  <a:spcPct val="85000"/>
                </a:lnSpc>
                <a:defRPr/>
              </a:pPr>
              <a:r>
                <a:rPr lang="en-US" altLang="en-US" sz="1600" dirty="0">
                  <a:solidFill>
                    <a:prstClr val="black"/>
                  </a:solidFill>
                </a:rPr>
                <a:t>IPv6 inside</a:t>
              </a:r>
            </a:p>
            <a:p>
              <a:pPr algn="ctr">
                <a:lnSpc>
                  <a:spcPct val="85000"/>
                </a:lnSpc>
                <a:defRPr/>
              </a:pPr>
              <a:r>
                <a:rPr lang="en-US" altLang="en-US" sz="1600" dirty="0">
                  <a:solidFill>
                    <a:prstClr val="black"/>
                  </a:solidFill>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white"/>
                    </a:solidFill>
                  </a:rPr>
                  <a:t>src:B</a:t>
                </a:r>
              </a:p>
              <a:p>
                <a:pPr>
                  <a:defRPr/>
                </a:pPr>
                <a:r>
                  <a:rPr lang="en-US" altLang="en-US" sz="1800" dirty="0">
                    <a:solidFill>
                      <a:prstClr val="white"/>
                    </a:solidFill>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algn="r">
                    <a:defRPr/>
                  </a:pPr>
                  <a:r>
                    <a:rPr lang="en-US" sz="2000" dirty="0">
                      <a:solidFill>
                        <a:prstClr val="black"/>
                      </a:solidFill>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35</a:t>
            </a:fld>
            <a:endParaRPr lang="en-US" dirty="0">
              <a:solidFill>
                <a:prstClr val="white">
                  <a:lumMod val="50000"/>
                </a:prstClr>
              </a:solidFill>
            </a:endParaRPr>
          </a:p>
        </p:txBody>
      </p:sp>
    </p:spTree>
    <p:extLst>
      <p:ext uri="{BB962C8B-B14F-4D97-AF65-F5344CB8AC3E}">
        <p14:creationId xmlns:p14="http://schemas.microsoft.com/office/powerpoint/2010/main" val="2262539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a:defRPr/>
              </a:pPr>
              <a:r>
                <a:rPr lang="en-US" baseline="30000" dirty="0">
                  <a:solidFill>
                    <a:prstClr val="black"/>
                  </a:solidFill>
                </a:rPr>
                <a:t>1</a:t>
              </a:r>
              <a:r>
                <a:rPr lang="en-US" dirty="0">
                  <a:solidFill>
                    <a:prstClr val="black"/>
                  </a:solidFill>
                </a:rPr>
                <a:t> </a:t>
              </a:r>
              <a:r>
                <a:rPr lang="en-US" sz="1600" dirty="0">
                  <a:solidFill>
                    <a:prstClr val="black"/>
                  </a:solidFill>
                </a:rPr>
                <a:t>https://www.google.com/intl/en/ipv6/statistics.html</a:t>
              </a:r>
              <a:endParaRPr lang="en-US" dirty="0">
                <a:solidFill>
                  <a:prstClr val="black"/>
                </a:solidFill>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36</a:t>
            </a:fld>
            <a:endParaRPr lang="en-US" dirty="0">
              <a:solidFill>
                <a:prstClr val="white">
                  <a:lumMod val="50000"/>
                </a:prstClr>
              </a:solidFill>
            </a:endParaRPr>
          </a:p>
        </p:txBody>
      </p:sp>
    </p:spTree>
    <p:extLst>
      <p:ext uri="{BB962C8B-B14F-4D97-AF65-F5344CB8AC3E}">
        <p14:creationId xmlns:p14="http://schemas.microsoft.com/office/powerpoint/2010/main" val="296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a:defRPr/>
            </a:pPr>
            <a:r>
              <a:rPr lang="en-US" baseline="30000" dirty="0">
                <a:solidFill>
                  <a:prstClr val="black"/>
                </a:solidFill>
              </a:rPr>
              <a:t>1</a:t>
            </a:r>
            <a:r>
              <a:rPr lang="en-US" dirty="0">
                <a:solidFill>
                  <a:prstClr val="black"/>
                </a:solidFill>
              </a:rPr>
              <a:t> </a:t>
            </a:r>
            <a:r>
              <a:rPr lang="en-US" sz="1600" dirty="0">
                <a:solidFill>
                  <a:prstClr val="black"/>
                </a:solidFill>
              </a:rPr>
              <a:t>https://www.google.com/intl/en/ipv6/statistics.html</a:t>
            </a:r>
            <a:endParaRPr lang="en-US" dirty="0">
              <a:solidFill>
                <a:prstClr val="black"/>
              </a:solidFill>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37</a:t>
            </a:fld>
            <a:endParaRPr lang="en-US" dirty="0">
              <a:solidFill>
                <a:prstClr val="white">
                  <a:lumMod val="50000"/>
                </a:prstClr>
              </a:solidFill>
            </a:endParaRPr>
          </a:p>
        </p:txBody>
      </p:sp>
    </p:spTree>
    <p:extLst>
      <p:ext uri="{BB962C8B-B14F-4D97-AF65-F5344CB8AC3E}">
        <p14:creationId xmlns:p14="http://schemas.microsoft.com/office/powerpoint/2010/main" val="174664667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0FCA6316-79A6-B14E-8F63-A42967EB3B2A}"/>
              </a:ext>
            </a:extLst>
          </p:cNvPr>
          <p:cNvSpPr>
            <a:spLocks noGrp="1"/>
          </p:cNvSpPr>
          <p:nvPr>
            <p:ph idx="1"/>
          </p:nvPr>
        </p:nvSpPr>
        <p:spPr>
          <a:xfrm>
            <a:off x="970936" y="4247536"/>
            <a:ext cx="10515600" cy="1473868"/>
          </a:xfrm>
        </p:spPr>
        <p:txBody>
          <a:bodyPr>
            <a:normAutofit lnSpcReduction="10000"/>
          </a:bodyPr>
          <a:lstStyle/>
          <a:p>
            <a:pPr marL="130175" indent="0">
              <a:buNone/>
            </a:pPr>
            <a:r>
              <a:rPr lang="en-US" sz="3200" dirty="0">
                <a:solidFill>
                  <a:srgbClr val="C00000"/>
                </a:solidFill>
              </a:rPr>
              <a:t>Two approaches to structuring network control plane:</a:t>
            </a:r>
          </a:p>
          <a:p>
            <a:pPr marL="466725" indent="-249238"/>
            <a:r>
              <a:rPr lang="en-US" dirty="0"/>
              <a:t>per-router control (traditional)</a:t>
            </a:r>
          </a:p>
          <a:p>
            <a:pPr marL="466725" indent="-249238"/>
            <a:r>
              <a:rPr lang="en-US" dirty="0"/>
              <a:t>logically centralized control (software defined networking)</a:t>
            </a:r>
          </a:p>
          <a:p>
            <a:endParaRPr lang="en-US" dirty="0"/>
          </a:p>
        </p:txBody>
      </p:sp>
      <p:sp>
        <p:nvSpPr>
          <p:cNvPr id="6" name="Title 5">
            <a:extLst>
              <a:ext uri="{FF2B5EF4-FFF2-40B4-BE49-F238E27FC236}">
                <a16:creationId xmlns:a16="http://schemas.microsoft.com/office/drawing/2014/main" id="{E6933BFA-FFE1-0149-8120-54BF3A2DA787}"/>
              </a:ext>
            </a:extLst>
          </p:cNvPr>
          <p:cNvSpPr>
            <a:spLocks noGrp="1"/>
          </p:cNvSpPr>
          <p:nvPr>
            <p:ph type="title"/>
          </p:nvPr>
        </p:nvSpPr>
        <p:spPr/>
        <p:txBody>
          <a:bodyPr>
            <a:normAutofit/>
          </a:bodyPr>
          <a:lstStyle/>
          <a:p>
            <a:r>
              <a:rPr lang="en-US" sz="4800" dirty="0"/>
              <a:t>Network-layer functions</a:t>
            </a:r>
          </a:p>
        </p:txBody>
      </p:sp>
      <p:sp>
        <p:nvSpPr>
          <p:cNvPr id="5" name="Slide Number Placeholder 4">
            <a:extLst>
              <a:ext uri="{FF2B5EF4-FFF2-40B4-BE49-F238E27FC236}">
                <a16:creationId xmlns:a16="http://schemas.microsoft.com/office/drawing/2014/main" id="{C959312D-6602-054C-94D1-70724062AE9B}"/>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38</a:t>
            </a:fld>
            <a:endParaRPr lang="en-US" dirty="0">
              <a:solidFill>
                <a:prstClr val="white">
                  <a:lumMod val="50000"/>
                </a:prstClr>
              </a:solidFill>
            </a:endParaRPr>
          </a:p>
        </p:txBody>
      </p:sp>
      <p:grpSp>
        <p:nvGrpSpPr>
          <p:cNvPr id="12" name="Group 11">
            <a:extLst>
              <a:ext uri="{FF2B5EF4-FFF2-40B4-BE49-F238E27FC236}">
                <a16:creationId xmlns:a16="http://schemas.microsoft.com/office/drawing/2014/main" id="{6FDE94C0-73F6-B048-AAAB-8D0D8D89E2D1}"/>
              </a:ext>
            </a:extLst>
          </p:cNvPr>
          <p:cNvGrpSpPr/>
          <p:nvPr/>
        </p:nvGrpSpPr>
        <p:grpSpPr>
          <a:xfrm>
            <a:off x="817202" y="1662139"/>
            <a:ext cx="9934373" cy="918829"/>
            <a:chOff x="817202" y="1662139"/>
            <a:chExt cx="9934373" cy="918829"/>
          </a:xfrm>
        </p:grpSpPr>
        <p:sp>
          <p:nvSpPr>
            <p:cNvPr id="8" name="Rectangle 3">
              <a:extLst>
                <a:ext uri="{FF2B5EF4-FFF2-40B4-BE49-F238E27FC236}">
                  <a16:creationId xmlns:a16="http://schemas.microsoft.com/office/drawing/2014/main" id="{FEAC7B53-78D6-1B48-9942-0293ECA70C35}"/>
                </a:ext>
              </a:extLst>
            </p:cNvPr>
            <p:cNvSpPr txBox="1">
              <a:spLocks noChangeArrowheads="1"/>
            </p:cNvSpPr>
            <p:nvPr/>
          </p:nvSpPr>
          <p:spPr>
            <a:xfrm>
              <a:off x="817202" y="1662139"/>
              <a:ext cx="6556992" cy="9188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indent="-336550">
                <a:spcBef>
                  <a:spcPts val="1200"/>
                </a:spcBef>
                <a:defRPr/>
              </a:pPr>
              <a:r>
                <a:rPr lang="en-US" dirty="0">
                  <a:solidFill>
                    <a:srgbClr val="C00000"/>
                  </a:solidFill>
                </a:rPr>
                <a:t>forwarding: </a:t>
              </a:r>
              <a:r>
                <a:rPr lang="en-US" dirty="0">
                  <a:solidFill>
                    <a:prstClr val="black"/>
                  </a:solidFill>
                </a:rPr>
                <a:t>move packets from router’</a:t>
              </a:r>
              <a:r>
                <a:rPr lang="en-US" altLang="ja-JP" dirty="0">
                  <a:solidFill>
                    <a:prstClr val="black"/>
                  </a:solidFill>
                </a:rPr>
                <a:t>s input to appropriate router output</a:t>
              </a:r>
            </a:p>
            <a:p>
              <a:pPr>
                <a:buFont typeface="Wingdings" charset="0"/>
                <a:buNone/>
                <a:defRPr/>
              </a:pPr>
              <a:endParaRPr lang="en-US" dirty="0">
                <a:solidFill>
                  <a:prstClr val="black"/>
                </a:solidFill>
              </a:endParaRPr>
            </a:p>
          </p:txBody>
        </p:sp>
        <p:sp>
          <p:nvSpPr>
            <p:cNvPr id="9" name="Rectangle 4">
              <a:extLst>
                <a:ext uri="{FF2B5EF4-FFF2-40B4-BE49-F238E27FC236}">
                  <a16:creationId xmlns:a16="http://schemas.microsoft.com/office/drawing/2014/main" id="{921A3F06-1DC8-C24B-9C1D-D833C15E3FF7}"/>
                </a:ext>
              </a:extLst>
            </p:cNvPr>
            <p:cNvSpPr>
              <a:spLocks noChangeArrowheads="1"/>
            </p:cNvSpPr>
            <p:nvPr/>
          </p:nvSpPr>
          <p:spPr bwMode="auto">
            <a:xfrm>
              <a:off x="7868781" y="1807341"/>
              <a:ext cx="2882794" cy="508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a:lnSpc>
                  <a:spcPct val="85000"/>
                </a:lnSpc>
                <a:spcBef>
                  <a:spcPts val="600"/>
                </a:spcBef>
                <a:buClr>
                  <a:srgbClr val="000099"/>
                </a:buClr>
                <a:buSzPct val="65000"/>
                <a:buFont typeface="Wingdings" charset="0"/>
                <a:buNone/>
                <a:defRPr/>
              </a:pPr>
              <a:r>
                <a:rPr lang="en-US" sz="3600" i="1" dirty="0">
                  <a:solidFill>
                    <a:srgbClr val="000090"/>
                  </a:solidFill>
                </a:rPr>
                <a:t>data plane</a:t>
              </a:r>
            </a:p>
            <a:p>
              <a:pPr marL="342900" indent="-342900">
                <a:lnSpc>
                  <a:spcPct val="85000"/>
                </a:lnSpc>
                <a:spcBef>
                  <a:spcPts val="600"/>
                </a:spcBef>
                <a:buClr>
                  <a:srgbClr val="000099"/>
                </a:buClr>
                <a:buSzPct val="65000"/>
                <a:buFont typeface="Wingdings" charset="0"/>
                <a:buNone/>
                <a:defRPr/>
              </a:pPr>
              <a:endParaRPr lang="en-US" sz="2800" dirty="0">
                <a:solidFill>
                  <a:prstClr val="black"/>
                </a:solidFill>
              </a:endParaRPr>
            </a:p>
            <a:p>
              <a:pPr marL="342900" indent="-342900">
                <a:lnSpc>
                  <a:spcPct val="85000"/>
                </a:lnSpc>
                <a:spcBef>
                  <a:spcPct val="20000"/>
                </a:spcBef>
                <a:buClr>
                  <a:srgbClr val="000099"/>
                </a:buClr>
                <a:buSzPct val="65000"/>
                <a:buFont typeface="Wingdings" charset="0"/>
                <a:buChar char="v"/>
                <a:defRPr/>
              </a:pPr>
              <a:endParaRPr lang="en-US" sz="2800" dirty="0">
                <a:solidFill>
                  <a:prstClr val="black"/>
                </a:solidFill>
              </a:endParaRPr>
            </a:p>
          </p:txBody>
        </p:sp>
      </p:grpSp>
      <p:grpSp>
        <p:nvGrpSpPr>
          <p:cNvPr id="13" name="Group 12">
            <a:extLst>
              <a:ext uri="{FF2B5EF4-FFF2-40B4-BE49-F238E27FC236}">
                <a16:creationId xmlns:a16="http://schemas.microsoft.com/office/drawing/2014/main" id="{DF499515-ACC5-5E44-BAC7-0535D920E0BE}"/>
              </a:ext>
            </a:extLst>
          </p:cNvPr>
          <p:cNvGrpSpPr/>
          <p:nvPr/>
        </p:nvGrpSpPr>
        <p:grpSpPr>
          <a:xfrm>
            <a:off x="948416" y="2692736"/>
            <a:ext cx="10162404" cy="920619"/>
            <a:chOff x="977913" y="2913962"/>
            <a:chExt cx="10162404" cy="920619"/>
          </a:xfrm>
        </p:grpSpPr>
        <p:sp>
          <p:nvSpPr>
            <p:cNvPr id="10" name="Rectangle 4">
              <a:extLst>
                <a:ext uri="{FF2B5EF4-FFF2-40B4-BE49-F238E27FC236}">
                  <a16:creationId xmlns:a16="http://schemas.microsoft.com/office/drawing/2014/main" id="{F4BDCF0F-801F-9241-A6B1-11645A67C7D9}"/>
                </a:ext>
              </a:extLst>
            </p:cNvPr>
            <p:cNvSpPr>
              <a:spLocks noChangeArrowheads="1"/>
            </p:cNvSpPr>
            <p:nvPr/>
          </p:nvSpPr>
          <p:spPr bwMode="auto">
            <a:xfrm>
              <a:off x="7847249" y="3047636"/>
              <a:ext cx="3293068" cy="563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nSpc>
                  <a:spcPct val="85000"/>
                </a:lnSpc>
                <a:spcBef>
                  <a:spcPts val="600"/>
                </a:spcBef>
                <a:buClr>
                  <a:srgbClr val="000099"/>
                </a:buClr>
                <a:buSzPct val="100000"/>
                <a:defRPr/>
              </a:pPr>
              <a:r>
                <a:rPr lang="en-US" sz="3600" i="1" dirty="0">
                  <a:solidFill>
                    <a:srgbClr val="000099"/>
                  </a:solidFill>
                </a:rPr>
                <a:t>control</a:t>
              </a:r>
              <a:r>
                <a:rPr lang="en-US" sz="3600" b="1" i="1" dirty="0">
                  <a:solidFill>
                    <a:srgbClr val="000099"/>
                  </a:solidFill>
                </a:rPr>
                <a:t> </a:t>
              </a:r>
              <a:r>
                <a:rPr lang="en-US" sz="3600" i="1" dirty="0">
                  <a:solidFill>
                    <a:srgbClr val="000099"/>
                  </a:solidFill>
                </a:rPr>
                <a:t>plane</a:t>
              </a:r>
              <a:endParaRPr lang="en-US" sz="3600" i="1" dirty="0">
                <a:solidFill>
                  <a:prstClr val="black"/>
                </a:solidFill>
              </a:endParaRPr>
            </a:p>
            <a:p>
              <a:pPr marL="342900" indent="-342900">
                <a:lnSpc>
                  <a:spcPct val="85000"/>
                </a:lnSpc>
                <a:spcBef>
                  <a:spcPct val="70000"/>
                </a:spcBef>
                <a:buClr>
                  <a:srgbClr val="000099"/>
                </a:buClr>
                <a:buSzPct val="65000"/>
                <a:buFont typeface="Wingdings" charset="0"/>
                <a:buChar char="v"/>
                <a:defRPr/>
              </a:pPr>
              <a:endParaRPr lang="en-US" sz="2800" dirty="0">
                <a:solidFill>
                  <a:prstClr val="black"/>
                </a:solidFill>
              </a:endParaRPr>
            </a:p>
            <a:p>
              <a:pPr>
                <a:lnSpc>
                  <a:spcPct val="85000"/>
                </a:lnSpc>
                <a:spcBef>
                  <a:spcPct val="20000"/>
                </a:spcBef>
                <a:buClr>
                  <a:srgbClr val="000099"/>
                </a:buClr>
                <a:buSzPct val="65000"/>
                <a:defRPr/>
              </a:pPr>
              <a:endParaRPr lang="en-US" sz="2800" dirty="0">
                <a:solidFill>
                  <a:prstClr val="black"/>
                </a:solidFill>
              </a:endParaRPr>
            </a:p>
          </p:txBody>
        </p:sp>
        <p:sp>
          <p:nvSpPr>
            <p:cNvPr id="11" name="Rectangle 3">
              <a:extLst>
                <a:ext uri="{FF2B5EF4-FFF2-40B4-BE49-F238E27FC236}">
                  <a16:creationId xmlns:a16="http://schemas.microsoft.com/office/drawing/2014/main" id="{470A0826-D747-A94C-89BA-1620D77E3186}"/>
                </a:ext>
              </a:extLst>
            </p:cNvPr>
            <p:cNvSpPr txBox="1">
              <a:spLocks noChangeArrowheads="1"/>
            </p:cNvSpPr>
            <p:nvPr/>
          </p:nvSpPr>
          <p:spPr bwMode="auto">
            <a:xfrm>
              <a:off x="977913" y="2913962"/>
              <a:ext cx="6529016" cy="920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spcBef>
                  <a:spcPts val="1200"/>
                </a:spcBef>
                <a:defRPr/>
              </a:pPr>
              <a:r>
                <a:rPr lang="en-US" dirty="0">
                  <a:solidFill>
                    <a:srgbClr val="C00000"/>
                  </a:solidFill>
                </a:rPr>
                <a:t>routing: </a:t>
              </a:r>
              <a:r>
                <a:rPr lang="en-US" dirty="0">
                  <a:solidFill>
                    <a:prstClr val="black"/>
                  </a:solidFill>
                </a:rPr>
                <a:t>determine route taken by packets from source to destination</a:t>
              </a:r>
            </a:p>
            <a:p>
              <a:pPr>
                <a:buFont typeface="Wingdings" charset="0"/>
                <a:buNone/>
                <a:defRPr/>
              </a:pPr>
              <a:endParaRPr lang="en-US" dirty="0">
                <a:solidFill>
                  <a:prstClr val="black"/>
                </a:solidFill>
              </a:endParaRPr>
            </a:p>
          </p:txBody>
        </p:sp>
      </p:grpSp>
    </p:spTree>
    <p:extLst>
      <p:ext uri="{BB962C8B-B14F-4D97-AF65-F5344CB8AC3E}">
        <p14:creationId xmlns:p14="http://schemas.microsoft.com/office/powerpoint/2010/main" val="4069466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B013C8C0-E40F-7640-BA53-55FC4A489191}"/>
              </a:ext>
            </a:extLst>
          </p:cNvPr>
          <p:cNvSpPr>
            <a:spLocks noGrp="1"/>
          </p:cNvSpPr>
          <p:nvPr>
            <p:ph idx="1"/>
          </p:nvPr>
        </p:nvSpPr>
        <p:spPr>
          <a:xfrm>
            <a:off x="749710" y="1443808"/>
            <a:ext cx="6034548" cy="4351338"/>
          </a:xfrm>
        </p:spPr>
        <p:txBody>
          <a:bodyPr>
            <a:normAutofit lnSpcReduction="10000"/>
          </a:bodyPr>
          <a:lstStyle/>
          <a:p>
            <a:pPr marL="130175" indent="0">
              <a:buNone/>
            </a:pPr>
            <a:r>
              <a:rPr lang="en-US" sz="3200" dirty="0">
                <a:solidFill>
                  <a:srgbClr val="C00000"/>
                </a:solidFill>
              </a:rPr>
              <a:t>Routing</a:t>
            </a:r>
            <a:r>
              <a:rPr lang="en-US" dirty="0">
                <a:solidFill>
                  <a:srgbClr val="C00000"/>
                </a:solidFill>
              </a:rPr>
              <a:t> protocol goal: </a:t>
            </a:r>
            <a:r>
              <a:rPr lang="en-US" dirty="0"/>
              <a:t>determine “good” paths (equivalently, routes), from sending hosts to receiving host, through network of routers</a:t>
            </a:r>
          </a:p>
          <a:p>
            <a:pPr marL="407988" indent="-277813"/>
            <a:r>
              <a:rPr lang="en-US" dirty="0">
                <a:solidFill>
                  <a:srgbClr val="C00000"/>
                </a:solidFill>
              </a:rPr>
              <a:t>path: </a:t>
            </a:r>
            <a:r>
              <a:rPr lang="en-US" dirty="0"/>
              <a:t>sequence of routers packets traverse from given initial source host to final destination host</a:t>
            </a:r>
          </a:p>
          <a:p>
            <a:pPr marL="407988" indent="-277813"/>
            <a:r>
              <a:rPr lang="en-US" dirty="0">
                <a:solidFill>
                  <a:srgbClr val="C00000"/>
                </a:solidFill>
              </a:rPr>
              <a:t>“good”: </a:t>
            </a:r>
            <a:r>
              <a:rPr lang="en-US" dirty="0"/>
              <a:t>least “cost”, “fastest”, “least congested”</a:t>
            </a:r>
          </a:p>
          <a:p>
            <a:pPr marL="407988" indent="-277813"/>
            <a:r>
              <a:rPr lang="en-US" dirty="0"/>
              <a:t>routing: a “top-10” networking challenge!</a:t>
            </a:r>
          </a:p>
          <a:p>
            <a:endParaRPr lang="en-US" dirty="0"/>
          </a:p>
        </p:txBody>
      </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33837"/>
            <a:ext cx="10515600" cy="894622"/>
          </a:xfrm>
        </p:spPr>
        <p:txBody>
          <a:bodyPr/>
          <a:lstStyle/>
          <a:p>
            <a:r>
              <a:rPr lang="en-US" dirty="0"/>
              <a:t>Routing protocols</a:t>
            </a:r>
          </a:p>
        </p:txBody>
      </p:sp>
      <p:sp>
        <p:nvSpPr>
          <p:cNvPr id="8" name="Freeform 7">
            <a:extLst>
              <a:ext uri="{FF2B5EF4-FFF2-40B4-BE49-F238E27FC236}">
                <a16:creationId xmlns:a16="http://schemas.microsoft.com/office/drawing/2014/main" id="{8145F460-37A7-FC4E-B52E-1476917705E4}"/>
              </a:ext>
            </a:extLst>
          </p:cNvPr>
          <p:cNvSpPr/>
          <p:nvPr/>
        </p:nvSpPr>
        <p:spPr>
          <a:xfrm>
            <a:off x="9058928" y="2579084"/>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9" name="Freeform 417">
            <a:extLst>
              <a:ext uri="{FF2B5EF4-FFF2-40B4-BE49-F238E27FC236}">
                <a16:creationId xmlns:a16="http://schemas.microsoft.com/office/drawing/2014/main" id="{A6AD087C-04A1-094B-B5E0-C38BD623364D}"/>
              </a:ext>
            </a:extLst>
          </p:cNvPr>
          <p:cNvSpPr>
            <a:spLocks/>
          </p:cNvSpPr>
          <p:nvPr/>
        </p:nvSpPr>
        <p:spPr bwMode="auto">
          <a:xfrm>
            <a:off x="7347816" y="1339341"/>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a:defRPr/>
            </a:pPr>
            <a:endParaRPr lang="en-US" dirty="0">
              <a:solidFill>
                <a:prstClr val="black"/>
              </a:solidFill>
            </a:endParaRPr>
          </a:p>
        </p:txBody>
      </p:sp>
      <p:grpSp>
        <p:nvGrpSpPr>
          <p:cNvPr id="10" name="Group 418">
            <a:extLst>
              <a:ext uri="{FF2B5EF4-FFF2-40B4-BE49-F238E27FC236}">
                <a16:creationId xmlns:a16="http://schemas.microsoft.com/office/drawing/2014/main" id="{DDD85433-A27F-6541-A663-D96D5984F58C}"/>
              </a:ext>
            </a:extLst>
          </p:cNvPr>
          <p:cNvGrpSpPr>
            <a:grpSpLocks/>
          </p:cNvGrpSpPr>
          <p:nvPr/>
        </p:nvGrpSpPr>
        <p:grpSpPr bwMode="auto">
          <a:xfrm>
            <a:off x="7279090" y="2802557"/>
            <a:ext cx="1458912" cy="933450"/>
            <a:chOff x="2889" y="1631"/>
            <a:chExt cx="980" cy="743"/>
          </a:xfrm>
        </p:grpSpPr>
        <p:sp>
          <p:nvSpPr>
            <p:cNvPr id="11" name="Rectangle 419">
              <a:extLst>
                <a:ext uri="{FF2B5EF4-FFF2-40B4-BE49-F238E27FC236}">
                  <a16:creationId xmlns:a16="http://schemas.microsoft.com/office/drawing/2014/main" id="{6BE52684-A899-C64A-B92A-00B359924CD9}"/>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12" name="AutoShape 420">
              <a:extLst>
                <a:ext uri="{FF2B5EF4-FFF2-40B4-BE49-F238E27FC236}">
                  <a16:creationId xmlns:a16="http://schemas.microsoft.com/office/drawing/2014/main" id="{1CC81BD0-1E06-234E-9C84-9CF4B42DEA73}"/>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2400" dirty="0">
                <a:solidFill>
                  <a:srgbClr val="00CCFF"/>
                </a:solidFill>
                <a:latin typeface="Arial" panose="020B0604020202020204" pitchFamily="34" charset="0"/>
              </a:endParaRPr>
            </a:p>
          </p:txBody>
        </p:sp>
      </p:grpSp>
      <p:sp>
        <p:nvSpPr>
          <p:cNvPr id="13" name="Freeform 427">
            <a:extLst>
              <a:ext uri="{FF2B5EF4-FFF2-40B4-BE49-F238E27FC236}">
                <a16:creationId xmlns:a16="http://schemas.microsoft.com/office/drawing/2014/main" id="{15D75210-CCB3-EF4F-8147-08315952ABD2}"/>
              </a:ext>
            </a:extLst>
          </p:cNvPr>
          <p:cNvSpPr>
            <a:spLocks/>
          </p:cNvSpPr>
          <p:nvPr/>
        </p:nvSpPr>
        <p:spPr bwMode="auto">
          <a:xfrm>
            <a:off x="7786141" y="4196440"/>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a:defRPr/>
            </a:pPr>
            <a:endParaRPr lang="en-US" dirty="0">
              <a:solidFill>
                <a:prstClr val="black"/>
              </a:solidFill>
            </a:endParaRPr>
          </a:p>
        </p:txBody>
      </p:sp>
      <p:sp>
        <p:nvSpPr>
          <p:cNvPr id="14" name="Text Box 580">
            <a:extLst>
              <a:ext uri="{FF2B5EF4-FFF2-40B4-BE49-F238E27FC236}">
                <a16:creationId xmlns:a16="http://schemas.microsoft.com/office/drawing/2014/main" id="{F5DA193A-3F5E-E747-8642-93E8D466E669}"/>
              </a:ext>
            </a:extLst>
          </p:cNvPr>
          <p:cNvSpPr txBox="1">
            <a:spLocks noChangeArrowheads="1"/>
          </p:cNvSpPr>
          <p:nvPr/>
        </p:nvSpPr>
        <p:spPr bwMode="auto">
          <a:xfrm>
            <a:off x="7753014" y="1001767"/>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r>
              <a:rPr lang="en-US" altLang="en-US" sz="1400" dirty="0">
                <a:solidFill>
                  <a:prstClr val="black"/>
                </a:solidFill>
                <a:latin typeface="Calibri" panose="020F0502020204030204"/>
              </a:rPr>
              <a:t>mobile network</a:t>
            </a:r>
          </a:p>
        </p:txBody>
      </p:sp>
      <p:sp>
        <p:nvSpPr>
          <p:cNvPr id="15" name="Text Box 580">
            <a:extLst>
              <a:ext uri="{FF2B5EF4-FFF2-40B4-BE49-F238E27FC236}">
                <a16:creationId xmlns:a16="http://schemas.microsoft.com/office/drawing/2014/main" id="{5FA06B40-094D-D341-900D-62322B1FAE13}"/>
              </a:ext>
            </a:extLst>
          </p:cNvPr>
          <p:cNvSpPr txBox="1">
            <a:spLocks noChangeArrowheads="1"/>
          </p:cNvSpPr>
          <p:nvPr/>
        </p:nvSpPr>
        <p:spPr bwMode="auto">
          <a:xfrm>
            <a:off x="7380648" y="5293081"/>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defRPr/>
            </a:pPr>
            <a:r>
              <a:rPr lang="en-US" altLang="en-US" sz="1400" dirty="0">
                <a:solidFill>
                  <a:prstClr val="black"/>
                </a:solidFill>
                <a:latin typeface="Calibri" panose="020F0502020204030204"/>
              </a:rPr>
              <a:t>enterprise</a:t>
            </a:r>
          </a:p>
          <a:p>
            <a:pPr>
              <a:lnSpc>
                <a:spcPct val="80000"/>
              </a:lnSpc>
              <a:spcBef>
                <a:spcPct val="0"/>
              </a:spcBef>
              <a:buClrTx/>
              <a:buSzTx/>
              <a:buFontTx/>
              <a:buNone/>
              <a:defRPr/>
            </a:pPr>
            <a:r>
              <a:rPr lang="en-US" altLang="en-US" sz="1400" dirty="0">
                <a:solidFill>
                  <a:prstClr val="black"/>
                </a:solidFill>
                <a:latin typeface="Calibri" panose="020F0502020204030204"/>
              </a:rPr>
              <a:t>          network</a:t>
            </a:r>
          </a:p>
        </p:txBody>
      </p:sp>
      <p:sp>
        <p:nvSpPr>
          <p:cNvPr id="16" name="Freeform 15">
            <a:extLst>
              <a:ext uri="{FF2B5EF4-FFF2-40B4-BE49-F238E27FC236}">
                <a16:creationId xmlns:a16="http://schemas.microsoft.com/office/drawing/2014/main" id="{2CB90BDB-7914-2841-868F-B1C171AE02D0}"/>
              </a:ext>
            </a:extLst>
          </p:cNvPr>
          <p:cNvSpPr/>
          <p:nvPr/>
        </p:nvSpPr>
        <p:spPr>
          <a:xfrm>
            <a:off x="10295886" y="2692846"/>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grpSp>
        <p:nvGrpSpPr>
          <p:cNvPr id="17" name="Group 16">
            <a:extLst>
              <a:ext uri="{FF2B5EF4-FFF2-40B4-BE49-F238E27FC236}">
                <a16:creationId xmlns:a16="http://schemas.microsoft.com/office/drawing/2014/main" id="{102009C1-63E0-AC48-A451-99CD5E6FDD90}"/>
              </a:ext>
            </a:extLst>
          </p:cNvPr>
          <p:cNvGrpSpPr/>
          <p:nvPr/>
        </p:nvGrpSpPr>
        <p:grpSpPr>
          <a:xfrm>
            <a:off x="10911440" y="3441356"/>
            <a:ext cx="687393" cy="721548"/>
            <a:chOff x="5203089" y="1751190"/>
            <a:chExt cx="858331" cy="662414"/>
          </a:xfrm>
        </p:grpSpPr>
        <p:sp>
          <p:nvSpPr>
            <p:cNvPr id="18" name="Freeform 17">
              <a:extLst>
                <a:ext uri="{FF2B5EF4-FFF2-40B4-BE49-F238E27FC236}">
                  <a16:creationId xmlns:a16="http://schemas.microsoft.com/office/drawing/2014/main" id="{755FF949-4EF8-E942-B9BB-20394F3598D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19" name="Freeform 18">
              <a:extLst>
                <a:ext uri="{FF2B5EF4-FFF2-40B4-BE49-F238E27FC236}">
                  <a16:creationId xmlns:a16="http://schemas.microsoft.com/office/drawing/2014/main" id="{FD409681-4032-1C42-9F30-5D5899243858}"/>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cxnSp>
          <p:nvCxnSpPr>
            <p:cNvPr id="20" name="Straight Connector 19">
              <a:extLst>
                <a:ext uri="{FF2B5EF4-FFF2-40B4-BE49-F238E27FC236}">
                  <a16:creationId xmlns:a16="http://schemas.microsoft.com/office/drawing/2014/main" id="{0E2DDC28-E103-7F4D-A505-AB39A3D44C7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63023E15-0AB6-944A-BAB0-EE6BBC79C34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1B742AD-A3E5-804B-A5D0-76DC204011A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E479FB69-9C9F-3F4E-9B51-39F1BCB2DC8D}"/>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9D605DCA-7A42-2D49-ADF6-F861B8748A0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FC0D6FB2-8F5C-724C-B4A0-F530677569F5}"/>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6" name="Group 25">
            <a:extLst>
              <a:ext uri="{FF2B5EF4-FFF2-40B4-BE49-F238E27FC236}">
                <a16:creationId xmlns:a16="http://schemas.microsoft.com/office/drawing/2014/main" id="{4460C8EE-1C4B-5F46-9E22-3DBBF4F11C68}"/>
              </a:ext>
            </a:extLst>
          </p:cNvPr>
          <p:cNvGrpSpPr/>
          <p:nvPr/>
        </p:nvGrpSpPr>
        <p:grpSpPr>
          <a:xfrm>
            <a:off x="10844911" y="2707477"/>
            <a:ext cx="594613" cy="648336"/>
            <a:chOff x="5203089" y="1751190"/>
            <a:chExt cx="858331" cy="662414"/>
          </a:xfrm>
        </p:grpSpPr>
        <p:sp>
          <p:nvSpPr>
            <p:cNvPr id="27" name="Freeform 26">
              <a:extLst>
                <a:ext uri="{FF2B5EF4-FFF2-40B4-BE49-F238E27FC236}">
                  <a16:creationId xmlns:a16="http://schemas.microsoft.com/office/drawing/2014/main" id="{451F5106-32A5-2543-880B-662ACD66CA26}"/>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28" name="Freeform 27">
              <a:extLst>
                <a:ext uri="{FF2B5EF4-FFF2-40B4-BE49-F238E27FC236}">
                  <a16:creationId xmlns:a16="http://schemas.microsoft.com/office/drawing/2014/main" id="{1424404C-A23C-F647-8C93-68F0BA827A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cxnSp>
          <p:nvCxnSpPr>
            <p:cNvPr id="29" name="Straight Connector 28">
              <a:extLst>
                <a:ext uri="{FF2B5EF4-FFF2-40B4-BE49-F238E27FC236}">
                  <a16:creationId xmlns:a16="http://schemas.microsoft.com/office/drawing/2014/main" id="{8DBFCDF5-D1B4-EA46-B271-D0722F529047}"/>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89889E85-63CC-7944-B49D-B29033B3D945}"/>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FEA8382F-1B0D-464D-BBFD-9D1451ACDE6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1A5A3F61-17DD-3A49-B29B-EC101C5D824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87DD4340-C868-4744-9D1F-1BB1FDEE7F23}"/>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7C0E793E-B8DA-774F-AF06-238006ECEBE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5" name="Freeform 34">
            <a:extLst>
              <a:ext uri="{FF2B5EF4-FFF2-40B4-BE49-F238E27FC236}">
                <a16:creationId xmlns:a16="http://schemas.microsoft.com/office/drawing/2014/main" id="{D4457E50-81C3-874C-80A4-80EAE0791741}"/>
              </a:ext>
            </a:extLst>
          </p:cNvPr>
          <p:cNvSpPr/>
          <p:nvPr/>
        </p:nvSpPr>
        <p:spPr>
          <a:xfrm>
            <a:off x="9614553" y="1295348"/>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36" name="TextBox 35">
            <a:extLst>
              <a:ext uri="{FF2B5EF4-FFF2-40B4-BE49-F238E27FC236}">
                <a16:creationId xmlns:a16="http://schemas.microsoft.com/office/drawing/2014/main" id="{2857054E-9FD6-024C-A915-5AB7C6A89AFD}"/>
              </a:ext>
            </a:extLst>
          </p:cNvPr>
          <p:cNvSpPr txBox="1"/>
          <p:nvPr/>
        </p:nvSpPr>
        <p:spPr>
          <a:xfrm>
            <a:off x="9500941" y="1364501"/>
            <a:ext cx="1725088" cy="286232"/>
          </a:xfrm>
          <a:prstGeom prst="rect">
            <a:avLst/>
          </a:prstGeom>
          <a:noFill/>
        </p:spPr>
        <p:txBody>
          <a:bodyPr wrap="none" rtlCol="0">
            <a:spAutoFit/>
          </a:bodyPr>
          <a:lstStyle/>
          <a:p>
            <a:pPr>
              <a:lnSpc>
                <a:spcPct val="90000"/>
              </a:lnSpc>
              <a:defRPr/>
            </a:pPr>
            <a:r>
              <a:rPr lang="en-US" sz="1400" dirty="0">
                <a:solidFill>
                  <a:prstClr val="black"/>
                </a:solidFill>
              </a:rPr>
              <a:t>national or global ISP</a:t>
            </a:r>
          </a:p>
        </p:txBody>
      </p:sp>
      <p:sp>
        <p:nvSpPr>
          <p:cNvPr id="37" name="Rectangle 36">
            <a:extLst>
              <a:ext uri="{FF2B5EF4-FFF2-40B4-BE49-F238E27FC236}">
                <a16:creationId xmlns:a16="http://schemas.microsoft.com/office/drawing/2014/main" id="{5D2F7C00-5965-8F41-99F0-F64F3C546739}"/>
              </a:ext>
            </a:extLst>
          </p:cNvPr>
          <p:cNvSpPr/>
          <p:nvPr/>
        </p:nvSpPr>
        <p:spPr>
          <a:xfrm>
            <a:off x="9352808" y="3191214"/>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8" name="TextBox 37">
            <a:extLst>
              <a:ext uri="{FF2B5EF4-FFF2-40B4-BE49-F238E27FC236}">
                <a16:creationId xmlns:a16="http://schemas.microsoft.com/office/drawing/2014/main" id="{FFBD6713-BAE9-3C4E-B463-C5B4D65DA870}"/>
              </a:ext>
            </a:extLst>
          </p:cNvPr>
          <p:cNvSpPr txBox="1"/>
          <p:nvPr/>
        </p:nvSpPr>
        <p:spPr>
          <a:xfrm>
            <a:off x="10991507" y="4191243"/>
            <a:ext cx="813043" cy="383182"/>
          </a:xfrm>
          <a:prstGeom prst="rect">
            <a:avLst/>
          </a:prstGeom>
          <a:noFill/>
        </p:spPr>
        <p:txBody>
          <a:bodyPr wrap="none" rtlCol="0">
            <a:spAutoFit/>
          </a:bodyPr>
          <a:lstStyle/>
          <a:p>
            <a:pPr>
              <a:lnSpc>
                <a:spcPct val="90000"/>
              </a:lnSpc>
              <a:defRPr/>
            </a:pPr>
            <a:r>
              <a:rPr lang="en-US" sz="1050" dirty="0">
                <a:solidFill>
                  <a:prstClr val="black"/>
                </a:solidFill>
              </a:rPr>
              <a:t>datacenter </a:t>
            </a:r>
          </a:p>
          <a:p>
            <a:pPr>
              <a:lnSpc>
                <a:spcPct val="90000"/>
              </a:lnSpc>
              <a:defRPr/>
            </a:pPr>
            <a:r>
              <a:rPr lang="en-US" sz="1050" dirty="0">
                <a:solidFill>
                  <a:prstClr val="black"/>
                </a:solidFill>
              </a:rPr>
              <a:t>network</a:t>
            </a:r>
          </a:p>
        </p:txBody>
      </p:sp>
      <p:cxnSp>
        <p:nvCxnSpPr>
          <p:cNvPr id="39" name="Straight Connector 38">
            <a:extLst>
              <a:ext uri="{FF2B5EF4-FFF2-40B4-BE49-F238E27FC236}">
                <a16:creationId xmlns:a16="http://schemas.microsoft.com/office/drawing/2014/main" id="{E2530C9D-5A6A-4840-95EE-E62E0F45C045}"/>
              </a:ext>
            </a:extLst>
          </p:cNvPr>
          <p:cNvCxnSpPr>
            <a:cxnSpLocks/>
          </p:cNvCxnSpPr>
          <p:nvPr/>
        </p:nvCxnSpPr>
        <p:spPr>
          <a:xfrm flipH="1" flipV="1">
            <a:off x="10633660" y="3093431"/>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E695EB4-9B05-534C-8956-9DB8A7F3BB4D}"/>
              </a:ext>
            </a:extLst>
          </p:cNvPr>
          <p:cNvCxnSpPr>
            <a:cxnSpLocks/>
          </p:cNvCxnSpPr>
          <p:nvPr/>
        </p:nvCxnSpPr>
        <p:spPr>
          <a:xfrm flipH="1" flipV="1">
            <a:off x="10734575" y="3153990"/>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8F7467A-DF1D-0E46-BAE5-AA618B1E2E23}"/>
              </a:ext>
            </a:extLst>
          </p:cNvPr>
          <p:cNvCxnSpPr>
            <a:cxnSpLocks/>
          </p:cNvCxnSpPr>
          <p:nvPr/>
        </p:nvCxnSpPr>
        <p:spPr>
          <a:xfrm flipV="1">
            <a:off x="10710637" y="3146727"/>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678AF35-2773-354B-990C-E6287528A770}"/>
              </a:ext>
            </a:extLst>
          </p:cNvPr>
          <p:cNvCxnSpPr>
            <a:cxnSpLocks/>
          </p:cNvCxnSpPr>
          <p:nvPr/>
        </p:nvCxnSpPr>
        <p:spPr>
          <a:xfrm flipH="1" flipV="1">
            <a:off x="10644514" y="3108202"/>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D3CE828-FE2E-C442-997E-2F0E1211CF46}"/>
              </a:ext>
            </a:extLst>
          </p:cNvPr>
          <p:cNvCxnSpPr>
            <a:cxnSpLocks/>
          </p:cNvCxnSpPr>
          <p:nvPr/>
        </p:nvCxnSpPr>
        <p:spPr>
          <a:xfrm flipH="1" flipV="1">
            <a:off x="10624360" y="3584948"/>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668B3BB-A47F-5E47-AC63-7A64454822AB}"/>
              </a:ext>
            </a:extLst>
          </p:cNvPr>
          <p:cNvCxnSpPr>
            <a:cxnSpLocks/>
          </p:cNvCxnSpPr>
          <p:nvPr/>
        </p:nvCxnSpPr>
        <p:spPr>
          <a:xfrm flipH="1">
            <a:off x="9968935" y="3601048"/>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0E00960-4829-DF40-A68E-F6F8238FF69F}"/>
              </a:ext>
            </a:extLst>
          </p:cNvPr>
          <p:cNvCxnSpPr>
            <a:cxnSpLocks/>
          </p:cNvCxnSpPr>
          <p:nvPr/>
        </p:nvCxnSpPr>
        <p:spPr>
          <a:xfrm flipH="1">
            <a:off x="9293356" y="3601048"/>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AD6522C-9B65-7B47-9343-759ADC3E82EF}"/>
              </a:ext>
            </a:extLst>
          </p:cNvPr>
          <p:cNvCxnSpPr>
            <a:cxnSpLocks/>
          </p:cNvCxnSpPr>
          <p:nvPr/>
        </p:nvCxnSpPr>
        <p:spPr>
          <a:xfrm flipH="1">
            <a:off x="9350608" y="3020978"/>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C9D60433-CC5F-F847-96F4-C7AB0F1F4319}"/>
              </a:ext>
            </a:extLst>
          </p:cNvPr>
          <p:cNvCxnSpPr>
            <a:cxnSpLocks/>
          </p:cNvCxnSpPr>
          <p:nvPr/>
        </p:nvCxnSpPr>
        <p:spPr>
          <a:xfrm>
            <a:off x="9806809" y="3020978"/>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5889A11F-395A-0146-B6C3-4B72596D337D}"/>
              </a:ext>
            </a:extLst>
          </p:cNvPr>
          <p:cNvCxnSpPr/>
          <p:nvPr/>
        </p:nvCxnSpPr>
        <p:spPr>
          <a:xfrm>
            <a:off x="10211408" y="2267998"/>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5B56C4A7-D357-9B49-881D-CA196AEAFB86}"/>
              </a:ext>
            </a:extLst>
          </p:cNvPr>
          <p:cNvCxnSpPr>
            <a:cxnSpLocks/>
          </p:cNvCxnSpPr>
          <p:nvPr/>
        </p:nvCxnSpPr>
        <p:spPr>
          <a:xfrm flipH="1">
            <a:off x="9872459" y="2208319"/>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0" name="Group 49">
            <a:extLst>
              <a:ext uri="{FF2B5EF4-FFF2-40B4-BE49-F238E27FC236}">
                <a16:creationId xmlns:a16="http://schemas.microsoft.com/office/drawing/2014/main" id="{F956D9B4-9FB3-E942-993E-5C0B6D6D4E8E}"/>
              </a:ext>
            </a:extLst>
          </p:cNvPr>
          <p:cNvGrpSpPr/>
          <p:nvPr/>
        </p:nvGrpSpPr>
        <p:grpSpPr>
          <a:xfrm>
            <a:off x="7635978" y="1640631"/>
            <a:ext cx="3578867" cy="3640283"/>
            <a:chOff x="7562238" y="2127325"/>
            <a:chExt cx="3578867" cy="3640283"/>
          </a:xfrm>
        </p:grpSpPr>
        <p:grpSp>
          <p:nvGrpSpPr>
            <p:cNvPr id="51" name="Group 50">
              <a:extLst>
                <a:ext uri="{FF2B5EF4-FFF2-40B4-BE49-F238E27FC236}">
                  <a16:creationId xmlns:a16="http://schemas.microsoft.com/office/drawing/2014/main" id="{16638E5F-AAD7-1E49-9118-E30B36F9BBE5}"/>
                </a:ext>
              </a:extLst>
            </p:cNvPr>
            <p:cNvGrpSpPr/>
            <p:nvPr/>
          </p:nvGrpSpPr>
          <p:grpSpPr>
            <a:xfrm>
              <a:off x="7857253" y="2127325"/>
              <a:ext cx="3283852" cy="3640283"/>
              <a:chOff x="7881336" y="2104198"/>
              <a:chExt cx="3283852" cy="3640283"/>
            </a:xfrm>
          </p:grpSpPr>
          <p:sp>
            <p:nvSpPr>
              <p:cNvPr id="56" name="Line 428">
                <a:extLst>
                  <a:ext uri="{FF2B5EF4-FFF2-40B4-BE49-F238E27FC236}">
                    <a16:creationId xmlns:a16="http://schemas.microsoft.com/office/drawing/2014/main" id="{73C14346-74B2-0A41-B7C0-12342BB486A0}"/>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defRPr/>
                </a:pPr>
                <a:endParaRPr lang="en-US" dirty="0">
                  <a:solidFill>
                    <a:prstClr val="black"/>
                  </a:solidFill>
                </a:endParaRPr>
              </a:p>
            </p:txBody>
          </p:sp>
          <p:sp>
            <p:nvSpPr>
              <p:cNvPr id="57" name="Line 430">
                <a:extLst>
                  <a:ext uri="{FF2B5EF4-FFF2-40B4-BE49-F238E27FC236}">
                    <a16:creationId xmlns:a16="http://schemas.microsoft.com/office/drawing/2014/main" id="{0D57C56C-0C29-B74B-8FBC-5FE76C1C730B}"/>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defRPr/>
                </a:pPr>
                <a:endParaRPr lang="en-US" dirty="0">
                  <a:solidFill>
                    <a:prstClr val="black"/>
                  </a:solidFill>
                </a:endParaRPr>
              </a:p>
            </p:txBody>
          </p:sp>
          <p:sp>
            <p:nvSpPr>
              <p:cNvPr id="58" name="Line 431">
                <a:extLst>
                  <a:ext uri="{FF2B5EF4-FFF2-40B4-BE49-F238E27FC236}">
                    <a16:creationId xmlns:a16="http://schemas.microsoft.com/office/drawing/2014/main" id="{BFFEF7F7-03E4-6249-BB27-BF21D3853776}"/>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59" name="Line 432">
                <a:extLst>
                  <a:ext uri="{FF2B5EF4-FFF2-40B4-BE49-F238E27FC236}">
                    <a16:creationId xmlns:a16="http://schemas.microsoft.com/office/drawing/2014/main" id="{DF776BD7-BCAC-094E-827B-C2448A76F7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0" name="Line 433">
                <a:extLst>
                  <a:ext uri="{FF2B5EF4-FFF2-40B4-BE49-F238E27FC236}">
                    <a16:creationId xmlns:a16="http://schemas.microsoft.com/office/drawing/2014/main" id="{43C2E62B-BB7A-5C46-8927-931F84F3F8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1" name="Line 435">
                <a:extLst>
                  <a:ext uri="{FF2B5EF4-FFF2-40B4-BE49-F238E27FC236}">
                    <a16:creationId xmlns:a16="http://schemas.microsoft.com/office/drawing/2014/main" id="{663DFC23-9B89-9C45-9D1B-0D48274B8B6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2" name="Line 436">
                <a:extLst>
                  <a:ext uri="{FF2B5EF4-FFF2-40B4-BE49-F238E27FC236}">
                    <a16:creationId xmlns:a16="http://schemas.microsoft.com/office/drawing/2014/main" id="{18DD1356-89D5-3A44-95E7-F9A8CBA1076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3" name="Line 439">
                <a:extLst>
                  <a:ext uri="{FF2B5EF4-FFF2-40B4-BE49-F238E27FC236}">
                    <a16:creationId xmlns:a16="http://schemas.microsoft.com/office/drawing/2014/main" id="{97928BA0-13A6-EB47-BAB3-34433975D475}"/>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4" name="Line 440">
                <a:extLst>
                  <a:ext uri="{FF2B5EF4-FFF2-40B4-BE49-F238E27FC236}">
                    <a16:creationId xmlns:a16="http://schemas.microsoft.com/office/drawing/2014/main" id="{2C224211-7D09-3B43-A0B8-3F79ED55F846}"/>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5" name="Line 441">
                <a:extLst>
                  <a:ext uri="{FF2B5EF4-FFF2-40B4-BE49-F238E27FC236}">
                    <a16:creationId xmlns:a16="http://schemas.microsoft.com/office/drawing/2014/main" id="{BC08E60D-832A-A349-9156-9FF0DCB8DA09}"/>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6" name="Line 443">
                <a:extLst>
                  <a:ext uri="{FF2B5EF4-FFF2-40B4-BE49-F238E27FC236}">
                    <a16:creationId xmlns:a16="http://schemas.microsoft.com/office/drawing/2014/main" id="{9290D2BD-563E-7049-907C-4BAF6989D009}"/>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7" name="Line 449">
                <a:extLst>
                  <a:ext uri="{FF2B5EF4-FFF2-40B4-BE49-F238E27FC236}">
                    <a16:creationId xmlns:a16="http://schemas.microsoft.com/office/drawing/2014/main" id="{34D18B5D-D38E-294D-9B36-D83EA1EA66F0}"/>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8" name="Line 428">
                <a:extLst>
                  <a:ext uri="{FF2B5EF4-FFF2-40B4-BE49-F238E27FC236}">
                    <a16:creationId xmlns:a16="http://schemas.microsoft.com/office/drawing/2014/main" id="{390CF526-5CCE-B44E-9ADE-6403971D0B7F}"/>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defRPr/>
                </a:pPr>
                <a:endParaRPr lang="en-US" dirty="0">
                  <a:solidFill>
                    <a:prstClr val="black"/>
                  </a:solidFill>
                </a:endParaRPr>
              </a:p>
            </p:txBody>
          </p:sp>
          <p:sp>
            <p:nvSpPr>
              <p:cNvPr id="69" name="Line 440">
                <a:extLst>
                  <a:ext uri="{FF2B5EF4-FFF2-40B4-BE49-F238E27FC236}">
                    <a16:creationId xmlns:a16="http://schemas.microsoft.com/office/drawing/2014/main" id="{4FC20A7F-7EBB-B34E-A088-4F737F1DCCAF}"/>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cxnSp>
            <p:nvCxnSpPr>
              <p:cNvPr id="70" name="Straight Connector 69">
                <a:extLst>
                  <a:ext uri="{FF2B5EF4-FFF2-40B4-BE49-F238E27FC236}">
                    <a16:creationId xmlns:a16="http://schemas.microsoft.com/office/drawing/2014/main" id="{D0A1EE81-EDC0-E24E-81ED-25EC7FC1859F}"/>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B40B7AC1-4BC8-7841-AB79-C252B50D01B9}"/>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F8FC87DD-FCE9-4847-8369-0353D5F038BA}"/>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A5AC2F9-DAA5-2B42-ADBA-8AA2CE13A98C}"/>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CD02ED14-DF8A-6F47-8739-891B3E17E541}"/>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331B2571-456D-AA4C-9A42-8EC6DB5942CF}"/>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a:extLst>
                  <a:ext uri="{FF2B5EF4-FFF2-40B4-BE49-F238E27FC236}">
                    <a16:creationId xmlns:a16="http://schemas.microsoft.com/office/drawing/2014/main" id="{9DD07C97-ADFF-3B4D-9D80-4CCDBD9933B0}"/>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21CD801D-E623-DF4F-AE29-F9EDFFC1853E}"/>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8" name="Line 541">
                <a:extLst>
                  <a:ext uri="{FF2B5EF4-FFF2-40B4-BE49-F238E27FC236}">
                    <a16:creationId xmlns:a16="http://schemas.microsoft.com/office/drawing/2014/main" id="{7986AEA4-9721-1648-AF87-0143CA33D4AB}"/>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79" name="Line 424">
                <a:extLst>
                  <a:ext uri="{FF2B5EF4-FFF2-40B4-BE49-F238E27FC236}">
                    <a16:creationId xmlns:a16="http://schemas.microsoft.com/office/drawing/2014/main" id="{5B046CBA-A8F6-A944-8D42-E33C2FBF401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grpSp>
        <p:pic>
          <p:nvPicPr>
            <p:cNvPr id="52" name="Picture 778" descr="antenna_radiation_stylized">
              <a:extLst>
                <a:ext uri="{FF2B5EF4-FFF2-40B4-BE49-F238E27FC236}">
                  <a16:creationId xmlns:a16="http://schemas.microsoft.com/office/drawing/2014/main" id="{631F2DEF-0FF8-3C41-AEF8-65E9DF76C1A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781" descr="antenna_radiation_stylized">
              <a:extLst>
                <a:ext uri="{FF2B5EF4-FFF2-40B4-BE49-F238E27FC236}">
                  <a16:creationId xmlns:a16="http://schemas.microsoft.com/office/drawing/2014/main" id="{A237A058-6399-5243-824F-D60A75A74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799" descr="cell_tower_radiation copy">
              <a:extLst>
                <a:ext uri="{FF2B5EF4-FFF2-40B4-BE49-F238E27FC236}">
                  <a16:creationId xmlns:a16="http://schemas.microsoft.com/office/drawing/2014/main" id="{7D446A4E-5E76-104B-810A-DBB0D426EE6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Oval 800">
              <a:extLst>
                <a:ext uri="{FF2B5EF4-FFF2-40B4-BE49-F238E27FC236}">
                  <a16:creationId xmlns:a16="http://schemas.microsoft.com/office/drawing/2014/main" id="{EAAB4AC1-DEE9-134F-A0D6-239D715DAA16}"/>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80" name="Line 426">
            <a:extLst>
              <a:ext uri="{FF2B5EF4-FFF2-40B4-BE49-F238E27FC236}">
                <a16:creationId xmlns:a16="http://schemas.microsoft.com/office/drawing/2014/main" id="{5B80D194-D80B-BF48-8540-D5B8565B4303}"/>
              </a:ext>
            </a:extLst>
          </p:cNvPr>
          <p:cNvSpPr>
            <a:spLocks noChangeShapeType="1"/>
          </p:cNvSpPr>
          <p:nvPr/>
        </p:nvSpPr>
        <p:spPr bwMode="auto">
          <a:xfrm>
            <a:off x="8281600" y="2213665"/>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grpSp>
        <p:nvGrpSpPr>
          <p:cNvPr id="81" name="Group 783">
            <a:extLst>
              <a:ext uri="{FF2B5EF4-FFF2-40B4-BE49-F238E27FC236}">
                <a16:creationId xmlns:a16="http://schemas.microsoft.com/office/drawing/2014/main" id="{E68A1148-D704-A446-A2F3-AD2E0367AAB2}"/>
              </a:ext>
            </a:extLst>
          </p:cNvPr>
          <p:cNvGrpSpPr>
            <a:grpSpLocks/>
          </p:cNvGrpSpPr>
          <p:nvPr/>
        </p:nvGrpSpPr>
        <p:grpSpPr bwMode="auto">
          <a:xfrm>
            <a:off x="8124438" y="1822682"/>
            <a:ext cx="298450" cy="464008"/>
            <a:chOff x="3130" y="3288"/>
            <a:chExt cx="410" cy="742"/>
          </a:xfrm>
        </p:grpSpPr>
        <p:sp>
          <p:nvSpPr>
            <p:cNvPr id="82" name="Line 270">
              <a:extLst>
                <a:ext uri="{FF2B5EF4-FFF2-40B4-BE49-F238E27FC236}">
                  <a16:creationId xmlns:a16="http://schemas.microsoft.com/office/drawing/2014/main" id="{148E09EA-BBD1-E045-A9C1-2579C62EE832}"/>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3" name="Line 271">
              <a:extLst>
                <a:ext uri="{FF2B5EF4-FFF2-40B4-BE49-F238E27FC236}">
                  <a16:creationId xmlns:a16="http://schemas.microsoft.com/office/drawing/2014/main" id="{0CEB5342-A8E6-2241-A276-5D5BB507FC8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4" name="Line 272">
              <a:extLst>
                <a:ext uri="{FF2B5EF4-FFF2-40B4-BE49-F238E27FC236}">
                  <a16:creationId xmlns:a16="http://schemas.microsoft.com/office/drawing/2014/main" id="{1C31E4F5-A349-A54A-B3C6-FCE7EC386D47}"/>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5" name="Line 273">
              <a:extLst>
                <a:ext uri="{FF2B5EF4-FFF2-40B4-BE49-F238E27FC236}">
                  <a16:creationId xmlns:a16="http://schemas.microsoft.com/office/drawing/2014/main" id="{89E72D14-18C6-4F4A-A018-55770D016BB8}"/>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6" name="Line 274">
              <a:extLst>
                <a:ext uri="{FF2B5EF4-FFF2-40B4-BE49-F238E27FC236}">
                  <a16:creationId xmlns:a16="http://schemas.microsoft.com/office/drawing/2014/main" id="{6FD77342-4E61-494C-9600-ADAF89CDF5CC}"/>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7" name="Line 275">
              <a:extLst>
                <a:ext uri="{FF2B5EF4-FFF2-40B4-BE49-F238E27FC236}">
                  <a16:creationId xmlns:a16="http://schemas.microsoft.com/office/drawing/2014/main" id="{840F43A3-D863-904A-912C-87898DB80EF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8" name="Line 276">
              <a:extLst>
                <a:ext uri="{FF2B5EF4-FFF2-40B4-BE49-F238E27FC236}">
                  <a16:creationId xmlns:a16="http://schemas.microsoft.com/office/drawing/2014/main" id="{C8E333AC-9EDA-F34E-A2B4-BB319D3FB166}"/>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9" name="Line 277">
              <a:extLst>
                <a:ext uri="{FF2B5EF4-FFF2-40B4-BE49-F238E27FC236}">
                  <a16:creationId xmlns:a16="http://schemas.microsoft.com/office/drawing/2014/main" id="{DBBC7195-32E5-1E44-A4B7-2D041FCF1959}"/>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0" name="Line 278">
              <a:extLst>
                <a:ext uri="{FF2B5EF4-FFF2-40B4-BE49-F238E27FC236}">
                  <a16:creationId xmlns:a16="http://schemas.microsoft.com/office/drawing/2014/main" id="{B6C3F345-DEA7-C64D-90EE-6DFEF6B0F797}"/>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1" name="Line 279">
              <a:extLst>
                <a:ext uri="{FF2B5EF4-FFF2-40B4-BE49-F238E27FC236}">
                  <a16:creationId xmlns:a16="http://schemas.microsoft.com/office/drawing/2014/main" id="{6C2CB45E-DD31-644D-B38E-56690CBDE831}"/>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2" name="Line 280">
              <a:extLst>
                <a:ext uri="{FF2B5EF4-FFF2-40B4-BE49-F238E27FC236}">
                  <a16:creationId xmlns:a16="http://schemas.microsoft.com/office/drawing/2014/main" id="{0B1D6178-5CDF-C44A-BD74-FC217ED5751B}"/>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3" name="Line 281">
              <a:extLst>
                <a:ext uri="{FF2B5EF4-FFF2-40B4-BE49-F238E27FC236}">
                  <a16:creationId xmlns:a16="http://schemas.microsoft.com/office/drawing/2014/main" id="{363887BB-4AF3-B84E-9683-EE49686A1C82}"/>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4" name="Line 282">
              <a:extLst>
                <a:ext uri="{FF2B5EF4-FFF2-40B4-BE49-F238E27FC236}">
                  <a16:creationId xmlns:a16="http://schemas.microsoft.com/office/drawing/2014/main" id="{175D27BE-3FD8-CE45-A067-6C508BF70C8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5" name="Line 283">
              <a:extLst>
                <a:ext uri="{FF2B5EF4-FFF2-40B4-BE49-F238E27FC236}">
                  <a16:creationId xmlns:a16="http://schemas.microsoft.com/office/drawing/2014/main" id="{B2BBADBF-8220-2243-8DAD-6DAD647432F5}"/>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6" name="Line 284">
              <a:extLst>
                <a:ext uri="{FF2B5EF4-FFF2-40B4-BE49-F238E27FC236}">
                  <a16:creationId xmlns:a16="http://schemas.microsoft.com/office/drawing/2014/main" id="{3AB793CC-A3CA-9F45-A697-F5B2AC584A50}"/>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pic>
        <p:nvPicPr>
          <p:cNvPr id="97" name="Picture 777" descr="access_point_stylized_small">
            <a:extLst>
              <a:ext uri="{FF2B5EF4-FFF2-40B4-BE49-F238E27FC236}">
                <a16:creationId xmlns:a16="http://schemas.microsoft.com/office/drawing/2014/main" id="{68963423-0F28-9C4E-9209-A68C79A01E5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7622" y="3375205"/>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780" descr="access_point_stylized_small">
            <a:extLst>
              <a:ext uri="{FF2B5EF4-FFF2-40B4-BE49-F238E27FC236}">
                <a16:creationId xmlns:a16="http://schemas.microsoft.com/office/drawing/2014/main" id="{CC400AD6-BFC6-FE40-9B3A-1E58BEB77C0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64350" y="5037538"/>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98">
            <a:extLst>
              <a:ext uri="{FF2B5EF4-FFF2-40B4-BE49-F238E27FC236}">
                <a16:creationId xmlns:a16="http://schemas.microsoft.com/office/drawing/2014/main" id="{45D32098-7053-E144-ABFD-96A14B42CDE7}"/>
              </a:ext>
            </a:extLst>
          </p:cNvPr>
          <p:cNvGrpSpPr/>
          <p:nvPr/>
        </p:nvGrpSpPr>
        <p:grpSpPr>
          <a:xfrm>
            <a:off x="9923105" y="4852343"/>
            <a:ext cx="309740" cy="190838"/>
            <a:chOff x="3668110" y="2448910"/>
            <a:chExt cx="3794234" cy="2165130"/>
          </a:xfrm>
        </p:grpSpPr>
        <p:sp>
          <p:nvSpPr>
            <p:cNvPr id="100" name="Rectangle 99">
              <a:extLst>
                <a:ext uri="{FF2B5EF4-FFF2-40B4-BE49-F238E27FC236}">
                  <a16:creationId xmlns:a16="http://schemas.microsoft.com/office/drawing/2014/main" id="{04E26E62-0A09-FE48-83DB-99D08E6D966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1" name="Freeform 100">
              <a:extLst>
                <a:ext uri="{FF2B5EF4-FFF2-40B4-BE49-F238E27FC236}">
                  <a16:creationId xmlns:a16="http://schemas.microsoft.com/office/drawing/2014/main" id="{5BBE0DFE-0625-6941-BE0B-54B132BA201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102" name="Group 101">
              <a:extLst>
                <a:ext uri="{FF2B5EF4-FFF2-40B4-BE49-F238E27FC236}">
                  <a16:creationId xmlns:a16="http://schemas.microsoft.com/office/drawing/2014/main" id="{607D2C3A-C248-C14C-AE1E-3CEA21A7711E}"/>
                </a:ext>
              </a:extLst>
            </p:cNvPr>
            <p:cNvGrpSpPr/>
            <p:nvPr/>
          </p:nvGrpSpPr>
          <p:grpSpPr>
            <a:xfrm>
              <a:off x="3941378" y="2603243"/>
              <a:ext cx="3202061" cy="1066110"/>
              <a:chOff x="7939341" y="3037317"/>
              <a:chExt cx="897649" cy="353919"/>
            </a:xfrm>
          </p:grpSpPr>
          <p:sp>
            <p:nvSpPr>
              <p:cNvPr id="103" name="Freeform 102">
                <a:extLst>
                  <a:ext uri="{FF2B5EF4-FFF2-40B4-BE49-F238E27FC236}">
                    <a16:creationId xmlns:a16="http://schemas.microsoft.com/office/drawing/2014/main" id="{BD2E6830-1548-F748-9CD3-9BBE3D747B5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4" name="Freeform 103">
                <a:extLst>
                  <a:ext uri="{FF2B5EF4-FFF2-40B4-BE49-F238E27FC236}">
                    <a16:creationId xmlns:a16="http://schemas.microsoft.com/office/drawing/2014/main" id="{87EA9A58-4D21-1A4A-8916-404ABE135D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5" name="Freeform 104">
                <a:extLst>
                  <a:ext uri="{FF2B5EF4-FFF2-40B4-BE49-F238E27FC236}">
                    <a16:creationId xmlns:a16="http://schemas.microsoft.com/office/drawing/2014/main" id="{7CF3E410-162D-074A-8E74-37800207811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6" name="Freeform 105">
                <a:extLst>
                  <a:ext uri="{FF2B5EF4-FFF2-40B4-BE49-F238E27FC236}">
                    <a16:creationId xmlns:a16="http://schemas.microsoft.com/office/drawing/2014/main" id="{072DA05C-F551-2546-ACD2-A6674CBCE38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07" name="Group 106">
            <a:extLst>
              <a:ext uri="{FF2B5EF4-FFF2-40B4-BE49-F238E27FC236}">
                <a16:creationId xmlns:a16="http://schemas.microsoft.com/office/drawing/2014/main" id="{659AA5C6-EE3B-2947-B048-197F6FD3AC8C}"/>
              </a:ext>
            </a:extLst>
          </p:cNvPr>
          <p:cNvGrpSpPr/>
          <p:nvPr/>
        </p:nvGrpSpPr>
        <p:grpSpPr>
          <a:xfrm>
            <a:off x="8750359" y="4480726"/>
            <a:ext cx="393760" cy="218578"/>
            <a:chOff x="7493876" y="2774731"/>
            <a:chExt cx="1481958" cy="894622"/>
          </a:xfrm>
        </p:grpSpPr>
        <p:sp>
          <p:nvSpPr>
            <p:cNvPr id="108" name="Freeform 107">
              <a:extLst>
                <a:ext uri="{FF2B5EF4-FFF2-40B4-BE49-F238E27FC236}">
                  <a16:creationId xmlns:a16="http://schemas.microsoft.com/office/drawing/2014/main" id="{9100A36C-A3A7-F64D-ACF1-BC8A727C2C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09" name="Oval 108">
              <a:extLst>
                <a:ext uri="{FF2B5EF4-FFF2-40B4-BE49-F238E27FC236}">
                  <a16:creationId xmlns:a16="http://schemas.microsoft.com/office/drawing/2014/main" id="{66AC0DDF-BAAC-9648-9DB4-B82F4C800F1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10" name="Group 109">
              <a:extLst>
                <a:ext uri="{FF2B5EF4-FFF2-40B4-BE49-F238E27FC236}">
                  <a16:creationId xmlns:a16="http://schemas.microsoft.com/office/drawing/2014/main" id="{F93AC9B6-D959-EE46-8553-EF585F23BD73}"/>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4CC15E79-4120-D643-9348-8A2483E7C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2" name="Freeform 111">
                <a:extLst>
                  <a:ext uri="{FF2B5EF4-FFF2-40B4-BE49-F238E27FC236}">
                    <a16:creationId xmlns:a16="http://schemas.microsoft.com/office/drawing/2014/main" id="{B4C3AE5D-7179-E240-8F3C-8DF74EC999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3" name="Freeform 112">
                <a:extLst>
                  <a:ext uri="{FF2B5EF4-FFF2-40B4-BE49-F238E27FC236}">
                    <a16:creationId xmlns:a16="http://schemas.microsoft.com/office/drawing/2014/main" id="{3A0685E0-EC87-CF48-A96B-77CB2EC25C0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4" name="Freeform 113">
                <a:extLst>
                  <a:ext uri="{FF2B5EF4-FFF2-40B4-BE49-F238E27FC236}">
                    <a16:creationId xmlns:a16="http://schemas.microsoft.com/office/drawing/2014/main" id="{9E67B1F5-ED42-AE4A-8D5B-75AD8401AC4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15" name="Group 114">
            <a:extLst>
              <a:ext uri="{FF2B5EF4-FFF2-40B4-BE49-F238E27FC236}">
                <a16:creationId xmlns:a16="http://schemas.microsoft.com/office/drawing/2014/main" id="{04996387-BE14-DF43-805B-702F9CA5C7DE}"/>
              </a:ext>
            </a:extLst>
          </p:cNvPr>
          <p:cNvGrpSpPr/>
          <p:nvPr/>
        </p:nvGrpSpPr>
        <p:grpSpPr>
          <a:xfrm>
            <a:off x="8385260" y="4707739"/>
            <a:ext cx="309740" cy="190838"/>
            <a:chOff x="3668110" y="2448910"/>
            <a:chExt cx="3794234" cy="2165130"/>
          </a:xfrm>
        </p:grpSpPr>
        <p:sp>
          <p:nvSpPr>
            <p:cNvPr id="116" name="Rectangle 115">
              <a:extLst>
                <a:ext uri="{FF2B5EF4-FFF2-40B4-BE49-F238E27FC236}">
                  <a16:creationId xmlns:a16="http://schemas.microsoft.com/office/drawing/2014/main" id="{45754FAB-24AD-164E-8246-AFEEDC5117C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7" name="Freeform 116">
              <a:extLst>
                <a:ext uri="{FF2B5EF4-FFF2-40B4-BE49-F238E27FC236}">
                  <a16:creationId xmlns:a16="http://schemas.microsoft.com/office/drawing/2014/main" id="{E5DD5BBA-99BE-AB40-ABCA-66BF6954D98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118" name="Group 117">
              <a:extLst>
                <a:ext uri="{FF2B5EF4-FFF2-40B4-BE49-F238E27FC236}">
                  <a16:creationId xmlns:a16="http://schemas.microsoft.com/office/drawing/2014/main" id="{AEB271AC-E128-C94E-8C52-AEF23798B7A8}"/>
                </a:ext>
              </a:extLst>
            </p:cNvPr>
            <p:cNvGrpSpPr/>
            <p:nvPr/>
          </p:nvGrpSpPr>
          <p:grpSpPr>
            <a:xfrm>
              <a:off x="3941378" y="2603243"/>
              <a:ext cx="3202061" cy="1066110"/>
              <a:chOff x="7939341" y="3037317"/>
              <a:chExt cx="897649" cy="353919"/>
            </a:xfrm>
          </p:grpSpPr>
          <p:sp>
            <p:nvSpPr>
              <p:cNvPr id="119" name="Freeform 118">
                <a:extLst>
                  <a:ext uri="{FF2B5EF4-FFF2-40B4-BE49-F238E27FC236}">
                    <a16:creationId xmlns:a16="http://schemas.microsoft.com/office/drawing/2014/main" id="{6A1116CA-475C-3648-95B4-42F00A2A05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0" name="Freeform 119">
                <a:extLst>
                  <a:ext uri="{FF2B5EF4-FFF2-40B4-BE49-F238E27FC236}">
                    <a16:creationId xmlns:a16="http://schemas.microsoft.com/office/drawing/2014/main" id="{C2AE9788-7391-8445-B359-B4CC25A1EE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1" name="Freeform 120">
                <a:extLst>
                  <a:ext uri="{FF2B5EF4-FFF2-40B4-BE49-F238E27FC236}">
                    <a16:creationId xmlns:a16="http://schemas.microsoft.com/office/drawing/2014/main" id="{B02E83DD-BD53-7B47-A845-B8C7DC6A694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2" name="Freeform 121">
                <a:extLst>
                  <a:ext uri="{FF2B5EF4-FFF2-40B4-BE49-F238E27FC236}">
                    <a16:creationId xmlns:a16="http://schemas.microsoft.com/office/drawing/2014/main" id="{2DC92133-A32C-A741-B66D-863B3C03BD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23" name="Group 122">
            <a:extLst>
              <a:ext uri="{FF2B5EF4-FFF2-40B4-BE49-F238E27FC236}">
                <a16:creationId xmlns:a16="http://schemas.microsoft.com/office/drawing/2014/main" id="{643D9FE3-9524-3844-AF33-35CA20FC0D76}"/>
              </a:ext>
            </a:extLst>
          </p:cNvPr>
          <p:cNvGrpSpPr/>
          <p:nvPr/>
        </p:nvGrpSpPr>
        <p:grpSpPr>
          <a:xfrm>
            <a:off x="8513567" y="2325615"/>
            <a:ext cx="353678" cy="168275"/>
            <a:chOff x="7493876" y="2774731"/>
            <a:chExt cx="1481958" cy="894622"/>
          </a:xfrm>
        </p:grpSpPr>
        <p:sp>
          <p:nvSpPr>
            <p:cNvPr id="124" name="Freeform 123">
              <a:extLst>
                <a:ext uri="{FF2B5EF4-FFF2-40B4-BE49-F238E27FC236}">
                  <a16:creationId xmlns:a16="http://schemas.microsoft.com/office/drawing/2014/main" id="{D4B39EB8-9828-0342-9391-704A2CD03D1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25" name="Oval 124">
              <a:extLst>
                <a:ext uri="{FF2B5EF4-FFF2-40B4-BE49-F238E27FC236}">
                  <a16:creationId xmlns:a16="http://schemas.microsoft.com/office/drawing/2014/main" id="{774578F8-9C32-FF4C-94B9-DD296E4639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26" name="Group 125">
              <a:extLst>
                <a:ext uri="{FF2B5EF4-FFF2-40B4-BE49-F238E27FC236}">
                  <a16:creationId xmlns:a16="http://schemas.microsoft.com/office/drawing/2014/main" id="{E3FFE085-A1E8-8C4A-863C-F297E69E8C5F}"/>
                </a:ext>
              </a:extLst>
            </p:cNvPr>
            <p:cNvGrpSpPr/>
            <p:nvPr/>
          </p:nvGrpSpPr>
          <p:grpSpPr>
            <a:xfrm>
              <a:off x="7713663" y="2848339"/>
              <a:ext cx="1042107" cy="425543"/>
              <a:chOff x="7786941" y="2884917"/>
              <a:chExt cx="897649" cy="353919"/>
            </a:xfrm>
          </p:grpSpPr>
          <p:sp>
            <p:nvSpPr>
              <p:cNvPr id="127" name="Freeform 126">
                <a:extLst>
                  <a:ext uri="{FF2B5EF4-FFF2-40B4-BE49-F238E27FC236}">
                    <a16:creationId xmlns:a16="http://schemas.microsoft.com/office/drawing/2014/main" id="{FF20BBBE-61F6-414F-AB4A-B44CBEECD9A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8" name="Freeform 127">
                <a:extLst>
                  <a:ext uri="{FF2B5EF4-FFF2-40B4-BE49-F238E27FC236}">
                    <a16:creationId xmlns:a16="http://schemas.microsoft.com/office/drawing/2014/main" id="{B2045209-7C1C-F24A-AEE1-071242B149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9" name="Freeform 128">
                <a:extLst>
                  <a:ext uri="{FF2B5EF4-FFF2-40B4-BE49-F238E27FC236}">
                    <a16:creationId xmlns:a16="http://schemas.microsoft.com/office/drawing/2014/main" id="{1B01ADE3-1B6E-D247-973F-54E2D9B5D15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0" name="Freeform 129">
                <a:extLst>
                  <a:ext uri="{FF2B5EF4-FFF2-40B4-BE49-F238E27FC236}">
                    <a16:creationId xmlns:a16="http://schemas.microsoft.com/office/drawing/2014/main" id="{405D61D6-D043-834E-8866-8619F48CA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31" name="Group 130">
            <a:extLst>
              <a:ext uri="{FF2B5EF4-FFF2-40B4-BE49-F238E27FC236}">
                <a16:creationId xmlns:a16="http://schemas.microsoft.com/office/drawing/2014/main" id="{1012F64F-EF7E-5344-A4F3-7EABE2D4F217}"/>
              </a:ext>
            </a:extLst>
          </p:cNvPr>
          <p:cNvGrpSpPr/>
          <p:nvPr/>
        </p:nvGrpSpPr>
        <p:grpSpPr>
          <a:xfrm>
            <a:off x="10957825" y="3114671"/>
            <a:ext cx="170989" cy="97052"/>
            <a:chOff x="7493876" y="2774731"/>
            <a:chExt cx="1481958" cy="894622"/>
          </a:xfrm>
        </p:grpSpPr>
        <p:sp>
          <p:nvSpPr>
            <p:cNvPr id="132" name="Freeform 131">
              <a:extLst>
                <a:ext uri="{FF2B5EF4-FFF2-40B4-BE49-F238E27FC236}">
                  <a16:creationId xmlns:a16="http://schemas.microsoft.com/office/drawing/2014/main" id="{8BB13C1F-054D-7941-91CB-76ED796B656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33" name="Oval 132">
              <a:extLst>
                <a:ext uri="{FF2B5EF4-FFF2-40B4-BE49-F238E27FC236}">
                  <a16:creationId xmlns:a16="http://schemas.microsoft.com/office/drawing/2014/main" id="{70C6DC31-F653-F446-9B94-60CB67A860A3}"/>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34" name="Group 133">
              <a:extLst>
                <a:ext uri="{FF2B5EF4-FFF2-40B4-BE49-F238E27FC236}">
                  <a16:creationId xmlns:a16="http://schemas.microsoft.com/office/drawing/2014/main" id="{3F4A7E86-562E-9C48-95BF-2B9D877B5376}"/>
                </a:ext>
              </a:extLst>
            </p:cNvPr>
            <p:cNvGrpSpPr/>
            <p:nvPr/>
          </p:nvGrpSpPr>
          <p:grpSpPr>
            <a:xfrm>
              <a:off x="7713663" y="2848339"/>
              <a:ext cx="1042107" cy="425543"/>
              <a:chOff x="7786941" y="2884917"/>
              <a:chExt cx="897649" cy="353919"/>
            </a:xfrm>
          </p:grpSpPr>
          <p:sp>
            <p:nvSpPr>
              <p:cNvPr id="135" name="Freeform 134">
                <a:extLst>
                  <a:ext uri="{FF2B5EF4-FFF2-40B4-BE49-F238E27FC236}">
                    <a16:creationId xmlns:a16="http://schemas.microsoft.com/office/drawing/2014/main" id="{D80C08FB-4E69-EB4A-BBCA-4E44FB7EE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6" name="Freeform 135">
                <a:extLst>
                  <a:ext uri="{FF2B5EF4-FFF2-40B4-BE49-F238E27FC236}">
                    <a16:creationId xmlns:a16="http://schemas.microsoft.com/office/drawing/2014/main" id="{2632F4FB-DFCC-2F4D-B158-2D3743B3F9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7" name="Freeform 136">
                <a:extLst>
                  <a:ext uri="{FF2B5EF4-FFF2-40B4-BE49-F238E27FC236}">
                    <a16:creationId xmlns:a16="http://schemas.microsoft.com/office/drawing/2014/main" id="{E6D5E9E9-B17F-9D4B-B223-9141D3A688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8" name="Freeform 137">
                <a:extLst>
                  <a:ext uri="{FF2B5EF4-FFF2-40B4-BE49-F238E27FC236}">
                    <a16:creationId xmlns:a16="http://schemas.microsoft.com/office/drawing/2014/main" id="{8D0A12F2-B562-2648-B16A-1D30E22E0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39" name="Group 138">
            <a:extLst>
              <a:ext uri="{FF2B5EF4-FFF2-40B4-BE49-F238E27FC236}">
                <a16:creationId xmlns:a16="http://schemas.microsoft.com/office/drawing/2014/main" id="{B4E432F1-1693-8A4E-A460-5802A1AEAD07}"/>
              </a:ext>
            </a:extLst>
          </p:cNvPr>
          <p:cNvGrpSpPr/>
          <p:nvPr/>
        </p:nvGrpSpPr>
        <p:grpSpPr>
          <a:xfrm>
            <a:off x="10484349" y="3009444"/>
            <a:ext cx="353678" cy="198344"/>
            <a:chOff x="7493876" y="2774731"/>
            <a:chExt cx="1481958" cy="894622"/>
          </a:xfrm>
        </p:grpSpPr>
        <p:sp>
          <p:nvSpPr>
            <p:cNvPr id="140" name="Freeform 139">
              <a:extLst>
                <a:ext uri="{FF2B5EF4-FFF2-40B4-BE49-F238E27FC236}">
                  <a16:creationId xmlns:a16="http://schemas.microsoft.com/office/drawing/2014/main" id="{5ED14BE6-903D-9940-AC2B-3268B87ADF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41" name="Oval 140">
              <a:extLst>
                <a:ext uri="{FF2B5EF4-FFF2-40B4-BE49-F238E27FC236}">
                  <a16:creationId xmlns:a16="http://schemas.microsoft.com/office/drawing/2014/main" id="{7EFC5165-1B49-B544-B703-D0E9DA908D7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42" name="Group 141">
              <a:extLst>
                <a:ext uri="{FF2B5EF4-FFF2-40B4-BE49-F238E27FC236}">
                  <a16:creationId xmlns:a16="http://schemas.microsoft.com/office/drawing/2014/main" id="{AB1397D1-18DA-5944-8339-897F9A9AD894}"/>
                </a:ext>
              </a:extLst>
            </p:cNvPr>
            <p:cNvGrpSpPr/>
            <p:nvPr/>
          </p:nvGrpSpPr>
          <p:grpSpPr>
            <a:xfrm>
              <a:off x="7713663" y="2848339"/>
              <a:ext cx="1042107" cy="425543"/>
              <a:chOff x="7786941" y="2884917"/>
              <a:chExt cx="897649" cy="353919"/>
            </a:xfrm>
          </p:grpSpPr>
          <p:sp>
            <p:nvSpPr>
              <p:cNvPr id="143" name="Freeform 142">
                <a:extLst>
                  <a:ext uri="{FF2B5EF4-FFF2-40B4-BE49-F238E27FC236}">
                    <a16:creationId xmlns:a16="http://schemas.microsoft.com/office/drawing/2014/main" id="{D3D45686-63E9-E245-8305-C334F0541E7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44" name="Freeform 143">
                <a:extLst>
                  <a:ext uri="{FF2B5EF4-FFF2-40B4-BE49-F238E27FC236}">
                    <a16:creationId xmlns:a16="http://schemas.microsoft.com/office/drawing/2014/main" id="{3B2FA1D1-BF4F-F947-B3E1-406A420C4F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45" name="Freeform 144">
                <a:extLst>
                  <a:ext uri="{FF2B5EF4-FFF2-40B4-BE49-F238E27FC236}">
                    <a16:creationId xmlns:a16="http://schemas.microsoft.com/office/drawing/2014/main" id="{2C4C730F-0E5F-9441-B3F0-9FB7DB403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46" name="Freeform 145">
                <a:extLst>
                  <a:ext uri="{FF2B5EF4-FFF2-40B4-BE49-F238E27FC236}">
                    <a16:creationId xmlns:a16="http://schemas.microsoft.com/office/drawing/2014/main" id="{3C05DC31-C04A-DA4E-BD68-6BCFC14A56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47" name="Group 146">
            <a:extLst>
              <a:ext uri="{FF2B5EF4-FFF2-40B4-BE49-F238E27FC236}">
                <a16:creationId xmlns:a16="http://schemas.microsoft.com/office/drawing/2014/main" id="{851A2E38-C8F7-5B4D-93A5-130306B471F9}"/>
              </a:ext>
            </a:extLst>
          </p:cNvPr>
          <p:cNvGrpSpPr/>
          <p:nvPr/>
        </p:nvGrpSpPr>
        <p:grpSpPr>
          <a:xfrm>
            <a:off x="10022464" y="1715598"/>
            <a:ext cx="353678" cy="198344"/>
            <a:chOff x="7493876" y="2774731"/>
            <a:chExt cx="1481958" cy="894622"/>
          </a:xfrm>
        </p:grpSpPr>
        <p:sp>
          <p:nvSpPr>
            <p:cNvPr id="148" name="Freeform 147">
              <a:extLst>
                <a:ext uri="{FF2B5EF4-FFF2-40B4-BE49-F238E27FC236}">
                  <a16:creationId xmlns:a16="http://schemas.microsoft.com/office/drawing/2014/main" id="{DE316D8C-B460-B94D-8F8C-D3061831AA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49" name="Oval 148">
              <a:extLst>
                <a:ext uri="{FF2B5EF4-FFF2-40B4-BE49-F238E27FC236}">
                  <a16:creationId xmlns:a16="http://schemas.microsoft.com/office/drawing/2014/main" id="{F1A1A5CB-A709-1F4F-8D50-2C99B35EED9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50" name="Group 149">
              <a:extLst>
                <a:ext uri="{FF2B5EF4-FFF2-40B4-BE49-F238E27FC236}">
                  <a16:creationId xmlns:a16="http://schemas.microsoft.com/office/drawing/2014/main" id="{2C3D1ACE-2ADB-1B4F-B4F6-152F4655CFF6}"/>
                </a:ext>
              </a:extLst>
            </p:cNvPr>
            <p:cNvGrpSpPr/>
            <p:nvPr/>
          </p:nvGrpSpPr>
          <p:grpSpPr>
            <a:xfrm>
              <a:off x="7713663" y="2848339"/>
              <a:ext cx="1042107" cy="425543"/>
              <a:chOff x="7786941" y="2884917"/>
              <a:chExt cx="897649" cy="353919"/>
            </a:xfrm>
          </p:grpSpPr>
          <p:sp>
            <p:nvSpPr>
              <p:cNvPr id="151" name="Freeform 150">
                <a:extLst>
                  <a:ext uri="{FF2B5EF4-FFF2-40B4-BE49-F238E27FC236}">
                    <a16:creationId xmlns:a16="http://schemas.microsoft.com/office/drawing/2014/main" id="{ABA3F008-D35A-3344-AE9B-985B191CD41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52" name="Freeform 151">
                <a:extLst>
                  <a:ext uri="{FF2B5EF4-FFF2-40B4-BE49-F238E27FC236}">
                    <a16:creationId xmlns:a16="http://schemas.microsoft.com/office/drawing/2014/main" id="{9B80981C-5DF8-8A44-871A-76578F68D6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53" name="Freeform 152">
                <a:extLst>
                  <a:ext uri="{FF2B5EF4-FFF2-40B4-BE49-F238E27FC236}">
                    <a16:creationId xmlns:a16="http://schemas.microsoft.com/office/drawing/2014/main" id="{811450F3-31D3-204D-B370-675D8DEBAA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54" name="Freeform 153">
                <a:extLst>
                  <a:ext uri="{FF2B5EF4-FFF2-40B4-BE49-F238E27FC236}">
                    <a16:creationId xmlns:a16="http://schemas.microsoft.com/office/drawing/2014/main" id="{B8AF6519-9948-BD4F-9BDE-BF2FE27174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55" name="Group 154">
            <a:extLst>
              <a:ext uri="{FF2B5EF4-FFF2-40B4-BE49-F238E27FC236}">
                <a16:creationId xmlns:a16="http://schemas.microsoft.com/office/drawing/2014/main" id="{D553E004-5B76-CE49-82A8-228403BC57E9}"/>
              </a:ext>
            </a:extLst>
          </p:cNvPr>
          <p:cNvGrpSpPr/>
          <p:nvPr/>
        </p:nvGrpSpPr>
        <p:grpSpPr>
          <a:xfrm>
            <a:off x="10600954" y="2126673"/>
            <a:ext cx="353678" cy="198344"/>
            <a:chOff x="7493876" y="2774731"/>
            <a:chExt cx="1481958" cy="894622"/>
          </a:xfrm>
        </p:grpSpPr>
        <p:sp>
          <p:nvSpPr>
            <p:cNvPr id="156" name="Freeform 155">
              <a:extLst>
                <a:ext uri="{FF2B5EF4-FFF2-40B4-BE49-F238E27FC236}">
                  <a16:creationId xmlns:a16="http://schemas.microsoft.com/office/drawing/2014/main" id="{80D1B1C3-E533-0648-A8F6-501D4123A9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57" name="Oval 156">
              <a:extLst>
                <a:ext uri="{FF2B5EF4-FFF2-40B4-BE49-F238E27FC236}">
                  <a16:creationId xmlns:a16="http://schemas.microsoft.com/office/drawing/2014/main" id="{3F68FB3F-D92E-ED44-AFF7-CC7359337C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58" name="Group 157">
              <a:extLst>
                <a:ext uri="{FF2B5EF4-FFF2-40B4-BE49-F238E27FC236}">
                  <a16:creationId xmlns:a16="http://schemas.microsoft.com/office/drawing/2014/main" id="{4166E5B1-FD06-CF4F-BE46-0665B6C44065}"/>
                </a:ext>
              </a:extLst>
            </p:cNvPr>
            <p:cNvGrpSpPr/>
            <p:nvPr/>
          </p:nvGrpSpPr>
          <p:grpSpPr>
            <a:xfrm>
              <a:off x="7713663" y="2848339"/>
              <a:ext cx="1042107" cy="425543"/>
              <a:chOff x="7786941" y="2884917"/>
              <a:chExt cx="897649" cy="353919"/>
            </a:xfrm>
          </p:grpSpPr>
          <p:sp>
            <p:nvSpPr>
              <p:cNvPr id="159" name="Freeform 158">
                <a:extLst>
                  <a:ext uri="{FF2B5EF4-FFF2-40B4-BE49-F238E27FC236}">
                    <a16:creationId xmlns:a16="http://schemas.microsoft.com/office/drawing/2014/main" id="{6EED667D-92E4-684F-8131-08EE73D786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0" name="Freeform 159">
                <a:extLst>
                  <a:ext uri="{FF2B5EF4-FFF2-40B4-BE49-F238E27FC236}">
                    <a16:creationId xmlns:a16="http://schemas.microsoft.com/office/drawing/2014/main" id="{173F21E0-20AE-3947-B3A9-DCB066F95B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1" name="Freeform 160">
                <a:extLst>
                  <a:ext uri="{FF2B5EF4-FFF2-40B4-BE49-F238E27FC236}">
                    <a16:creationId xmlns:a16="http://schemas.microsoft.com/office/drawing/2014/main" id="{90BCAD6D-9742-A743-AF6C-AA4C11DF2F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2" name="Freeform 161">
                <a:extLst>
                  <a:ext uri="{FF2B5EF4-FFF2-40B4-BE49-F238E27FC236}">
                    <a16:creationId xmlns:a16="http://schemas.microsoft.com/office/drawing/2014/main" id="{D15CCA2D-FF07-7E49-AFAC-41F608FBA3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63" name="Group 162">
            <a:extLst>
              <a:ext uri="{FF2B5EF4-FFF2-40B4-BE49-F238E27FC236}">
                <a16:creationId xmlns:a16="http://schemas.microsoft.com/office/drawing/2014/main" id="{0BBFA4F2-6DC5-6246-AC0D-A5B6362510CA}"/>
              </a:ext>
            </a:extLst>
          </p:cNvPr>
          <p:cNvGrpSpPr/>
          <p:nvPr/>
        </p:nvGrpSpPr>
        <p:grpSpPr>
          <a:xfrm>
            <a:off x="10717565" y="1621269"/>
            <a:ext cx="353678" cy="198344"/>
            <a:chOff x="7493876" y="2774731"/>
            <a:chExt cx="1481958" cy="894622"/>
          </a:xfrm>
        </p:grpSpPr>
        <p:sp>
          <p:nvSpPr>
            <p:cNvPr id="164" name="Freeform 163">
              <a:extLst>
                <a:ext uri="{FF2B5EF4-FFF2-40B4-BE49-F238E27FC236}">
                  <a16:creationId xmlns:a16="http://schemas.microsoft.com/office/drawing/2014/main" id="{9E6389F9-EE6B-CF41-87B2-6FEC736C1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65" name="Oval 164">
              <a:extLst>
                <a:ext uri="{FF2B5EF4-FFF2-40B4-BE49-F238E27FC236}">
                  <a16:creationId xmlns:a16="http://schemas.microsoft.com/office/drawing/2014/main" id="{76CEA600-9F29-9443-ADED-51B00EDB37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66" name="Group 165">
              <a:extLst>
                <a:ext uri="{FF2B5EF4-FFF2-40B4-BE49-F238E27FC236}">
                  <a16:creationId xmlns:a16="http://schemas.microsoft.com/office/drawing/2014/main" id="{5E8A275D-4224-6C4E-8C9F-80FCD44EE50C}"/>
                </a:ext>
              </a:extLst>
            </p:cNvPr>
            <p:cNvGrpSpPr/>
            <p:nvPr/>
          </p:nvGrpSpPr>
          <p:grpSpPr>
            <a:xfrm>
              <a:off x="7713663" y="2848339"/>
              <a:ext cx="1042107" cy="425543"/>
              <a:chOff x="7786941" y="2884917"/>
              <a:chExt cx="897649" cy="353919"/>
            </a:xfrm>
          </p:grpSpPr>
          <p:sp>
            <p:nvSpPr>
              <p:cNvPr id="167" name="Freeform 166">
                <a:extLst>
                  <a:ext uri="{FF2B5EF4-FFF2-40B4-BE49-F238E27FC236}">
                    <a16:creationId xmlns:a16="http://schemas.microsoft.com/office/drawing/2014/main" id="{157952CE-D220-6342-A756-6FC7F0E68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8" name="Freeform 167">
                <a:extLst>
                  <a:ext uri="{FF2B5EF4-FFF2-40B4-BE49-F238E27FC236}">
                    <a16:creationId xmlns:a16="http://schemas.microsoft.com/office/drawing/2014/main" id="{F1725E00-636B-DF42-935F-85B23C81F9E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9" name="Freeform 168">
                <a:extLst>
                  <a:ext uri="{FF2B5EF4-FFF2-40B4-BE49-F238E27FC236}">
                    <a16:creationId xmlns:a16="http://schemas.microsoft.com/office/drawing/2014/main" id="{9F692ABC-0305-A843-A220-05CFCA15005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0" name="Freeform 169">
                <a:extLst>
                  <a:ext uri="{FF2B5EF4-FFF2-40B4-BE49-F238E27FC236}">
                    <a16:creationId xmlns:a16="http://schemas.microsoft.com/office/drawing/2014/main" id="{4119B6AB-B752-5F42-A59E-D0238D4845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1" name="Group 170">
            <a:extLst>
              <a:ext uri="{FF2B5EF4-FFF2-40B4-BE49-F238E27FC236}">
                <a16:creationId xmlns:a16="http://schemas.microsoft.com/office/drawing/2014/main" id="{02AC74F3-7F15-D34A-9BA0-F4EC124FA78B}"/>
              </a:ext>
            </a:extLst>
          </p:cNvPr>
          <p:cNvGrpSpPr/>
          <p:nvPr/>
        </p:nvGrpSpPr>
        <p:grpSpPr>
          <a:xfrm>
            <a:off x="10053866" y="2174871"/>
            <a:ext cx="353678" cy="198344"/>
            <a:chOff x="7493876" y="2774731"/>
            <a:chExt cx="1481958" cy="894622"/>
          </a:xfrm>
        </p:grpSpPr>
        <p:sp>
          <p:nvSpPr>
            <p:cNvPr id="172" name="Freeform 171">
              <a:extLst>
                <a:ext uri="{FF2B5EF4-FFF2-40B4-BE49-F238E27FC236}">
                  <a16:creationId xmlns:a16="http://schemas.microsoft.com/office/drawing/2014/main" id="{E16EDB01-D80B-594C-BC98-877D41E0F7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73" name="Oval 172">
              <a:extLst>
                <a:ext uri="{FF2B5EF4-FFF2-40B4-BE49-F238E27FC236}">
                  <a16:creationId xmlns:a16="http://schemas.microsoft.com/office/drawing/2014/main" id="{1036E018-AA0D-3B41-B308-80EC3DDB6E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74" name="Group 173">
              <a:extLst>
                <a:ext uri="{FF2B5EF4-FFF2-40B4-BE49-F238E27FC236}">
                  <a16:creationId xmlns:a16="http://schemas.microsoft.com/office/drawing/2014/main" id="{F792B572-4770-5640-96DE-FC5DD4403375}"/>
                </a:ext>
              </a:extLst>
            </p:cNvPr>
            <p:cNvGrpSpPr/>
            <p:nvPr/>
          </p:nvGrpSpPr>
          <p:grpSpPr>
            <a:xfrm>
              <a:off x="7713663" y="2848339"/>
              <a:ext cx="1042107" cy="425543"/>
              <a:chOff x="7786941" y="2884917"/>
              <a:chExt cx="897649" cy="353919"/>
            </a:xfrm>
          </p:grpSpPr>
          <p:sp>
            <p:nvSpPr>
              <p:cNvPr id="175" name="Freeform 174">
                <a:extLst>
                  <a:ext uri="{FF2B5EF4-FFF2-40B4-BE49-F238E27FC236}">
                    <a16:creationId xmlns:a16="http://schemas.microsoft.com/office/drawing/2014/main" id="{0359911B-E2D4-4540-9EDC-0B97BCDA15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6" name="Freeform 175">
                <a:extLst>
                  <a:ext uri="{FF2B5EF4-FFF2-40B4-BE49-F238E27FC236}">
                    <a16:creationId xmlns:a16="http://schemas.microsoft.com/office/drawing/2014/main" id="{0451C2A1-599A-4640-AE3E-2F1FEE23C45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7" name="Freeform 176">
                <a:extLst>
                  <a:ext uri="{FF2B5EF4-FFF2-40B4-BE49-F238E27FC236}">
                    <a16:creationId xmlns:a16="http://schemas.microsoft.com/office/drawing/2014/main" id="{A85EFAFD-85B1-A345-B4E1-4ECEBD8958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8" name="Freeform 177">
                <a:extLst>
                  <a:ext uri="{FF2B5EF4-FFF2-40B4-BE49-F238E27FC236}">
                    <a16:creationId xmlns:a16="http://schemas.microsoft.com/office/drawing/2014/main" id="{236EF265-EE83-4742-983C-B66B4F2847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9" name="Group 178">
            <a:extLst>
              <a:ext uri="{FF2B5EF4-FFF2-40B4-BE49-F238E27FC236}">
                <a16:creationId xmlns:a16="http://schemas.microsoft.com/office/drawing/2014/main" id="{2B5330E9-EDFF-0747-B627-EF53456A8B64}"/>
              </a:ext>
            </a:extLst>
          </p:cNvPr>
          <p:cNvGrpSpPr/>
          <p:nvPr/>
        </p:nvGrpSpPr>
        <p:grpSpPr>
          <a:xfrm>
            <a:off x="9570878" y="2907338"/>
            <a:ext cx="367224" cy="240304"/>
            <a:chOff x="7493876" y="2774731"/>
            <a:chExt cx="1481958" cy="894622"/>
          </a:xfrm>
        </p:grpSpPr>
        <p:sp>
          <p:nvSpPr>
            <p:cNvPr id="180" name="Freeform 179">
              <a:extLst>
                <a:ext uri="{FF2B5EF4-FFF2-40B4-BE49-F238E27FC236}">
                  <a16:creationId xmlns:a16="http://schemas.microsoft.com/office/drawing/2014/main" id="{30F39B79-3124-AD4C-8764-BACF029254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1" name="Oval 180">
              <a:extLst>
                <a:ext uri="{FF2B5EF4-FFF2-40B4-BE49-F238E27FC236}">
                  <a16:creationId xmlns:a16="http://schemas.microsoft.com/office/drawing/2014/main" id="{6D3A5C65-5135-3E43-BC9C-26B221D2BD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2" name="Group 181">
              <a:extLst>
                <a:ext uri="{FF2B5EF4-FFF2-40B4-BE49-F238E27FC236}">
                  <a16:creationId xmlns:a16="http://schemas.microsoft.com/office/drawing/2014/main" id="{D5A79E7B-CEC1-8147-A15D-D64398288088}"/>
                </a:ext>
              </a:extLst>
            </p:cNvPr>
            <p:cNvGrpSpPr/>
            <p:nvPr/>
          </p:nvGrpSpPr>
          <p:grpSpPr>
            <a:xfrm>
              <a:off x="7713663" y="2848339"/>
              <a:ext cx="1042107" cy="425543"/>
              <a:chOff x="7786941" y="2884917"/>
              <a:chExt cx="897649" cy="353919"/>
            </a:xfrm>
          </p:grpSpPr>
          <p:sp>
            <p:nvSpPr>
              <p:cNvPr id="183" name="Freeform 182">
                <a:extLst>
                  <a:ext uri="{FF2B5EF4-FFF2-40B4-BE49-F238E27FC236}">
                    <a16:creationId xmlns:a16="http://schemas.microsoft.com/office/drawing/2014/main" id="{2BD3E2AF-CDD9-9246-84EF-6B3C998B708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4" name="Freeform 183">
                <a:extLst>
                  <a:ext uri="{FF2B5EF4-FFF2-40B4-BE49-F238E27FC236}">
                    <a16:creationId xmlns:a16="http://schemas.microsoft.com/office/drawing/2014/main" id="{F3B7C4EC-0B9B-9C4B-8DCA-B05AB189E23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5" name="Freeform 184">
                <a:extLst>
                  <a:ext uri="{FF2B5EF4-FFF2-40B4-BE49-F238E27FC236}">
                    <a16:creationId xmlns:a16="http://schemas.microsoft.com/office/drawing/2014/main" id="{C76B3FF2-DB28-5345-9F37-DA5FB92C60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6" name="Freeform 185">
                <a:extLst>
                  <a:ext uri="{FF2B5EF4-FFF2-40B4-BE49-F238E27FC236}">
                    <a16:creationId xmlns:a16="http://schemas.microsoft.com/office/drawing/2014/main" id="{ABE65594-F638-E64C-8962-1496FE7877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87" name="Group 186">
            <a:extLst>
              <a:ext uri="{FF2B5EF4-FFF2-40B4-BE49-F238E27FC236}">
                <a16:creationId xmlns:a16="http://schemas.microsoft.com/office/drawing/2014/main" id="{00B62598-D40E-DA41-9BA7-786371172FE5}"/>
              </a:ext>
            </a:extLst>
          </p:cNvPr>
          <p:cNvGrpSpPr/>
          <p:nvPr/>
        </p:nvGrpSpPr>
        <p:grpSpPr>
          <a:xfrm>
            <a:off x="10448999" y="3505631"/>
            <a:ext cx="353678" cy="198344"/>
            <a:chOff x="7493876" y="2774731"/>
            <a:chExt cx="1481958" cy="894622"/>
          </a:xfrm>
        </p:grpSpPr>
        <p:sp>
          <p:nvSpPr>
            <p:cNvPr id="188" name="Freeform 187">
              <a:extLst>
                <a:ext uri="{FF2B5EF4-FFF2-40B4-BE49-F238E27FC236}">
                  <a16:creationId xmlns:a16="http://schemas.microsoft.com/office/drawing/2014/main" id="{6021AAD8-BCF9-7A4A-9F26-42F18CC934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9" name="Oval 188">
              <a:extLst>
                <a:ext uri="{FF2B5EF4-FFF2-40B4-BE49-F238E27FC236}">
                  <a16:creationId xmlns:a16="http://schemas.microsoft.com/office/drawing/2014/main" id="{8F43CCF6-ACD4-5147-B888-B61AD42957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90" name="Group 189">
              <a:extLst>
                <a:ext uri="{FF2B5EF4-FFF2-40B4-BE49-F238E27FC236}">
                  <a16:creationId xmlns:a16="http://schemas.microsoft.com/office/drawing/2014/main" id="{21651EE2-1E07-B94C-ACE2-BD7C4F4DA18F}"/>
                </a:ext>
              </a:extLst>
            </p:cNvPr>
            <p:cNvGrpSpPr/>
            <p:nvPr/>
          </p:nvGrpSpPr>
          <p:grpSpPr>
            <a:xfrm>
              <a:off x="7713663" y="2848339"/>
              <a:ext cx="1042107" cy="425543"/>
              <a:chOff x="7786941" y="2884917"/>
              <a:chExt cx="897649" cy="353919"/>
            </a:xfrm>
          </p:grpSpPr>
          <p:sp>
            <p:nvSpPr>
              <p:cNvPr id="191" name="Freeform 190">
                <a:extLst>
                  <a:ext uri="{FF2B5EF4-FFF2-40B4-BE49-F238E27FC236}">
                    <a16:creationId xmlns:a16="http://schemas.microsoft.com/office/drawing/2014/main" id="{A13A50ED-8A30-144A-9FCA-F6AF66BAB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2" name="Freeform 191">
                <a:extLst>
                  <a:ext uri="{FF2B5EF4-FFF2-40B4-BE49-F238E27FC236}">
                    <a16:creationId xmlns:a16="http://schemas.microsoft.com/office/drawing/2014/main" id="{EFDF9400-03D5-6C49-A330-85A392376C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3" name="Freeform 192">
                <a:extLst>
                  <a:ext uri="{FF2B5EF4-FFF2-40B4-BE49-F238E27FC236}">
                    <a16:creationId xmlns:a16="http://schemas.microsoft.com/office/drawing/2014/main" id="{F8DAD1FD-BE68-2948-B3F0-3E991157150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4" name="Freeform 193">
                <a:extLst>
                  <a:ext uri="{FF2B5EF4-FFF2-40B4-BE49-F238E27FC236}">
                    <a16:creationId xmlns:a16="http://schemas.microsoft.com/office/drawing/2014/main" id="{518751B6-2900-7045-AAFF-75CBB79B60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95" name="Group 194">
            <a:extLst>
              <a:ext uri="{FF2B5EF4-FFF2-40B4-BE49-F238E27FC236}">
                <a16:creationId xmlns:a16="http://schemas.microsoft.com/office/drawing/2014/main" id="{2AEAE14E-5721-E24F-A796-AF18CA4785D5}"/>
              </a:ext>
            </a:extLst>
          </p:cNvPr>
          <p:cNvGrpSpPr/>
          <p:nvPr/>
        </p:nvGrpSpPr>
        <p:grpSpPr>
          <a:xfrm>
            <a:off x="10999722" y="3882431"/>
            <a:ext cx="228295" cy="120400"/>
            <a:chOff x="7493876" y="2774731"/>
            <a:chExt cx="1481958" cy="894622"/>
          </a:xfrm>
        </p:grpSpPr>
        <p:sp>
          <p:nvSpPr>
            <p:cNvPr id="196" name="Freeform 195">
              <a:extLst>
                <a:ext uri="{FF2B5EF4-FFF2-40B4-BE49-F238E27FC236}">
                  <a16:creationId xmlns:a16="http://schemas.microsoft.com/office/drawing/2014/main" id="{CAA55824-11B1-CA4B-8903-9B33C1A7C2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97" name="Oval 196">
              <a:extLst>
                <a:ext uri="{FF2B5EF4-FFF2-40B4-BE49-F238E27FC236}">
                  <a16:creationId xmlns:a16="http://schemas.microsoft.com/office/drawing/2014/main" id="{35F1BF45-FD77-9C4F-8E5D-A169B6235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98" name="Group 197">
              <a:extLst>
                <a:ext uri="{FF2B5EF4-FFF2-40B4-BE49-F238E27FC236}">
                  <a16:creationId xmlns:a16="http://schemas.microsoft.com/office/drawing/2014/main" id="{CDC55E1F-BD25-644E-9AB3-7B5B06FF0206}"/>
                </a:ext>
              </a:extLst>
            </p:cNvPr>
            <p:cNvGrpSpPr/>
            <p:nvPr/>
          </p:nvGrpSpPr>
          <p:grpSpPr>
            <a:xfrm>
              <a:off x="7713663" y="2848339"/>
              <a:ext cx="1042107" cy="425543"/>
              <a:chOff x="7786941" y="2884917"/>
              <a:chExt cx="897649" cy="353919"/>
            </a:xfrm>
          </p:grpSpPr>
          <p:sp>
            <p:nvSpPr>
              <p:cNvPr id="199" name="Freeform 198">
                <a:extLst>
                  <a:ext uri="{FF2B5EF4-FFF2-40B4-BE49-F238E27FC236}">
                    <a16:creationId xmlns:a16="http://schemas.microsoft.com/office/drawing/2014/main" id="{9BF3F54D-9319-774D-BA3B-607814A7F83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0" name="Freeform 199">
                <a:extLst>
                  <a:ext uri="{FF2B5EF4-FFF2-40B4-BE49-F238E27FC236}">
                    <a16:creationId xmlns:a16="http://schemas.microsoft.com/office/drawing/2014/main" id="{4A4416B5-2DDC-4445-805F-E643A06EA1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1" name="Freeform 200">
                <a:extLst>
                  <a:ext uri="{FF2B5EF4-FFF2-40B4-BE49-F238E27FC236}">
                    <a16:creationId xmlns:a16="http://schemas.microsoft.com/office/drawing/2014/main" id="{578E2B14-D4B8-2F48-8C26-3403D3443A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2" name="Freeform 201">
                <a:extLst>
                  <a:ext uri="{FF2B5EF4-FFF2-40B4-BE49-F238E27FC236}">
                    <a16:creationId xmlns:a16="http://schemas.microsoft.com/office/drawing/2014/main" id="{19A4FCB0-5196-9544-9A9C-65D60E598CF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03" name="Group 202">
            <a:extLst>
              <a:ext uri="{FF2B5EF4-FFF2-40B4-BE49-F238E27FC236}">
                <a16:creationId xmlns:a16="http://schemas.microsoft.com/office/drawing/2014/main" id="{F66312FF-6592-084B-9F5B-06957DADD349}"/>
              </a:ext>
            </a:extLst>
          </p:cNvPr>
          <p:cNvGrpSpPr/>
          <p:nvPr/>
        </p:nvGrpSpPr>
        <p:grpSpPr>
          <a:xfrm>
            <a:off x="7512814" y="1869919"/>
            <a:ext cx="534987" cy="407988"/>
            <a:chOff x="7432700" y="2327293"/>
            <a:chExt cx="534987" cy="407988"/>
          </a:xfrm>
        </p:grpSpPr>
        <p:pic>
          <p:nvPicPr>
            <p:cNvPr id="204" name="Picture 1017" descr="antenna_stylized">
              <a:extLst>
                <a:ext uri="{FF2B5EF4-FFF2-40B4-BE49-F238E27FC236}">
                  <a16:creationId xmlns:a16="http://schemas.microsoft.com/office/drawing/2014/main" id="{0D4A2309-AAED-2C48-A418-D03CB0001F8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1018" descr="laptop_keyboard">
              <a:extLst>
                <a:ext uri="{FF2B5EF4-FFF2-40B4-BE49-F238E27FC236}">
                  <a16:creationId xmlns:a16="http://schemas.microsoft.com/office/drawing/2014/main" id="{46CD79A2-426F-8F45-92D1-0968B698AC9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19">
              <a:extLst>
                <a:ext uri="{FF2B5EF4-FFF2-40B4-BE49-F238E27FC236}">
                  <a16:creationId xmlns:a16="http://schemas.microsoft.com/office/drawing/2014/main" id="{35B7582C-3157-594E-9B4D-8B43466950E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207" name="Picture 1020" descr="screen">
              <a:extLst>
                <a:ext uri="{FF2B5EF4-FFF2-40B4-BE49-F238E27FC236}">
                  <a16:creationId xmlns:a16="http://schemas.microsoft.com/office/drawing/2014/main" id="{70049DA6-6492-2A45-AD5C-2D64A84365B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 name="Freeform 1021">
              <a:extLst>
                <a:ext uri="{FF2B5EF4-FFF2-40B4-BE49-F238E27FC236}">
                  <a16:creationId xmlns:a16="http://schemas.microsoft.com/office/drawing/2014/main" id="{3B28293C-D483-A943-9B11-E29DBBA5B9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09" name="Freeform 1022">
              <a:extLst>
                <a:ext uri="{FF2B5EF4-FFF2-40B4-BE49-F238E27FC236}">
                  <a16:creationId xmlns:a16="http://schemas.microsoft.com/office/drawing/2014/main" id="{861B393C-154B-8D45-8CF1-3817B8627E7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0" name="Freeform 1023">
              <a:extLst>
                <a:ext uri="{FF2B5EF4-FFF2-40B4-BE49-F238E27FC236}">
                  <a16:creationId xmlns:a16="http://schemas.microsoft.com/office/drawing/2014/main" id="{0B63C9C2-674C-D944-8A4D-2C82246561ED}"/>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1" name="Freeform 1024">
              <a:extLst>
                <a:ext uri="{FF2B5EF4-FFF2-40B4-BE49-F238E27FC236}">
                  <a16:creationId xmlns:a16="http://schemas.microsoft.com/office/drawing/2014/main" id="{A2F9EB18-B241-7741-A387-8AD6E2A5FF6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2" name="Freeform 1025">
              <a:extLst>
                <a:ext uri="{FF2B5EF4-FFF2-40B4-BE49-F238E27FC236}">
                  <a16:creationId xmlns:a16="http://schemas.microsoft.com/office/drawing/2014/main" id="{A5AFAB36-089A-F246-ADED-53137F1702D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3" name="Freeform 1026">
              <a:extLst>
                <a:ext uri="{FF2B5EF4-FFF2-40B4-BE49-F238E27FC236}">
                  <a16:creationId xmlns:a16="http://schemas.microsoft.com/office/drawing/2014/main" id="{FF109530-217D-9D4E-81DB-6B3046B18EF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214" name="Group 1027">
              <a:extLst>
                <a:ext uri="{FF2B5EF4-FFF2-40B4-BE49-F238E27FC236}">
                  <a16:creationId xmlns:a16="http://schemas.microsoft.com/office/drawing/2014/main" id="{B4933AB6-F567-0B4F-98D5-E7B82E998AEA}"/>
                </a:ext>
              </a:extLst>
            </p:cNvPr>
            <p:cNvGrpSpPr>
              <a:grpSpLocks/>
            </p:cNvGrpSpPr>
            <p:nvPr/>
          </p:nvGrpSpPr>
          <p:grpSpPr bwMode="auto">
            <a:xfrm>
              <a:off x="7594735" y="2642220"/>
              <a:ext cx="98740" cy="36846"/>
              <a:chOff x="1740" y="2642"/>
              <a:chExt cx="752" cy="327"/>
            </a:xfrm>
          </p:grpSpPr>
          <p:sp>
            <p:nvSpPr>
              <p:cNvPr id="221" name="Freeform 1028">
                <a:extLst>
                  <a:ext uri="{FF2B5EF4-FFF2-40B4-BE49-F238E27FC236}">
                    <a16:creationId xmlns:a16="http://schemas.microsoft.com/office/drawing/2014/main" id="{FEB5A1CA-C662-AC42-906E-42FEA801029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2" name="Freeform 1029">
                <a:extLst>
                  <a:ext uri="{FF2B5EF4-FFF2-40B4-BE49-F238E27FC236}">
                    <a16:creationId xmlns:a16="http://schemas.microsoft.com/office/drawing/2014/main" id="{F73B18BC-3775-124A-ABC7-7178BA6868D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3" name="Freeform 1030">
                <a:extLst>
                  <a:ext uri="{FF2B5EF4-FFF2-40B4-BE49-F238E27FC236}">
                    <a16:creationId xmlns:a16="http://schemas.microsoft.com/office/drawing/2014/main" id="{B0CC40EF-A30F-FB4A-A013-445912460EB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4" name="Freeform 1031">
                <a:extLst>
                  <a:ext uri="{FF2B5EF4-FFF2-40B4-BE49-F238E27FC236}">
                    <a16:creationId xmlns:a16="http://schemas.microsoft.com/office/drawing/2014/main" id="{695C34A3-04D7-8544-8C39-0FBEB205F30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5" name="Freeform 1032">
                <a:extLst>
                  <a:ext uri="{FF2B5EF4-FFF2-40B4-BE49-F238E27FC236}">
                    <a16:creationId xmlns:a16="http://schemas.microsoft.com/office/drawing/2014/main" id="{83AE7D29-720B-854B-B4F9-BC9FBE8B89F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6" name="Freeform 1033">
                <a:extLst>
                  <a:ext uri="{FF2B5EF4-FFF2-40B4-BE49-F238E27FC236}">
                    <a16:creationId xmlns:a16="http://schemas.microsoft.com/office/drawing/2014/main" id="{404B1EF4-0053-644A-AAF0-66FB16735A4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215" name="Freeform 1034">
              <a:extLst>
                <a:ext uri="{FF2B5EF4-FFF2-40B4-BE49-F238E27FC236}">
                  <a16:creationId xmlns:a16="http://schemas.microsoft.com/office/drawing/2014/main" id="{7F7F78D2-EE09-EF4B-BE89-EC511B47A1DB}"/>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6" name="Freeform 1035">
              <a:extLst>
                <a:ext uri="{FF2B5EF4-FFF2-40B4-BE49-F238E27FC236}">
                  <a16:creationId xmlns:a16="http://schemas.microsoft.com/office/drawing/2014/main" id="{6ED22B39-55F8-254F-B260-10B9358A159C}"/>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7" name="Freeform 1036">
              <a:extLst>
                <a:ext uri="{FF2B5EF4-FFF2-40B4-BE49-F238E27FC236}">
                  <a16:creationId xmlns:a16="http://schemas.microsoft.com/office/drawing/2014/main" id="{519FDAB7-8F2B-D540-87B8-EBC39983723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8" name="Freeform 1037">
              <a:extLst>
                <a:ext uri="{FF2B5EF4-FFF2-40B4-BE49-F238E27FC236}">
                  <a16:creationId xmlns:a16="http://schemas.microsoft.com/office/drawing/2014/main" id="{0FDDEC0B-D787-B543-B9C8-713981CB2B8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9" name="Freeform 1038">
              <a:extLst>
                <a:ext uri="{FF2B5EF4-FFF2-40B4-BE49-F238E27FC236}">
                  <a16:creationId xmlns:a16="http://schemas.microsoft.com/office/drawing/2014/main" id="{9ED25421-8538-254C-93C7-149B971AD72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0" name="Freeform 1039">
              <a:extLst>
                <a:ext uri="{FF2B5EF4-FFF2-40B4-BE49-F238E27FC236}">
                  <a16:creationId xmlns:a16="http://schemas.microsoft.com/office/drawing/2014/main" id="{539798D0-719C-DD47-AE49-D9B557B94FC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grpSp>
        <p:nvGrpSpPr>
          <p:cNvPr id="227" name="Group 226">
            <a:extLst>
              <a:ext uri="{FF2B5EF4-FFF2-40B4-BE49-F238E27FC236}">
                <a16:creationId xmlns:a16="http://schemas.microsoft.com/office/drawing/2014/main" id="{C9E92DFA-701B-E444-963E-738F29287753}"/>
              </a:ext>
            </a:extLst>
          </p:cNvPr>
          <p:cNvGrpSpPr/>
          <p:nvPr/>
        </p:nvGrpSpPr>
        <p:grpSpPr>
          <a:xfrm>
            <a:off x="8711521" y="1833033"/>
            <a:ext cx="530702" cy="478009"/>
            <a:chOff x="8631407" y="2290407"/>
            <a:chExt cx="530702" cy="478009"/>
          </a:xfrm>
        </p:grpSpPr>
        <p:pic>
          <p:nvPicPr>
            <p:cNvPr id="228" name="Picture 568" descr="light2.png">
              <a:extLst>
                <a:ext uri="{FF2B5EF4-FFF2-40B4-BE49-F238E27FC236}">
                  <a16:creationId xmlns:a16="http://schemas.microsoft.com/office/drawing/2014/main" id="{FC493893-8A11-354F-BABD-C11607E82D0F}"/>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1017" descr="antenna_stylized">
              <a:extLst>
                <a:ext uri="{FF2B5EF4-FFF2-40B4-BE49-F238E27FC236}">
                  <a16:creationId xmlns:a16="http://schemas.microsoft.com/office/drawing/2014/main" id="{58F4A529-12FB-E644-9930-FD20F449E67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0" name="Group 229">
            <a:extLst>
              <a:ext uri="{FF2B5EF4-FFF2-40B4-BE49-F238E27FC236}">
                <a16:creationId xmlns:a16="http://schemas.microsoft.com/office/drawing/2014/main" id="{69382BE4-EA07-E549-B2F9-9FD19BF88E60}"/>
              </a:ext>
            </a:extLst>
          </p:cNvPr>
          <p:cNvGrpSpPr/>
          <p:nvPr/>
        </p:nvGrpSpPr>
        <p:grpSpPr>
          <a:xfrm>
            <a:off x="8573279" y="1572430"/>
            <a:ext cx="849312" cy="226109"/>
            <a:chOff x="8493165" y="2029804"/>
            <a:chExt cx="849312" cy="226109"/>
          </a:xfrm>
        </p:grpSpPr>
        <p:pic>
          <p:nvPicPr>
            <p:cNvPr id="231" name="Picture 603" descr="car_icon_small">
              <a:extLst>
                <a:ext uri="{FF2B5EF4-FFF2-40B4-BE49-F238E27FC236}">
                  <a16:creationId xmlns:a16="http://schemas.microsoft.com/office/drawing/2014/main" id="{3367712F-9E5F-1447-9EEE-B0A9252E5B3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1017" descr="antenna_stylized">
              <a:extLst>
                <a:ext uri="{FF2B5EF4-FFF2-40B4-BE49-F238E27FC236}">
                  <a16:creationId xmlns:a16="http://schemas.microsoft.com/office/drawing/2014/main" id="{7BB610B1-0C85-3845-80DE-4F600834EEB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3" name="Group 232">
            <a:extLst>
              <a:ext uri="{FF2B5EF4-FFF2-40B4-BE49-F238E27FC236}">
                <a16:creationId xmlns:a16="http://schemas.microsoft.com/office/drawing/2014/main" id="{3338FA73-5831-8048-9F9F-83E195D5716B}"/>
              </a:ext>
            </a:extLst>
          </p:cNvPr>
          <p:cNvGrpSpPr/>
          <p:nvPr/>
        </p:nvGrpSpPr>
        <p:grpSpPr>
          <a:xfrm>
            <a:off x="7567258" y="2838730"/>
            <a:ext cx="857739" cy="583764"/>
            <a:chOff x="7487144" y="3296104"/>
            <a:chExt cx="857739" cy="583764"/>
          </a:xfrm>
        </p:grpSpPr>
        <p:grpSp>
          <p:nvGrpSpPr>
            <p:cNvPr id="234" name="Group 233">
              <a:extLst>
                <a:ext uri="{FF2B5EF4-FFF2-40B4-BE49-F238E27FC236}">
                  <a16:creationId xmlns:a16="http://schemas.microsoft.com/office/drawing/2014/main" id="{4D04C3AF-A6A0-3543-9CEC-C36594B3C98A}"/>
                </a:ext>
              </a:extLst>
            </p:cNvPr>
            <p:cNvGrpSpPr/>
            <p:nvPr/>
          </p:nvGrpSpPr>
          <p:grpSpPr>
            <a:xfrm>
              <a:off x="7487144" y="3389820"/>
              <a:ext cx="350807" cy="305517"/>
              <a:chOff x="7487144" y="3389820"/>
              <a:chExt cx="350807" cy="305517"/>
            </a:xfrm>
          </p:grpSpPr>
          <p:pic>
            <p:nvPicPr>
              <p:cNvPr id="241" name="Picture 1115" descr="antenna_stylized">
                <a:extLst>
                  <a:ext uri="{FF2B5EF4-FFF2-40B4-BE49-F238E27FC236}">
                    <a16:creationId xmlns:a16="http://schemas.microsoft.com/office/drawing/2014/main" id="{3A4BE67F-53F2-2249-9275-9C6A0F0AB0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1116" descr="laptop_keyboard">
                <a:extLst>
                  <a:ext uri="{FF2B5EF4-FFF2-40B4-BE49-F238E27FC236}">
                    <a16:creationId xmlns:a16="http://schemas.microsoft.com/office/drawing/2014/main" id="{3032FEAB-62CC-D44F-B823-94A6C314666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7">
                <a:extLst>
                  <a:ext uri="{FF2B5EF4-FFF2-40B4-BE49-F238E27FC236}">
                    <a16:creationId xmlns:a16="http://schemas.microsoft.com/office/drawing/2014/main" id="{FE755B2B-D563-7C44-97D1-A76981535F31}"/>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244" name="Picture 1118" descr="screen">
                <a:extLst>
                  <a:ext uri="{FF2B5EF4-FFF2-40B4-BE49-F238E27FC236}">
                    <a16:creationId xmlns:a16="http://schemas.microsoft.com/office/drawing/2014/main" id="{051B193A-BCF4-3E49-9934-81C4B74B1F45}"/>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1119">
                <a:extLst>
                  <a:ext uri="{FF2B5EF4-FFF2-40B4-BE49-F238E27FC236}">
                    <a16:creationId xmlns:a16="http://schemas.microsoft.com/office/drawing/2014/main" id="{818E62C1-0069-EA49-9CF8-45B2D1232F2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6" name="Freeform 1120">
                <a:extLst>
                  <a:ext uri="{FF2B5EF4-FFF2-40B4-BE49-F238E27FC236}">
                    <a16:creationId xmlns:a16="http://schemas.microsoft.com/office/drawing/2014/main" id="{84CA5961-4DB4-0D43-B026-C4E984CBEFF8}"/>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7" name="Freeform 1121">
                <a:extLst>
                  <a:ext uri="{FF2B5EF4-FFF2-40B4-BE49-F238E27FC236}">
                    <a16:creationId xmlns:a16="http://schemas.microsoft.com/office/drawing/2014/main" id="{E5A969C6-2875-2548-A4E6-D224F70A9F31}"/>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8" name="Freeform 1122">
                <a:extLst>
                  <a:ext uri="{FF2B5EF4-FFF2-40B4-BE49-F238E27FC236}">
                    <a16:creationId xmlns:a16="http://schemas.microsoft.com/office/drawing/2014/main" id="{8BC05D01-8EEF-1A49-B84C-FB100CCF5F5C}"/>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9" name="Freeform 1123">
                <a:extLst>
                  <a:ext uri="{FF2B5EF4-FFF2-40B4-BE49-F238E27FC236}">
                    <a16:creationId xmlns:a16="http://schemas.microsoft.com/office/drawing/2014/main" id="{C6EECD85-C1CC-2844-A1D5-17790C2760D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0" name="Freeform 1124">
                <a:extLst>
                  <a:ext uri="{FF2B5EF4-FFF2-40B4-BE49-F238E27FC236}">
                    <a16:creationId xmlns:a16="http://schemas.microsoft.com/office/drawing/2014/main" id="{F6382FF0-3401-074E-B47F-7092DF234BB4}"/>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251" name="Group 1125">
                <a:extLst>
                  <a:ext uri="{FF2B5EF4-FFF2-40B4-BE49-F238E27FC236}">
                    <a16:creationId xmlns:a16="http://schemas.microsoft.com/office/drawing/2014/main" id="{E6D4326D-E697-EA48-8350-111934936044}"/>
                  </a:ext>
                </a:extLst>
              </p:cNvPr>
              <p:cNvGrpSpPr>
                <a:grpSpLocks/>
              </p:cNvGrpSpPr>
              <p:nvPr/>
            </p:nvGrpSpPr>
            <p:grpSpPr bwMode="auto">
              <a:xfrm>
                <a:off x="7593395" y="3625649"/>
                <a:ext cx="64747" cy="27592"/>
                <a:chOff x="1740" y="2642"/>
                <a:chExt cx="752" cy="327"/>
              </a:xfrm>
            </p:grpSpPr>
            <p:sp>
              <p:nvSpPr>
                <p:cNvPr id="258" name="Freeform 1126">
                  <a:extLst>
                    <a:ext uri="{FF2B5EF4-FFF2-40B4-BE49-F238E27FC236}">
                      <a16:creationId xmlns:a16="http://schemas.microsoft.com/office/drawing/2014/main" id="{CEA1DD05-B803-9149-AF2B-DB014532078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9" name="Freeform 1127">
                  <a:extLst>
                    <a:ext uri="{FF2B5EF4-FFF2-40B4-BE49-F238E27FC236}">
                      <a16:creationId xmlns:a16="http://schemas.microsoft.com/office/drawing/2014/main" id="{F8B395FE-C4ED-884D-BFD7-F2220E45606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0" name="Freeform 1128">
                  <a:extLst>
                    <a:ext uri="{FF2B5EF4-FFF2-40B4-BE49-F238E27FC236}">
                      <a16:creationId xmlns:a16="http://schemas.microsoft.com/office/drawing/2014/main" id="{9FD2580F-A3F6-F947-9B0C-25EC879AFC9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1" name="Freeform 1129">
                  <a:extLst>
                    <a:ext uri="{FF2B5EF4-FFF2-40B4-BE49-F238E27FC236}">
                      <a16:creationId xmlns:a16="http://schemas.microsoft.com/office/drawing/2014/main" id="{46294FED-2DBE-0B42-9E0D-59575DF518B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2" name="Freeform 1130">
                  <a:extLst>
                    <a:ext uri="{FF2B5EF4-FFF2-40B4-BE49-F238E27FC236}">
                      <a16:creationId xmlns:a16="http://schemas.microsoft.com/office/drawing/2014/main" id="{B4090839-1A64-1D44-AC50-B3691212F29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3" name="Freeform 1131">
                  <a:extLst>
                    <a:ext uri="{FF2B5EF4-FFF2-40B4-BE49-F238E27FC236}">
                      <a16:creationId xmlns:a16="http://schemas.microsoft.com/office/drawing/2014/main" id="{3075A43B-D07B-0840-9FBC-ED066A735E7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252" name="Freeform 1132">
                <a:extLst>
                  <a:ext uri="{FF2B5EF4-FFF2-40B4-BE49-F238E27FC236}">
                    <a16:creationId xmlns:a16="http://schemas.microsoft.com/office/drawing/2014/main" id="{02E935B0-131B-B748-90DC-BF9EAF226BC4}"/>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3" name="Freeform 1133">
                <a:extLst>
                  <a:ext uri="{FF2B5EF4-FFF2-40B4-BE49-F238E27FC236}">
                    <a16:creationId xmlns:a16="http://schemas.microsoft.com/office/drawing/2014/main" id="{1E123A3E-CC3F-5C47-B1F2-2171D77F69E0}"/>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4" name="Freeform 1134">
                <a:extLst>
                  <a:ext uri="{FF2B5EF4-FFF2-40B4-BE49-F238E27FC236}">
                    <a16:creationId xmlns:a16="http://schemas.microsoft.com/office/drawing/2014/main" id="{AECD52AE-3551-654E-880E-D3640BE646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5" name="Freeform 1135">
                <a:extLst>
                  <a:ext uri="{FF2B5EF4-FFF2-40B4-BE49-F238E27FC236}">
                    <a16:creationId xmlns:a16="http://schemas.microsoft.com/office/drawing/2014/main" id="{512F9E97-47EA-8542-92DD-7DE8CE7E8DD3}"/>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6" name="Freeform 1136">
                <a:extLst>
                  <a:ext uri="{FF2B5EF4-FFF2-40B4-BE49-F238E27FC236}">
                    <a16:creationId xmlns:a16="http://schemas.microsoft.com/office/drawing/2014/main" id="{A1F34E8B-7018-7048-B4A5-23A7F6E4F617}"/>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7" name="Freeform 1137">
                <a:extLst>
                  <a:ext uri="{FF2B5EF4-FFF2-40B4-BE49-F238E27FC236}">
                    <a16:creationId xmlns:a16="http://schemas.microsoft.com/office/drawing/2014/main" id="{6D462AFA-A931-3147-A9B9-EF6BBBA6F28F}"/>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grpSp>
          <p:nvGrpSpPr>
            <p:cNvPr id="235" name="Group 1139">
              <a:extLst>
                <a:ext uri="{FF2B5EF4-FFF2-40B4-BE49-F238E27FC236}">
                  <a16:creationId xmlns:a16="http://schemas.microsoft.com/office/drawing/2014/main" id="{A492659A-25BB-7D42-8237-FFD058C1C230}"/>
                </a:ext>
              </a:extLst>
            </p:cNvPr>
            <p:cNvGrpSpPr>
              <a:grpSpLocks/>
            </p:cNvGrpSpPr>
            <p:nvPr/>
          </p:nvGrpSpPr>
          <p:grpSpPr bwMode="auto">
            <a:xfrm flipH="1">
              <a:off x="7985622" y="3537823"/>
              <a:ext cx="359261" cy="342045"/>
              <a:chOff x="2839" y="3501"/>
              <a:chExt cx="755" cy="803"/>
            </a:xfrm>
          </p:grpSpPr>
          <p:pic>
            <p:nvPicPr>
              <p:cNvPr id="239" name="Picture 1140" descr="desktop_computer_stylized_medium">
                <a:extLst>
                  <a:ext uri="{FF2B5EF4-FFF2-40B4-BE49-F238E27FC236}">
                    <a16:creationId xmlns:a16="http://schemas.microsoft.com/office/drawing/2014/main" id="{C3134BA7-C49F-3D41-A8CD-0BF47D59120E}"/>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0" name="Freeform 1141">
                <a:extLst>
                  <a:ext uri="{FF2B5EF4-FFF2-40B4-BE49-F238E27FC236}">
                    <a16:creationId xmlns:a16="http://schemas.microsoft.com/office/drawing/2014/main" id="{0EE3BC06-EEFD-BE47-9337-BCCD121AA74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236" name="Group 235">
              <a:extLst>
                <a:ext uri="{FF2B5EF4-FFF2-40B4-BE49-F238E27FC236}">
                  <a16:creationId xmlns:a16="http://schemas.microsoft.com/office/drawing/2014/main" id="{6E129665-47CD-9244-84D3-9833306DF6CF}"/>
                </a:ext>
              </a:extLst>
            </p:cNvPr>
            <p:cNvGrpSpPr/>
            <p:nvPr/>
          </p:nvGrpSpPr>
          <p:grpSpPr>
            <a:xfrm>
              <a:off x="7797061" y="3296104"/>
              <a:ext cx="347997" cy="396620"/>
              <a:chOff x="7797061" y="3296104"/>
              <a:chExt cx="347997" cy="396620"/>
            </a:xfrm>
          </p:grpSpPr>
          <p:pic>
            <p:nvPicPr>
              <p:cNvPr id="237" name="Picture 571" descr="fridge2.png">
                <a:extLst>
                  <a:ext uri="{FF2B5EF4-FFF2-40B4-BE49-F238E27FC236}">
                    <a16:creationId xmlns:a16="http://schemas.microsoft.com/office/drawing/2014/main" id="{D6D74BC7-4624-6B47-8BE9-FC2448DEB7A3}"/>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1115" descr="antenna_stylized">
                <a:extLst>
                  <a:ext uri="{FF2B5EF4-FFF2-40B4-BE49-F238E27FC236}">
                    <a16:creationId xmlns:a16="http://schemas.microsoft.com/office/drawing/2014/main" id="{A2DE5E73-D910-E245-A581-C8152428D7A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4" name="Group 263">
            <a:extLst>
              <a:ext uri="{FF2B5EF4-FFF2-40B4-BE49-F238E27FC236}">
                <a16:creationId xmlns:a16="http://schemas.microsoft.com/office/drawing/2014/main" id="{0A5A480A-A0E9-5B46-8B42-A17922C793B1}"/>
              </a:ext>
            </a:extLst>
          </p:cNvPr>
          <p:cNvGrpSpPr/>
          <p:nvPr/>
        </p:nvGrpSpPr>
        <p:grpSpPr>
          <a:xfrm>
            <a:off x="11138687" y="2941791"/>
            <a:ext cx="518448" cy="1212242"/>
            <a:chOff x="11058573" y="3399165"/>
            <a:chExt cx="518448" cy="1212242"/>
          </a:xfrm>
        </p:grpSpPr>
        <p:grpSp>
          <p:nvGrpSpPr>
            <p:cNvPr id="265" name="Group 264">
              <a:extLst>
                <a:ext uri="{FF2B5EF4-FFF2-40B4-BE49-F238E27FC236}">
                  <a16:creationId xmlns:a16="http://schemas.microsoft.com/office/drawing/2014/main" id="{73C84718-FB33-ED42-88DF-0B1F15F2FD51}"/>
                </a:ext>
              </a:extLst>
            </p:cNvPr>
            <p:cNvGrpSpPr/>
            <p:nvPr/>
          </p:nvGrpSpPr>
          <p:grpSpPr>
            <a:xfrm>
              <a:off x="11087182" y="4159591"/>
              <a:ext cx="489839" cy="451816"/>
              <a:chOff x="5103720" y="2693365"/>
              <a:chExt cx="611650" cy="414788"/>
            </a:xfrm>
          </p:grpSpPr>
          <p:cxnSp>
            <p:nvCxnSpPr>
              <p:cNvPr id="272" name="Straight Connector 271">
                <a:extLst>
                  <a:ext uri="{FF2B5EF4-FFF2-40B4-BE49-F238E27FC236}">
                    <a16:creationId xmlns:a16="http://schemas.microsoft.com/office/drawing/2014/main" id="{67012382-B12D-F844-B7EB-573597A2218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3" name="Group 272">
                <a:extLst>
                  <a:ext uri="{FF2B5EF4-FFF2-40B4-BE49-F238E27FC236}">
                    <a16:creationId xmlns:a16="http://schemas.microsoft.com/office/drawing/2014/main" id="{EA4F63F6-8062-C44D-9090-B18E02E8DAAF}"/>
                  </a:ext>
                </a:extLst>
              </p:cNvPr>
              <p:cNvGrpSpPr/>
              <p:nvPr/>
            </p:nvGrpSpPr>
            <p:grpSpPr>
              <a:xfrm>
                <a:off x="5275406" y="2693365"/>
                <a:ext cx="439964" cy="414788"/>
                <a:chOff x="5275406" y="2711455"/>
                <a:chExt cx="452949" cy="405518"/>
              </a:xfrm>
            </p:grpSpPr>
            <p:pic>
              <p:nvPicPr>
                <p:cNvPr id="274" name="Picture 273" descr="server_rack.png">
                  <a:extLst>
                    <a:ext uri="{FF2B5EF4-FFF2-40B4-BE49-F238E27FC236}">
                      <a16:creationId xmlns:a16="http://schemas.microsoft.com/office/drawing/2014/main" id="{91106E9F-3C67-AA4E-9287-A9EFF36FE394}"/>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5" name="Picture 274" descr="server_rack.png">
                  <a:extLst>
                    <a:ext uri="{FF2B5EF4-FFF2-40B4-BE49-F238E27FC236}">
                      <a16:creationId xmlns:a16="http://schemas.microsoft.com/office/drawing/2014/main" id="{79A4A6A6-5E65-6F46-B7B2-90FD24375E9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6" name="Picture 275" descr="server_rack.png">
                  <a:extLst>
                    <a:ext uri="{FF2B5EF4-FFF2-40B4-BE49-F238E27FC236}">
                      <a16:creationId xmlns:a16="http://schemas.microsoft.com/office/drawing/2014/main" id="{3216266F-0267-0840-841D-08502DD91104}"/>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6" name="Group 265">
              <a:extLst>
                <a:ext uri="{FF2B5EF4-FFF2-40B4-BE49-F238E27FC236}">
                  <a16:creationId xmlns:a16="http://schemas.microsoft.com/office/drawing/2014/main" id="{106EB7B9-587B-604A-BB84-21393767F651}"/>
                </a:ext>
              </a:extLst>
            </p:cNvPr>
            <p:cNvGrpSpPr/>
            <p:nvPr/>
          </p:nvGrpSpPr>
          <p:grpSpPr>
            <a:xfrm>
              <a:off x="11058573" y="3399165"/>
              <a:ext cx="423724" cy="405973"/>
              <a:chOff x="5103720" y="2693365"/>
              <a:chExt cx="611650" cy="414788"/>
            </a:xfrm>
          </p:grpSpPr>
          <p:cxnSp>
            <p:nvCxnSpPr>
              <p:cNvPr id="267" name="Straight Connector 266">
                <a:extLst>
                  <a:ext uri="{FF2B5EF4-FFF2-40B4-BE49-F238E27FC236}">
                    <a16:creationId xmlns:a16="http://schemas.microsoft.com/office/drawing/2014/main" id="{2F7016C5-3456-6545-A196-AF5D73FF386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8" name="Group 267">
                <a:extLst>
                  <a:ext uri="{FF2B5EF4-FFF2-40B4-BE49-F238E27FC236}">
                    <a16:creationId xmlns:a16="http://schemas.microsoft.com/office/drawing/2014/main" id="{CFE74420-7287-EB40-B7EE-E554F3965C89}"/>
                  </a:ext>
                </a:extLst>
              </p:cNvPr>
              <p:cNvGrpSpPr/>
              <p:nvPr/>
            </p:nvGrpSpPr>
            <p:grpSpPr>
              <a:xfrm>
                <a:off x="5275406" y="2693365"/>
                <a:ext cx="439964" cy="414788"/>
                <a:chOff x="5275406" y="2711455"/>
                <a:chExt cx="452949" cy="405518"/>
              </a:xfrm>
            </p:grpSpPr>
            <p:pic>
              <p:nvPicPr>
                <p:cNvPr id="269" name="Picture 268" descr="server_rack.png">
                  <a:extLst>
                    <a:ext uri="{FF2B5EF4-FFF2-40B4-BE49-F238E27FC236}">
                      <a16:creationId xmlns:a16="http://schemas.microsoft.com/office/drawing/2014/main" id="{6B281684-A293-474A-A2E6-3B193D839A0C}"/>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0" name="Picture 269" descr="server_rack.png">
                  <a:extLst>
                    <a:ext uri="{FF2B5EF4-FFF2-40B4-BE49-F238E27FC236}">
                      <a16:creationId xmlns:a16="http://schemas.microsoft.com/office/drawing/2014/main" id="{9F75EF01-9A2A-3A49-932A-4C42C719585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1" name="Picture 270" descr="server_rack.png">
                  <a:extLst>
                    <a:ext uri="{FF2B5EF4-FFF2-40B4-BE49-F238E27FC236}">
                      <a16:creationId xmlns:a16="http://schemas.microsoft.com/office/drawing/2014/main" id="{446E25FC-31EE-334C-8D4A-FE0F222A8E3F}"/>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7" name="Group 590">
            <a:extLst>
              <a:ext uri="{FF2B5EF4-FFF2-40B4-BE49-F238E27FC236}">
                <a16:creationId xmlns:a16="http://schemas.microsoft.com/office/drawing/2014/main" id="{E519F234-2007-384B-BC1B-5D998EFDC23E}"/>
              </a:ext>
            </a:extLst>
          </p:cNvPr>
          <p:cNvGrpSpPr>
            <a:grpSpLocks/>
          </p:cNvGrpSpPr>
          <p:nvPr/>
        </p:nvGrpSpPr>
        <p:grpSpPr bwMode="auto">
          <a:xfrm flipH="1">
            <a:off x="8054595" y="4413467"/>
            <a:ext cx="345630" cy="320302"/>
            <a:chOff x="2839" y="3501"/>
            <a:chExt cx="755" cy="803"/>
          </a:xfrm>
        </p:grpSpPr>
        <p:pic>
          <p:nvPicPr>
            <p:cNvPr id="278" name="Picture 591" descr="desktop_computer_stylized_medium">
              <a:extLst>
                <a:ext uri="{FF2B5EF4-FFF2-40B4-BE49-F238E27FC236}">
                  <a16:creationId xmlns:a16="http://schemas.microsoft.com/office/drawing/2014/main" id="{33A2ACC8-59B8-BE41-AE95-2FCE8CBFBC3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9" name="Freeform 592">
              <a:extLst>
                <a:ext uri="{FF2B5EF4-FFF2-40B4-BE49-F238E27FC236}">
                  <a16:creationId xmlns:a16="http://schemas.microsoft.com/office/drawing/2014/main" id="{D3941249-0EC2-7F4F-B6DE-853D1B0F58A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280" name="Group 1064">
            <a:extLst>
              <a:ext uri="{FF2B5EF4-FFF2-40B4-BE49-F238E27FC236}">
                <a16:creationId xmlns:a16="http://schemas.microsoft.com/office/drawing/2014/main" id="{32873DDE-DE5F-FD44-B451-B2DB0A80F417}"/>
              </a:ext>
            </a:extLst>
          </p:cNvPr>
          <p:cNvGrpSpPr>
            <a:grpSpLocks/>
          </p:cNvGrpSpPr>
          <p:nvPr/>
        </p:nvGrpSpPr>
        <p:grpSpPr bwMode="auto">
          <a:xfrm>
            <a:off x="9275421" y="5366115"/>
            <a:ext cx="310186" cy="307808"/>
            <a:chOff x="877" y="1008"/>
            <a:chExt cx="2747" cy="2591"/>
          </a:xfrm>
        </p:grpSpPr>
        <p:pic>
          <p:nvPicPr>
            <p:cNvPr id="281" name="Picture 1065" descr="antenna_stylized">
              <a:extLst>
                <a:ext uri="{FF2B5EF4-FFF2-40B4-BE49-F238E27FC236}">
                  <a16:creationId xmlns:a16="http://schemas.microsoft.com/office/drawing/2014/main" id="{AE6278DC-71B3-934A-A861-85089C08711D}"/>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2" name="Picture 1066" descr="laptop_keyboard">
              <a:extLst>
                <a:ext uri="{FF2B5EF4-FFF2-40B4-BE49-F238E27FC236}">
                  <a16:creationId xmlns:a16="http://schemas.microsoft.com/office/drawing/2014/main" id="{3FEF45DC-F120-5245-9ABC-6F0D0A2356D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7">
              <a:extLst>
                <a:ext uri="{FF2B5EF4-FFF2-40B4-BE49-F238E27FC236}">
                  <a16:creationId xmlns:a16="http://schemas.microsoft.com/office/drawing/2014/main" id="{8722F022-4F8C-2D45-81ED-EFF0FDD9EA39}"/>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284" name="Picture 1068" descr="screen">
              <a:extLst>
                <a:ext uri="{FF2B5EF4-FFF2-40B4-BE49-F238E27FC236}">
                  <a16:creationId xmlns:a16="http://schemas.microsoft.com/office/drawing/2014/main" id="{204FC4A1-539E-5442-BEC0-E471E14FA69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1069">
              <a:extLst>
                <a:ext uri="{FF2B5EF4-FFF2-40B4-BE49-F238E27FC236}">
                  <a16:creationId xmlns:a16="http://schemas.microsoft.com/office/drawing/2014/main" id="{A1A1347C-9D1F-BA40-834D-25F99853328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6" name="Freeform 1070">
              <a:extLst>
                <a:ext uri="{FF2B5EF4-FFF2-40B4-BE49-F238E27FC236}">
                  <a16:creationId xmlns:a16="http://schemas.microsoft.com/office/drawing/2014/main" id="{5962D35F-879E-2549-AB01-3DB83293FA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7" name="Freeform 1071">
              <a:extLst>
                <a:ext uri="{FF2B5EF4-FFF2-40B4-BE49-F238E27FC236}">
                  <a16:creationId xmlns:a16="http://schemas.microsoft.com/office/drawing/2014/main" id="{22F02B8D-E551-4348-96A0-9FA3E305B726}"/>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8" name="Freeform 1072">
              <a:extLst>
                <a:ext uri="{FF2B5EF4-FFF2-40B4-BE49-F238E27FC236}">
                  <a16:creationId xmlns:a16="http://schemas.microsoft.com/office/drawing/2014/main" id="{C526490C-E805-3744-973A-5CC36BB229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9" name="Freeform 1073">
              <a:extLst>
                <a:ext uri="{FF2B5EF4-FFF2-40B4-BE49-F238E27FC236}">
                  <a16:creationId xmlns:a16="http://schemas.microsoft.com/office/drawing/2014/main" id="{7A50B32F-A919-C345-8D9F-670BB4E927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0" name="Freeform 1074">
              <a:extLst>
                <a:ext uri="{FF2B5EF4-FFF2-40B4-BE49-F238E27FC236}">
                  <a16:creationId xmlns:a16="http://schemas.microsoft.com/office/drawing/2014/main" id="{0175EDC4-A636-8E46-AE82-E96C1601BB0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291" name="Group 1075">
              <a:extLst>
                <a:ext uri="{FF2B5EF4-FFF2-40B4-BE49-F238E27FC236}">
                  <a16:creationId xmlns:a16="http://schemas.microsoft.com/office/drawing/2014/main" id="{0DFAC9F2-BFCA-0847-8353-C8E921686F42}"/>
                </a:ext>
              </a:extLst>
            </p:cNvPr>
            <p:cNvGrpSpPr>
              <a:grpSpLocks/>
            </p:cNvGrpSpPr>
            <p:nvPr/>
          </p:nvGrpSpPr>
          <p:grpSpPr bwMode="auto">
            <a:xfrm>
              <a:off x="1709" y="3008"/>
              <a:ext cx="507" cy="234"/>
              <a:chOff x="1740" y="2642"/>
              <a:chExt cx="752" cy="327"/>
            </a:xfrm>
          </p:grpSpPr>
          <p:sp>
            <p:nvSpPr>
              <p:cNvPr id="298" name="Freeform 1076">
                <a:extLst>
                  <a:ext uri="{FF2B5EF4-FFF2-40B4-BE49-F238E27FC236}">
                    <a16:creationId xmlns:a16="http://schemas.microsoft.com/office/drawing/2014/main" id="{850E3FFA-D3FE-4A46-89D2-C6682C4DE91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9" name="Freeform 1077">
                <a:extLst>
                  <a:ext uri="{FF2B5EF4-FFF2-40B4-BE49-F238E27FC236}">
                    <a16:creationId xmlns:a16="http://schemas.microsoft.com/office/drawing/2014/main" id="{802EE040-A819-9640-B947-1A1395BEF3A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0" name="Freeform 1078">
                <a:extLst>
                  <a:ext uri="{FF2B5EF4-FFF2-40B4-BE49-F238E27FC236}">
                    <a16:creationId xmlns:a16="http://schemas.microsoft.com/office/drawing/2014/main" id="{2E6E4ADE-8434-D746-854F-AD5EAF77930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1" name="Freeform 1079">
                <a:extLst>
                  <a:ext uri="{FF2B5EF4-FFF2-40B4-BE49-F238E27FC236}">
                    <a16:creationId xmlns:a16="http://schemas.microsoft.com/office/drawing/2014/main" id="{C3433830-574B-834F-8066-2E9F5FD6EF3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2" name="Freeform 1080">
                <a:extLst>
                  <a:ext uri="{FF2B5EF4-FFF2-40B4-BE49-F238E27FC236}">
                    <a16:creationId xmlns:a16="http://schemas.microsoft.com/office/drawing/2014/main" id="{E9FF40EC-D904-F941-BD96-FDDB247ACCD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3" name="Freeform 1081">
                <a:extLst>
                  <a:ext uri="{FF2B5EF4-FFF2-40B4-BE49-F238E27FC236}">
                    <a16:creationId xmlns:a16="http://schemas.microsoft.com/office/drawing/2014/main" id="{D764A724-F392-9F42-AE28-024E09E62C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292" name="Freeform 1082">
              <a:extLst>
                <a:ext uri="{FF2B5EF4-FFF2-40B4-BE49-F238E27FC236}">
                  <a16:creationId xmlns:a16="http://schemas.microsoft.com/office/drawing/2014/main" id="{1D359E2D-603D-1C42-AF6A-BFF17122489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3" name="Freeform 1083">
              <a:extLst>
                <a:ext uri="{FF2B5EF4-FFF2-40B4-BE49-F238E27FC236}">
                  <a16:creationId xmlns:a16="http://schemas.microsoft.com/office/drawing/2014/main" id="{A7F6435A-5F6F-D04A-9651-135556C9AA8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4" name="Freeform 1084">
              <a:extLst>
                <a:ext uri="{FF2B5EF4-FFF2-40B4-BE49-F238E27FC236}">
                  <a16:creationId xmlns:a16="http://schemas.microsoft.com/office/drawing/2014/main" id="{7E5560DA-5784-0949-BF64-EED5A85C8B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5" name="Freeform 1085">
              <a:extLst>
                <a:ext uri="{FF2B5EF4-FFF2-40B4-BE49-F238E27FC236}">
                  <a16:creationId xmlns:a16="http://schemas.microsoft.com/office/drawing/2014/main" id="{EE37634B-CC1C-B440-AEAB-A81F991F34F5}"/>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6" name="Freeform 1086">
              <a:extLst>
                <a:ext uri="{FF2B5EF4-FFF2-40B4-BE49-F238E27FC236}">
                  <a16:creationId xmlns:a16="http://schemas.microsoft.com/office/drawing/2014/main" id="{06E015D5-7D47-FA43-A710-59DE4A76501F}"/>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7" name="Freeform 1087">
              <a:extLst>
                <a:ext uri="{FF2B5EF4-FFF2-40B4-BE49-F238E27FC236}">
                  <a16:creationId xmlns:a16="http://schemas.microsoft.com/office/drawing/2014/main" id="{92FD50DD-905B-534A-8A82-2CABB656D6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grpSp>
        <p:nvGrpSpPr>
          <p:cNvPr id="304" name="Group 590">
            <a:extLst>
              <a:ext uri="{FF2B5EF4-FFF2-40B4-BE49-F238E27FC236}">
                <a16:creationId xmlns:a16="http://schemas.microsoft.com/office/drawing/2014/main" id="{7D86CBB7-90D5-5C4A-9DB8-D6046D4D95F4}"/>
              </a:ext>
            </a:extLst>
          </p:cNvPr>
          <p:cNvGrpSpPr>
            <a:grpSpLocks/>
          </p:cNvGrpSpPr>
          <p:nvPr/>
        </p:nvGrpSpPr>
        <p:grpSpPr bwMode="auto">
          <a:xfrm flipH="1">
            <a:off x="8227649" y="5017963"/>
            <a:ext cx="345630" cy="320302"/>
            <a:chOff x="2839" y="3501"/>
            <a:chExt cx="755" cy="803"/>
          </a:xfrm>
        </p:grpSpPr>
        <p:pic>
          <p:nvPicPr>
            <p:cNvPr id="305" name="Picture 591" descr="desktop_computer_stylized_medium">
              <a:extLst>
                <a:ext uri="{FF2B5EF4-FFF2-40B4-BE49-F238E27FC236}">
                  <a16:creationId xmlns:a16="http://schemas.microsoft.com/office/drawing/2014/main" id="{1E6AFB2E-6DD2-0F42-9FCC-C1E32A1B016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 name="Freeform 592">
              <a:extLst>
                <a:ext uri="{FF2B5EF4-FFF2-40B4-BE49-F238E27FC236}">
                  <a16:creationId xmlns:a16="http://schemas.microsoft.com/office/drawing/2014/main" id="{C502709A-9A0D-9A47-A5CE-EC46F9304D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307" name="Group 590">
            <a:extLst>
              <a:ext uri="{FF2B5EF4-FFF2-40B4-BE49-F238E27FC236}">
                <a16:creationId xmlns:a16="http://schemas.microsoft.com/office/drawing/2014/main" id="{CA180629-1EE9-9045-BF20-AA161650E5BE}"/>
              </a:ext>
            </a:extLst>
          </p:cNvPr>
          <p:cNvGrpSpPr>
            <a:grpSpLocks/>
          </p:cNvGrpSpPr>
          <p:nvPr/>
        </p:nvGrpSpPr>
        <p:grpSpPr bwMode="auto">
          <a:xfrm flipH="1">
            <a:off x="8625874" y="5039436"/>
            <a:ext cx="345630" cy="320302"/>
            <a:chOff x="2839" y="3501"/>
            <a:chExt cx="755" cy="803"/>
          </a:xfrm>
        </p:grpSpPr>
        <p:pic>
          <p:nvPicPr>
            <p:cNvPr id="308" name="Picture 591" descr="desktop_computer_stylized_medium">
              <a:extLst>
                <a:ext uri="{FF2B5EF4-FFF2-40B4-BE49-F238E27FC236}">
                  <a16:creationId xmlns:a16="http://schemas.microsoft.com/office/drawing/2014/main" id="{10FB4FF7-ED0D-4548-A925-6709E47499E0}"/>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Freeform 592">
              <a:extLst>
                <a:ext uri="{FF2B5EF4-FFF2-40B4-BE49-F238E27FC236}">
                  <a16:creationId xmlns:a16="http://schemas.microsoft.com/office/drawing/2014/main" id="{76E9A76B-3815-1842-8657-E47D6461855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310" name="Group 1064">
            <a:extLst>
              <a:ext uri="{FF2B5EF4-FFF2-40B4-BE49-F238E27FC236}">
                <a16:creationId xmlns:a16="http://schemas.microsoft.com/office/drawing/2014/main" id="{2A1515AB-81BE-A647-B780-057B7B04F549}"/>
              </a:ext>
            </a:extLst>
          </p:cNvPr>
          <p:cNvGrpSpPr>
            <a:grpSpLocks/>
          </p:cNvGrpSpPr>
          <p:nvPr/>
        </p:nvGrpSpPr>
        <p:grpSpPr bwMode="auto">
          <a:xfrm>
            <a:off x="9608486" y="5308444"/>
            <a:ext cx="319264" cy="253379"/>
            <a:chOff x="877" y="1008"/>
            <a:chExt cx="2747" cy="2591"/>
          </a:xfrm>
        </p:grpSpPr>
        <p:pic>
          <p:nvPicPr>
            <p:cNvPr id="311" name="Picture 1065" descr="antenna_stylized">
              <a:extLst>
                <a:ext uri="{FF2B5EF4-FFF2-40B4-BE49-F238E27FC236}">
                  <a16:creationId xmlns:a16="http://schemas.microsoft.com/office/drawing/2014/main" id="{BE3CD0B6-78E6-DA4F-99EA-A5B227564A1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2" name="Picture 1066" descr="laptop_keyboard">
              <a:extLst>
                <a:ext uri="{FF2B5EF4-FFF2-40B4-BE49-F238E27FC236}">
                  <a16:creationId xmlns:a16="http://schemas.microsoft.com/office/drawing/2014/main" id="{D2626BF6-46AC-604D-8A51-37EA389D2F5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7">
              <a:extLst>
                <a:ext uri="{FF2B5EF4-FFF2-40B4-BE49-F238E27FC236}">
                  <a16:creationId xmlns:a16="http://schemas.microsoft.com/office/drawing/2014/main" id="{959EDFAC-C6A1-D14A-947E-35A00B3A9186}"/>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314" name="Picture 1068" descr="screen">
              <a:extLst>
                <a:ext uri="{FF2B5EF4-FFF2-40B4-BE49-F238E27FC236}">
                  <a16:creationId xmlns:a16="http://schemas.microsoft.com/office/drawing/2014/main" id="{9D1F4A99-3250-9849-B965-F91DA625722C}"/>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069">
              <a:extLst>
                <a:ext uri="{FF2B5EF4-FFF2-40B4-BE49-F238E27FC236}">
                  <a16:creationId xmlns:a16="http://schemas.microsoft.com/office/drawing/2014/main" id="{5C31E3EB-B3FB-0B4F-93CD-5092308DC22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6" name="Freeform 1070">
              <a:extLst>
                <a:ext uri="{FF2B5EF4-FFF2-40B4-BE49-F238E27FC236}">
                  <a16:creationId xmlns:a16="http://schemas.microsoft.com/office/drawing/2014/main" id="{3AD986D8-84E7-4747-A1C9-5481DDD06F83}"/>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7" name="Freeform 1071">
              <a:extLst>
                <a:ext uri="{FF2B5EF4-FFF2-40B4-BE49-F238E27FC236}">
                  <a16:creationId xmlns:a16="http://schemas.microsoft.com/office/drawing/2014/main" id="{99E21446-DDC6-F947-8143-0229A8829664}"/>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8" name="Freeform 1072">
              <a:extLst>
                <a:ext uri="{FF2B5EF4-FFF2-40B4-BE49-F238E27FC236}">
                  <a16:creationId xmlns:a16="http://schemas.microsoft.com/office/drawing/2014/main" id="{760E6505-2D47-0045-B608-C79782D3151A}"/>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9" name="Freeform 1073">
              <a:extLst>
                <a:ext uri="{FF2B5EF4-FFF2-40B4-BE49-F238E27FC236}">
                  <a16:creationId xmlns:a16="http://schemas.microsoft.com/office/drawing/2014/main" id="{1E8320ED-B12F-2641-BEF1-FFE08A709278}"/>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0" name="Freeform 1074">
              <a:extLst>
                <a:ext uri="{FF2B5EF4-FFF2-40B4-BE49-F238E27FC236}">
                  <a16:creationId xmlns:a16="http://schemas.microsoft.com/office/drawing/2014/main" id="{6F216F19-7A9E-7842-8DE3-87CF67C247D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321" name="Group 1075">
              <a:extLst>
                <a:ext uri="{FF2B5EF4-FFF2-40B4-BE49-F238E27FC236}">
                  <a16:creationId xmlns:a16="http://schemas.microsoft.com/office/drawing/2014/main" id="{739F03CA-20B1-E448-ACD6-1C13B4F67461}"/>
                </a:ext>
              </a:extLst>
            </p:cNvPr>
            <p:cNvGrpSpPr>
              <a:grpSpLocks/>
            </p:cNvGrpSpPr>
            <p:nvPr/>
          </p:nvGrpSpPr>
          <p:grpSpPr bwMode="auto">
            <a:xfrm>
              <a:off x="1709" y="3008"/>
              <a:ext cx="507" cy="234"/>
              <a:chOff x="1740" y="2642"/>
              <a:chExt cx="752" cy="327"/>
            </a:xfrm>
          </p:grpSpPr>
          <p:sp>
            <p:nvSpPr>
              <p:cNvPr id="328" name="Freeform 1076">
                <a:extLst>
                  <a:ext uri="{FF2B5EF4-FFF2-40B4-BE49-F238E27FC236}">
                    <a16:creationId xmlns:a16="http://schemas.microsoft.com/office/drawing/2014/main" id="{C8940D77-B4F3-1246-9EB1-62B374D1DC8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9" name="Freeform 1077">
                <a:extLst>
                  <a:ext uri="{FF2B5EF4-FFF2-40B4-BE49-F238E27FC236}">
                    <a16:creationId xmlns:a16="http://schemas.microsoft.com/office/drawing/2014/main" id="{50CF6234-28F9-6A4A-9C8F-25FE11F3DED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0" name="Freeform 1078">
                <a:extLst>
                  <a:ext uri="{FF2B5EF4-FFF2-40B4-BE49-F238E27FC236}">
                    <a16:creationId xmlns:a16="http://schemas.microsoft.com/office/drawing/2014/main" id="{6D8485B5-FB9F-C945-BF8E-55BD012586B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1" name="Freeform 1079">
                <a:extLst>
                  <a:ext uri="{FF2B5EF4-FFF2-40B4-BE49-F238E27FC236}">
                    <a16:creationId xmlns:a16="http://schemas.microsoft.com/office/drawing/2014/main" id="{499E2EF6-03A8-7649-AF1E-92C6AEEACC0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2" name="Freeform 1080">
                <a:extLst>
                  <a:ext uri="{FF2B5EF4-FFF2-40B4-BE49-F238E27FC236}">
                    <a16:creationId xmlns:a16="http://schemas.microsoft.com/office/drawing/2014/main" id="{74F729D9-EF91-0447-847C-32A9E97FFAD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3" name="Freeform 1081">
                <a:extLst>
                  <a:ext uri="{FF2B5EF4-FFF2-40B4-BE49-F238E27FC236}">
                    <a16:creationId xmlns:a16="http://schemas.microsoft.com/office/drawing/2014/main" id="{79448D30-757C-AD42-9BE7-746E1DDA27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322" name="Freeform 1082">
              <a:extLst>
                <a:ext uri="{FF2B5EF4-FFF2-40B4-BE49-F238E27FC236}">
                  <a16:creationId xmlns:a16="http://schemas.microsoft.com/office/drawing/2014/main" id="{ACA0EA96-8459-6D48-B384-71DC0DE9F46A}"/>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3" name="Freeform 1083">
              <a:extLst>
                <a:ext uri="{FF2B5EF4-FFF2-40B4-BE49-F238E27FC236}">
                  <a16:creationId xmlns:a16="http://schemas.microsoft.com/office/drawing/2014/main" id="{4AFEEFA0-1AD5-2A4E-8E91-2BA01BA888CE}"/>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4" name="Freeform 1084">
              <a:extLst>
                <a:ext uri="{FF2B5EF4-FFF2-40B4-BE49-F238E27FC236}">
                  <a16:creationId xmlns:a16="http://schemas.microsoft.com/office/drawing/2014/main" id="{21B8D876-55EE-014B-B6A7-135E27D26C6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5" name="Freeform 1085">
              <a:extLst>
                <a:ext uri="{FF2B5EF4-FFF2-40B4-BE49-F238E27FC236}">
                  <a16:creationId xmlns:a16="http://schemas.microsoft.com/office/drawing/2014/main" id="{8385F355-35A0-3348-8DF5-BC36DCEC955E}"/>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6" name="Freeform 1086">
              <a:extLst>
                <a:ext uri="{FF2B5EF4-FFF2-40B4-BE49-F238E27FC236}">
                  <a16:creationId xmlns:a16="http://schemas.microsoft.com/office/drawing/2014/main" id="{DD8C8F16-B86F-DA4C-8E23-1A23CACB9DAA}"/>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7" name="Freeform 1087">
              <a:extLst>
                <a:ext uri="{FF2B5EF4-FFF2-40B4-BE49-F238E27FC236}">
                  <a16:creationId xmlns:a16="http://schemas.microsoft.com/office/drawing/2014/main" id="{C205008C-65B4-0C4E-858E-4BE7FE6B84A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334" name="Freeform 984">
            <a:extLst>
              <a:ext uri="{FF2B5EF4-FFF2-40B4-BE49-F238E27FC236}">
                <a16:creationId xmlns:a16="http://schemas.microsoft.com/office/drawing/2014/main" id="{F683EC5C-41E4-CB46-A4DE-DA79C11DB0A3}"/>
              </a:ext>
            </a:extLst>
          </p:cNvPr>
          <p:cNvSpPr>
            <a:spLocks/>
          </p:cNvSpPr>
          <p:nvPr/>
        </p:nvSpPr>
        <p:spPr bwMode="auto">
          <a:xfrm>
            <a:off x="10227333" y="5150277"/>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5" name="Freeform 986">
            <a:extLst>
              <a:ext uri="{FF2B5EF4-FFF2-40B4-BE49-F238E27FC236}">
                <a16:creationId xmlns:a16="http://schemas.microsoft.com/office/drawing/2014/main" id="{5EF954DC-7E38-5E4F-A1CE-66E02590E45F}"/>
              </a:ext>
            </a:extLst>
          </p:cNvPr>
          <p:cNvSpPr>
            <a:spLocks/>
          </p:cNvSpPr>
          <p:nvPr/>
        </p:nvSpPr>
        <p:spPr bwMode="auto">
          <a:xfrm>
            <a:off x="10233710" y="5170229"/>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6" name="Freeform 987">
            <a:extLst>
              <a:ext uri="{FF2B5EF4-FFF2-40B4-BE49-F238E27FC236}">
                <a16:creationId xmlns:a16="http://schemas.microsoft.com/office/drawing/2014/main" id="{715C54AB-3880-BA45-928C-39C4D7CA3C4E}"/>
              </a:ext>
            </a:extLst>
          </p:cNvPr>
          <p:cNvSpPr>
            <a:spLocks/>
          </p:cNvSpPr>
          <p:nvPr/>
        </p:nvSpPr>
        <p:spPr bwMode="auto">
          <a:xfrm>
            <a:off x="10229258" y="5326059"/>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7" name="Rectangle 988">
            <a:extLst>
              <a:ext uri="{FF2B5EF4-FFF2-40B4-BE49-F238E27FC236}">
                <a16:creationId xmlns:a16="http://schemas.microsoft.com/office/drawing/2014/main" id="{370296DA-87E2-9341-A2CE-4380B23742DD}"/>
              </a:ext>
            </a:extLst>
          </p:cNvPr>
          <p:cNvSpPr>
            <a:spLocks noChangeArrowheads="1"/>
          </p:cNvSpPr>
          <p:nvPr/>
        </p:nvSpPr>
        <p:spPr bwMode="auto">
          <a:xfrm>
            <a:off x="10100039" y="5187705"/>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38" name="Group 989">
            <a:extLst>
              <a:ext uri="{FF2B5EF4-FFF2-40B4-BE49-F238E27FC236}">
                <a16:creationId xmlns:a16="http://schemas.microsoft.com/office/drawing/2014/main" id="{AFA2681D-B24E-9548-A42D-DBE7D03E1B65}"/>
              </a:ext>
            </a:extLst>
          </p:cNvPr>
          <p:cNvGrpSpPr>
            <a:grpSpLocks/>
          </p:cNvGrpSpPr>
          <p:nvPr/>
        </p:nvGrpSpPr>
        <p:grpSpPr bwMode="auto">
          <a:xfrm>
            <a:off x="10164889" y="5184501"/>
            <a:ext cx="69903" cy="21117"/>
            <a:chOff x="614" y="2568"/>
            <a:chExt cx="725" cy="139"/>
          </a:xfrm>
        </p:grpSpPr>
        <p:sp>
          <p:nvSpPr>
            <p:cNvPr id="339" name="AutoShape 990">
              <a:extLst>
                <a:ext uri="{FF2B5EF4-FFF2-40B4-BE49-F238E27FC236}">
                  <a16:creationId xmlns:a16="http://schemas.microsoft.com/office/drawing/2014/main" id="{8D15E716-2018-CA44-A0CF-BA1BD3C4F90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0" name="AutoShape 991">
              <a:extLst>
                <a:ext uri="{FF2B5EF4-FFF2-40B4-BE49-F238E27FC236}">
                  <a16:creationId xmlns:a16="http://schemas.microsoft.com/office/drawing/2014/main" id="{45074B74-5B36-7F43-A334-2E564658000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41" name="Rectangle 992">
            <a:extLst>
              <a:ext uri="{FF2B5EF4-FFF2-40B4-BE49-F238E27FC236}">
                <a16:creationId xmlns:a16="http://schemas.microsoft.com/office/drawing/2014/main" id="{D5DC0FDD-F05E-D940-80D3-95FD6FA6ED49}"/>
              </a:ext>
            </a:extLst>
          </p:cNvPr>
          <p:cNvSpPr>
            <a:spLocks noChangeArrowheads="1"/>
          </p:cNvSpPr>
          <p:nvPr/>
        </p:nvSpPr>
        <p:spPr bwMode="auto">
          <a:xfrm>
            <a:off x="10101242" y="523605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42" name="Group 993">
            <a:extLst>
              <a:ext uri="{FF2B5EF4-FFF2-40B4-BE49-F238E27FC236}">
                <a16:creationId xmlns:a16="http://schemas.microsoft.com/office/drawing/2014/main" id="{80CA8E93-98F3-5845-A8F0-9AFCA71C58D2}"/>
              </a:ext>
            </a:extLst>
          </p:cNvPr>
          <p:cNvGrpSpPr>
            <a:grpSpLocks/>
          </p:cNvGrpSpPr>
          <p:nvPr/>
        </p:nvGrpSpPr>
        <p:grpSpPr bwMode="auto">
          <a:xfrm>
            <a:off x="10164649" y="5231978"/>
            <a:ext cx="69903" cy="19515"/>
            <a:chOff x="614" y="2568"/>
            <a:chExt cx="725" cy="139"/>
          </a:xfrm>
        </p:grpSpPr>
        <p:sp>
          <p:nvSpPr>
            <p:cNvPr id="343" name="AutoShape 994">
              <a:extLst>
                <a:ext uri="{FF2B5EF4-FFF2-40B4-BE49-F238E27FC236}">
                  <a16:creationId xmlns:a16="http://schemas.microsoft.com/office/drawing/2014/main" id="{7DD517ED-4EA6-CE4D-BABF-4E87B224F6A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4" name="AutoShape 995">
              <a:extLst>
                <a:ext uri="{FF2B5EF4-FFF2-40B4-BE49-F238E27FC236}">
                  <a16:creationId xmlns:a16="http://schemas.microsoft.com/office/drawing/2014/main" id="{67610340-11E9-0D44-B036-7F836809F5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45" name="Rectangle 996">
            <a:extLst>
              <a:ext uri="{FF2B5EF4-FFF2-40B4-BE49-F238E27FC236}">
                <a16:creationId xmlns:a16="http://schemas.microsoft.com/office/drawing/2014/main" id="{797BEBD2-AFB2-D04F-BF4D-C98B5985E839}"/>
              </a:ext>
            </a:extLst>
          </p:cNvPr>
          <p:cNvSpPr>
            <a:spLocks noChangeArrowheads="1"/>
          </p:cNvSpPr>
          <p:nvPr/>
        </p:nvSpPr>
        <p:spPr bwMode="auto">
          <a:xfrm>
            <a:off x="10101242" y="528440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6" name="Rectangle 997">
            <a:extLst>
              <a:ext uri="{FF2B5EF4-FFF2-40B4-BE49-F238E27FC236}">
                <a16:creationId xmlns:a16="http://schemas.microsoft.com/office/drawing/2014/main" id="{CAEB6086-A181-E845-B0C6-0E5FA8C48B08}"/>
              </a:ext>
            </a:extLst>
          </p:cNvPr>
          <p:cNvSpPr>
            <a:spLocks noChangeArrowheads="1"/>
          </p:cNvSpPr>
          <p:nvPr/>
        </p:nvSpPr>
        <p:spPr bwMode="auto">
          <a:xfrm>
            <a:off x="10102445" y="5328244"/>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47" name="Group 998">
            <a:extLst>
              <a:ext uri="{FF2B5EF4-FFF2-40B4-BE49-F238E27FC236}">
                <a16:creationId xmlns:a16="http://schemas.microsoft.com/office/drawing/2014/main" id="{2AA46A1E-93AF-BA48-99B9-AEC064BD1FEC}"/>
              </a:ext>
            </a:extLst>
          </p:cNvPr>
          <p:cNvGrpSpPr>
            <a:grpSpLocks/>
          </p:cNvGrpSpPr>
          <p:nvPr/>
        </p:nvGrpSpPr>
        <p:grpSpPr bwMode="auto">
          <a:xfrm>
            <a:off x="10163205" y="5324166"/>
            <a:ext cx="70024" cy="21991"/>
            <a:chOff x="614" y="2568"/>
            <a:chExt cx="725" cy="139"/>
          </a:xfrm>
        </p:grpSpPr>
        <p:sp>
          <p:nvSpPr>
            <p:cNvPr id="348" name="AutoShape 999">
              <a:extLst>
                <a:ext uri="{FF2B5EF4-FFF2-40B4-BE49-F238E27FC236}">
                  <a16:creationId xmlns:a16="http://schemas.microsoft.com/office/drawing/2014/main" id="{3DDF69A6-D5A3-CE4D-9320-9AFFD3C4289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9" name="AutoShape 1000">
              <a:extLst>
                <a:ext uri="{FF2B5EF4-FFF2-40B4-BE49-F238E27FC236}">
                  <a16:creationId xmlns:a16="http://schemas.microsoft.com/office/drawing/2014/main" id="{7324BD93-FB3D-8844-A86D-CAAF66EC79E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50" name="Freeform 1001">
            <a:extLst>
              <a:ext uri="{FF2B5EF4-FFF2-40B4-BE49-F238E27FC236}">
                <a16:creationId xmlns:a16="http://schemas.microsoft.com/office/drawing/2014/main" id="{98435968-C1C8-374F-8AC1-5AF0F3D6EC49}"/>
              </a:ext>
            </a:extLst>
          </p:cNvPr>
          <p:cNvSpPr>
            <a:spLocks/>
          </p:cNvSpPr>
          <p:nvPr/>
        </p:nvSpPr>
        <p:spPr bwMode="auto">
          <a:xfrm>
            <a:off x="10229740" y="5284407"/>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351" name="Group 1002">
            <a:extLst>
              <a:ext uri="{FF2B5EF4-FFF2-40B4-BE49-F238E27FC236}">
                <a16:creationId xmlns:a16="http://schemas.microsoft.com/office/drawing/2014/main" id="{30C5E95A-609F-2641-9A30-3EFA406AB51F}"/>
              </a:ext>
            </a:extLst>
          </p:cNvPr>
          <p:cNvGrpSpPr>
            <a:grpSpLocks/>
          </p:cNvGrpSpPr>
          <p:nvPr/>
        </p:nvGrpSpPr>
        <p:grpSpPr bwMode="auto">
          <a:xfrm>
            <a:off x="10163686" y="5280475"/>
            <a:ext cx="70024" cy="20243"/>
            <a:chOff x="614" y="2568"/>
            <a:chExt cx="725" cy="139"/>
          </a:xfrm>
        </p:grpSpPr>
        <p:sp>
          <p:nvSpPr>
            <p:cNvPr id="352" name="AutoShape 1003">
              <a:extLst>
                <a:ext uri="{FF2B5EF4-FFF2-40B4-BE49-F238E27FC236}">
                  <a16:creationId xmlns:a16="http://schemas.microsoft.com/office/drawing/2014/main" id="{6C6A18B9-4731-9E4A-8433-C467629BB738}"/>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53" name="AutoShape 1004">
              <a:extLst>
                <a:ext uri="{FF2B5EF4-FFF2-40B4-BE49-F238E27FC236}">
                  <a16:creationId xmlns:a16="http://schemas.microsoft.com/office/drawing/2014/main" id="{80E49604-CFF7-2249-8AC0-274FFDA8EED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54" name="Rectangle 1005">
            <a:extLst>
              <a:ext uri="{FF2B5EF4-FFF2-40B4-BE49-F238E27FC236}">
                <a16:creationId xmlns:a16="http://schemas.microsoft.com/office/drawing/2014/main" id="{4574A330-D5AC-1949-8F3A-0425F1BF8BFE}"/>
              </a:ext>
            </a:extLst>
          </p:cNvPr>
          <p:cNvSpPr>
            <a:spLocks noChangeArrowheads="1"/>
          </p:cNvSpPr>
          <p:nvPr/>
        </p:nvSpPr>
        <p:spPr bwMode="auto">
          <a:xfrm>
            <a:off x="10224686" y="5149694"/>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55" name="Freeform 1006">
            <a:extLst>
              <a:ext uri="{FF2B5EF4-FFF2-40B4-BE49-F238E27FC236}">
                <a16:creationId xmlns:a16="http://schemas.microsoft.com/office/drawing/2014/main" id="{346534D2-9C43-5D4C-97DD-9BFA3F3C1E19}"/>
              </a:ext>
            </a:extLst>
          </p:cNvPr>
          <p:cNvSpPr>
            <a:spLocks/>
          </p:cNvSpPr>
          <p:nvPr/>
        </p:nvSpPr>
        <p:spPr bwMode="auto">
          <a:xfrm>
            <a:off x="10232627" y="5233872"/>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56" name="Freeform 1007">
            <a:extLst>
              <a:ext uri="{FF2B5EF4-FFF2-40B4-BE49-F238E27FC236}">
                <a16:creationId xmlns:a16="http://schemas.microsoft.com/office/drawing/2014/main" id="{34FDA504-7EFB-0F47-BF0E-7541255FF63F}"/>
              </a:ext>
            </a:extLst>
          </p:cNvPr>
          <p:cNvSpPr>
            <a:spLocks/>
          </p:cNvSpPr>
          <p:nvPr/>
        </p:nvSpPr>
        <p:spPr bwMode="auto">
          <a:xfrm>
            <a:off x="10232988" y="5186249"/>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57" name="Oval 1008">
            <a:extLst>
              <a:ext uri="{FF2B5EF4-FFF2-40B4-BE49-F238E27FC236}">
                <a16:creationId xmlns:a16="http://schemas.microsoft.com/office/drawing/2014/main" id="{EB41E430-44F1-2040-B040-34AC4812C1EF}"/>
              </a:ext>
            </a:extLst>
          </p:cNvPr>
          <p:cNvSpPr>
            <a:spLocks noChangeArrowheads="1"/>
          </p:cNvSpPr>
          <p:nvPr/>
        </p:nvSpPr>
        <p:spPr bwMode="auto">
          <a:xfrm>
            <a:off x="10257051" y="5467472"/>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58" name="Freeform 1009">
            <a:extLst>
              <a:ext uri="{FF2B5EF4-FFF2-40B4-BE49-F238E27FC236}">
                <a16:creationId xmlns:a16="http://schemas.microsoft.com/office/drawing/2014/main" id="{790EC54C-1F12-7145-B84C-38FCEE8E9F9C}"/>
              </a:ext>
            </a:extLst>
          </p:cNvPr>
          <p:cNvSpPr>
            <a:spLocks/>
          </p:cNvSpPr>
          <p:nvPr/>
        </p:nvSpPr>
        <p:spPr bwMode="auto">
          <a:xfrm>
            <a:off x="10231424" y="5467909"/>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59" name="AutoShape 1010">
            <a:extLst>
              <a:ext uri="{FF2B5EF4-FFF2-40B4-BE49-F238E27FC236}">
                <a16:creationId xmlns:a16="http://schemas.microsoft.com/office/drawing/2014/main" id="{2E145E4B-9370-3442-8CC9-84BAE4D06F3F}"/>
              </a:ext>
            </a:extLst>
          </p:cNvPr>
          <p:cNvSpPr>
            <a:spLocks noChangeArrowheads="1"/>
          </p:cNvSpPr>
          <p:nvPr/>
        </p:nvSpPr>
        <p:spPr bwMode="auto">
          <a:xfrm>
            <a:off x="10091617" y="5476793"/>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0" name="AutoShape 1011">
            <a:extLst>
              <a:ext uri="{FF2B5EF4-FFF2-40B4-BE49-F238E27FC236}">
                <a16:creationId xmlns:a16="http://schemas.microsoft.com/office/drawing/2014/main" id="{D478C9C4-B89C-9C48-BBD7-DEABBACEA5BC}"/>
              </a:ext>
            </a:extLst>
          </p:cNvPr>
          <p:cNvSpPr>
            <a:spLocks noChangeArrowheads="1"/>
          </p:cNvSpPr>
          <p:nvPr/>
        </p:nvSpPr>
        <p:spPr bwMode="auto">
          <a:xfrm>
            <a:off x="10100039" y="5482472"/>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1" name="Oval 1012">
            <a:extLst>
              <a:ext uri="{FF2B5EF4-FFF2-40B4-BE49-F238E27FC236}">
                <a16:creationId xmlns:a16="http://schemas.microsoft.com/office/drawing/2014/main" id="{5909E442-66CF-664F-9DE0-0E9F8CA73D97}"/>
              </a:ext>
            </a:extLst>
          </p:cNvPr>
          <p:cNvSpPr>
            <a:spLocks noChangeArrowheads="1"/>
          </p:cNvSpPr>
          <p:nvPr/>
        </p:nvSpPr>
        <p:spPr bwMode="auto">
          <a:xfrm>
            <a:off x="10111950" y="5434121"/>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2" name="Oval 1013">
            <a:extLst>
              <a:ext uri="{FF2B5EF4-FFF2-40B4-BE49-F238E27FC236}">
                <a16:creationId xmlns:a16="http://schemas.microsoft.com/office/drawing/2014/main" id="{2551EE99-1D61-D44B-8562-B0ABC004498F}"/>
              </a:ext>
            </a:extLst>
          </p:cNvPr>
          <p:cNvSpPr>
            <a:spLocks noChangeArrowheads="1"/>
          </p:cNvSpPr>
          <p:nvPr/>
        </p:nvSpPr>
        <p:spPr bwMode="auto">
          <a:xfrm>
            <a:off x="10133607" y="5434121"/>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1800" dirty="0">
              <a:solidFill>
                <a:srgbClr val="FF0000"/>
              </a:solidFill>
              <a:latin typeface="Arial" panose="020B0604020202020204" pitchFamily="34" charset="0"/>
            </a:endParaRPr>
          </a:p>
        </p:txBody>
      </p:sp>
      <p:sp>
        <p:nvSpPr>
          <p:cNvPr id="363" name="Oval 1014">
            <a:extLst>
              <a:ext uri="{FF2B5EF4-FFF2-40B4-BE49-F238E27FC236}">
                <a16:creationId xmlns:a16="http://schemas.microsoft.com/office/drawing/2014/main" id="{634591C9-BA12-B348-80C9-F09AFA1CED7E}"/>
              </a:ext>
            </a:extLst>
          </p:cNvPr>
          <p:cNvSpPr>
            <a:spLocks noChangeArrowheads="1"/>
          </p:cNvSpPr>
          <p:nvPr/>
        </p:nvSpPr>
        <p:spPr bwMode="auto">
          <a:xfrm>
            <a:off x="10153941" y="5434121"/>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4" name="Rectangle 1015">
            <a:extLst>
              <a:ext uri="{FF2B5EF4-FFF2-40B4-BE49-F238E27FC236}">
                <a16:creationId xmlns:a16="http://schemas.microsoft.com/office/drawing/2014/main" id="{0223EEF6-BCF3-3D42-9120-9B8B3E38C9FA}"/>
              </a:ext>
            </a:extLst>
          </p:cNvPr>
          <p:cNvSpPr>
            <a:spLocks noChangeArrowheads="1"/>
          </p:cNvSpPr>
          <p:nvPr/>
        </p:nvSpPr>
        <p:spPr bwMode="auto">
          <a:xfrm>
            <a:off x="10203150" y="5354750"/>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65" name="Group 590">
            <a:extLst>
              <a:ext uri="{FF2B5EF4-FFF2-40B4-BE49-F238E27FC236}">
                <a16:creationId xmlns:a16="http://schemas.microsoft.com/office/drawing/2014/main" id="{32D88EF7-FD3F-EF44-9D3E-076AA7EB1E8D}"/>
              </a:ext>
            </a:extLst>
          </p:cNvPr>
          <p:cNvGrpSpPr>
            <a:grpSpLocks/>
          </p:cNvGrpSpPr>
          <p:nvPr/>
        </p:nvGrpSpPr>
        <p:grpSpPr bwMode="auto">
          <a:xfrm flipH="1">
            <a:off x="7847721" y="4794366"/>
            <a:ext cx="345630" cy="320302"/>
            <a:chOff x="2839" y="3501"/>
            <a:chExt cx="755" cy="803"/>
          </a:xfrm>
        </p:grpSpPr>
        <p:pic>
          <p:nvPicPr>
            <p:cNvPr id="366" name="Picture 591" descr="desktop_computer_stylized_medium">
              <a:extLst>
                <a:ext uri="{FF2B5EF4-FFF2-40B4-BE49-F238E27FC236}">
                  <a16:creationId xmlns:a16="http://schemas.microsoft.com/office/drawing/2014/main" id="{AB01A8A8-1CAA-9145-A6E4-1398D1D62EC4}"/>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7" name="Freeform 592">
              <a:extLst>
                <a:ext uri="{FF2B5EF4-FFF2-40B4-BE49-F238E27FC236}">
                  <a16:creationId xmlns:a16="http://schemas.microsoft.com/office/drawing/2014/main" id="{4195A758-5601-AD48-BDA5-274E79AC139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368" name="Group 652">
            <a:extLst>
              <a:ext uri="{FF2B5EF4-FFF2-40B4-BE49-F238E27FC236}">
                <a16:creationId xmlns:a16="http://schemas.microsoft.com/office/drawing/2014/main" id="{B6EF2BFA-2876-1841-873B-0FF970F0E60B}"/>
              </a:ext>
            </a:extLst>
          </p:cNvPr>
          <p:cNvGrpSpPr>
            <a:grpSpLocks/>
          </p:cNvGrpSpPr>
          <p:nvPr/>
        </p:nvGrpSpPr>
        <p:grpSpPr bwMode="auto">
          <a:xfrm>
            <a:off x="7823964" y="1373031"/>
            <a:ext cx="415925" cy="385763"/>
            <a:chOff x="2751" y="1851"/>
            <a:chExt cx="462" cy="478"/>
          </a:xfrm>
        </p:grpSpPr>
        <p:pic>
          <p:nvPicPr>
            <p:cNvPr id="369" name="Picture 653" descr="iphone_stylized_small">
              <a:extLst>
                <a:ext uri="{FF2B5EF4-FFF2-40B4-BE49-F238E27FC236}">
                  <a16:creationId xmlns:a16="http://schemas.microsoft.com/office/drawing/2014/main" id="{6A302962-1680-A04D-B69F-7F3E5F6F5469}"/>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0" name="Picture 654" descr="antenna_radiation_stylized">
              <a:extLst>
                <a:ext uri="{FF2B5EF4-FFF2-40B4-BE49-F238E27FC236}">
                  <a16:creationId xmlns:a16="http://schemas.microsoft.com/office/drawing/2014/main" id="{C6EC98A7-19FC-1745-AA2F-96FA4FE454A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1" name="Group 950">
            <a:extLst>
              <a:ext uri="{FF2B5EF4-FFF2-40B4-BE49-F238E27FC236}">
                <a16:creationId xmlns:a16="http://schemas.microsoft.com/office/drawing/2014/main" id="{AF76C7C1-F5D8-6342-AF5C-D3B231A09266}"/>
              </a:ext>
            </a:extLst>
          </p:cNvPr>
          <p:cNvGrpSpPr>
            <a:grpSpLocks/>
          </p:cNvGrpSpPr>
          <p:nvPr/>
        </p:nvGrpSpPr>
        <p:grpSpPr bwMode="auto">
          <a:xfrm>
            <a:off x="10327730" y="4787257"/>
            <a:ext cx="177192" cy="330833"/>
            <a:chOff x="4140" y="429"/>
            <a:chExt cx="1425" cy="2396"/>
          </a:xfrm>
        </p:grpSpPr>
        <p:sp>
          <p:nvSpPr>
            <p:cNvPr id="372" name="Freeform 951">
              <a:extLst>
                <a:ext uri="{FF2B5EF4-FFF2-40B4-BE49-F238E27FC236}">
                  <a16:creationId xmlns:a16="http://schemas.microsoft.com/office/drawing/2014/main" id="{D2849A7E-B1C5-C74A-A8D9-BC8D0920FE3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73" name="Rectangle 952">
              <a:extLst>
                <a:ext uri="{FF2B5EF4-FFF2-40B4-BE49-F238E27FC236}">
                  <a16:creationId xmlns:a16="http://schemas.microsoft.com/office/drawing/2014/main" id="{E9E5770D-8A9F-FB46-89A2-04825C3931D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74" name="Freeform 953">
              <a:extLst>
                <a:ext uri="{FF2B5EF4-FFF2-40B4-BE49-F238E27FC236}">
                  <a16:creationId xmlns:a16="http://schemas.microsoft.com/office/drawing/2014/main" id="{0E239736-0728-284A-B0B4-C1B7FA11A27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75" name="Freeform 954">
              <a:extLst>
                <a:ext uri="{FF2B5EF4-FFF2-40B4-BE49-F238E27FC236}">
                  <a16:creationId xmlns:a16="http://schemas.microsoft.com/office/drawing/2014/main" id="{F114EC93-A19B-1543-9627-1A8C3FD96B3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76" name="Rectangle 955">
              <a:extLst>
                <a:ext uri="{FF2B5EF4-FFF2-40B4-BE49-F238E27FC236}">
                  <a16:creationId xmlns:a16="http://schemas.microsoft.com/office/drawing/2014/main" id="{CED0094B-8557-0541-B7EE-8FA350D782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77" name="Group 956">
              <a:extLst>
                <a:ext uri="{FF2B5EF4-FFF2-40B4-BE49-F238E27FC236}">
                  <a16:creationId xmlns:a16="http://schemas.microsoft.com/office/drawing/2014/main" id="{A1465FD4-1D70-5641-803C-0950E2AF32BF}"/>
                </a:ext>
              </a:extLst>
            </p:cNvPr>
            <p:cNvGrpSpPr>
              <a:grpSpLocks/>
            </p:cNvGrpSpPr>
            <p:nvPr/>
          </p:nvGrpSpPr>
          <p:grpSpPr bwMode="auto">
            <a:xfrm>
              <a:off x="4749" y="668"/>
              <a:ext cx="581" cy="145"/>
              <a:chOff x="614" y="2568"/>
              <a:chExt cx="725" cy="139"/>
            </a:xfrm>
          </p:grpSpPr>
          <p:sp>
            <p:nvSpPr>
              <p:cNvPr id="402" name="AutoShape 957">
                <a:extLst>
                  <a:ext uri="{FF2B5EF4-FFF2-40B4-BE49-F238E27FC236}">
                    <a16:creationId xmlns:a16="http://schemas.microsoft.com/office/drawing/2014/main" id="{FF024338-1F9F-E64C-BA98-C28690618DB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03" name="AutoShape 958">
                <a:extLst>
                  <a:ext uri="{FF2B5EF4-FFF2-40B4-BE49-F238E27FC236}">
                    <a16:creationId xmlns:a16="http://schemas.microsoft.com/office/drawing/2014/main" id="{A90F11D2-082B-0748-982F-1A09061DD1C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78" name="Rectangle 959">
              <a:extLst>
                <a:ext uri="{FF2B5EF4-FFF2-40B4-BE49-F238E27FC236}">
                  <a16:creationId xmlns:a16="http://schemas.microsoft.com/office/drawing/2014/main" id="{B9B5D7EF-E5F6-CF40-AF5E-871CC68720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79" name="Group 960">
              <a:extLst>
                <a:ext uri="{FF2B5EF4-FFF2-40B4-BE49-F238E27FC236}">
                  <a16:creationId xmlns:a16="http://schemas.microsoft.com/office/drawing/2014/main" id="{893C9D91-E30F-254B-8709-D7B10987E042}"/>
                </a:ext>
              </a:extLst>
            </p:cNvPr>
            <p:cNvGrpSpPr>
              <a:grpSpLocks/>
            </p:cNvGrpSpPr>
            <p:nvPr/>
          </p:nvGrpSpPr>
          <p:grpSpPr bwMode="auto">
            <a:xfrm>
              <a:off x="4747" y="994"/>
              <a:ext cx="581" cy="134"/>
              <a:chOff x="614" y="2568"/>
              <a:chExt cx="725" cy="139"/>
            </a:xfrm>
          </p:grpSpPr>
          <p:sp>
            <p:nvSpPr>
              <p:cNvPr id="400" name="AutoShape 961">
                <a:extLst>
                  <a:ext uri="{FF2B5EF4-FFF2-40B4-BE49-F238E27FC236}">
                    <a16:creationId xmlns:a16="http://schemas.microsoft.com/office/drawing/2014/main" id="{FD337E36-AAFD-7948-A91E-B5AA5B523F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01" name="AutoShape 962">
                <a:extLst>
                  <a:ext uri="{FF2B5EF4-FFF2-40B4-BE49-F238E27FC236}">
                    <a16:creationId xmlns:a16="http://schemas.microsoft.com/office/drawing/2014/main" id="{B25EBDF7-1063-CD45-8C78-3C80EEE90D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80" name="Rectangle 963">
              <a:extLst>
                <a:ext uri="{FF2B5EF4-FFF2-40B4-BE49-F238E27FC236}">
                  <a16:creationId xmlns:a16="http://schemas.microsoft.com/office/drawing/2014/main" id="{47917FD8-A5F3-2344-A7FA-192C29C6B34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81" name="Rectangle 964">
              <a:extLst>
                <a:ext uri="{FF2B5EF4-FFF2-40B4-BE49-F238E27FC236}">
                  <a16:creationId xmlns:a16="http://schemas.microsoft.com/office/drawing/2014/main" id="{1E21C3D1-A0E4-B84F-9506-1421B02DFDF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82" name="Group 965">
              <a:extLst>
                <a:ext uri="{FF2B5EF4-FFF2-40B4-BE49-F238E27FC236}">
                  <a16:creationId xmlns:a16="http://schemas.microsoft.com/office/drawing/2014/main" id="{45BB4E0B-44B3-BC42-80F8-C38330120792}"/>
                </a:ext>
              </a:extLst>
            </p:cNvPr>
            <p:cNvGrpSpPr>
              <a:grpSpLocks/>
            </p:cNvGrpSpPr>
            <p:nvPr/>
          </p:nvGrpSpPr>
          <p:grpSpPr bwMode="auto">
            <a:xfrm>
              <a:off x="4735" y="1627"/>
              <a:ext cx="582" cy="151"/>
              <a:chOff x="614" y="2568"/>
              <a:chExt cx="725" cy="139"/>
            </a:xfrm>
          </p:grpSpPr>
          <p:sp>
            <p:nvSpPr>
              <p:cNvPr id="398" name="AutoShape 966">
                <a:extLst>
                  <a:ext uri="{FF2B5EF4-FFF2-40B4-BE49-F238E27FC236}">
                    <a16:creationId xmlns:a16="http://schemas.microsoft.com/office/drawing/2014/main" id="{5089C825-4B65-8144-9807-140695E57B3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9" name="AutoShape 967">
                <a:extLst>
                  <a:ext uri="{FF2B5EF4-FFF2-40B4-BE49-F238E27FC236}">
                    <a16:creationId xmlns:a16="http://schemas.microsoft.com/office/drawing/2014/main" id="{AC316D23-4BD4-7146-805E-E8DEB470999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83" name="Freeform 968">
              <a:extLst>
                <a:ext uri="{FF2B5EF4-FFF2-40B4-BE49-F238E27FC236}">
                  <a16:creationId xmlns:a16="http://schemas.microsoft.com/office/drawing/2014/main" id="{D86D7270-8ED3-124A-9E2E-6DF83A549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384" name="Group 969">
              <a:extLst>
                <a:ext uri="{FF2B5EF4-FFF2-40B4-BE49-F238E27FC236}">
                  <a16:creationId xmlns:a16="http://schemas.microsoft.com/office/drawing/2014/main" id="{8DE36044-7959-034A-9850-824255D10C3B}"/>
                </a:ext>
              </a:extLst>
            </p:cNvPr>
            <p:cNvGrpSpPr>
              <a:grpSpLocks/>
            </p:cNvGrpSpPr>
            <p:nvPr/>
          </p:nvGrpSpPr>
          <p:grpSpPr bwMode="auto">
            <a:xfrm>
              <a:off x="4739" y="1327"/>
              <a:ext cx="582" cy="139"/>
              <a:chOff x="614" y="2568"/>
              <a:chExt cx="725" cy="139"/>
            </a:xfrm>
          </p:grpSpPr>
          <p:sp>
            <p:nvSpPr>
              <p:cNvPr id="396" name="AutoShape 970">
                <a:extLst>
                  <a:ext uri="{FF2B5EF4-FFF2-40B4-BE49-F238E27FC236}">
                    <a16:creationId xmlns:a16="http://schemas.microsoft.com/office/drawing/2014/main" id="{AD7D10B9-3D29-B44E-A276-AD50E81D85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7" name="AutoShape 971">
                <a:extLst>
                  <a:ext uri="{FF2B5EF4-FFF2-40B4-BE49-F238E27FC236}">
                    <a16:creationId xmlns:a16="http://schemas.microsoft.com/office/drawing/2014/main" id="{3C43EED5-9617-A141-92DA-588F104A05C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85" name="Rectangle 972">
              <a:extLst>
                <a:ext uri="{FF2B5EF4-FFF2-40B4-BE49-F238E27FC236}">
                  <a16:creationId xmlns:a16="http://schemas.microsoft.com/office/drawing/2014/main" id="{309122D6-CDEC-0E4D-AB02-8AD2F05A98F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86" name="Freeform 973">
              <a:extLst>
                <a:ext uri="{FF2B5EF4-FFF2-40B4-BE49-F238E27FC236}">
                  <a16:creationId xmlns:a16="http://schemas.microsoft.com/office/drawing/2014/main" id="{C2C6FB9B-166E-D144-B468-0B6400C3525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87" name="Freeform 974">
              <a:extLst>
                <a:ext uri="{FF2B5EF4-FFF2-40B4-BE49-F238E27FC236}">
                  <a16:creationId xmlns:a16="http://schemas.microsoft.com/office/drawing/2014/main" id="{E6ADF4F4-EA44-994E-A1C4-A0E36E60FBE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88" name="Oval 975">
              <a:extLst>
                <a:ext uri="{FF2B5EF4-FFF2-40B4-BE49-F238E27FC236}">
                  <a16:creationId xmlns:a16="http://schemas.microsoft.com/office/drawing/2014/main" id="{45BEFB37-FDA8-CE4F-9BFB-E1AE0A5602A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89" name="Freeform 976">
              <a:extLst>
                <a:ext uri="{FF2B5EF4-FFF2-40B4-BE49-F238E27FC236}">
                  <a16:creationId xmlns:a16="http://schemas.microsoft.com/office/drawing/2014/main" id="{CB3E8C11-D7E3-CA45-9585-2A7AB3F3CF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90" name="AutoShape 977">
              <a:extLst>
                <a:ext uri="{FF2B5EF4-FFF2-40B4-BE49-F238E27FC236}">
                  <a16:creationId xmlns:a16="http://schemas.microsoft.com/office/drawing/2014/main" id="{797F44FB-9139-1D49-A39A-ADF0AB18A61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1" name="AutoShape 978">
              <a:extLst>
                <a:ext uri="{FF2B5EF4-FFF2-40B4-BE49-F238E27FC236}">
                  <a16:creationId xmlns:a16="http://schemas.microsoft.com/office/drawing/2014/main" id="{F3116DDE-2491-5745-AA50-791A2002A56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2" name="Oval 979">
              <a:extLst>
                <a:ext uri="{FF2B5EF4-FFF2-40B4-BE49-F238E27FC236}">
                  <a16:creationId xmlns:a16="http://schemas.microsoft.com/office/drawing/2014/main" id="{0454944D-214D-D448-990A-CB6489F78DE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3" name="Oval 980">
              <a:extLst>
                <a:ext uri="{FF2B5EF4-FFF2-40B4-BE49-F238E27FC236}">
                  <a16:creationId xmlns:a16="http://schemas.microsoft.com/office/drawing/2014/main" id="{FDB30FB1-054A-DB49-80D6-45336750558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1800" dirty="0">
                <a:solidFill>
                  <a:srgbClr val="FF0000"/>
                </a:solidFill>
                <a:latin typeface="Arial" panose="020B0604020202020204" pitchFamily="34" charset="0"/>
              </a:endParaRPr>
            </a:p>
          </p:txBody>
        </p:sp>
        <p:sp>
          <p:nvSpPr>
            <p:cNvPr id="394" name="Oval 981">
              <a:extLst>
                <a:ext uri="{FF2B5EF4-FFF2-40B4-BE49-F238E27FC236}">
                  <a16:creationId xmlns:a16="http://schemas.microsoft.com/office/drawing/2014/main" id="{F1F894FB-3695-DD44-88EE-B9E401CCD64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5" name="Rectangle 982">
              <a:extLst>
                <a:ext uri="{FF2B5EF4-FFF2-40B4-BE49-F238E27FC236}">
                  <a16:creationId xmlns:a16="http://schemas.microsoft.com/office/drawing/2014/main" id="{9146A0DC-0193-EE48-95A6-53E4DA1B42D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grpSp>
        <p:nvGrpSpPr>
          <p:cNvPr id="404" name="Group 403">
            <a:extLst>
              <a:ext uri="{FF2B5EF4-FFF2-40B4-BE49-F238E27FC236}">
                <a16:creationId xmlns:a16="http://schemas.microsoft.com/office/drawing/2014/main" id="{B69016E6-742F-A54C-99B3-53020F7590C2}"/>
              </a:ext>
            </a:extLst>
          </p:cNvPr>
          <p:cNvGrpSpPr/>
          <p:nvPr/>
        </p:nvGrpSpPr>
        <p:grpSpPr>
          <a:xfrm>
            <a:off x="6645453" y="2199599"/>
            <a:ext cx="1038308" cy="956788"/>
            <a:chOff x="6571713" y="2686293"/>
            <a:chExt cx="1038308" cy="956788"/>
          </a:xfrm>
        </p:grpSpPr>
        <p:sp>
          <p:nvSpPr>
            <p:cNvPr id="405" name="Freeform 917">
              <a:extLst>
                <a:ext uri="{FF2B5EF4-FFF2-40B4-BE49-F238E27FC236}">
                  <a16:creationId xmlns:a16="http://schemas.microsoft.com/office/drawing/2014/main" id="{43226370-9D78-EC4D-8916-75551D68220D}"/>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406" name="Group 405">
              <a:extLst>
                <a:ext uri="{FF2B5EF4-FFF2-40B4-BE49-F238E27FC236}">
                  <a16:creationId xmlns:a16="http://schemas.microsoft.com/office/drawing/2014/main" id="{7B460BEF-113A-4D46-B357-32873038726E}"/>
                </a:ext>
              </a:extLst>
            </p:cNvPr>
            <p:cNvGrpSpPr/>
            <p:nvPr/>
          </p:nvGrpSpPr>
          <p:grpSpPr>
            <a:xfrm>
              <a:off x="6571713" y="2686293"/>
              <a:ext cx="764135" cy="854075"/>
              <a:chOff x="6571713" y="2686293"/>
              <a:chExt cx="764135" cy="854075"/>
            </a:xfrm>
          </p:grpSpPr>
          <p:sp>
            <p:nvSpPr>
              <p:cNvPr id="407" name="Rectangle 228">
                <a:extLst>
                  <a:ext uri="{FF2B5EF4-FFF2-40B4-BE49-F238E27FC236}">
                    <a16:creationId xmlns:a16="http://schemas.microsoft.com/office/drawing/2014/main" id="{0A035909-0149-B547-AC2C-2ECC9624BF92}"/>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08" name="Rectangle 229">
                <a:extLst>
                  <a:ext uri="{FF2B5EF4-FFF2-40B4-BE49-F238E27FC236}">
                    <a16:creationId xmlns:a16="http://schemas.microsoft.com/office/drawing/2014/main" id="{3AF07C6D-868F-CD40-8D55-7309E92513A7}"/>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09" name="Text Box 230">
                <a:extLst>
                  <a:ext uri="{FF2B5EF4-FFF2-40B4-BE49-F238E27FC236}">
                    <a16:creationId xmlns:a16="http://schemas.microsoft.com/office/drawing/2014/main" id="{FA2F1176-968A-5547-B506-B60EA8269BDB}"/>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1000" dirty="0">
                    <a:solidFill>
                      <a:prstClr val="black"/>
                    </a:solidFill>
                    <a:latin typeface="Calibri" panose="020F0502020204030204"/>
                  </a:rPr>
                  <a:t>application</a:t>
                </a:r>
              </a:p>
              <a:p>
                <a:pPr algn="ctr">
                  <a:spcBef>
                    <a:spcPct val="0"/>
                  </a:spcBef>
                  <a:defRPr/>
                </a:pPr>
                <a:r>
                  <a:rPr lang="en-US" altLang="en-US" sz="1000" dirty="0">
                    <a:solidFill>
                      <a:prstClr val="black"/>
                    </a:solidFill>
                    <a:latin typeface="Calibri" panose="020F0502020204030204"/>
                  </a:rPr>
                  <a:t>transport</a:t>
                </a:r>
              </a:p>
              <a:p>
                <a:pPr algn="ctr">
                  <a:spcBef>
                    <a:spcPct val="0"/>
                  </a:spcBef>
                  <a:defRPr/>
                </a:pPr>
                <a:r>
                  <a:rPr lang="en-US" altLang="en-US" sz="1000" dirty="0">
                    <a:solidFill>
                      <a:prstClr val="white"/>
                    </a:solidFill>
                    <a:latin typeface="Calibri" panose="020F0502020204030204"/>
                  </a:rPr>
                  <a:t>network</a:t>
                </a:r>
              </a:p>
              <a:p>
                <a:pPr algn="ctr">
                  <a:spcBef>
                    <a:spcPct val="0"/>
                  </a:spcBef>
                  <a:defRPr/>
                </a:pPr>
                <a:r>
                  <a:rPr lang="en-US" altLang="en-US" sz="1000" dirty="0">
                    <a:solidFill>
                      <a:prstClr val="black"/>
                    </a:solidFill>
                    <a:latin typeface="Calibri" panose="020F0502020204030204"/>
                  </a:rPr>
                  <a:t>link</a:t>
                </a:r>
              </a:p>
              <a:p>
                <a:pPr algn="ctr">
                  <a:spcBef>
                    <a:spcPct val="0"/>
                  </a:spcBef>
                  <a:defRPr/>
                </a:pPr>
                <a:r>
                  <a:rPr lang="en-US" altLang="en-US" sz="10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410" name="Straight Connector 409">
                <a:extLst>
                  <a:ext uri="{FF2B5EF4-FFF2-40B4-BE49-F238E27FC236}">
                    <a16:creationId xmlns:a16="http://schemas.microsoft.com/office/drawing/2014/main" id="{3835E510-94A6-CB4A-8E83-683BD197AE03}"/>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825ED142-2B9E-A549-972C-96BCC6721FF5}"/>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9C667C7E-38FB-6240-9A45-08553E60B303}"/>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B377B3B6-C07B-2C45-B4CE-756D355F1049}"/>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14" name="Group 413">
            <a:extLst>
              <a:ext uri="{FF2B5EF4-FFF2-40B4-BE49-F238E27FC236}">
                <a16:creationId xmlns:a16="http://schemas.microsoft.com/office/drawing/2014/main" id="{6BCDFE43-082B-374D-BFAC-C14D91216ED1}"/>
              </a:ext>
            </a:extLst>
          </p:cNvPr>
          <p:cNvGrpSpPr/>
          <p:nvPr/>
        </p:nvGrpSpPr>
        <p:grpSpPr>
          <a:xfrm>
            <a:off x="10275746" y="4871177"/>
            <a:ext cx="970347" cy="854075"/>
            <a:chOff x="10202006" y="5357871"/>
            <a:chExt cx="970347" cy="854075"/>
          </a:xfrm>
        </p:grpSpPr>
        <p:sp>
          <p:nvSpPr>
            <p:cNvPr id="415" name="Freeform 917">
              <a:extLst>
                <a:ext uri="{FF2B5EF4-FFF2-40B4-BE49-F238E27FC236}">
                  <a16:creationId xmlns:a16="http://schemas.microsoft.com/office/drawing/2014/main" id="{520596A5-5B2A-9945-9D32-0D830B088686}"/>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416" name="Group 415">
              <a:extLst>
                <a:ext uri="{FF2B5EF4-FFF2-40B4-BE49-F238E27FC236}">
                  <a16:creationId xmlns:a16="http://schemas.microsoft.com/office/drawing/2014/main" id="{061433BA-6DAB-D442-9512-DE9662690BAE}"/>
                </a:ext>
              </a:extLst>
            </p:cNvPr>
            <p:cNvGrpSpPr/>
            <p:nvPr/>
          </p:nvGrpSpPr>
          <p:grpSpPr>
            <a:xfrm>
              <a:off x="10408218" y="5357871"/>
              <a:ext cx="764135" cy="854075"/>
              <a:chOff x="6571713" y="2686293"/>
              <a:chExt cx="764135" cy="854075"/>
            </a:xfrm>
          </p:grpSpPr>
          <p:sp>
            <p:nvSpPr>
              <p:cNvPr id="417" name="Rectangle 228">
                <a:extLst>
                  <a:ext uri="{FF2B5EF4-FFF2-40B4-BE49-F238E27FC236}">
                    <a16:creationId xmlns:a16="http://schemas.microsoft.com/office/drawing/2014/main" id="{CC1942E1-72C1-CA44-8BFE-0BA6171C09C5}"/>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18" name="Rectangle 229">
                <a:extLst>
                  <a:ext uri="{FF2B5EF4-FFF2-40B4-BE49-F238E27FC236}">
                    <a16:creationId xmlns:a16="http://schemas.microsoft.com/office/drawing/2014/main" id="{D6CBE469-BC9E-004E-BD94-9396D7CF2EF5}"/>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19" name="Text Box 230">
                <a:extLst>
                  <a:ext uri="{FF2B5EF4-FFF2-40B4-BE49-F238E27FC236}">
                    <a16:creationId xmlns:a16="http://schemas.microsoft.com/office/drawing/2014/main" id="{E7797668-DDE1-8741-B012-FB3FB645C14D}"/>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1000" dirty="0">
                    <a:solidFill>
                      <a:prstClr val="black"/>
                    </a:solidFill>
                    <a:latin typeface="Calibri" panose="020F0502020204030204"/>
                  </a:rPr>
                  <a:t>application</a:t>
                </a:r>
              </a:p>
              <a:p>
                <a:pPr algn="ctr">
                  <a:spcBef>
                    <a:spcPct val="0"/>
                  </a:spcBef>
                  <a:defRPr/>
                </a:pPr>
                <a:r>
                  <a:rPr lang="en-US" altLang="en-US" sz="1000" dirty="0">
                    <a:solidFill>
                      <a:prstClr val="black"/>
                    </a:solidFill>
                    <a:latin typeface="Calibri" panose="020F0502020204030204"/>
                  </a:rPr>
                  <a:t>transport</a:t>
                </a:r>
              </a:p>
              <a:p>
                <a:pPr algn="ctr">
                  <a:spcBef>
                    <a:spcPct val="0"/>
                  </a:spcBef>
                  <a:defRPr/>
                </a:pPr>
                <a:r>
                  <a:rPr lang="en-US" altLang="en-US" sz="1000" dirty="0">
                    <a:solidFill>
                      <a:prstClr val="white"/>
                    </a:solidFill>
                    <a:latin typeface="Calibri" panose="020F0502020204030204"/>
                  </a:rPr>
                  <a:t>network</a:t>
                </a:r>
              </a:p>
              <a:p>
                <a:pPr algn="ctr">
                  <a:spcBef>
                    <a:spcPct val="0"/>
                  </a:spcBef>
                  <a:defRPr/>
                </a:pPr>
                <a:r>
                  <a:rPr lang="en-US" altLang="en-US" sz="1000" dirty="0">
                    <a:solidFill>
                      <a:prstClr val="black"/>
                    </a:solidFill>
                    <a:latin typeface="Calibri" panose="020F0502020204030204"/>
                  </a:rPr>
                  <a:t>link</a:t>
                </a:r>
              </a:p>
              <a:p>
                <a:pPr algn="ctr">
                  <a:spcBef>
                    <a:spcPct val="0"/>
                  </a:spcBef>
                  <a:defRPr/>
                </a:pPr>
                <a:r>
                  <a:rPr lang="en-US" altLang="en-US" sz="10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420" name="Straight Connector 419">
                <a:extLst>
                  <a:ext uri="{FF2B5EF4-FFF2-40B4-BE49-F238E27FC236}">
                    <a16:creationId xmlns:a16="http://schemas.microsoft.com/office/drawing/2014/main" id="{0098DE4C-ADDA-6742-9A9A-1859EC5187EE}"/>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15F87BB5-6BF8-0D45-881A-0F1A285B65A4}"/>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6E17E2B0-E88F-0C4C-8D14-35BF54AEF84C}"/>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1EC817AF-81B9-5541-8AF2-78F3EC77055A}"/>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24" name="Group 950">
            <a:extLst>
              <a:ext uri="{FF2B5EF4-FFF2-40B4-BE49-F238E27FC236}">
                <a16:creationId xmlns:a16="http://schemas.microsoft.com/office/drawing/2014/main" id="{0CD04385-CC0A-AD4F-A272-DAED82232C18}"/>
              </a:ext>
            </a:extLst>
          </p:cNvPr>
          <p:cNvGrpSpPr>
            <a:grpSpLocks/>
          </p:cNvGrpSpPr>
          <p:nvPr/>
        </p:nvGrpSpPr>
        <p:grpSpPr bwMode="auto">
          <a:xfrm>
            <a:off x="10076248" y="5129706"/>
            <a:ext cx="214974" cy="403920"/>
            <a:chOff x="4140" y="429"/>
            <a:chExt cx="1425" cy="2396"/>
          </a:xfrm>
        </p:grpSpPr>
        <p:sp>
          <p:nvSpPr>
            <p:cNvPr id="425" name="Freeform 951">
              <a:extLst>
                <a:ext uri="{FF2B5EF4-FFF2-40B4-BE49-F238E27FC236}">
                  <a16:creationId xmlns:a16="http://schemas.microsoft.com/office/drawing/2014/main" id="{FE96A2FA-F87C-C540-B03C-04FDC45ECA5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26" name="Rectangle 952">
              <a:extLst>
                <a:ext uri="{FF2B5EF4-FFF2-40B4-BE49-F238E27FC236}">
                  <a16:creationId xmlns:a16="http://schemas.microsoft.com/office/drawing/2014/main" id="{90EBC098-1E29-C045-B622-D8C3CEAFBFD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27" name="Freeform 953">
              <a:extLst>
                <a:ext uri="{FF2B5EF4-FFF2-40B4-BE49-F238E27FC236}">
                  <a16:creationId xmlns:a16="http://schemas.microsoft.com/office/drawing/2014/main" id="{E706D605-E639-B347-BDB9-90E15742A9B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28" name="Freeform 954">
              <a:extLst>
                <a:ext uri="{FF2B5EF4-FFF2-40B4-BE49-F238E27FC236}">
                  <a16:creationId xmlns:a16="http://schemas.microsoft.com/office/drawing/2014/main" id="{6F580A31-840F-044C-B64F-E36B1F7C90A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29" name="Rectangle 955">
              <a:extLst>
                <a:ext uri="{FF2B5EF4-FFF2-40B4-BE49-F238E27FC236}">
                  <a16:creationId xmlns:a16="http://schemas.microsoft.com/office/drawing/2014/main" id="{70BBB359-B08E-104F-AA2E-1981815597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430" name="Group 956">
              <a:extLst>
                <a:ext uri="{FF2B5EF4-FFF2-40B4-BE49-F238E27FC236}">
                  <a16:creationId xmlns:a16="http://schemas.microsoft.com/office/drawing/2014/main" id="{4A301782-0364-8842-A0CF-4131092EBF14}"/>
                </a:ext>
              </a:extLst>
            </p:cNvPr>
            <p:cNvGrpSpPr>
              <a:grpSpLocks/>
            </p:cNvGrpSpPr>
            <p:nvPr/>
          </p:nvGrpSpPr>
          <p:grpSpPr bwMode="auto">
            <a:xfrm>
              <a:off x="4749" y="668"/>
              <a:ext cx="581" cy="145"/>
              <a:chOff x="614" y="2568"/>
              <a:chExt cx="725" cy="139"/>
            </a:xfrm>
          </p:grpSpPr>
          <p:sp>
            <p:nvSpPr>
              <p:cNvPr id="455" name="AutoShape 957">
                <a:extLst>
                  <a:ext uri="{FF2B5EF4-FFF2-40B4-BE49-F238E27FC236}">
                    <a16:creationId xmlns:a16="http://schemas.microsoft.com/office/drawing/2014/main" id="{F360B4DE-6278-2944-81FB-7D667CF001B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6" name="AutoShape 958">
                <a:extLst>
                  <a:ext uri="{FF2B5EF4-FFF2-40B4-BE49-F238E27FC236}">
                    <a16:creationId xmlns:a16="http://schemas.microsoft.com/office/drawing/2014/main" id="{0AEDDBBD-7452-DD49-8989-332C8A0C969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1" name="Rectangle 959">
              <a:extLst>
                <a:ext uri="{FF2B5EF4-FFF2-40B4-BE49-F238E27FC236}">
                  <a16:creationId xmlns:a16="http://schemas.microsoft.com/office/drawing/2014/main" id="{A2E11B06-7085-7C4E-8774-3106FEBBD69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432" name="Group 960">
              <a:extLst>
                <a:ext uri="{FF2B5EF4-FFF2-40B4-BE49-F238E27FC236}">
                  <a16:creationId xmlns:a16="http://schemas.microsoft.com/office/drawing/2014/main" id="{81ECCBAC-4FA0-1946-8149-C5B75FB8BC86}"/>
                </a:ext>
              </a:extLst>
            </p:cNvPr>
            <p:cNvGrpSpPr>
              <a:grpSpLocks/>
            </p:cNvGrpSpPr>
            <p:nvPr/>
          </p:nvGrpSpPr>
          <p:grpSpPr bwMode="auto">
            <a:xfrm>
              <a:off x="4747" y="994"/>
              <a:ext cx="581" cy="134"/>
              <a:chOff x="614" y="2568"/>
              <a:chExt cx="725" cy="139"/>
            </a:xfrm>
          </p:grpSpPr>
          <p:sp>
            <p:nvSpPr>
              <p:cNvPr id="453" name="AutoShape 961">
                <a:extLst>
                  <a:ext uri="{FF2B5EF4-FFF2-40B4-BE49-F238E27FC236}">
                    <a16:creationId xmlns:a16="http://schemas.microsoft.com/office/drawing/2014/main" id="{ABD69479-4D63-CE4F-B317-778A5AB5FD34}"/>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4" name="AutoShape 962">
                <a:extLst>
                  <a:ext uri="{FF2B5EF4-FFF2-40B4-BE49-F238E27FC236}">
                    <a16:creationId xmlns:a16="http://schemas.microsoft.com/office/drawing/2014/main" id="{1DCF8128-7E5B-3749-916E-F3D6506A095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3" name="Rectangle 963">
              <a:extLst>
                <a:ext uri="{FF2B5EF4-FFF2-40B4-BE49-F238E27FC236}">
                  <a16:creationId xmlns:a16="http://schemas.microsoft.com/office/drawing/2014/main" id="{C56FF00F-1A4E-F449-902D-4AE714B9648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34" name="Rectangle 964">
              <a:extLst>
                <a:ext uri="{FF2B5EF4-FFF2-40B4-BE49-F238E27FC236}">
                  <a16:creationId xmlns:a16="http://schemas.microsoft.com/office/drawing/2014/main" id="{62C83B26-71F4-5342-BEB3-3213440919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435" name="Group 965">
              <a:extLst>
                <a:ext uri="{FF2B5EF4-FFF2-40B4-BE49-F238E27FC236}">
                  <a16:creationId xmlns:a16="http://schemas.microsoft.com/office/drawing/2014/main" id="{CE265763-8900-624C-AF24-B2E5D56A6538}"/>
                </a:ext>
              </a:extLst>
            </p:cNvPr>
            <p:cNvGrpSpPr>
              <a:grpSpLocks/>
            </p:cNvGrpSpPr>
            <p:nvPr/>
          </p:nvGrpSpPr>
          <p:grpSpPr bwMode="auto">
            <a:xfrm>
              <a:off x="4735" y="1627"/>
              <a:ext cx="582" cy="151"/>
              <a:chOff x="614" y="2568"/>
              <a:chExt cx="725" cy="139"/>
            </a:xfrm>
          </p:grpSpPr>
          <p:sp>
            <p:nvSpPr>
              <p:cNvPr id="451" name="AutoShape 966">
                <a:extLst>
                  <a:ext uri="{FF2B5EF4-FFF2-40B4-BE49-F238E27FC236}">
                    <a16:creationId xmlns:a16="http://schemas.microsoft.com/office/drawing/2014/main" id="{ABEC4C86-7C8B-4943-B487-4DB393189AC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2" name="AutoShape 967">
                <a:extLst>
                  <a:ext uri="{FF2B5EF4-FFF2-40B4-BE49-F238E27FC236}">
                    <a16:creationId xmlns:a16="http://schemas.microsoft.com/office/drawing/2014/main" id="{78EB5B7C-20E1-ED4D-8C0D-850A79CB24E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6" name="Freeform 968">
              <a:extLst>
                <a:ext uri="{FF2B5EF4-FFF2-40B4-BE49-F238E27FC236}">
                  <a16:creationId xmlns:a16="http://schemas.microsoft.com/office/drawing/2014/main" id="{368674BE-3325-A94B-81BB-778F18DEB9F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437" name="Group 969">
              <a:extLst>
                <a:ext uri="{FF2B5EF4-FFF2-40B4-BE49-F238E27FC236}">
                  <a16:creationId xmlns:a16="http://schemas.microsoft.com/office/drawing/2014/main" id="{6FED7E22-4916-EF46-A0A7-B64DF9E881D6}"/>
                </a:ext>
              </a:extLst>
            </p:cNvPr>
            <p:cNvGrpSpPr>
              <a:grpSpLocks/>
            </p:cNvGrpSpPr>
            <p:nvPr/>
          </p:nvGrpSpPr>
          <p:grpSpPr bwMode="auto">
            <a:xfrm>
              <a:off x="4739" y="1327"/>
              <a:ext cx="582" cy="139"/>
              <a:chOff x="614" y="2568"/>
              <a:chExt cx="725" cy="139"/>
            </a:xfrm>
          </p:grpSpPr>
          <p:sp>
            <p:nvSpPr>
              <p:cNvPr id="449" name="AutoShape 970">
                <a:extLst>
                  <a:ext uri="{FF2B5EF4-FFF2-40B4-BE49-F238E27FC236}">
                    <a16:creationId xmlns:a16="http://schemas.microsoft.com/office/drawing/2014/main" id="{74CDCA80-D418-3148-BC55-51E4899D4C58}"/>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0" name="AutoShape 971">
                <a:extLst>
                  <a:ext uri="{FF2B5EF4-FFF2-40B4-BE49-F238E27FC236}">
                    <a16:creationId xmlns:a16="http://schemas.microsoft.com/office/drawing/2014/main" id="{8FD3C783-4FA4-AC40-AB3B-3866A93D618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8" name="Rectangle 972">
              <a:extLst>
                <a:ext uri="{FF2B5EF4-FFF2-40B4-BE49-F238E27FC236}">
                  <a16:creationId xmlns:a16="http://schemas.microsoft.com/office/drawing/2014/main" id="{E9DD616E-C632-3C45-855B-E4577EADDBD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39" name="Freeform 973">
              <a:extLst>
                <a:ext uri="{FF2B5EF4-FFF2-40B4-BE49-F238E27FC236}">
                  <a16:creationId xmlns:a16="http://schemas.microsoft.com/office/drawing/2014/main" id="{0CE1791D-2F0D-1349-ACF7-5365E4B5DE0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40" name="Freeform 974">
              <a:extLst>
                <a:ext uri="{FF2B5EF4-FFF2-40B4-BE49-F238E27FC236}">
                  <a16:creationId xmlns:a16="http://schemas.microsoft.com/office/drawing/2014/main" id="{E3A13E73-03B9-F54D-B31C-A6E48AFF90A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41" name="Oval 975">
              <a:extLst>
                <a:ext uri="{FF2B5EF4-FFF2-40B4-BE49-F238E27FC236}">
                  <a16:creationId xmlns:a16="http://schemas.microsoft.com/office/drawing/2014/main" id="{2A75A4F5-615F-EB46-89FC-38E2211C441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2" name="Freeform 976">
              <a:extLst>
                <a:ext uri="{FF2B5EF4-FFF2-40B4-BE49-F238E27FC236}">
                  <a16:creationId xmlns:a16="http://schemas.microsoft.com/office/drawing/2014/main" id="{A6EB25B5-85F4-894D-BBC4-0185118E6A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43" name="AutoShape 977">
              <a:extLst>
                <a:ext uri="{FF2B5EF4-FFF2-40B4-BE49-F238E27FC236}">
                  <a16:creationId xmlns:a16="http://schemas.microsoft.com/office/drawing/2014/main" id="{4CA2AC83-5323-2B4B-88F2-AAA45AFB219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4" name="AutoShape 978">
              <a:extLst>
                <a:ext uri="{FF2B5EF4-FFF2-40B4-BE49-F238E27FC236}">
                  <a16:creationId xmlns:a16="http://schemas.microsoft.com/office/drawing/2014/main" id="{0025D972-B3E1-8E43-801B-4E3E67EB173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5" name="Oval 979">
              <a:extLst>
                <a:ext uri="{FF2B5EF4-FFF2-40B4-BE49-F238E27FC236}">
                  <a16:creationId xmlns:a16="http://schemas.microsoft.com/office/drawing/2014/main" id="{545EC445-5888-3741-B9F1-47936A12B9D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6" name="Oval 980">
              <a:extLst>
                <a:ext uri="{FF2B5EF4-FFF2-40B4-BE49-F238E27FC236}">
                  <a16:creationId xmlns:a16="http://schemas.microsoft.com/office/drawing/2014/main" id="{9B82F04E-BCFC-FB44-9636-45214AACC05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1800" dirty="0">
                <a:solidFill>
                  <a:srgbClr val="FF0000"/>
                </a:solidFill>
                <a:latin typeface="Arial" panose="020B0604020202020204" pitchFamily="34" charset="0"/>
              </a:endParaRPr>
            </a:p>
          </p:txBody>
        </p:sp>
        <p:sp>
          <p:nvSpPr>
            <p:cNvPr id="447" name="Oval 981">
              <a:extLst>
                <a:ext uri="{FF2B5EF4-FFF2-40B4-BE49-F238E27FC236}">
                  <a16:creationId xmlns:a16="http://schemas.microsoft.com/office/drawing/2014/main" id="{BB87FE73-AC88-5F4C-84A7-A1E5F1A790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8" name="Rectangle 982">
              <a:extLst>
                <a:ext uri="{FF2B5EF4-FFF2-40B4-BE49-F238E27FC236}">
                  <a16:creationId xmlns:a16="http://schemas.microsoft.com/office/drawing/2014/main" id="{78337DB0-E31B-0644-9C8C-86EA280512A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grpSp>
        <p:nvGrpSpPr>
          <p:cNvPr id="457" name="Group 456">
            <a:extLst>
              <a:ext uri="{FF2B5EF4-FFF2-40B4-BE49-F238E27FC236}">
                <a16:creationId xmlns:a16="http://schemas.microsoft.com/office/drawing/2014/main" id="{BC230DA3-959C-4247-950A-6A5F64F4E6AE}"/>
              </a:ext>
            </a:extLst>
          </p:cNvPr>
          <p:cNvGrpSpPr/>
          <p:nvPr/>
        </p:nvGrpSpPr>
        <p:grpSpPr>
          <a:xfrm>
            <a:off x="9172528" y="3469930"/>
            <a:ext cx="367224" cy="240304"/>
            <a:chOff x="7493876" y="2774731"/>
            <a:chExt cx="1481958" cy="894622"/>
          </a:xfrm>
        </p:grpSpPr>
        <p:sp>
          <p:nvSpPr>
            <p:cNvPr id="458" name="Freeform 457">
              <a:extLst>
                <a:ext uri="{FF2B5EF4-FFF2-40B4-BE49-F238E27FC236}">
                  <a16:creationId xmlns:a16="http://schemas.microsoft.com/office/drawing/2014/main" id="{5293AB70-A538-324C-8957-2E62A591F1B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59" name="Oval 458">
              <a:extLst>
                <a:ext uri="{FF2B5EF4-FFF2-40B4-BE49-F238E27FC236}">
                  <a16:creationId xmlns:a16="http://schemas.microsoft.com/office/drawing/2014/main" id="{A2B20364-B820-F04C-85BC-3C2F7389269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60" name="Group 459">
              <a:extLst>
                <a:ext uri="{FF2B5EF4-FFF2-40B4-BE49-F238E27FC236}">
                  <a16:creationId xmlns:a16="http://schemas.microsoft.com/office/drawing/2014/main" id="{25A775AF-4F8C-A140-9E95-86BE6310501B}"/>
                </a:ext>
              </a:extLst>
            </p:cNvPr>
            <p:cNvGrpSpPr/>
            <p:nvPr/>
          </p:nvGrpSpPr>
          <p:grpSpPr>
            <a:xfrm>
              <a:off x="7713663" y="2848339"/>
              <a:ext cx="1042107" cy="425543"/>
              <a:chOff x="7786941" y="2884917"/>
              <a:chExt cx="897649" cy="353919"/>
            </a:xfrm>
          </p:grpSpPr>
          <p:sp>
            <p:nvSpPr>
              <p:cNvPr id="461" name="Freeform 460">
                <a:extLst>
                  <a:ext uri="{FF2B5EF4-FFF2-40B4-BE49-F238E27FC236}">
                    <a16:creationId xmlns:a16="http://schemas.microsoft.com/office/drawing/2014/main" id="{BF2FA154-0942-5C47-A936-59C962F3DA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62" name="Freeform 461">
                <a:extLst>
                  <a:ext uri="{FF2B5EF4-FFF2-40B4-BE49-F238E27FC236}">
                    <a16:creationId xmlns:a16="http://schemas.microsoft.com/office/drawing/2014/main" id="{FBAC50C9-1200-0648-A3C6-5F763C5A4F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63" name="Freeform 462">
                <a:extLst>
                  <a:ext uri="{FF2B5EF4-FFF2-40B4-BE49-F238E27FC236}">
                    <a16:creationId xmlns:a16="http://schemas.microsoft.com/office/drawing/2014/main" id="{41DD7A34-E22A-2B4D-A867-B0F63420CD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64" name="Freeform 463">
                <a:extLst>
                  <a:ext uri="{FF2B5EF4-FFF2-40B4-BE49-F238E27FC236}">
                    <a16:creationId xmlns:a16="http://schemas.microsoft.com/office/drawing/2014/main" id="{14349D26-2DED-D04F-BD82-82B9BDEAF0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65" name="Group 464">
            <a:extLst>
              <a:ext uri="{FF2B5EF4-FFF2-40B4-BE49-F238E27FC236}">
                <a16:creationId xmlns:a16="http://schemas.microsoft.com/office/drawing/2014/main" id="{7E19BC35-E82D-1F47-A1DB-336D2DD326C1}"/>
              </a:ext>
            </a:extLst>
          </p:cNvPr>
          <p:cNvGrpSpPr/>
          <p:nvPr/>
        </p:nvGrpSpPr>
        <p:grpSpPr>
          <a:xfrm>
            <a:off x="9675294" y="3513069"/>
            <a:ext cx="367224" cy="240304"/>
            <a:chOff x="7493876" y="2774731"/>
            <a:chExt cx="1481958" cy="894622"/>
          </a:xfrm>
        </p:grpSpPr>
        <p:sp>
          <p:nvSpPr>
            <p:cNvPr id="466" name="Freeform 465">
              <a:extLst>
                <a:ext uri="{FF2B5EF4-FFF2-40B4-BE49-F238E27FC236}">
                  <a16:creationId xmlns:a16="http://schemas.microsoft.com/office/drawing/2014/main" id="{BD2EC79B-E277-0C43-A0CC-99D0A637041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67" name="Oval 466">
              <a:extLst>
                <a:ext uri="{FF2B5EF4-FFF2-40B4-BE49-F238E27FC236}">
                  <a16:creationId xmlns:a16="http://schemas.microsoft.com/office/drawing/2014/main" id="{FB4676E3-85E4-494D-9C63-7C042801A69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68" name="Group 467">
              <a:extLst>
                <a:ext uri="{FF2B5EF4-FFF2-40B4-BE49-F238E27FC236}">
                  <a16:creationId xmlns:a16="http://schemas.microsoft.com/office/drawing/2014/main" id="{77F513B8-ECD9-B043-8F16-8229B9F5F438}"/>
                </a:ext>
              </a:extLst>
            </p:cNvPr>
            <p:cNvGrpSpPr/>
            <p:nvPr/>
          </p:nvGrpSpPr>
          <p:grpSpPr>
            <a:xfrm>
              <a:off x="7713663" y="2848339"/>
              <a:ext cx="1042107" cy="425543"/>
              <a:chOff x="7786941" y="2884917"/>
              <a:chExt cx="897649" cy="353919"/>
            </a:xfrm>
          </p:grpSpPr>
          <p:sp>
            <p:nvSpPr>
              <p:cNvPr id="469" name="Freeform 468">
                <a:extLst>
                  <a:ext uri="{FF2B5EF4-FFF2-40B4-BE49-F238E27FC236}">
                    <a16:creationId xmlns:a16="http://schemas.microsoft.com/office/drawing/2014/main" id="{52250DF6-38FD-864F-A2FE-5424D2FC49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0" name="Freeform 469">
                <a:extLst>
                  <a:ext uri="{FF2B5EF4-FFF2-40B4-BE49-F238E27FC236}">
                    <a16:creationId xmlns:a16="http://schemas.microsoft.com/office/drawing/2014/main" id="{4B115E90-C5FE-AE4D-BDDA-FFFA2E9505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1" name="Freeform 470">
                <a:extLst>
                  <a:ext uri="{FF2B5EF4-FFF2-40B4-BE49-F238E27FC236}">
                    <a16:creationId xmlns:a16="http://schemas.microsoft.com/office/drawing/2014/main" id="{58A14C43-AAD0-3641-9524-580D47A433C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2" name="Freeform 471">
                <a:extLst>
                  <a:ext uri="{FF2B5EF4-FFF2-40B4-BE49-F238E27FC236}">
                    <a16:creationId xmlns:a16="http://schemas.microsoft.com/office/drawing/2014/main" id="{0C9C824B-99FE-6D4F-9E2B-EC968FE82F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73" name="Group 472">
            <a:extLst>
              <a:ext uri="{FF2B5EF4-FFF2-40B4-BE49-F238E27FC236}">
                <a16:creationId xmlns:a16="http://schemas.microsoft.com/office/drawing/2014/main" id="{0D3E3902-FB2D-6F40-94C2-2AED35903987}"/>
              </a:ext>
            </a:extLst>
          </p:cNvPr>
          <p:cNvGrpSpPr/>
          <p:nvPr/>
        </p:nvGrpSpPr>
        <p:grpSpPr>
          <a:xfrm>
            <a:off x="8123810" y="3479300"/>
            <a:ext cx="354986" cy="175668"/>
            <a:chOff x="7493876" y="2774731"/>
            <a:chExt cx="1481958" cy="894622"/>
          </a:xfrm>
        </p:grpSpPr>
        <p:sp>
          <p:nvSpPr>
            <p:cNvPr id="474" name="Freeform 473">
              <a:extLst>
                <a:ext uri="{FF2B5EF4-FFF2-40B4-BE49-F238E27FC236}">
                  <a16:creationId xmlns:a16="http://schemas.microsoft.com/office/drawing/2014/main" id="{0A61814A-2DB0-7740-8962-D1A3BDCF7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75" name="Oval 474">
              <a:extLst>
                <a:ext uri="{FF2B5EF4-FFF2-40B4-BE49-F238E27FC236}">
                  <a16:creationId xmlns:a16="http://schemas.microsoft.com/office/drawing/2014/main" id="{4B39CE62-10C5-A448-9200-E6A96348EB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76" name="Group 475">
              <a:extLst>
                <a:ext uri="{FF2B5EF4-FFF2-40B4-BE49-F238E27FC236}">
                  <a16:creationId xmlns:a16="http://schemas.microsoft.com/office/drawing/2014/main" id="{FA86DD34-5A0D-CC49-9673-90D9CA095BE5}"/>
                </a:ext>
              </a:extLst>
            </p:cNvPr>
            <p:cNvGrpSpPr/>
            <p:nvPr/>
          </p:nvGrpSpPr>
          <p:grpSpPr>
            <a:xfrm>
              <a:off x="7713663" y="2848339"/>
              <a:ext cx="1042107" cy="425543"/>
              <a:chOff x="7786941" y="2884917"/>
              <a:chExt cx="897649" cy="353919"/>
            </a:xfrm>
          </p:grpSpPr>
          <p:sp>
            <p:nvSpPr>
              <p:cNvPr id="477" name="Freeform 476">
                <a:extLst>
                  <a:ext uri="{FF2B5EF4-FFF2-40B4-BE49-F238E27FC236}">
                    <a16:creationId xmlns:a16="http://schemas.microsoft.com/office/drawing/2014/main" id="{B5DC9C2D-C53B-D14F-9821-A2B4B31E51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8" name="Freeform 477">
                <a:extLst>
                  <a:ext uri="{FF2B5EF4-FFF2-40B4-BE49-F238E27FC236}">
                    <a16:creationId xmlns:a16="http://schemas.microsoft.com/office/drawing/2014/main" id="{F0A6232A-7531-B14B-B3D0-36AAC40935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9" name="Freeform 478">
                <a:extLst>
                  <a:ext uri="{FF2B5EF4-FFF2-40B4-BE49-F238E27FC236}">
                    <a16:creationId xmlns:a16="http://schemas.microsoft.com/office/drawing/2014/main" id="{76F848CC-CD88-5F45-8746-CADC806243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0" name="Freeform 479">
                <a:extLst>
                  <a:ext uri="{FF2B5EF4-FFF2-40B4-BE49-F238E27FC236}">
                    <a16:creationId xmlns:a16="http://schemas.microsoft.com/office/drawing/2014/main" id="{261EE902-8A90-624B-B8EA-E140D2583A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81" name="Group 480">
            <a:extLst>
              <a:ext uri="{FF2B5EF4-FFF2-40B4-BE49-F238E27FC236}">
                <a16:creationId xmlns:a16="http://schemas.microsoft.com/office/drawing/2014/main" id="{66AC3898-C0FB-C142-963C-4A2806F3925C}"/>
              </a:ext>
            </a:extLst>
          </p:cNvPr>
          <p:cNvGrpSpPr/>
          <p:nvPr/>
        </p:nvGrpSpPr>
        <p:grpSpPr>
          <a:xfrm>
            <a:off x="9321633" y="4288992"/>
            <a:ext cx="393760" cy="218578"/>
            <a:chOff x="7493876" y="2774731"/>
            <a:chExt cx="1481958" cy="894622"/>
          </a:xfrm>
        </p:grpSpPr>
        <p:sp>
          <p:nvSpPr>
            <p:cNvPr id="482" name="Freeform 481">
              <a:extLst>
                <a:ext uri="{FF2B5EF4-FFF2-40B4-BE49-F238E27FC236}">
                  <a16:creationId xmlns:a16="http://schemas.microsoft.com/office/drawing/2014/main" id="{42D1DCFE-D255-4446-8EAC-474AB67857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83" name="Oval 482">
              <a:extLst>
                <a:ext uri="{FF2B5EF4-FFF2-40B4-BE49-F238E27FC236}">
                  <a16:creationId xmlns:a16="http://schemas.microsoft.com/office/drawing/2014/main" id="{C26498FD-F97E-6F46-BEA7-F956A37F2D6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84" name="Group 483">
              <a:extLst>
                <a:ext uri="{FF2B5EF4-FFF2-40B4-BE49-F238E27FC236}">
                  <a16:creationId xmlns:a16="http://schemas.microsoft.com/office/drawing/2014/main" id="{4B199B5D-B0F2-F94C-AAFD-545329FAA357}"/>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A984816-55BC-1943-8DD5-DBCE6EF51AB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6" name="Freeform 485">
                <a:extLst>
                  <a:ext uri="{FF2B5EF4-FFF2-40B4-BE49-F238E27FC236}">
                    <a16:creationId xmlns:a16="http://schemas.microsoft.com/office/drawing/2014/main" id="{8B1D42DB-E8C1-B749-80E2-583CD1B0E4B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7" name="Freeform 486">
                <a:extLst>
                  <a:ext uri="{FF2B5EF4-FFF2-40B4-BE49-F238E27FC236}">
                    <a16:creationId xmlns:a16="http://schemas.microsoft.com/office/drawing/2014/main" id="{CB8F94FA-C42F-BD4D-AA00-66857F0E454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8" name="Freeform 487">
                <a:extLst>
                  <a:ext uri="{FF2B5EF4-FFF2-40B4-BE49-F238E27FC236}">
                    <a16:creationId xmlns:a16="http://schemas.microsoft.com/office/drawing/2014/main" id="{FAB6ECD2-0C1A-1046-85EC-5E3375620D1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89" name="Group 488">
            <a:extLst>
              <a:ext uri="{FF2B5EF4-FFF2-40B4-BE49-F238E27FC236}">
                <a16:creationId xmlns:a16="http://schemas.microsoft.com/office/drawing/2014/main" id="{9E25896D-D1F7-2A4E-8C08-BF5F88840367}"/>
              </a:ext>
            </a:extLst>
          </p:cNvPr>
          <p:cNvGrpSpPr/>
          <p:nvPr/>
        </p:nvGrpSpPr>
        <p:grpSpPr>
          <a:xfrm>
            <a:off x="7848738" y="2976754"/>
            <a:ext cx="3007624" cy="1690703"/>
            <a:chOff x="7774998" y="3463448"/>
            <a:chExt cx="3007624" cy="1690703"/>
          </a:xfrm>
        </p:grpSpPr>
        <p:grpSp>
          <p:nvGrpSpPr>
            <p:cNvPr id="490" name="Group 489">
              <a:extLst>
                <a:ext uri="{FF2B5EF4-FFF2-40B4-BE49-F238E27FC236}">
                  <a16:creationId xmlns:a16="http://schemas.microsoft.com/office/drawing/2014/main" id="{1B61A7BB-F744-994C-90B5-288246058DE4}"/>
                </a:ext>
              </a:extLst>
            </p:cNvPr>
            <p:cNvGrpSpPr/>
            <p:nvPr/>
          </p:nvGrpSpPr>
          <p:grpSpPr>
            <a:xfrm>
              <a:off x="7774998" y="4090572"/>
              <a:ext cx="571917" cy="577694"/>
              <a:chOff x="7774998" y="4090572"/>
              <a:chExt cx="571917" cy="577694"/>
            </a:xfrm>
          </p:grpSpPr>
          <p:sp>
            <p:nvSpPr>
              <p:cNvPr id="523" name="Freeform 917">
                <a:extLst>
                  <a:ext uri="{FF2B5EF4-FFF2-40B4-BE49-F238E27FC236}">
                    <a16:creationId xmlns:a16="http://schemas.microsoft.com/office/drawing/2014/main" id="{67AE9544-ABCE-9C49-A73B-B92D479DC854}"/>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24" name="Group 523">
                <a:extLst>
                  <a:ext uri="{FF2B5EF4-FFF2-40B4-BE49-F238E27FC236}">
                    <a16:creationId xmlns:a16="http://schemas.microsoft.com/office/drawing/2014/main" id="{FD9ADAD3-8D40-514D-8DB2-D40B73122CB1}"/>
                  </a:ext>
                </a:extLst>
              </p:cNvPr>
              <p:cNvGrpSpPr/>
              <p:nvPr/>
            </p:nvGrpSpPr>
            <p:grpSpPr>
              <a:xfrm>
                <a:off x="7774998" y="4206600"/>
                <a:ext cx="571917" cy="461666"/>
                <a:chOff x="9980560" y="726571"/>
                <a:chExt cx="659732" cy="461666"/>
              </a:xfrm>
            </p:grpSpPr>
            <p:sp>
              <p:nvSpPr>
                <p:cNvPr id="525" name="Rectangle 228">
                  <a:extLst>
                    <a:ext uri="{FF2B5EF4-FFF2-40B4-BE49-F238E27FC236}">
                      <a16:creationId xmlns:a16="http://schemas.microsoft.com/office/drawing/2014/main" id="{453FD1E4-24AF-0A42-B4B1-544CBE8B93E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26" name="Rectangle 229">
                  <a:extLst>
                    <a:ext uri="{FF2B5EF4-FFF2-40B4-BE49-F238E27FC236}">
                      <a16:creationId xmlns:a16="http://schemas.microsoft.com/office/drawing/2014/main" id="{ACF4D48D-7AFA-394B-A044-64C00BD3135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27" name="Text Box 230">
                  <a:extLst>
                    <a:ext uri="{FF2B5EF4-FFF2-40B4-BE49-F238E27FC236}">
                      <a16:creationId xmlns:a16="http://schemas.microsoft.com/office/drawing/2014/main" id="{F350703C-00E6-D544-8995-7B4A30E7AD1B}"/>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28" name="Straight Connector 527">
                  <a:extLst>
                    <a:ext uri="{FF2B5EF4-FFF2-40B4-BE49-F238E27FC236}">
                      <a16:creationId xmlns:a16="http://schemas.microsoft.com/office/drawing/2014/main" id="{A4E7F05F-DB39-B246-BA17-A367DF40D51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987D26AB-AF4C-4B49-8766-91AAC5C3236C}"/>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1" name="Group 490">
              <a:extLst>
                <a:ext uri="{FF2B5EF4-FFF2-40B4-BE49-F238E27FC236}">
                  <a16:creationId xmlns:a16="http://schemas.microsoft.com/office/drawing/2014/main" id="{7ACA2B35-418A-C24A-BBBD-95671C866478}"/>
                </a:ext>
              </a:extLst>
            </p:cNvPr>
            <p:cNvGrpSpPr/>
            <p:nvPr/>
          </p:nvGrpSpPr>
          <p:grpSpPr>
            <a:xfrm>
              <a:off x="8692628" y="3463448"/>
              <a:ext cx="571917" cy="574365"/>
              <a:chOff x="8692628" y="3463448"/>
              <a:chExt cx="571917" cy="574365"/>
            </a:xfrm>
          </p:grpSpPr>
          <p:sp>
            <p:nvSpPr>
              <p:cNvPr id="516" name="Freeform 917">
                <a:extLst>
                  <a:ext uri="{FF2B5EF4-FFF2-40B4-BE49-F238E27FC236}">
                    <a16:creationId xmlns:a16="http://schemas.microsoft.com/office/drawing/2014/main" id="{1B39E48E-11D1-2A49-BEB2-4A3DE3E52E7F}"/>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17" name="Group 516">
                <a:extLst>
                  <a:ext uri="{FF2B5EF4-FFF2-40B4-BE49-F238E27FC236}">
                    <a16:creationId xmlns:a16="http://schemas.microsoft.com/office/drawing/2014/main" id="{F43CF6AB-41BF-A04B-8264-3F204E68E6FB}"/>
                  </a:ext>
                </a:extLst>
              </p:cNvPr>
              <p:cNvGrpSpPr/>
              <p:nvPr/>
            </p:nvGrpSpPr>
            <p:grpSpPr>
              <a:xfrm>
                <a:off x="8692628" y="3463448"/>
                <a:ext cx="571917" cy="461666"/>
                <a:chOff x="9980560" y="726571"/>
                <a:chExt cx="659732" cy="461666"/>
              </a:xfrm>
            </p:grpSpPr>
            <p:sp>
              <p:nvSpPr>
                <p:cNvPr id="518" name="Rectangle 228">
                  <a:extLst>
                    <a:ext uri="{FF2B5EF4-FFF2-40B4-BE49-F238E27FC236}">
                      <a16:creationId xmlns:a16="http://schemas.microsoft.com/office/drawing/2014/main" id="{DCF5B501-314A-3D4C-90A1-E45107AEFB7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19" name="Rectangle 229">
                  <a:extLst>
                    <a:ext uri="{FF2B5EF4-FFF2-40B4-BE49-F238E27FC236}">
                      <a16:creationId xmlns:a16="http://schemas.microsoft.com/office/drawing/2014/main" id="{8A760FE8-2AF8-D047-B448-6D14997CB6F7}"/>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20" name="Text Box 230">
                  <a:extLst>
                    <a:ext uri="{FF2B5EF4-FFF2-40B4-BE49-F238E27FC236}">
                      <a16:creationId xmlns:a16="http://schemas.microsoft.com/office/drawing/2014/main" id="{81AD7D48-5DBF-B140-BBAC-EF36A1DCADE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21" name="Straight Connector 520">
                  <a:extLst>
                    <a:ext uri="{FF2B5EF4-FFF2-40B4-BE49-F238E27FC236}">
                      <a16:creationId xmlns:a16="http://schemas.microsoft.com/office/drawing/2014/main" id="{10225287-A970-334C-96E6-BB42F39A3119}"/>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585D3D77-62B9-C346-9D1A-8A3555BAADAA}"/>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2" name="Group 491">
              <a:extLst>
                <a:ext uri="{FF2B5EF4-FFF2-40B4-BE49-F238E27FC236}">
                  <a16:creationId xmlns:a16="http://schemas.microsoft.com/office/drawing/2014/main" id="{99C7DE0F-016E-FE40-A619-F6309459B199}"/>
                </a:ext>
              </a:extLst>
            </p:cNvPr>
            <p:cNvGrpSpPr/>
            <p:nvPr/>
          </p:nvGrpSpPr>
          <p:grpSpPr>
            <a:xfrm>
              <a:off x="9846130" y="3502221"/>
              <a:ext cx="571917" cy="607211"/>
              <a:chOff x="9846130" y="3502221"/>
              <a:chExt cx="571917" cy="607211"/>
            </a:xfrm>
          </p:grpSpPr>
          <p:sp>
            <p:nvSpPr>
              <p:cNvPr id="509" name="Freeform 917">
                <a:extLst>
                  <a:ext uri="{FF2B5EF4-FFF2-40B4-BE49-F238E27FC236}">
                    <a16:creationId xmlns:a16="http://schemas.microsoft.com/office/drawing/2014/main" id="{F61365F4-AF8A-7946-BAE2-C24405A00FD5}"/>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10" name="Group 509">
                <a:extLst>
                  <a:ext uri="{FF2B5EF4-FFF2-40B4-BE49-F238E27FC236}">
                    <a16:creationId xmlns:a16="http://schemas.microsoft.com/office/drawing/2014/main" id="{B9D23B02-A16D-054E-9F56-ACE4882F9465}"/>
                  </a:ext>
                </a:extLst>
              </p:cNvPr>
              <p:cNvGrpSpPr/>
              <p:nvPr/>
            </p:nvGrpSpPr>
            <p:grpSpPr>
              <a:xfrm>
                <a:off x="9846130" y="3502221"/>
                <a:ext cx="571917" cy="461666"/>
                <a:chOff x="9980560" y="726571"/>
                <a:chExt cx="659732" cy="461666"/>
              </a:xfrm>
            </p:grpSpPr>
            <p:sp>
              <p:nvSpPr>
                <p:cNvPr id="511" name="Rectangle 228">
                  <a:extLst>
                    <a:ext uri="{FF2B5EF4-FFF2-40B4-BE49-F238E27FC236}">
                      <a16:creationId xmlns:a16="http://schemas.microsoft.com/office/drawing/2014/main" id="{D8196C66-5ACD-F440-9D67-38ED9AB1DBEC}"/>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12" name="Rectangle 229">
                  <a:extLst>
                    <a:ext uri="{FF2B5EF4-FFF2-40B4-BE49-F238E27FC236}">
                      <a16:creationId xmlns:a16="http://schemas.microsoft.com/office/drawing/2014/main" id="{E2A04A91-A7A2-844E-A202-E5174F201E33}"/>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13" name="Text Box 230">
                  <a:extLst>
                    <a:ext uri="{FF2B5EF4-FFF2-40B4-BE49-F238E27FC236}">
                      <a16:creationId xmlns:a16="http://schemas.microsoft.com/office/drawing/2014/main" id="{C660DE0E-7128-8A4E-8A4B-C829B6CB2B99}"/>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14" name="Straight Connector 513">
                  <a:extLst>
                    <a:ext uri="{FF2B5EF4-FFF2-40B4-BE49-F238E27FC236}">
                      <a16:creationId xmlns:a16="http://schemas.microsoft.com/office/drawing/2014/main" id="{18B24C5B-DDAD-664C-B7C8-511BEF3C883F}"/>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D26F734D-CDBF-C940-BA08-558A6C9FC84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3" name="Group 492">
              <a:extLst>
                <a:ext uri="{FF2B5EF4-FFF2-40B4-BE49-F238E27FC236}">
                  <a16:creationId xmlns:a16="http://schemas.microsoft.com/office/drawing/2014/main" id="{38FD6327-86A9-CE4D-9578-2AAEA1D9BB04}"/>
                </a:ext>
              </a:extLst>
            </p:cNvPr>
            <p:cNvGrpSpPr/>
            <p:nvPr/>
          </p:nvGrpSpPr>
          <p:grpSpPr>
            <a:xfrm>
              <a:off x="9554792" y="4299763"/>
              <a:ext cx="571917" cy="630904"/>
              <a:chOff x="9554792" y="4299763"/>
              <a:chExt cx="571917" cy="630904"/>
            </a:xfrm>
          </p:grpSpPr>
          <p:sp>
            <p:nvSpPr>
              <p:cNvPr id="502" name="Freeform 917">
                <a:extLst>
                  <a:ext uri="{FF2B5EF4-FFF2-40B4-BE49-F238E27FC236}">
                    <a16:creationId xmlns:a16="http://schemas.microsoft.com/office/drawing/2014/main" id="{1189185D-1F7C-B94E-B532-3E812D995744}"/>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03" name="Group 502">
                <a:extLst>
                  <a:ext uri="{FF2B5EF4-FFF2-40B4-BE49-F238E27FC236}">
                    <a16:creationId xmlns:a16="http://schemas.microsoft.com/office/drawing/2014/main" id="{B4CB1129-B032-C24F-981D-F17E21FDF808}"/>
                  </a:ext>
                </a:extLst>
              </p:cNvPr>
              <p:cNvGrpSpPr/>
              <p:nvPr/>
            </p:nvGrpSpPr>
            <p:grpSpPr>
              <a:xfrm>
                <a:off x="9554792" y="4299763"/>
                <a:ext cx="571917" cy="461666"/>
                <a:chOff x="9980560" y="726571"/>
                <a:chExt cx="659732" cy="461666"/>
              </a:xfrm>
            </p:grpSpPr>
            <p:sp>
              <p:nvSpPr>
                <p:cNvPr id="504" name="Rectangle 228">
                  <a:extLst>
                    <a:ext uri="{FF2B5EF4-FFF2-40B4-BE49-F238E27FC236}">
                      <a16:creationId xmlns:a16="http://schemas.microsoft.com/office/drawing/2014/main" id="{CCE0CE6B-4616-484D-A2D2-97A95D223C4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05" name="Rectangle 229">
                  <a:extLst>
                    <a:ext uri="{FF2B5EF4-FFF2-40B4-BE49-F238E27FC236}">
                      <a16:creationId xmlns:a16="http://schemas.microsoft.com/office/drawing/2014/main" id="{D26DD102-7516-7941-AD70-9B37EC2BD556}"/>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06" name="Text Box 230">
                  <a:extLst>
                    <a:ext uri="{FF2B5EF4-FFF2-40B4-BE49-F238E27FC236}">
                      <a16:creationId xmlns:a16="http://schemas.microsoft.com/office/drawing/2014/main" id="{1F958F41-1C91-3742-8E5E-D63C7ABC69E6}"/>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07" name="Straight Connector 506">
                  <a:extLst>
                    <a:ext uri="{FF2B5EF4-FFF2-40B4-BE49-F238E27FC236}">
                      <a16:creationId xmlns:a16="http://schemas.microsoft.com/office/drawing/2014/main" id="{65CAD0DA-ECB6-FF46-8BF8-7B4132226870}"/>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C7CD87E0-C83F-0F48-9FE9-45EF45C8B51C}"/>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4" name="Group 493">
              <a:extLst>
                <a:ext uri="{FF2B5EF4-FFF2-40B4-BE49-F238E27FC236}">
                  <a16:creationId xmlns:a16="http://schemas.microsoft.com/office/drawing/2014/main" id="{017CCCDD-4C17-AD45-9653-B55DDD72AFD2}"/>
                </a:ext>
              </a:extLst>
            </p:cNvPr>
            <p:cNvGrpSpPr/>
            <p:nvPr/>
          </p:nvGrpSpPr>
          <p:grpSpPr>
            <a:xfrm>
              <a:off x="10153753" y="4577638"/>
              <a:ext cx="628869" cy="576513"/>
              <a:chOff x="10153753" y="4577638"/>
              <a:chExt cx="628869" cy="576513"/>
            </a:xfrm>
          </p:grpSpPr>
          <p:sp>
            <p:nvSpPr>
              <p:cNvPr id="495" name="Freeform 917">
                <a:extLst>
                  <a:ext uri="{FF2B5EF4-FFF2-40B4-BE49-F238E27FC236}">
                    <a16:creationId xmlns:a16="http://schemas.microsoft.com/office/drawing/2014/main" id="{97591357-9173-9047-99D7-EEF6AA2E91BE}"/>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496" name="Group 495">
                <a:extLst>
                  <a:ext uri="{FF2B5EF4-FFF2-40B4-BE49-F238E27FC236}">
                    <a16:creationId xmlns:a16="http://schemas.microsoft.com/office/drawing/2014/main" id="{8B40CC4E-61E1-7147-B950-B5A9495E9B83}"/>
                  </a:ext>
                </a:extLst>
              </p:cNvPr>
              <p:cNvGrpSpPr/>
              <p:nvPr/>
            </p:nvGrpSpPr>
            <p:grpSpPr>
              <a:xfrm>
                <a:off x="10210705" y="4577638"/>
                <a:ext cx="571917" cy="461666"/>
                <a:chOff x="9980560" y="726571"/>
                <a:chExt cx="659732" cy="461666"/>
              </a:xfrm>
            </p:grpSpPr>
            <p:sp>
              <p:nvSpPr>
                <p:cNvPr id="497" name="Rectangle 228">
                  <a:extLst>
                    <a:ext uri="{FF2B5EF4-FFF2-40B4-BE49-F238E27FC236}">
                      <a16:creationId xmlns:a16="http://schemas.microsoft.com/office/drawing/2014/main" id="{D2D44BCA-E28A-FA41-AF35-848ECEF07019}"/>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98" name="Rectangle 229">
                  <a:extLst>
                    <a:ext uri="{FF2B5EF4-FFF2-40B4-BE49-F238E27FC236}">
                      <a16:creationId xmlns:a16="http://schemas.microsoft.com/office/drawing/2014/main" id="{D389761B-E426-DB42-85C3-D511639FC06E}"/>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99" name="Text Box 230">
                  <a:extLst>
                    <a:ext uri="{FF2B5EF4-FFF2-40B4-BE49-F238E27FC236}">
                      <a16:creationId xmlns:a16="http://schemas.microsoft.com/office/drawing/2014/main" id="{3DB5EBC6-C337-BB4C-B251-28D5B838EF69}"/>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00" name="Straight Connector 499">
                  <a:extLst>
                    <a:ext uri="{FF2B5EF4-FFF2-40B4-BE49-F238E27FC236}">
                      <a16:creationId xmlns:a16="http://schemas.microsoft.com/office/drawing/2014/main" id="{8479EDDB-D000-FE4F-B1BE-1440681E30E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4B266B2A-3BB6-1B4F-AFEF-AAB669208BEF}"/>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530" name="Group 529">
            <a:extLst>
              <a:ext uri="{FF2B5EF4-FFF2-40B4-BE49-F238E27FC236}">
                <a16:creationId xmlns:a16="http://schemas.microsoft.com/office/drawing/2014/main" id="{0E5911E9-912E-A74C-9314-F819FE0F68F9}"/>
              </a:ext>
            </a:extLst>
          </p:cNvPr>
          <p:cNvGrpSpPr/>
          <p:nvPr/>
        </p:nvGrpSpPr>
        <p:grpSpPr>
          <a:xfrm>
            <a:off x="9857298" y="4503289"/>
            <a:ext cx="393760" cy="218578"/>
            <a:chOff x="7493876" y="2774731"/>
            <a:chExt cx="1481958" cy="894622"/>
          </a:xfrm>
        </p:grpSpPr>
        <p:sp>
          <p:nvSpPr>
            <p:cNvPr id="531" name="Freeform 530">
              <a:extLst>
                <a:ext uri="{FF2B5EF4-FFF2-40B4-BE49-F238E27FC236}">
                  <a16:creationId xmlns:a16="http://schemas.microsoft.com/office/drawing/2014/main" id="{607075C2-B6C5-9040-B4CF-2B70E9105E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32" name="Oval 531">
              <a:extLst>
                <a:ext uri="{FF2B5EF4-FFF2-40B4-BE49-F238E27FC236}">
                  <a16:creationId xmlns:a16="http://schemas.microsoft.com/office/drawing/2014/main" id="{E1345A0C-4A4C-F641-BBD0-7933F8056C0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33" name="Group 532">
              <a:extLst>
                <a:ext uri="{FF2B5EF4-FFF2-40B4-BE49-F238E27FC236}">
                  <a16:creationId xmlns:a16="http://schemas.microsoft.com/office/drawing/2014/main" id="{31C7191D-3480-654D-965C-3B4C97B7A45C}"/>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EE001FF1-F9D3-0947-96F9-2AF2D9DFCA0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5" name="Freeform 534">
                <a:extLst>
                  <a:ext uri="{FF2B5EF4-FFF2-40B4-BE49-F238E27FC236}">
                    <a16:creationId xmlns:a16="http://schemas.microsoft.com/office/drawing/2014/main" id="{45E8ED17-9799-6442-8FBA-D34F88BCEC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6" name="Freeform 535">
                <a:extLst>
                  <a:ext uri="{FF2B5EF4-FFF2-40B4-BE49-F238E27FC236}">
                    <a16:creationId xmlns:a16="http://schemas.microsoft.com/office/drawing/2014/main" id="{F65478EB-2F48-3744-B46F-1455A255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7" name="Freeform 536">
                <a:extLst>
                  <a:ext uri="{FF2B5EF4-FFF2-40B4-BE49-F238E27FC236}">
                    <a16:creationId xmlns:a16="http://schemas.microsoft.com/office/drawing/2014/main" id="{1EEBD73D-ED6E-D444-91D9-C7EA735BBFE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sp>
        <p:nvSpPr>
          <p:cNvPr id="538" name="Freeform 537">
            <a:extLst>
              <a:ext uri="{FF2B5EF4-FFF2-40B4-BE49-F238E27FC236}">
                <a16:creationId xmlns:a16="http://schemas.microsoft.com/office/drawing/2014/main" id="{431F7FF5-7027-894E-929D-18B244822EFA}"/>
              </a:ext>
            </a:extLst>
          </p:cNvPr>
          <p:cNvSpPr/>
          <p:nvPr/>
        </p:nvSpPr>
        <p:spPr>
          <a:xfrm>
            <a:off x="7362436" y="2627566"/>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39</a:t>
            </a:fld>
            <a:endParaRPr lang="en-US" dirty="0">
              <a:solidFill>
                <a:prstClr val="white">
                  <a:lumMod val="50000"/>
                </a:prstClr>
              </a:solidFill>
            </a:endParaRPr>
          </a:p>
        </p:txBody>
      </p:sp>
    </p:spTree>
    <p:extLst>
      <p:ext uri="{BB962C8B-B14F-4D97-AF65-F5344CB8AC3E}">
        <p14:creationId xmlns:p14="http://schemas.microsoft.com/office/powerpoint/2010/main" val="3732929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6860458" cy="894622"/>
          </a:xfrm>
        </p:spPr>
        <p:txBody>
          <a:bodyPr/>
          <a:lstStyle/>
          <a:p>
            <a:r>
              <a:rPr lang="en-US" dirty="0"/>
              <a:t>Graph abstraction: link costs</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40</a:t>
            </a:fld>
            <a:endParaRPr lang="en-US" dirty="0">
              <a:solidFill>
                <a:prstClr val="white">
                  <a:lumMod val="50000"/>
                </a:prstClr>
              </a:solidFill>
            </a:endParaRPr>
          </a:p>
        </p:txBody>
      </p:sp>
      <p:grpSp>
        <p:nvGrpSpPr>
          <p:cNvPr id="611" name="Group 2">
            <a:extLst>
              <a:ext uri="{FF2B5EF4-FFF2-40B4-BE49-F238E27FC236}">
                <a16:creationId xmlns:a16="http://schemas.microsoft.com/office/drawing/2014/main" id="{8F3AF934-05FC-1741-9920-1E37F407434E}"/>
              </a:ext>
            </a:extLst>
          </p:cNvPr>
          <p:cNvGrpSpPr>
            <a:grpSpLocks/>
          </p:cNvGrpSpPr>
          <p:nvPr/>
        </p:nvGrpSpPr>
        <p:grpSpPr bwMode="auto">
          <a:xfrm>
            <a:off x="1238864" y="1288538"/>
            <a:ext cx="3571875" cy="2236788"/>
            <a:chOff x="3162" y="1071"/>
            <a:chExt cx="2250" cy="1409"/>
          </a:xfrm>
        </p:grpSpPr>
        <p:sp>
          <p:nvSpPr>
            <p:cNvPr id="612" name="Freeform 3">
              <a:extLst>
                <a:ext uri="{FF2B5EF4-FFF2-40B4-BE49-F238E27FC236}">
                  <a16:creationId xmlns:a16="http://schemas.microsoft.com/office/drawing/2014/main" id="{453067FB-5417-D747-A9D1-7A886199D86C}"/>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3" name="Freeform 4">
              <a:extLst>
                <a:ext uri="{FF2B5EF4-FFF2-40B4-BE49-F238E27FC236}">
                  <a16:creationId xmlns:a16="http://schemas.microsoft.com/office/drawing/2014/main" id="{33DAED7D-3A7B-904E-9B5E-9FC4FC3D1E38}"/>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4" name="Oval 5">
              <a:extLst>
                <a:ext uri="{FF2B5EF4-FFF2-40B4-BE49-F238E27FC236}">
                  <a16:creationId xmlns:a16="http://schemas.microsoft.com/office/drawing/2014/main" id="{2170DD72-9E40-764D-9C66-5662F5C98D05}"/>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5" name="Line 6">
              <a:extLst>
                <a:ext uri="{FF2B5EF4-FFF2-40B4-BE49-F238E27FC236}">
                  <a16:creationId xmlns:a16="http://schemas.microsoft.com/office/drawing/2014/main" id="{AD1E8D51-D03D-3E44-9ECF-8CEF9C546F90}"/>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6" name="Line 7">
              <a:extLst>
                <a:ext uri="{FF2B5EF4-FFF2-40B4-BE49-F238E27FC236}">
                  <a16:creationId xmlns:a16="http://schemas.microsoft.com/office/drawing/2014/main" id="{EF7881A8-F3AA-5647-81DD-BFEC3F67F959}"/>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7" name="Rectangle 8">
              <a:extLst>
                <a:ext uri="{FF2B5EF4-FFF2-40B4-BE49-F238E27FC236}">
                  <a16:creationId xmlns:a16="http://schemas.microsoft.com/office/drawing/2014/main" id="{9DDD93A0-0B9F-214B-88D4-CA45AABB318B}"/>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18" name="Oval 9">
              <a:extLst>
                <a:ext uri="{FF2B5EF4-FFF2-40B4-BE49-F238E27FC236}">
                  <a16:creationId xmlns:a16="http://schemas.microsoft.com/office/drawing/2014/main" id="{D83D8A8A-8F8F-A047-B67A-4E57193F1399}"/>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9" name="Oval 10">
              <a:extLst>
                <a:ext uri="{FF2B5EF4-FFF2-40B4-BE49-F238E27FC236}">
                  <a16:creationId xmlns:a16="http://schemas.microsoft.com/office/drawing/2014/main" id="{21DC2241-7526-B048-963D-024ABCFF5D20}"/>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0" name="Line 11">
              <a:extLst>
                <a:ext uri="{FF2B5EF4-FFF2-40B4-BE49-F238E27FC236}">
                  <a16:creationId xmlns:a16="http://schemas.microsoft.com/office/drawing/2014/main" id="{137382C1-9446-A94A-A118-0B9E495EDA6B}"/>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1" name="Line 12">
              <a:extLst>
                <a:ext uri="{FF2B5EF4-FFF2-40B4-BE49-F238E27FC236}">
                  <a16:creationId xmlns:a16="http://schemas.microsoft.com/office/drawing/2014/main" id="{04A9146B-C80E-C141-9048-092B193CAB0B}"/>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2" name="Rectangle 13">
              <a:extLst>
                <a:ext uri="{FF2B5EF4-FFF2-40B4-BE49-F238E27FC236}">
                  <a16:creationId xmlns:a16="http://schemas.microsoft.com/office/drawing/2014/main" id="{E3CEEEB9-7637-A644-99B6-2A13DFD47D3A}"/>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23" name="Oval 14">
              <a:extLst>
                <a:ext uri="{FF2B5EF4-FFF2-40B4-BE49-F238E27FC236}">
                  <a16:creationId xmlns:a16="http://schemas.microsoft.com/office/drawing/2014/main" id="{C107E8DA-8746-AF42-A141-86F28CAF62DC}"/>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4" name="Oval 15">
              <a:extLst>
                <a:ext uri="{FF2B5EF4-FFF2-40B4-BE49-F238E27FC236}">
                  <a16:creationId xmlns:a16="http://schemas.microsoft.com/office/drawing/2014/main" id="{5F2BA590-63EE-0C46-A5CA-02573C500CC0}"/>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5" name="Line 16">
              <a:extLst>
                <a:ext uri="{FF2B5EF4-FFF2-40B4-BE49-F238E27FC236}">
                  <a16:creationId xmlns:a16="http://schemas.microsoft.com/office/drawing/2014/main" id="{11080E94-1F03-714E-8AB1-3B4DEA4A9AA9}"/>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6" name="Line 17">
              <a:extLst>
                <a:ext uri="{FF2B5EF4-FFF2-40B4-BE49-F238E27FC236}">
                  <a16:creationId xmlns:a16="http://schemas.microsoft.com/office/drawing/2014/main" id="{FE188877-FC11-9F4C-9A67-6A13C778D425}"/>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7" name="Rectangle 18">
              <a:extLst>
                <a:ext uri="{FF2B5EF4-FFF2-40B4-BE49-F238E27FC236}">
                  <a16:creationId xmlns:a16="http://schemas.microsoft.com/office/drawing/2014/main" id="{AB0D0A23-CA41-9C45-8823-F5E417571B82}"/>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28" name="Oval 19">
              <a:extLst>
                <a:ext uri="{FF2B5EF4-FFF2-40B4-BE49-F238E27FC236}">
                  <a16:creationId xmlns:a16="http://schemas.microsoft.com/office/drawing/2014/main" id="{A3557876-CBC0-904A-8546-3AF399CF148A}"/>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9" name="Oval 20">
              <a:extLst>
                <a:ext uri="{FF2B5EF4-FFF2-40B4-BE49-F238E27FC236}">
                  <a16:creationId xmlns:a16="http://schemas.microsoft.com/office/drawing/2014/main" id="{C3E2692B-8831-754F-9E6E-008C343B6B61}"/>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0" name="Line 21">
              <a:extLst>
                <a:ext uri="{FF2B5EF4-FFF2-40B4-BE49-F238E27FC236}">
                  <a16:creationId xmlns:a16="http://schemas.microsoft.com/office/drawing/2014/main" id="{9123636B-BAFA-2440-8260-5EA0CA220D6F}"/>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1" name="Line 22">
              <a:extLst>
                <a:ext uri="{FF2B5EF4-FFF2-40B4-BE49-F238E27FC236}">
                  <a16:creationId xmlns:a16="http://schemas.microsoft.com/office/drawing/2014/main" id="{EFE8FE51-3AD2-4745-ADE0-A43C031219CA}"/>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2" name="Rectangle 23">
              <a:extLst>
                <a:ext uri="{FF2B5EF4-FFF2-40B4-BE49-F238E27FC236}">
                  <a16:creationId xmlns:a16="http://schemas.microsoft.com/office/drawing/2014/main" id="{FD42180D-C903-D144-9E3E-AD4A52F5CF93}"/>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33" name="Oval 24">
              <a:extLst>
                <a:ext uri="{FF2B5EF4-FFF2-40B4-BE49-F238E27FC236}">
                  <a16:creationId xmlns:a16="http://schemas.microsoft.com/office/drawing/2014/main" id="{F07CE376-92DE-2A4B-8855-4035B688D7D8}"/>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4" name="Oval 25">
              <a:extLst>
                <a:ext uri="{FF2B5EF4-FFF2-40B4-BE49-F238E27FC236}">
                  <a16:creationId xmlns:a16="http://schemas.microsoft.com/office/drawing/2014/main" id="{E4EA7D36-77DD-114A-A537-3E5E6AF3A920}"/>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5" name="Line 26">
              <a:extLst>
                <a:ext uri="{FF2B5EF4-FFF2-40B4-BE49-F238E27FC236}">
                  <a16:creationId xmlns:a16="http://schemas.microsoft.com/office/drawing/2014/main" id="{B4B8F4B2-F24A-4049-A3F6-305EE1D36163}"/>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6" name="Line 27">
              <a:extLst>
                <a:ext uri="{FF2B5EF4-FFF2-40B4-BE49-F238E27FC236}">
                  <a16:creationId xmlns:a16="http://schemas.microsoft.com/office/drawing/2014/main" id="{A5D15F50-B753-C442-91B9-889011830AC6}"/>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7" name="Rectangle 28">
              <a:extLst>
                <a:ext uri="{FF2B5EF4-FFF2-40B4-BE49-F238E27FC236}">
                  <a16:creationId xmlns:a16="http://schemas.microsoft.com/office/drawing/2014/main" id="{629ABB40-A5DD-844A-ABE9-8F6A1075B33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38" name="Oval 29">
              <a:extLst>
                <a:ext uri="{FF2B5EF4-FFF2-40B4-BE49-F238E27FC236}">
                  <a16:creationId xmlns:a16="http://schemas.microsoft.com/office/drawing/2014/main" id="{FE70825F-F5BB-2A42-A076-DCF34282568A}"/>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9" name="Oval 30">
              <a:extLst>
                <a:ext uri="{FF2B5EF4-FFF2-40B4-BE49-F238E27FC236}">
                  <a16:creationId xmlns:a16="http://schemas.microsoft.com/office/drawing/2014/main" id="{E5C07A67-14B1-2749-8C45-CCF8A7156D5A}"/>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0" name="Line 31">
              <a:extLst>
                <a:ext uri="{FF2B5EF4-FFF2-40B4-BE49-F238E27FC236}">
                  <a16:creationId xmlns:a16="http://schemas.microsoft.com/office/drawing/2014/main" id="{0542E5EA-1D03-AB4F-9FEC-B3A92BC33B70}"/>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1" name="Line 32">
              <a:extLst>
                <a:ext uri="{FF2B5EF4-FFF2-40B4-BE49-F238E27FC236}">
                  <a16:creationId xmlns:a16="http://schemas.microsoft.com/office/drawing/2014/main" id="{5443EC84-61B8-B843-A6E1-5A4F636A64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2" name="Rectangle 33">
              <a:extLst>
                <a:ext uri="{FF2B5EF4-FFF2-40B4-BE49-F238E27FC236}">
                  <a16:creationId xmlns:a16="http://schemas.microsoft.com/office/drawing/2014/main" id="{9782BC94-E1A7-5740-A6A1-585BA6B4E039}"/>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43" name="Oval 34">
              <a:extLst>
                <a:ext uri="{FF2B5EF4-FFF2-40B4-BE49-F238E27FC236}">
                  <a16:creationId xmlns:a16="http://schemas.microsoft.com/office/drawing/2014/main" id="{347E1E2B-9AA3-814E-88C5-98C1961995D2}"/>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4" name="Freeform 35">
              <a:extLst>
                <a:ext uri="{FF2B5EF4-FFF2-40B4-BE49-F238E27FC236}">
                  <a16:creationId xmlns:a16="http://schemas.microsoft.com/office/drawing/2014/main" id="{321283E4-4A33-8C40-9132-D98702BFF0D3}"/>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5" name="Freeform 36">
              <a:extLst>
                <a:ext uri="{FF2B5EF4-FFF2-40B4-BE49-F238E27FC236}">
                  <a16:creationId xmlns:a16="http://schemas.microsoft.com/office/drawing/2014/main" id="{E75C929F-25A5-CE44-BC4C-F4689510C261}"/>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6" name="Freeform 37">
              <a:extLst>
                <a:ext uri="{FF2B5EF4-FFF2-40B4-BE49-F238E27FC236}">
                  <a16:creationId xmlns:a16="http://schemas.microsoft.com/office/drawing/2014/main" id="{145717E6-3976-BF4C-B776-D1C932E8D60A}"/>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7" name="Freeform 38">
              <a:extLst>
                <a:ext uri="{FF2B5EF4-FFF2-40B4-BE49-F238E27FC236}">
                  <a16:creationId xmlns:a16="http://schemas.microsoft.com/office/drawing/2014/main" id="{A208B769-70F6-9E4C-960A-A8DFC0ECA40A}"/>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8" name="Freeform 39">
              <a:extLst>
                <a:ext uri="{FF2B5EF4-FFF2-40B4-BE49-F238E27FC236}">
                  <a16:creationId xmlns:a16="http://schemas.microsoft.com/office/drawing/2014/main" id="{B59A27ED-2064-ED4C-B8FC-0E8B32DB7B8A}"/>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9" name="Freeform 40">
              <a:extLst>
                <a:ext uri="{FF2B5EF4-FFF2-40B4-BE49-F238E27FC236}">
                  <a16:creationId xmlns:a16="http://schemas.microsoft.com/office/drawing/2014/main" id="{121316DC-42A4-644A-9197-5C50258A0563}"/>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50" name="Freeform 41">
              <a:extLst>
                <a:ext uri="{FF2B5EF4-FFF2-40B4-BE49-F238E27FC236}">
                  <a16:creationId xmlns:a16="http://schemas.microsoft.com/office/drawing/2014/main" id="{12DEF568-9364-4644-9D5B-A432330238D4}"/>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51" name="Freeform 42">
              <a:extLst>
                <a:ext uri="{FF2B5EF4-FFF2-40B4-BE49-F238E27FC236}">
                  <a16:creationId xmlns:a16="http://schemas.microsoft.com/office/drawing/2014/main" id="{DFA2F297-7F20-564C-A937-26867B0AEE3B}"/>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52" name="Freeform 43">
              <a:extLst>
                <a:ext uri="{FF2B5EF4-FFF2-40B4-BE49-F238E27FC236}">
                  <a16:creationId xmlns:a16="http://schemas.microsoft.com/office/drawing/2014/main" id="{62A27136-D795-774F-8FF9-34713D46471F}"/>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653" name="Group 44">
              <a:extLst>
                <a:ext uri="{FF2B5EF4-FFF2-40B4-BE49-F238E27FC236}">
                  <a16:creationId xmlns:a16="http://schemas.microsoft.com/office/drawing/2014/main" id="{C99C2CD4-C4EA-C04D-8AAE-36D8B62990BB}"/>
                </a:ext>
              </a:extLst>
            </p:cNvPr>
            <p:cNvGrpSpPr>
              <a:grpSpLocks/>
            </p:cNvGrpSpPr>
            <p:nvPr/>
          </p:nvGrpSpPr>
          <p:grpSpPr bwMode="auto">
            <a:xfrm>
              <a:off x="3287" y="1744"/>
              <a:ext cx="205" cy="250"/>
              <a:chOff x="2954" y="2425"/>
              <a:chExt cx="208" cy="250"/>
            </a:xfrm>
          </p:grpSpPr>
          <p:sp>
            <p:nvSpPr>
              <p:cNvPr id="679" name="Rectangle 45">
                <a:extLst>
                  <a:ext uri="{FF2B5EF4-FFF2-40B4-BE49-F238E27FC236}">
                    <a16:creationId xmlns:a16="http://schemas.microsoft.com/office/drawing/2014/main" id="{1CABD7F6-8165-8E4A-BE47-7EF07B5564E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80" name="Text Box 46">
                <a:extLst>
                  <a:ext uri="{FF2B5EF4-FFF2-40B4-BE49-F238E27FC236}">
                    <a16:creationId xmlns:a16="http://schemas.microsoft.com/office/drawing/2014/main" id="{92427952-B2CD-2346-8330-8A5FCBC2B9F6}"/>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654" name="Group 47">
              <a:extLst>
                <a:ext uri="{FF2B5EF4-FFF2-40B4-BE49-F238E27FC236}">
                  <a16:creationId xmlns:a16="http://schemas.microsoft.com/office/drawing/2014/main" id="{976C96E8-0AD3-E941-A9F5-DF3E1A47DBD2}"/>
                </a:ext>
              </a:extLst>
            </p:cNvPr>
            <p:cNvGrpSpPr>
              <a:grpSpLocks/>
            </p:cNvGrpSpPr>
            <p:nvPr/>
          </p:nvGrpSpPr>
          <p:grpSpPr bwMode="auto">
            <a:xfrm>
              <a:off x="4461" y="2128"/>
              <a:ext cx="196" cy="250"/>
              <a:chOff x="2958" y="2425"/>
              <a:chExt cx="199" cy="250"/>
            </a:xfrm>
          </p:grpSpPr>
          <p:sp>
            <p:nvSpPr>
              <p:cNvPr id="677" name="Rectangle 48">
                <a:extLst>
                  <a:ext uri="{FF2B5EF4-FFF2-40B4-BE49-F238E27FC236}">
                    <a16:creationId xmlns:a16="http://schemas.microsoft.com/office/drawing/2014/main" id="{8916E3C2-1E79-4642-85BC-BCB2EADB203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8" name="Text Box 49">
                <a:extLst>
                  <a:ext uri="{FF2B5EF4-FFF2-40B4-BE49-F238E27FC236}">
                    <a16:creationId xmlns:a16="http://schemas.microsoft.com/office/drawing/2014/main" id="{031FB18A-DC18-F847-BA60-BD8DC2013EBD}"/>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655" name="Group 50">
              <a:extLst>
                <a:ext uri="{FF2B5EF4-FFF2-40B4-BE49-F238E27FC236}">
                  <a16:creationId xmlns:a16="http://schemas.microsoft.com/office/drawing/2014/main" id="{15EC6BC8-2051-9B43-8474-12F5179EE95D}"/>
                </a:ext>
              </a:extLst>
            </p:cNvPr>
            <p:cNvGrpSpPr>
              <a:grpSpLocks/>
            </p:cNvGrpSpPr>
            <p:nvPr/>
          </p:nvGrpSpPr>
          <p:grpSpPr bwMode="auto">
            <a:xfrm>
              <a:off x="3772" y="2095"/>
              <a:ext cx="212" cy="288"/>
              <a:chOff x="2951" y="2395"/>
              <a:chExt cx="213" cy="288"/>
            </a:xfrm>
          </p:grpSpPr>
          <p:sp>
            <p:nvSpPr>
              <p:cNvPr id="675" name="Rectangle 51">
                <a:extLst>
                  <a:ext uri="{FF2B5EF4-FFF2-40B4-BE49-F238E27FC236}">
                    <a16:creationId xmlns:a16="http://schemas.microsoft.com/office/drawing/2014/main" id="{1AF33268-294F-4241-927A-6DBA3F2D728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6" name="Text Box 52">
                <a:extLst>
                  <a:ext uri="{FF2B5EF4-FFF2-40B4-BE49-F238E27FC236}">
                    <a16:creationId xmlns:a16="http://schemas.microsoft.com/office/drawing/2014/main" id="{8B945CFB-A2BC-1D42-84E4-882BBC95E28F}"/>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656" name="Group 53">
              <a:extLst>
                <a:ext uri="{FF2B5EF4-FFF2-40B4-BE49-F238E27FC236}">
                  <a16:creationId xmlns:a16="http://schemas.microsoft.com/office/drawing/2014/main" id="{FDD8B679-D777-2E4D-9A1F-C71EC712AEB9}"/>
                </a:ext>
              </a:extLst>
            </p:cNvPr>
            <p:cNvGrpSpPr>
              <a:grpSpLocks/>
            </p:cNvGrpSpPr>
            <p:nvPr/>
          </p:nvGrpSpPr>
          <p:grpSpPr bwMode="auto">
            <a:xfrm>
              <a:off x="4438" y="1438"/>
              <a:ext cx="232" cy="250"/>
              <a:chOff x="2941" y="2425"/>
              <a:chExt cx="235" cy="250"/>
            </a:xfrm>
          </p:grpSpPr>
          <p:sp>
            <p:nvSpPr>
              <p:cNvPr id="673" name="Rectangle 54">
                <a:extLst>
                  <a:ext uri="{FF2B5EF4-FFF2-40B4-BE49-F238E27FC236}">
                    <a16:creationId xmlns:a16="http://schemas.microsoft.com/office/drawing/2014/main" id="{6EA1D1BF-D644-594E-9DC3-6D0351A4B43B}"/>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4" name="Text Box 55">
                <a:extLst>
                  <a:ext uri="{FF2B5EF4-FFF2-40B4-BE49-F238E27FC236}">
                    <a16:creationId xmlns:a16="http://schemas.microsoft.com/office/drawing/2014/main" id="{8FCBB617-DEFB-9744-B8A4-4E1E68D8A3D0}"/>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657" name="Group 56">
              <a:extLst>
                <a:ext uri="{FF2B5EF4-FFF2-40B4-BE49-F238E27FC236}">
                  <a16:creationId xmlns:a16="http://schemas.microsoft.com/office/drawing/2014/main" id="{28C30620-9B81-5A4E-A97C-60B4E0E32A0C}"/>
                </a:ext>
              </a:extLst>
            </p:cNvPr>
            <p:cNvGrpSpPr>
              <a:grpSpLocks/>
            </p:cNvGrpSpPr>
            <p:nvPr/>
          </p:nvGrpSpPr>
          <p:grpSpPr bwMode="auto">
            <a:xfrm>
              <a:off x="3771" y="1438"/>
              <a:ext cx="196" cy="250"/>
              <a:chOff x="2958" y="2425"/>
              <a:chExt cx="199" cy="250"/>
            </a:xfrm>
          </p:grpSpPr>
          <p:sp>
            <p:nvSpPr>
              <p:cNvPr id="671" name="Rectangle 57">
                <a:extLst>
                  <a:ext uri="{FF2B5EF4-FFF2-40B4-BE49-F238E27FC236}">
                    <a16:creationId xmlns:a16="http://schemas.microsoft.com/office/drawing/2014/main" id="{1A44830E-FAAD-D047-825F-D463DC07C53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2" name="Text Box 58">
                <a:extLst>
                  <a:ext uri="{FF2B5EF4-FFF2-40B4-BE49-F238E27FC236}">
                    <a16:creationId xmlns:a16="http://schemas.microsoft.com/office/drawing/2014/main" id="{4A4BE0CE-ED8E-064B-AF09-AA4FC512E02E}"/>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658" name="Group 59">
              <a:extLst>
                <a:ext uri="{FF2B5EF4-FFF2-40B4-BE49-F238E27FC236}">
                  <a16:creationId xmlns:a16="http://schemas.microsoft.com/office/drawing/2014/main" id="{C1F4D6C9-E81E-624A-B436-921840F8DFA8}"/>
                </a:ext>
              </a:extLst>
            </p:cNvPr>
            <p:cNvGrpSpPr>
              <a:grpSpLocks/>
            </p:cNvGrpSpPr>
            <p:nvPr/>
          </p:nvGrpSpPr>
          <p:grpSpPr bwMode="auto">
            <a:xfrm>
              <a:off x="5025" y="1756"/>
              <a:ext cx="212" cy="288"/>
              <a:chOff x="2949" y="2395"/>
              <a:chExt cx="214" cy="288"/>
            </a:xfrm>
          </p:grpSpPr>
          <p:sp>
            <p:nvSpPr>
              <p:cNvPr id="669" name="Rectangle 60">
                <a:extLst>
                  <a:ext uri="{FF2B5EF4-FFF2-40B4-BE49-F238E27FC236}">
                    <a16:creationId xmlns:a16="http://schemas.microsoft.com/office/drawing/2014/main" id="{245262F4-4026-E949-9DCB-BB9B5D9D526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0" name="Text Box 61">
                <a:extLst>
                  <a:ext uri="{FF2B5EF4-FFF2-40B4-BE49-F238E27FC236}">
                    <a16:creationId xmlns:a16="http://schemas.microsoft.com/office/drawing/2014/main" id="{AEB3CE28-3923-3C4E-B064-B7F0BA975A57}"/>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659" name="Text Box 62">
              <a:extLst>
                <a:ext uri="{FF2B5EF4-FFF2-40B4-BE49-F238E27FC236}">
                  <a16:creationId xmlns:a16="http://schemas.microsoft.com/office/drawing/2014/main" id="{701B1242-762A-7549-8469-E0E6A324702A}"/>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660" name="Text Box 63">
              <a:extLst>
                <a:ext uri="{FF2B5EF4-FFF2-40B4-BE49-F238E27FC236}">
                  <a16:creationId xmlns:a16="http://schemas.microsoft.com/office/drawing/2014/main" id="{92C7415C-205B-0141-A835-E28CCFE34A27}"/>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661" name="Text Box 64">
              <a:extLst>
                <a:ext uri="{FF2B5EF4-FFF2-40B4-BE49-F238E27FC236}">
                  <a16:creationId xmlns:a16="http://schemas.microsoft.com/office/drawing/2014/main" id="{F0F0E459-A754-BC42-AAB4-E313BB45E849}"/>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662" name="Text Box 65">
              <a:extLst>
                <a:ext uri="{FF2B5EF4-FFF2-40B4-BE49-F238E27FC236}">
                  <a16:creationId xmlns:a16="http://schemas.microsoft.com/office/drawing/2014/main" id="{5A0B6924-9D83-BD4A-8CFE-9500663C144B}"/>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663" name="Text Box 66">
              <a:extLst>
                <a:ext uri="{FF2B5EF4-FFF2-40B4-BE49-F238E27FC236}">
                  <a16:creationId xmlns:a16="http://schemas.microsoft.com/office/drawing/2014/main" id="{6E3E3D55-9237-C845-9A8D-D340C3E115D1}"/>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664" name="Text Box 67">
              <a:extLst>
                <a:ext uri="{FF2B5EF4-FFF2-40B4-BE49-F238E27FC236}">
                  <a16:creationId xmlns:a16="http://schemas.microsoft.com/office/drawing/2014/main" id="{D025C99C-DFC7-0A4F-8AAA-17320A7C5C47}"/>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665" name="Text Box 68">
              <a:extLst>
                <a:ext uri="{FF2B5EF4-FFF2-40B4-BE49-F238E27FC236}">
                  <a16:creationId xmlns:a16="http://schemas.microsoft.com/office/drawing/2014/main" id="{30F29813-395E-A44E-BB9F-87C86902AF0B}"/>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666" name="Text Box 69">
              <a:extLst>
                <a:ext uri="{FF2B5EF4-FFF2-40B4-BE49-F238E27FC236}">
                  <a16:creationId xmlns:a16="http://schemas.microsoft.com/office/drawing/2014/main" id="{2B974974-7BCD-014C-BD76-E756B6797CED}"/>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667" name="Text Box 70">
              <a:extLst>
                <a:ext uri="{FF2B5EF4-FFF2-40B4-BE49-F238E27FC236}">
                  <a16:creationId xmlns:a16="http://schemas.microsoft.com/office/drawing/2014/main" id="{F094EC90-E0AA-CB45-95E4-B52B0E9BC42E}"/>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668" name="Text Box 71">
              <a:extLst>
                <a:ext uri="{FF2B5EF4-FFF2-40B4-BE49-F238E27FC236}">
                  <a16:creationId xmlns:a16="http://schemas.microsoft.com/office/drawing/2014/main" id="{CBA2DE5C-9821-9E47-AB4D-09462934E67F}"/>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grpSp>
      <p:sp>
        <p:nvSpPr>
          <p:cNvPr id="682" name="Text Box 72">
            <a:extLst>
              <a:ext uri="{FF2B5EF4-FFF2-40B4-BE49-F238E27FC236}">
                <a16:creationId xmlns:a16="http://schemas.microsoft.com/office/drawing/2014/main" id="{36F192F0-85DA-A647-A8F9-5CBF1CE818A0}"/>
              </a:ext>
            </a:extLst>
          </p:cNvPr>
          <p:cNvSpPr txBox="1">
            <a:spLocks noChangeArrowheads="1"/>
          </p:cNvSpPr>
          <p:nvPr/>
        </p:nvSpPr>
        <p:spPr bwMode="auto">
          <a:xfrm>
            <a:off x="1411748" y="3898081"/>
            <a:ext cx="2480807"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dirty="0">
                <a:solidFill>
                  <a:prstClr val="black"/>
                </a:solidFill>
                <a:latin typeface="Calibri" panose="020F0502020204030204"/>
              </a:rPr>
              <a:t>graph: </a:t>
            </a:r>
            <a:r>
              <a:rPr lang="en-US" sz="2800" i="1" dirty="0">
                <a:solidFill>
                  <a:prstClr val="black"/>
                </a:solidFill>
                <a:latin typeface="Calibri" panose="020F0502020204030204"/>
              </a:rPr>
              <a:t>G = (N,E)</a:t>
            </a:r>
          </a:p>
          <a:p>
            <a:endParaRPr lang="en-US" sz="2800" dirty="0">
              <a:solidFill>
                <a:prstClr val="black"/>
              </a:solidFill>
              <a:latin typeface="Calibri" panose="020F0502020204030204"/>
            </a:endParaRPr>
          </a:p>
        </p:txBody>
      </p:sp>
      <p:sp>
        <p:nvSpPr>
          <p:cNvPr id="2" name="TextBox 1">
            <a:extLst>
              <a:ext uri="{FF2B5EF4-FFF2-40B4-BE49-F238E27FC236}">
                <a16:creationId xmlns:a16="http://schemas.microsoft.com/office/drawing/2014/main" id="{0D50443A-E126-1D4D-BD75-6130D04D9E32}"/>
              </a:ext>
            </a:extLst>
          </p:cNvPr>
          <p:cNvSpPr txBox="1"/>
          <p:nvPr/>
        </p:nvSpPr>
        <p:spPr>
          <a:xfrm>
            <a:off x="5456905" y="1415845"/>
            <a:ext cx="5884606" cy="2677656"/>
          </a:xfrm>
          <a:prstGeom prst="rect">
            <a:avLst/>
          </a:prstGeom>
          <a:noFill/>
        </p:spPr>
        <p:txBody>
          <a:bodyPr wrap="square" rtlCol="0">
            <a:spAutoFit/>
          </a:bodyPr>
          <a:lstStyle/>
          <a:p>
            <a:r>
              <a:rPr lang="en-US" sz="2400" i="1" dirty="0">
                <a:solidFill>
                  <a:prstClr val="black"/>
                </a:solidFill>
              </a:rPr>
              <a:t>c</a:t>
            </a:r>
            <a:r>
              <a:rPr lang="en-US" sz="2400" i="1" baseline="-25000" dirty="0">
                <a:solidFill>
                  <a:prstClr val="black"/>
                </a:solidFill>
              </a:rPr>
              <a:t>a,b</a:t>
            </a:r>
            <a:r>
              <a:rPr lang="en-US" sz="2400" i="1" dirty="0">
                <a:solidFill>
                  <a:prstClr val="black"/>
                </a:solidFill>
              </a:rPr>
              <a:t>: </a:t>
            </a:r>
            <a:r>
              <a:rPr lang="en-US" sz="2400" dirty="0">
                <a:solidFill>
                  <a:prstClr val="black"/>
                </a:solidFill>
              </a:rPr>
              <a:t>cost of </a:t>
            </a:r>
            <a:r>
              <a:rPr lang="en-US" sz="2400" i="1" dirty="0">
                <a:solidFill>
                  <a:srgbClr val="0000A8"/>
                </a:solidFill>
              </a:rPr>
              <a:t>direct</a:t>
            </a:r>
            <a:r>
              <a:rPr lang="en-US" sz="2400" dirty="0">
                <a:solidFill>
                  <a:prstClr val="black"/>
                </a:solidFill>
              </a:rPr>
              <a:t> link connecting </a:t>
            </a:r>
            <a:r>
              <a:rPr lang="en-US" sz="2400" i="1" dirty="0">
                <a:solidFill>
                  <a:prstClr val="black"/>
                </a:solidFill>
              </a:rPr>
              <a:t>a</a:t>
            </a:r>
            <a:r>
              <a:rPr lang="en-US" sz="2400" dirty="0">
                <a:solidFill>
                  <a:prstClr val="black"/>
                </a:solidFill>
              </a:rPr>
              <a:t> and </a:t>
            </a:r>
            <a:r>
              <a:rPr lang="en-US" sz="2400" i="1" dirty="0">
                <a:solidFill>
                  <a:prstClr val="black"/>
                </a:solidFill>
              </a:rPr>
              <a:t>b</a:t>
            </a:r>
          </a:p>
          <a:p>
            <a:r>
              <a:rPr lang="en-US" sz="2400" dirty="0">
                <a:solidFill>
                  <a:prstClr val="black"/>
                </a:solidFill>
              </a:rPr>
              <a:t>             </a:t>
            </a:r>
            <a:r>
              <a:rPr lang="en-US" sz="2400" i="1" dirty="0">
                <a:solidFill>
                  <a:prstClr val="black"/>
                </a:solidFill>
              </a:rPr>
              <a:t>e.g., c</a:t>
            </a:r>
            <a:r>
              <a:rPr lang="en-US" sz="2400" i="1" baseline="-25000" dirty="0">
                <a:solidFill>
                  <a:prstClr val="black"/>
                </a:solidFill>
              </a:rPr>
              <a:t>w,z </a:t>
            </a:r>
            <a:r>
              <a:rPr lang="en-US" sz="2400" dirty="0">
                <a:solidFill>
                  <a:prstClr val="black"/>
                </a:solidFill>
              </a:rPr>
              <a:t>= 5, </a:t>
            </a:r>
            <a:r>
              <a:rPr lang="en-US" sz="2400" i="1" dirty="0">
                <a:solidFill>
                  <a:prstClr val="black"/>
                </a:solidFill>
              </a:rPr>
              <a:t>c</a:t>
            </a:r>
            <a:r>
              <a:rPr lang="en-US" sz="2400" i="1" baseline="-25000" dirty="0">
                <a:solidFill>
                  <a:prstClr val="black"/>
                </a:solidFill>
              </a:rPr>
              <a:t>u,z </a:t>
            </a:r>
            <a:r>
              <a:rPr lang="en-US" sz="2400" dirty="0">
                <a:solidFill>
                  <a:prstClr val="black"/>
                </a:solidFill>
              </a:rPr>
              <a:t>= </a:t>
            </a:r>
            <a:r>
              <a:rPr lang="en-US" sz="2400" dirty="0">
                <a:solidFill>
                  <a:prstClr val="black"/>
                </a:solidFill>
                <a:cs typeface="Arial" charset="0"/>
              </a:rPr>
              <a:t>∞</a:t>
            </a:r>
            <a:endParaRPr lang="en-US" sz="2400" dirty="0">
              <a:solidFill>
                <a:prstClr val="black"/>
              </a:solidFill>
            </a:endParaRPr>
          </a:p>
          <a:p>
            <a:endParaRPr lang="en-US" sz="2400" dirty="0">
              <a:solidFill>
                <a:prstClr val="black"/>
              </a:solidFill>
            </a:endParaRPr>
          </a:p>
          <a:p>
            <a:pPr marL="801688" lvl="1"/>
            <a:r>
              <a:rPr lang="en-US" sz="2400" dirty="0">
                <a:solidFill>
                  <a:prstClr val="black"/>
                </a:solidFill>
              </a:rPr>
              <a:t>cost defined by network operator: could always be 1, or inversely related to bandwidth, or inversely related to congestion</a:t>
            </a:r>
          </a:p>
        </p:txBody>
      </p:sp>
      <p:sp>
        <p:nvSpPr>
          <p:cNvPr id="76" name="Text Box 72">
            <a:extLst>
              <a:ext uri="{FF2B5EF4-FFF2-40B4-BE49-F238E27FC236}">
                <a16:creationId xmlns:a16="http://schemas.microsoft.com/office/drawing/2014/main" id="{BFBE2A81-FFD1-7B4E-9584-A27B7DB3EE76}"/>
              </a:ext>
            </a:extLst>
          </p:cNvPr>
          <p:cNvSpPr txBox="1">
            <a:spLocks noChangeArrowheads="1"/>
          </p:cNvSpPr>
          <p:nvPr/>
        </p:nvSpPr>
        <p:spPr bwMode="auto">
          <a:xfrm>
            <a:off x="657801" y="4537178"/>
            <a:ext cx="51144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i="1" dirty="0">
                <a:solidFill>
                  <a:prstClr val="black"/>
                </a:solidFill>
                <a:latin typeface="Calibri" panose="020F0502020204030204"/>
              </a:rPr>
              <a:t>N: </a:t>
            </a:r>
            <a:r>
              <a:rPr lang="en-US" sz="2800" dirty="0">
                <a:solidFill>
                  <a:prstClr val="black"/>
                </a:solidFill>
                <a:latin typeface="Calibri" panose="020F0502020204030204"/>
              </a:rPr>
              <a:t>set of routers = { </a:t>
            </a:r>
            <a:r>
              <a:rPr lang="en-US" sz="2800" i="1" dirty="0">
                <a:solidFill>
                  <a:prstClr val="black"/>
                </a:solidFill>
                <a:latin typeface="Calibri" panose="020F0502020204030204"/>
              </a:rPr>
              <a:t>u, v, w, x, y, z </a:t>
            </a:r>
            <a:r>
              <a:rPr lang="en-US" sz="2800" dirty="0">
                <a:solidFill>
                  <a:prstClr val="black"/>
                </a:solidFill>
                <a:latin typeface="Calibri" panose="020F0502020204030204"/>
              </a:rPr>
              <a:t>}</a:t>
            </a:r>
          </a:p>
        </p:txBody>
      </p:sp>
      <p:sp>
        <p:nvSpPr>
          <p:cNvPr id="77" name="Text Box 72">
            <a:extLst>
              <a:ext uri="{FF2B5EF4-FFF2-40B4-BE49-F238E27FC236}">
                <a16:creationId xmlns:a16="http://schemas.microsoft.com/office/drawing/2014/main" id="{EE3DED54-15B8-EA4D-AA68-CD285B8DE31C}"/>
              </a:ext>
            </a:extLst>
          </p:cNvPr>
          <p:cNvSpPr txBox="1">
            <a:spLocks noChangeArrowheads="1"/>
          </p:cNvSpPr>
          <p:nvPr/>
        </p:nvSpPr>
        <p:spPr bwMode="auto">
          <a:xfrm>
            <a:off x="657801" y="5106769"/>
            <a:ext cx="1101275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i="1" dirty="0">
                <a:solidFill>
                  <a:prstClr val="black"/>
                </a:solidFill>
                <a:latin typeface="Calibri" panose="020F0502020204030204"/>
              </a:rPr>
              <a:t>E: </a:t>
            </a:r>
            <a:r>
              <a:rPr lang="en-US" sz="2800" dirty="0">
                <a:solidFill>
                  <a:prstClr val="black"/>
                </a:solidFill>
                <a:latin typeface="Calibri" panose="020F0502020204030204"/>
              </a:rPr>
              <a:t>set of links =</a:t>
            </a:r>
            <a:r>
              <a:rPr lang="en-US" sz="3200" dirty="0">
                <a:solidFill>
                  <a:prstClr val="black"/>
                </a:solidFill>
                <a:latin typeface="Calibri" panose="020F0502020204030204"/>
              </a:rPr>
              <a:t>{</a:t>
            </a:r>
            <a:r>
              <a:rPr lang="en-US" sz="3600" dirty="0">
                <a:solidFill>
                  <a:prstClr val="black"/>
                </a:solidFill>
                <a:latin typeface="Calibri" panose="020F0502020204030204"/>
              </a:rPr>
              <a:t> </a:t>
            </a:r>
            <a:r>
              <a:rPr lang="en-US" sz="2800" dirty="0">
                <a:solidFill>
                  <a:prstClr val="black"/>
                </a:solidFill>
                <a:latin typeface="Calibri" panose="020F0502020204030204"/>
              </a:rPr>
              <a:t>(</a:t>
            </a:r>
            <a:r>
              <a:rPr lang="en-US" sz="2800" i="1" dirty="0">
                <a:solidFill>
                  <a:prstClr val="black"/>
                </a:solidFill>
                <a:latin typeface="Calibri" panose="020F0502020204030204"/>
              </a:rPr>
              <a:t>u,v), (</a:t>
            </a:r>
            <a:r>
              <a:rPr lang="en-US" sz="2800" i="1" dirty="0" err="1">
                <a:solidFill>
                  <a:prstClr val="black"/>
                </a:solidFill>
                <a:latin typeface="Calibri" panose="020F0502020204030204"/>
              </a:rPr>
              <a:t>u,x</a:t>
            </a:r>
            <a:r>
              <a:rPr lang="en-US" sz="2800" i="1" dirty="0">
                <a:solidFill>
                  <a:prstClr val="black"/>
                </a:solidFill>
                <a:latin typeface="Calibri" panose="020F0502020204030204"/>
              </a:rPr>
              <a:t>), (</a:t>
            </a:r>
            <a:r>
              <a:rPr lang="en-US" sz="2800" i="1" dirty="0" err="1">
                <a:solidFill>
                  <a:prstClr val="black"/>
                </a:solidFill>
                <a:latin typeface="Calibri" panose="020F0502020204030204"/>
              </a:rPr>
              <a:t>u,w</a:t>
            </a:r>
            <a:r>
              <a:rPr lang="en-US" sz="2800" i="1" dirty="0">
                <a:solidFill>
                  <a:prstClr val="black"/>
                </a:solidFill>
                <a:latin typeface="Calibri" panose="020F0502020204030204"/>
              </a:rPr>
              <a:t>), (v,x), (v,w), (x,w), (x,y), (w,y), (w,z), (y,z</a:t>
            </a:r>
            <a:r>
              <a:rPr lang="en-US" sz="2800" dirty="0">
                <a:solidFill>
                  <a:prstClr val="black"/>
                </a:solidFill>
                <a:latin typeface="Calibri" panose="020F0502020204030204"/>
              </a:rPr>
              <a:t>) </a:t>
            </a:r>
            <a:r>
              <a:rPr lang="en-US" sz="3200" dirty="0">
                <a:solidFill>
                  <a:prstClr val="black"/>
                </a:solidFill>
                <a:latin typeface="Calibri" panose="020F0502020204030204"/>
              </a:rPr>
              <a:t>}</a:t>
            </a:r>
            <a:endParaRPr lang="en-US" sz="2800" dirty="0">
              <a:solidFill>
                <a:prstClr val="black"/>
              </a:solidFill>
              <a:latin typeface="Calibri" panose="020F0502020204030204"/>
            </a:endParaRPr>
          </a:p>
        </p:txBody>
      </p:sp>
    </p:spTree>
    <p:extLst>
      <p:ext uri="{BB962C8B-B14F-4D97-AF65-F5344CB8AC3E}">
        <p14:creationId xmlns:p14="http://schemas.microsoft.com/office/powerpoint/2010/main" val="101240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dissolve">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6" grpId="0"/>
      <p:bldP spid="7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8320548" cy="894622"/>
          </a:xfrm>
        </p:spPr>
        <p:txBody>
          <a:bodyPr/>
          <a:lstStyle/>
          <a:p>
            <a:r>
              <a:rPr lang="en-US" dirty="0"/>
              <a:t>Routing algorithm classification</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41</a:t>
            </a:fld>
            <a:endParaRPr lang="en-US" dirty="0">
              <a:solidFill>
                <a:prstClr val="white">
                  <a:lumMod val="50000"/>
                </a:prstClr>
              </a:solidFill>
            </a:endParaRPr>
          </a:p>
        </p:txBody>
      </p:sp>
      <p:cxnSp>
        <p:nvCxnSpPr>
          <p:cNvPr id="4" name="Straight Arrow Connector 3">
            <a:extLst>
              <a:ext uri="{FF2B5EF4-FFF2-40B4-BE49-F238E27FC236}">
                <a16:creationId xmlns:a16="http://schemas.microsoft.com/office/drawing/2014/main" id="{E9732A1C-C52A-0B46-B26E-4DBD9B488928}"/>
              </a:ext>
            </a:extLst>
          </p:cNvPr>
          <p:cNvCxnSpPr/>
          <p:nvPr/>
        </p:nvCxnSpPr>
        <p:spPr>
          <a:xfrm>
            <a:off x="6091084" y="1312606"/>
            <a:ext cx="0" cy="5043948"/>
          </a:xfrm>
          <a:prstGeom prst="straightConnector1">
            <a:avLst/>
          </a:prstGeom>
          <a:ln w="25400">
            <a:solidFill>
              <a:srgbClr val="0000A8"/>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28A2EBE1-BFA0-B248-ACFC-90011EBC34CE}"/>
              </a:ext>
            </a:extLst>
          </p:cNvPr>
          <p:cNvCxnSpPr>
            <a:cxnSpLocks/>
          </p:cNvCxnSpPr>
          <p:nvPr/>
        </p:nvCxnSpPr>
        <p:spPr>
          <a:xfrm flipH="1">
            <a:off x="235974" y="3441290"/>
            <a:ext cx="11665974" cy="0"/>
          </a:xfrm>
          <a:prstGeom prst="straightConnector1">
            <a:avLst/>
          </a:prstGeom>
          <a:ln w="25400">
            <a:solidFill>
              <a:srgbClr val="0000A8"/>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506C293B-8D3D-2544-91D8-2533CD0AF99D}"/>
              </a:ext>
            </a:extLst>
          </p:cNvPr>
          <p:cNvSpPr txBox="1"/>
          <p:nvPr/>
        </p:nvSpPr>
        <p:spPr>
          <a:xfrm>
            <a:off x="4542504" y="6312310"/>
            <a:ext cx="3581237" cy="369332"/>
          </a:xfrm>
          <a:prstGeom prst="rect">
            <a:avLst/>
          </a:prstGeom>
          <a:noFill/>
        </p:spPr>
        <p:txBody>
          <a:bodyPr wrap="none" rtlCol="0">
            <a:spAutoFit/>
          </a:bodyPr>
          <a:lstStyle/>
          <a:p>
            <a:r>
              <a:rPr lang="en-US" i="1" dirty="0">
                <a:solidFill>
                  <a:prstClr val="black"/>
                </a:solidFill>
              </a:rPr>
              <a:t>global or decentralized information?</a:t>
            </a:r>
          </a:p>
        </p:txBody>
      </p:sp>
      <p:grpSp>
        <p:nvGrpSpPr>
          <p:cNvPr id="10" name="Group 9">
            <a:extLst>
              <a:ext uri="{FF2B5EF4-FFF2-40B4-BE49-F238E27FC236}">
                <a16:creationId xmlns:a16="http://schemas.microsoft.com/office/drawing/2014/main" id="{F2D47406-80F8-9441-A2E0-BD72AA9E3AE7}"/>
              </a:ext>
            </a:extLst>
          </p:cNvPr>
          <p:cNvGrpSpPr/>
          <p:nvPr/>
        </p:nvGrpSpPr>
        <p:grpSpPr>
          <a:xfrm>
            <a:off x="3996813" y="1474838"/>
            <a:ext cx="4513007" cy="1209368"/>
            <a:chOff x="3996813" y="1474838"/>
            <a:chExt cx="4513007" cy="1209368"/>
          </a:xfrm>
        </p:grpSpPr>
        <p:sp>
          <p:nvSpPr>
            <p:cNvPr id="9" name="Rectangle 8">
              <a:extLst>
                <a:ext uri="{FF2B5EF4-FFF2-40B4-BE49-F238E27FC236}">
                  <a16:creationId xmlns:a16="http://schemas.microsoft.com/office/drawing/2014/main" id="{34F40CFC-1B50-144E-A43A-6F638CE78029}"/>
                </a:ext>
              </a:extLst>
            </p:cNvPr>
            <p:cNvSpPr/>
            <p:nvPr/>
          </p:nvSpPr>
          <p:spPr>
            <a:xfrm>
              <a:off x="5987845" y="1519084"/>
              <a:ext cx="221226" cy="11651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1" name="Rectangle 3">
              <a:extLst>
                <a:ext uri="{FF2B5EF4-FFF2-40B4-BE49-F238E27FC236}">
                  <a16:creationId xmlns:a16="http://schemas.microsoft.com/office/drawing/2014/main" id="{396DD204-2A01-8E4D-BC4B-E0BD86B248A0}"/>
                </a:ext>
              </a:extLst>
            </p:cNvPr>
            <p:cNvSpPr txBox="1">
              <a:spLocks noChangeArrowheads="1"/>
            </p:cNvSpPr>
            <p:nvPr/>
          </p:nvSpPr>
          <p:spPr>
            <a:xfrm>
              <a:off x="3996813" y="1474838"/>
              <a:ext cx="4513007" cy="12093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Font typeface="Wingdings" pitchFamily="2" charset="2"/>
                <a:buNone/>
              </a:pPr>
              <a:r>
                <a:rPr lang="en-US" dirty="0">
                  <a:solidFill>
                    <a:srgbClr val="C00000"/>
                  </a:solidFill>
                </a:rPr>
                <a:t>global: </a:t>
              </a:r>
              <a:r>
                <a:rPr lang="en-US" sz="2400" dirty="0">
                  <a:solidFill>
                    <a:prstClr val="black"/>
                  </a:solidFill>
                </a:rPr>
                <a:t>all routers have </a:t>
              </a:r>
              <a:r>
                <a:rPr lang="en-US" sz="2400" i="1" dirty="0">
                  <a:solidFill>
                    <a:prstClr val="black"/>
                  </a:solidFill>
                </a:rPr>
                <a:t>complete</a:t>
              </a:r>
              <a:r>
                <a:rPr lang="en-US" sz="2400" dirty="0">
                  <a:solidFill>
                    <a:prstClr val="black"/>
                  </a:solidFill>
                </a:rPr>
                <a:t> topology, link cost info</a:t>
              </a:r>
            </a:p>
            <a:p>
              <a:pPr>
                <a:spcBef>
                  <a:spcPts val="400"/>
                </a:spcBef>
                <a:buFont typeface="Arial" panose="020B0604020202020204" pitchFamily="34" charset="0"/>
                <a:buChar char="•"/>
              </a:pPr>
              <a:r>
                <a:rPr lang="en-US" altLang="ja-JP" sz="2400" dirty="0">
                  <a:solidFill>
                    <a:srgbClr val="000099"/>
                  </a:solidFill>
                </a:rPr>
                <a:t>“link state” </a:t>
              </a:r>
              <a:r>
                <a:rPr lang="en-US" altLang="ja-JP" sz="2400" dirty="0">
                  <a:solidFill>
                    <a:prstClr val="black"/>
                  </a:solidFill>
                </a:rPr>
                <a:t>algorithms</a:t>
              </a:r>
            </a:p>
            <a:p>
              <a:pPr>
                <a:buFont typeface="Wingdings" charset="0"/>
                <a:buNone/>
              </a:pPr>
              <a:endParaRPr lang="en-US" sz="2400" dirty="0">
                <a:solidFill>
                  <a:srgbClr val="000099"/>
                </a:solidFill>
                <a:latin typeface="Gill Sans MT" charset="0"/>
              </a:endParaRPr>
            </a:p>
          </p:txBody>
        </p:sp>
      </p:grpSp>
      <p:grpSp>
        <p:nvGrpSpPr>
          <p:cNvPr id="12" name="Group 11">
            <a:extLst>
              <a:ext uri="{FF2B5EF4-FFF2-40B4-BE49-F238E27FC236}">
                <a16:creationId xmlns:a16="http://schemas.microsoft.com/office/drawing/2014/main" id="{2E6E0791-AA52-904B-8ABE-26FDED6C5706}"/>
              </a:ext>
            </a:extLst>
          </p:cNvPr>
          <p:cNvGrpSpPr/>
          <p:nvPr/>
        </p:nvGrpSpPr>
        <p:grpSpPr>
          <a:xfrm>
            <a:off x="3465869" y="4326195"/>
            <a:ext cx="6179575" cy="2458065"/>
            <a:chOff x="3465869" y="4326195"/>
            <a:chExt cx="6179575" cy="2458065"/>
          </a:xfrm>
        </p:grpSpPr>
        <p:sp>
          <p:nvSpPr>
            <p:cNvPr id="11" name="Rectangle 10">
              <a:extLst>
                <a:ext uri="{FF2B5EF4-FFF2-40B4-BE49-F238E27FC236}">
                  <a16:creationId xmlns:a16="http://schemas.microsoft.com/office/drawing/2014/main" id="{F51E5A78-7BA0-F648-A6EF-E28CE96CE5C2}"/>
                </a:ext>
              </a:extLst>
            </p:cNvPr>
            <p:cNvSpPr/>
            <p:nvPr/>
          </p:nvSpPr>
          <p:spPr>
            <a:xfrm>
              <a:off x="6002594" y="4365523"/>
              <a:ext cx="147483" cy="17993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2" name="Rectangle 3">
              <a:extLst>
                <a:ext uri="{FF2B5EF4-FFF2-40B4-BE49-F238E27FC236}">
                  <a16:creationId xmlns:a16="http://schemas.microsoft.com/office/drawing/2014/main" id="{3400BCC6-9926-3649-91F6-F0B8B87FE1A0}"/>
                </a:ext>
              </a:extLst>
            </p:cNvPr>
            <p:cNvSpPr txBox="1">
              <a:spLocks noChangeArrowheads="1"/>
            </p:cNvSpPr>
            <p:nvPr/>
          </p:nvSpPr>
          <p:spPr>
            <a:xfrm>
              <a:off x="3465869" y="4326195"/>
              <a:ext cx="6179575" cy="24580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Font typeface="Wingdings" pitchFamily="2" charset="2"/>
                <a:buNone/>
              </a:pPr>
              <a:r>
                <a:rPr lang="en-US" dirty="0">
                  <a:solidFill>
                    <a:srgbClr val="C00000"/>
                  </a:solidFill>
                </a:rPr>
                <a:t>decentralized: </a:t>
              </a:r>
              <a:r>
                <a:rPr lang="en-US" sz="2400" dirty="0">
                  <a:solidFill>
                    <a:prstClr val="black"/>
                  </a:solidFill>
                </a:rPr>
                <a:t>iterative process of computation, exchange of info with neighbors</a:t>
              </a:r>
            </a:p>
            <a:p>
              <a:pPr marL="407988" indent="-233363">
                <a:spcBef>
                  <a:spcPts val="400"/>
                </a:spcBef>
                <a:buClr>
                  <a:srgbClr val="0000A8"/>
                </a:buClr>
                <a:buFont typeface="Arial" panose="020B0604020202020204" pitchFamily="34" charset="0"/>
                <a:buChar char="•"/>
              </a:pPr>
              <a:r>
                <a:rPr lang="en-US" sz="2400" dirty="0">
                  <a:solidFill>
                    <a:prstClr val="black"/>
                  </a:solidFill>
                </a:rPr>
                <a:t>routers initially only know link costs to attached neighbors</a:t>
              </a:r>
            </a:p>
            <a:p>
              <a:pPr marL="407988" indent="-233363">
                <a:spcBef>
                  <a:spcPts val="400"/>
                </a:spcBef>
                <a:buClr>
                  <a:srgbClr val="0000A8"/>
                </a:buClr>
                <a:buFont typeface="Arial" panose="020B0604020202020204" pitchFamily="34" charset="0"/>
                <a:buChar char="•"/>
              </a:pPr>
              <a:r>
                <a:rPr lang="en-US" altLang="ja-JP" sz="2400" dirty="0">
                  <a:solidFill>
                    <a:srgbClr val="000099"/>
                  </a:solidFill>
                </a:rPr>
                <a:t>“distance vector” </a:t>
              </a:r>
              <a:r>
                <a:rPr lang="en-US" altLang="ja-JP" sz="2400" dirty="0">
                  <a:solidFill>
                    <a:prstClr val="black"/>
                  </a:solidFill>
                </a:rPr>
                <a:t>algorithms</a:t>
              </a:r>
              <a:endParaRPr lang="en-US" sz="2400" dirty="0">
                <a:solidFill>
                  <a:prstClr val="black"/>
                </a:solidFill>
              </a:endParaRPr>
            </a:p>
          </p:txBody>
        </p:sp>
      </p:grpSp>
      <p:sp>
        <p:nvSpPr>
          <p:cNvPr id="91" name="TextBox 90">
            <a:extLst>
              <a:ext uri="{FF2B5EF4-FFF2-40B4-BE49-F238E27FC236}">
                <a16:creationId xmlns:a16="http://schemas.microsoft.com/office/drawing/2014/main" id="{9CA84E65-C3D2-EE42-B4E7-C5FF4CE4FA7B}"/>
              </a:ext>
            </a:extLst>
          </p:cNvPr>
          <p:cNvSpPr txBox="1"/>
          <p:nvPr/>
        </p:nvSpPr>
        <p:spPr>
          <a:xfrm>
            <a:off x="250724" y="2823539"/>
            <a:ext cx="1253612" cy="923330"/>
          </a:xfrm>
          <a:prstGeom prst="rect">
            <a:avLst/>
          </a:prstGeom>
          <a:noFill/>
        </p:spPr>
        <p:txBody>
          <a:bodyPr wrap="square" rtlCol="0">
            <a:spAutoFit/>
          </a:bodyPr>
          <a:lstStyle/>
          <a:p>
            <a:r>
              <a:rPr lang="en-US" i="1" dirty="0">
                <a:solidFill>
                  <a:prstClr val="black"/>
                </a:solidFill>
              </a:rPr>
              <a:t>How </a:t>
            </a:r>
            <a:r>
              <a:rPr lang="en-US" i="1">
                <a:solidFill>
                  <a:prstClr val="black"/>
                </a:solidFill>
              </a:rPr>
              <a:t>fast do </a:t>
            </a:r>
            <a:r>
              <a:rPr lang="en-US" i="1" dirty="0">
                <a:solidFill>
                  <a:prstClr val="black"/>
                </a:solidFill>
              </a:rPr>
              <a:t>routes change?</a:t>
            </a:r>
          </a:p>
        </p:txBody>
      </p:sp>
      <p:sp>
        <p:nvSpPr>
          <p:cNvPr id="94" name="Rectangle 93">
            <a:extLst>
              <a:ext uri="{FF2B5EF4-FFF2-40B4-BE49-F238E27FC236}">
                <a16:creationId xmlns:a16="http://schemas.microsoft.com/office/drawing/2014/main" id="{4D26FE6B-7647-B846-9799-98FEB9D0A654}"/>
              </a:ext>
            </a:extLst>
          </p:cNvPr>
          <p:cNvSpPr/>
          <p:nvPr/>
        </p:nvSpPr>
        <p:spPr>
          <a:xfrm>
            <a:off x="10171471" y="1184788"/>
            <a:ext cx="176981" cy="10323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7" name="Group 16">
            <a:extLst>
              <a:ext uri="{FF2B5EF4-FFF2-40B4-BE49-F238E27FC236}">
                <a16:creationId xmlns:a16="http://schemas.microsoft.com/office/drawing/2014/main" id="{A4812886-28EC-D241-90C7-5E720368CE84}"/>
              </a:ext>
            </a:extLst>
          </p:cNvPr>
          <p:cNvGrpSpPr/>
          <p:nvPr/>
        </p:nvGrpSpPr>
        <p:grpSpPr>
          <a:xfrm>
            <a:off x="8740391" y="2620951"/>
            <a:ext cx="3451609" cy="2373608"/>
            <a:chOff x="8740391" y="2620951"/>
            <a:chExt cx="3451609" cy="2373608"/>
          </a:xfrm>
        </p:grpSpPr>
        <p:sp>
          <p:nvSpPr>
            <p:cNvPr id="15" name="Rectangle 14">
              <a:extLst>
                <a:ext uri="{FF2B5EF4-FFF2-40B4-BE49-F238E27FC236}">
                  <a16:creationId xmlns:a16="http://schemas.microsoft.com/office/drawing/2014/main" id="{9F87E6BF-15DE-A246-9A08-7C8063E9BE3B}"/>
                </a:ext>
              </a:extLst>
            </p:cNvPr>
            <p:cNvSpPr/>
            <p:nvPr/>
          </p:nvSpPr>
          <p:spPr>
            <a:xfrm>
              <a:off x="8922775" y="3314699"/>
              <a:ext cx="2580968" cy="210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6" name="Rectangle 4">
              <a:extLst>
                <a:ext uri="{FF2B5EF4-FFF2-40B4-BE49-F238E27FC236}">
                  <a16:creationId xmlns:a16="http://schemas.microsoft.com/office/drawing/2014/main" id="{A5264CD0-EF94-D444-B0AF-8FAAE7055B9A}"/>
                </a:ext>
              </a:extLst>
            </p:cNvPr>
            <p:cNvSpPr txBox="1">
              <a:spLocks noChangeArrowheads="1"/>
            </p:cNvSpPr>
            <p:nvPr/>
          </p:nvSpPr>
          <p:spPr>
            <a:xfrm>
              <a:off x="8740391" y="2620951"/>
              <a:ext cx="3451609" cy="23736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indent="-57150">
                <a:buFont typeface="Wingdings" charset="0"/>
                <a:buNone/>
                <a:defRPr/>
              </a:pPr>
              <a:r>
                <a:rPr lang="en-US" dirty="0">
                  <a:solidFill>
                    <a:srgbClr val="CC0000"/>
                  </a:solidFill>
                </a:rPr>
                <a:t>dynamic</a:t>
              </a:r>
              <a:r>
                <a:rPr lang="en-US" sz="2400" i="1" dirty="0">
                  <a:solidFill>
                    <a:srgbClr val="CC0000"/>
                  </a:solidFill>
                </a:rPr>
                <a:t>: </a:t>
              </a:r>
              <a:r>
                <a:rPr lang="en-US" sz="2400" dirty="0">
                  <a:solidFill>
                    <a:prstClr val="black"/>
                  </a:solidFill>
                </a:rPr>
                <a:t>routes change more quickly</a:t>
              </a:r>
            </a:p>
            <a:p>
              <a:pPr marL="349250" lvl="1" indent="-233363">
                <a:spcBef>
                  <a:spcPts val="400"/>
                </a:spcBef>
                <a:defRPr/>
              </a:pPr>
              <a:r>
                <a:rPr lang="en-US" dirty="0">
                  <a:solidFill>
                    <a:prstClr val="black"/>
                  </a:solidFill>
                </a:rPr>
                <a:t>periodic updates or in response to link cost changes</a:t>
              </a:r>
            </a:p>
          </p:txBody>
        </p:sp>
      </p:grpSp>
      <p:grpSp>
        <p:nvGrpSpPr>
          <p:cNvPr id="16" name="Group 15">
            <a:extLst>
              <a:ext uri="{FF2B5EF4-FFF2-40B4-BE49-F238E27FC236}">
                <a16:creationId xmlns:a16="http://schemas.microsoft.com/office/drawing/2014/main" id="{73C4129E-0B83-3343-863D-606A39998A89}"/>
              </a:ext>
            </a:extLst>
          </p:cNvPr>
          <p:cNvGrpSpPr/>
          <p:nvPr/>
        </p:nvGrpSpPr>
        <p:grpSpPr>
          <a:xfrm>
            <a:off x="1313787" y="3013586"/>
            <a:ext cx="3022237" cy="1209367"/>
            <a:chOff x="1313787" y="3013586"/>
            <a:chExt cx="3022237" cy="1209367"/>
          </a:xfrm>
        </p:grpSpPr>
        <p:sp>
          <p:nvSpPr>
            <p:cNvPr id="98" name="Rectangle 97">
              <a:extLst>
                <a:ext uri="{FF2B5EF4-FFF2-40B4-BE49-F238E27FC236}">
                  <a16:creationId xmlns:a16="http://schemas.microsoft.com/office/drawing/2014/main" id="{D0862584-87FB-1B45-8C6F-1E2A810A4276}"/>
                </a:ext>
              </a:extLst>
            </p:cNvPr>
            <p:cNvSpPr/>
            <p:nvPr/>
          </p:nvSpPr>
          <p:spPr>
            <a:xfrm>
              <a:off x="1465006" y="3314699"/>
              <a:ext cx="2531807" cy="2249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5" name="Rectangle 3">
              <a:extLst>
                <a:ext uri="{FF2B5EF4-FFF2-40B4-BE49-F238E27FC236}">
                  <a16:creationId xmlns:a16="http://schemas.microsoft.com/office/drawing/2014/main" id="{28CA3E4A-EC8F-1F42-89F5-9571CBDD8106}"/>
                </a:ext>
              </a:extLst>
            </p:cNvPr>
            <p:cNvSpPr txBox="1">
              <a:spLocks noChangeArrowheads="1"/>
            </p:cNvSpPr>
            <p:nvPr/>
          </p:nvSpPr>
          <p:spPr>
            <a:xfrm>
              <a:off x="1313787" y="3013586"/>
              <a:ext cx="3022237" cy="12093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Font typeface="Wingdings" pitchFamily="2" charset="2"/>
                <a:buNone/>
              </a:pPr>
              <a:r>
                <a:rPr lang="en-US" dirty="0">
                  <a:solidFill>
                    <a:srgbClr val="C00000"/>
                  </a:solidFill>
                </a:rPr>
                <a:t>static: </a:t>
              </a:r>
              <a:r>
                <a:rPr lang="en-US" sz="2400" dirty="0">
                  <a:solidFill>
                    <a:prstClr val="black"/>
                  </a:solidFill>
                </a:rPr>
                <a:t>routes change slowly over time</a:t>
              </a:r>
              <a:endParaRPr lang="en-US" sz="2400" dirty="0">
                <a:solidFill>
                  <a:srgbClr val="000099"/>
                </a:solidFill>
                <a:latin typeface="Gill Sans MT" charset="0"/>
              </a:endParaRPr>
            </a:p>
          </p:txBody>
        </p:sp>
      </p:grpSp>
      <p:sp>
        <p:nvSpPr>
          <p:cNvPr id="18" name="Oval 17">
            <a:extLst>
              <a:ext uri="{FF2B5EF4-FFF2-40B4-BE49-F238E27FC236}">
                <a16:creationId xmlns:a16="http://schemas.microsoft.com/office/drawing/2014/main" id="{9509865B-1C67-3041-AB1E-A62EE542E28D}"/>
              </a:ext>
            </a:extLst>
          </p:cNvPr>
          <p:cNvSpPr/>
          <p:nvPr/>
        </p:nvSpPr>
        <p:spPr>
          <a:xfrm>
            <a:off x="4365523" y="2064775"/>
            <a:ext cx="1622322" cy="7374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02" name="Oval 101">
            <a:extLst>
              <a:ext uri="{FF2B5EF4-FFF2-40B4-BE49-F238E27FC236}">
                <a16:creationId xmlns:a16="http://schemas.microsoft.com/office/drawing/2014/main" id="{66F27EF8-DDA8-E744-B654-79FCE215090E}"/>
              </a:ext>
            </a:extLst>
          </p:cNvPr>
          <p:cNvSpPr/>
          <p:nvPr/>
        </p:nvSpPr>
        <p:spPr>
          <a:xfrm>
            <a:off x="3883742" y="5624052"/>
            <a:ext cx="2281083" cy="7374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918507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par>
                                <p:cTn id="18" presetID="9" presetClass="exit" presetSubtype="0" fill="hold" grpId="1" nodeType="with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02"/>
                                        </p:tgtEl>
                                        <p:attrNameLst>
                                          <p:attrName>style.visibility</p:attrName>
                                        </p:attrNameLst>
                                      </p:cBhvr>
                                      <p:to>
                                        <p:strVal val="visible"/>
                                      </p:to>
                                    </p:set>
                                    <p:animEffect transition="in" filter="dissolve">
                                      <p:cBhvr>
                                        <p:cTn id="25" dur="500"/>
                                        <p:tgtEl>
                                          <p:spTgt spid="10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dissolve">
                                      <p:cBhvr>
                                        <p:cTn id="30" dur="500"/>
                                        <p:tgtEl>
                                          <p:spTgt spid="16"/>
                                        </p:tgtEl>
                                      </p:cBhvr>
                                    </p:animEffect>
                                  </p:childTnLst>
                                </p:cTn>
                              </p:par>
                              <p:par>
                                <p:cTn id="31" presetID="9" presetClass="exit" presetSubtype="0" fill="hold" grpId="1" nodeType="withEffect">
                                  <p:stCondLst>
                                    <p:cond delay="0"/>
                                  </p:stCondLst>
                                  <p:childTnLst>
                                    <p:animEffect transition="out" filter="dissolve">
                                      <p:cBhvr>
                                        <p:cTn id="32" dur="500"/>
                                        <p:tgtEl>
                                          <p:spTgt spid="102"/>
                                        </p:tgtEl>
                                      </p:cBhvr>
                                    </p:animEffect>
                                    <p:set>
                                      <p:cBhvr>
                                        <p:cTn id="33" dur="1" fill="hold">
                                          <p:stCondLst>
                                            <p:cond delay="499"/>
                                          </p:stCondLst>
                                        </p:cTn>
                                        <p:tgtEl>
                                          <p:spTgt spid="102"/>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dissolv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102" grpId="0" animBg="1"/>
      <p:bldP spid="102" grpId="1"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prstClr val="white">
                  <a:lumMod val="75000"/>
                </a:prstClr>
              </a:buClr>
            </a:pPr>
            <a:r>
              <a:rPr lang="en-US" altLang="en-US" sz="3200" dirty="0">
                <a:solidFill>
                  <a:prstClr val="white">
                    <a:lumMod val="75000"/>
                  </a:prst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prstClr val="white">
                  <a:lumMod val="75000"/>
                </a:prstClr>
              </a:buClr>
            </a:pPr>
            <a:r>
              <a:rPr lang="en-US" altLang="en-US" sz="2800" dirty="0">
                <a:solidFill>
                  <a:prstClr val="white">
                    <a:lumMod val="75000"/>
                  </a:prstClr>
                </a:solidFill>
                <a:ea typeface="ＭＳ Ｐゴシック" panose="020B0600070205080204" pitchFamily="34" charset="-128"/>
                <a:cs typeface="ＭＳ Ｐゴシック" panose="020B0600070205080204" pitchFamily="34" charset="-128"/>
              </a:rPr>
              <a:t>SNMP</a:t>
            </a:r>
          </a:p>
          <a:p>
            <a:pPr marL="685800" lvl="1" indent="-219075">
              <a:buClr>
                <a:prstClr val="white">
                  <a:lumMod val="75000"/>
                </a:prstClr>
              </a:buClr>
            </a:pPr>
            <a:r>
              <a:rPr lang="en-US" altLang="en-US" sz="2800" dirty="0">
                <a:solidFill>
                  <a:prstClr val="white">
                    <a:lumMod val="75000"/>
                  </a:prstClr>
                </a:solidFill>
                <a:ea typeface="ＭＳ Ｐゴシック" panose="020B0600070205080204" pitchFamily="34" charset="-128"/>
                <a:cs typeface="ＭＳ Ｐゴシック" panose="020B0600070205080204" pitchFamily="34" charset="-128"/>
              </a:rPr>
              <a:t>NETCONF/YANG</a:t>
            </a:r>
          </a:p>
          <a:p>
            <a:pPr lvl="1"/>
            <a:endParaRPr lang="en-US" altLang="en-US" dirty="0">
              <a:solidFill>
                <a:prstClr val="black"/>
              </a:solidFill>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solidFill>
                  <a:prstClr val="black"/>
                </a:solidFill>
                <a:ea typeface="ＭＳ Ｐゴシック" panose="020B0600070205080204" pitchFamily="34" charset="-128"/>
                <a:cs typeface="Arial" panose="020B0604020202020204" pitchFamily="34" charset="0"/>
              </a:rPr>
              <a:t>routing protocols</a:t>
            </a:r>
          </a:p>
          <a:p>
            <a:pPr marL="746125" lvl="1" indent="-273050">
              <a:spcBef>
                <a:spcPts val="600"/>
              </a:spcBef>
              <a:buFont typeface="Wingdings" pitchFamily="2" charset="2"/>
              <a:buChar char="§"/>
            </a:pPr>
            <a:r>
              <a:rPr lang="en-US" altLang="en-US" sz="3200" dirty="0">
                <a:solidFill>
                  <a:srgbClr val="C00000"/>
                </a:solidFill>
                <a:ea typeface="ＭＳ Ｐゴシック" panose="020B0600070205080204" pitchFamily="34" charset="-128"/>
                <a:cs typeface="Arial" panose="020B0604020202020204" pitchFamily="34" charset="0"/>
              </a:rPr>
              <a:t>link state</a:t>
            </a:r>
          </a:p>
          <a:p>
            <a:pPr marL="746125" lvl="1" indent="-273050">
              <a:spcBef>
                <a:spcPts val="600"/>
              </a:spcBef>
              <a:buClr>
                <a:prstClr val="white">
                  <a:lumMod val="75000"/>
                </a:prstClr>
              </a:buClr>
              <a:buFont typeface="Wingdings" pitchFamily="2" charset="2"/>
              <a:buChar char="§"/>
            </a:pPr>
            <a:r>
              <a:rPr lang="en-US" altLang="en-US" sz="3200" dirty="0">
                <a:solidFill>
                  <a:prstClr val="white">
                    <a:lumMod val="75000"/>
                  </a:prstClr>
                </a:solidFill>
                <a:ea typeface="ＭＳ Ｐゴシック" panose="020B0600070205080204" pitchFamily="34" charset="-128"/>
                <a:cs typeface="Arial" panose="020B0604020202020204" pitchFamily="34" charset="0"/>
              </a:rPr>
              <a:t>distance vector</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intra-ISP routing: OSPF</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routing among ISPs: BGP</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SDN control plane</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ＭＳ Ｐゴシック" panose="020B0600070205080204" pitchFamily="34" charset="-128"/>
              </a:rPr>
              <a:t>Internet Control Message Protocol </a:t>
            </a:r>
          </a:p>
          <a:p>
            <a:pPr marL="466725" indent="-409575">
              <a:spcBef>
                <a:spcPts val="600"/>
              </a:spcBef>
              <a:buFont typeface="Wingdings" pitchFamily="2" charset="2"/>
              <a:buNone/>
            </a:pPr>
            <a:endParaRPr lang="en-US" altLang="en-US" sz="3200" dirty="0">
              <a:solidFill>
                <a:prstClr val="black"/>
              </a:solidFill>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42</a:t>
            </a:fld>
            <a:endParaRPr lang="en-US" dirty="0">
              <a:solidFill>
                <a:prstClr val="white">
                  <a:lumMod val="50000"/>
                </a:prstClr>
              </a:solidFill>
            </a:endParaRPr>
          </a:p>
        </p:txBody>
      </p:sp>
    </p:spTree>
    <p:extLst>
      <p:ext uri="{BB962C8B-B14F-4D97-AF65-F5344CB8AC3E}">
        <p14:creationId xmlns:p14="http://schemas.microsoft.com/office/powerpoint/2010/main" val="1819990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9839632" cy="894622"/>
          </a:xfrm>
        </p:spPr>
        <p:txBody>
          <a:bodyPr/>
          <a:lstStyle/>
          <a:p>
            <a:r>
              <a:rPr lang="en-US" b="0" dirty="0">
                <a:latin typeface="+mn-lt"/>
              </a:rPr>
              <a:t>Dijkstra’s link-state routing algorithm</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43</a:t>
            </a:fld>
            <a:endParaRPr lang="en-US" dirty="0">
              <a:solidFill>
                <a:prstClr val="white">
                  <a:lumMod val="50000"/>
                </a:prstClr>
              </a:solidFill>
            </a:endParaRPr>
          </a:p>
        </p:txBody>
      </p:sp>
      <p:sp>
        <p:nvSpPr>
          <p:cNvPr id="23" name="Rectangle 3">
            <a:extLst>
              <a:ext uri="{FF2B5EF4-FFF2-40B4-BE49-F238E27FC236}">
                <a16:creationId xmlns:a16="http://schemas.microsoft.com/office/drawing/2014/main" id="{AE9CCC8F-9B64-9843-9FF6-322BE507C6B3}"/>
              </a:ext>
            </a:extLst>
          </p:cNvPr>
          <p:cNvSpPr txBox="1">
            <a:spLocks noChangeArrowheads="1"/>
          </p:cNvSpPr>
          <p:nvPr/>
        </p:nvSpPr>
        <p:spPr>
          <a:xfrm>
            <a:off x="750989" y="1541236"/>
            <a:ext cx="5708805" cy="49037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solidFill>
                  <a:srgbClr val="0000A8"/>
                </a:solidFill>
              </a:rPr>
              <a:t>centralized: </a:t>
            </a:r>
            <a:r>
              <a:rPr lang="en-US" dirty="0">
                <a:solidFill>
                  <a:prstClr val="black"/>
                </a:solidFill>
              </a:rPr>
              <a:t>network topology, link costs known to </a:t>
            </a:r>
            <a:r>
              <a:rPr lang="en-US" i="1" dirty="0">
                <a:solidFill>
                  <a:prstClr val="black"/>
                </a:solidFill>
              </a:rPr>
              <a:t>all</a:t>
            </a:r>
            <a:r>
              <a:rPr lang="en-US" dirty="0">
                <a:solidFill>
                  <a:prstClr val="black"/>
                </a:solidFill>
              </a:rPr>
              <a:t> nodes</a:t>
            </a:r>
          </a:p>
          <a:p>
            <a:pPr lvl="1"/>
            <a:r>
              <a:rPr lang="en-US" dirty="0">
                <a:solidFill>
                  <a:prstClr val="black"/>
                </a:solidFill>
              </a:rPr>
              <a:t>accomplished via “</a:t>
            </a:r>
            <a:r>
              <a:rPr lang="en-US" altLang="ja-JP" dirty="0">
                <a:solidFill>
                  <a:prstClr val="black"/>
                </a:solidFill>
              </a:rPr>
              <a:t>link state broadcast” </a:t>
            </a:r>
          </a:p>
          <a:p>
            <a:pPr lvl="1"/>
            <a:r>
              <a:rPr lang="en-US" dirty="0">
                <a:solidFill>
                  <a:prstClr val="black"/>
                </a:solidFill>
              </a:rPr>
              <a:t>all nodes have same info</a:t>
            </a:r>
          </a:p>
          <a:p>
            <a:r>
              <a:rPr lang="en-US" dirty="0">
                <a:solidFill>
                  <a:prstClr val="black"/>
                </a:solidFill>
              </a:rPr>
              <a:t>computes least cost paths from one node (“</a:t>
            </a:r>
            <a:r>
              <a:rPr lang="en-US" altLang="ja-JP" dirty="0">
                <a:solidFill>
                  <a:prstClr val="black"/>
                </a:solidFill>
              </a:rPr>
              <a:t>source”) to all other nodes</a:t>
            </a:r>
          </a:p>
          <a:p>
            <a:pPr lvl="1"/>
            <a:r>
              <a:rPr lang="en-US" dirty="0">
                <a:solidFill>
                  <a:prstClr val="black"/>
                </a:solidFill>
              </a:rPr>
              <a:t>gives </a:t>
            </a:r>
            <a:r>
              <a:rPr lang="en-US" i="1" dirty="0">
                <a:solidFill>
                  <a:srgbClr val="000099"/>
                </a:solidFill>
              </a:rPr>
              <a:t>forwarding table</a:t>
            </a:r>
            <a:r>
              <a:rPr lang="en-US" dirty="0">
                <a:solidFill>
                  <a:prstClr val="black"/>
                </a:solidFill>
              </a:rPr>
              <a:t> for that node</a:t>
            </a:r>
          </a:p>
          <a:p>
            <a:r>
              <a:rPr lang="en-US" dirty="0">
                <a:solidFill>
                  <a:srgbClr val="0000A8"/>
                </a:solidFill>
              </a:rPr>
              <a:t>iterative: </a:t>
            </a:r>
            <a:r>
              <a:rPr lang="en-US" dirty="0">
                <a:solidFill>
                  <a:prstClr val="black"/>
                </a:solidFill>
              </a:rPr>
              <a:t>after </a:t>
            </a:r>
            <a:r>
              <a:rPr lang="en-US" i="1" dirty="0">
                <a:solidFill>
                  <a:prstClr val="black"/>
                </a:solidFill>
              </a:rPr>
              <a:t>k</a:t>
            </a:r>
            <a:r>
              <a:rPr lang="en-US" dirty="0">
                <a:solidFill>
                  <a:prstClr val="black"/>
                </a:solidFill>
              </a:rPr>
              <a:t> iterations, know least cost path to </a:t>
            </a:r>
            <a:r>
              <a:rPr lang="en-US" i="1" dirty="0">
                <a:solidFill>
                  <a:prstClr val="black"/>
                </a:solidFill>
              </a:rPr>
              <a:t>k </a:t>
            </a:r>
            <a:r>
              <a:rPr lang="en-US" dirty="0">
                <a:solidFill>
                  <a:prstClr val="black"/>
                </a:solidFill>
              </a:rPr>
              <a:t>destinations</a:t>
            </a:r>
          </a:p>
        </p:txBody>
      </p:sp>
      <p:grpSp>
        <p:nvGrpSpPr>
          <p:cNvPr id="5" name="Group 4">
            <a:extLst>
              <a:ext uri="{FF2B5EF4-FFF2-40B4-BE49-F238E27FC236}">
                <a16:creationId xmlns:a16="http://schemas.microsoft.com/office/drawing/2014/main" id="{87E67AF1-7D2F-A84A-A994-30B5519FB522}"/>
              </a:ext>
            </a:extLst>
          </p:cNvPr>
          <p:cNvGrpSpPr/>
          <p:nvPr/>
        </p:nvGrpSpPr>
        <p:grpSpPr>
          <a:xfrm>
            <a:off x="7315200" y="1524000"/>
            <a:ext cx="4441371" cy="4882184"/>
            <a:chOff x="7315200" y="1524000"/>
            <a:chExt cx="4441371" cy="4882184"/>
          </a:xfrm>
        </p:grpSpPr>
        <p:sp>
          <p:nvSpPr>
            <p:cNvPr id="24" name="Rectangle 4">
              <a:extLst>
                <a:ext uri="{FF2B5EF4-FFF2-40B4-BE49-F238E27FC236}">
                  <a16:creationId xmlns:a16="http://schemas.microsoft.com/office/drawing/2014/main" id="{D11D1E9D-A4E0-2D4D-8EB8-EB3C738C058E}"/>
                </a:ext>
              </a:extLst>
            </p:cNvPr>
            <p:cNvSpPr txBox="1">
              <a:spLocks noChangeArrowheads="1"/>
            </p:cNvSpPr>
            <p:nvPr/>
          </p:nvSpPr>
          <p:spPr>
            <a:xfrm>
              <a:off x="7387774" y="2168014"/>
              <a:ext cx="4310742" cy="42381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73050">
                <a:lnSpc>
                  <a:spcPct val="85000"/>
                </a:lnSpc>
                <a:spcBef>
                  <a:spcPts val="600"/>
                </a:spcBef>
              </a:pPr>
              <a:r>
                <a:rPr lang="en-US" i="1" dirty="0">
                  <a:solidFill>
                    <a:srgbClr val="000099"/>
                  </a:solidFill>
                </a:rPr>
                <a:t>c</a:t>
              </a:r>
              <a:r>
                <a:rPr lang="en-US" i="1" baseline="-25000" dirty="0">
                  <a:solidFill>
                    <a:srgbClr val="000099"/>
                  </a:solidFill>
                </a:rPr>
                <a:t>x,y</a:t>
              </a:r>
              <a:r>
                <a:rPr lang="en-US" i="1" dirty="0">
                  <a:solidFill>
                    <a:srgbClr val="000099"/>
                  </a:solidFill>
                </a:rPr>
                <a:t>:</a:t>
              </a:r>
              <a:r>
                <a:rPr lang="en-US" sz="2400" i="1" dirty="0">
                  <a:solidFill>
                    <a:prstClr val="black"/>
                  </a:solidFill>
                </a:rPr>
                <a:t> </a:t>
              </a:r>
              <a:r>
                <a:rPr lang="en-US" sz="2400" u="sng" dirty="0">
                  <a:solidFill>
                    <a:prstClr val="black"/>
                  </a:solidFill>
                </a:rPr>
                <a:t>direct</a:t>
              </a:r>
              <a:r>
                <a:rPr lang="en-US" sz="2400" dirty="0">
                  <a:solidFill>
                    <a:prstClr val="black"/>
                  </a:solidFill>
                </a:rPr>
                <a:t> link cost from node </a:t>
              </a:r>
              <a:r>
                <a:rPr lang="en-US" sz="2400" i="1" dirty="0">
                  <a:solidFill>
                    <a:prstClr val="black"/>
                  </a:solidFill>
                </a:rPr>
                <a:t>x</a:t>
              </a:r>
              <a:r>
                <a:rPr lang="en-US" sz="2400" dirty="0">
                  <a:solidFill>
                    <a:prstClr val="black"/>
                  </a:solidFill>
                </a:rPr>
                <a:t> to </a:t>
              </a:r>
              <a:r>
                <a:rPr lang="en-US" sz="2400" i="1" dirty="0">
                  <a:solidFill>
                    <a:prstClr val="black"/>
                  </a:solidFill>
                </a:rPr>
                <a:t>y</a:t>
              </a:r>
              <a:r>
                <a:rPr lang="en-US" sz="2400" dirty="0">
                  <a:solidFill>
                    <a:prstClr val="black"/>
                  </a:solidFill>
                </a:rPr>
                <a:t>;  = ∞ if not direct neighbors</a:t>
              </a:r>
            </a:p>
            <a:p>
              <a:pPr marL="403225" indent="-273050">
                <a:lnSpc>
                  <a:spcPct val="85000"/>
                </a:lnSpc>
                <a:spcBef>
                  <a:spcPts val="600"/>
                </a:spcBef>
              </a:pPr>
              <a:r>
                <a:rPr lang="en-US" i="1" dirty="0">
                  <a:solidFill>
                    <a:srgbClr val="000099"/>
                  </a:solidFill>
                </a:rPr>
                <a:t>D(v):</a:t>
              </a:r>
              <a:r>
                <a:rPr lang="en-US" sz="2400" i="1" dirty="0">
                  <a:solidFill>
                    <a:prstClr val="black"/>
                  </a:solidFill>
                </a:rPr>
                <a:t> current</a:t>
              </a:r>
              <a:r>
                <a:rPr lang="en-US" sz="2400" dirty="0">
                  <a:solidFill>
                    <a:prstClr val="black"/>
                  </a:solidFill>
                </a:rPr>
                <a:t> estimate of cost of least-cost-path from source to destination </a:t>
              </a:r>
              <a:r>
                <a:rPr lang="en-US" sz="2400" i="1" dirty="0">
                  <a:solidFill>
                    <a:prstClr val="black"/>
                  </a:solidFill>
                </a:rPr>
                <a:t>v</a:t>
              </a:r>
            </a:p>
            <a:p>
              <a:pPr marL="403225" indent="-273050">
                <a:lnSpc>
                  <a:spcPct val="85000"/>
                </a:lnSpc>
                <a:spcBef>
                  <a:spcPts val="600"/>
                </a:spcBef>
              </a:pPr>
              <a:r>
                <a:rPr lang="en-US" i="1" dirty="0">
                  <a:solidFill>
                    <a:srgbClr val="000099"/>
                  </a:solidFill>
                </a:rPr>
                <a:t>p(v):</a:t>
              </a:r>
              <a:r>
                <a:rPr lang="en-US" sz="2400" i="1" dirty="0">
                  <a:solidFill>
                    <a:prstClr val="black"/>
                  </a:solidFill>
                </a:rPr>
                <a:t> </a:t>
              </a:r>
              <a:r>
                <a:rPr lang="en-US" sz="2400" dirty="0">
                  <a:solidFill>
                    <a:prstClr val="black"/>
                  </a:solidFill>
                </a:rPr>
                <a:t>predecessor node along path from source to </a:t>
              </a:r>
              <a:r>
                <a:rPr lang="en-US" sz="2400" i="1" dirty="0">
                  <a:solidFill>
                    <a:prstClr val="black"/>
                  </a:solidFill>
                </a:rPr>
                <a:t>v</a:t>
              </a:r>
            </a:p>
            <a:p>
              <a:pPr marL="403225" indent="-273050">
                <a:lnSpc>
                  <a:spcPct val="85000"/>
                </a:lnSpc>
                <a:spcBef>
                  <a:spcPts val="600"/>
                </a:spcBef>
              </a:pPr>
              <a:r>
                <a:rPr lang="en-US" i="1" dirty="0">
                  <a:solidFill>
                    <a:srgbClr val="000099"/>
                  </a:solidFill>
                </a:rPr>
                <a:t>N</a:t>
              </a:r>
              <a:r>
                <a:rPr lang="en-US" i="1" dirty="0">
                  <a:solidFill>
                    <a:srgbClr val="000099"/>
                  </a:solidFill>
                  <a:cs typeface="Arial" charset="0"/>
                </a:rPr>
                <a:t>'</a:t>
              </a:r>
              <a:r>
                <a:rPr lang="en-US" i="1" dirty="0">
                  <a:solidFill>
                    <a:srgbClr val="000099"/>
                  </a:solidFill>
                </a:rPr>
                <a:t>:</a:t>
              </a:r>
              <a:r>
                <a:rPr lang="en-US" sz="2400" i="1" dirty="0">
                  <a:solidFill>
                    <a:prstClr val="black"/>
                  </a:solidFill>
                </a:rPr>
                <a:t> </a:t>
              </a:r>
              <a:r>
                <a:rPr lang="en-US" sz="2400" dirty="0">
                  <a:solidFill>
                    <a:prstClr val="black"/>
                  </a:solidFill>
                </a:rPr>
                <a:t>set of nodes whose least-cost-path </a:t>
              </a:r>
              <a:r>
                <a:rPr lang="en-US" sz="2400" i="1" dirty="0">
                  <a:solidFill>
                    <a:prstClr val="black"/>
                  </a:solidFill>
                </a:rPr>
                <a:t>definitively</a:t>
              </a:r>
              <a:r>
                <a:rPr lang="en-US" sz="2400" dirty="0">
                  <a:solidFill>
                    <a:prstClr val="black"/>
                  </a:solidFill>
                </a:rPr>
                <a:t> known</a:t>
              </a:r>
            </a:p>
            <a:p>
              <a:pPr>
                <a:lnSpc>
                  <a:spcPct val="75000"/>
                </a:lnSpc>
              </a:pPr>
              <a:endParaRPr lang="en-US" dirty="0">
                <a:solidFill>
                  <a:prstClr val="black"/>
                </a:solidFill>
                <a:latin typeface="Gill Sans MT" charset="0"/>
              </a:endParaRPr>
            </a:p>
          </p:txBody>
        </p:sp>
        <p:sp>
          <p:nvSpPr>
            <p:cNvPr id="2" name="Rectangle 1">
              <a:extLst>
                <a:ext uri="{FF2B5EF4-FFF2-40B4-BE49-F238E27FC236}">
                  <a16:creationId xmlns:a16="http://schemas.microsoft.com/office/drawing/2014/main" id="{575BF574-1695-D54B-8932-9F284CCA9BE5}"/>
                </a:ext>
              </a:extLst>
            </p:cNvPr>
            <p:cNvSpPr/>
            <p:nvPr/>
          </p:nvSpPr>
          <p:spPr>
            <a:xfrm>
              <a:off x="7315200" y="1828800"/>
              <a:ext cx="4441371" cy="4339771"/>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 name="TextBox 2">
              <a:extLst>
                <a:ext uri="{FF2B5EF4-FFF2-40B4-BE49-F238E27FC236}">
                  <a16:creationId xmlns:a16="http://schemas.microsoft.com/office/drawing/2014/main" id="{C2AE01A3-6135-9744-BC6A-3A4D19D0FA06}"/>
                </a:ext>
              </a:extLst>
            </p:cNvPr>
            <p:cNvSpPr txBox="1"/>
            <p:nvPr/>
          </p:nvSpPr>
          <p:spPr>
            <a:xfrm>
              <a:off x="7823199" y="1524000"/>
              <a:ext cx="1608967" cy="584775"/>
            </a:xfrm>
            <a:prstGeom prst="rect">
              <a:avLst/>
            </a:prstGeom>
            <a:solidFill>
              <a:schemeClr val="bg1"/>
            </a:solidFill>
          </p:spPr>
          <p:txBody>
            <a:bodyPr wrap="none" rtlCol="0">
              <a:spAutoFit/>
            </a:bodyPr>
            <a:lstStyle/>
            <a:p>
              <a:r>
                <a:rPr lang="en-US" sz="3200" dirty="0">
                  <a:solidFill>
                    <a:srgbClr val="C00000"/>
                  </a:solidFill>
                </a:rPr>
                <a:t>notation</a:t>
              </a:r>
            </a:p>
          </p:txBody>
        </p:sp>
      </p:grpSp>
    </p:spTree>
    <p:extLst>
      <p:ext uri="{BB962C8B-B14F-4D97-AF65-F5344CB8AC3E}">
        <p14:creationId xmlns:p14="http://schemas.microsoft.com/office/powerpoint/2010/main" val="687191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Effect transition="in" filter="dissolve">
                                      <p:cBhvr>
                                        <p:cTn id="7" dur="500"/>
                                        <p:tgtEl>
                                          <p:spTgt spid="2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3">
                                            <p:txEl>
                                              <p:pRg st="1" end="1"/>
                                            </p:txEl>
                                          </p:spTgt>
                                        </p:tgtEl>
                                        <p:attrNameLst>
                                          <p:attrName>style.visibility</p:attrName>
                                        </p:attrNameLst>
                                      </p:cBhvr>
                                      <p:to>
                                        <p:strVal val="visible"/>
                                      </p:to>
                                    </p:set>
                                    <p:animEffect transition="in" filter="dissolve">
                                      <p:cBhvr>
                                        <p:cTn id="10" dur="500"/>
                                        <p:tgtEl>
                                          <p:spTgt spid="2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3">
                                            <p:txEl>
                                              <p:pRg st="2" end="2"/>
                                            </p:txEl>
                                          </p:spTgt>
                                        </p:tgtEl>
                                        <p:attrNameLst>
                                          <p:attrName>style.visibility</p:attrName>
                                        </p:attrNameLst>
                                      </p:cBhvr>
                                      <p:to>
                                        <p:strVal val="visible"/>
                                      </p:to>
                                    </p:set>
                                    <p:animEffect transition="in" filter="dissolve">
                                      <p:cBhvr>
                                        <p:cTn id="13" dur="500"/>
                                        <p:tgtEl>
                                          <p:spTgt spid="2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
                                            <p:txEl>
                                              <p:pRg st="3" end="3"/>
                                            </p:txEl>
                                          </p:spTgt>
                                        </p:tgtEl>
                                        <p:attrNameLst>
                                          <p:attrName>style.visibility</p:attrName>
                                        </p:attrNameLst>
                                      </p:cBhvr>
                                      <p:to>
                                        <p:strVal val="visible"/>
                                      </p:to>
                                    </p:set>
                                    <p:animEffect transition="in" filter="dissolve">
                                      <p:cBhvr>
                                        <p:cTn id="18" dur="500"/>
                                        <p:tgtEl>
                                          <p:spTgt spid="23">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3">
                                            <p:txEl>
                                              <p:pRg st="4" end="4"/>
                                            </p:txEl>
                                          </p:spTgt>
                                        </p:tgtEl>
                                        <p:attrNameLst>
                                          <p:attrName>style.visibility</p:attrName>
                                        </p:attrNameLst>
                                      </p:cBhvr>
                                      <p:to>
                                        <p:strVal val="visible"/>
                                      </p:to>
                                    </p:set>
                                    <p:animEffect transition="in" filter="dissolve">
                                      <p:cBhvr>
                                        <p:cTn id="21" dur="500"/>
                                        <p:tgtEl>
                                          <p:spTgt spid="2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3">
                                            <p:txEl>
                                              <p:pRg st="5" end="5"/>
                                            </p:txEl>
                                          </p:spTgt>
                                        </p:tgtEl>
                                        <p:attrNameLst>
                                          <p:attrName>style.visibility</p:attrName>
                                        </p:attrNameLst>
                                      </p:cBhvr>
                                      <p:to>
                                        <p:strVal val="visible"/>
                                      </p:to>
                                    </p:set>
                                    <p:animEffect transition="in" filter="dissolve">
                                      <p:cBhvr>
                                        <p:cTn id="26" dur="500"/>
                                        <p:tgtEl>
                                          <p:spTgt spid="23">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dissolv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7D1BF78F-2764-A548-ABF1-4B1E42A705DA}"/>
              </a:ext>
            </a:extLst>
          </p:cNvPr>
          <p:cNvGrpSpPr/>
          <p:nvPr/>
        </p:nvGrpSpPr>
        <p:grpSpPr>
          <a:xfrm>
            <a:off x="1088571" y="3643090"/>
            <a:ext cx="1669144" cy="2786743"/>
            <a:chOff x="391885" y="3599543"/>
            <a:chExt cx="1669144" cy="2786743"/>
          </a:xfrm>
        </p:grpSpPr>
        <p:sp>
          <p:nvSpPr>
            <p:cNvPr id="4" name="Oval 3">
              <a:extLst>
                <a:ext uri="{FF2B5EF4-FFF2-40B4-BE49-F238E27FC236}">
                  <a16:creationId xmlns:a16="http://schemas.microsoft.com/office/drawing/2014/main" id="{2D7BEC2C-0D8F-4B40-94FB-EBBC0F3C072B}"/>
                </a:ext>
              </a:extLst>
            </p:cNvPr>
            <p:cNvSpPr/>
            <p:nvPr/>
          </p:nvSpPr>
          <p:spPr>
            <a:xfrm>
              <a:off x="391885" y="3599543"/>
              <a:ext cx="1480458" cy="278674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 name="Rectangle 4">
              <a:extLst>
                <a:ext uri="{FF2B5EF4-FFF2-40B4-BE49-F238E27FC236}">
                  <a16:creationId xmlns:a16="http://schemas.microsoft.com/office/drawing/2014/main" id="{D65DE2F2-C2A0-5A4A-BDC1-ACDB6130E0FD}"/>
                </a:ext>
              </a:extLst>
            </p:cNvPr>
            <p:cNvSpPr/>
            <p:nvPr/>
          </p:nvSpPr>
          <p:spPr>
            <a:xfrm>
              <a:off x="1161143" y="3715658"/>
              <a:ext cx="899886" cy="25835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0" name="Straight Arrow Connector 9">
              <a:extLst>
                <a:ext uri="{FF2B5EF4-FFF2-40B4-BE49-F238E27FC236}">
                  <a16:creationId xmlns:a16="http://schemas.microsoft.com/office/drawing/2014/main" id="{599703E9-6EB8-4942-9B41-791473B66075}"/>
                </a:ext>
              </a:extLst>
            </p:cNvPr>
            <p:cNvCxnSpPr>
              <a:cxnSpLocks/>
            </p:cNvCxnSpPr>
            <p:nvPr/>
          </p:nvCxnSpPr>
          <p:spPr>
            <a:xfrm>
              <a:off x="1377950" y="3679825"/>
              <a:ext cx="144237" cy="107497"/>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9839632" cy="894622"/>
          </a:xfrm>
        </p:spPr>
        <p:txBody>
          <a:bodyPr/>
          <a:lstStyle/>
          <a:p>
            <a:r>
              <a:rPr lang="en-US" b="0" dirty="0">
                <a:latin typeface="+mn-lt"/>
              </a:rPr>
              <a:t>Dijkstra’s link-state routing algorithm</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44</a:t>
            </a:fld>
            <a:endParaRPr lang="en-US" dirty="0">
              <a:solidFill>
                <a:prstClr val="white">
                  <a:lumMod val="50000"/>
                </a:prstClr>
              </a:solidFill>
            </a:endParaRPr>
          </a:p>
        </p:txBody>
      </p:sp>
      <p:sp>
        <p:nvSpPr>
          <p:cNvPr id="8" name="Text Box 3">
            <a:extLst>
              <a:ext uri="{FF2B5EF4-FFF2-40B4-BE49-F238E27FC236}">
                <a16:creationId xmlns:a16="http://schemas.microsoft.com/office/drawing/2014/main" id="{E360F75D-37CB-A045-9AC4-50629DAD82D8}"/>
              </a:ext>
            </a:extLst>
          </p:cNvPr>
          <p:cNvSpPr txBox="1">
            <a:spLocks noChangeArrowheads="1"/>
          </p:cNvSpPr>
          <p:nvPr/>
        </p:nvSpPr>
        <p:spPr bwMode="auto">
          <a:xfrm>
            <a:off x="2157412" y="1225689"/>
            <a:ext cx="9799235" cy="2419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r>
              <a:rPr lang="en-US" sz="2000" dirty="0">
                <a:solidFill>
                  <a:prstClr val="black"/>
                </a:solidFill>
                <a:latin typeface="Calibri" panose="020F0502020204030204"/>
              </a:rPr>
              <a:t>1  </a:t>
            </a:r>
            <a:r>
              <a:rPr lang="en-US" i="1" dirty="0">
                <a:solidFill>
                  <a:srgbClr val="0000A8"/>
                </a:solidFill>
                <a:latin typeface="Calibri" panose="020F0502020204030204"/>
              </a:rPr>
              <a:t>Initialization:</a:t>
            </a:r>
            <a:r>
              <a:rPr lang="en-US" dirty="0">
                <a:solidFill>
                  <a:srgbClr val="0000A8"/>
                </a:solidFill>
                <a:latin typeface="Calibri" panose="020F0502020204030204"/>
              </a:rPr>
              <a:t> </a:t>
            </a:r>
          </a:p>
          <a:p>
            <a:pPr>
              <a:lnSpc>
                <a:spcPct val="90000"/>
              </a:lnSpc>
            </a:pPr>
            <a:r>
              <a:rPr lang="en-US" dirty="0">
                <a:solidFill>
                  <a:prstClr val="black"/>
                </a:solidFill>
                <a:latin typeface="Calibri" panose="020F0502020204030204"/>
              </a:rPr>
              <a:t>2   </a:t>
            </a:r>
            <a:r>
              <a:rPr lang="en-US" i="1" dirty="0">
                <a:solidFill>
                  <a:prstClr val="black"/>
                </a:solidFill>
                <a:latin typeface="Calibri" panose="020F0502020204030204"/>
              </a:rPr>
              <a:t> 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r>
              <a:rPr lang="en-US" dirty="0">
                <a:solidFill>
                  <a:prstClr val="black"/>
                </a:solidFill>
                <a:latin typeface="Calibri" panose="020F0502020204030204"/>
              </a:rPr>
              <a:t>= {</a:t>
            </a:r>
            <a:r>
              <a:rPr lang="en-US" i="1" dirty="0">
                <a:solidFill>
                  <a:prstClr val="black"/>
                </a:solidFill>
                <a:latin typeface="Calibri" panose="020F0502020204030204"/>
              </a:rPr>
              <a:t>u</a:t>
            </a:r>
            <a:r>
              <a:rPr lang="en-US" dirty="0">
                <a:solidFill>
                  <a:prstClr val="black"/>
                </a:solidFill>
                <a:latin typeface="Calibri" panose="020F0502020204030204"/>
              </a:rPr>
              <a:t>}                               </a:t>
            </a:r>
            <a:r>
              <a:rPr lang="en-US" sz="1600" dirty="0">
                <a:solidFill>
                  <a:prstClr val="black"/>
                </a:solidFill>
                <a:latin typeface="Arial" panose="020B0604020202020204" pitchFamily="34" charset="0"/>
                <a:cs typeface="Arial" panose="020B0604020202020204" pitchFamily="34" charset="0"/>
              </a:rPr>
              <a:t>/* compute </a:t>
            </a:r>
            <a:r>
              <a:rPr lang="en-US" sz="1600" dirty="0">
                <a:solidFill>
                  <a:prstClr val="black"/>
                </a:solidFill>
              </a:rPr>
              <a:t>least cost path from u </a:t>
            </a:r>
            <a:r>
              <a:rPr lang="en-US" altLang="ja-JP" sz="1600" dirty="0">
                <a:solidFill>
                  <a:prstClr val="black"/>
                </a:solidFill>
              </a:rPr>
              <a:t>to all other nodes */</a:t>
            </a:r>
            <a:endParaRPr lang="en-US" dirty="0">
              <a:solidFill>
                <a:prstClr val="black"/>
              </a:solidFill>
              <a:latin typeface="Calibri" panose="020F0502020204030204"/>
            </a:endParaRPr>
          </a:p>
          <a:p>
            <a:pPr>
              <a:lnSpc>
                <a:spcPct val="90000"/>
              </a:lnSpc>
            </a:pPr>
            <a:r>
              <a:rPr lang="en-US" dirty="0">
                <a:solidFill>
                  <a:prstClr val="black"/>
                </a:solidFill>
                <a:latin typeface="Calibri" panose="020F0502020204030204"/>
              </a:rPr>
              <a:t>3    for all nodes </a:t>
            </a:r>
            <a:r>
              <a:rPr lang="en-US" i="1" dirty="0">
                <a:solidFill>
                  <a:prstClr val="black"/>
                </a:solidFill>
                <a:latin typeface="Calibri" panose="020F0502020204030204"/>
              </a:rPr>
              <a:t>v</a:t>
            </a:r>
            <a:r>
              <a:rPr lang="en-US" dirty="0">
                <a:solidFill>
                  <a:prstClr val="black"/>
                </a:solidFill>
                <a:latin typeface="Calibri" panose="020F0502020204030204"/>
              </a:rPr>
              <a:t> </a:t>
            </a:r>
          </a:p>
          <a:p>
            <a:pPr>
              <a:lnSpc>
                <a:spcPct val="90000"/>
              </a:lnSpc>
            </a:pPr>
            <a:r>
              <a:rPr lang="en-US" dirty="0">
                <a:solidFill>
                  <a:prstClr val="black"/>
                </a:solidFill>
                <a:latin typeface="Calibri" panose="020F0502020204030204"/>
              </a:rPr>
              <a:t>4      if </a:t>
            </a:r>
            <a:r>
              <a:rPr lang="en-US" i="1" dirty="0">
                <a:solidFill>
                  <a:prstClr val="black"/>
                </a:solidFill>
                <a:latin typeface="Calibri" panose="020F0502020204030204"/>
              </a:rPr>
              <a:t>v</a:t>
            </a:r>
            <a:r>
              <a:rPr lang="en-US" dirty="0">
                <a:solidFill>
                  <a:prstClr val="black"/>
                </a:solidFill>
                <a:latin typeface="Calibri" panose="020F0502020204030204"/>
              </a:rPr>
              <a:t> adjacent to </a:t>
            </a:r>
            <a:r>
              <a:rPr lang="en-US" i="1" dirty="0">
                <a:solidFill>
                  <a:prstClr val="black"/>
                </a:solidFill>
                <a:latin typeface="Calibri" panose="020F0502020204030204"/>
              </a:rPr>
              <a:t>u</a:t>
            </a:r>
            <a:r>
              <a:rPr lang="en-US" dirty="0">
                <a:solidFill>
                  <a:prstClr val="black"/>
                </a:solidFill>
                <a:latin typeface="Calibri" panose="020F0502020204030204"/>
              </a:rPr>
              <a:t>            </a:t>
            </a:r>
            <a:r>
              <a:rPr lang="en-US" sz="1800" dirty="0">
                <a:solidFill>
                  <a:prstClr val="black"/>
                </a:solidFill>
                <a:latin typeface="Calibri" panose="020F0502020204030204"/>
              </a:rPr>
              <a:t>/* </a:t>
            </a:r>
            <a:r>
              <a:rPr lang="en-US" sz="1800" i="1" dirty="0">
                <a:solidFill>
                  <a:prstClr val="black"/>
                </a:solidFill>
                <a:latin typeface="Calibri" panose="020F0502020204030204"/>
              </a:rPr>
              <a:t>u </a:t>
            </a:r>
            <a:r>
              <a:rPr lang="en-US" sz="1800" dirty="0">
                <a:solidFill>
                  <a:prstClr val="black"/>
                </a:solidFill>
                <a:latin typeface="Calibri" panose="020F0502020204030204"/>
              </a:rPr>
              <a:t>initially</a:t>
            </a:r>
            <a:r>
              <a:rPr lang="en-US" sz="1800" i="1" dirty="0">
                <a:solidFill>
                  <a:prstClr val="black"/>
                </a:solidFill>
                <a:latin typeface="Calibri" panose="020F0502020204030204"/>
              </a:rPr>
              <a:t> </a:t>
            </a:r>
            <a:r>
              <a:rPr lang="en-US" sz="1800" dirty="0">
                <a:solidFill>
                  <a:prstClr val="black"/>
                </a:solidFill>
                <a:latin typeface="Calibri" panose="020F0502020204030204"/>
              </a:rPr>
              <a:t>knows direct-path-cost only to  direct neighbors    */</a:t>
            </a:r>
            <a:endParaRPr lang="en-US" dirty="0">
              <a:solidFill>
                <a:prstClr val="black"/>
              </a:solidFill>
              <a:latin typeface="Calibri" panose="020F0502020204030204"/>
            </a:endParaRPr>
          </a:p>
          <a:p>
            <a:pPr>
              <a:lnSpc>
                <a:spcPct val="90000"/>
              </a:lnSpc>
            </a:pPr>
            <a:r>
              <a:rPr lang="en-US" dirty="0">
                <a:solidFill>
                  <a:prstClr val="black"/>
                </a:solidFill>
                <a:latin typeface="Calibri" panose="020F0502020204030204"/>
              </a:rPr>
              <a:t>5          then </a:t>
            </a:r>
            <a:r>
              <a:rPr lang="en-US" i="1" dirty="0">
                <a:solidFill>
                  <a:prstClr val="black"/>
                </a:solidFill>
                <a:latin typeface="Calibri" panose="020F0502020204030204"/>
              </a:rPr>
              <a:t>D(v) = c</a:t>
            </a:r>
            <a:r>
              <a:rPr lang="en-US" i="1" baseline="-25000" dirty="0">
                <a:solidFill>
                  <a:prstClr val="black"/>
                </a:solidFill>
                <a:latin typeface="Calibri" panose="020F0502020204030204"/>
              </a:rPr>
              <a:t>u,v      </a:t>
            </a:r>
            <a:r>
              <a:rPr lang="en-US" sz="1800" baseline="-25000" dirty="0">
                <a:solidFill>
                  <a:prstClr val="black"/>
                </a:solidFill>
                <a:latin typeface="Calibri" panose="020F0502020204030204"/>
              </a:rPr>
              <a:t>             </a:t>
            </a:r>
            <a:r>
              <a:rPr lang="en-US" sz="1800" dirty="0">
                <a:solidFill>
                  <a:prstClr val="black"/>
                </a:solidFill>
                <a:latin typeface="Calibri" panose="020F0502020204030204"/>
              </a:rPr>
              <a:t>/* but may not be </a:t>
            </a:r>
            <a:r>
              <a:rPr lang="en-US" sz="1800" i="1" dirty="0">
                <a:solidFill>
                  <a:prstClr val="black"/>
                </a:solidFill>
                <a:latin typeface="Calibri" panose="020F0502020204030204"/>
              </a:rPr>
              <a:t>minimum</a:t>
            </a:r>
            <a:r>
              <a:rPr lang="en-US" sz="1800" dirty="0">
                <a:solidFill>
                  <a:prstClr val="black"/>
                </a:solidFill>
                <a:latin typeface="Calibri" panose="020F0502020204030204"/>
              </a:rPr>
              <a:t> cost!                                                    */</a:t>
            </a:r>
          </a:p>
          <a:p>
            <a:pPr>
              <a:lnSpc>
                <a:spcPct val="90000"/>
              </a:lnSpc>
            </a:pPr>
            <a:r>
              <a:rPr lang="en-US" dirty="0">
                <a:solidFill>
                  <a:prstClr val="black"/>
                </a:solidFill>
                <a:latin typeface="Calibri" panose="020F0502020204030204"/>
              </a:rPr>
              <a:t>6      else </a:t>
            </a:r>
            <a:r>
              <a:rPr lang="en-US" i="1" dirty="0">
                <a:solidFill>
                  <a:prstClr val="black"/>
                </a:solidFill>
                <a:latin typeface="Calibri" panose="020F0502020204030204"/>
              </a:rPr>
              <a:t>D(v) </a:t>
            </a:r>
            <a:r>
              <a:rPr lang="en-US" dirty="0">
                <a:solidFill>
                  <a:prstClr val="black"/>
                </a:solidFill>
                <a:latin typeface="Calibri" panose="020F0502020204030204"/>
              </a:rPr>
              <a:t>= </a:t>
            </a:r>
            <a:r>
              <a:rPr lang="en-US" dirty="0">
                <a:solidFill>
                  <a:prstClr val="black"/>
                </a:solidFill>
                <a:latin typeface="Calibri" panose="020F0502020204030204"/>
                <a:cs typeface="Arial" charset="0"/>
              </a:rPr>
              <a:t>∞</a:t>
            </a:r>
            <a:r>
              <a:rPr lang="en-US" dirty="0">
                <a:solidFill>
                  <a:prstClr val="black"/>
                </a:solidFill>
                <a:latin typeface="Calibri" panose="020F0502020204030204"/>
              </a:rPr>
              <a:t> </a:t>
            </a:r>
          </a:p>
          <a:p>
            <a:pPr>
              <a:lnSpc>
                <a:spcPct val="90000"/>
              </a:lnSpc>
            </a:pPr>
            <a:r>
              <a:rPr lang="en-US" dirty="0">
                <a:solidFill>
                  <a:prstClr val="black"/>
                </a:solidFill>
                <a:latin typeface="Calibri" panose="020F0502020204030204"/>
              </a:rPr>
              <a:t>7 </a:t>
            </a:r>
          </a:p>
        </p:txBody>
      </p:sp>
      <p:sp>
        <p:nvSpPr>
          <p:cNvPr id="16" name="Text Box 3">
            <a:extLst>
              <a:ext uri="{FF2B5EF4-FFF2-40B4-BE49-F238E27FC236}">
                <a16:creationId xmlns:a16="http://schemas.microsoft.com/office/drawing/2014/main" id="{E6A5B365-6E84-8F48-A98B-CE54B371702B}"/>
              </a:ext>
            </a:extLst>
          </p:cNvPr>
          <p:cNvSpPr txBox="1">
            <a:spLocks noChangeArrowheads="1"/>
          </p:cNvSpPr>
          <p:nvPr/>
        </p:nvSpPr>
        <p:spPr bwMode="auto">
          <a:xfrm>
            <a:off x="2179184" y="3194942"/>
            <a:ext cx="3075073"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solidFill>
                <a:prstClr val="black"/>
              </a:solidFill>
              <a:latin typeface="Calibri" panose="020F0502020204030204"/>
            </a:endParaRPr>
          </a:p>
          <a:p>
            <a:r>
              <a:rPr lang="en-US" dirty="0">
                <a:solidFill>
                  <a:srgbClr val="0000A8"/>
                </a:solidFill>
                <a:latin typeface="Calibri" panose="020F0502020204030204"/>
              </a:rPr>
              <a:t>8   </a:t>
            </a:r>
            <a:r>
              <a:rPr lang="en-US" i="1" dirty="0">
                <a:solidFill>
                  <a:srgbClr val="0000A8"/>
                </a:solidFill>
                <a:latin typeface="Calibri" panose="020F0502020204030204"/>
              </a:rPr>
              <a:t>Loop </a:t>
            </a:r>
            <a:endParaRPr lang="en-US" dirty="0">
              <a:solidFill>
                <a:srgbClr val="0000A8"/>
              </a:solidFill>
              <a:latin typeface="Calibri" panose="020F0502020204030204"/>
            </a:endParaRPr>
          </a:p>
          <a:p>
            <a:r>
              <a:rPr lang="en-US" dirty="0">
                <a:solidFill>
                  <a:prstClr val="black"/>
                </a:solidFill>
                <a:latin typeface="Calibri" panose="020F0502020204030204"/>
              </a:rPr>
              <a:t>9     </a:t>
            </a:r>
          </a:p>
          <a:p>
            <a:r>
              <a:rPr lang="en-US" dirty="0">
                <a:solidFill>
                  <a:prstClr val="black"/>
                </a:solidFill>
                <a:latin typeface="Calibri" panose="020F0502020204030204"/>
              </a:rPr>
              <a:t>10    </a:t>
            </a:r>
          </a:p>
          <a:p>
            <a:r>
              <a:rPr lang="en-US" dirty="0">
                <a:solidFill>
                  <a:prstClr val="black"/>
                </a:solidFill>
                <a:latin typeface="Calibri" panose="020F0502020204030204"/>
              </a:rPr>
              <a:t>11</a:t>
            </a:r>
          </a:p>
          <a:p>
            <a:r>
              <a:rPr lang="en-US" dirty="0">
                <a:solidFill>
                  <a:prstClr val="black"/>
                </a:solidFill>
                <a:latin typeface="Calibri" panose="020F0502020204030204"/>
              </a:rPr>
              <a:t>12</a:t>
            </a:r>
            <a:endParaRPr lang="en-US" b="1" dirty="0">
              <a:solidFill>
                <a:srgbClr val="CC0000"/>
              </a:solidFill>
              <a:latin typeface="Calibri" panose="020F0502020204030204"/>
            </a:endParaRPr>
          </a:p>
          <a:p>
            <a:r>
              <a:rPr lang="en-US" dirty="0">
                <a:solidFill>
                  <a:prstClr val="black"/>
                </a:solidFill>
                <a:latin typeface="Calibri" panose="020F0502020204030204"/>
              </a:rPr>
              <a:t>13</a:t>
            </a:r>
          </a:p>
          <a:p>
            <a:r>
              <a:rPr lang="en-US" dirty="0">
                <a:solidFill>
                  <a:prstClr val="black"/>
                </a:solidFill>
                <a:latin typeface="Calibri" panose="020F0502020204030204"/>
              </a:rPr>
              <a:t>14</a:t>
            </a:r>
          </a:p>
          <a:p>
            <a:r>
              <a:rPr lang="en-US" b="1" dirty="0">
                <a:solidFill>
                  <a:srgbClr val="0000A8"/>
                </a:solidFill>
                <a:latin typeface="Calibri" panose="020F0502020204030204"/>
              </a:rPr>
              <a:t>15  </a:t>
            </a:r>
            <a:r>
              <a:rPr lang="en-US" i="1" dirty="0">
                <a:solidFill>
                  <a:srgbClr val="0000A8"/>
                </a:solidFill>
                <a:latin typeface="Calibri" panose="020F0502020204030204"/>
              </a:rPr>
              <a:t>until all nodes in N</a:t>
            </a:r>
            <a:r>
              <a:rPr lang="en-US" i="1" dirty="0">
                <a:solidFill>
                  <a:srgbClr val="0000A8"/>
                </a:solidFill>
                <a:latin typeface="Calibri" panose="020F0502020204030204"/>
                <a:cs typeface="Arial" charset="0"/>
              </a:rPr>
              <a:t>'</a:t>
            </a:r>
            <a:r>
              <a:rPr lang="en-US" dirty="0">
                <a:solidFill>
                  <a:srgbClr val="0000A8"/>
                </a:solidFill>
                <a:latin typeface="Calibri" panose="020F0502020204030204"/>
              </a:rPr>
              <a:t> </a:t>
            </a:r>
          </a:p>
        </p:txBody>
      </p:sp>
      <p:sp>
        <p:nvSpPr>
          <p:cNvPr id="17" name="Text Box 3">
            <a:extLst>
              <a:ext uri="{FF2B5EF4-FFF2-40B4-BE49-F238E27FC236}">
                <a16:creationId xmlns:a16="http://schemas.microsoft.com/office/drawing/2014/main" id="{C3FDD5E0-11CC-FC44-8118-718358E5438B}"/>
              </a:ext>
            </a:extLst>
          </p:cNvPr>
          <p:cNvSpPr txBox="1">
            <a:spLocks noChangeArrowheads="1"/>
          </p:cNvSpPr>
          <p:nvPr/>
        </p:nvSpPr>
        <p:spPr bwMode="auto">
          <a:xfrm>
            <a:off x="2767012" y="3546934"/>
            <a:ext cx="7463582" cy="2657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solidFill>
                <a:prstClr val="black"/>
              </a:solidFill>
              <a:latin typeface="Calibri" panose="020F0502020204030204"/>
            </a:endParaRPr>
          </a:p>
          <a:p>
            <a:r>
              <a:rPr lang="en-US" dirty="0">
                <a:solidFill>
                  <a:prstClr val="black"/>
                </a:solidFill>
                <a:latin typeface="Calibri" panose="020F0502020204030204"/>
              </a:rPr>
              <a:t>find </a:t>
            </a:r>
            <a:r>
              <a:rPr lang="en-US" i="1" dirty="0">
                <a:solidFill>
                  <a:prstClr val="black"/>
                </a:solidFill>
                <a:latin typeface="Calibri" panose="020F0502020204030204"/>
              </a:rPr>
              <a:t>w</a:t>
            </a:r>
            <a:r>
              <a:rPr lang="en-US" dirty="0">
                <a:solidFill>
                  <a:prstClr val="black"/>
                </a:solidFill>
                <a:latin typeface="Calibri" panose="020F0502020204030204"/>
              </a:rPr>
              <a:t> not in </a:t>
            </a:r>
            <a:r>
              <a:rPr lang="en-US" i="1" dirty="0">
                <a:solidFill>
                  <a:prstClr val="black"/>
                </a:solidFill>
                <a:latin typeface="Calibri" panose="020F0502020204030204"/>
              </a:rPr>
              <a:t>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r>
              <a:rPr lang="en-US" dirty="0">
                <a:solidFill>
                  <a:prstClr val="black"/>
                </a:solidFill>
                <a:latin typeface="Calibri" panose="020F0502020204030204"/>
              </a:rPr>
              <a:t>such that </a:t>
            </a:r>
            <a:r>
              <a:rPr lang="en-US" i="1" dirty="0">
                <a:solidFill>
                  <a:prstClr val="black"/>
                </a:solidFill>
                <a:latin typeface="Calibri" panose="020F0502020204030204"/>
              </a:rPr>
              <a:t>D(w) </a:t>
            </a:r>
            <a:r>
              <a:rPr lang="en-US" dirty="0">
                <a:solidFill>
                  <a:prstClr val="black"/>
                </a:solidFill>
                <a:latin typeface="Calibri" panose="020F0502020204030204"/>
              </a:rPr>
              <a:t>is a minimum </a:t>
            </a:r>
          </a:p>
          <a:p>
            <a:r>
              <a:rPr lang="en-US" dirty="0">
                <a:solidFill>
                  <a:prstClr val="black"/>
                </a:solidFill>
                <a:latin typeface="Calibri" panose="020F0502020204030204"/>
              </a:rPr>
              <a:t>add </a:t>
            </a:r>
            <a:r>
              <a:rPr lang="en-US" i="1" dirty="0">
                <a:solidFill>
                  <a:prstClr val="black"/>
                </a:solidFill>
                <a:latin typeface="Calibri" panose="020F0502020204030204"/>
              </a:rPr>
              <a:t>w</a:t>
            </a:r>
            <a:r>
              <a:rPr lang="en-US" dirty="0">
                <a:solidFill>
                  <a:prstClr val="black"/>
                </a:solidFill>
                <a:latin typeface="Calibri" panose="020F0502020204030204"/>
              </a:rPr>
              <a:t> to </a:t>
            </a:r>
            <a:r>
              <a:rPr lang="en-US" i="1" dirty="0">
                <a:solidFill>
                  <a:prstClr val="black"/>
                </a:solidFill>
                <a:latin typeface="Calibri" panose="020F0502020204030204"/>
              </a:rPr>
              <a:t>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p>
          <a:p>
            <a:r>
              <a:rPr lang="en-US" dirty="0">
                <a:solidFill>
                  <a:prstClr val="black"/>
                </a:solidFill>
                <a:latin typeface="Calibri" panose="020F0502020204030204"/>
              </a:rPr>
              <a:t>update </a:t>
            </a:r>
            <a:r>
              <a:rPr lang="en-US" i="1" dirty="0">
                <a:solidFill>
                  <a:prstClr val="black"/>
                </a:solidFill>
                <a:latin typeface="Calibri" panose="020F0502020204030204"/>
              </a:rPr>
              <a:t>D(v) </a:t>
            </a:r>
            <a:r>
              <a:rPr lang="en-US" dirty="0">
                <a:solidFill>
                  <a:prstClr val="black"/>
                </a:solidFill>
                <a:latin typeface="Calibri" panose="020F0502020204030204"/>
              </a:rPr>
              <a:t>for all</a:t>
            </a:r>
            <a:r>
              <a:rPr lang="en-US" i="1" dirty="0">
                <a:solidFill>
                  <a:prstClr val="black"/>
                </a:solidFill>
                <a:latin typeface="Calibri" panose="020F0502020204030204"/>
              </a:rPr>
              <a:t> v </a:t>
            </a:r>
            <a:r>
              <a:rPr lang="en-US" dirty="0">
                <a:solidFill>
                  <a:prstClr val="black"/>
                </a:solidFill>
                <a:latin typeface="Calibri" panose="020F0502020204030204"/>
              </a:rPr>
              <a:t>adjacent to </a:t>
            </a:r>
            <a:r>
              <a:rPr lang="en-US" i="1" dirty="0">
                <a:solidFill>
                  <a:prstClr val="black"/>
                </a:solidFill>
                <a:latin typeface="Calibri" panose="020F0502020204030204"/>
              </a:rPr>
              <a:t>w</a:t>
            </a:r>
            <a:r>
              <a:rPr lang="en-US" dirty="0">
                <a:solidFill>
                  <a:prstClr val="black"/>
                </a:solidFill>
                <a:latin typeface="Calibri" panose="020F0502020204030204"/>
              </a:rPr>
              <a:t> and not in </a:t>
            </a:r>
            <a:r>
              <a:rPr lang="en-US" i="1" dirty="0">
                <a:solidFill>
                  <a:prstClr val="black"/>
                </a:solidFill>
                <a:latin typeface="Calibri" panose="020F0502020204030204"/>
              </a:rPr>
              <a:t>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r>
              <a:rPr lang="en-US" dirty="0">
                <a:solidFill>
                  <a:prstClr val="black"/>
                </a:solidFill>
                <a:latin typeface="Calibri" panose="020F0502020204030204"/>
              </a:rPr>
              <a:t>: </a:t>
            </a:r>
          </a:p>
          <a:p>
            <a:r>
              <a:rPr lang="en-US" b="1" i="1" dirty="0">
                <a:solidFill>
                  <a:srgbClr val="CC0000"/>
                </a:solidFill>
                <a:latin typeface="Calibri" panose="020F0502020204030204"/>
              </a:rPr>
              <a:t>     D(v) = </a:t>
            </a:r>
            <a:r>
              <a:rPr lang="en-US" b="1" dirty="0">
                <a:solidFill>
                  <a:srgbClr val="CC0000"/>
                </a:solidFill>
                <a:latin typeface="Calibri" panose="020F0502020204030204"/>
              </a:rPr>
              <a:t>min</a:t>
            </a:r>
            <a:r>
              <a:rPr lang="en-US" b="1" i="1" dirty="0">
                <a:solidFill>
                  <a:srgbClr val="CC0000"/>
                </a:solidFill>
                <a:latin typeface="Calibri" panose="020F0502020204030204"/>
              </a:rPr>
              <a:t> </a:t>
            </a:r>
            <a:r>
              <a:rPr lang="en-US" b="1" dirty="0">
                <a:solidFill>
                  <a:srgbClr val="CC0000"/>
                </a:solidFill>
                <a:latin typeface="Calibri" panose="020F0502020204030204"/>
              </a:rPr>
              <a:t>( </a:t>
            </a:r>
            <a:r>
              <a:rPr lang="en-US" b="1" i="1" dirty="0">
                <a:solidFill>
                  <a:srgbClr val="CC0000"/>
                </a:solidFill>
                <a:latin typeface="Calibri" panose="020F0502020204030204"/>
              </a:rPr>
              <a:t>D(v),  D(w) + c</a:t>
            </a:r>
            <a:r>
              <a:rPr lang="en-US" b="1" i="1" baseline="-25000" dirty="0">
                <a:solidFill>
                  <a:srgbClr val="CC0000"/>
                </a:solidFill>
                <a:latin typeface="Calibri" panose="020F0502020204030204"/>
              </a:rPr>
              <a:t>w,v  </a:t>
            </a:r>
            <a:r>
              <a:rPr lang="en-US" b="1" dirty="0">
                <a:solidFill>
                  <a:srgbClr val="CC0000"/>
                </a:solidFill>
                <a:latin typeface="Calibri" panose="020F0502020204030204"/>
              </a:rPr>
              <a:t>)</a:t>
            </a:r>
            <a:r>
              <a:rPr lang="en-US" b="1" i="1" dirty="0">
                <a:solidFill>
                  <a:srgbClr val="CC0000"/>
                </a:solidFill>
                <a:latin typeface="Calibri" panose="020F0502020204030204"/>
              </a:rPr>
              <a:t> </a:t>
            </a:r>
          </a:p>
          <a:p>
            <a:pPr>
              <a:spcBef>
                <a:spcPts val="400"/>
              </a:spcBef>
            </a:pPr>
            <a:r>
              <a:rPr lang="en-US" sz="2000" dirty="0">
                <a:solidFill>
                  <a:prstClr val="black"/>
                </a:solidFill>
                <a:latin typeface="Calibri" panose="020F0502020204030204"/>
              </a:rPr>
              <a:t>/* new least-path-cost to </a:t>
            </a:r>
            <a:r>
              <a:rPr lang="en-US" sz="2000" i="1" dirty="0">
                <a:solidFill>
                  <a:prstClr val="black"/>
                </a:solidFill>
                <a:latin typeface="Calibri" panose="020F0502020204030204"/>
              </a:rPr>
              <a:t>v </a:t>
            </a:r>
            <a:r>
              <a:rPr lang="en-US" sz="2000" dirty="0">
                <a:solidFill>
                  <a:prstClr val="black"/>
                </a:solidFill>
                <a:latin typeface="Calibri" panose="020F0502020204030204"/>
              </a:rPr>
              <a:t>is either old least-cost-path to</a:t>
            </a:r>
            <a:r>
              <a:rPr lang="en-US" sz="2000" i="1" dirty="0">
                <a:solidFill>
                  <a:prstClr val="black"/>
                </a:solidFill>
                <a:latin typeface="Calibri" panose="020F0502020204030204"/>
              </a:rPr>
              <a:t> v </a:t>
            </a:r>
            <a:r>
              <a:rPr lang="en-US" sz="2000" dirty="0">
                <a:solidFill>
                  <a:prstClr val="black"/>
                </a:solidFill>
                <a:latin typeface="Calibri" panose="020F0502020204030204"/>
              </a:rPr>
              <a:t>or known </a:t>
            </a:r>
          </a:p>
          <a:p>
            <a:pPr>
              <a:spcBef>
                <a:spcPts val="400"/>
              </a:spcBef>
            </a:pPr>
            <a:r>
              <a:rPr lang="en-US" sz="2000" dirty="0">
                <a:solidFill>
                  <a:prstClr val="black"/>
                </a:solidFill>
                <a:latin typeface="Calibri" panose="020F0502020204030204"/>
              </a:rPr>
              <a:t>least-cost-path to </a:t>
            </a:r>
            <a:r>
              <a:rPr lang="en-US" sz="2000" i="1" dirty="0">
                <a:solidFill>
                  <a:prstClr val="black"/>
                </a:solidFill>
                <a:latin typeface="Calibri" panose="020F0502020204030204"/>
              </a:rPr>
              <a:t>w</a:t>
            </a:r>
            <a:r>
              <a:rPr lang="en-US" sz="2000" dirty="0">
                <a:solidFill>
                  <a:prstClr val="black"/>
                </a:solidFill>
                <a:latin typeface="Calibri" panose="020F0502020204030204"/>
              </a:rPr>
              <a:t> plus direct-cost from </a:t>
            </a:r>
            <a:r>
              <a:rPr lang="en-US" sz="2000" i="1" dirty="0">
                <a:solidFill>
                  <a:prstClr val="black"/>
                </a:solidFill>
                <a:latin typeface="Calibri" panose="020F0502020204030204"/>
              </a:rPr>
              <a:t>w</a:t>
            </a:r>
            <a:r>
              <a:rPr lang="en-US" sz="2000" dirty="0">
                <a:solidFill>
                  <a:prstClr val="black"/>
                </a:solidFill>
                <a:latin typeface="Calibri" panose="020F0502020204030204"/>
              </a:rPr>
              <a:t> to </a:t>
            </a:r>
            <a:r>
              <a:rPr lang="en-US" sz="2000" i="1" dirty="0">
                <a:solidFill>
                  <a:prstClr val="black"/>
                </a:solidFill>
                <a:latin typeface="Calibri" panose="020F0502020204030204"/>
              </a:rPr>
              <a:t>v</a:t>
            </a:r>
            <a:r>
              <a:rPr lang="en-US" sz="2000" dirty="0">
                <a:solidFill>
                  <a:prstClr val="black"/>
                </a:solidFill>
                <a:latin typeface="Calibri" panose="020F0502020204030204"/>
              </a:rPr>
              <a:t> */ </a:t>
            </a:r>
          </a:p>
        </p:txBody>
      </p:sp>
    </p:spTree>
    <p:extLst>
      <p:ext uri="{BB962C8B-B14F-4D97-AF65-F5344CB8AC3E}">
        <p14:creationId xmlns:p14="http://schemas.microsoft.com/office/powerpoint/2010/main" val="737537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dissolv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dissolve">
                                      <p:cBhvr>
                                        <p:cTn id="2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17"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3DC340D0-8A95-8143-AD57-B872A9C6CD43}"/>
              </a:ext>
            </a:extLst>
          </p:cNvPr>
          <p:cNvGrpSpPr/>
          <p:nvPr/>
        </p:nvGrpSpPr>
        <p:grpSpPr>
          <a:xfrm>
            <a:off x="5701792" y="4279392"/>
            <a:ext cx="918006" cy="1764574"/>
            <a:chOff x="4618299" y="5972536"/>
            <a:chExt cx="2734563" cy="1944547"/>
          </a:xfrm>
        </p:grpSpPr>
        <p:sp>
          <p:nvSpPr>
            <p:cNvPr id="46" name="Rectangle 45">
              <a:extLst>
                <a:ext uri="{FF2B5EF4-FFF2-40B4-BE49-F238E27FC236}">
                  <a16:creationId xmlns:a16="http://schemas.microsoft.com/office/drawing/2014/main" id="{C27F7A7B-99F0-6C4B-B48D-B877DEAB2FD6}"/>
                </a:ext>
              </a:extLst>
            </p:cNvPr>
            <p:cNvSpPr/>
            <p:nvPr/>
          </p:nvSpPr>
          <p:spPr>
            <a:xfrm>
              <a:off x="4618299" y="5972536"/>
              <a:ext cx="2511706" cy="1944547"/>
            </a:xfrm>
            <a:prstGeom prst="rect">
              <a:avLst/>
            </a:prstGeom>
            <a:no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66" name="Rectangle 565">
              <a:extLst>
                <a:ext uri="{FF2B5EF4-FFF2-40B4-BE49-F238E27FC236}">
                  <a16:creationId xmlns:a16="http://schemas.microsoft.com/office/drawing/2014/main" id="{01376935-088F-E14B-99BC-C62CE0D1A8D3}"/>
                </a:ext>
              </a:extLst>
            </p:cNvPr>
            <p:cNvSpPr/>
            <p:nvPr/>
          </p:nvSpPr>
          <p:spPr>
            <a:xfrm>
              <a:off x="6852056" y="6129160"/>
              <a:ext cx="500806" cy="167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67" name="Straight Arrow Connector 566">
              <a:extLst>
                <a:ext uri="{FF2B5EF4-FFF2-40B4-BE49-F238E27FC236}">
                  <a16:creationId xmlns:a16="http://schemas.microsoft.com/office/drawing/2014/main" id="{EE536074-780C-B94B-BB7B-5519ED0B8ED5}"/>
                </a:ext>
              </a:extLst>
            </p:cNvPr>
            <p:cNvCxnSpPr>
              <a:cxnSpLocks/>
            </p:cNvCxnSpPr>
            <p:nvPr/>
          </p:nvCxnSpPr>
          <p:spPr>
            <a:xfrm>
              <a:off x="7131754" y="6015734"/>
              <a:ext cx="0" cy="235302"/>
            </a:xfrm>
            <a:prstGeom prst="straightConnector1">
              <a:avLst/>
            </a:prstGeom>
            <a:ln w="254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45</a:t>
            </a:fld>
            <a:endParaRPr lang="en-US" dirty="0">
              <a:solidFill>
                <a:prstClr val="white">
                  <a:lumMod val="50000"/>
                </a:prstClr>
              </a:solidFill>
            </a:endParaRPr>
          </a:p>
        </p:txBody>
      </p:sp>
      <p:sp>
        <p:nvSpPr>
          <p:cNvPr id="246" name="Text Box 3">
            <a:extLst>
              <a:ext uri="{FF2B5EF4-FFF2-40B4-BE49-F238E27FC236}">
                <a16:creationId xmlns:a16="http://schemas.microsoft.com/office/drawing/2014/main" id="{B903AE0C-4346-CF44-9481-037FB37A3981}"/>
              </a:ext>
            </a:extLst>
          </p:cNvPr>
          <p:cNvSpPr txBox="1">
            <a:spLocks noChangeArrowheads="1"/>
          </p:cNvSpPr>
          <p:nvPr/>
        </p:nvSpPr>
        <p:spPr bwMode="auto">
          <a:xfrm>
            <a:off x="1397181" y="1647825"/>
            <a:ext cx="706437" cy="222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Step</a:t>
            </a:r>
          </a:p>
          <a:p>
            <a:pPr algn="r" eaLnBrk="0" fontAlgn="base" hangingPunct="0">
              <a:spcBef>
                <a:spcPct val="0"/>
              </a:spcBef>
              <a:spcAft>
                <a:spcPct val="0"/>
              </a:spcAft>
              <a:defRPr/>
            </a:pPr>
            <a:r>
              <a:rPr lang="en-US" sz="2000" kern="0" dirty="0">
                <a:solidFill>
                  <a:srgbClr val="000000"/>
                </a:solidFill>
              </a:rPr>
              <a:t>0</a:t>
            </a:r>
          </a:p>
          <a:p>
            <a:pPr algn="r" eaLnBrk="0" fontAlgn="base" hangingPunct="0">
              <a:spcBef>
                <a:spcPct val="0"/>
              </a:spcBef>
              <a:spcAft>
                <a:spcPct val="0"/>
              </a:spcAft>
              <a:defRPr/>
            </a:pPr>
            <a:r>
              <a:rPr lang="en-US" sz="2000" kern="0" dirty="0">
                <a:solidFill>
                  <a:srgbClr val="000000"/>
                </a:solidFill>
              </a:rPr>
              <a:t>1</a:t>
            </a:r>
          </a:p>
          <a:p>
            <a:pPr algn="r" eaLnBrk="0" fontAlgn="base" hangingPunct="0">
              <a:spcBef>
                <a:spcPct val="0"/>
              </a:spcBef>
              <a:spcAft>
                <a:spcPct val="0"/>
              </a:spcAft>
              <a:defRPr/>
            </a:pPr>
            <a:r>
              <a:rPr lang="en-US" sz="2000" kern="0" dirty="0">
                <a:solidFill>
                  <a:srgbClr val="000000"/>
                </a:solidFill>
              </a:rPr>
              <a:t>2</a:t>
            </a:r>
          </a:p>
          <a:p>
            <a:pPr algn="r" eaLnBrk="0" fontAlgn="base" hangingPunct="0">
              <a:spcBef>
                <a:spcPct val="0"/>
              </a:spcBef>
              <a:spcAft>
                <a:spcPct val="0"/>
              </a:spcAft>
              <a:defRPr/>
            </a:pPr>
            <a:r>
              <a:rPr lang="en-US" sz="2000" kern="0" dirty="0">
                <a:solidFill>
                  <a:srgbClr val="000000"/>
                </a:solidFill>
              </a:rPr>
              <a:t>3</a:t>
            </a:r>
          </a:p>
          <a:p>
            <a:pPr algn="r" eaLnBrk="0" fontAlgn="base" hangingPunct="0">
              <a:spcBef>
                <a:spcPct val="0"/>
              </a:spcBef>
              <a:spcAft>
                <a:spcPct val="0"/>
              </a:spcAft>
              <a:defRPr/>
            </a:pPr>
            <a:r>
              <a:rPr lang="en-US" sz="2000" kern="0" dirty="0">
                <a:solidFill>
                  <a:srgbClr val="000000"/>
                </a:solidFill>
              </a:rPr>
              <a:t>4</a:t>
            </a:r>
          </a:p>
          <a:p>
            <a:pPr algn="r" eaLnBrk="0" fontAlgn="base" hangingPunct="0">
              <a:spcBef>
                <a:spcPct val="0"/>
              </a:spcBef>
              <a:spcAft>
                <a:spcPct val="0"/>
              </a:spcAft>
              <a:defRPr/>
            </a:pPr>
            <a:r>
              <a:rPr lang="en-US" sz="2000" kern="0" dirty="0">
                <a:solidFill>
                  <a:srgbClr val="000000"/>
                </a:solidFill>
              </a:rPr>
              <a:t>5</a:t>
            </a:r>
          </a:p>
        </p:txBody>
      </p:sp>
      <p:sp>
        <p:nvSpPr>
          <p:cNvPr id="247" name="Text Box 4">
            <a:extLst>
              <a:ext uri="{FF2B5EF4-FFF2-40B4-BE49-F238E27FC236}">
                <a16:creationId xmlns:a16="http://schemas.microsoft.com/office/drawing/2014/main" id="{940B6AB4-2B9C-424D-9073-90B490CA145F}"/>
              </a:ext>
            </a:extLst>
          </p:cNvPr>
          <p:cNvSpPr txBox="1">
            <a:spLocks noChangeArrowheads="1"/>
          </p:cNvSpPr>
          <p:nvPr/>
        </p:nvSpPr>
        <p:spPr bwMode="auto">
          <a:xfrm>
            <a:off x="3007285" y="1657350"/>
            <a:ext cx="4203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N</a:t>
            </a:r>
            <a:r>
              <a:rPr lang="en-US" sz="2000" kern="0" dirty="0">
                <a:solidFill>
                  <a:srgbClr val="000000"/>
                </a:solidFill>
                <a:cs typeface="Arial" charset="0"/>
              </a:rPr>
              <a:t>'</a:t>
            </a:r>
          </a:p>
        </p:txBody>
      </p:sp>
      <p:sp>
        <p:nvSpPr>
          <p:cNvPr id="248" name="Text Box 5">
            <a:extLst>
              <a:ext uri="{FF2B5EF4-FFF2-40B4-BE49-F238E27FC236}">
                <a16:creationId xmlns:a16="http://schemas.microsoft.com/office/drawing/2014/main" id="{BFC5A1B4-9A1A-8748-B5FA-043233C160A8}"/>
              </a:ext>
            </a:extLst>
          </p:cNvPr>
          <p:cNvSpPr txBox="1">
            <a:spLocks noChangeArrowheads="1"/>
          </p:cNvSpPr>
          <p:nvPr/>
        </p:nvSpPr>
        <p:spPr bwMode="auto">
          <a:xfrm>
            <a:off x="3932260" y="1626727"/>
            <a:ext cx="11801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D(v),p(v)</a:t>
            </a:r>
          </a:p>
        </p:txBody>
      </p:sp>
      <p:sp>
        <p:nvSpPr>
          <p:cNvPr id="250" name="Text Box 7">
            <a:extLst>
              <a:ext uri="{FF2B5EF4-FFF2-40B4-BE49-F238E27FC236}">
                <a16:creationId xmlns:a16="http://schemas.microsoft.com/office/drawing/2014/main" id="{134AE2AD-F4F6-A646-BCC7-1F2E0A23EDC2}"/>
              </a:ext>
            </a:extLst>
          </p:cNvPr>
          <p:cNvSpPr txBox="1">
            <a:spLocks noChangeArrowheads="1"/>
          </p:cNvSpPr>
          <p:nvPr/>
        </p:nvSpPr>
        <p:spPr bwMode="auto">
          <a:xfrm>
            <a:off x="6534634" y="1626726"/>
            <a:ext cx="11801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D(x),p(x)</a:t>
            </a:r>
          </a:p>
        </p:txBody>
      </p:sp>
      <p:sp>
        <p:nvSpPr>
          <p:cNvPr id="251" name="Text Box 8">
            <a:extLst>
              <a:ext uri="{FF2B5EF4-FFF2-40B4-BE49-F238E27FC236}">
                <a16:creationId xmlns:a16="http://schemas.microsoft.com/office/drawing/2014/main" id="{A27983AD-A090-0449-BF43-DC6600055B40}"/>
              </a:ext>
            </a:extLst>
          </p:cNvPr>
          <p:cNvSpPr txBox="1">
            <a:spLocks noChangeArrowheads="1"/>
          </p:cNvSpPr>
          <p:nvPr/>
        </p:nvSpPr>
        <p:spPr bwMode="auto">
          <a:xfrm>
            <a:off x="7856559" y="1638300"/>
            <a:ext cx="11801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D(y),p(y)</a:t>
            </a:r>
          </a:p>
        </p:txBody>
      </p:sp>
      <p:sp>
        <p:nvSpPr>
          <p:cNvPr id="252" name="Text Box 9">
            <a:extLst>
              <a:ext uri="{FF2B5EF4-FFF2-40B4-BE49-F238E27FC236}">
                <a16:creationId xmlns:a16="http://schemas.microsoft.com/office/drawing/2014/main" id="{297C2219-5295-1C4F-BC52-FD72360100DB}"/>
              </a:ext>
            </a:extLst>
          </p:cNvPr>
          <p:cNvSpPr txBox="1">
            <a:spLocks noChangeArrowheads="1"/>
          </p:cNvSpPr>
          <p:nvPr/>
        </p:nvSpPr>
        <p:spPr bwMode="auto">
          <a:xfrm>
            <a:off x="9163535" y="1638300"/>
            <a:ext cx="11801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D(z),p(z)</a:t>
            </a:r>
          </a:p>
        </p:txBody>
      </p:sp>
      <p:sp>
        <p:nvSpPr>
          <p:cNvPr id="253" name="Line 10">
            <a:extLst>
              <a:ext uri="{FF2B5EF4-FFF2-40B4-BE49-F238E27FC236}">
                <a16:creationId xmlns:a16="http://schemas.microsoft.com/office/drawing/2014/main" id="{D9A0E014-3E4B-AA48-86C7-6D4E4AE592F4}"/>
              </a:ext>
            </a:extLst>
          </p:cNvPr>
          <p:cNvSpPr>
            <a:spLocks noChangeShapeType="1"/>
          </p:cNvSpPr>
          <p:nvPr/>
        </p:nvSpPr>
        <p:spPr bwMode="auto">
          <a:xfrm>
            <a:off x="1519418" y="1998662"/>
            <a:ext cx="8505825" cy="95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59" name="Group 16">
            <a:extLst>
              <a:ext uri="{FF2B5EF4-FFF2-40B4-BE49-F238E27FC236}">
                <a16:creationId xmlns:a16="http://schemas.microsoft.com/office/drawing/2014/main" id="{F6D427A6-9405-2D4E-BC72-78E69E64A628}"/>
              </a:ext>
            </a:extLst>
          </p:cNvPr>
          <p:cNvGrpSpPr>
            <a:grpSpLocks/>
          </p:cNvGrpSpPr>
          <p:nvPr/>
        </p:nvGrpSpPr>
        <p:grpSpPr bwMode="auto">
          <a:xfrm>
            <a:off x="1528762" y="4132366"/>
            <a:ext cx="3571875" cy="2236788"/>
            <a:chOff x="3162" y="1071"/>
            <a:chExt cx="2250" cy="1409"/>
          </a:xfrm>
        </p:grpSpPr>
        <p:sp>
          <p:nvSpPr>
            <p:cNvPr id="260" name="Freeform 17">
              <a:extLst>
                <a:ext uri="{FF2B5EF4-FFF2-40B4-BE49-F238E27FC236}">
                  <a16:creationId xmlns:a16="http://schemas.microsoft.com/office/drawing/2014/main" id="{B59803F6-669E-C147-9AA7-07A510F23C39}"/>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1" name="Freeform 18">
              <a:extLst>
                <a:ext uri="{FF2B5EF4-FFF2-40B4-BE49-F238E27FC236}">
                  <a16:creationId xmlns:a16="http://schemas.microsoft.com/office/drawing/2014/main" id="{4CE8143F-BB5D-1548-A2D1-0B3C05E2D172}"/>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2" name="Oval 19">
              <a:extLst>
                <a:ext uri="{FF2B5EF4-FFF2-40B4-BE49-F238E27FC236}">
                  <a16:creationId xmlns:a16="http://schemas.microsoft.com/office/drawing/2014/main" id="{CB2328B2-500E-0643-881F-169F140BD4A3}"/>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3" name="Line 20">
              <a:extLst>
                <a:ext uri="{FF2B5EF4-FFF2-40B4-BE49-F238E27FC236}">
                  <a16:creationId xmlns:a16="http://schemas.microsoft.com/office/drawing/2014/main" id="{EC0FDC3E-2336-EF44-B445-144049FF3B49}"/>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4" name="Line 21">
              <a:extLst>
                <a:ext uri="{FF2B5EF4-FFF2-40B4-BE49-F238E27FC236}">
                  <a16:creationId xmlns:a16="http://schemas.microsoft.com/office/drawing/2014/main" id="{07B5F04F-0C18-CE48-93A1-4B267BBE4FAF}"/>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5" name="Rectangle 22">
              <a:extLst>
                <a:ext uri="{FF2B5EF4-FFF2-40B4-BE49-F238E27FC236}">
                  <a16:creationId xmlns:a16="http://schemas.microsoft.com/office/drawing/2014/main" id="{0C43506A-1E78-F54A-910F-D37EBC1EF67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66" name="Oval 23">
              <a:extLst>
                <a:ext uri="{FF2B5EF4-FFF2-40B4-BE49-F238E27FC236}">
                  <a16:creationId xmlns:a16="http://schemas.microsoft.com/office/drawing/2014/main" id="{27A71FF2-F42F-2844-AC5E-37F186F80F5F}"/>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7" name="Oval 24">
              <a:extLst>
                <a:ext uri="{FF2B5EF4-FFF2-40B4-BE49-F238E27FC236}">
                  <a16:creationId xmlns:a16="http://schemas.microsoft.com/office/drawing/2014/main" id="{9C47D8B7-EC1D-C743-87B3-403B84D4AD2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8" name="Line 25">
              <a:extLst>
                <a:ext uri="{FF2B5EF4-FFF2-40B4-BE49-F238E27FC236}">
                  <a16:creationId xmlns:a16="http://schemas.microsoft.com/office/drawing/2014/main" id="{BEC31F1C-3B0C-3040-AD04-6FCA0D057A34}"/>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9" name="Line 26">
              <a:extLst>
                <a:ext uri="{FF2B5EF4-FFF2-40B4-BE49-F238E27FC236}">
                  <a16:creationId xmlns:a16="http://schemas.microsoft.com/office/drawing/2014/main" id="{56212EB3-C962-DA44-8730-7936B2191ABD}"/>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0" name="Rectangle 27">
              <a:extLst>
                <a:ext uri="{FF2B5EF4-FFF2-40B4-BE49-F238E27FC236}">
                  <a16:creationId xmlns:a16="http://schemas.microsoft.com/office/drawing/2014/main" id="{70DA0FF6-1A2B-FA4D-8CF4-CF4512C7228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71" name="Oval 28">
              <a:extLst>
                <a:ext uri="{FF2B5EF4-FFF2-40B4-BE49-F238E27FC236}">
                  <a16:creationId xmlns:a16="http://schemas.microsoft.com/office/drawing/2014/main" id="{91BA553D-89DC-1440-84C3-F0FFE0B7EE06}"/>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2" name="Oval 29">
              <a:extLst>
                <a:ext uri="{FF2B5EF4-FFF2-40B4-BE49-F238E27FC236}">
                  <a16:creationId xmlns:a16="http://schemas.microsoft.com/office/drawing/2014/main" id="{5F155988-DD8E-7949-85F9-F8B730D85581}"/>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3" name="Line 30">
              <a:extLst>
                <a:ext uri="{FF2B5EF4-FFF2-40B4-BE49-F238E27FC236}">
                  <a16:creationId xmlns:a16="http://schemas.microsoft.com/office/drawing/2014/main" id="{007AA526-21E2-1449-A457-DC487F6259BF}"/>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4" name="Line 31">
              <a:extLst>
                <a:ext uri="{FF2B5EF4-FFF2-40B4-BE49-F238E27FC236}">
                  <a16:creationId xmlns:a16="http://schemas.microsoft.com/office/drawing/2014/main" id="{A7D6DEE1-2254-2340-92B2-4425F8E4149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5" name="Rectangle 32">
              <a:extLst>
                <a:ext uri="{FF2B5EF4-FFF2-40B4-BE49-F238E27FC236}">
                  <a16:creationId xmlns:a16="http://schemas.microsoft.com/office/drawing/2014/main" id="{CD0F76A8-F2F6-A040-A641-8C6DD2B4D0B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59" name="Oval 33">
              <a:extLst>
                <a:ext uri="{FF2B5EF4-FFF2-40B4-BE49-F238E27FC236}">
                  <a16:creationId xmlns:a16="http://schemas.microsoft.com/office/drawing/2014/main" id="{021DFE64-FE6B-AF4B-A487-798FD40EE4E9}"/>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5" name="Oval 34">
              <a:extLst>
                <a:ext uri="{FF2B5EF4-FFF2-40B4-BE49-F238E27FC236}">
                  <a16:creationId xmlns:a16="http://schemas.microsoft.com/office/drawing/2014/main" id="{D7221543-9DA7-9C4F-BF64-841725D580D9}"/>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6" name="Line 35">
              <a:extLst>
                <a:ext uri="{FF2B5EF4-FFF2-40B4-BE49-F238E27FC236}">
                  <a16:creationId xmlns:a16="http://schemas.microsoft.com/office/drawing/2014/main" id="{3AA9DB23-022C-B843-ACB1-9CD5A8D4891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7" name="Line 36">
              <a:extLst>
                <a:ext uri="{FF2B5EF4-FFF2-40B4-BE49-F238E27FC236}">
                  <a16:creationId xmlns:a16="http://schemas.microsoft.com/office/drawing/2014/main" id="{AAE6AF87-B018-8A44-81E6-B8267ADC39E9}"/>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8" name="Rectangle 37">
              <a:extLst>
                <a:ext uri="{FF2B5EF4-FFF2-40B4-BE49-F238E27FC236}">
                  <a16:creationId xmlns:a16="http://schemas.microsoft.com/office/drawing/2014/main" id="{E486C5EC-F3AE-514D-8BFC-C15DDC7BC42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3" name="Oval 38">
              <a:extLst>
                <a:ext uri="{FF2B5EF4-FFF2-40B4-BE49-F238E27FC236}">
                  <a16:creationId xmlns:a16="http://schemas.microsoft.com/office/drawing/2014/main" id="{D570042E-655B-9244-B2DE-DD6B84D18E36}"/>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4" name="Oval 39">
              <a:extLst>
                <a:ext uri="{FF2B5EF4-FFF2-40B4-BE49-F238E27FC236}">
                  <a16:creationId xmlns:a16="http://schemas.microsoft.com/office/drawing/2014/main" id="{209FDC48-A133-7C43-A4F4-AEC33B2394DC}"/>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5" name="Line 40">
              <a:extLst>
                <a:ext uri="{FF2B5EF4-FFF2-40B4-BE49-F238E27FC236}">
                  <a16:creationId xmlns:a16="http://schemas.microsoft.com/office/drawing/2014/main" id="{6C737D5E-249D-704B-8624-06BC6AF83FC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6" name="Line 41">
              <a:extLst>
                <a:ext uri="{FF2B5EF4-FFF2-40B4-BE49-F238E27FC236}">
                  <a16:creationId xmlns:a16="http://schemas.microsoft.com/office/drawing/2014/main" id="{2BB65E91-5543-2A4A-83D1-AF4BD2A561BA}"/>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7" name="Rectangle 42">
              <a:extLst>
                <a:ext uri="{FF2B5EF4-FFF2-40B4-BE49-F238E27FC236}">
                  <a16:creationId xmlns:a16="http://schemas.microsoft.com/office/drawing/2014/main" id="{31754303-C1B0-564A-BC8B-D1994E2260A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8" name="Oval 43">
              <a:extLst>
                <a:ext uri="{FF2B5EF4-FFF2-40B4-BE49-F238E27FC236}">
                  <a16:creationId xmlns:a16="http://schemas.microsoft.com/office/drawing/2014/main" id="{5EBC6ED3-D791-D849-8DF4-6EEC31DF921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9" name="Oval 44">
              <a:extLst>
                <a:ext uri="{FF2B5EF4-FFF2-40B4-BE49-F238E27FC236}">
                  <a16:creationId xmlns:a16="http://schemas.microsoft.com/office/drawing/2014/main" id="{69D4B18F-1B3D-AA47-B609-E5E0116A4B8C}"/>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3" name="Line 45">
              <a:extLst>
                <a:ext uri="{FF2B5EF4-FFF2-40B4-BE49-F238E27FC236}">
                  <a16:creationId xmlns:a16="http://schemas.microsoft.com/office/drawing/2014/main" id="{6B623BCC-754E-AD43-A91B-5BE9046197D9}"/>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5" name="Line 46">
              <a:extLst>
                <a:ext uri="{FF2B5EF4-FFF2-40B4-BE49-F238E27FC236}">
                  <a16:creationId xmlns:a16="http://schemas.microsoft.com/office/drawing/2014/main" id="{70C54C4E-9E9A-CB4F-9BAD-759F10AB73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7" name="Rectangle 47">
              <a:extLst>
                <a:ext uri="{FF2B5EF4-FFF2-40B4-BE49-F238E27FC236}">
                  <a16:creationId xmlns:a16="http://schemas.microsoft.com/office/drawing/2014/main" id="{48B02502-224F-614A-AF74-CA45B87B4FC2}"/>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32" name="Oval 48">
              <a:extLst>
                <a:ext uri="{FF2B5EF4-FFF2-40B4-BE49-F238E27FC236}">
                  <a16:creationId xmlns:a16="http://schemas.microsoft.com/office/drawing/2014/main" id="{1CBE76C4-29B1-DF47-8C80-E056EC01FEE0}"/>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3" name="Freeform 49">
              <a:extLst>
                <a:ext uri="{FF2B5EF4-FFF2-40B4-BE49-F238E27FC236}">
                  <a16:creationId xmlns:a16="http://schemas.microsoft.com/office/drawing/2014/main" id="{F7C58F3A-0B59-CE40-8968-EFD5B03D593E}"/>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8" name="Freeform 50">
              <a:extLst>
                <a:ext uri="{FF2B5EF4-FFF2-40B4-BE49-F238E27FC236}">
                  <a16:creationId xmlns:a16="http://schemas.microsoft.com/office/drawing/2014/main" id="{5CA0B20D-583A-724F-8F77-3D2EE0DD013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3" name="Freeform 51">
              <a:extLst>
                <a:ext uri="{FF2B5EF4-FFF2-40B4-BE49-F238E27FC236}">
                  <a16:creationId xmlns:a16="http://schemas.microsoft.com/office/drawing/2014/main" id="{F9705D5A-4067-4E46-97EF-A4A7592F8062}"/>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4" name="Freeform 52">
              <a:extLst>
                <a:ext uri="{FF2B5EF4-FFF2-40B4-BE49-F238E27FC236}">
                  <a16:creationId xmlns:a16="http://schemas.microsoft.com/office/drawing/2014/main" id="{22C3BA86-2C31-C244-BCC8-F79B83E99BAE}"/>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5" name="Freeform 53">
              <a:extLst>
                <a:ext uri="{FF2B5EF4-FFF2-40B4-BE49-F238E27FC236}">
                  <a16:creationId xmlns:a16="http://schemas.microsoft.com/office/drawing/2014/main" id="{36BA8254-18D7-D841-8B10-CF1677FF4B4C}"/>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6" name="Freeform 54">
              <a:extLst>
                <a:ext uri="{FF2B5EF4-FFF2-40B4-BE49-F238E27FC236}">
                  <a16:creationId xmlns:a16="http://schemas.microsoft.com/office/drawing/2014/main" id="{FDD9D6F7-B6B7-8C4F-B4CD-8A42B44DA87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7" name="Freeform 55">
              <a:extLst>
                <a:ext uri="{FF2B5EF4-FFF2-40B4-BE49-F238E27FC236}">
                  <a16:creationId xmlns:a16="http://schemas.microsoft.com/office/drawing/2014/main" id="{0EEE8685-1A2C-124B-AEBC-CE60F95275A6}"/>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8" name="Freeform 56">
              <a:extLst>
                <a:ext uri="{FF2B5EF4-FFF2-40B4-BE49-F238E27FC236}">
                  <a16:creationId xmlns:a16="http://schemas.microsoft.com/office/drawing/2014/main" id="{CDFCCD1A-99F5-3248-A9D4-80A4A3508E86}"/>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9" name="Freeform 57">
              <a:extLst>
                <a:ext uri="{FF2B5EF4-FFF2-40B4-BE49-F238E27FC236}">
                  <a16:creationId xmlns:a16="http://schemas.microsoft.com/office/drawing/2014/main" id="{8158BEB1-D7DD-304F-93D8-B63A3B9F79D7}"/>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450" name="Group 58">
              <a:extLst>
                <a:ext uri="{FF2B5EF4-FFF2-40B4-BE49-F238E27FC236}">
                  <a16:creationId xmlns:a16="http://schemas.microsoft.com/office/drawing/2014/main" id="{5708D0AB-39B8-5F4D-964A-583102F20F6D}"/>
                </a:ext>
              </a:extLst>
            </p:cNvPr>
            <p:cNvGrpSpPr>
              <a:grpSpLocks/>
            </p:cNvGrpSpPr>
            <p:nvPr/>
          </p:nvGrpSpPr>
          <p:grpSpPr bwMode="auto">
            <a:xfrm>
              <a:off x="3287" y="1744"/>
              <a:ext cx="205" cy="250"/>
              <a:chOff x="2954" y="2425"/>
              <a:chExt cx="208" cy="250"/>
            </a:xfrm>
          </p:grpSpPr>
          <p:sp>
            <p:nvSpPr>
              <p:cNvPr id="476" name="Rectangle 59">
                <a:extLst>
                  <a:ext uri="{FF2B5EF4-FFF2-40B4-BE49-F238E27FC236}">
                    <a16:creationId xmlns:a16="http://schemas.microsoft.com/office/drawing/2014/main" id="{698B8676-76A7-4C47-8D65-7AD44E1F849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7" name="Text Box 60">
                <a:extLst>
                  <a:ext uri="{FF2B5EF4-FFF2-40B4-BE49-F238E27FC236}">
                    <a16:creationId xmlns:a16="http://schemas.microsoft.com/office/drawing/2014/main" id="{5163CA4B-303D-0E4C-B36C-0EB9193499CB}"/>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451" name="Group 61">
              <a:extLst>
                <a:ext uri="{FF2B5EF4-FFF2-40B4-BE49-F238E27FC236}">
                  <a16:creationId xmlns:a16="http://schemas.microsoft.com/office/drawing/2014/main" id="{22504589-6EDA-CD46-9F6D-B4E53859C7BB}"/>
                </a:ext>
              </a:extLst>
            </p:cNvPr>
            <p:cNvGrpSpPr>
              <a:grpSpLocks/>
            </p:cNvGrpSpPr>
            <p:nvPr/>
          </p:nvGrpSpPr>
          <p:grpSpPr bwMode="auto">
            <a:xfrm>
              <a:off x="4461" y="2128"/>
              <a:ext cx="196" cy="250"/>
              <a:chOff x="2958" y="2425"/>
              <a:chExt cx="199" cy="250"/>
            </a:xfrm>
          </p:grpSpPr>
          <p:sp>
            <p:nvSpPr>
              <p:cNvPr id="474" name="Rectangle 62">
                <a:extLst>
                  <a:ext uri="{FF2B5EF4-FFF2-40B4-BE49-F238E27FC236}">
                    <a16:creationId xmlns:a16="http://schemas.microsoft.com/office/drawing/2014/main" id="{B5EB60BB-0E5E-C14B-B24B-878829D35E8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5" name="Text Box 63">
                <a:extLst>
                  <a:ext uri="{FF2B5EF4-FFF2-40B4-BE49-F238E27FC236}">
                    <a16:creationId xmlns:a16="http://schemas.microsoft.com/office/drawing/2014/main" id="{AC01CA65-68FA-E340-BE13-4C47DBA310D1}"/>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452" name="Group 64">
              <a:extLst>
                <a:ext uri="{FF2B5EF4-FFF2-40B4-BE49-F238E27FC236}">
                  <a16:creationId xmlns:a16="http://schemas.microsoft.com/office/drawing/2014/main" id="{7E66326C-FC5C-CB48-9635-4D30ECB15D8D}"/>
                </a:ext>
              </a:extLst>
            </p:cNvPr>
            <p:cNvGrpSpPr>
              <a:grpSpLocks/>
            </p:cNvGrpSpPr>
            <p:nvPr/>
          </p:nvGrpSpPr>
          <p:grpSpPr bwMode="auto">
            <a:xfrm>
              <a:off x="3772" y="2095"/>
              <a:ext cx="212" cy="288"/>
              <a:chOff x="2951" y="2395"/>
              <a:chExt cx="213" cy="288"/>
            </a:xfrm>
          </p:grpSpPr>
          <p:sp>
            <p:nvSpPr>
              <p:cNvPr id="472" name="Rectangle 65">
                <a:extLst>
                  <a:ext uri="{FF2B5EF4-FFF2-40B4-BE49-F238E27FC236}">
                    <a16:creationId xmlns:a16="http://schemas.microsoft.com/office/drawing/2014/main" id="{6BF35853-D616-6B43-8985-14AABE1F752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3" name="Text Box 66">
                <a:extLst>
                  <a:ext uri="{FF2B5EF4-FFF2-40B4-BE49-F238E27FC236}">
                    <a16:creationId xmlns:a16="http://schemas.microsoft.com/office/drawing/2014/main" id="{3282D7A0-A2E9-7F4B-A22E-01546569C59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453" name="Group 67">
              <a:extLst>
                <a:ext uri="{FF2B5EF4-FFF2-40B4-BE49-F238E27FC236}">
                  <a16:creationId xmlns:a16="http://schemas.microsoft.com/office/drawing/2014/main" id="{3104BBAE-4F76-E649-85DB-F84D22362B81}"/>
                </a:ext>
              </a:extLst>
            </p:cNvPr>
            <p:cNvGrpSpPr>
              <a:grpSpLocks/>
            </p:cNvGrpSpPr>
            <p:nvPr/>
          </p:nvGrpSpPr>
          <p:grpSpPr bwMode="auto">
            <a:xfrm>
              <a:off x="4438" y="1438"/>
              <a:ext cx="232" cy="250"/>
              <a:chOff x="2941" y="2425"/>
              <a:chExt cx="235" cy="250"/>
            </a:xfrm>
          </p:grpSpPr>
          <p:sp>
            <p:nvSpPr>
              <p:cNvPr id="470" name="Rectangle 68">
                <a:extLst>
                  <a:ext uri="{FF2B5EF4-FFF2-40B4-BE49-F238E27FC236}">
                    <a16:creationId xmlns:a16="http://schemas.microsoft.com/office/drawing/2014/main" id="{0CEE42FC-526E-AB47-8798-637A6484857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1" name="Text Box 69">
                <a:extLst>
                  <a:ext uri="{FF2B5EF4-FFF2-40B4-BE49-F238E27FC236}">
                    <a16:creationId xmlns:a16="http://schemas.microsoft.com/office/drawing/2014/main" id="{BD20AA39-4C83-B348-A22B-DC09D5E6798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454" name="Group 70">
              <a:extLst>
                <a:ext uri="{FF2B5EF4-FFF2-40B4-BE49-F238E27FC236}">
                  <a16:creationId xmlns:a16="http://schemas.microsoft.com/office/drawing/2014/main" id="{76A8AB1F-2271-4C40-97FF-558125D0E3D2}"/>
                </a:ext>
              </a:extLst>
            </p:cNvPr>
            <p:cNvGrpSpPr>
              <a:grpSpLocks/>
            </p:cNvGrpSpPr>
            <p:nvPr/>
          </p:nvGrpSpPr>
          <p:grpSpPr bwMode="auto">
            <a:xfrm>
              <a:off x="3771" y="1438"/>
              <a:ext cx="196" cy="250"/>
              <a:chOff x="2958" y="2425"/>
              <a:chExt cx="199" cy="250"/>
            </a:xfrm>
          </p:grpSpPr>
          <p:sp>
            <p:nvSpPr>
              <p:cNvPr id="468" name="Rectangle 71">
                <a:extLst>
                  <a:ext uri="{FF2B5EF4-FFF2-40B4-BE49-F238E27FC236}">
                    <a16:creationId xmlns:a16="http://schemas.microsoft.com/office/drawing/2014/main" id="{8A1243C8-B070-1144-AFC1-660A0D476384}"/>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9" name="Text Box 72">
                <a:extLst>
                  <a:ext uri="{FF2B5EF4-FFF2-40B4-BE49-F238E27FC236}">
                    <a16:creationId xmlns:a16="http://schemas.microsoft.com/office/drawing/2014/main" id="{0A633A5D-CB9F-9D4A-9828-FA8DAB76D82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455" name="Group 73">
              <a:extLst>
                <a:ext uri="{FF2B5EF4-FFF2-40B4-BE49-F238E27FC236}">
                  <a16:creationId xmlns:a16="http://schemas.microsoft.com/office/drawing/2014/main" id="{1F39B98B-5A5F-9A45-8998-1BA51D5362D8}"/>
                </a:ext>
              </a:extLst>
            </p:cNvPr>
            <p:cNvGrpSpPr>
              <a:grpSpLocks/>
            </p:cNvGrpSpPr>
            <p:nvPr/>
          </p:nvGrpSpPr>
          <p:grpSpPr bwMode="auto">
            <a:xfrm>
              <a:off x="5025" y="1756"/>
              <a:ext cx="212" cy="288"/>
              <a:chOff x="2949" y="2395"/>
              <a:chExt cx="214" cy="288"/>
            </a:xfrm>
          </p:grpSpPr>
          <p:sp>
            <p:nvSpPr>
              <p:cNvPr id="466" name="Rectangle 74">
                <a:extLst>
                  <a:ext uri="{FF2B5EF4-FFF2-40B4-BE49-F238E27FC236}">
                    <a16:creationId xmlns:a16="http://schemas.microsoft.com/office/drawing/2014/main" id="{6D133BDC-CBD5-E04A-956A-CB070C46E61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7" name="Text Box 75">
                <a:extLst>
                  <a:ext uri="{FF2B5EF4-FFF2-40B4-BE49-F238E27FC236}">
                    <a16:creationId xmlns:a16="http://schemas.microsoft.com/office/drawing/2014/main" id="{E22274D1-6BF0-6F4F-AA7F-923617C44471}"/>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456" name="Text Box 76">
              <a:extLst>
                <a:ext uri="{FF2B5EF4-FFF2-40B4-BE49-F238E27FC236}">
                  <a16:creationId xmlns:a16="http://schemas.microsoft.com/office/drawing/2014/main" id="{E87F994C-88BC-7843-84FF-C20876A28AD3}"/>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7" name="Text Box 77">
              <a:extLst>
                <a:ext uri="{FF2B5EF4-FFF2-40B4-BE49-F238E27FC236}">
                  <a16:creationId xmlns:a16="http://schemas.microsoft.com/office/drawing/2014/main" id="{D6E661FA-C756-184B-8F8C-454F6D2F20C6}"/>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8" name="Text Box 78">
              <a:extLst>
                <a:ext uri="{FF2B5EF4-FFF2-40B4-BE49-F238E27FC236}">
                  <a16:creationId xmlns:a16="http://schemas.microsoft.com/office/drawing/2014/main" id="{7AAD1753-0153-BE49-9A5A-86A6144677D4}"/>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59" name="Text Box 79">
              <a:extLst>
                <a:ext uri="{FF2B5EF4-FFF2-40B4-BE49-F238E27FC236}">
                  <a16:creationId xmlns:a16="http://schemas.microsoft.com/office/drawing/2014/main" id="{CE9F4FB6-1319-824C-8EE6-E829F9B81392}"/>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0" name="Text Box 80">
              <a:extLst>
                <a:ext uri="{FF2B5EF4-FFF2-40B4-BE49-F238E27FC236}">
                  <a16:creationId xmlns:a16="http://schemas.microsoft.com/office/drawing/2014/main" id="{C479D34B-E495-6941-B1B8-7C27A07FA48D}"/>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1" name="Text Box 81">
              <a:extLst>
                <a:ext uri="{FF2B5EF4-FFF2-40B4-BE49-F238E27FC236}">
                  <a16:creationId xmlns:a16="http://schemas.microsoft.com/office/drawing/2014/main" id="{651E935E-97A1-694E-90ED-DA0D52808F61}"/>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2" name="Text Box 82">
              <a:extLst>
                <a:ext uri="{FF2B5EF4-FFF2-40B4-BE49-F238E27FC236}">
                  <a16:creationId xmlns:a16="http://schemas.microsoft.com/office/drawing/2014/main" id="{BCE34168-89E8-CA4E-B734-D7785C5D44A4}"/>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63" name="Text Box 83">
              <a:extLst>
                <a:ext uri="{FF2B5EF4-FFF2-40B4-BE49-F238E27FC236}">
                  <a16:creationId xmlns:a16="http://schemas.microsoft.com/office/drawing/2014/main" id="{E61D1248-702D-AA4E-A62B-3B6DB8874302}"/>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464" name="Text Box 84">
              <a:extLst>
                <a:ext uri="{FF2B5EF4-FFF2-40B4-BE49-F238E27FC236}">
                  <a16:creationId xmlns:a16="http://schemas.microsoft.com/office/drawing/2014/main" id="{8E7448E7-B23E-9A4A-947C-66285C7E102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5" name="Text Box 85">
              <a:extLst>
                <a:ext uri="{FF2B5EF4-FFF2-40B4-BE49-F238E27FC236}">
                  <a16:creationId xmlns:a16="http://schemas.microsoft.com/office/drawing/2014/main" id="{EFA31E11-E078-ED44-8DB8-4912DC480664}"/>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grpSp>
      <p:sp>
        <p:nvSpPr>
          <p:cNvPr id="490" name="Text Box 9">
            <a:extLst>
              <a:ext uri="{FF2B5EF4-FFF2-40B4-BE49-F238E27FC236}">
                <a16:creationId xmlns:a16="http://schemas.microsoft.com/office/drawing/2014/main" id="{7264032F-FC16-7043-941E-B120E8ED9940}"/>
              </a:ext>
            </a:extLst>
          </p:cNvPr>
          <p:cNvSpPr txBox="1">
            <a:spLocks noChangeArrowheads="1"/>
          </p:cNvSpPr>
          <p:nvPr/>
        </p:nvSpPr>
        <p:spPr bwMode="auto">
          <a:xfrm>
            <a:off x="9490547" y="3198952"/>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4,y</a:t>
            </a:r>
          </a:p>
        </p:txBody>
      </p:sp>
      <p:sp>
        <p:nvSpPr>
          <p:cNvPr id="495" name="Text Box 6">
            <a:extLst>
              <a:ext uri="{FF2B5EF4-FFF2-40B4-BE49-F238E27FC236}">
                <a16:creationId xmlns:a16="http://schemas.microsoft.com/office/drawing/2014/main" id="{A24F37E4-4175-D247-9C29-BC40A27B53F0}"/>
              </a:ext>
            </a:extLst>
          </p:cNvPr>
          <p:cNvSpPr txBox="1">
            <a:spLocks noChangeArrowheads="1"/>
          </p:cNvSpPr>
          <p:nvPr/>
        </p:nvSpPr>
        <p:spPr bwMode="auto">
          <a:xfrm>
            <a:off x="5169952" y="1633417"/>
            <a:ext cx="12955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D(w),p(w)</a:t>
            </a:r>
          </a:p>
        </p:txBody>
      </p:sp>
      <p:sp>
        <p:nvSpPr>
          <p:cNvPr id="498" name="Text Box 6">
            <a:extLst>
              <a:ext uri="{FF2B5EF4-FFF2-40B4-BE49-F238E27FC236}">
                <a16:creationId xmlns:a16="http://schemas.microsoft.com/office/drawing/2014/main" id="{64BB3F8B-CE19-1C41-B2C9-B564AF1B5BB5}"/>
              </a:ext>
            </a:extLst>
          </p:cNvPr>
          <p:cNvSpPr txBox="1">
            <a:spLocks noChangeArrowheads="1"/>
          </p:cNvSpPr>
          <p:nvPr/>
        </p:nvSpPr>
        <p:spPr bwMode="auto">
          <a:xfrm>
            <a:off x="13837414" y="2958717"/>
            <a:ext cx="1284288"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D(w),p(w)</a:t>
            </a:r>
          </a:p>
          <a:p>
            <a:pPr algn="r" eaLnBrk="0" fontAlgn="base" hangingPunct="0">
              <a:spcBef>
                <a:spcPct val="0"/>
              </a:spcBef>
              <a:spcAft>
                <a:spcPct val="0"/>
              </a:spcAft>
              <a:defRPr/>
            </a:pPr>
            <a:r>
              <a:rPr lang="en-US" sz="2000" kern="0" dirty="0">
                <a:solidFill>
                  <a:srgbClr val="000000"/>
                </a:solidFill>
              </a:rPr>
              <a:t>5,u</a:t>
            </a:r>
          </a:p>
          <a:p>
            <a:pPr algn="r" eaLnBrk="0" fontAlgn="base" hangingPunct="0">
              <a:spcBef>
                <a:spcPct val="0"/>
              </a:spcBef>
              <a:spcAft>
                <a:spcPct val="0"/>
              </a:spcAft>
              <a:defRPr/>
            </a:pPr>
            <a:r>
              <a:rPr lang="en-US" sz="2000" kern="0" dirty="0">
                <a:solidFill>
                  <a:srgbClr val="000000"/>
                </a:solidFill>
              </a:rPr>
              <a:t>4,x</a:t>
            </a:r>
          </a:p>
          <a:p>
            <a:pPr algn="r" eaLnBrk="0" fontAlgn="base" hangingPunct="0">
              <a:spcBef>
                <a:spcPct val="0"/>
              </a:spcBef>
              <a:spcAft>
                <a:spcPct val="0"/>
              </a:spcAft>
              <a:defRPr/>
            </a:pPr>
            <a:r>
              <a:rPr lang="en-US" sz="2000" kern="0" dirty="0">
                <a:solidFill>
                  <a:srgbClr val="000000"/>
                </a:solidFill>
              </a:rPr>
              <a:t>3,y</a:t>
            </a:r>
          </a:p>
          <a:p>
            <a:pPr algn="r" eaLnBrk="0" fontAlgn="base" hangingPunct="0">
              <a:spcBef>
                <a:spcPct val="0"/>
              </a:spcBef>
              <a:spcAft>
                <a:spcPct val="0"/>
              </a:spcAft>
              <a:defRPr/>
            </a:pPr>
            <a:r>
              <a:rPr lang="en-US" sz="2000" kern="0" dirty="0">
                <a:solidFill>
                  <a:srgbClr val="000000"/>
                </a:solidFill>
              </a:rPr>
              <a:t>3,y</a:t>
            </a:r>
          </a:p>
        </p:txBody>
      </p:sp>
      <p:grpSp>
        <p:nvGrpSpPr>
          <p:cNvPr id="36" name="Group 35">
            <a:extLst>
              <a:ext uri="{FF2B5EF4-FFF2-40B4-BE49-F238E27FC236}">
                <a16:creationId xmlns:a16="http://schemas.microsoft.com/office/drawing/2014/main" id="{71973CA4-9B72-A545-BA9F-40D90EB8CE03}"/>
              </a:ext>
            </a:extLst>
          </p:cNvPr>
          <p:cNvGrpSpPr/>
          <p:nvPr/>
        </p:nvGrpSpPr>
        <p:grpSpPr>
          <a:xfrm>
            <a:off x="5554672" y="2866120"/>
            <a:ext cx="4461980" cy="406922"/>
            <a:chOff x="5554672" y="2866120"/>
            <a:chExt cx="4461980" cy="406922"/>
          </a:xfrm>
        </p:grpSpPr>
        <p:sp>
          <p:nvSpPr>
            <p:cNvPr id="489" name="Text Box 9">
              <a:extLst>
                <a:ext uri="{FF2B5EF4-FFF2-40B4-BE49-F238E27FC236}">
                  <a16:creationId xmlns:a16="http://schemas.microsoft.com/office/drawing/2014/main" id="{AF5565C2-0153-3D44-85CB-BBD065682DF3}"/>
                </a:ext>
              </a:extLst>
            </p:cNvPr>
            <p:cNvSpPr txBox="1">
              <a:spLocks noChangeArrowheads="1"/>
            </p:cNvSpPr>
            <p:nvPr/>
          </p:nvSpPr>
          <p:spPr bwMode="auto">
            <a:xfrm>
              <a:off x="9490547" y="2872932"/>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4,y</a:t>
              </a:r>
            </a:p>
          </p:txBody>
        </p:sp>
        <p:sp>
          <p:nvSpPr>
            <p:cNvPr id="499" name="Text Box 6">
              <a:extLst>
                <a:ext uri="{FF2B5EF4-FFF2-40B4-BE49-F238E27FC236}">
                  <a16:creationId xmlns:a16="http://schemas.microsoft.com/office/drawing/2014/main" id="{B7834F0D-0E0E-F04D-A076-86B8692EFB59}"/>
                </a:ext>
              </a:extLst>
            </p:cNvPr>
            <p:cNvSpPr txBox="1">
              <a:spLocks noChangeArrowheads="1"/>
            </p:cNvSpPr>
            <p:nvPr/>
          </p:nvSpPr>
          <p:spPr bwMode="auto">
            <a:xfrm>
              <a:off x="5554672" y="2866120"/>
              <a:ext cx="526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3,y</a:t>
              </a:r>
            </a:p>
          </p:txBody>
        </p:sp>
      </p:grpSp>
      <p:grpSp>
        <p:nvGrpSpPr>
          <p:cNvPr id="5" name="Group 4">
            <a:extLst>
              <a:ext uri="{FF2B5EF4-FFF2-40B4-BE49-F238E27FC236}">
                <a16:creationId xmlns:a16="http://schemas.microsoft.com/office/drawing/2014/main" id="{83A2ED86-B66C-0F49-818B-087416791E66}"/>
              </a:ext>
            </a:extLst>
          </p:cNvPr>
          <p:cNvGrpSpPr/>
          <p:nvPr/>
        </p:nvGrpSpPr>
        <p:grpSpPr>
          <a:xfrm>
            <a:off x="4263633" y="1951300"/>
            <a:ext cx="5679281" cy="401555"/>
            <a:chOff x="4263633" y="1951300"/>
            <a:chExt cx="5679281" cy="401555"/>
          </a:xfrm>
        </p:grpSpPr>
        <p:sp>
          <p:nvSpPr>
            <p:cNvPr id="249" name="Text Box 6">
              <a:extLst>
                <a:ext uri="{FF2B5EF4-FFF2-40B4-BE49-F238E27FC236}">
                  <a16:creationId xmlns:a16="http://schemas.microsoft.com/office/drawing/2014/main" id="{CD4FA9CE-7149-A440-83C1-21E98C3A6B6D}"/>
                </a:ext>
              </a:extLst>
            </p:cNvPr>
            <p:cNvSpPr txBox="1">
              <a:spLocks noChangeArrowheads="1"/>
            </p:cNvSpPr>
            <p:nvPr/>
          </p:nvSpPr>
          <p:spPr bwMode="auto">
            <a:xfrm>
              <a:off x="5570608" y="1951300"/>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5,u</a:t>
              </a:r>
            </a:p>
          </p:txBody>
        </p:sp>
        <p:sp>
          <p:nvSpPr>
            <p:cNvPr id="483" name="Text Box 9">
              <a:extLst>
                <a:ext uri="{FF2B5EF4-FFF2-40B4-BE49-F238E27FC236}">
                  <a16:creationId xmlns:a16="http://schemas.microsoft.com/office/drawing/2014/main" id="{451C47E2-E094-7147-A23C-5212BC8FB56C}"/>
                </a:ext>
              </a:extLst>
            </p:cNvPr>
            <p:cNvSpPr txBox="1">
              <a:spLocks noChangeArrowheads="1"/>
            </p:cNvSpPr>
            <p:nvPr/>
          </p:nvSpPr>
          <p:spPr bwMode="auto">
            <a:xfrm>
              <a:off x="9564285" y="1975894"/>
              <a:ext cx="3786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latin typeface="Comic Sans MS" charset="0"/>
                </a:rPr>
                <a:t>∞</a:t>
              </a:r>
              <a:endParaRPr lang="en-US" sz="2000" kern="0" dirty="0">
                <a:solidFill>
                  <a:srgbClr val="000000"/>
                </a:solidFill>
              </a:endParaRPr>
            </a:p>
          </p:txBody>
        </p:sp>
        <p:sp>
          <p:nvSpPr>
            <p:cNvPr id="493" name="Text Box 9">
              <a:extLst>
                <a:ext uri="{FF2B5EF4-FFF2-40B4-BE49-F238E27FC236}">
                  <a16:creationId xmlns:a16="http://schemas.microsoft.com/office/drawing/2014/main" id="{77161A6C-F59E-E646-A81F-7F211BDD0048}"/>
                </a:ext>
              </a:extLst>
            </p:cNvPr>
            <p:cNvSpPr txBox="1">
              <a:spLocks noChangeArrowheads="1"/>
            </p:cNvSpPr>
            <p:nvPr/>
          </p:nvSpPr>
          <p:spPr bwMode="auto">
            <a:xfrm>
              <a:off x="8268885" y="1974450"/>
              <a:ext cx="3786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latin typeface="Comic Sans MS" charset="0"/>
                </a:rPr>
                <a:t>∞</a:t>
              </a:r>
              <a:endParaRPr lang="en-US" sz="2000" kern="0" dirty="0">
                <a:solidFill>
                  <a:srgbClr val="000000"/>
                </a:solidFill>
              </a:endParaRPr>
            </a:p>
          </p:txBody>
        </p:sp>
        <p:sp>
          <p:nvSpPr>
            <p:cNvPr id="494" name="Text Box 7">
              <a:extLst>
                <a:ext uri="{FF2B5EF4-FFF2-40B4-BE49-F238E27FC236}">
                  <a16:creationId xmlns:a16="http://schemas.microsoft.com/office/drawing/2014/main" id="{052BF5DE-999E-0047-B15A-B0A0D539AFA6}"/>
                </a:ext>
              </a:extLst>
            </p:cNvPr>
            <p:cNvSpPr txBox="1">
              <a:spLocks noChangeArrowheads="1"/>
            </p:cNvSpPr>
            <p:nvPr/>
          </p:nvSpPr>
          <p:spPr bwMode="auto">
            <a:xfrm>
              <a:off x="6866008" y="1951300"/>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1,u</a:t>
              </a:r>
            </a:p>
          </p:txBody>
        </p:sp>
        <p:sp>
          <p:nvSpPr>
            <p:cNvPr id="500" name="Text Box 5">
              <a:extLst>
                <a:ext uri="{FF2B5EF4-FFF2-40B4-BE49-F238E27FC236}">
                  <a16:creationId xmlns:a16="http://schemas.microsoft.com/office/drawing/2014/main" id="{39318546-EB10-7141-A532-7477C3F9247F}"/>
                </a:ext>
              </a:extLst>
            </p:cNvPr>
            <p:cNvSpPr txBox="1">
              <a:spLocks noChangeArrowheads="1"/>
            </p:cNvSpPr>
            <p:nvPr/>
          </p:nvSpPr>
          <p:spPr bwMode="auto">
            <a:xfrm>
              <a:off x="4263633" y="1952745"/>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2,u</a:t>
              </a:r>
            </a:p>
          </p:txBody>
        </p:sp>
      </p:grpSp>
      <p:grpSp>
        <p:nvGrpSpPr>
          <p:cNvPr id="34" name="Group 33">
            <a:extLst>
              <a:ext uri="{FF2B5EF4-FFF2-40B4-BE49-F238E27FC236}">
                <a16:creationId xmlns:a16="http://schemas.microsoft.com/office/drawing/2014/main" id="{B5E6F247-A516-EB44-B218-3523C7F15256}"/>
              </a:ext>
            </a:extLst>
          </p:cNvPr>
          <p:cNvGrpSpPr/>
          <p:nvPr/>
        </p:nvGrpSpPr>
        <p:grpSpPr>
          <a:xfrm>
            <a:off x="4263633" y="2255616"/>
            <a:ext cx="5679281" cy="416447"/>
            <a:chOff x="4263633" y="2255616"/>
            <a:chExt cx="5679281" cy="416447"/>
          </a:xfrm>
        </p:grpSpPr>
        <p:sp>
          <p:nvSpPr>
            <p:cNvPr id="487" name="Text Box 9">
              <a:extLst>
                <a:ext uri="{FF2B5EF4-FFF2-40B4-BE49-F238E27FC236}">
                  <a16:creationId xmlns:a16="http://schemas.microsoft.com/office/drawing/2014/main" id="{6DD8D8CE-3DDC-DF48-BBFB-EBDD1F22125C}"/>
                </a:ext>
              </a:extLst>
            </p:cNvPr>
            <p:cNvSpPr txBox="1">
              <a:spLocks noChangeArrowheads="1"/>
            </p:cNvSpPr>
            <p:nvPr/>
          </p:nvSpPr>
          <p:spPr bwMode="auto">
            <a:xfrm>
              <a:off x="9564285" y="2301914"/>
              <a:ext cx="3786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latin typeface="Comic Sans MS" charset="0"/>
                </a:rPr>
                <a:t>∞</a:t>
              </a:r>
              <a:endParaRPr lang="en-US" sz="2000" kern="0" dirty="0">
                <a:solidFill>
                  <a:srgbClr val="000000"/>
                </a:solidFill>
              </a:endParaRPr>
            </a:p>
          </p:txBody>
        </p:sp>
        <p:sp>
          <p:nvSpPr>
            <p:cNvPr id="492" name="Text Box 8">
              <a:extLst>
                <a:ext uri="{FF2B5EF4-FFF2-40B4-BE49-F238E27FC236}">
                  <a16:creationId xmlns:a16="http://schemas.microsoft.com/office/drawing/2014/main" id="{9DBF3B61-BEF7-8A40-AF7C-22BFA4A5F837}"/>
                </a:ext>
              </a:extLst>
            </p:cNvPr>
            <p:cNvSpPr txBox="1">
              <a:spLocks noChangeArrowheads="1"/>
            </p:cNvSpPr>
            <p:nvPr/>
          </p:nvSpPr>
          <p:spPr bwMode="auto">
            <a:xfrm>
              <a:off x="8206722" y="2260378"/>
              <a:ext cx="526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2,x</a:t>
              </a:r>
            </a:p>
          </p:txBody>
        </p:sp>
        <p:sp>
          <p:nvSpPr>
            <p:cNvPr id="496" name="Text Box 6">
              <a:extLst>
                <a:ext uri="{FF2B5EF4-FFF2-40B4-BE49-F238E27FC236}">
                  <a16:creationId xmlns:a16="http://schemas.microsoft.com/office/drawing/2014/main" id="{F4E69EDF-A458-174E-A9A1-51CA8C7BCF62}"/>
                </a:ext>
              </a:extLst>
            </p:cNvPr>
            <p:cNvSpPr txBox="1">
              <a:spLocks noChangeArrowheads="1"/>
            </p:cNvSpPr>
            <p:nvPr/>
          </p:nvSpPr>
          <p:spPr bwMode="auto">
            <a:xfrm>
              <a:off x="5566247" y="2271953"/>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4,x</a:t>
              </a:r>
            </a:p>
          </p:txBody>
        </p:sp>
        <p:sp>
          <p:nvSpPr>
            <p:cNvPr id="501" name="Text Box 5">
              <a:extLst>
                <a:ext uri="{FF2B5EF4-FFF2-40B4-BE49-F238E27FC236}">
                  <a16:creationId xmlns:a16="http://schemas.microsoft.com/office/drawing/2014/main" id="{3ACD38CB-FB5D-F74D-8F1B-D1ED7765296E}"/>
                </a:ext>
              </a:extLst>
            </p:cNvPr>
            <p:cNvSpPr txBox="1">
              <a:spLocks noChangeArrowheads="1"/>
            </p:cNvSpPr>
            <p:nvPr/>
          </p:nvSpPr>
          <p:spPr bwMode="auto">
            <a:xfrm>
              <a:off x="4263633" y="2255616"/>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2,u</a:t>
              </a:r>
            </a:p>
          </p:txBody>
        </p:sp>
      </p:grpSp>
      <p:grpSp>
        <p:nvGrpSpPr>
          <p:cNvPr id="35" name="Group 34">
            <a:extLst>
              <a:ext uri="{FF2B5EF4-FFF2-40B4-BE49-F238E27FC236}">
                <a16:creationId xmlns:a16="http://schemas.microsoft.com/office/drawing/2014/main" id="{3D9389ED-B03B-214C-ADF2-72A54A5A4AFE}"/>
              </a:ext>
            </a:extLst>
          </p:cNvPr>
          <p:cNvGrpSpPr/>
          <p:nvPr/>
        </p:nvGrpSpPr>
        <p:grpSpPr>
          <a:xfrm>
            <a:off x="4263633" y="2546912"/>
            <a:ext cx="5753019" cy="428022"/>
            <a:chOff x="4263633" y="2546912"/>
            <a:chExt cx="5753019" cy="428022"/>
          </a:xfrm>
        </p:grpSpPr>
        <p:sp>
          <p:nvSpPr>
            <p:cNvPr id="488" name="Text Box 9">
              <a:extLst>
                <a:ext uri="{FF2B5EF4-FFF2-40B4-BE49-F238E27FC236}">
                  <a16:creationId xmlns:a16="http://schemas.microsoft.com/office/drawing/2014/main" id="{A038CE8D-1564-2D4D-A52D-5FACBB86FE37}"/>
                </a:ext>
              </a:extLst>
            </p:cNvPr>
            <p:cNvSpPr txBox="1">
              <a:spLocks noChangeArrowheads="1"/>
            </p:cNvSpPr>
            <p:nvPr/>
          </p:nvSpPr>
          <p:spPr bwMode="auto">
            <a:xfrm>
              <a:off x="9490547" y="2546912"/>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4,y</a:t>
              </a:r>
            </a:p>
          </p:txBody>
        </p:sp>
        <p:sp>
          <p:nvSpPr>
            <p:cNvPr id="497" name="Text Box 6">
              <a:extLst>
                <a:ext uri="{FF2B5EF4-FFF2-40B4-BE49-F238E27FC236}">
                  <a16:creationId xmlns:a16="http://schemas.microsoft.com/office/drawing/2014/main" id="{A382A71E-E492-4443-89C5-C12D644FE79C}"/>
                </a:ext>
              </a:extLst>
            </p:cNvPr>
            <p:cNvSpPr txBox="1">
              <a:spLocks noChangeArrowheads="1"/>
            </p:cNvSpPr>
            <p:nvPr/>
          </p:nvSpPr>
          <p:spPr bwMode="auto">
            <a:xfrm>
              <a:off x="5566247" y="2574824"/>
              <a:ext cx="526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3,y</a:t>
              </a:r>
            </a:p>
          </p:txBody>
        </p:sp>
        <p:sp>
          <p:nvSpPr>
            <p:cNvPr id="502" name="Text Box 5">
              <a:extLst>
                <a:ext uri="{FF2B5EF4-FFF2-40B4-BE49-F238E27FC236}">
                  <a16:creationId xmlns:a16="http://schemas.microsoft.com/office/drawing/2014/main" id="{C9B2A270-7336-FE45-A405-3057D86CB194}"/>
                </a:ext>
              </a:extLst>
            </p:cNvPr>
            <p:cNvSpPr txBox="1">
              <a:spLocks noChangeArrowheads="1"/>
            </p:cNvSpPr>
            <p:nvPr/>
          </p:nvSpPr>
          <p:spPr bwMode="auto">
            <a:xfrm>
              <a:off x="4263633" y="2558487"/>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2,u</a:t>
              </a:r>
            </a:p>
          </p:txBody>
        </p:sp>
      </p:grpSp>
      <p:sp>
        <p:nvSpPr>
          <p:cNvPr id="503" name="Text Box 4">
            <a:extLst>
              <a:ext uri="{FF2B5EF4-FFF2-40B4-BE49-F238E27FC236}">
                <a16:creationId xmlns:a16="http://schemas.microsoft.com/office/drawing/2014/main" id="{E994D46E-7D0F-9843-807C-ABB0D4B5FA66}"/>
              </a:ext>
            </a:extLst>
          </p:cNvPr>
          <p:cNvSpPr txBox="1">
            <a:spLocks noChangeArrowheads="1"/>
          </p:cNvSpPr>
          <p:nvPr/>
        </p:nvSpPr>
        <p:spPr bwMode="auto">
          <a:xfrm>
            <a:off x="2380129" y="3488080"/>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uxyvwz</a:t>
            </a:r>
          </a:p>
        </p:txBody>
      </p:sp>
      <p:sp>
        <p:nvSpPr>
          <p:cNvPr id="504" name="Text Box 4">
            <a:extLst>
              <a:ext uri="{FF2B5EF4-FFF2-40B4-BE49-F238E27FC236}">
                <a16:creationId xmlns:a16="http://schemas.microsoft.com/office/drawing/2014/main" id="{0A3ED467-D430-4A47-866D-6A5E75B0C40B}"/>
              </a:ext>
            </a:extLst>
          </p:cNvPr>
          <p:cNvSpPr txBox="1">
            <a:spLocks noChangeArrowheads="1"/>
          </p:cNvSpPr>
          <p:nvPr/>
        </p:nvSpPr>
        <p:spPr bwMode="auto">
          <a:xfrm>
            <a:off x="2521874" y="3178926"/>
            <a:ext cx="8980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uxyvw</a:t>
            </a:r>
          </a:p>
        </p:txBody>
      </p:sp>
      <p:sp>
        <p:nvSpPr>
          <p:cNvPr id="505" name="Text Box 4">
            <a:extLst>
              <a:ext uri="{FF2B5EF4-FFF2-40B4-BE49-F238E27FC236}">
                <a16:creationId xmlns:a16="http://schemas.microsoft.com/office/drawing/2014/main" id="{DBDC054B-9144-E046-848B-AA4FB410A4FE}"/>
              </a:ext>
            </a:extLst>
          </p:cNvPr>
          <p:cNvSpPr txBox="1">
            <a:spLocks noChangeArrowheads="1"/>
          </p:cNvSpPr>
          <p:nvPr/>
        </p:nvSpPr>
        <p:spPr bwMode="auto">
          <a:xfrm>
            <a:off x="2698178" y="2856764"/>
            <a:ext cx="7120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uxyv</a:t>
            </a:r>
          </a:p>
        </p:txBody>
      </p:sp>
      <p:sp>
        <p:nvSpPr>
          <p:cNvPr id="506" name="Text Box 4">
            <a:extLst>
              <a:ext uri="{FF2B5EF4-FFF2-40B4-BE49-F238E27FC236}">
                <a16:creationId xmlns:a16="http://schemas.microsoft.com/office/drawing/2014/main" id="{BBFEB9F8-55C5-9340-9F0D-07D6265CDD30}"/>
              </a:ext>
            </a:extLst>
          </p:cNvPr>
          <p:cNvSpPr txBox="1">
            <a:spLocks noChangeArrowheads="1"/>
          </p:cNvSpPr>
          <p:nvPr/>
        </p:nvSpPr>
        <p:spPr bwMode="auto">
          <a:xfrm>
            <a:off x="2816771" y="2546463"/>
            <a:ext cx="5838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a:t>
            </a:r>
          </a:p>
        </p:txBody>
      </p:sp>
      <p:sp>
        <p:nvSpPr>
          <p:cNvPr id="507" name="Text Box 4">
            <a:extLst>
              <a:ext uri="{FF2B5EF4-FFF2-40B4-BE49-F238E27FC236}">
                <a16:creationId xmlns:a16="http://schemas.microsoft.com/office/drawing/2014/main" id="{2AA27EEE-C105-4546-92C9-79D7A34AE083}"/>
              </a:ext>
            </a:extLst>
          </p:cNvPr>
          <p:cNvSpPr txBox="1">
            <a:spLocks noChangeArrowheads="1"/>
          </p:cNvSpPr>
          <p:nvPr/>
        </p:nvSpPr>
        <p:spPr bwMode="auto">
          <a:xfrm>
            <a:off x="2958516" y="2241520"/>
            <a:ext cx="45557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a:t>
            </a:r>
          </a:p>
        </p:txBody>
      </p:sp>
      <p:sp>
        <p:nvSpPr>
          <p:cNvPr id="508" name="Text Box 4">
            <a:extLst>
              <a:ext uri="{FF2B5EF4-FFF2-40B4-BE49-F238E27FC236}">
                <a16:creationId xmlns:a16="http://schemas.microsoft.com/office/drawing/2014/main" id="{46A6DAE9-5634-E343-888C-DBD504BE17BD}"/>
              </a:ext>
            </a:extLst>
          </p:cNvPr>
          <p:cNvSpPr txBox="1">
            <a:spLocks noChangeArrowheads="1"/>
          </p:cNvSpPr>
          <p:nvPr/>
        </p:nvSpPr>
        <p:spPr bwMode="auto">
          <a:xfrm>
            <a:off x="3082181" y="19416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a:t>
            </a:r>
          </a:p>
        </p:txBody>
      </p:sp>
      <p:cxnSp>
        <p:nvCxnSpPr>
          <p:cNvPr id="3" name="Straight Connector 2">
            <a:extLst>
              <a:ext uri="{FF2B5EF4-FFF2-40B4-BE49-F238E27FC236}">
                <a16:creationId xmlns:a16="http://schemas.microsoft.com/office/drawing/2014/main" id="{155C6A08-435F-074A-8CB5-94B5718AAF55}"/>
              </a:ext>
            </a:extLst>
          </p:cNvPr>
          <p:cNvCxnSpPr/>
          <p:nvPr/>
        </p:nvCxnSpPr>
        <p:spPr>
          <a:xfrm>
            <a:off x="1706097" y="230336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A3B06771-707C-C549-B117-3063EC3738D7}"/>
              </a:ext>
            </a:extLst>
          </p:cNvPr>
          <p:cNvCxnSpPr/>
          <p:nvPr/>
        </p:nvCxnSpPr>
        <p:spPr>
          <a:xfrm>
            <a:off x="1714983" y="2606233"/>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1D62FDB7-4F58-C84F-A936-529AACBF81D5}"/>
              </a:ext>
            </a:extLst>
          </p:cNvPr>
          <p:cNvCxnSpPr/>
          <p:nvPr/>
        </p:nvCxnSpPr>
        <p:spPr>
          <a:xfrm>
            <a:off x="1719251" y="291372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F671747E-F7E7-174E-B66B-4158AC0C73AC}"/>
              </a:ext>
            </a:extLst>
          </p:cNvPr>
          <p:cNvCxnSpPr/>
          <p:nvPr/>
        </p:nvCxnSpPr>
        <p:spPr>
          <a:xfrm>
            <a:off x="1718901" y="3225829"/>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A48E9275-8476-9244-A5FE-18548D30A1B6}"/>
              </a:ext>
            </a:extLst>
          </p:cNvPr>
          <p:cNvCxnSpPr/>
          <p:nvPr/>
        </p:nvCxnSpPr>
        <p:spPr>
          <a:xfrm>
            <a:off x="1727787" y="3565644"/>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587C637-11FC-0A49-8C82-7AF7D38C6CD6}"/>
              </a:ext>
            </a:extLst>
          </p:cNvPr>
          <p:cNvSpPr txBox="1"/>
          <p:nvPr/>
        </p:nvSpPr>
        <p:spPr>
          <a:xfrm>
            <a:off x="4409954" y="1342663"/>
            <a:ext cx="300082" cy="400110"/>
          </a:xfrm>
          <a:prstGeom prst="rect">
            <a:avLst/>
          </a:prstGeom>
          <a:noFill/>
        </p:spPr>
        <p:txBody>
          <a:bodyPr wrap="none" rtlCol="0">
            <a:spAutoFit/>
          </a:bodyPr>
          <a:lstStyle/>
          <a:p>
            <a:r>
              <a:rPr lang="en-US" sz="2000" dirty="0">
                <a:solidFill>
                  <a:srgbClr val="FF0000"/>
                </a:solidFill>
              </a:rPr>
              <a:t>v</a:t>
            </a:r>
          </a:p>
        </p:txBody>
      </p:sp>
      <p:sp>
        <p:nvSpPr>
          <p:cNvPr id="521" name="TextBox 520">
            <a:extLst>
              <a:ext uri="{FF2B5EF4-FFF2-40B4-BE49-F238E27FC236}">
                <a16:creationId xmlns:a16="http://schemas.microsoft.com/office/drawing/2014/main" id="{4C80ECA4-7464-CB40-8CC6-A7EDC7E7964C}"/>
              </a:ext>
            </a:extLst>
          </p:cNvPr>
          <p:cNvSpPr txBox="1"/>
          <p:nvPr/>
        </p:nvSpPr>
        <p:spPr>
          <a:xfrm>
            <a:off x="5685099" y="1337058"/>
            <a:ext cx="367408" cy="400110"/>
          </a:xfrm>
          <a:prstGeom prst="rect">
            <a:avLst/>
          </a:prstGeom>
          <a:noFill/>
        </p:spPr>
        <p:txBody>
          <a:bodyPr wrap="none" rtlCol="0">
            <a:spAutoFit/>
          </a:bodyPr>
          <a:lstStyle/>
          <a:p>
            <a:r>
              <a:rPr lang="en-US" sz="2000" dirty="0">
                <a:solidFill>
                  <a:srgbClr val="FF0000"/>
                </a:solidFill>
              </a:rPr>
              <a:t>w</a:t>
            </a:r>
          </a:p>
        </p:txBody>
      </p:sp>
      <p:sp>
        <p:nvSpPr>
          <p:cNvPr id="522" name="TextBox 521">
            <a:extLst>
              <a:ext uri="{FF2B5EF4-FFF2-40B4-BE49-F238E27FC236}">
                <a16:creationId xmlns:a16="http://schemas.microsoft.com/office/drawing/2014/main" id="{1052726D-C214-914F-AE65-3CE2B48F9FD7}"/>
              </a:ext>
            </a:extLst>
          </p:cNvPr>
          <p:cNvSpPr txBox="1"/>
          <p:nvPr/>
        </p:nvSpPr>
        <p:spPr>
          <a:xfrm>
            <a:off x="6994969" y="1331453"/>
            <a:ext cx="300082" cy="400110"/>
          </a:xfrm>
          <a:prstGeom prst="rect">
            <a:avLst/>
          </a:prstGeom>
          <a:noFill/>
        </p:spPr>
        <p:txBody>
          <a:bodyPr wrap="none" rtlCol="0">
            <a:spAutoFit/>
          </a:bodyPr>
          <a:lstStyle/>
          <a:p>
            <a:r>
              <a:rPr lang="en-US" sz="2000" dirty="0">
                <a:solidFill>
                  <a:srgbClr val="FF0000"/>
                </a:solidFill>
              </a:rPr>
              <a:t>x</a:t>
            </a:r>
          </a:p>
        </p:txBody>
      </p:sp>
      <p:sp>
        <p:nvSpPr>
          <p:cNvPr id="523" name="TextBox 522">
            <a:extLst>
              <a:ext uri="{FF2B5EF4-FFF2-40B4-BE49-F238E27FC236}">
                <a16:creationId xmlns:a16="http://schemas.microsoft.com/office/drawing/2014/main" id="{5B04DCE1-2FE2-A84B-8E64-4C946D2739CC}"/>
              </a:ext>
            </a:extLst>
          </p:cNvPr>
          <p:cNvSpPr txBox="1"/>
          <p:nvPr/>
        </p:nvSpPr>
        <p:spPr>
          <a:xfrm>
            <a:off x="8327989" y="1337423"/>
            <a:ext cx="300082" cy="400110"/>
          </a:xfrm>
          <a:prstGeom prst="rect">
            <a:avLst/>
          </a:prstGeom>
          <a:noFill/>
        </p:spPr>
        <p:txBody>
          <a:bodyPr wrap="none" rtlCol="0">
            <a:spAutoFit/>
          </a:bodyPr>
          <a:lstStyle/>
          <a:p>
            <a:r>
              <a:rPr lang="en-US" sz="2000" dirty="0">
                <a:solidFill>
                  <a:srgbClr val="FF0000"/>
                </a:solidFill>
              </a:rPr>
              <a:t>y</a:t>
            </a:r>
          </a:p>
        </p:txBody>
      </p:sp>
      <p:sp>
        <p:nvSpPr>
          <p:cNvPr id="524" name="TextBox 523">
            <a:extLst>
              <a:ext uri="{FF2B5EF4-FFF2-40B4-BE49-F238E27FC236}">
                <a16:creationId xmlns:a16="http://schemas.microsoft.com/office/drawing/2014/main" id="{9A4E2888-3BE6-BB46-8B3E-D324D269A9FF}"/>
              </a:ext>
            </a:extLst>
          </p:cNvPr>
          <p:cNvSpPr txBox="1"/>
          <p:nvPr/>
        </p:nvSpPr>
        <p:spPr>
          <a:xfrm>
            <a:off x="9591559" y="1354968"/>
            <a:ext cx="285656" cy="400110"/>
          </a:xfrm>
          <a:prstGeom prst="rect">
            <a:avLst/>
          </a:prstGeom>
          <a:noFill/>
        </p:spPr>
        <p:txBody>
          <a:bodyPr wrap="none" rtlCol="0">
            <a:spAutoFit/>
          </a:bodyPr>
          <a:lstStyle/>
          <a:p>
            <a:r>
              <a:rPr lang="en-US" sz="2000" dirty="0">
                <a:solidFill>
                  <a:srgbClr val="FF0000"/>
                </a:solidFill>
              </a:rPr>
              <a:t>z</a:t>
            </a:r>
          </a:p>
        </p:txBody>
      </p:sp>
      <p:grpSp>
        <p:nvGrpSpPr>
          <p:cNvPr id="17" name="Group 16">
            <a:extLst>
              <a:ext uri="{FF2B5EF4-FFF2-40B4-BE49-F238E27FC236}">
                <a16:creationId xmlns:a16="http://schemas.microsoft.com/office/drawing/2014/main" id="{80C9846B-B76F-EC46-B3DD-08ED42B2D986}"/>
              </a:ext>
            </a:extLst>
          </p:cNvPr>
          <p:cNvGrpSpPr/>
          <p:nvPr/>
        </p:nvGrpSpPr>
        <p:grpSpPr>
          <a:xfrm>
            <a:off x="3119488" y="1398905"/>
            <a:ext cx="4326893" cy="1233760"/>
            <a:chOff x="3104054" y="1398906"/>
            <a:chExt cx="4326893" cy="1233760"/>
          </a:xfrm>
        </p:grpSpPr>
        <p:grpSp>
          <p:nvGrpSpPr>
            <p:cNvPr id="516" name="Group 515">
              <a:extLst>
                <a:ext uri="{FF2B5EF4-FFF2-40B4-BE49-F238E27FC236}">
                  <a16:creationId xmlns:a16="http://schemas.microsoft.com/office/drawing/2014/main" id="{E48D8571-6045-3E40-9668-A4DCC2FFD7ED}"/>
                </a:ext>
              </a:extLst>
            </p:cNvPr>
            <p:cNvGrpSpPr/>
            <p:nvPr/>
          </p:nvGrpSpPr>
          <p:grpSpPr>
            <a:xfrm>
              <a:off x="3104054" y="1398906"/>
              <a:ext cx="4196366" cy="1233760"/>
              <a:chOff x="239710" y="526192"/>
              <a:chExt cx="4196366" cy="1233760"/>
            </a:xfrm>
          </p:grpSpPr>
          <p:sp>
            <p:nvSpPr>
              <p:cNvPr id="517" name="Oval 516">
                <a:extLst>
                  <a:ext uri="{FF2B5EF4-FFF2-40B4-BE49-F238E27FC236}">
                    <a16:creationId xmlns:a16="http://schemas.microsoft.com/office/drawing/2014/main" id="{68A21CC6-2268-6A4F-86A7-EE2A64DDB546}"/>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18" name="Straight Arrow Connector 517">
                <a:extLst>
                  <a:ext uri="{FF2B5EF4-FFF2-40B4-BE49-F238E27FC236}">
                    <a16:creationId xmlns:a16="http://schemas.microsoft.com/office/drawing/2014/main" id="{0C2832E9-BE63-D54F-9A07-797BB768C48C}"/>
                  </a:ext>
                </a:extLst>
              </p:cNvPr>
              <p:cNvCxnSpPr>
                <a:cxnSpLocks/>
                <a:stCxn id="517" idx="4"/>
                <a:endCxn id="520" idx="6"/>
              </p:cNvCxnSpPr>
              <p:nvPr/>
            </p:nvCxnSpPr>
            <p:spPr>
              <a:xfrm flipH="1">
                <a:off x="541927" y="821724"/>
                <a:ext cx="3736601" cy="790462"/>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20" name="Oval 519">
                <a:extLst>
                  <a:ext uri="{FF2B5EF4-FFF2-40B4-BE49-F238E27FC236}">
                    <a16:creationId xmlns:a16="http://schemas.microsoft.com/office/drawing/2014/main" id="{17653CE0-07E1-464B-8144-C45075F66FA4}"/>
                  </a:ext>
                </a:extLst>
              </p:cNvPr>
              <p:cNvSpPr/>
              <p:nvPr/>
            </p:nvSpPr>
            <p:spPr>
              <a:xfrm>
                <a:off x="239710"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25" name="Oval 114">
              <a:extLst>
                <a:ext uri="{FF2B5EF4-FFF2-40B4-BE49-F238E27FC236}">
                  <a16:creationId xmlns:a16="http://schemas.microsoft.com/office/drawing/2014/main" id="{C682F2F6-CA7A-944A-9033-FDDB0D769442}"/>
                </a:ext>
              </a:extLst>
            </p:cNvPr>
            <p:cNvSpPr>
              <a:spLocks noChangeArrowheads="1"/>
            </p:cNvSpPr>
            <p:nvPr/>
          </p:nvSpPr>
          <p:spPr bwMode="auto">
            <a:xfrm>
              <a:off x="6828095"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13" name="Straight Arrow Connector 12">
              <a:extLst>
                <a:ext uri="{FF2B5EF4-FFF2-40B4-BE49-F238E27FC236}">
                  <a16:creationId xmlns:a16="http://schemas.microsoft.com/office/drawing/2014/main" id="{BE661659-5D13-8544-B931-6BD6A0036B25}"/>
                </a:ext>
              </a:extLst>
            </p:cNvPr>
            <p:cNvCxnSpPr>
              <a:cxnSpLocks/>
              <a:stCxn id="525" idx="0"/>
            </p:cNvCxnSpPr>
            <p:nvPr/>
          </p:nvCxnSpPr>
          <p:spPr>
            <a:xfrm flipV="1">
              <a:off x="7129521" y="1638301"/>
              <a:ext cx="484" cy="38726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0" name="Group 529">
            <a:extLst>
              <a:ext uri="{FF2B5EF4-FFF2-40B4-BE49-F238E27FC236}">
                <a16:creationId xmlns:a16="http://schemas.microsoft.com/office/drawing/2014/main" id="{E156D929-7F75-B740-BEE1-71E12F7E0BCF}"/>
              </a:ext>
            </a:extLst>
          </p:cNvPr>
          <p:cNvGrpSpPr/>
          <p:nvPr/>
        </p:nvGrpSpPr>
        <p:grpSpPr>
          <a:xfrm>
            <a:off x="3117557" y="1389255"/>
            <a:ext cx="5681132" cy="1534706"/>
            <a:chOff x="1772965" y="1097960"/>
            <a:chExt cx="5681132" cy="1534706"/>
          </a:xfrm>
        </p:grpSpPr>
        <p:grpSp>
          <p:nvGrpSpPr>
            <p:cNvPr id="531" name="Group 530">
              <a:extLst>
                <a:ext uri="{FF2B5EF4-FFF2-40B4-BE49-F238E27FC236}">
                  <a16:creationId xmlns:a16="http://schemas.microsoft.com/office/drawing/2014/main" id="{405B06F4-42C4-874B-8775-68CE587789F1}"/>
                </a:ext>
              </a:extLst>
            </p:cNvPr>
            <p:cNvGrpSpPr/>
            <p:nvPr/>
          </p:nvGrpSpPr>
          <p:grpSpPr>
            <a:xfrm>
              <a:off x="1772965" y="1097960"/>
              <a:ext cx="5539030" cy="1534706"/>
              <a:chOff x="-1091379" y="225246"/>
              <a:chExt cx="5539030" cy="1534706"/>
            </a:xfrm>
          </p:grpSpPr>
          <p:sp>
            <p:nvSpPr>
              <p:cNvPr id="534" name="Oval 533">
                <a:extLst>
                  <a:ext uri="{FF2B5EF4-FFF2-40B4-BE49-F238E27FC236}">
                    <a16:creationId xmlns:a16="http://schemas.microsoft.com/office/drawing/2014/main" id="{6413A5FF-0871-0C46-8A58-9D04A8AADA7E}"/>
                  </a:ext>
                </a:extLst>
              </p:cNvPr>
              <p:cNvSpPr/>
              <p:nvPr/>
            </p:nvSpPr>
            <p:spPr>
              <a:xfrm>
                <a:off x="4132555" y="22524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35" name="Straight Arrow Connector 534">
                <a:extLst>
                  <a:ext uri="{FF2B5EF4-FFF2-40B4-BE49-F238E27FC236}">
                    <a16:creationId xmlns:a16="http://schemas.microsoft.com/office/drawing/2014/main" id="{4BBE828C-BFCA-9E42-9A8E-855E80AB79F7}"/>
                  </a:ext>
                </a:extLst>
              </p:cNvPr>
              <p:cNvCxnSpPr>
                <a:cxnSpLocks/>
                <a:stCxn id="534" idx="4"/>
                <a:endCxn id="536" idx="6"/>
              </p:cNvCxnSpPr>
              <p:nvPr/>
            </p:nvCxnSpPr>
            <p:spPr>
              <a:xfrm flipH="1">
                <a:off x="-789162" y="520778"/>
                <a:ext cx="5079265" cy="109140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36" name="Oval 535">
                <a:extLst>
                  <a:ext uri="{FF2B5EF4-FFF2-40B4-BE49-F238E27FC236}">
                    <a16:creationId xmlns:a16="http://schemas.microsoft.com/office/drawing/2014/main" id="{29408050-96BC-544E-9C63-1E100FDDF6A2}"/>
                  </a:ext>
                </a:extLst>
              </p:cNvPr>
              <p:cNvSpPr/>
              <p:nvPr/>
            </p:nvSpPr>
            <p:spPr>
              <a:xfrm>
                <a:off x="-1091379"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32" name="Oval 114">
              <a:extLst>
                <a:ext uri="{FF2B5EF4-FFF2-40B4-BE49-F238E27FC236}">
                  <a16:creationId xmlns:a16="http://schemas.microsoft.com/office/drawing/2014/main" id="{685FCE3A-E651-194B-82B8-7C5CF12FA788}"/>
                </a:ext>
              </a:extLst>
            </p:cNvPr>
            <p:cNvSpPr>
              <a:spLocks noChangeArrowheads="1"/>
            </p:cNvSpPr>
            <p:nvPr/>
          </p:nvSpPr>
          <p:spPr bwMode="auto">
            <a:xfrm>
              <a:off x="6851245"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33" name="Straight Arrow Connector 532">
              <a:extLst>
                <a:ext uri="{FF2B5EF4-FFF2-40B4-BE49-F238E27FC236}">
                  <a16:creationId xmlns:a16="http://schemas.microsoft.com/office/drawing/2014/main" id="{017D4077-E857-0E47-AE8D-9DAEDC889967}"/>
                </a:ext>
              </a:extLst>
            </p:cNvPr>
            <p:cNvCxnSpPr>
              <a:cxnSpLocks/>
              <a:stCxn id="532" idx="0"/>
              <a:endCxn id="534" idx="4"/>
            </p:cNvCxnSpPr>
            <p:nvPr/>
          </p:nvCxnSpPr>
          <p:spPr>
            <a:xfrm flipV="1">
              <a:off x="7152671" y="1393492"/>
              <a:ext cx="1776" cy="632077"/>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911D6D48-B41E-C748-8CC0-00A6299B0AAA}"/>
              </a:ext>
            </a:extLst>
          </p:cNvPr>
          <p:cNvGrpSpPr/>
          <p:nvPr/>
        </p:nvGrpSpPr>
        <p:grpSpPr>
          <a:xfrm>
            <a:off x="3109189" y="1412217"/>
            <a:ext cx="1746239" cy="1817119"/>
            <a:chOff x="5709634" y="1003247"/>
            <a:chExt cx="1746239" cy="1817119"/>
          </a:xfrm>
        </p:grpSpPr>
        <p:grpSp>
          <p:nvGrpSpPr>
            <p:cNvPr id="538" name="Group 537">
              <a:extLst>
                <a:ext uri="{FF2B5EF4-FFF2-40B4-BE49-F238E27FC236}">
                  <a16:creationId xmlns:a16="http://schemas.microsoft.com/office/drawing/2014/main" id="{476B669B-D835-7546-8C5D-745C28DBA626}"/>
                </a:ext>
              </a:extLst>
            </p:cNvPr>
            <p:cNvGrpSpPr/>
            <p:nvPr/>
          </p:nvGrpSpPr>
          <p:grpSpPr>
            <a:xfrm>
              <a:off x="5709634" y="1003247"/>
              <a:ext cx="1602361" cy="1817119"/>
              <a:chOff x="2845290" y="130533"/>
              <a:chExt cx="1602361" cy="1817119"/>
            </a:xfrm>
          </p:grpSpPr>
          <p:sp>
            <p:nvSpPr>
              <p:cNvPr id="541" name="Oval 540">
                <a:extLst>
                  <a:ext uri="{FF2B5EF4-FFF2-40B4-BE49-F238E27FC236}">
                    <a16:creationId xmlns:a16="http://schemas.microsoft.com/office/drawing/2014/main" id="{5000BC0A-ACF3-A743-B038-FE3A215C971F}"/>
                  </a:ext>
                </a:extLst>
              </p:cNvPr>
              <p:cNvSpPr/>
              <p:nvPr/>
            </p:nvSpPr>
            <p:spPr>
              <a:xfrm>
                <a:off x="4132555" y="130533"/>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42" name="Straight Arrow Connector 541">
                <a:extLst>
                  <a:ext uri="{FF2B5EF4-FFF2-40B4-BE49-F238E27FC236}">
                    <a16:creationId xmlns:a16="http://schemas.microsoft.com/office/drawing/2014/main" id="{AF172589-3BBB-8C42-AF91-ED4A3B8F251F}"/>
                  </a:ext>
                </a:extLst>
              </p:cNvPr>
              <p:cNvCxnSpPr>
                <a:cxnSpLocks/>
                <a:stCxn id="541" idx="4"/>
                <a:endCxn id="543" idx="6"/>
              </p:cNvCxnSpPr>
              <p:nvPr/>
            </p:nvCxnSpPr>
            <p:spPr>
              <a:xfrm flipH="1">
                <a:off x="3147507" y="426065"/>
                <a:ext cx="1142596" cy="1373821"/>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43" name="Oval 542">
                <a:extLst>
                  <a:ext uri="{FF2B5EF4-FFF2-40B4-BE49-F238E27FC236}">
                    <a16:creationId xmlns:a16="http://schemas.microsoft.com/office/drawing/2014/main" id="{983583A7-CF39-514C-B2F9-EC8A8919C008}"/>
                  </a:ext>
                </a:extLst>
              </p:cNvPr>
              <p:cNvSpPr/>
              <p:nvPr/>
            </p:nvSpPr>
            <p:spPr>
              <a:xfrm>
                <a:off x="2845290" y="16521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39" name="Oval 114">
              <a:extLst>
                <a:ext uri="{FF2B5EF4-FFF2-40B4-BE49-F238E27FC236}">
                  <a16:creationId xmlns:a16="http://schemas.microsoft.com/office/drawing/2014/main" id="{88D76B70-8DB1-1F44-AC98-B4B908DE7566}"/>
                </a:ext>
              </a:extLst>
            </p:cNvPr>
            <p:cNvSpPr>
              <a:spLocks noChangeArrowheads="1"/>
            </p:cNvSpPr>
            <p:nvPr/>
          </p:nvSpPr>
          <p:spPr bwMode="auto">
            <a:xfrm>
              <a:off x="6853021" y="219918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0" name="Straight Arrow Connector 539">
              <a:extLst>
                <a:ext uri="{FF2B5EF4-FFF2-40B4-BE49-F238E27FC236}">
                  <a16:creationId xmlns:a16="http://schemas.microsoft.com/office/drawing/2014/main" id="{01FD8F8E-8376-A54A-8760-9722F14602E4}"/>
                </a:ext>
              </a:extLst>
            </p:cNvPr>
            <p:cNvCxnSpPr>
              <a:cxnSpLocks/>
              <a:stCxn id="539" idx="0"/>
              <a:endCxn id="541" idx="4"/>
            </p:cNvCxnSpPr>
            <p:nvPr/>
          </p:nvCxnSpPr>
          <p:spPr>
            <a:xfrm flipV="1">
              <a:off x="7154447" y="1298779"/>
              <a:ext cx="0" cy="90041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4" name="Group 543">
            <a:extLst>
              <a:ext uri="{FF2B5EF4-FFF2-40B4-BE49-F238E27FC236}">
                <a16:creationId xmlns:a16="http://schemas.microsoft.com/office/drawing/2014/main" id="{E03EF3CA-2D9B-664C-A155-84446468FB79}"/>
              </a:ext>
            </a:extLst>
          </p:cNvPr>
          <p:cNvGrpSpPr/>
          <p:nvPr/>
        </p:nvGrpSpPr>
        <p:grpSpPr>
          <a:xfrm>
            <a:off x="3082834" y="1400642"/>
            <a:ext cx="3065254" cy="2136777"/>
            <a:chOff x="4423568" y="495889"/>
            <a:chExt cx="3065254" cy="2136777"/>
          </a:xfrm>
        </p:grpSpPr>
        <p:grpSp>
          <p:nvGrpSpPr>
            <p:cNvPr id="545" name="Group 544">
              <a:extLst>
                <a:ext uri="{FF2B5EF4-FFF2-40B4-BE49-F238E27FC236}">
                  <a16:creationId xmlns:a16="http://schemas.microsoft.com/office/drawing/2014/main" id="{9E0A8781-B42F-7A49-819E-17E215845ED5}"/>
                </a:ext>
              </a:extLst>
            </p:cNvPr>
            <p:cNvGrpSpPr/>
            <p:nvPr/>
          </p:nvGrpSpPr>
          <p:grpSpPr>
            <a:xfrm>
              <a:off x="4423568" y="495889"/>
              <a:ext cx="2923151" cy="2136777"/>
              <a:chOff x="1559224" y="-376825"/>
              <a:chExt cx="2923151" cy="2136777"/>
            </a:xfrm>
          </p:grpSpPr>
          <p:sp>
            <p:nvSpPr>
              <p:cNvPr id="549" name="Oval 548">
                <a:extLst>
                  <a:ext uri="{FF2B5EF4-FFF2-40B4-BE49-F238E27FC236}">
                    <a16:creationId xmlns:a16="http://schemas.microsoft.com/office/drawing/2014/main" id="{D753C51A-4350-514E-8575-255BE71968EF}"/>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50" name="Straight Arrow Connector 549">
                <a:extLst>
                  <a:ext uri="{FF2B5EF4-FFF2-40B4-BE49-F238E27FC236}">
                    <a16:creationId xmlns:a16="http://schemas.microsoft.com/office/drawing/2014/main" id="{52E7D202-00E1-0940-872A-88DE48D25A31}"/>
                  </a:ext>
                </a:extLst>
              </p:cNvPr>
              <p:cNvCxnSpPr>
                <a:cxnSpLocks/>
                <a:stCxn id="549" idx="4"/>
                <a:endCxn id="551" idx="6"/>
              </p:cNvCxnSpPr>
              <p:nvPr/>
            </p:nvCxnSpPr>
            <p:spPr>
              <a:xfrm flipH="1">
                <a:off x="1861441" y="-81293"/>
                <a:ext cx="2463386" cy="169347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1" name="Oval 550">
                <a:extLst>
                  <a:ext uri="{FF2B5EF4-FFF2-40B4-BE49-F238E27FC236}">
                    <a16:creationId xmlns:a16="http://schemas.microsoft.com/office/drawing/2014/main" id="{0C65CD2E-F916-7F44-8015-E772F7A08327}"/>
                  </a:ext>
                </a:extLst>
              </p:cNvPr>
              <p:cNvSpPr/>
              <p:nvPr/>
            </p:nvSpPr>
            <p:spPr>
              <a:xfrm>
                <a:off x="1559224"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47" name="Oval 114">
              <a:extLst>
                <a:ext uri="{FF2B5EF4-FFF2-40B4-BE49-F238E27FC236}">
                  <a16:creationId xmlns:a16="http://schemas.microsoft.com/office/drawing/2014/main" id="{C71CC878-55D7-AD4F-B3B1-13953C4E6D8A}"/>
                </a:ext>
              </a:extLst>
            </p:cNvPr>
            <p:cNvSpPr>
              <a:spLocks noChangeArrowheads="1"/>
            </p:cNvSpPr>
            <p:nvPr/>
          </p:nvSpPr>
          <p:spPr bwMode="auto">
            <a:xfrm>
              <a:off x="6885970"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8" name="Straight Arrow Connector 547">
              <a:extLst>
                <a:ext uri="{FF2B5EF4-FFF2-40B4-BE49-F238E27FC236}">
                  <a16:creationId xmlns:a16="http://schemas.microsoft.com/office/drawing/2014/main" id="{7B56A3C2-EAE1-8E49-9661-485FF1A1FAA4}"/>
                </a:ext>
              </a:extLst>
            </p:cNvPr>
            <p:cNvCxnSpPr>
              <a:cxnSpLocks/>
              <a:stCxn id="547" idx="0"/>
              <a:endCxn id="549" idx="4"/>
            </p:cNvCxnSpPr>
            <p:nvPr/>
          </p:nvCxnSpPr>
          <p:spPr>
            <a:xfrm flipV="1">
              <a:off x="7187396" y="791421"/>
              <a:ext cx="1775" cy="123414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837723A6-32DA-4C49-8E78-4111930D0945}"/>
              </a:ext>
            </a:extLst>
          </p:cNvPr>
          <p:cNvGrpSpPr/>
          <p:nvPr/>
        </p:nvGrpSpPr>
        <p:grpSpPr>
          <a:xfrm>
            <a:off x="3084763" y="1437297"/>
            <a:ext cx="6956123" cy="2426144"/>
            <a:chOff x="534474" y="495889"/>
            <a:chExt cx="6956123" cy="2426144"/>
          </a:xfrm>
        </p:grpSpPr>
        <p:grpSp>
          <p:nvGrpSpPr>
            <p:cNvPr id="553" name="Group 552">
              <a:extLst>
                <a:ext uri="{FF2B5EF4-FFF2-40B4-BE49-F238E27FC236}">
                  <a16:creationId xmlns:a16="http://schemas.microsoft.com/office/drawing/2014/main" id="{D4AF9FEB-87B8-2440-BFF7-2388513CCB4D}"/>
                </a:ext>
              </a:extLst>
            </p:cNvPr>
            <p:cNvGrpSpPr/>
            <p:nvPr/>
          </p:nvGrpSpPr>
          <p:grpSpPr>
            <a:xfrm>
              <a:off x="534474" y="495889"/>
              <a:ext cx="6812245" cy="2426144"/>
              <a:chOff x="-2329870" y="-376825"/>
              <a:chExt cx="6812245" cy="2426144"/>
            </a:xfrm>
          </p:grpSpPr>
          <p:sp>
            <p:nvSpPr>
              <p:cNvPr id="556" name="Oval 555">
                <a:extLst>
                  <a:ext uri="{FF2B5EF4-FFF2-40B4-BE49-F238E27FC236}">
                    <a16:creationId xmlns:a16="http://schemas.microsoft.com/office/drawing/2014/main" id="{E833C45F-B922-8B4F-A541-13D5EDF3D166}"/>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57" name="Straight Arrow Connector 556">
                <a:extLst>
                  <a:ext uri="{FF2B5EF4-FFF2-40B4-BE49-F238E27FC236}">
                    <a16:creationId xmlns:a16="http://schemas.microsoft.com/office/drawing/2014/main" id="{BAC38F32-13CD-8D49-B140-20E9CE2B7D81}"/>
                  </a:ext>
                </a:extLst>
              </p:cNvPr>
              <p:cNvCxnSpPr>
                <a:cxnSpLocks/>
                <a:stCxn id="556" idx="4"/>
                <a:endCxn id="558" idx="6"/>
              </p:cNvCxnSpPr>
              <p:nvPr/>
            </p:nvCxnSpPr>
            <p:spPr>
              <a:xfrm flipH="1">
                <a:off x="-2027653" y="-81293"/>
                <a:ext cx="6352480" cy="198284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8" name="Oval 557">
                <a:extLst>
                  <a:ext uri="{FF2B5EF4-FFF2-40B4-BE49-F238E27FC236}">
                    <a16:creationId xmlns:a16="http://schemas.microsoft.com/office/drawing/2014/main" id="{5A968801-B5C0-774E-9189-C0C84CCD1C5E}"/>
                  </a:ext>
                </a:extLst>
              </p:cNvPr>
              <p:cNvSpPr/>
              <p:nvPr/>
            </p:nvSpPr>
            <p:spPr>
              <a:xfrm>
                <a:off x="-2329870" y="1753787"/>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54" name="Oval 114">
              <a:extLst>
                <a:ext uri="{FF2B5EF4-FFF2-40B4-BE49-F238E27FC236}">
                  <a16:creationId xmlns:a16="http://schemas.microsoft.com/office/drawing/2014/main" id="{2DD21A52-3AB5-1146-AA26-D2C240D0B0AF}"/>
                </a:ext>
              </a:extLst>
            </p:cNvPr>
            <p:cNvSpPr>
              <a:spLocks noChangeArrowheads="1"/>
            </p:cNvSpPr>
            <p:nvPr/>
          </p:nvSpPr>
          <p:spPr bwMode="auto">
            <a:xfrm>
              <a:off x="6887745" y="2326511"/>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55" name="Straight Arrow Connector 554">
              <a:extLst>
                <a:ext uri="{FF2B5EF4-FFF2-40B4-BE49-F238E27FC236}">
                  <a16:creationId xmlns:a16="http://schemas.microsoft.com/office/drawing/2014/main" id="{31B6FC9B-38BD-A74B-95DB-48A86BA94800}"/>
                </a:ext>
              </a:extLst>
            </p:cNvPr>
            <p:cNvCxnSpPr>
              <a:cxnSpLocks/>
              <a:stCxn id="554" idx="0"/>
              <a:endCxn id="556" idx="4"/>
            </p:cNvCxnSpPr>
            <p:nvPr/>
          </p:nvCxnSpPr>
          <p:spPr>
            <a:xfrm flipV="1">
              <a:off x="7189171" y="791421"/>
              <a:ext cx="0" cy="15350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38" name="Straight Arrow Connector 37">
            <a:extLst>
              <a:ext uri="{FF2B5EF4-FFF2-40B4-BE49-F238E27FC236}">
                <a16:creationId xmlns:a16="http://schemas.microsoft.com/office/drawing/2014/main" id="{112457CF-2890-E146-8628-638AC5577656}"/>
              </a:ext>
            </a:extLst>
          </p:cNvPr>
          <p:cNvCxnSpPr>
            <a:cxnSpLocks/>
            <a:endCxn id="271" idx="2"/>
          </p:cNvCxnSpPr>
          <p:nvPr/>
        </p:nvCxnSpPr>
        <p:spPr>
          <a:xfrm>
            <a:off x="1957653" y="5544274"/>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9" name="Straight Arrow Connector 558">
            <a:extLst>
              <a:ext uri="{FF2B5EF4-FFF2-40B4-BE49-F238E27FC236}">
                <a16:creationId xmlns:a16="http://schemas.microsoft.com/office/drawing/2014/main" id="{491C301B-8A6E-4845-BF28-577AD894F891}"/>
              </a:ext>
            </a:extLst>
          </p:cNvPr>
          <p:cNvCxnSpPr>
            <a:cxnSpLocks/>
            <a:endCxn id="414" idx="2"/>
          </p:cNvCxnSpPr>
          <p:nvPr/>
        </p:nvCxnSpPr>
        <p:spPr>
          <a:xfrm>
            <a:off x="2908706" y="6055489"/>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0" name="Straight Arrow Connector 559">
            <a:extLst>
              <a:ext uri="{FF2B5EF4-FFF2-40B4-BE49-F238E27FC236}">
                <a16:creationId xmlns:a16="http://schemas.microsoft.com/office/drawing/2014/main" id="{3C9D1B43-9124-3142-843B-DC7A58F1456E}"/>
              </a:ext>
            </a:extLst>
          </p:cNvPr>
          <p:cNvCxnSpPr>
            <a:cxnSpLocks/>
            <a:stCxn id="266" idx="7"/>
          </p:cNvCxnSpPr>
          <p:nvPr/>
        </p:nvCxnSpPr>
        <p:spPr>
          <a:xfrm flipV="1">
            <a:off x="2068770" y="5023414"/>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1" name="Straight Arrow Connector 560">
            <a:extLst>
              <a:ext uri="{FF2B5EF4-FFF2-40B4-BE49-F238E27FC236}">
                <a16:creationId xmlns:a16="http://schemas.microsoft.com/office/drawing/2014/main" id="{8A7B92A4-0E80-6D4D-87F2-803D33EFB3E5}"/>
              </a:ext>
            </a:extLst>
          </p:cNvPr>
          <p:cNvCxnSpPr>
            <a:cxnSpLocks/>
          </p:cNvCxnSpPr>
          <p:nvPr/>
        </p:nvCxnSpPr>
        <p:spPr>
          <a:xfrm flipV="1">
            <a:off x="3744012" y="4988689"/>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Straight Arrow Connector 561">
            <a:extLst>
              <a:ext uri="{FF2B5EF4-FFF2-40B4-BE49-F238E27FC236}">
                <a16:creationId xmlns:a16="http://schemas.microsoft.com/office/drawing/2014/main" id="{368CBA46-10A4-6B43-8244-BF448DB2A1AB}"/>
              </a:ext>
            </a:extLst>
          </p:cNvPr>
          <p:cNvCxnSpPr>
            <a:cxnSpLocks/>
          </p:cNvCxnSpPr>
          <p:nvPr/>
        </p:nvCxnSpPr>
        <p:spPr>
          <a:xfrm flipV="1">
            <a:off x="4007312" y="5577069"/>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63" name="Text Box 3">
            <a:extLst>
              <a:ext uri="{FF2B5EF4-FFF2-40B4-BE49-F238E27FC236}">
                <a16:creationId xmlns:a16="http://schemas.microsoft.com/office/drawing/2014/main" id="{26DB9EA5-AEE6-8446-BB60-338C393AB3A4}"/>
              </a:ext>
            </a:extLst>
          </p:cNvPr>
          <p:cNvSpPr txBox="1">
            <a:spLocks noChangeArrowheads="1"/>
          </p:cNvSpPr>
          <p:nvPr/>
        </p:nvSpPr>
        <p:spPr bwMode="auto">
          <a:xfrm>
            <a:off x="5894442" y="4463262"/>
            <a:ext cx="5770234"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200" dirty="0">
                <a:solidFill>
                  <a:prstClr val="black"/>
                </a:solidFill>
                <a:latin typeface="Calibri" panose="020F0502020204030204"/>
              </a:rPr>
              <a:t>find </a:t>
            </a:r>
            <a:r>
              <a:rPr lang="en-US" sz="2200" i="1" dirty="0">
                <a:solidFill>
                  <a:prstClr val="black"/>
                </a:solidFill>
                <a:latin typeface="Calibri" panose="020F0502020204030204"/>
              </a:rPr>
              <a:t>a</a:t>
            </a:r>
            <a:r>
              <a:rPr lang="en-US" sz="2200" dirty="0">
                <a:solidFill>
                  <a:prstClr val="black"/>
                </a:solidFill>
                <a:latin typeface="Calibri" panose="020F0502020204030204"/>
              </a:rPr>
              <a:t> not in </a:t>
            </a:r>
            <a:r>
              <a:rPr lang="en-US" sz="2200" i="1" dirty="0">
                <a:solidFill>
                  <a:prstClr val="black"/>
                </a:solidFill>
                <a:latin typeface="Calibri" panose="020F0502020204030204"/>
              </a:rPr>
              <a:t>N</a:t>
            </a:r>
            <a:r>
              <a:rPr lang="en-US" sz="2200" i="1" dirty="0">
                <a:solidFill>
                  <a:prstClr val="black"/>
                </a:solidFill>
                <a:latin typeface="Calibri" panose="020F0502020204030204"/>
                <a:cs typeface="Arial" charset="0"/>
              </a:rPr>
              <a:t>'</a:t>
            </a:r>
            <a:r>
              <a:rPr lang="en-US" sz="2200" i="1" dirty="0">
                <a:solidFill>
                  <a:prstClr val="black"/>
                </a:solidFill>
                <a:latin typeface="Calibri" panose="020F0502020204030204"/>
              </a:rPr>
              <a:t> </a:t>
            </a:r>
            <a:r>
              <a:rPr lang="en-US" sz="2200" dirty="0">
                <a:solidFill>
                  <a:prstClr val="black"/>
                </a:solidFill>
                <a:latin typeface="Calibri" panose="020F0502020204030204"/>
              </a:rPr>
              <a:t>such that </a:t>
            </a:r>
            <a:r>
              <a:rPr lang="en-US" sz="2200" i="1" dirty="0">
                <a:solidFill>
                  <a:prstClr val="black"/>
                </a:solidFill>
                <a:latin typeface="Calibri" panose="020F0502020204030204"/>
              </a:rPr>
              <a:t>D(a) </a:t>
            </a:r>
            <a:r>
              <a:rPr lang="en-US" sz="2200" dirty="0">
                <a:solidFill>
                  <a:prstClr val="black"/>
                </a:solidFill>
                <a:latin typeface="Calibri" panose="020F0502020204030204"/>
              </a:rPr>
              <a:t>is a minimum </a:t>
            </a:r>
          </a:p>
          <a:p>
            <a:r>
              <a:rPr lang="en-US" sz="2200" dirty="0">
                <a:solidFill>
                  <a:prstClr val="black"/>
                </a:solidFill>
                <a:latin typeface="Calibri" panose="020F0502020204030204"/>
              </a:rPr>
              <a:t>add </a:t>
            </a:r>
            <a:r>
              <a:rPr lang="en-US" sz="2200" i="1" dirty="0">
                <a:solidFill>
                  <a:prstClr val="black"/>
                </a:solidFill>
                <a:latin typeface="Calibri" panose="020F0502020204030204"/>
              </a:rPr>
              <a:t>a</a:t>
            </a:r>
            <a:r>
              <a:rPr lang="en-US" sz="2200" dirty="0">
                <a:solidFill>
                  <a:prstClr val="black"/>
                </a:solidFill>
                <a:latin typeface="Calibri" panose="020F0502020204030204"/>
              </a:rPr>
              <a:t> to </a:t>
            </a:r>
            <a:r>
              <a:rPr lang="en-US" sz="2200" i="1" dirty="0">
                <a:solidFill>
                  <a:prstClr val="black"/>
                </a:solidFill>
                <a:latin typeface="Calibri" panose="020F0502020204030204"/>
              </a:rPr>
              <a:t>N</a:t>
            </a:r>
            <a:r>
              <a:rPr lang="en-US" sz="2200" i="1" dirty="0">
                <a:solidFill>
                  <a:prstClr val="black"/>
                </a:solidFill>
                <a:latin typeface="Calibri" panose="020F0502020204030204"/>
                <a:cs typeface="Arial" charset="0"/>
              </a:rPr>
              <a:t>'</a:t>
            </a:r>
            <a:r>
              <a:rPr lang="en-US" sz="2200" i="1" dirty="0">
                <a:solidFill>
                  <a:prstClr val="black"/>
                </a:solidFill>
                <a:latin typeface="Calibri" panose="020F0502020204030204"/>
              </a:rPr>
              <a:t> </a:t>
            </a:r>
          </a:p>
          <a:p>
            <a:r>
              <a:rPr lang="en-US" sz="2200" dirty="0">
                <a:solidFill>
                  <a:prstClr val="black"/>
                </a:solidFill>
                <a:latin typeface="Calibri" panose="020F0502020204030204"/>
              </a:rPr>
              <a:t>update </a:t>
            </a:r>
            <a:r>
              <a:rPr lang="en-US" sz="2200" i="1" dirty="0">
                <a:solidFill>
                  <a:prstClr val="black"/>
                </a:solidFill>
                <a:latin typeface="Calibri" panose="020F0502020204030204"/>
              </a:rPr>
              <a:t>D(b) </a:t>
            </a:r>
            <a:r>
              <a:rPr lang="en-US" sz="2200" dirty="0">
                <a:solidFill>
                  <a:prstClr val="black"/>
                </a:solidFill>
                <a:latin typeface="Calibri" panose="020F0502020204030204"/>
              </a:rPr>
              <a:t>for all </a:t>
            </a:r>
            <a:r>
              <a:rPr lang="en-US" sz="2200" i="1" dirty="0">
                <a:solidFill>
                  <a:prstClr val="black"/>
                </a:solidFill>
                <a:latin typeface="Calibri" panose="020F0502020204030204"/>
              </a:rPr>
              <a:t>b</a:t>
            </a:r>
            <a:r>
              <a:rPr lang="en-US" sz="2200" dirty="0">
                <a:solidFill>
                  <a:prstClr val="black"/>
                </a:solidFill>
                <a:latin typeface="Calibri" panose="020F0502020204030204"/>
              </a:rPr>
              <a:t> adjacent to </a:t>
            </a:r>
            <a:r>
              <a:rPr lang="en-US" sz="2200" i="1" dirty="0">
                <a:solidFill>
                  <a:prstClr val="black"/>
                </a:solidFill>
                <a:latin typeface="Calibri" panose="020F0502020204030204"/>
              </a:rPr>
              <a:t>a</a:t>
            </a:r>
            <a:r>
              <a:rPr lang="en-US" sz="2200" dirty="0">
                <a:solidFill>
                  <a:prstClr val="black"/>
                </a:solidFill>
                <a:latin typeface="Calibri" panose="020F0502020204030204"/>
              </a:rPr>
              <a:t> and not in </a:t>
            </a:r>
            <a:r>
              <a:rPr lang="en-US" sz="2200" i="1" dirty="0">
                <a:solidFill>
                  <a:prstClr val="black"/>
                </a:solidFill>
                <a:latin typeface="Calibri" panose="020F0502020204030204"/>
              </a:rPr>
              <a:t>N</a:t>
            </a:r>
            <a:r>
              <a:rPr lang="en-US" sz="2200" i="1" dirty="0">
                <a:solidFill>
                  <a:prstClr val="black"/>
                </a:solidFill>
                <a:latin typeface="Calibri" panose="020F0502020204030204"/>
                <a:cs typeface="Arial" charset="0"/>
              </a:rPr>
              <a:t>'</a:t>
            </a:r>
            <a:r>
              <a:rPr lang="en-US" sz="2200" i="1" dirty="0">
                <a:solidFill>
                  <a:prstClr val="black"/>
                </a:solidFill>
                <a:latin typeface="Calibri" panose="020F0502020204030204"/>
              </a:rPr>
              <a:t> </a:t>
            </a:r>
            <a:r>
              <a:rPr lang="en-US" sz="2200" dirty="0">
                <a:solidFill>
                  <a:prstClr val="black"/>
                </a:solidFill>
                <a:latin typeface="Calibri" panose="020F0502020204030204"/>
              </a:rPr>
              <a:t>: </a:t>
            </a:r>
          </a:p>
          <a:p>
            <a:r>
              <a:rPr lang="en-US" sz="2200" b="1" i="1" dirty="0">
                <a:solidFill>
                  <a:srgbClr val="CC0000"/>
                </a:solidFill>
                <a:latin typeface="Calibri" panose="020F0502020204030204"/>
              </a:rPr>
              <a:t>     D(b) = </a:t>
            </a:r>
            <a:r>
              <a:rPr lang="en-US" sz="2200" b="1" dirty="0">
                <a:solidFill>
                  <a:srgbClr val="CC0000"/>
                </a:solidFill>
                <a:latin typeface="Calibri" panose="020F0502020204030204"/>
              </a:rPr>
              <a:t>min</a:t>
            </a:r>
            <a:r>
              <a:rPr lang="en-US" sz="2200" b="1" i="1" dirty="0">
                <a:solidFill>
                  <a:srgbClr val="CC0000"/>
                </a:solidFill>
                <a:latin typeface="Calibri" panose="020F0502020204030204"/>
              </a:rPr>
              <a:t> ( D(b), D(a) + c</a:t>
            </a:r>
            <a:r>
              <a:rPr lang="en-US" sz="2200" b="1" i="1" baseline="-25000" dirty="0">
                <a:solidFill>
                  <a:srgbClr val="CC0000"/>
                </a:solidFill>
                <a:latin typeface="Calibri" panose="020F0502020204030204"/>
              </a:rPr>
              <a:t>a,b </a:t>
            </a:r>
            <a:r>
              <a:rPr lang="en-US" sz="2200" b="1" i="1" dirty="0">
                <a:solidFill>
                  <a:srgbClr val="CC0000"/>
                </a:solidFill>
                <a:latin typeface="Calibri" panose="020F0502020204030204"/>
              </a:rPr>
              <a:t>) </a:t>
            </a:r>
          </a:p>
        </p:txBody>
      </p:sp>
      <p:sp>
        <p:nvSpPr>
          <p:cNvPr id="53" name="Rectangle 52">
            <a:extLst>
              <a:ext uri="{FF2B5EF4-FFF2-40B4-BE49-F238E27FC236}">
                <a16:creationId xmlns:a16="http://schemas.microsoft.com/office/drawing/2014/main" id="{AE2B11F0-0B2B-E548-A572-A488F5822281}"/>
              </a:ext>
            </a:extLst>
          </p:cNvPr>
          <p:cNvSpPr/>
          <p:nvPr/>
        </p:nvSpPr>
        <p:spPr>
          <a:xfrm>
            <a:off x="5606004" y="3868305"/>
            <a:ext cx="6721033" cy="341632"/>
          </a:xfrm>
          <a:prstGeom prst="rect">
            <a:avLst/>
          </a:prstGeom>
        </p:spPr>
        <p:txBody>
          <a:bodyPr wrap="square">
            <a:spAutoFit/>
          </a:bodyPr>
          <a:lstStyle/>
          <a:p>
            <a:pPr>
              <a:lnSpc>
                <a:spcPct val="90000"/>
              </a:lnSpc>
            </a:pPr>
            <a:r>
              <a:rPr lang="en-US" dirty="0">
                <a:solidFill>
                  <a:prstClr val="black"/>
                </a:solidFill>
              </a:rPr>
              <a:t>Initialization (step 0): For all a: if </a:t>
            </a:r>
            <a:r>
              <a:rPr lang="en-US" i="1" dirty="0">
                <a:solidFill>
                  <a:prstClr val="black"/>
                </a:solidFill>
              </a:rPr>
              <a:t>a</a:t>
            </a:r>
            <a:r>
              <a:rPr lang="en-US" dirty="0">
                <a:solidFill>
                  <a:prstClr val="black"/>
                </a:solidFill>
              </a:rPr>
              <a:t> adjacent to then </a:t>
            </a:r>
            <a:r>
              <a:rPr lang="en-US" i="1" dirty="0">
                <a:solidFill>
                  <a:prstClr val="black"/>
                </a:solidFill>
              </a:rPr>
              <a:t>D(a) = c</a:t>
            </a:r>
            <a:r>
              <a:rPr lang="en-US" i="1" baseline="-25000" dirty="0">
                <a:solidFill>
                  <a:prstClr val="black"/>
                </a:solidFill>
              </a:rPr>
              <a:t>u,a </a:t>
            </a:r>
            <a:endParaRPr lang="en-US" baseline="-25000" dirty="0">
              <a:solidFill>
                <a:prstClr val="black"/>
              </a:solidFill>
            </a:endParaRPr>
          </a:p>
        </p:txBody>
      </p:sp>
    </p:spTree>
    <p:extLst>
      <p:ext uri="{BB962C8B-B14F-4D97-AF65-F5344CB8AC3E}">
        <p14:creationId xmlns:p14="http://schemas.microsoft.com/office/powerpoint/2010/main" val="2053747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1000"/>
                                        <p:tgtEl>
                                          <p:spTgt spid="17"/>
                                        </p:tgtEl>
                                      </p:cBhvr>
                                    </p:animEffect>
                                  </p:childTnLst>
                                </p:cTn>
                              </p:par>
                            </p:childTnLst>
                          </p:cTn>
                        </p:par>
                        <p:par>
                          <p:cTn id="13" fill="hold">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507"/>
                                        </p:tgtEl>
                                        <p:attrNameLst>
                                          <p:attrName>style.visibility</p:attrName>
                                        </p:attrNameLst>
                                      </p:cBhvr>
                                      <p:to>
                                        <p:strVal val="visible"/>
                                      </p:to>
                                    </p:set>
                                    <p:animEffect transition="in" filter="dissolve">
                                      <p:cBhvr>
                                        <p:cTn id="16" dur="500"/>
                                        <p:tgtEl>
                                          <p:spTgt spid="507"/>
                                        </p:tgtEl>
                                      </p:cBhvr>
                                    </p:animEffect>
                                  </p:childTnLst>
                                </p:cTn>
                              </p:par>
                              <p:par>
                                <p:cTn id="17" presetID="9" presetClass="exit" presetSubtype="0" fill="hold" grpId="0" nodeType="withEffect">
                                  <p:stCondLst>
                                    <p:cond delay="0"/>
                                  </p:stCondLst>
                                  <p:childTnLst>
                                    <p:animEffect transition="out" filter="dissolve">
                                      <p:cBhvr>
                                        <p:cTn id="18" dur="500"/>
                                        <p:tgtEl>
                                          <p:spTgt spid="53"/>
                                        </p:tgtEl>
                                      </p:cBhvr>
                                    </p:animEffect>
                                    <p:set>
                                      <p:cBhvr>
                                        <p:cTn id="19" dur="1" fill="hold">
                                          <p:stCondLst>
                                            <p:cond delay="499"/>
                                          </p:stCondLst>
                                        </p:cTn>
                                        <p:tgtEl>
                                          <p:spTgt spid="5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dissolve">
                                      <p:cBhvr>
                                        <p:cTn id="24" dur="500"/>
                                        <p:tgtEl>
                                          <p:spTgt spid="38"/>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xit" presetSubtype="0" fill="hold" nodeType="clickEffect">
                                  <p:stCondLst>
                                    <p:cond delay="0"/>
                                  </p:stCondLst>
                                  <p:childTnLst>
                                    <p:animEffect transition="out" filter="dissolve">
                                      <p:cBhvr>
                                        <p:cTn id="28" dur="500"/>
                                        <p:tgtEl>
                                          <p:spTgt spid="17"/>
                                        </p:tgtEl>
                                      </p:cBhvr>
                                    </p:animEffect>
                                    <p:set>
                                      <p:cBhvr>
                                        <p:cTn id="29" dur="1" fill="hold">
                                          <p:stCondLst>
                                            <p:cond delay="499"/>
                                          </p:stCondLst>
                                        </p:cTn>
                                        <p:tgtEl>
                                          <p:spTgt spid="17"/>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wipe(left)">
                                      <p:cBhvr>
                                        <p:cTn id="34" dur="1000"/>
                                        <p:tgtEl>
                                          <p:spTgt spid="34"/>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530"/>
                                        </p:tgtEl>
                                        <p:attrNameLst>
                                          <p:attrName>style.visibility</p:attrName>
                                        </p:attrNameLst>
                                      </p:cBhvr>
                                      <p:to>
                                        <p:strVal val="visible"/>
                                      </p:to>
                                    </p:set>
                                    <p:animEffect transition="in" filter="dissolve">
                                      <p:cBhvr>
                                        <p:cTn id="39" dur="1000"/>
                                        <p:tgtEl>
                                          <p:spTgt spid="530"/>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506"/>
                                        </p:tgtEl>
                                        <p:attrNameLst>
                                          <p:attrName>style.visibility</p:attrName>
                                        </p:attrNameLst>
                                      </p:cBhvr>
                                      <p:to>
                                        <p:strVal val="visible"/>
                                      </p:to>
                                    </p:set>
                                    <p:animEffect transition="in" filter="dissolve">
                                      <p:cBhvr>
                                        <p:cTn id="43" dur="500"/>
                                        <p:tgtEl>
                                          <p:spTgt spid="506"/>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559"/>
                                        </p:tgtEl>
                                        <p:attrNameLst>
                                          <p:attrName>style.visibility</p:attrName>
                                        </p:attrNameLst>
                                      </p:cBhvr>
                                      <p:to>
                                        <p:strVal val="visible"/>
                                      </p:to>
                                    </p:set>
                                    <p:animEffect transition="in" filter="dissolve">
                                      <p:cBhvr>
                                        <p:cTn id="48" dur="500"/>
                                        <p:tgtEl>
                                          <p:spTgt spid="559"/>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nodeType="clickEffect">
                                  <p:stCondLst>
                                    <p:cond delay="0"/>
                                  </p:stCondLst>
                                  <p:childTnLst>
                                    <p:animEffect transition="out" filter="dissolve">
                                      <p:cBhvr>
                                        <p:cTn id="52" dur="500"/>
                                        <p:tgtEl>
                                          <p:spTgt spid="530"/>
                                        </p:tgtEl>
                                      </p:cBhvr>
                                    </p:animEffect>
                                    <p:set>
                                      <p:cBhvr>
                                        <p:cTn id="53" dur="1" fill="hold">
                                          <p:stCondLst>
                                            <p:cond delay="499"/>
                                          </p:stCondLst>
                                        </p:cTn>
                                        <p:tgtEl>
                                          <p:spTgt spid="53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wipe(left)">
                                      <p:cBhvr>
                                        <p:cTn id="58" dur="1000"/>
                                        <p:tgtEl>
                                          <p:spTgt spid="35"/>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537"/>
                                        </p:tgtEl>
                                        <p:attrNameLst>
                                          <p:attrName>style.visibility</p:attrName>
                                        </p:attrNameLst>
                                      </p:cBhvr>
                                      <p:to>
                                        <p:strVal val="visible"/>
                                      </p:to>
                                    </p:set>
                                    <p:animEffect transition="in" filter="dissolve">
                                      <p:cBhvr>
                                        <p:cTn id="63" dur="1000"/>
                                        <p:tgtEl>
                                          <p:spTgt spid="537"/>
                                        </p:tgtEl>
                                      </p:cBhvr>
                                    </p:animEffect>
                                  </p:childTnLst>
                                </p:cTn>
                              </p:par>
                            </p:childTnLst>
                          </p:cTn>
                        </p:par>
                        <p:par>
                          <p:cTn id="64" fill="hold">
                            <p:stCondLst>
                              <p:cond delay="1000"/>
                            </p:stCondLst>
                            <p:childTnLst>
                              <p:par>
                                <p:cTn id="65" presetID="9" presetClass="entr" presetSubtype="0" fill="hold" grpId="0" nodeType="afterEffect">
                                  <p:stCondLst>
                                    <p:cond delay="0"/>
                                  </p:stCondLst>
                                  <p:childTnLst>
                                    <p:set>
                                      <p:cBhvr>
                                        <p:cTn id="66" dur="1" fill="hold">
                                          <p:stCondLst>
                                            <p:cond delay="0"/>
                                          </p:stCondLst>
                                        </p:cTn>
                                        <p:tgtEl>
                                          <p:spTgt spid="505"/>
                                        </p:tgtEl>
                                        <p:attrNameLst>
                                          <p:attrName>style.visibility</p:attrName>
                                        </p:attrNameLst>
                                      </p:cBhvr>
                                      <p:to>
                                        <p:strVal val="visible"/>
                                      </p:to>
                                    </p:set>
                                    <p:animEffect transition="in" filter="dissolve">
                                      <p:cBhvr>
                                        <p:cTn id="67" dur="500"/>
                                        <p:tgtEl>
                                          <p:spTgt spid="505"/>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560"/>
                                        </p:tgtEl>
                                        <p:attrNameLst>
                                          <p:attrName>style.visibility</p:attrName>
                                        </p:attrNameLst>
                                      </p:cBhvr>
                                      <p:to>
                                        <p:strVal val="visible"/>
                                      </p:to>
                                    </p:set>
                                    <p:animEffect transition="in" filter="dissolve">
                                      <p:cBhvr>
                                        <p:cTn id="72" dur="500"/>
                                        <p:tgtEl>
                                          <p:spTgt spid="560"/>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xit" presetSubtype="0" fill="hold" nodeType="clickEffect">
                                  <p:stCondLst>
                                    <p:cond delay="0"/>
                                  </p:stCondLst>
                                  <p:childTnLst>
                                    <p:animEffect transition="out" filter="dissolve">
                                      <p:cBhvr>
                                        <p:cTn id="76" dur="500"/>
                                        <p:tgtEl>
                                          <p:spTgt spid="537"/>
                                        </p:tgtEl>
                                      </p:cBhvr>
                                    </p:animEffect>
                                    <p:set>
                                      <p:cBhvr>
                                        <p:cTn id="77" dur="1" fill="hold">
                                          <p:stCondLst>
                                            <p:cond delay="499"/>
                                          </p:stCondLst>
                                        </p:cTn>
                                        <p:tgtEl>
                                          <p:spTgt spid="537"/>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36"/>
                                        </p:tgtEl>
                                        <p:attrNameLst>
                                          <p:attrName>style.visibility</p:attrName>
                                        </p:attrNameLst>
                                      </p:cBhvr>
                                      <p:to>
                                        <p:strVal val="visible"/>
                                      </p:to>
                                    </p:set>
                                    <p:animEffect transition="in" filter="wipe(left)">
                                      <p:cBhvr>
                                        <p:cTn id="82" dur="1000"/>
                                        <p:tgtEl>
                                          <p:spTgt spid="36"/>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nodeType="clickEffect">
                                  <p:stCondLst>
                                    <p:cond delay="0"/>
                                  </p:stCondLst>
                                  <p:childTnLst>
                                    <p:set>
                                      <p:cBhvr>
                                        <p:cTn id="86" dur="1" fill="hold">
                                          <p:stCondLst>
                                            <p:cond delay="0"/>
                                          </p:stCondLst>
                                        </p:cTn>
                                        <p:tgtEl>
                                          <p:spTgt spid="544"/>
                                        </p:tgtEl>
                                        <p:attrNameLst>
                                          <p:attrName>style.visibility</p:attrName>
                                        </p:attrNameLst>
                                      </p:cBhvr>
                                      <p:to>
                                        <p:strVal val="visible"/>
                                      </p:to>
                                    </p:set>
                                    <p:animEffect transition="in" filter="dissolve">
                                      <p:cBhvr>
                                        <p:cTn id="87" dur="1000"/>
                                        <p:tgtEl>
                                          <p:spTgt spid="544"/>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504"/>
                                        </p:tgtEl>
                                        <p:attrNameLst>
                                          <p:attrName>style.visibility</p:attrName>
                                        </p:attrNameLst>
                                      </p:cBhvr>
                                      <p:to>
                                        <p:strVal val="visible"/>
                                      </p:to>
                                    </p:set>
                                    <p:animEffect transition="in" filter="dissolve">
                                      <p:cBhvr>
                                        <p:cTn id="91" dur="500"/>
                                        <p:tgtEl>
                                          <p:spTgt spid="504"/>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nodeType="clickEffect">
                                  <p:stCondLst>
                                    <p:cond delay="0"/>
                                  </p:stCondLst>
                                  <p:childTnLst>
                                    <p:set>
                                      <p:cBhvr>
                                        <p:cTn id="95" dur="1" fill="hold">
                                          <p:stCondLst>
                                            <p:cond delay="0"/>
                                          </p:stCondLst>
                                        </p:cTn>
                                        <p:tgtEl>
                                          <p:spTgt spid="561"/>
                                        </p:tgtEl>
                                        <p:attrNameLst>
                                          <p:attrName>style.visibility</p:attrName>
                                        </p:attrNameLst>
                                      </p:cBhvr>
                                      <p:to>
                                        <p:strVal val="visible"/>
                                      </p:to>
                                    </p:set>
                                    <p:animEffect transition="in" filter="dissolve">
                                      <p:cBhvr>
                                        <p:cTn id="96" dur="500"/>
                                        <p:tgtEl>
                                          <p:spTgt spid="561"/>
                                        </p:tgtEl>
                                      </p:cBhvr>
                                    </p:animEffect>
                                  </p:childTnLst>
                                </p:cTn>
                              </p:par>
                            </p:childTnLst>
                          </p:cTn>
                        </p:par>
                      </p:childTnLst>
                    </p:cTn>
                  </p:par>
                  <p:par>
                    <p:cTn id="97" fill="hold">
                      <p:stCondLst>
                        <p:cond delay="indefinite"/>
                      </p:stCondLst>
                      <p:childTnLst>
                        <p:par>
                          <p:cTn id="98" fill="hold">
                            <p:stCondLst>
                              <p:cond delay="0"/>
                            </p:stCondLst>
                            <p:childTnLst>
                              <p:par>
                                <p:cTn id="99" presetID="9" presetClass="exit" presetSubtype="0" fill="hold" nodeType="clickEffect">
                                  <p:stCondLst>
                                    <p:cond delay="0"/>
                                  </p:stCondLst>
                                  <p:childTnLst>
                                    <p:animEffect transition="out" filter="dissolve">
                                      <p:cBhvr>
                                        <p:cTn id="100" dur="500"/>
                                        <p:tgtEl>
                                          <p:spTgt spid="544"/>
                                        </p:tgtEl>
                                      </p:cBhvr>
                                    </p:animEffect>
                                    <p:set>
                                      <p:cBhvr>
                                        <p:cTn id="101" dur="1" fill="hold">
                                          <p:stCondLst>
                                            <p:cond delay="499"/>
                                          </p:stCondLst>
                                        </p:cTn>
                                        <p:tgtEl>
                                          <p:spTgt spid="544"/>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9" presetClass="entr" presetSubtype="0" fill="hold" grpId="0" nodeType="clickEffect">
                                  <p:stCondLst>
                                    <p:cond delay="0"/>
                                  </p:stCondLst>
                                  <p:childTnLst>
                                    <p:set>
                                      <p:cBhvr>
                                        <p:cTn id="105" dur="1" fill="hold">
                                          <p:stCondLst>
                                            <p:cond delay="0"/>
                                          </p:stCondLst>
                                        </p:cTn>
                                        <p:tgtEl>
                                          <p:spTgt spid="490"/>
                                        </p:tgtEl>
                                        <p:attrNameLst>
                                          <p:attrName>style.visibility</p:attrName>
                                        </p:attrNameLst>
                                      </p:cBhvr>
                                      <p:to>
                                        <p:strVal val="visible"/>
                                      </p:to>
                                    </p:set>
                                    <p:animEffect transition="in" filter="dissolve">
                                      <p:cBhvr>
                                        <p:cTn id="106" dur="1000"/>
                                        <p:tgtEl>
                                          <p:spTgt spid="490"/>
                                        </p:tgtEl>
                                      </p:cBhvr>
                                    </p:animEffect>
                                  </p:childTnLst>
                                </p:cTn>
                              </p:par>
                            </p:childTnLst>
                          </p:cTn>
                        </p:par>
                      </p:childTnLst>
                    </p:cTn>
                  </p:par>
                  <p:par>
                    <p:cTn id="107" fill="hold">
                      <p:stCondLst>
                        <p:cond delay="indefinite"/>
                      </p:stCondLst>
                      <p:childTnLst>
                        <p:par>
                          <p:cTn id="108" fill="hold">
                            <p:stCondLst>
                              <p:cond delay="0"/>
                            </p:stCondLst>
                            <p:childTnLst>
                              <p:par>
                                <p:cTn id="109" presetID="9" presetClass="entr" presetSubtype="0" fill="hold" nodeType="clickEffect">
                                  <p:stCondLst>
                                    <p:cond delay="0"/>
                                  </p:stCondLst>
                                  <p:childTnLst>
                                    <p:set>
                                      <p:cBhvr>
                                        <p:cTn id="110" dur="1" fill="hold">
                                          <p:stCondLst>
                                            <p:cond delay="0"/>
                                          </p:stCondLst>
                                        </p:cTn>
                                        <p:tgtEl>
                                          <p:spTgt spid="552"/>
                                        </p:tgtEl>
                                        <p:attrNameLst>
                                          <p:attrName>style.visibility</p:attrName>
                                        </p:attrNameLst>
                                      </p:cBhvr>
                                      <p:to>
                                        <p:strVal val="visible"/>
                                      </p:to>
                                    </p:set>
                                    <p:animEffect transition="in" filter="dissolve">
                                      <p:cBhvr>
                                        <p:cTn id="111" dur="1000"/>
                                        <p:tgtEl>
                                          <p:spTgt spid="552"/>
                                        </p:tgtEl>
                                      </p:cBhvr>
                                    </p:animEffect>
                                  </p:childTnLst>
                                </p:cTn>
                              </p:par>
                            </p:childTnLst>
                          </p:cTn>
                        </p:par>
                        <p:par>
                          <p:cTn id="112" fill="hold">
                            <p:stCondLst>
                              <p:cond delay="1000"/>
                            </p:stCondLst>
                            <p:childTnLst>
                              <p:par>
                                <p:cTn id="113" presetID="9" presetClass="entr" presetSubtype="0" fill="hold" grpId="0" nodeType="afterEffect">
                                  <p:stCondLst>
                                    <p:cond delay="0"/>
                                  </p:stCondLst>
                                  <p:childTnLst>
                                    <p:set>
                                      <p:cBhvr>
                                        <p:cTn id="114" dur="1" fill="hold">
                                          <p:stCondLst>
                                            <p:cond delay="0"/>
                                          </p:stCondLst>
                                        </p:cTn>
                                        <p:tgtEl>
                                          <p:spTgt spid="503"/>
                                        </p:tgtEl>
                                        <p:attrNameLst>
                                          <p:attrName>style.visibility</p:attrName>
                                        </p:attrNameLst>
                                      </p:cBhvr>
                                      <p:to>
                                        <p:strVal val="visible"/>
                                      </p:to>
                                    </p:set>
                                    <p:animEffect transition="in" filter="dissolve">
                                      <p:cBhvr>
                                        <p:cTn id="115" dur="500"/>
                                        <p:tgtEl>
                                          <p:spTgt spid="503"/>
                                        </p:tgtEl>
                                      </p:cBhvr>
                                    </p:animEffect>
                                  </p:childTnLst>
                                </p:cTn>
                              </p:par>
                            </p:childTnLst>
                          </p:cTn>
                        </p:par>
                      </p:childTnLst>
                    </p:cTn>
                  </p:par>
                  <p:par>
                    <p:cTn id="116" fill="hold">
                      <p:stCondLst>
                        <p:cond delay="indefinite"/>
                      </p:stCondLst>
                      <p:childTnLst>
                        <p:par>
                          <p:cTn id="117" fill="hold">
                            <p:stCondLst>
                              <p:cond delay="0"/>
                            </p:stCondLst>
                            <p:childTnLst>
                              <p:par>
                                <p:cTn id="118" presetID="9" presetClass="entr" presetSubtype="0" fill="hold" nodeType="clickEffect">
                                  <p:stCondLst>
                                    <p:cond delay="0"/>
                                  </p:stCondLst>
                                  <p:childTnLst>
                                    <p:set>
                                      <p:cBhvr>
                                        <p:cTn id="119" dur="1" fill="hold">
                                          <p:stCondLst>
                                            <p:cond delay="0"/>
                                          </p:stCondLst>
                                        </p:cTn>
                                        <p:tgtEl>
                                          <p:spTgt spid="562"/>
                                        </p:tgtEl>
                                        <p:attrNameLst>
                                          <p:attrName>style.visibility</p:attrName>
                                        </p:attrNameLst>
                                      </p:cBhvr>
                                      <p:to>
                                        <p:strVal val="visible"/>
                                      </p:to>
                                    </p:set>
                                    <p:animEffect transition="in" filter="dissolve">
                                      <p:cBhvr>
                                        <p:cTn id="120" dur="500"/>
                                        <p:tgtEl>
                                          <p:spTgt spid="5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 grpId="0"/>
      <p:bldP spid="503" grpId="0"/>
      <p:bldP spid="504" grpId="0"/>
      <p:bldP spid="505" grpId="0"/>
      <p:bldP spid="506" grpId="0"/>
      <p:bldP spid="507" grpId="0"/>
      <p:bldP spid="5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46</a:t>
            </a:fld>
            <a:endParaRPr lang="en-US" dirty="0">
              <a:solidFill>
                <a:prstClr val="white">
                  <a:lumMod val="50000"/>
                </a:prstClr>
              </a:solidFill>
            </a:endParaRPr>
          </a:p>
        </p:txBody>
      </p:sp>
      <p:grpSp>
        <p:nvGrpSpPr>
          <p:cNvPr id="259" name="Group 16">
            <a:extLst>
              <a:ext uri="{FF2B5EF4-FFF2-40B4-BE49-F238E27FC236}">
                <a16:creationId xmlns:a16="http://schemas.microsoft.com/office/drawing/2014/main" id="{F6D427A6-9405-2D4E-BC72-78E69E64A628}"/>
              </a:ext>
            </a:extLst>
          </p:cNvPr>
          <p:cNvGrpSpPr>
            <a:grpSpLocks/>
          </p:cNvGrpSpPr>
          <p:nvPr/>
        </p:nvGrpSpPr>
        <p:grpSpPr bwMode="auto">
          <a:xfrm>
            <a:off x="4237238" y="1377591"/>
            <a:ext cx="3571875" cy="2236788"/>
            <a:chOff x="3162" y="1071"/>
            <a:chExt cx="2250" cy="1409"/>
          </a:xfrm>
        </p:grpSpPr>
        <p:sp>
          <p:nvSpPr>
            <p:cNvPr id="260" name="Freeform 17">
              <a:extLst>
                <a:ext uri="{FF2B5EF4-FFF2-40B4-BE49-F238E27FC236}">
                  <a16:creationId xmlns:a16="http://schemas.microsoft.com/office/drawing/2014/main" id="{B59803F6-669E-C147-9AA7-07A510F23C39}"/>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1" name="Freeform 18">
              <a:extLst>
                <a:ext uri="{FF2B5EF4-FFF2-40B4-BE49-F238E27FC236}">
                  <a16:creationId xmlns:a16="http://schemas.microsoft.com/office/drawing/2014/main" id="{4CE8143F-BB5D-1548-A2D1-0B3C05E2D172}"/>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2" name="Oval 19">
              <a:extLst>
                <a:ext uri="{FF2B5EF4-FFF2-40B4-BE49-F238E27FC236}">
                  <a16:creationId xmlns:a16="http://schemas.microsoft.com/office/drawing/2014/main" id="{CB2328B2-500E-0643-881F-169F140BD4A3}"/>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3" name="Line 20">
              <a:extLst>
                <a:ext uri="{FF2B5EF4-FFF2-40B4-BE49-F238E27FC236}">
                  <a16:creationId xmlns:a16="http://schemas.microsoft.com/office/drawing/2014/main" id="{EC0FDC3E-2336-EF44-B445-144049FF3B49}"/>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4" name="Line 21">
              <a:extLst>
                <a:ext uri="{FF2B5EF4-FFF2-40B4-BE49-F238E27FC236}">
                  <a16:creationId xmlns:a16="http://schemas.microsoft.com/office/drawing/2014/main" id="{07B5F04F-0C18-CE48-93A1-4B267BBE4FAF}"/>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5" name="Rectangle 22">
              <a:extLst>
                <a:ext uri="{FF2B5EF4-FFF2-40B4-BE49-F238E27FC236}">
                  <a16:creationId xmlns:a16="http://schemas.microsoft.com/office/drawing/2014/main" id="{0C43506A-1E78-F54A-910F-D37EBC1EF67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66" name="Oval 23">
              <a:extLst>
                <a:ext uri="{FF2B5EF4-FFF2-40B4-BE49-F238E27FC236}">
                  <a16:creationId xmlns:a16="http://schemas.microsoft.com/office/drawing/2014/main" id="{27A71FF2-F42F-2844-AC5E-37F186F80F5F}"/>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7" name="Oval 24">
              <a:extLst>
                <a:ext uri="{FF2B5EF4-FFF2-40B4-BE49-F238E27FC236}">
                  <a16:creationId xmlns:a16="http://schemas.microsoft.com/office/drawing/2014/main" id="{9C47D8B7-EC1D-C743-87B3-403B84D4AD2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8" name="Line 25">
              <a:extLst>
                <a:ext uri="{FF2B5EF4-FFF2-40B4-BE49-F238E27FC236}">
                  <a16:creationId xmlns:a16="http://schemas.microsoft.com/office/drawing/2014/main" id="{BEC31F1C-3B0C-3040-AD04-6FCA0D057A34}"/>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9" name="Line 26">
              <a:extLst>
                <a:ext uri="{FF2B5EF4-FFF2-40B4-BE49-F238E27FC236}">
                  <a16:creationId xmlns:a16="http://schemas.microsoft.com/office/drawing/2014/main" id="{56212EB3-C962-DA44-8730-7936B2191ABD}"/>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0" name="Rectangle 27">
              <a:extLst>
                <a:ext uri="{FF2B5EF4-FFF2-40B4-BE49-F238E27FC236}">
                  <a16:creationId xmlns:a16="http://schemas.microsoft.com/office/drawing/2014/main" id="{70DA0FF6-1A2B-FA4D-8CF4-CF4512C7228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71" name="Oval 28">
              <a:extLst>
                <a:ext uri="{FF2B5EF4-FFF2-40B4-BE49-F238E27FC236}">
                  <a16:creationId xmlns:a16="http://schemas.microsoft.com/office/drawing/2014/main" id="{91BA553D-89DC-1440-84C3-F0FFE0B7EE06}"/>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2" name="Oval 29">
              <a:extLst>
                <a:ext uri="{FF2B5EF4-FFF2-40B4-BE49-F238E27FC236}">
                  <a16:creationId xmlns:a16="http://schemas.microsoft.com/office/drawing/2014/main" id="{5F155988-DD8E-7949-85F9-F8B730D85581}"/>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3" name="Line 30">
              <a:extLst>
                <a:ext uri="{FF2B5EF4-FFF2-40B4-BE49-F238E27FC236}">
                  <a16:creationId xmlns:a16="http://schemas.microsoft.com/office/drawing/2014/main" id="{007AA526-21E2-1449-A457-DC487F6259BF}"/>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4" name="Line 31">
              <a:extLst>
                <a:ext uri="{FF2B5EF4-FFF2-40B4-BE49-F238E27FC236}">
                  <a16:creationId xmlns:a16="http://schemas.microsoft.com/office/drawing/2014/main" id="{A7D6DEE1-2254-2340-92B2-4425F8E4149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5" name="Rectangle 32">
              <a:extLst>
                <a:ext uri="{FF2B5EF4-FFF2-40B4-BE49-F238E27FC236}">
                  <a16:creationId xmlns:a16="http://schemas.microsoft.com/office/drawing/2014/main" id="{CD0F76A8-F2F6-A040-A641-8C6DD2B4D0B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59" name="Oval 33">
              <a:extLst>
                <a:ext uri="{FF2B5EF4-FFF2-40B4-BE49-F238E27FC236}">
                  <a16:creationId xmlns:a16="http://schemas.microsoft.com/office/drawing/2014/main" id="{021DFE64-FE6B-AF4B-A487-798FD40EE4E9}"/>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5" name="Oval 34">
              <a:extLst>
                <a:ext uri="{FF2B5EF4-FFF2-40B4-BE49-F238E27FC236}">
                  <a16:creationId xmlns:a16="http://schemas.microsoft.com/office/drawing/2014/main" id="{D7221543-9DA7-9C4F-BF64-841725D580D9}"/>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6" name="Line 35">
              <a:extLst>
                <a:ext uri="{FF2B5EF4-FFF2-40B4-BE49-F238E27FC236}">
                  <a16:creationId xmlns:a16="http://schemas.microsoft.com/office/drawing/2014/main" id="{3AA9DB23-022C-B843-ACB1-9CD5A8D4891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7" name="Line 36">
              <a:extLst>
                <a:ext uri="{FF2B5EF4-FFF2-40B4-BE49-F238E27FC236}">
                  <a16:creationId xmlns:a16="http://schemas.microsoft.com/office/drawing/2014/main" id="{AAE6AF87-B018-8A44-81E6-B8267ADC39E9}"/>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8" name="Rectangle 37">
              <a:extLst>
                <a:ext uri="{FF2B5EF4-FFF2-40B4-BE49-F238E27FC236}">
                  <a16:creationId xmlns:a16="http://schemas.microsoft.com/office/drawing/2014/main" id="{E486C5EC-F3AE-514D-8BFC-C15DDC7BC42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3" name="Oval 38">
              <a:extLst>
                <a:ext uri="{FF2B5EF4-FFF2-40B4-BE49-F238E27FC236}">
                  <a16:creationId xmlns:a16="http://schemas.microsoft.com/office/drawing/2014/main" id="{D570042E-655B-9244-B2DE-DD6B84D18E36}"/>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4" name="Oval 39">
              <a:extLst>
                <a:ext uri="{FF2B5EF4-FFF2-40B4-BE49-F238E27FC236}">
                  <a16:creationId xmlns:a16="http://schemas.microsoft.com/office/drawing/2014/main" id="{209FDC48-A133-7C43-A4F4-AEC33B2394DC}"/>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5" name="Line 40">
              <a:extLst>
                <a:ext uri="{FF2B5EF4-FFF2-40B4-BE49-F238E27FC236}">
                  <a16:creationId xmlns:a16="http://schemas.microsoft.com/office/drawing/2014/main" id="{6C737D5E-249D-704B-8624-06BC6AF83FC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6" name="Line 41">
              <a:extLst>
                <a:ext uri="{FF2B5EF4-FFF2-40B4-BE49-F238E27FC236}">
                  <a16:creationId xmlns:a16="http://schemas.microsoft.com/office/drawing/2014/main" id="{2BB65E91-5543-2A4A-83D1-AF4BD2A561BA}"/>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7" name="Rectangle 42">
              <a:extLst>
                <a:ext uri="{FF2B5EF4-FFF2-40B4-BE49-F238E27FC236}">
                  <a16:creationId xmlns:a16="http://schemas.microsoft.com/office/drawing/2014/main" id="{31754303-C1B0-564A-BC8B-D1994E2260A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8" name="Oval 43">
              <a:extLst>
                <a:ext uri="{FF2B5EF4-FFF2-40B4-BE49-F238E27FC236}">
                  <a16:creationId xmlns:a16="http://schemas.microsoft.com/office/drawing/2014/main" id="{5EBC6ED3-D791-D849-8DF4-6EEC31DF921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9" name="Oval 44">
              <a:extLst>
                <a:ext uri="{FF2B5EF4-FFF2-40B4-BE49-F238E27FC236}">
                  <a16:creationId xmlns:a16="http://schemas.microsoft.com/office/drawing/2014/main" id="{69D4B18F-1B3D-AA47-B609-E5E0116A4B8C}"/>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3" name="Line 45">
              <a:extLst>
                <a:ext uri="{FF2B5EF4-FFF2-40B4-BE49-F238E27FC236}">
                  <a16:creationId xmlns:a16="http://schemas.microsoft.com/office/drawing/2014/main" id="{6B623BCC-754E-AD43-A91B-5BE9046197D9}"/>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5" name="Line 46">
              <a:extLst>
                <a:ext uri="{FF2B5EF4-FFF2-40B4-BE49-F238E27FC236}">
                  <a16:creationId xmlns:a16="http://schemas.microsoft.com/office/drawing/2014/main" id="{70C54C4E-9E9A-CB4F-9BAD-759F10AB73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7" name="Rectangle 47">
              <a:extLst>
                <a:ext uri="{FF2B5EF4-FFF2-40B4-BE49-F238E27FC236}">
                  <a16:creationId xmlns:a16="http://schemas.microsoft.com/office/drawing/2014/main" id="{48B02502-224F-614A-AF74-CA45B87B4FC2}"/>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32" name="Oval 48">
              <a:extLst>
                <a:ext uri="{FF2B5EF4-FFF2-40B4-BE49-F238E27FC236}">
                  <a16:creationId xmlns:a16="http://schemas.microsoft.com/office/drawing/2014/main" id="{1CBE76C4-29B1-DF47-8C80-E056EC01FEE0}"/>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3" name="Freeform 49">
              <a:extLst>
                <a:ext uri="{FF2B5EF4-FFF2-40B4-BE49-F238E27FC236}">
                  <a16:creationId xmlns:a16="http://schemas.microsoft.com/office/drawing/2014/main" id="{F7C58F3A-0B59-CE40-8968-EFD5B03D593E}"/>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8" name="Freeform 50">
              <a:extLst>
                <a:ext uri="{FF2B5EF4-FFF2-40B4-BE49-F238E27FC236}">
                  <a16:creationId xmlns:a16="http://schemas.microsoft.com/office/drawing/2014/main" id="{5CA0B20D-583A-724F-8F77-3D2EE0DD013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3" name="Freeform 51">
              <a:extLst>
                <a:ext uri="{FF2B5EF4-FFF2-40B4-BE49-F238E27FC236}">
                  <a16:creationId xmlns:a16="http://schemas.microsoft.com/office/drawing/2014/main" id="{F9705D5A-4067-4E46-97EF-A4A7592F8062}"/>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4" name="Freeform 52">
              <a:extLst>
                <a:ext uri="{FF2B5EF4-FFF2-40B4-BE49-F238E27FC236}">
                  <a16:creationId xmlns:a16="http://schemas.microsoft.com/office/drawing/2014/main" id="{22C3BA86-2C31-C244-BCC8-F79B83E99BAE}"/>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5" name="Freeform 53">
              <a:extLst>
                <a:ext uri="{FF2B5EF4-FFF2-40B4-BE49-F238E27FC236}">
                  <a16:creationId xmlns:a16="http://schemas.microsoft.com/office/drawing/2014/main" id="{36BA8254-18D7-D841-8B10-CF1677FF4B4C}"/>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6" name="Freeform 54">
              <a:extLst>
                <a:ext uri="{FF2B5EF4-FFF2-40B4-BE49-F238E27FC236}">
                  <a16:creationId xmlns:a16="http://schemas.microsoft.com/office/drawing/2014/main" id="{FDD9D6F7-B6B7-8C4F-B4CD-8A42B44DA87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7" name="Freeform 55">
              <a:extLst>
                <a:ext uri="{FF2B5EF4-FFF2-40B4-BE49-F238E27FC236}">
                  <a16:creationId xmlns:a16="http://schemas.microsoft.com/office/drawing/2014/main" id="{0EEE8685-1A2C-124B-AEBC-CE60F95275A6}"/>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8" name="Freeform 56">
              <a:extLst>
                <a:ext uri="{FF2B5EF4-FFF2-40B4-BE49-F238E27FC236}">
                  <a16:creationId xmlns:a16="http://schemas.microsoft.com/office/drawing/2014/main" id="{CDFCCD1A-99F5-3248-A9D4-80A4A3508E86}"/>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9" name="Freeform 57">
              <a:extLst>
                <a:ext uri="{FF2B5EF4-FFF2-40B4-BE49-F238E27FC236}">
                  <a16:creationId xmlns:a16="http://schemas.microsoft.com/office/drawing/2014/main" id="{8158BEB1-D7DD-304F-93D8-B63A3B9F79D7}"/>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450" name="Group 58">
              <a:extLst>
                <a:ext uri="{FF2B5EF4-FFF2-40B4-BE49-F238E27FC236}">
                  <a16:creationId xmlns:a16="http://schemas.microsoft.com/office/drawing/2014/main" id="{5708D0AB-39B8-5F4D-964A-583102F20F6D}"/>
                </a:ext>
              </a:extLst>
            </p:cNvPr>
            <p:cNvGrpSpPr>
              <a:grpSpLocks/>
            </p:cNvGrpSpPr>
            <p:nvPr/>
          </p:nvGrpSpPr>
          <p:grpSpPr bwMode="auto">
            <a:xfrm>
              <a:off x="3287" y="1744"/>
              <a:ext cx="205" cy="250"/>
              <a:chOff x="2954" y="2425"/>
              <a:chExt cx="208" cy="250"/>
            </a:xfrm>
          </p:grpSpPr>
          <p:sp>
            <p:nvSpPr>
              <p:cNvPr id="476" name="Rectangle 59">
                <a:extLst>
                  <a:ext uri="{FF2B5EF4-FFF2-40B4-BE49-F238E27FC236}">
                    <a16:creationId xmlns:a16="http://schemas.microsoft.com/office/drawing/2014/main" id="{698B8676-76A7-4C47-8D65-7AD44E1F849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7" name="Text Box 60">
                <a:extLst>
                  <a:ext uri="{FF2B5EF4-FFF2-40B4-BE49-F238E27FC236}">
                    <a16:creationId xmlns:a16="http://schemas.microsoft.com/office/drawing/2014/main" id="{5163CA4B-303D-0E4C-B36C-0EB9193499CB}"/>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451" name="Group 61">
              <a:extLst>
                <a:ext uri="{FF2B5EF4-FFF2-40B4-BE49-F238E27FC236}">
                  <a16:creationId xmlns:a16="http://schemas.microsoft.com/office/drawing/2014/main" id="{22504589-6EDA-CD46-9F6D-B4E53859C7BB}"/>
                </a:ext>
              </a:extLst>
            </p:cNvPr>
            <p:cNvGrpSpPr>
              <a:grpSpLocks/>
            </p:cNvGrpSpPr>
            <p:nvPr/>
          </p:nvGrpSpPr>
          <p:grpSpPr bwMode="auto">
            <a:xfrm>
              <a:off x="4461" y="2128"/>
              <a:ext cx="196" cy="250"/>
              <a:chOff x="2958" y="2425"/>
              <a:chExt cx="199" cy="250"/>
            </a:xfrm>
          </p:grpSpPr>
          <p:sp>
            <p:nvSpPr>
              <p:cNvPr id="474" name="Rectangle 62">
                <a:extLst>
                  <a:ext uri="{FF2B5EF4-FFF2-40B4-BE49-F238E27FC236}">
                    <a16:creationId xmlns:a16="http://schemas.microsoft.com/office/drawing/2014/main" id="{B5EB60BB-0E5E-C14B-B24B-878829D35E8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5" name="Text Box 63">
                <a:extLst>
                  <a:ext uri="{FF2B5EF4-FFF2-40B4-BE49-F238E27FC236}">
                    <a16:creationId xmlns:a16="http://schemas.microsoft.com/office/drawing/2014/main" id="{AC01CA65-68FA-E340-BE13-4C47DBA310D1}"/>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452" name="Group 64">
              <a:extLst>
                <a:ext uri="{FF2B5EF4-FFF2-40B4-BE49-F238E27FC236}">
                  <a16:creationId xmlns:a16="http://schemas.microsoft.com/office/drawing/2014/main" id="{7E66326C-FC5C-CB48-9635-4D30ECB15D8D}"/>
                </a:ext>
              </a:extLst>
            </p:cNvPr>
            <p:cNvGrpSpPr>
              <a:grpSpLocks/>
            </p:cNvGrpSpPr>
            <p:nvPr/>
          </p:nvGrpSpPr>
          <p:grpSpPr bwMode="auto">
            <a:xfrm>
              <a:off x="3772" y="2095"/>
              <a:ext cx="212" cy="288"/>
              <a:chOff x="2951" y="2395"/>
              <a:chExt cx="213" cy="288"/>
            </a:xfrm>
          </p:grpSpPr>
          <p:sp>
            <p:nvSpPr>
              <p:cNvPr id="472" name="Rectangle 65">
                <a:extLst>
                  <a:ext uri="{FF2B5EF4-FFF2-40B4-BE49-F238E27FC236}">
                    <a16:creationId xmlns:a16="http://schemas.microsoft.com/office/drawing/2014/main" id="{6BF35853-D616-6B43-8985-14AABE1F752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3" name="Text Box 66">
                <a:extLst>
                  <a:ext uri="{FF2B5EF4-FFF2-40B4-BE49-F238E27FC236}">
                    <a16:creationId xmlns:a16="http://schemas.microsoft.com/office/drawing/2014/main" id="{3282D7A0-A2E9-7F4B-A22E-01546569C59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453" name="Group 67">
              <a:extLst>
                <a:ext uri="{FF2B5EF4-FFF2-40B4-BE49-F238E27FC236}">
                  <a16:creationId xmlns:a16="http://schemas.microsoft.com/office/drawing/2014/main" id="{3104BBAE-4F76-E649-85DB-F84D22362B81}"/>
                </a:ext>
              </a:extLst>
            </p:cNvPr>
            <p:cNvGrpSpPr>
              <a:grpSpLocks/>
            </p:cNvGrpSpPr>
            <p:nvPr/>
          </p:nvGrpSpPr>
          <p:grpSpPr bwMode="auto">
            <a:xfrm>
              <a:off x="4438" y="1438"/>
              <a:ext cx="232" cy="250"/>
              <a:chOff x="2941" y="2425"/>
              <a:chExt cx="235" cy="250"/>
            </a:xfrm>
          </p:grpSpPr>
          <p:sp>
            <p:nvSpPr>
              <p:cNvPr id="470" name="Rectangle 68">
                <a:extLst>
                  <a:ext uri="{FF2B5EF4-FFF2-40B4-BE49-F238E27FC236}">
                    <a16:creationId xmlns:a16="http://schemas.microsoft.com/office/drawing/2014/main" id="{0CEE42FC-526E-AB47-8798-637A6484857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1" name="Text Box 69">
                <a:extLst>
                  <a:ext uri="{FF2B5EF4-FFF2-40B4-BE49-F238E27FC236}">
                    <a16:creationId xmlns:a16="http://schemas.microsoft.com/office/drawing/2014/main" id="{BD20AA39-4C83-B348-A22B-DC09D5E6798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454" name="Group 70">
              <a:extLst>
                <a:ext uri="{FF2B5EF4-FFF2-40B4-BE49-F238E27FC236}">
                  <a16:creationId xmlns:a16="http://schemas.microsoft.com/office/drawing/2014/main" id="{76A8AB1F-2271-4C40-97FF-558125D0E3D2}"/>
                </a:ext>
              </a:extLst>
            </p:cNvPr>
            <p:cNvGrpSpPr>
              <a:grpSpLocks/>
            </p:cNvGrpSpPr>
            <p:nvPr/>
          </p:nvGrpSpPr>
          <p:grpSpPr bwMode="auto">
            <a:xfrm>
              <a:off x="3771" y="1438"/>
              <a:ext cx="196" cy="250"/>
              <a:chOff x="2958" y="2425"/>
              <a:chExt cx="199" cy="250"/>
            </a:xfrm>
          </p:grpSpPr>
          <p:sp>
            <p:nvSpPr>
              <p:cNvPr id="468" name="Rectangle 71">
                <a:extLst>
                  <a:ext uri="{FF2B5EF4-FFF2-40B4-BE49-F238E27FC236}">
                    <a16:creationId xmlns:a16="http://schemas.microsoft.com/office/drawing/2014/main" id="{8A1243C8-B070-1144-AFC1-660A0D476384}"/>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9" name="Text Box 72">
                <a:extLst>
                  <a:ext uri="{FF2B5EF4-FFF2-40B4-BE49-F238E27FC236}">
                    <a16:creationId xmlns:a16="http://schemas.microsoft.com/office/drawing/2014/main" id="{0A633A5D-CB9F-9D4A-9828-FA8DAB76D82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455" name="Group 73">
              <a:extLst>
                <a:ext uri="{FF2B5EF4-FFF2-40B4-BE49-F238E27FC236}">
                  <a16:creationId xmlns:a16="http://schemas.microsoft.com/office/drawing/2014/main" id="{1F39B98B-5A5F-9A45-8998-1BA51D5362D8}"/>
                </a:ext>
              </a:extLst>
            </p:cNvPr>
            <p:cNvGrpSpPr>
              <a:grpSpLocks/>
            </p:cNvGrpSpPr>
            <p:nvPr/>
          </p:nvGrpSpPr>
          <p:grpSpPr bwMode="auto">
            <a:xfrm>
              <a:off x="5025" y="1756"/>
              <a:ext cx="212" cy="288"/>
              <a:chOff x="2949" y="2395"/>
              <a:chExt cx="214" cy="288"/>
            </a:xfrm>
          </p:grpSpPr>
          <p:sp>
            <p:nvSpPr>
              <p:cNvPr id="466" name="Rectangle 74">
                <a:extLst>
                  <a:ext uri="{FF2B5EF4-FFF2-40B4-BE49-F238E27FC236}">
                    <a16:creationId xmlns:a16="http://schemas.microsoft.com/office/drawing/2014/main" id="{6D133BDC-CBD5-E04A-956A-CB070C46E61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7" name="Text Box 75">
                <a:extLst>
                  <a:ext uri="{FF2B5EF4-FFF2-40B4-BE49-F238E27FC236}">
                    <a16:creationId xmlns:a16="http://schemas.microsoft.com/office/drawing/2014/main" id="{E22274D1-6BF0-6F4F-AA7F-923617C44471}"/>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456" name="Text Box 76">
              <a:extLst>
                <a:ext uri="{FF2B5EF4-FFF2-40B4-BE49-F238E27FC236}">
                  <a16:creationId xmlns:a16="http://schemas.microsoft.com/office/drawing/2014/main" id="{E87F994C-88BC-7843-84FF-C20876A28AD3}"/>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7" name="Text Box 77">
              <a:extLst>
                <a:ext uri="{FF2B5EF4-FFF2-40B4-BE49-F238E27FC236}">
                  <a16:creationId xmlns:a16="http://schemas.microsoft.com/office/drawing/2014/main" id="{D6E661FA-C756-184B-8F8C-454F6D2F20C6}"/>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8" name="Text Box 78">
              <a:extLst>
                <a:ext uri="{FF2B5EF4-FFF2-40B4-BE49-F238E27FC236}">
                  <a16:creationId xmlns:a16="http://schemas.microsoft.com/office/drawing/2014/main" id="{7AAD1753-0153-BE49-9A5A-86A6144677D4}"/>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59" name="Text Box 79">
              <a:extLst>
                <a:ext uri="{FF2B5EF4-FFF2-40B4-BE49-F238E27FC236}">
                  <a16:creationId xmlns:a16="http://schemas.microsoft.com/office/drawing/2014/main" id="{CE9F4FB6-1319-824C-8EE6-E829F9B81392}"/>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0" name="Text Box 80">
              <a:extLst>
                <a:ext uri="{FF2B5EF4-FFF2-40B4-BE49-F238E27FC236}">
                  <a16:creationId xmlns:a16="http://schemas.microsoft.com/office/drawing/2014/main" id="{C479D34B-E495-6941-B1B8-7C27A07FA48D}"/>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1" name="Text Box 81">
              <a:extLst>
                <a:ext uri="{FF2B5EF4-FFF2-40B4-BE49-F238E27FC236}">
                  <a16:creationId xmlns:a16="http://schemas.microsoft.com/office/drawing/2014/main" id="{651E935E-97A1-694E-90ED-DA0D52808F61}"/>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2" name="Text Box 82">
              <a:extLst>
                <a:ext uri="{FF2B5EF4-FFF2-40B4-BE49-F238E27FC236}">
                  <a16:creationId xmlns:a16="http://schemas.microsoft.com/office/drawing/2014/main" id="{BCE34168-89E8-CA4E-B734-D7785C5D44A4}"/>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63" name="Text Box 83">
              <a:extLst>
                <a:ext uri="{FF2B5EF4-FFF2-40B4-BE49-F238E27FC236}">
                  <a16:creationId xmlns:a16="http://schemas.microsoft.com/office/drawing/2014/main" id="{E61D1248-702D-AA4E-A62B-3B6DB8874302}"/>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464" name="Text Box 84">
              <a:extLst>
                <a:ext uri="{FF2B5EF4-FFF2-40B4-BE49-F238E27FC236}">
                  <a16:creationId xmlns:a16="http://schemas.microsoft.com/office/drawing/2014/main" id="{8E7448E7-B23E-9A4A-947C-66285C7E102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5" name="Text Box 85">
              <a:extLst>
                <a:ext uri="{FF2B5EF4-FFF2-40B4-BE49-F238E27FC236}">
                  <a16:creationId xmlns:a16="http://schemas.microsoft.com/office/drawing/2014/main" id="{EFA31E11-E078-ED44-8DB8-4912DC480664}"/>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grpSp>
      <p:sp>
        <p:nvSpPr>
          <p:cNvPr id="498" name="Text Box 6">
            <a:extLst>
              <a:ext uri="{FF2B5EF4-FFF2-40B4-BE49-F238E27FC236}">
                <a16:creationId xmlns:a16="http://schemas.microsoft.com/office/drawing/2014/main" id="{64BB3F8B-CE19-1C41-B2C9-B564AF1B5BB5}"/>
              </a:ext>
            </a:extLst>
          </p:cNvPr>
          <p:cNvSpPr txBox="1">
            <a:spLocks noChangeArrowheads="1"/>
          </p:cNvSpPr>
          <p:nvPr/>
        </p:nvSpPr>
        <p:spPr bwMode="auto">
          <a:xfrm>
            <a:off x="13837414" y="2958717"/>
            <a:ext cx="1284288"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D(w),p(w)</a:t>
            </a:r>
          </a:p>
          <a:p>
            <a:pPr algn="r" eaLnBrk="0" fontAlgn="base" hangingPunct="0">
              <a:spcBef>
                <a:spcPct val="0"/>
              </a:spcBef>
              <a:spcAft>
                <a:spcPct val="0"/>
              </a:spcAft>
              <a:defRPr/>
            </a:pPr>
            <a:r>
              <a:rPr lang="en-US" sz="2000" kern="0" dirty="0">
                <a:solidFill>
                  <a:srgbClr val="000000"/>
                </a:solidFill>
              </a:rPr>
              <a:t>5,u</a:t>
            </a:r>
          </a:p>
          <a:p>
            <a:pPr algn="r" eaLnBrk="0" fontAlgn="base" hangingPunct="0">
              <a:spcBef>
                <a:spcPct val="0"/>
              </a:spcBef>
              <a:spcAft>
                <a:spcPct val="0"/>
              </a:spcAft>
              <a:defRPr/>
            </a:pPr>
            <a:r>
              <a:rPr lang="en-US" sz="2000" kern="0" dirty="0">
                <a:solidFill>
                  <a:srgbClr val="000000"/>
                </a:solidFill>
              </a:rPr>
              <a:t>4,x</a:t>
            </a:r>
          </a:p>
          <a:p>
            <a:pPr algn="r" eaLnBrk="0" fontAlgn="base" hangingPunct="0">
              <a:spcBef>
                <a:spcPct val="0"/>
              </a:spcBef>
              <a:spcAft>
                <a:spcPct val="0"/>
              </a:spcAft>
              <a:defRPr/>
            </a:pPr>
            <a:r>
              <a:rPr lang="en-US" sz="2000" kern="0" dirty="0">
                <a:solidFill>
                  <a:srgbClr val="000000"/>
                </a:solidFill>
              </a:rPr>
              <a:t>3,y</a:t>
            </a:r>
          </a:p>
          <a:p>
            <a:pPr algn="r" eaLnBrk="0" fontAlgn="base" hangingPunct="0">
              <a:spcBef>
                <a:spcPct val="0"/>
              </a:spcBef>
              <a:spcAft>
                <a:spcPct val="0"/>
              </a:spcAft>
              <a:defRPr/>
            </a:pPr>
            <a:r>
              <a:rPr lang="en-US" sz="2000" kern="0" dirty="0">
                <a:solidFill>
                  <a:srgbClr val="000000"/>
                </a:solidFill>
              </a:rPr>
              <a:t>3,y</a:t>
            </a:r>
          </a:p>
        </p:txBody>
      </p:sp>
      <p:cxnSp>
        <p:nvCxnSpPr>
          <p:cNvPr id="38" name="Straight Arrow Connector 37">
            <a:extLst>
              <a:ext uri="{FF2B5EF4-FFF2-40B4-BE49-F238E27FC236}">
                <a16:creationId xmlns:a16="http://schemas.microsoft.com/office/drawing/2014/main" id="{112457CF-2890-E146-8628-638AC5577656}"/>
              </a:ext>
            </a:extLst>
          </p:cNvPr>
          <p:cNvCxnSpPr>
            <a:cxnSpLocks/>
            <a:endCxn id="271" idx="2"/>
          </p:cNvCxnSpPr>
          <p:nvPr/>
        </p:nvCxnSpPr>
        <p:spPr>
          <a:xfrm>
            <a:off x="4666129" y="2789499"/>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9" name="Straight Arrow Connector 558">
            <a:extLst>
              <a:ext uri="{FF2B5EF4-FFF2-40B4-BE49-F238E27FC236}">
                <a16:creationId xmlns:a16="http://schemas.microsoft.com/office/drawing/2014/main" id="{491C301B-8A6E-4845-BF28-577AD894F891}"/>
              </a:ext>
            </a:extLst>
          </p:cNvPr>
          <p:cNvCxnSpPr>
            <a:cxnSpLocks/>
            <a:endCxn id="414" idx="2"/>
          </p:cNvCxnSpPr>
          <p:nvPr/>
        </p:nvCxnSpPr>
        <p:spPr>
          <a:xfrm>
            <a:off x="5617182" y="3300714"/>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0" name="Straight Arrow Connector 559">
            <a:extLst>
              <a:ext uri="{FF2B5EF4-FFF2-40B4-BE49-F238E27FC236}">
                <a16:creationId xmlns:a16="http://schemas.microsoft.com/office/drawing/2014/main" id="{3C9D1B43-9124-3142-843B-DC7A58F1456E}"/>
              </a:ext>
            </a:extLst>
          </p:cNvPr>
          <p:cNvCxnSpPr>
            <a:cxnSpLocks/>
            <a:stCxn id="266" idx="7"/>
          </p:cNvCxnSpPr>
          <p:nvPr/>
        </p:nvCxnSpPr>
        <p:spPr>
          <a:xfrm flipV="1">
            <a:off x="4777246" y="2268639"/>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1" name="Straight Arrow Connector 560">
            <a:extLst>
              <a:ext uri="{FF2B5EF4-FFF2-40B4-BE49-F238E27FC236}">
                <a16:creationId xmlns:a16="http://schemas.microsoft.com/office/drawing/2014/main" id="{8A7B92A4-0E80-6D4D-87F2-803D33EFB3E5}"/>
              </a:ext>
            </a:extLst>
          </p:cNvPr>
          <p:cNvCxnSpPr>
            <a:cxnSpLocks/>
          </p:cNvCxnSpPr>
          <p:nvPr/>
        </p:nvCxnSpPr>
        <p:spPr>
          <a:xfrm flipV="1">
            <a:off x="6452488" y="2233914"/>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Straight Arrow Connector 561">
            <a:extLst>
              <a:ext uri="{FF2B5EF4-FFF2-40B4-BE49-F238E27FC236}">
                <a16:creationId xmlns:a16="http://schemas.microsoft.com/office/drawing/2014/main" id="{368CBA46-10A4-6B43-8244-BF448DB2A1AB}"/>
              </a:ext>
            </a:extLst>
          </p:cNvPr>
          <p:cNvCxnSpPr>
            <a:cxnSpLocks/>
          </p:cNvCxnSpPr>
          <p:nvPr/>
        </p:nvCxnSpPr>
        <p:spPr>
          <a:xfrm flipV="1">
            <a:off x="6715788" y="2822294"/>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234" name="Group 3">
            <a:extLst>
              <a:ext uri="{FF2B5EF4-FFF2-40B4-BE49-F238E27FC236}">
                <a16:creationId xmlns:a16="http://schemas.microsoft.com/office/drawing/2014/main" id="{CAD83B90-6A61-424F-807D-7507674811C5}"/>
              </a:ext>
            </a:extLst>
          </p:cNvPr>
          <p:cNvGrpSpPr>
            <a:grpSpLocks/>
          </p:cNvGrpSpPr>
          <p:nvPr/>
        </p:nvGrpSpPr>
        <p:grpSpPr bwMode="auto">
          <a:xfrm>
            <a:off x="1182356" y="4594769"/>
            <a:ext cx="3244850" cy="1500187"/>
            <a:chOff x="1385" y="1283"/>
            <a:chExt cx="2044" cy="945"/>
          </a:xfrm>
        </p:grpSpPr>
        <p:sp>
          <p:nvSpPr>
            <p:cNvPr id="235" name="Freeform 4">
              <a:extLst>
                <a:ext uri="{FF2B5EF4-FFF2-40B4-BE49-F238E27FC236}">
                  <a16:creationId xmlns:a16="http://schemas.microsoft.com/office/drawing/2014/main" id="{D55BBFC2-7A7F-8B48-AC36-5E367A0102A7}"/>
                </a:ext>
              </a:extLst>
            </p:cNvPr>
            <p:cNvSpPr>
              <a:spLocks/>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6" name="Oval 5">
              <a:extLst>
                <a:ext uri="{FF2B5EF4-FFF2-40B4-BE49-F238E27FC236}">
                  <a16:creationId xmlns:a16="http://schemas.microsoft.com/office/drawing/2014/main" id="{D1E533AD-8D87-7A4B-8A7E-E763008FB4BF}"/>
                </a:ext>
              </a:extLst>
            </p:cNvPr>
            <p:cNvSpPr>
              <a:spLocks noChangeArrowheads="1"/>
            </p:cNvSpPr>
            <p:nvPr/>
          </p:nvSpPr>
          <p:spPr bwMode="auto">
            <a:xfrm>
              <a:off x="1388" y="1707"/>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7" name="Line 6">
              <a:extLst>
                <a:ext uri="{FF2B5EF4-FFF2-40B4-BE49-F238E27FC236}">
                  <a16:creationId xmlns:a16="http://schemas.microsoft.com/office/drawing/2014/main" id="{8393A25C-8E73-3945-96CC-27CA319F0D65}"/>
                </a:ext>
              </a:extLst>
            </p:cNvPr>
            <p:cNvSpPr>
              <a:spLocks noChangeShapeType="1"/>
            </p:cNvSpPr>
            <p:nvPr/>
          </p:nvSpPr>
          <p:spPr bwMode="auto">
            <a:xfrm>
              <a:off x="1388" y="1700"/>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8" name="Line 7">
              <a:extLst>
                <a:ext uri="{FF2B5EF4-FFF2-40B4-BE49-F238E27FC236}">
                  <a16:creationId xmlns:a16="http://schemas.microsoft.com/office/drawing/2014/main" id="{00CB3848-99BB-D84B-AFA1-D2A40790588A}"/>
                </a:ext>
              </a:extLst>
            </p:cNvPr>
            <p:cNvSpPr>
              <a:spLocks noChangeShapeType="1"/>
            </p:cNvSpPr>
            <p:nvPr/>
          </p:nvSpPr>
          <p:spPr bwMode="auto">
            <a:xfrm>
              <a:off x="1701" y="1700"/>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9" name="Rectangle 8">
              <a:extLst>
                <a:ext uri="{FF2B5EF4-FFF2-40B4-BE49-F238E27FC236}">
                  <a16:creationId xmlns:a16="http://schemas.microsoft.com/office/drawing/2014/main" id="{D86D7FD3-F350-4745-AAE8-4DC4DEC2289F}"/>
                </a:ext>
              </a:extLst>
            </p:cNvPr>
            <p:cNvSpPr>
              <a:spLocks noChangeArrowheads="1"/>
            </p:cNvSpPr>
            <p:nvPr/>
          </p:nvSpPr>
          <p:spPr bwMode="auto">
            <a:xfrm>
              <a:off x="1388" y="1700"/>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0" name="Oval 9">
              <a:extLst>
                <a:ext uri="{FF2B5EF4-FFF2-40B4-BE49-F238E27FC236}">
                  <a16:creationId xmlns:a16="http://schemas.microsoft.com/office/drawing/2014/main" id="{9A82BFE7-2A38-894C-A32D-46DEDFCA2D5B}"/>
                </a:ext>
              </a:extLst>
            </p:cNvPr>
            <p:cNvSpPr>
              <a:spLocks noChangeArrowheads="1"/>
            </p:cNvSpPr>
            <p:nvPr/>
          </p:nvSpPr>
          <p:spPr bwMode="auto">
            <a:xfrm>
              <a:off x="1385" y="1641"/>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1" name="Oval 10">
              <a:extLst>
                <a:ext uri="{FF2B5EF4-FFF2-40B4-BE49-F238E27FC236}">
                  <a16:creationId xmlns:a16="http://schemas.microsoft.com/office/drawing/2014/main" id="{AA854307-5377-8A41-9AEB-75CD5A873A85}"/>
                </a:ext>
              </a:extLst>
            </p:cNvPr>
            <p:cNvSpPr>
              <a:spLocks noChangeArrowheads="1"/>
            </p:cNvSpPr>
            <p:nvPr/>
          </p:nvSpPr>
          <p:spPr bwMode="auto">
            <a:xfrm>
              <a:off x="1862" y="209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2" name="Line 11">
              <a:extLst>
                <a:ext uri="{FF2B5EF4-FFF2-40B4-BE49-F238E27FC236}">
                  <a16:creationId xmlns:a16="http://schemas.microsoft.com/office/drawing/2014/main" id="{9FA810B5-81B4-AB4E-9CB4-8AB6FC42F914}"/>
                </a:ext>
              </a:extLst>
            </p:cNvPr>
            <p:cNvSpPr>
              <a:spLocks noChangeShapeType="1"/>
            </p:cNvSpPr>
            <p:nvPr/>
          </p:nvSpPr>
          <p:spPr bwMode="auto">
            <a:xfrm>
              <a:off x="1862" y="208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3" name="Line 12">
              <a:extLst>
                <a:ext uri="{FF2B5EF4-FFF2-40B4-BE49-F238E27FC236}">
                  <a16:creationId xmlns:a16="http://schemas.microsoft.com/office/drawing/2014/main" id="{1F897DDB-A59F-8A49-AA62-3734F23BB98B}"/>
                </a:ext>
              </a:extLst>
            </p:cNvPr>
            <p:cNvSpPr>
              <a:spLocks noChangeShapeType="1"/>
            </p:cNvSpPr>
            <p:nvPr/>
          </p:nvSpPr>
          <p:spPr bwMode="auto">
            <a:xfrm>
              <a:off x="2175" y="208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4" name="Rectangle 13">
              <a:extLst>
                <a:ext uri="{FF2B5EF4-FFF2-40B4-BE49-F238E27FC236}">
                  <a16:creationId xmlns:a16="http://schemas.microsoft.com/office/drawing/2014/main" id="{109513FF-1C63-234A-9B1E-75D62A42C019}"/>
                </a:ext>
              </a:extLst>
            </p:cNvPr>
            <p:cNvSpPr>
              <a:spLocks noChangeArrowheads="1"/>
            </p:cNvSpPr>
            <p:nvPr/>
          </p:nvSpPr>
          <p:spPr bwMode="auto">
            <a:xfrm>
              <a:off x="1862" y="2087"/>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5" name="Oval 14">
              <a:extLst>
                <a:ext uri="{FF2B5EF4-FFF2-40B4-BE49-F238E27FC236}">
                  <a16:creationId xmlns:a16="http://schemas.microsoft.com/office/drawing/2014/main" id="{30EA6A56-1EC2-C342-B322-0BD69F60A770}"/>
                </a:ext>
              </a:extLst>
            </p:cNvPr>
            <p:cNvSpPr>
              <a:spLocks noChangeArrowheads="1"/>
            </p:cNvSpPr>
            <p:nvPr/>
          </p:nvSpPr>
          <p:spPr bwMode="auto">
            <a:xfrm>
              <a:off x="1859" y="2028"/>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4" name="Oval 15">
              <a:extLst>
                <a:ext uri="{FF2B5EF4-FFF2-40B4-BE49-F238E27FC236}">
                  <a16:creationId xmlns:a16="http://schemas.microsoft.com/office/drawing/2014/main" id="{91BAA6D5-E6E6-3F47-BA4B-0311E0711BF2}"/>
                </a:ext>
              </a:extLst>
            </p:cNvPr>
            <p:cNvSpPr>
              <a:spLocks noChangeArrowheads="1"/>
            </p:cNvSpPr>
            <p:nvPr/>
          </p:nvSpPr>
          <p:spPr bwMode="auto">
            <a:xfrm>
              <a:off x="1858" y="140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5" name="Line 16">
              <a:extLst>
                <a:ext uri="{FF2B5EF4-FFF2-40B4-BE49-F238E27FC236}">
                  <a16:creationId xmlns:a16="http://schemas.microsoft.com/office/drawing/2014/main" id="{A8F35EF4-8155-D144-9887-2394E21FD472}"/>
                </a:ext>
              </a:extLst>
            </p:cNvPr>
            <p:cNvSpPr>
              <a:spLocks noChangeShapeType="1"/>
            </p:cNvSpPr>
            <p:nvPr/>
          </p:nvSpPr>
          <p:spPr bwMode="auto">
            <a:xfrm>
              <a:off x="1858" y="13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6" name="Line 17">
              <a:extLst>
                <a:ext uri="{FF2B5EF4-FFF2-40B4-BE49-F238E27FC236}">
                  <a16:creationId xmlns:a16="http://schemas.microsoft.com/office/drawing/2014/main" id="{C0FFA446-EED0-654F-8B59-830BB7BE9A71}"/>
                </a:ext>
              </a:extLst>
            </p:cNvPr>
            <p:cNvSpPr>
              <a:spLocks noChangeShapeType="1"/>
            </p:cNvSpPr>
            <p:nvPr/>
          </p:nvSpPr>
          <p:spPr bwMode="auto">
            <a:xfrm>
              <a:off x="2171" y="13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7" name="Rectangle 18">
              <a:extLst>
                <a:ext uri="{FF2B5EF4-FFF2-40B4-BE49-F238E27FC236}">
                  <a16:creationId xmlns:a16="http://schemas.microsoft.com/office/drawing/2014/main" id="{8C6FDE51-7923-3B44-830E-2DB7807967F9}"/>
                </a:ext>
              </a:extLst>
            </p:cNvPr>
            <p:cNvSpPr>
              <a:spLocks noChangeArrowheads="1"/>
            </p:cNvSpPr>
            <p:nvPr/>
          </p:nvSpPr>
          <p:spPr bwMode="auto">
            <a:xfrm>
              <a:off x="1858" y="1397"/>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58" name="Oval 19">
              <a:extLst>
                <a:ext uri="{FF2B5EF4-FFF2-40B4-BE49-F238E27FC236}">
                  <a16:creationId xmlns:a16="http://schemas.microsoft.com/office/drawing/2014/main" id="{48735EAA-D015-2749-B8E6-A932F1A86542}"/>
                </a:ext>
              </a:extLst>
            </p:cNvPr>
            <p:cNvSpPr>
              <a:spLocks noChangeArrowheads="1"/>
            </p:cNvSpPr>
            <p:nvPr/>
          </p:nvSpPr>
          <p:spPr bwMode="auto">
            <a:xfrm>
              <a:off x="1855" y="1338"/>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6" name="Oval 20">
              <a:extLst>
                <a:ext uri="{FF2B5EF4-FFF2-40B4-BE49-F238E27FC236}">
                  <a16:creationId xmlns:a16="http://schemas.microsoft.com/office/drawing/2014/main" id="{2C0D7CB9-B6B7-7F48-A7C9-A5362FCF3389}"/>
                </a:ext>
              </a:extLst>
            </p:cNvPr>
            <p:cNvSpPr>
              <a:spLocks noChangeArrowheads="1"/>
            </p:cNvSpPr>
            <p:nvPr/>
          </p:nvSpPr>
          <p:spPr bwMode="auto">
            <a:xfrm>
              <a:off x="2541" y="1400"/>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7" name="Line 21">
              <a:extLst>
                <a:ext uri="{FF2B5EF4-FFF2-40B4-BE49-F238E27FC236}">
                  <a16:creationId xmlns:a16="http://schemas.microsoft.com/office/drawing/2014/main" id="{5710184A-753A-EF4E-A1BA-C728CC0A0842}"/>
                </a:ext>
              </a:extLst>
            </p:cNvPr>
            <p:cNvSpPr>
              <a:spLocks noChangeShapeType="1"/>
            </p:cNvSpPr>
            <p:nvPr/>
          </p:nvSpPr>
          <p:spPr bwMode="auto">
            <a:xfrm>
              <a:off x="2541" y="139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8" name="Line 22">
              <a:extLst>
                <a:ext uri="{FF2B5EF4-FFF2-40B4-BE49-F238E27FC236}">
                  <a16:creationId xmlns:a16="http://schemas.microsoft.com/office/drawing/2014/main" id="{77D8EC50-7DE6-D947-804E-5FF59E34213E}"/>
                </a:ext>
              </a:extLst>
            </p:cNvPr>
            <p:cNvSpPr>
              <a:spLocks noChangeShapeType="1"/>
            </p:cNvSpPr>
            <p:nvPr/>
          </p:nvSpPr>
          <p:spPr bwMode="auto">
            <a:xfrm>
              <a:off x="2853" y="139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9" name="Rectangle 23">
              <a:extLst>
                <a:ext uri="{FF2B5EF4-FFF2-40B4-BE49-F238E27FC236}">
                  <a16:creationId xmlns:a16="http://schemas.microsoft.com/office/drawing/2014/main" id="{640A0C04-CA0A-D44B-AE10-2BB26102D989}"/>
                </a:ext>
              </a:extLst>
            </p:cNvPr>
            <p:cNvSpPr>
              <a:spLocks noChangeArrowheads="1"/>
            </p:cNvSpPr>
            <p:nvPr/>
          </p:nvSpPr>
          <p:spPr bwMode="auto">
            <a:xfrm>
              <a:off x="2541" y="1393"/>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80" name="Oval 24">
              <a:extLst>
                <a:ext uri="{FF2B5EF4-FFF2-40B4-BE49-F238E27FC236}">
                  <a16:creationId xmlns:a16="http://schemas.microsoft.com/office/drawing/2014/main" id="{3DBD615F-4385-7F48-84F4-A38AEA1DC5FD}"/>
                </a:ext>
              </a:extLst>
            </p:cNvPr>
            <p:cNvSpPr>
              <a:spLocks noChangeArrowheads="1"/>
            </p:cNvSpPr>
            <p:nvPr/>
          </p:nvSpPr>
          <p:spPr bwMode="auto">
            <a:xfrm>
              <a:off x="2544" y="1337"/>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1" name="Oval 25">
              <a:extLst>
                <a:ext uri="{FF2B5EF4-FFF2-40B4-BE49-F238E27FC236}">
                  <a16:creationId xmlns:a16="http://schemas.microsoft.com/office/drawing/2014/main" id="{5EAEA945-6C71-7244-8444-F5DE78D3A253}"/>
                </a:ext>
              </a:extLst>
            </p:cNvPr>
            <p:cNvSpPr>
              <a:spLocks noChangeArrowheads="1"/>
            </p:cNvSpPr>
            <p:nvPr/>
          </p:nvSpPr>
          <p:spPr bwMode="auto">
            <a:xfrm>
              <a:off x="2551" y="2091"/>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2" name="Line 26">
              <a:extLst>
                <a:ext uri="{FF2B5EF4-FFF2-40B4-BE49-F238E27FC236}">
                  <a16:creationId xmlns:a16="http://schemas.microsoft.com/office/drawing/2014/main" id="{B239EFA1-CE87-FA45-AECE-0A1D04B2EEA2}"/>
                </a:ext>
              </a:extLst>
            </p:cNvPr>
            <p:cNvSpPr>
              <a:spLocks noChangeShapeType="1"/>
            </p:cNvSpPr>
            <p:nvPr/>
          </p:nvSpPr>
          <p:spPr bwMode="auto">
            <a:xfrm>
              <a:off x="2551" y="2084"/>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3" name="Line 27">
              <a:extLst>
                <a:ext uri="{FF2B5EF4-FFF2-40B4-BE49-F238E27FC236}">
                  <a16:creationId xmlns:a16="http://schemas.microsoft.com/office/drawing/2014/main" id="{F57F8B7F-1DEE-0646-944B-3627E05035DF}"/>
                </a:ext>
              </a:extLst>
            </p:cNvPr>
            <p:cNvSpPr>
              <a:spLocks noChangeShapeType="1"/>
            </p:cNvSpPr>
            <p:nvPr/>
          </p:nvSpPr>
          <p:spPr bwMode="auto">
            <a:xfrm>
              <a:off x="2864" y="2084"/>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4" name="Rectangle 28">
              <a:extLst>
                <a:ext uri="{FF2B5EF4-FFF2-40B4-BE49-F238E27FC236}">
                  <a16:creationId xmlns:a16="http://schemas.microsoft.com/office/drawing/2014/main" id="{48E9AA69-2A64-F44B-AF24-4B58BF3B859A}"/>
                </a:ext>
              </a:extLst>
            </p:cNvPr>
            <p:cNvSpPr>
              <a:spLocks noChangeArrowheads="1"/>
            </p:cNvSpPr>
            <p:nvPr/>
          </p:nvSpPr>
          <p:spPr bwMode="auto">
            <a:xfrm>
              <a:off x="2551" y="2084"/>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85" name="Oval 29">
              <a:extLst>
                <a:ext uri="{FF2B5EF4-FFF2-40B4-BE49-F238E27FC236}">
                  <a16:creationId xmlns:a16="http://schemas.microsoft.com/office/drawing/2014/main" id="{DB57CF03-5C7F-7446-BFCA-6885962A7619}"/>
                </a:ext>
              </a:extLst>
            </p:cNvPr>
            <p:cNvSpPr>
              <a:spLocks noChangeArrowheads="1"/>
            </p:cNvSpPr>
            <p:nvPr/>
          </p:nvSpPr>
          <p:spPr bwMode="auto">
            <a:xfrm>
              <a:off x="2548" y="2025"/>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6" name="Oval 30">
              <a:extLst>
                <a:ext uri="{FF2B5EF4-FFF2-40B4-BE49-F238E27FC236}">
                  <a16:creationId xmlns:a16="http://schemas.microsoft.com/office/drawing/2014/main" id="{57E7565D-361A-0649-83E3-41C966CEDD90}"/>
                </a:ext>
              </a:extLst>
            </p:cNvPr>
            <p:cNvSpPr>
              <a:spLocks noChangeArrowheads="1"/>
            </p:cNvSpPr>
            <p:nvPr/>
          </p:nvSpPr>
          <p:spPr bwMode="auto">
            <a:xfrm>
              <a:off x="3116" y="1750"/>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7" name="Line 31">
              <a:extLst>
                <a:ext uri="{FF2B5EF4-FFF2-40B4-BE49-F238E27FC236}">
                  <a16:creationId xmlns:a16="http://schemas.microsoft.com/office/drawing/2014/main" id="{7307AAD6-1B7B-3E4C-AD3F-1CB98C2433DD}"/>
                </a:ext>
              </a:extLst>
            </p:cNvPr>
            <p:cNvSpPr>
              <a:spLocks noChangeShapeType="1"/>
            </p:cNvSpPr>
            <p:nvPr/>
          </p:nvSpPr>
          <p:spPr bwMode="auto">
            <a:xfrm>
              <a:off x="3116" y="174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8" name="Line 32">
              <a:extLst>
                <a:ext uri="{FF2B5EF4-FFF2-40B4-BE49-F238E27FC236}">
                  <a16:creationId xmlns:a16="http://schemas.microsoft.com/office/drawing/2014/main" id="{85AADD66-C3FE-324C-91AE-0057BDCFD4DB}"/>
                </a:ext>
              </a:extLst>
            </p:cNvPr>
            <p:cNvSpPr>
              <a:spLocks noChangeShapeType="1"/>
            </p:cNvSpPr>
            <p:nvPr/>
          </p:nvSpPr>
          <p:spPr bwMode="auto">
            <a:xfrm>
              <a:off x="3429" y="174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9" name="Rectangle 33">
              <a:extLst>
                <a:ext uri="{FF2B5EF4-FFF2-40B4-BE49-F238E27FC236}">
                  <a16:creationId xmlns:a16="http://schemas.microsoft.com/office/drawing/2014/main" id="{8FC4E749-70CE-3946-A306-97D91D359DD6}"/>
                </a:ext>
              </a:extLst>
            </p:cNvPr>
            <p:cNvSpPr>
              <a:spLocks noChangeArrowheads="1"/>
            </p:cNvSpPr>
            <p:nvPr/>
          </p:nvSpPr>
          <p:spPr bwMode="auto">
            <a:xfrm>
              <a:off x="3116" y="1743"/>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90" name="Oval 34">
              <a:extLst>
                <a:ext uri="{FF2B5EF4-FFF2-40B4-BE49-F238E27FC236}">
                  <a16:creationId xmlns:a16="http://schemas.microsoft.com/office/drawing/2014/main" id="{83AC3490-7FA4-A843-9DD7-EAD43C146CE9}"/>
                </a:ext>
              </a:extLst>
            </p:cNvPr>
            <p:cNvSpPr>
              <a:spLocks noChangeArrowheads="1"/>
            </p:cNvSpPr>
            <p:nvPr/>
          </p:nvSpPr>
          <p:spPr bwMode="auto">
            <a:xfrm>
              <a:off x="3113" y="1684"/>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1" name="Freeform 35">
              <a:extLst>
                <a:ext uri="{FF2B5EF4-FFF2-40B4-BE49-F238E27FC236}">
                  <a16:creationId xmlns:a16="http://schemas.microsoft.com/office/drawing/2014/main" id="{E0CB0E6F-0318-5A42-804B-74DE7351E2D5}"/>
                </a:ext>
              </a:extLst>
            </p:cNvPr>
            <p:cNvSpPr>
              <a:spLocks/>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2" name="Freeform 36">
              <a:extLst>
                <a:ext uri="{FF2B5EF4-FFF2-40B4-BE49-F238E27FC236}">
                  <a16:creationId xmlns:a16="http://schemas.microsoft.com/office/drawing/2014/main" id="{8911BBF2-790A-F940-A9A6-265EE2DEDCD5}"/>
                </a:ext>
              </a:extLst>
            </p:cNvPr>
            <p:cNvSpPr>
              <a:spLocks/>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3" name="Freeform 37">
              <a:extLst>
                <a:ext uri="{FF2B5EF4-FFF2-40B4-BE49-F238E27FC236}">
                  <a16:creationId xmlns:a16="http://schemas.microsoft.com/office/drawing/2014/main" id="{5FCEA00D-30D9-AD48-B36B-87D306BDCA76}"/>
                </a:ext>
              </a:extLst>
            </p:cNvPr>
            <p:cNvSpPr>
              <a:spLocks/>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4" name="Freeform 38">
              <a:extLst>
                <a:ext uri="{FF2B5EF4-FFF2-40B4-BE49-F238E27FC236}">
                  <a16:creationId xmlns:a16="http://schemas.microsoft.com/office/drawing/2014/main" id="{FFF79244-8621-1B4A-A951-D5F428298CC0}"/>
                </a:ext>
              </a:extLst>
            </p:cNvPr>
            <p:cNvSpPr>
              <a:spLocks/>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95" name="Group 39">
              <a:extLst>
                <a:ext uri="{FF2B5EF4-FFF2-40B4-BE49-F238E27FC236}">
                  <a16:creationId xmlns:a16="http://schemas.microsoft.com/office/drawing/2014/main" id="{3FE22FDD-2AF6-2F45-9D94-A7E347A876AC}"/>
                </a:ext>
              </a:extLst>
            </p:cNvPr>
            <p:cNvGrpSpPr>
              <a:grpSpLocks/>
            </p:cNvGrpSpPr>
            <p:nvPr/>
          </p:nvGrpSpPr>
          <p:grpSpPr bwMode="auto">
            <a:xfrm>
              <a:off x="1437" y="1589"/>
              <a:ext cx="205" cy="250"/>
              <a:chOff x="2954" y="2425"/>
              <a:chExt cx="208" cy="250"/>
            </a:xfrm>
          </p:grpSpPr>
          <p:sp>
            <p:nvSpPr>
              <p:cNvPr id="311" name="Rectangle 40">
                <a:extLst>
                  <a:ext uri="{FF2B5EF4-FFF2-40B4-BE49-F238E27FC236}">
                    <a16:creationId xmlns:a16="http://schemas.microsoft.com/office/drawing/2014/main" id="{7F9E7EA5-4703-3A4F-83AA-78477F6D2D3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2" name="Text Box 41">
                <a:extLst>
                  <a:ext uri="{FF2B5EF4-FFF2-40B4-BE49-F238E27FC236}">
                    <a16:creationId xmlns:a16="http://schemas.microsoft.com/office/drawing/2014/main" id="{7F6788A4-B028-5E46-BA6B-8260B340CCBA}"/>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296" name="Group 42">
              <a:extLst>
                <a:ext uri="{FF2B5EF4-FFF2-40B4-BE49-F238E27FC236}">
                  <a16:creationId xmlns:a16="http://schemas.microsoft.com/office/drawing/2014/main" id="{3B399E80-BBE9-DE42-9C20-F733C3486EF5}"/>
                </a:ext>
              </a:extLst>
            </p:cNvPr>
            <p:cNvGrpSpPr>
              <a:grpSpLocks/>
            </p:cNvGrpSpPr>
            <p:nvPr/>
          </p:nvGrpSpPr>
          <p:grpSpPr bwMode="auto">
            <a:xfrm>
              <a:off x="2611" y="1973"/>
              <a:ext cx="196" cy="250"/>
              <a:chOff x="2958" y="2425"/>
              <a:chExt cx="199" cy="250"/>
            </a:xfrm>
          </p:grpSpPr>
          <p:sp>
            <p:nvSpPr>
              <p:cNvPr id="309" name="Rectangle 43">
                <a:extLst>
                  <a:ext uri="{FF2B5EF4-FFF2-40B4-BE49-F238E27FC236}">
                    <a16:creationId xmlns:a16="http://schemas.microsoft.com/office/drawing/2014/main" id="{C759317C-74E3-004E-8696-C6730D2A76B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0" name="Text Box 44">
                <a:extLst>
                  <a:ext uri="{FF2B5EF4-FFF2-40B4-BE49-F238E27FC236}">
                    <a16:creationId xmlns:a16="http://schemas.microsoft.com/office/drawing/2014/main" id="{5EC66565-CE3C-DC49-A451-6127C9B7F138}"/>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297" name="Group 45">
              <a:extLst>
                <a:ext uri="{FF2B5EF4-FFF2-40B4-BE49-F238E27FC236}">
                  <a16:creationId xmlns:a16="http://schemas.microsoft.com/office/drawing/2014/main" id="{24F7013F-EE6F-1840-BCC7-9CF2E43BDEC7}"/>
                </a:ext>
              </a:extLst>
            </p:cNvPr>
            <p:cNvGrpSpPr>
              <a:grpSpLocks/>
            </p:cNvGrpSpPr>
            <p:nvPr/>
          </p:nvGrpSpPr>
          <p:grpSpPr bwMode="auto">
            <a:xfrm>
              <a:off x="1922" y="1940"/>
              <a:ext cx="212" cy="288"/>
              <a:chOff x="2951" y="2395"/>
              <a:chExt cx="213" cy="288"/>
            </a:xfrm>
          </p:grpSpPr>
          <p:sp>
            <p:nvSpPr>
              <p:cNvPr id="307" name="Rectangle 46">
                <a:extLst>
                  <a:ext uri="{FF2B5EF4-FFF2-40B4-BE49-F238E27FC236}">
                    <a16:creationId xmlns:a16="http://schemas.microsoft.com/office/drawing/2014/main" id="{534C2F14-5739-6A42-A4B7-963A8F9D05F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8" name="Text Box 47">
                <a:extLst>
                  <a:ext uri="{FF2B5EF4-FFF2-40B4-BE49-F238E27FC236}">
                    <a16:creationId xmlns:a16="http://schemas.microsoft.com/office/drawing/2014/main" id="{06099668-A654-B443-AD81-E015DBEC4A94}"/>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298" name="Group 48">
              <a:extLst>
                <a:ext uri="{FF2B5EF4-FFF2-40B4-BE49-F238E27FC236}">
                  <a16:creationId xmlns:a16="http://schemas.microsoft.com/office/drawing/2014/main" id="{9DDFF683-1C8F-C14A-B1E0-84D48C9766B8}"/>
                </a:ext>
              </a:extLst>
            </p:cNvPr>
            <p:cNvGrpSpPr>
              <a:grpSpLocks/>
            </p:cNvGrpSpPr>
            <p:nvPr/>
          </p:nvGrpSpPr>
          <p:grpSpPr bwMode="auto">
            <a:xfrm>
              <a:off x="2588" y="1283"/>
              <a:ext cx="232" cy="250"/>
              <a:chOff x="2941" y="2425"/>
              <a:chExt cx="235" cy="250"/>
            </a:xfrm>
          </p:grpSpPr>
          <p:sp>
            <p:nvSpPr>
              <p:cNvPr id="305" name="Rectangle 49">
                <a:extLst>
                  <a:ext uri="{FF2B5EF4-FFF2-40B4-BE49-F238E27FC236}">
                    <a16:creationId xmlns:a16="http://schemas.microsoft.com/office/drawing/2014/main" id="{6ACA49F7-2DDA-174A-BA02-F0E6DC5FE7C7}"/>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6" name="Text Box 50">
                <a:extLst>
                  <a:ext uri="{FF2B5EF4-FFF2-40B4-BE49-F238E27FC236}">
                    <a16:creationId xmlns:a16="http://schemas.microsoft.com/office/drawing/2014/main" id="{B380098B-5F1B-B443-B890-D9D80D58A56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299" name="Group 51">
              <a:extLst>
                <a:ext uri="{FF2B5EF4-FFF2-40B4-BE49-F238E27FC236}">
                  <a16:creationId xmlns:a16="http://schemas.microsoft.com/office/drawing/2014/main" id="{657C09A9-0D00-C341-97E4-BFE0D534EAC3}"/>
                </a:ext>
              </a:extLst>
            </p:cNvPr>
            <p:cNvGrpSpPr>
              <a:grpSpLocks/>
            </p:cNvGrpSpPr>
            <p:nvPr/>
          </p:nvGrpSpPr>
          <p:grpSpPr bwMode="auto">
            <a:xfrm>
              <a:off x="1921" y="1283"/>
              <a:ext cx="196" cy="250"/>
              <a:chOff x="2958" y="2425"/>
              <a:chExt cx="199" cy="250"/>
            </a:xfrm>
          </p:grpSpPr>
          <p:sp>
            <p:nvSpPr>
              <p:cNvPr id="303" name="Rectangle 52">
                <a:extLst>
                  <a:ext uri="{FF2B5EF4-FFF2-40B4-BE49-F238E27FC236}">
                    <a16:creationId xmlns:a16="http://schemas.microsoft.com/office/drawing/2014/main" id="{DA96FFA9-8E2C-F446-A90C-1D2C3A740941}"/>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4" name="Text Box 53">
                <a:extLst>
                  <a:ext uri="{FF2B5EF4-FFF2-40B4-BE49-F238E27FC236}">
                    <a16:creationId xmlns:a16="http://schemas.microsoft.com/office/drawing/2014/main" id="{4094D47B-3C2E-1549-9303-FE64B14C52B7}"/>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300" name="Group 54">
              <a:extLst>
                <a:ext uri="{FF2B5EF4-FFF2-40B4-BE49-F238E27FC236}">
                  <a16:creationId xmlns:a16="http://schemas.microsoft.com/office/drawing/2014/main" id="{4895C555-2EC4-9F4B-9A35-FF3D23C076E1}"/>
                </a:ext>
              </a:extLst>
            </p:cNvPr>
            <p:cNvGrpSpPr>
              <a:grpSpLocks/>
            </p:cNvGrpSpPr>
            <p:nvPr/>
          </p:nvGrpSpPr>
          <p:grpSpPr bwMode="auto">
            <a:xfrm>
              <a:off x="3175" y="1601"/>
              <a:ext cx="212" cy="288"/>
              <a:chOff x="2949" y="2395"/>
              <a:chExt cx="214" cy="288"/>
            </a:xfrm>
          </p:grpSpPr>
          <p:sp>
            <p:nvSpPr>
              <p:cNvPr id="301" name="Rectangle 55">
                <a:extLst>
                  <a:ext uri="{FF2B5EF4-FFF2-40B4-BE49-F238E27FC236}">
                    <a16:creationId xmlns:a16="http://schemas.microsoft.com/office/drawing/2014/main" id="{1594FC40-950D-DD4E-9742-69A340A7FA59}"/>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2" name="Text Box 56">
                <a:extLst>
                  <a:ext uri="{FF2B5EF4-FFF2-40B4-BE49-F238E27FC236}">
                    <a16:creationId xmlns:a16="http://schemas.microsoft.com/office/drawing/2014/main" id="{70D90BEE-05A4-FA49-8BE7-08E95F13AB67}"/>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grpSp>
      <p:sp>
        <p:nvSpPr>
          <p:cNvPr id="313" name="Text Box 57">
            <a:extLst>
              <a:ext uri="{FF2B5EF4-FFF2-40B4-BE49-F238E27FC236}">
                <a16:creationId xmlns:a16="http://schemas.microsoft.com/office/drawing/2014/main" id="{64A60984-9F92-014B-A1A1-4ED6EE18F034}"/>
              </a:ext>
            </a:extLst>
          </p:cNvPr>
          <p:cNvSpPr txBox="1">
            <a:spLocks noChangeArrowheads="1"/>
          </p:cNvSpPr>
          <p:nvPr/>
        </p:nvSpPr>
        <p:spPr bwMode="auto">
          <a:xfrm>
            <a:off x="441194" y="3975560"/>
            <a:ext cx="47521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pPr>
            <a:r>
              <a:rPr lang="en-US" dirty="0">
                <a:solidFill>
                  <a:srgbClr val="000000"/>
                </a:solidFill>
                <a:latin typeface="Calibri" panose="020F0502020204030204"/>
              </a:rPr>
              <a:t>resulting least-cost-path tree from u:</a:t>
            </a:r>
          </a:p>
        </p:txBody>
      </p:sp>
      <p:grpSp>
        <p:nvGrpSpPr>
          <p:cNvPr id="24" name="Group 23">
            <a:extLst>
              <a:ext uri="{FF2B5EF4-FFF2-40B4-BE49-F238E27FC236}">
                <a16:creationId xmlns:a16="http://schemas.microsoft.com/office/drawing/2014/main" id="{6CB75B83-340D-DF48-B11B-E4763431618C}"/>
              </a:ext>
            </a:extLst>
          </p:cNvPr>
          <p:cNvGrpSpPr/>
          <p:nvPr/>
        </p:nvGrpSpPr>
        <p:grpSpPr>
          <a:xfrm>
            <a:off x="5736310" y="3974818"/>
            <a:ext cx="4022768" cy="2583002"/>
            <a:chOff x="6731733" y="3986393"/>
            <a:chExt cx="4022768" cy="2583002"/>
          </a:xfrm>
        </p:grpSpPr>
        <p:sp>
          <p:nvSpPr>
            <p:cNvPr id="329" name="Text Box 73">
              <a:extLst>
                <a:ext uri="{FF2B5EF4-FFF2-40B4-BE49-F238E27FC236}">
                  <a16:creationId xmlns:a16="http://schemas.microsoft.com/office/drawing/2014/main" id="{33F13002-9C84-AC45-85CD-36E5D057AC9F}"/>
                </a:ext>
              </a:extLst>
            </p:cNvPr>
            <p:cNvSpPr txBox="1">
              <a:spLocks noChangeArrowheads="1"/>
            </p:cNvSpPr>
            <p:nvPr/>
          </p:nvSpPr>
          <p:spPr bwMode="auto">
            <a:xfrm>
              <a:off x="6731733" y="3986393"/>
              <a:ext cx="40227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pPr>
              <a:r>
                <a:rPr lang="en-US" dirty="0">
                  <a:solidFill>
                    <a:srgbClr val="000000"/>
                  </a:solidFill>
                  <a:latin typeface="Calibri" panose="020F0502020204030204"/>
                </a:rPr>
                <a:t>resulting forwarding table in u:</a:t>
              </a:r>
            </a:p>
          </p:txBody>
        </p:sp>
        <p:grpSp>
          <p:nvGrpSpPr>
            <p:cNvPr id="22" name="Group 21">
              <a:extLst>
                <a:ext uri="{FF2B5EF4-FFF2-40B4-BE49-F238E27FC236}">
                  <a16:creationId xmlns:a16="http://schemas.microsoft.com/office/drawing/2014/main" id="{5A06AC3B-3519-6940-83CC-F298AC6E1530}"/>
                </a:ext>
              </a:extLst>
            </p:cNvPr>
            <p:cNvGrpSpPr/>
            <p:nvPr/>
          </p:nvGrpSpPr>
          <p:grpSpPr>
            <a:xfrm>
              <a:off x="7373074" y="4495305"/>
              <a:ext cx="2423080" cy="2074090"/>
              <a:chOff x="9178724" y="1740531"/>
              <a:chExt cx="2423080" cy="2074090"/>
            </a:xfrm>
          </p:grpSpPr>
          <p:sp>
            <p:nvSpPr>
              <p:cNvPr id="21" name="Rectangle 20">
                <a:extLst>
                  <a:ext uri="{FF2B5EF4-FFF2-40B4-BE49-F238E27FC236}">
                    <a16:creationId xmlns:a16="http://schemas.microsoft.com/office/drawing/2014/main" id="{FA510DE8-21E1-A542-BA94-C8D9DE35CF35}"/>
                  </a:ext>
                </a:extLst>
              </p:cNvPr>
              <p:cNvSpPr/>
              <p:nvPr/>
            </p:nvSpPr>
            <p:spPr>
              <a:xfrm>
                <a:off x="9199418" y="1778000"/>
                <a:ext cx="2373746" cy="277091"/>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 name="Rectangle 1">
                <a:extLst>
                  <a:ext uri="{FF2B5EF4-FFF2-40B4-BE49-F238E27FC236}">
                    <a16:creationId xmlns:a16="http://schemas.microsoft.com/office/drawing/2014/main" id="{1854B982-B7D4-D841-A53C-E699EE81E943}"/>
                  </a:ext>
                </a:extLst>
              </p:cNvPr>
              <p:cNvSpPr/>
              <p:nvPr/>
            </p:nvSpPr>
            <p:spPr>
              <a:xfrm>
                <a:off x="9190298" y="1770927"/>
                <a:ext cx="2384385" cy="1979271"/>
              </a:xfrm>
              <a:prstGeom prst="rect">
                <a:avLst/>
              </a:prstGeom>
              <a:noFill/>
              <a:ln>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TextBox 6">
                <a:extLst>
                  <a:ext uri="{FF2B5EF4-FFF2-40B4-BE49-F238E27FC236}">
                    <a16:creationId xmlns:a16="http://schemas.microsoft.com/office/drawing/2014/main" id="{7507A910-2025-F047-93E1-3DCFBCE13ED1}"/>
                  </a:ext>
                </a:extLst>
              </p:cNvPr>
              <p:cNvSpPr txBox="1"/>
              <p:nvPr/>
            </p:nvSpPr>
            <p:spPr>
              <a:xfrm>
                <a:off x="9572264" y="2060295"/>
                <a:ext cx="404277" cy="1754326"/>
              </a:xfrm>
              <a:prstGeom prst="rect">
                <a:avLst/>
              </a:prstGeom>
              <a:noFill/>
            </p:spPr>
            <p:txBody>
              <a:bodyPr wrap="none" rtlCol="0">
                <a:spAutoFit/>
              </a:bodyPr>
              <a:lstStyle/>
              <a:p>
                <a:pPr algn="ctr">
                  <a:lnSpc>
                    <a:spcPct val="90000"/>
                  </a:lnSpc>
                </a:pPr>
                <a:r>
                  <a:rPr lang="en-US" sz="2400" dirty="0">
                    <a:solidFill>
                      <a:prstClr val="black"/>
                    </a:solidFill>
                  </a:rPr>
                  <a:t>v</a:t>
                </a:r>
              </a:p>
              <a:p>
                <a:pPr algn="ctr">
                  <a:lnSpc>
                    <a:spcPct val="90000"/>
                  </a:lnSpc>
                </a:pPr>
                <a:r>
                  <a:rPr lang="en-US" sz="2400" dirty="0">
                    <a:solidFill>
                      <a:prstClr val="black"/>
                    </a:solidFill>
                  </a:rPr>
                  <a:t>x</a:t>
                </a:r>
              </a:p>
              <a:p>
                <a:pPr algn="ctr">
                  <a:lnSpc>
                    <a:spcPct val="90000"/>
                  </a:lnSpc>
                </a:pPr>
                <a:r>
                  <a:rPr lang="en-US" sz="2400" dirty="0">
                    <a:solidFill>
                      <a:prstClr val="black"/>
                    </a:solidFill>
                  </a:rPr>
                  <a:t>y</a:t>
                </a:r>
              </a:p>
              <a:p>
                <a:pPr algn="ctr">
                  <a:lnSpc>
                    <a:spcPct val="90000"/>
                  </a:lnSpc>
                </a:pPr>
                <a:r>
                  <a:rPr lang="en-US" sz="2400" dirty="0">
                    <a:solidFill>
                      <a:prstClr val="black"/>
                    </a:solidFill>
                  </a:rPr>
                  <a:t>w</a:t>
                </a:r>
              </a:p>
              <a:p>
                <a:pPr algn="ctr">
                  <a:lnSpc>
                    <a:spcPct val="90000"/>
                  </a:lnSpc>
                </a:pPr>
                <a:r>
                  <a:rPr lang="en-US" sz="2400" dirty="0">
                    <a:solidFill>
                      <a:prstClr val="black"/>
                    </a:solidFill>
                  </a:rPr>
                  <a:t>z</a:t>
                </a:r>
                <a:endParaRPr lang="en-US" dirty="0">
                  <a:solidFill>
                    <a:prstClr val="black"/>
                  </a:solidFill>
                </a:endParaRPr>
              </a:p>
            </p:txBody>
          </p:sp>
          <p:sp>
            <p:nvSpPr>
              <p:cNvPr id="330" name="TextBox 329">
                <a:extLst>
                  <a:ext uri="{FF2B5EF4-FFF2-40B4-BE49-F238E27FC236}">
                    <a16:creationId xmlns:a16="http://schemas.microsoft.com/office/drawing/2014/main" id="{D2ECC22B-FD29-854E-98E6-577039BEAFC8}"/>
                  </a:ext>
                </a:extLst>
              </p:cNvPr>
              <p:cNvSpPr txBox="1"/>
              <p:nvPr/>
            </p:nvSpPr>
            <p:spPr>
              <a:xfrm>
                <a:off x="10615914" y="2050649"/>
                <a:ext cx="748923" cy="1754326"/>
              </a:xfrm>
              <a:prstGeom prst="rect">
                <a:avLst/>
              </a:prstGeom>
              <a:noFill/>
            </p:spPr>
            <p:txBody>
              <a:bodyPr wrap="none" rtlCol="0">
                <a:spAutoFit/>
              </a:bodyPr>
              <a:lstStyle/>
              <a:p>
                <a:pPr>
                  <a:lnSpc>
                    <a:spcPct val="90000"/>
                  </a:lnSpc>
                </a:pPr>
                <a:r>
                  <a:rPr lang="en-US" sz="2400" dirty="0">
                    <a:solidFill>
                      <a:prstClr val="black"/>
                    </a:solidFill>
                  </a:rPr>
                  <a:t>(u,v)</a:t>
                </a:r>
              </a:p>
              <a:p>
                <a:pPr>
                  <a:lnSpc>
                    <a:spcPct val="90000"/>
                  </a:lnSpc>
                </a:pPr>
                <a:r>
                  <a:rPr lang="en-US" sz="2400" dirty="0">
                    <a:solidFill>
                      <a:prstClr val="black"/>
                    </a:solidFill>
                  </a:rPr>
                  <a:t>(u,x)</a:t>
                </a:r>
              </a:p>
              <a:p>
                <a:pPr>
                  <a:lnSpc>
                    <a:spcPct val="90000"/>
                  </a:lnSpc>
                </a:pPr>
                <a:r>
                  <a:rPr lang="en-US" sz="2400" dirty="0">
                    <a:solidFill>
                      <a:prstClr val="black"/>
                    </a:solidFill>
                  </a:rPr>
                  <a:t>(u,x)</a:t>
                </a:r>
              </a:p>
              <a:p>
                <a:pPr>
                  <a:lnSpc>
                    <a:spcPct val="90000"/>
                  </a:lnSpc>
                </a:pPr>
                <a:r>
                  <a:rPr lang="en-US" sz="2400" dirty="0">
                    <a:solidFill>
                      <a:prstClr val="black"/>
                    </a:solidFill>
                  </a:rPr>
                  <a:t>(u,x)</a:t>
                </a:r>
              </a:p>
              <a:p>
                <a:pPr>
                  <a:lnSpc>
                    <a:spcPct val="90000"/>
                  </a:lnSpc>
                </a:pPr>
                <a:r>
                  <a:rPr lang="en-US" sz="2400" dirty="0">
                    <a:solidFill>
                      <a:prstClr val="black"/>
                    </a:solidFill>
                  </a:rPr>
                  <a:t>(u,x)</a:t>
                </a:r>
                <a:endParaRPr lang="en-US" dirty="0">
                  <a:solidFill>
                    <a:prstClr val="black"/>
                  </a:solidFill>
                </a:endParaRPr>
              </a:p>
            </p:txBody>
          </p:sp>
          <p:sp>
            <p:nvSpPr>
              <p:cNvPr id="8" name="TextBox 7">
                <a:extLst>
                  <a:ext uri="{FF2B5EF4-FFF2-40B4-BE49-F238E27FC236}">
                    <a16:creationId xmlns:a16="http://schemas.microsoft.com/office/drawing/2014/main" id="{9E9A1932-3100-C346-AA74-8048C9EF5669}"/>
                  </a:ext>
                </a:extLst>
              </p:cNvPr>
              <p:cNvSpPr txBox="1"/>
              <p:nvPr/>
            </p:nvSpPr>
            <p:spPr>
              <a:xfrm>
                <a:off x="9220467" y="1747835"/>
                <a:ext cx="1123000" cy="338554"/>
              </a:xfrm>
              <a:prstGeom prst="rect">
                <a:avLst/>
              </a:prstGeom>
              <a:noFill/>
            </p:spPr>
            <p:txBody>
              <a:bodyPr wrap="none" rtlCol="0">
                <a:spAutoFit/>
              </a:bodyPr>
              <a:lstStyle/>
              <a:p>
                <a:r>
                  <a:rPr lang="en-US" sz="1600" dirty="0">
                    <a:solidFill>
                      <a:prstClr val="black"/>
                    </a:solidFill>
                  </a:rPr>
                  <a:t>destination</a:t>
                </a:r>
                <a:endParaRPr lang="en-US" dirty="0">
                  <a:solidFill>
                    <a:prstClr val="black"/>
                  </a:solidFill>
                </a:endParaRPr>
              </a:p>
            </p:txBody>
          </p:sp>
          <p:sp>
            <p:nvSpPr>
              <p:cNvPr id="331" name="TextBox 330">
                <a:extLst>
                  <a:ext uri="{FF2B5EF4-FFF2-40B4-BE49-F238E27FC236}">
                    <a16:creationId xmlns:a16="http://schemas.microsoft.com/office/drawing/2014/main" id="{5C520567-C138-9F4F-972E-A6D6E1C098AE}"/>
                  </a:ext>
                </a:extLst>
              </p:cNvPr>
              <p:cNvSpPr txBox="1"/>
              <p:nvPr/>
            </p:nvSpPr>
            <p:spPr>
              <a:xfrm>
                <a:off x="10338125" y="1740531"/>
                <a:ext cx="1263679" cy="338554"/>
              </a:xfrm>
              <a:prstGeom prst="rect">
                <a:avLst/>
              </a:prstGeom>
              <a:noFill/>
            </p:spPr>
            <p:txBody>
              <a:bodyPr wrap="none" rtlCol="0">
                <a:spAutoFit/>
              </a:bodyPr>
              <a:lstStyle/>
              <a:p>
                <a:r>
                  <a:rPr lang="en-US" sz="1600" dirty="0">
                    <a:solidFill>
                      <a:prstClr val="black"/>
                    </a:solidFill>
                  </a:rPr>
                  <a:t>outgoing link</a:t>
                </a:r>
              </a:p>
            </p:txBody>
          </p:sp>
          <p:cxnSp>
            <p:nvCxnSpPr>
              <p:cNvPr id="10" name="Straight Connector 9">
                <a:extLst>
                  <a:ext uri="{FF2B5EF4-FFF2-40B4-BE49-F238E27FC236}">
                    <a16:creationId xmlns:a16="http://schemas.microsoft.com/office/drawing/2014/main" id="{C34AB781-8439-8C4F-8F97-23D8CA7BA068}"/>
                  </a:ext>
                </a:extLst>
              </p:cNvPr>
              <p:cNvCxnSpPr>
                <a:cxnSpLocks/>
              </p:cNvCxnSpPr>
              <p:nvPr/>
            </p:nvCxnSpPr>
            <p:spPr>
              <a:xfrm>
                <a:off x="9178724" y="2060293"/>
                <a:ext cx="2395960" cy="0"/>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7D2336-FF8B-F94C-A7C3-827D1CE1B031}"/>
                  </a:ext>
                </a:extLst>
              </p:cNvPr>
              <p:cNvCxnSpPr>
                <a:cxnSpLocks/>
              </p:cNvCxnSpPr>
              <p:nvPr/>
            </p:nvCxnSpPr>
            <p:spPr>
              <a:xfrm>
                <a:off x="10359342" y="1770927"/>
                <a:ext cx="0" cy="1990845"/>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a:extLst>
              <a:ext uri="{FF2B5EF4-FFF2-40B4-BE49-F238E27FC236}">
                <a16:creationId xmlns:a16="http://schemas.microsoft.com/office/drawing/2014/main" id="{F7EB9AF4-5603-FB43-B05B-61449C2AEFFB}"/>
              </a:ext>
            </a:extLst>
          </p:cNvPr>
          <p:cNvGrpSpPr/>
          <p:nvPr/>
        </p:nvGrpSpPr>
        <p:grpSpPr>
          <a:xfrm>
            <a:off x="8565265" y="4815068"/>
            <a:ext cx="3170508" cy="369332"/>
            <a:chOff x="8565265" y="4815068"/>
            <a:chExt cx="3170508" cy="369332"/>
          </a:xfrm>
        </p:grpSpPr>
        <p:sp>
          <p:nvSpPr>
            <p:cNvPr id="25" name="TextBox 24">
              <a:extLst>
                <a:ext uri="{FF2B5EF4-FFF2-40B4-BE49-F238E27FC236}">
                  <a16:creationId xmlns:a16="http://schemas.microsoft.com/office/drawing/2014/main" id="{7E6387EE-3D37-4948-8425-E51C56BFAD3E}"/>
                </a:ext>
              </a:extLst>
            </p:cNvPr>
            <p:cNvSpPr txBox="1"/>
            <p:nvPr/>
          </p:nvSpPr>
          <p:spPr>
            <a:xfrm>
              <a:off x="9201874" y="4815068"/>
              <a:ext cx="2533899" cy="369332"/>
            </a:xfrm>
            <a:prstGeom prst="rect">
              <a:avLst/>
            </a:prstGeom>
            <a:noFill/>
          </p:spPr>
          <p:txBody>
            <a:bodyPr wrap="none" rtlCol="0">
              <a:spAutoFit/>
            </a:bodyPr>
            <a:lstStyle/>
            <a:p>
              <a:r>
                <a:rPr lang="en-US" dirty="0">
                  <a:solidFill>
                    <a:prstClr val="black"/>
                  </a:solidFill>
                </a:rPr>
                <a:t>route from </a:t>
              </a:r>
              <a:r>
                <a:rPr lang="en-US" i="1" dirty="0">
                  <a:solidFill>
                    <a:prstClr val="black"/>
                  </a:solidFill>
                </a:rPr>
                <a:t>u</a:t>
              </a:r>
              <a:r>
                <a:rPr lang="en-US" dirty="0">
                  <a:solidFill>
                    <a:prstClr val="black"/>
                  </a:solidFill>
                </a:rPr>
                <a:t> to</a:t>
              </a:r>
              <a:r>
                <a:rPr lang="en-US" i="1" dirty="0">
                  <a:solidFill>
                    <a:prstClr val="black"/>
                  </a:solidFill>
                </a:rPr>
                <a:t> v </a:t>
              </a:r>
              <a:r>
                <a:rPr lang="en-US" dirty="0">
                  <a:solidFill>
                    <a:prstClr val="black"/>
                  </a:solidFill>
                </a:rPr>
                <a:t>directly</a:t>
              </a:r>
            </a:p>
          </p:txBody>
        </p:sp>
        <p:cxnSp>
          <p:nvCxnSpPr>
            <p:cNvPr id="27" name="Straight Connector 26">
              <a:extLst>
                <a:ext uri="{FF2B5EF4-FFF2-40B4-BE49-F238E27FC236}">
                  <a16:creationId xmlns:a16="http://schemas.microsoft.com/office/drawing/2014/main" id="{B127B774-BBDB-844B-9FDB-AFB31AC4A39F}"/>
                </a:ext>
              </a:extLst>
            </p:cNvPr>
            <p:cNvCxnSpPr>
              <a:cxnSpLocks/>
            </p:cNvCxnSpPr>
            <p:nvPr/>
          </p:nvCxnSpPr>
          <p:spPr>
            <a:xfrm>
              <a:off x="8565265" y="5000264"/>
              <a:ext cx="68290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7F3C6B55-B326-044B-8E06-D5159D43754E}"/>
              </a:ext>
            </a:extLst>
          </p:cNvPr>
          <p:cNvGrpSpPr/>
          <p:nvPr/>
        </p:nvGrpSpPr>
        <p:grpSpPr>
          <a:xfrm>
            <a:off x="8877782" y="5197032"/>
            <a:ext cx="2372811" cy="1260926"/>
            <a:chOff x="8877782" y="5197032"/>
            <a:chExt cx="2372811" cy="1260926"/>
          </a:xfrm>
        </p:grpSpPr>
        <p:sp>
          <p:nvSpPr>
            <p:cNvPr id="333" name="TextBox 332">
              <a:extLst>
                <a:ext uri="{FF2B5EF4-FFF2-40B4-BE49-F238E27FC236}">
                  <a16:creationId xmlns:a16="http://schemas.microsoft.com/office/drawing/2014/main" id="{C09FF997-745F-784E-9A60-C291F499E8CB}"/>
                </a:ext>
              </a:extLst>
            </p:cNvPr>
            <p:cNvSpPr txBox="1"/>
            <p:nvPr/>
          </p:nvSpPr>
          <p:spPr>
            <a:xfrm>
              <a:off x="9215379" y="5534628"/>
              <a:ext cx="2035214" cy="923330"/>
            </a:xfrm>
            <a:prstGeom prst="rect">
              <a:avLst/>
            </a:prstGeom>
            <a:noFill/>
          </p:spPr>
          <p:txBody>
            <a:bodyPr wrap="square" rtlCol="0">
              <a:spAutoFit/>
            </a:bodyPr>
            <a:lstStyle/>
            <a:p>
              <a:r>
                <a:rPr lang="en-US" dirty="0">
                  <a:solidFill>
                    <a:prstClr val="black"/>
                  </a:solidFill>
                </a:rPr>
                <a:t>route from u to all other destinations via </a:t>
              </a:r>
              <a:r>
                <a:rPr lang="en-US" i="1" dirty="0">
                  <a:solidFill>
                    <a:prstClr val="black"/>
                  </a:solidFill>
                </a:rPr>
                <a:t>x</a:t>
              </a:r>
              <a:r>
                <a:rPr lang="en-US" dirty="0">
                  <a:solidFill>
                    <a:prstClr val="black"/>
                  </a:solidFill>
                </a:rPr>
                <a:t> </a:t>
              </a:r>
            </a:p>
          </p:txBody>
        </p:sp>
        <p:sp>
          <p:nvSpPr>
            <p:cNvPr id="30" name="Right Brace 29">
              <a:extLst>
                <a:ext uri="{FF2B5EF4-FFF2-40B4-BE49-F238E27FC236}">
                  <a16:creationId xmlns:a16="http://schemas.microsoft.com/office/drawing/2014/main" id="{68ADB3E5-D636-BB44-86FA-BBB701733A10}"/>
                </a:ext>
              </a:extLst>
            </p:cNvPr>
            <p:cNvSpPr/>
            <p:nvPr/>
          </p:nvSpPr>
          <p:spPr>
            <a:xfrm>
              <a:off x="8877782" y="5197032"/>
              <a:ext cx="352218" cy="1238491"/>
            </a:xfrm>
            <a:prstGeom prst="rightBrace">
              <a:avLst/>
            </a:prstGeom>
            <a:ln w="127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solidFill>
                  <a:prstClr val="black"/>
                </a:solidFill>
              </a:endParaRPr>
            </a:p>
          </p:txBody>
        </p:sp>
      </p:grpSp>
    </p:spTree>
    <p:extLst>
      <p:ext uri="{BB962C8B-B14F-4D97-AF65-F5344CB8AC3E}">
        <p14:creationId xmlns:p14="http://schemas.microsoft.com/office/powerpoint/2010/main" val="3946043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ssolve">
                                      <p:cBhvr>
                                        <p:cTn id="12" dur="5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dissolve">
                                      <p:cBhvr>
                                        <p:cTn id="1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another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47</a:t>
            </a:fld>
            <a:endParaRPr lang="en-US" dirty="0">
              <a:solidFill>
                <a:prstClr val="white">
                  <a:lumMod val="50000"/>
                </a:prstClr>
              </a:solidFill>
            </a:endParaRPr>
          </a:p>
        </p:txBody>
      </p:sp>
      <p:grpSp>
        <p:nvGrpSpPr>
          <p:cNvPr id="276" name="Group 2">
            <a:extLst>
              <a:ext uri="{FF2B5EF4-FFF2-40B4-BE49-F238E27FC236}">
                <a16:creationId xmlns:a16="http://schemas.microsoft.com/office/drawing/2014/main" id="{32F1096F-92AF-264C-9891-4B2131A1535A}"/>
              </a:ext>
            </a:extLst>
          </p:cNvPr>
          <p:cNvGrpSpPr>
            <a:grpSpLocks/>
          </p:cNvGrpSpPr>
          <p:nvPr/>
        </p:nvGrpSpPr>
        <p:grpSpPr bwMode="auto">
          <a:xfrm>
            <a:off x="7267328" y="1497821"/>
            <a:ext cx="4217987" cy="3364357"/>
            <a:chOff x="415" y="856"/>
            <a:chExt cx="2910" cy="2258"/>
          </a:xfrm>
        </p:grpSpPr>
        <p:grpSp>
          <p:nvGrpSpPr>
            <p:cNvPr id="277" name="Group 3">
              <a:extLst>
                <a:ext uri="{FF2B5EF4-FFF2-40B4-BE49-F238E27FC236}">
                  <a16:creationId xmlns:a16="http://schemas.microsoft.com/office/drawing/2014/main" id="{658BC70D-BFE1-3445-B630-7B3A4A79644E}"/>
                </a:ext>
              </a:extLst>
            </p:cNvPr>
            <p:cNvGrpSpPr>
              <a:grpSpLocks/>
            </p:cNvGrpSpPr>
            <p:nvPr/>
          </p:nvGrpSpPr>
          <p:grpSpPr bwMode="auto">
            <a:xfrm>
              <a:off x="1290" y="1997"/>
              <a:ext cx="316" cy="267"/>
              <a:chOff x="1613" y="2011"/>
              <a:chExt cx="316" cy="267"/>
            </a:xfrm>
          </p:grpSpPr>
          <p:sp>
            <p:nvSpPr>
              <p:cNvPr id="339" name="Oval 4">
                <a:extLst>
                  <a:ext uri="{FF2B5EF4-FFF2-40B4-BE49-F238E27FC236}">
                    <a16:creationId xmlns:a16="http://schemas.microsoft.com/office/drawing/2014/main" id="{12B70928-94ED-274E-B17E-6E7CC5A85CBE}"/>
                  </a:ext>
                </a:extLst>
              </p:cNvPr>
              <p:cNvSpPr>
                <a:spLocks noChangeArrowheads="1"/>
              </p:cNvSpPr>
              <p:nvPr/>
            </p:nvSpPr>
            <p:spPr bwMode="auto">
              <a:xfrm>
                <a:off x="1616" y="2138"/>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0" name="Line 5">
                <a:extLst>
                  <a:ext uri="{FF2B5EF4-FFF2-40B4-BE49-F238E27FC236}">
                    <a16:creationId xmlns:a16="http://schemas.microsoft.com/office/drawing/2014/main" id="{724BACA0-C784-AA40-8F39-24AD77537946}"/>
                  </a:ext>
                </a:extLst>
              </p:cNvPr>
              <p:cNvSpPr>
                <a:spLocks noChangeShapeType="1"/>
              </p:cNvSpPr>
              <p:nvPr/>
            </p:nvSpPr>
            <p:spPr bwMode="auto">
              <a:xfrm>
                <a:off x="1616" y="212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60ABD3DF-926A-F240-941E-16F8EC7F87C1}"/>
                  </a:ext>
                </a:extLst>
              </p:cNvPr>
              <p:cNvSpPr>
                <a:spLocks noChangeShapeType="1"/>
              </p:cNvSpPr>
              <p:nvPr/>
            </p:nvSpPr>
            <p:spPr bwMode="auto">
              <a:xfrm>
                <a:off x="1929" y="212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2" name="Rectangle 7">
                <a:extLst>
                  <a:ext uri="{FF2B5EF4-FFF2-40B4-BE49-F238E27FC236}">
                    <a16:creationId xmlns:a16="http://schemas.microsoft.com/office/drawing/2014/main" id="{422D10D2-9AFE-1242-8892-1E7B20AE2262}"/>
                  </a:ext>
                </a:extLst>
              </p:cNvPr>
              <p:cNvSpPr>
                <a:spLocks noChangeArrowheads="1"/>
              </p:cNvSpPr>
              <p:nvPr/>
            </p:nvSpPr>
            <p:spPr bwMode="auto">
              <a:xfrm>
                <a:off x="1616" y="2129"/>
                <a:ext cx="308"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43" name="Oval 8">
                <a:extLst>
                  <a:ext uri="{FF2B5EF4-FFF2-40B4-BE49-F238E27FC236}">
                    <a16:creationId xmlns:a16="http://schemas.microsoft.com/office/drawing/2014/main" id="{A63B1AAC-711F-694A-BF58-5189313DB89E}"/>
                  </a:ext>
                </a:extLst>
              </p:cNvPr>
              <p:cNvSpPr>
                <a:spLocks noChangeArrowheads="1"/>
              </p:cNvSpPr>
              <p:nvPr/>
            </p:nvSpPr>
            <p:spPr bwMode="auto">
              <a:xfrm>
                <a:off x="1613" y="2072"/>
                <a:ext cx="311"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4" name="Rectangle 9">
                <a:extLst>
                  <a:ext uri="{FF2B5EF4-FFF2-40B4-BE49-F238E27FC236}">
                    <a16:creationId xmlns:a16="http://schemas.microsoft.com/office/drawing/2014/main" id="{C458B676-20F1-6E43-A811-83BAEA22C33B}"/>
                  </a:ext>
                </a:extLst>
              </p:cNvPr>
              <p:cNvSpPr>
                <a:spLocks noChangeArrowheads="1"/>
              </p:cNvSpPr>
              <p:nvPr/>
            </p:nvSpPr>
            <p:spPr bwMode="auto">
              <a:xfrm>
                <a:off x="1686" y="2100"/>
                <a:ext cx="140" cy="105"/>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5" name="Text Box 10">
                <a:extLst>
                  <a:ext uri="{FF2B5EF4-FFF2-40B4-BE49-F238E27FC236}">
                    <a16:creationId xmlns:a16="http://schemas.microsoft.com/office/drawing/2014/main" id="{484CB1B7-C628-9F42-990E-9F7B96F34448}"/>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sp>
          <p:nvSpPr>
            <p:cNvPr id="278" name="Text Box 11">
              <a:extLst>
                <a:ext uri="{FF2B5EF4-FFF2-40B4-BE49-F238E27FC236}">
                  <a16:creationId xmlns:a16="http://schemas.microsoft.com/office/drawing/2014/main" id="{2C66EC07-AF51-8046-9F06-245C35A6BAEF}"/>
                </a:ext>
              </a:extLst>
            </p:cNvPr>
            <p:cNvSpPr txBox="1">
              <a:spLocks noChangeArrowheads="1"/>
            </p:cNvSpPr>
            <p:nvPr/>
          </p:nvSpPr>
          <p:spPr bwMode="auto">
            <a:xfrm>
              <a:off x="925" y="1959"/>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279" name="Text Box 12">
              <a:extLst>
                <a:ext uri="{FF2B5EF4-FFF2-40B4-BE49-F238E27FC236}">
                  <a16:creationId xmlns:a16="http://schemas.microsoft.com/office/drawing/2014/main" id="{FD2DA6DD-F18F-9646-A088-CBDDFC29893E}"/>
                </a:ext>
              </a:extLst>
            </p:cNvPr>
            <p:cNvSpPr txBox="1">
              <a:spLocks noChangeArrowheads="1"/>
            </p:cNvSpPr>
            <p:nvPr/>
          </p:nvSpPr>
          <p:spPr bwMode="auto">
            <a:xfrm>
              <a:off x="1430" y="1478"/>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4</a:t>
              </a:r>
              <a:endParaRPr lang="en-US" kern="0" dirty="0">
                <a:solidFill>
                  <a:srgbClr val="000000"/>
                </a:solidFill>
              </a:endParaRPr>
            </a:p>
          </p:txBody>
        </p:sp>
        <p:grpSp>
          <p:nvGrpSpPr>
            <p:cNvPr id="280" name="Group 13">
              <a:extLst>
                <a:ext uri="{FF2B5EF4-FFF2-40B4-BE49-F238E27FC236}">
                  <a16:creationId xmlns:a16="http://schemas.microsoft.com/office/drawing/2014/main" id="{471A1164-4650-7144-A6A9-CC01236964B8}"/>
                </a:ext>
              </a:extLst>
            </p:cNvPr>
            <p:cNvGrpSpPr>
              <a:grpSpLocks/>
            </p:cNvGrpSpPr>
            <p:nvPr/>
          </p:nvGrpSpPr>
          <p:grpSpPr bwMode="auto">
            <a:xfrm>
              <a:off x="1299" y="2848"/>
              <a:ext cx="316" cy="266"/>
              <a:chOff x="1613" y="2011"/>
              <a:chExt cx="316" cy="266"/>
            </a:xfrm>
          </p:grpSpPr>
          <p:sp>
            <p:nvSpPr>
              <p:cNvPr id="332" name="Oval 14">
                <a:extLst>
                  <a:ext uri="{FF2B5EF4-FFF2-40B4-BE49-F238E27FC236}">
                    <a16:creationId xmlns:a16="http://schemas.microsoft.com/office/drawing/2014/main" id="{80A336F3-1162-5342-AC4A-8B2AED4E9173}"/>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3" name="Line 15">
                <a:extLst>
                  <a:ext uri="{FF2B5EF4-FFF2-40B4-BE49-F238E27FC236}">
                    <a16:creationId xmlns:a16="http://schemas.microsoft.com/office/drawing/2014/main" id="{9FF9E86E-2F60-184C-8322-81DAB6CC7920}"/>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4" name="Line 16">
                <a:extLst>
                  <a:ext uri="{FF2B5EF4-FFF2-40B4-BE49-F238E27FC236}">
                    <a16:creationId xmlns:a16="http://schemas.microsoft.com/office/drawing/2014/main" id="{139291DA-0B23-AF4A-80E1-C5AB8C8D5486}"/>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5" name="Rectangle 17">
                <a:extLst>
                  <a:ext uri="{FF2B5EF4-FFF2-40B4-BE49-F238E27FC236}">
                    <a16:creationId xmlns:a16="http://schemas.microsoft.com/office/drawing/2014/main" id="{DCCEEA9D-E3E7-3E47-B22F-9936B2939769}"/>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36" name="Oval 18">
                <a:extLst>
                  <a:ext uri="{FF2B5EF4-FFF2-40B4-BE49-F238E27FC236}">
                    <a16:creationId xmlns:a16="http://schemas.microsoft.com/office/drawing/2014/main" id="{BC673A69-9F19-6E48-B78B-300E678AB93C}"/>
                  </a:ext>
                </a:extLst>
              </p:cNvPr>
              <p:cNvSpPr>
                <a:spLocks noChangeArrowheads="1"/>
              </p:cNvSpPr>
              <p:nvPr/>
            </p:nvSpPr>
            <p:spPr bwMode="auto">
              <a:xfrm>
                <a:off x="1613" y="2072"/>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7" name="Rectangle 19">
                <a:extLst>
                  <a:ext uri="{FF2B5EF4-FFF2-40B4-BE49-F238E27FC236}">
                    <a16:creationId xmlns:a16="http://schemas.microsoft.com/office/drawing/2014/main" id="{9CB54AFD-33DB-F34A-A696-9C14C1F2BC23}"/>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8" name="Text Box 20">
                <a:extLst>
                  <a:ext uri="{FF2B5EF4-FFF2-40B4-BE49-F238E27FC236}">
                    <a16:creationId xmlns:a16="http://schemas.microsoft.com/office/drawing/2014/main" id="{AC845383-9D3E-5C42-BB6B-3E65197E8A69}"/>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281" name="Group 21">
              <a:extLst>
                <a:ext uri="{FF2B5EF4-FFF2-40B4-BE49-F238E27FC236}">
                  <a16:creationId xmlns:a16="http://schemas.microsoft.com/office/drawing/2014/main" id="{BA8E377E-CA1A-ED4B-BF90-295028D96A71}"/>
                </a:ext>
              </a:extLst>
            </p:cNvPr>
            <p:cNvGrpSpPr>
              <a:grpSpLocks/>
            </p:cNvGrpSpPr>
            <p:nvPr/>
          </p:nvGrpSpPr>
          <p:grpSpPr bwMode="auto">
            <a:xfrm>
              <a:off x="1295" y="856"/>
              <a:ext cx="316" cy="266"/>
              <a:chOff x="1613" y="2011"/>
              <a:chExt cx="316" cy="266"/>
            </a:xfrm>
          </p:grpSpPr>
          <p:sp>
            <p:nvSpPr>
              <p:cNvPr id="325" name="Oval 22">
                <a:extLst>
                  <a:ext uri="{FF2B5EF4-FFF2-40B4-BE49-F238E27FC236}">
                    <a16:creationId xmlns:a16="http://schemas.microsoft.com/office/drawing/2014/main" id="{BDA57358-5E81-8C48-92CB-61DF13F5077D}"/>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6" name="Line 23">
                <a:extLst>
                  <a:ext uri="{FF2B5EF4-FFF2-40B4-BE49-F238E27FC236}">
                    <a16:creationId xmlns:a16="http://schemas.microsoft.com/office/drawing/2014/main" id="{25B69C18-8DE4-7742-9F14-35A6A889477E}"/>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7" name="Line 24">
                <a:extLst>
                  <a:ext uri="{FF2B5EF4-FFF2-40B4-BE49-F238E27FC236}">
                    <a16:creationId xmlns:a16="http://schemas.microsoft.com/office/drawing/2014/main" id="{6CB89C37-D416-D242-8479-89D57F65205D}"/>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8" name="Rectangle 25">
                <a:extLst>
                  <a:ext uri="{FF2B5EF4-FFF2-40B4-BE49-F238E27FC236}">
                    <a16:creationId xmlns:a16="http://schemas.microsoft.com/office/drawing/2014/main" id="{21DBFB42-3378-4745-AF73-D425CA55A387}"/>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29" name="Oval 26">
                <a:extLst>
                  <a:ext uri="{FF2B5EF4-FFF2-40B4-BE49-F238E27FC236}">
                    <a16:creationId xmlns:a16="http://schemas.microsoft.com/office/drawing/2014/main" id="{447835FA-E0FB-B943-9D6A-5FD52614881A}"/>
                  </a:ext>
                </a:extLst>
              </p:cNvPr>
              <p:cNvSpPr>
                <a:spLocks noChangeArrowheads="1"/>
              </p:cNvSpPr>
              <p:nvPr/>
            </p:nvSpPr>
            <p:spPr bwMode="auto">
              <a:xfrm>
                <a:off x="1611" y="2072"/>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0" name="Rectangle 27">
                <a:extLst>
                  <a:ext uri="{FF2B5EF4-FFF2-40B4-BE49-F238E27FC236}">
                    <a16:creationId xmlns:a16="http://schemas.microsoft.com/office/drawing/2014/main" id="{07E675A6-015B-7F42-BDF9-8330D4ADC660}"/>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1" name="Text Box 28">
                <a:extLst>
                  <a:ext uri="{FF2B5EF4-FFF2-40B4-BE49-F238E27FC236}">
                    <a16:creationId xmlns:a16="http://schemas.microsoft.com/office/drawing/2014/main" id="{9E12F9CF-21DB-3349-B2C0-3044A3D51B5F}"/>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x</a:t>
                </a:r>
                <a:endParaRPr lang="en-US" kern="0" dirty="0">
                  <a:solidFill>
                    <a:srgbClr val="000000"/>
                  </a:solidFill>
                </a:endParaRPr>
              </a:p>
            </p:txBody>
          </p:sp>
        </p:grpSp>
        <p:grpSp>
          <p:nvGrpSpPr>
            <p:cNvPr id="282" name="Group 29">
              <a:extLst>
                <a:ext uri="{FF2B5EF4-FFF2-40B4-BE49-F238E27FC236}">
                  <a16:creationId xmlns:a16="http://schemas.microsoft.com/office/drawing/2014/main" id="{21FBA163-2A78-6543-B0CC-7CA119F1B6E5}"/>
                </a:ext>
              </a:extLst>
            </p:cNvPr>
            <p:cNvGrpSpPr>
              <a:grpSpLocks/>
            </p:cNvGrpSpPr>
            <p:nvPr/>
          </p:nvGrpSpPr>
          <p:grpSpPr bwMode="auto">
            <a:xfrm>
              <a:off x="415" y="2028"/>
              <a:ext cx="316" cy="267"/>
              <a:chOff x="1613" y="2011"/>
              <a:chExt cx="316" cy="267"/>
            </a:xfrm>
          </p:grpSpPr>
          <p:sp>
            <p:nvSpPr>
              <p:cNvPr id="318" name="Oval 30">
                <a:extLst>
                  <a:ext uri="{FF2B5EF4-FFF2-40B4-BE49-F238E27FC236}">
                    <a16:creationId xmlns:a16="http://schemas.microsoft.com/office/drawing/2014/main" id="{29825365-4AD8-5E4B-8933-DB1422AAA033}"/>
                  </a:ext>
                </a:extLst>
              </p:cNvPr>
              <p:cNvSpPr>
                <a:spLocks noChangeArrowheads="1"/>
              </p:cNvSpPr>
              <p:nvPr/>
            </p:nvSpPr>
            <p:spPr bwMode="auto">
              <a:xfrm>
                <a:off x="1616" y="2138"/>
                <a:ext cx="313" cy="82"/>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9" name="Line 31">
                <a:extLst>
                  <a:ext uri="{FF2B5EF4-FFF2-40B4-BE49-F238E27FC236}">
                    <a16:creationId xmlns:a16="http://schemas.microsoft.com/office/drawing/2014/main" id="{F38B670B-8807-404D-9154-5457C9702221}"/>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0" name="Line 32">
                <a:extLst>
                  <a:ext uri="{FF2B5EF4-FFF2-40B4-BE49-F238E27FC236}">
                    <a16:creationId xmlns:a16="http://schemas.microsoft.com/office/drawing/2014/main" id="{00108054-5F4F-9447-84AE-A11B0755C199}"/>
                  </a:ext>
                </a:extLst>
              </p:cNvPr>
              <p:cNvSpPr>
                <a:spLocks noChangeShapeType="1"/>
              </p:cNvSpPr>
              <p:nvPr/>
            </p:nvSpPr>
            <p:spPr bwMode="auto">
              <a:xfrm>
                <a:off x="1931"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1" name="Rectangle 33">
                <a:extLst>
                  <a:ext uri="{FF2B5EF4-FFF2-40B4-BE49-F238E27FC236}">
                    <a16:creationId xmlns:a16="http://schemas.microsoft.com/office/drawing/2014/main" id="{D048D158-7C67-CC4B-A11E-67C17E0A2401}"/>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22" name="Oval 34">
                <a:extLst>
                  <a:ext uri="{FF2B5EF4-FFF2-40B4-BE49-F238E27FC236}">
                    <a16:creationId xmlns:a16="http://schemas.microsoft.com/office/drawing/2014/main" id="{138D5ABE-A76B-984C-BC94-76AC43F40B59}"/>
                  </a:ext>
                </a:extLst>
              </p:cNvPr>
              <p:cNvSpPr>
                <a:spLocks noChangeArrowheads="1"/>
              </p:cNvSpPr>
              <p:nvPr/>
            </p:nvSpPr>
            <p:spPr bwMode="auto">
              <a:xfrm>
                <a:off x="1613" y="2072"/>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3" name="Rectangle 35">
                <a:extLst>
                  <a:ext uri="{FF2B5EF4-FFF2-40B4-BE49-F238E27FC236}">
                    <a16:creationId xmlns:a16="http://schemas.microsoft.com/office/drawing/2014/main" id="{A4BA8382-8E98-814C-B112-88E0250B6E6C}"/>
                  </a:ext>
                </a:extLst>
              </p:cNvPr>
              <p:cNvSpPr>
                <a:spLocks noChangeArrowheads="1"/>
              </p:cNvSpPr>
              <p:nvPr/>
            </p:nvSpPr>
            <p:spPr bwMode="auto">
              <a:xfrm>
                <a:off x="1687" y="2102"/>
                <a:ext cx="141" cy="10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4" name="Text Box 36">
                <a:extLst>
                  <a:ext uri="{FF2B5EF4-FFF2-40B4-BE49-F238E27FC236}">
                    <a16:creationId xmlns:a16="http://schemas.microsoft.com/office/drawing/2014/main" id="{C430FDFB-B840-284A-B1DA-B79B4376897B}"/>
                  </a:ext>
                </a:extLst>
              </p:cNvPr>
              <p:cNvSpPr txBox="1">
                <a:spLocks noChangeArrowheads="1"/>
              </p:cNvSpPr>
              <p:nvPr/>
            </p:nvSpPr>
            <p:spPr bwMode="auto">
              <a:xfrm>
                <a:off x="1648" y="2011"/>
                <a:ext cx="22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sp>
          <p:nvSpPr>
            <p:cNvPr id="283" name="Line 37">
              <a:extLst>
                <a:ext uri="{FF2B5EF4-FFF2-40B4-BE49-F238E27FC236}">
                  <a16:creationId xmlns:a16="http://schemas.microsoft.com/office/drawing/2014/main" id="{808D4F56-0160-9841-BF84-39B90D2E1D66}"/>
                </a:ext>
              </a:extLst>
            </p:cNvPr>
            <p:cNvSpPr>
              <a:spLocks noChangeShapeType="1"/>
            </p:cNvSpPr>
            <p:nvPr/>
          </p:nvSpPr>
          <p:spPr bwMode="auto">
            <a:xfrm>
              <a:off x="738" y="2156"/>
              <a:ext cx="63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4" name="Line 38">
              <a:extLst>
                <a:ext uri="{FF2B5EF4-FFF2-40B4-BE49-F238E27FC236}">
                  <a16:creationId xmlns:a16="http://schemas.microsoft.com/office/drawing/2014/main" id="{7AFA0E43-6979-C944-8C7A-BFE8A232B3D5}"/>
                </a:ext>
              </a:extLst>
            </p:cNvPr>
            <p:cNvSpPr>
              <a:spLocks noChangeShapeType="1"/>
            </p:cNvSpPr>
            <p:nvPr/>
          </p:nvSpPr>
          <p:spPr bwMode="auto">
            <a:xfrm>
              <a:off x="1440" y="1082"/>
              <a:ext cx="0" cy="9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5" name="Line 39">
              <a:extLst>
                <a:ext uri="{FF2B5EF4-FFF2-40B4-BE49-F238E27FC236}">
                  <a16:creationId xmlns:a16="http://schemas.microsoft.com/office/drawing/2014/main" id="{8B831959-D369-6E45-8A3C-8760AE9252DD}"/>
                </a:ext>
              </a:extLst>
            </p:cNvPr>
            <p:cNvSpPr>
              <a:spLocks noChangeShapeType="1"/>
            </p:cNvSpPr>
            <p:nvPr/>
          </p:nvSpPr>
          <p:spPr bwMode="auto">
            <a:xfrm flipH="1">
              <a:off x="614" y="1021"/>
              <a:ext cx="674" cy="10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6" name="Text Box 40">
              <a:extLst>
                <a:ext uri="{FF2B5EF4-FFF2-40B4-BE49-F238E27FC236}">
                  <a16:creationId xmlns:a16="http://schemas.microsoft.com/office/drawing/2014/main" id="{4F3E9232-C703-104F-A4AB-12CF1F98134C}"/>
                </a:ext>
              </a:extLst>
            </p:cNvPr>
            <p:cNvSpPr txBox="1">
              <a:spLocks noChangeArrowheads="1"/>
            </p:cNvSpPr>
            <p:nvPr/>
          </p:nvSpPr>
          <p:spPr bwMode="auto">
            <a:xfrm>
              <a:off x="772" y="1368"/>
              <a:ext cx="215"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287" name="Line 41">
              <a:extLst>
                <a:ext uri="{FF2B5EF4-FFF2-40B4-BE49-F238E27FC236}">
                  <a16:creationId xmlns:a16="http://schemas.microsoft.com/office/drawing/2014/main" id="{5BC1DD56-6FD0-6A4A-8705-9C46BE3DC573}"/>
                </a:ext>
              </a:extLst>
            </p:cNvPr>
            <p:cNvSpPr>
              <a:spLocks noChangeShapeType="1"/>
            </p:cNvSpPr>
            <p:nvPr/>
          </p:nvSpPr>
          <p:spPr bwMode="auto">
            <a:xfrm>
              <a:off x="1447" y="2206"/>
              <a:ext cx="9" cy="7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8" name="Text Box 42">
              <a:extLst>
                <a:ext uri="{FF2B5EF4-FFF2-40B4-BE49-F238E27FC236}">
                  <a16:creationId xmlns:a16="http://schemas.microsoft.com/office/drawing/2014/main" id="{8B65710B-4630-3345-85EB-E3A08BF77DBC}"/>
                </a:ext>
              </a:extLst>
            </p:cNvPr>
            <p:cNvSpPr txBox="1">
              <a:spLocks noChangeArrowheads="1"/>
            </p:cNvSpPr>
            <p:nvPr/>
          </p:nvSpPr>
          <p:spPr bwMode="auto">
            <a:xfrm>
              <a:off x="1454" y="2407"/>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289" name="Freeform 43">
              <a:extLst>
                <a:ext uri="{FF2B5EF4-FFF2-40B4-BE49-F238E27FC236}">
                  <a16:creationId xmlns:a16="http://schemas.microsoft.com/office/drawing/2014/main" id="{1DA37895-BEA5-2F44-B0FB-06B2F676B163}"/>
                </a:ext>
              </a:extLst>
            </p:cNvPr>
            <p:cNvSpPr>
              <a:spLocks/>
            </p:cNvSpPr>
            <p:nvPr/>
          </p:nvSpPr>
          <p:spPr bwMode="auto">
            <a:xfrm>
              <a:off x="601" y="2227"/>
              <a:ext cx="860" cy="799"/>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0" name="Text Box 44">
              <a:extLst>
                <a:ext uri="{FF2B5EF4-FFF2-40B4-BE49-F238E27FC236}">
                  <a16:creationId xmlns:a16="http://schemas.microsoft.com/office/drawing/2014/main" id="{14130176-E966-1940-B020-47161106B123}"/>
                </a:ext>
              </a:extLst>
            </p:cNvPr>
            <p:cNvSpPr txBox="1">
              <a:spLocks noChangeArrowheads="1"/>
            </p:cNvSpPr>
            <p:nvPr/>
          </p:nvSpPr>
          <p:spPr bwMode="auto">
            <a:xfrm>
              <a:off x="768" y="2582"/>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7</a:t>
              </a:r>
              <a:endParaRPr lang="en-US" kern="0" dirty="0">
                <a:solidFill>
                  <a:srgbClr val="000000"/>
                </a:solidFill>
              </a:endParaRPr>
            </a:p>
          </p:txBody>
        </p:sp>
        <p:sp>
          <p:nvSpPr>
            <p:cNvPr id="291" name="Line 45">
              <a:extLst>
                <a:ext uri="{FF2B5EF4-FFF2-40B4-BE49-F238E27FC236}">
                  <a16:creationId xmlns:a16="http://schemas.microsoft.com/office/drawing/2014/main" id="{5FA533BD-9B17-724F-B020-409CFC3CE356}"/>
                </a:ext>
              </a:extLst>
            </p:cNvPr>
            <p:cNvSpPr>
              <a:spLocks noChangeShapeType="1"/>
            </p:cNvSpPr>
            <p:nvPr/>
          </p:nvSpPr>
          <p:spPr bwMode="auto">
            <a:xfrm flipH="1">
              <a:off x="1450" y="2158"/>
              <a:ext cx="998" cy="8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2" name="Text Box 46">
              <a:extLst>
                <a:ext uri="{FF2B5EF4-FFF2-40B4-BE49-F238E27FC236}">
                  <a16:creationId xmlns:a16="http://schemas.microsoft.com/office/drawing/2014/main" id="{4B9E6712-F2E9-6348-B7CF-9CEC9EE3D668}"/>
                </a:ext>
              </a:extLst>
            </p:cNvPr>
            <p:cNvSpPr txBox="1">
              <a:spLocks noChangeArrowheads="1"/>
            </p:cNvSpPr>
            <p:nvPr/>
          </p:nvSpPr>
          <p:spPr bwMode="auto">
            <a:xfrm>
              <a:off x="1896" y="2569"/>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4</a:t>
              </a:r>
              <a:endParaRPr lang="en-US" kern="0" dirty="0">
                <a:solidFill>
                  <a:srgbClr val="000000"/>
                </a:solidFill>
              </a:endParaRPr>
            </a:p>
          </p:txBody>
        </p:sp>
        <p:sp>
          <p:nvSpPr>
            <p:cNvPr id="293" name="Freeform 47">
              <a:extLst>
                <a:ext uri="{FF2B5EF4-FFF2-40B4-BE49-F238E27FC236}">
                  <a16:creationId xmlns:a16="http://schemas.microsoft.com/office/drawing/2014/main" id="{61A0A93C-B128-F646-84CC-2F72C42DF74E}"/>
                </a:ext>
              </a:extLst>
            </p:cNvPr>
            <p:cNvSpPr>
              <a:spLocks/>
            </p:cNvSpPr>
            <p:nvPr/>
          </p:nvSpPr>
          <p:spPr bwMode="auto">
            <a:xfrm>
              <a:off x="1477" y="1946"/>
              <a:ext cx="991" cy="484"/>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94" name="Group 48">
              <a:extLst>
                <a:ext uri="{FF2B5EF4-FFF2-40B4-BE49-F238E27FC236}">
                  <a16:creationId xmlns:a16="http://schemas.microsoft.com/office/drawing/2014/main" id="{B7C23859-55BB-9B44-ADBB-F78119E7BD0E}"/>
                </a:ext>
              </a:extLst>
            </p:cNvPr>
            <p:cNvGrpSpPr>
              <a:grpSpLocks/>
            </p:cNvGrpSpPr>
            <p:nvPr/>
          </p:nvGrpSpPr>
          <p:grpSpPr bwMode="auto">
            <a:xfrm>
              <a:off x="2332" y="2021"/>
              <a:ext cx="316" cy="266"/>
              <a:chOff x="1613" y="2011"/>
              <a:chExt cx="316" cy="266"/>
            </a:xfrm>
          </p:grpSpPr>
          <p:sp>
            <p:nvSpPr>
              <p:cNvPr id="311" name="Oval 49">
                <a:extLst>
                  <a:ext uri="{FF2B5EF4-FFF2-40B4-BE49-F238E27FC236}">
                    <a16:creationId xmlns:a16="http://schemas.microsoft.com/office/drawing/2014/main" id="{949CF37C-265E-D64E-B325-9AB7E8C2748C}"/>
                  </a:ext>
                </a:extLst>
              </p:cNvPr>
              <p:cNvSpPr>
                <a:spLocks noChangeArrowheads="1"/>
              </p:cNvSpPr>
              <p:nvPr/>
            </p:nvSpPr>
            <p:spPr bwMode="auto">
              <a:xfrm>
                <a:off x="1616" y="2136"/>
                <a:ext cx="313" cy="82"/>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2" name="Line 50">
                <a:extLst>
                  <a:ext uri="{FF2B5EF4-FFF2-40B4-BE49-F238E27FC236}">
                    <a16:creationId xmlns:a16="http://schemas.microsoft.com/office/drawing/2014/main" id="{97FEF3EE-7C25-6444-B8E7-03C400A28A6B}"/>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3" name="Line 51">
                <a:extLst>
                  <a:ext uri="{FF2B5EF4-FFF2-40B4-BE49-F238E27FC236}">
                    <a16:creationId xmlns:a16="http://schemas.microsoft.com/office/drawing/2014/main" id="{FE3C484F-0565-0E43-B670-DA87C89A2B77}"/>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4" name="Rectangle 52">
                <a:extLst>
                  <a:ext uri="{FF2B5EF4-FFF2-40B4-BE49-F238E27FC236}">
                    <a16:creationId xmlns:a16="http://schemas.microsoft.com/office/drawing/2014/main" id="{03D9537A-3264-0D40-B097-904F1967094C}"/>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15" name="Oval 53">
                <a:extLst>
                  <a:ext uri="{FF2B5EF4-FFF2-40B4-BE49-F238E27FC236}">
                    <a16:creationId xmlns:a16="http://schemas.microsoft.com/office/drawing/2014/main" id="{39EFFB9B-60D2-6F4A-AE7C-381CD9E03BDB}"/>
                  </a:ext>
                </a:extLst>
              </p:cNvPr>
              <p:cNvSpPr>
                <a:spLocks noChangeArrowheads="1"/>
              </p:cNvSpPr>
              <p:nvPr/>
            </p:nvSpPr>
            <p:spPr bwMode="auto">
              <a:xfrm>
                <a:off x="1613" y="2070"/>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6" name="Rectangle 54">
                <a:extLst>
                  <a:ext uri="{FF2B5EF4-FFF2-40B4-BE49-F238E27FC236}">
                    <a16:creationId xmlns:a16="http://schemas.microsoft.com/office/drawing/2014/main" id="{56D1F98E-84A8-024C-B33E-AF0196C29288}"/>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7" name="Text Box 55">
                <a:extLst>
                  <a:ext uri="{FF2B5EF4-FFF2-40B4-BE49-F238E27FC236}">
                    <a16:creationId xmlns:a16="http://schemas.microsoft.com/office/drawing/2014/main" id="{FF2D3BFC-D492-494B-B3FC-F2B37848F7ED}"/>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sp>
          <p:nvSpPr>
            <p:cNvPr id="295" name="Text Box 56">
              <a:extLst>
                <a:ext uri="{FF2B5EF4-FFF2-40B4-BE49-F238E27FC236}">
                  <a16:creationId xmlns:a16="http://schemas.microsoft.com/office/drawing/2014/main" id="{B415EC29-BD23-5146-8BE4-412D2D3F3844}"/>
                </a:ext>
              </a:extLst>
            </p:cNvPr>
            <p:cNvSpPr txBox="1">
              <a:spLocks noChangeArrowheads="1"/>
            </p:cNvSpPr>
            <p:nvPr/>
          </p:nvSpPr>
          <p:spPr bwMode="auto">
            <a:xfrm>
              <a:off x="1814" y="1721"/>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8</a:t>
              </a:r>
              <a:endParaRPr lang="en-US" kern="0" dirty="0">
                <a:solidFill>
                  <a:srgbClr val="000000"/>
                </a:solidFill>
              </a:endParaRPr>
            </a:p>
          </p:txBody>
        </p:sp>
        <p:grpSp>
          <p:nvGrpSpPr>
            <p:cNvPr id="296" name="Group 57">
              <a:extLst>
                <a:ext uri="{FF2B5EF4-FFF2-40B4-BE49-F238E27FC236}">
                  <a16:creationId xmlns:a16="http://schemas.microsoft.com/office/drawing/2014/main" id="{C4202DE4-8110-9149-847A-09872B32E92F}"/>
                </a:ext>
              </a:extLst>
            </p:cNvPr>
            <p:cNvGrpSpPr>
              <a:grpSpLocks/>
            </p:cNvGrpSpPr>
            <p:nvPr/>
          </p:nvGrpSpPr>
          <p:grpSpPr bwMode="auto">
            <a:xfrm>
              <a:off x="3009" y="2002"/>
              <a:ext cx="316" cy="266"/>
              <a:chOff x="1613" y="2011"/>
              <a:chExt cx="316" cy="266"/>
            </a:xfrm>
          </p:grpSpPr>
          <p:sp>
            <p:nvSpPr>
              <p:cNvPr id="304" name="Oval 58">
                <a:extLst>
                  <a:ext uri="{FF2B5EF4-FFF2-40B4-BE49-F238E27FC236}">
                    <a16:creationId xmlns:a16="http://schemas.microsoft.com/office/drawing/2014/main" id="{9EF75287-5339-3F4B-9A63-10529CE67B12}"/>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5" name="Line 59">
                <a:extLst>
                  <a:ext uri="{FF2B5EF4-FFF2-40B4-BE49-F238E27FC236}">
                    <a16:creationId xmlns:a16="http://schemas.microsoft.com/office/drawing/2014/main" id="{2AB637C9-6517-4947-A07D-D630784FBAE7}"/>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6" name="Line 60">
                <a:extLst>
                  <a:ext uri="{FF2B5EF4-FFF2-40B4-BE49-F238E27FC236}">
                    <a16:creationId xmlns:a16="http://schemas.microsoft.com/office/drawing/2014/main" id="{2495A212-75B8-3943-99C1-206BECF8DEE4}"/>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7" name="Rectangle 61">
                <a:extLst>
                  <a:ext uri="{FF2B5EF4-FFF2-40B4-BE49-F238E27FC236}">
                    <a16:creationId xmlns:a16="http://schemas.microsoft.com/office/drawing/2014/main" id="{8AA8B627-1CEC-4142-A0A3-32829E047EC1}"/>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08" name="Oval 62">
                <a:extLst>
                  <a:ext uri="{FF2B5EF4-FFF2-40B4-BE49-F238E27FC236}">
                    <a16:creationId xmlns:a16="http://schemas.microsoft.com/office/drawing/2014/main" id="{F2AD727A-865F-A446-B467-3543A7C5AD51}"/>
                  </a:ext>
                </a:extLst>
              </p:cNvPr>
              <p:cNvSpPr>
                <a:spLocks noChangeArrowheads="1"/>
              </p:cNvSpPr>
              <p:nvPr/>
            </p:nvSpPr>
            <p:spPr bwMode="auto">
              <a:xfrm>
                <a:off x="1611" y="2072"/>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9" name="Rectangle 63">
                <a:extLst>
                  <a:ext uri="{FF2B5EF4-FFF2-40B4-BE49-F238E27FC236}">
                    <a16:creationId xmlns:a16="http://schemas.microsoft.com/office/drawing/2014/main" id="{694BCF0D-8965-434E-92FD-E4E57EB0AB5B}"/>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0" name="Text Box 64">
                <a:extLst>
                  <a:ext uri="{FF2B5EF4-FFF2-40B4-BE49-F238E27FC236}">
                    <a16:creationId xmlns:a16="http://schemas.microsoft.com/office/drawing/2014/main" id="{0A90B092-1D02-6E42-B19F-DD4E347FBBB9}"/>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z</a:t>
                </a:r>
                <a:endParaRPr lang="en-US" kern="0" dirty="0">
                  <a:solidFill>
                    <a:srgbClr val="000000"/>
                  </a:solidFill>
                </a:endParaRPr>
              </a:p>
            </p:txBody>
          </p:sp>
        </p:grpSp>
        <p:sp>
          <p:nvSpPr>
            <p:cNvPr id="297" name="Line 65">
              <a:extLst>
                <a:ext uri="{FF2B5EF4-FFF2-40B4-BE49-F238E27FC236}">
                  <a16:creationId xmlns:a16="http://schemas.microsoft.com/office/drawing/2014/main" id="{65E888B4-5F50-3146-B1A9-976CBB4189C3}"/>
                </a:ext>
              </a:extLst>
            </p:cNvPr>
            <p:cNvSpPr>
              <a:spLocks noChangeShapeType="1"/>
            </p:cNvSpPr>
            <p:nvPr/>
          </p:nvSpPr>
          <p:spPr bwMode="auto">
            <a:xfrm>
              <a:off x="2640" y="2149"/>
              <a:ext cx="3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8" name="Text Box 66">
              <a:extLst>
                <a:ext uri="{FF2B5EF4-FFF2-40B4-BE49-F238E27FC236}">
                  <a16:creationId xmlns:a16="http://schemas.microsoft.com/office/drawing/2014/main" id="{F6469025-7017-984A-AA1F-2D5626DC3C4F}"/>
                </a:ext>
              </a:extLst>
            </p:cNvPr>
            <p:cNvSpPr txBox="1">
              <a:spLocks noChangeArrowheads="1"/>
            </p:cNvSpPr>
            <p:nvPr/>
          </p:nvSpPr>
          <p:spPr bwMode="auto">
            <a:xfrm>
              <a:off x="2706" y="2149"/>
              <a:ext cx="215"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299" name="Line 67">
              <a:extLst>
                <a:ext uri="{FF2B5EF4-FFF2-40B4-BE49-F238E27FC236}">
                  <a16:creationId xmlns:a16="http://schemas.microsoft.com/office/drawing/2014/main" id="{9DCC2A67-B231-F242-991B-5F4693B17004}"/>
                </a:ext>
              </a:extLst>
            </p:cNvPr>
            <p:cNvSpPr>
              <a:spLocks noChangeShapeType="1"/>
            </p:cNvSpPr>
            <p:nvPr/>
          </p:nvSpPr>
          <p:spPr bwMode="auto">
            <a:xfrm>
              <a:off x="1503" y="990"/>
              <a:ext cx="965" cy="1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0" name="Text Box 68">
              <a:extLst>
                <a:ext uri="{FF2B5EF4-FFF2-40B4-BE49-F238E27FC236}">
                  <a16:creationId xmlns:a16="http://schemas.microsoft.com/office/drawing/2014/main" id="{8129B7AB-5637-0844-AC15-1A3C9C2955C4}"/>
                </a:ext>
              </a:extLst>
            </p:cNvPr>
            <p:cNvSpPr txBox="1">
              <a:spLocks noChangeArrowheads="1"/>
            </p:cNvSpPr>
            <p:nvPr/>
          </p:nvSpPr>
          <p:spPr bwMode="auto">
            <a:xfrm>
              <a:off x="1919" y="1343"/>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7</a:t>
              </a:r>
              <a:endParaRPr lang="en-US" kern="0" dirty="0">
                <a:solidFill>
                  <a:srgbClr val="000000"/>
                </a:solidFill>
              </a:endParaRPr>
            </a:p>
          </p:txBody>
        </p:sp>
        <p:sp>
          <p:nvSpPr>
            <p:cNvPr id="301" name="Freeform 69">
              <a:extLst>
                <a:ext uri="{FF2B5EF4-FFF2-40B4-BE49-F238E27FC236}">
                  <a16:creationId xmlns:a16="http://schemas.microsoft.com/office/drawing/2014/main" id="{29AAE3EF-0505-6F46-BD2A-6D69115981B9}"/>
                </a:ext>
              </a:extLst>
            </p:cNvPr>
            <p:cNvSpPr>
              <a:spLocks/>
            </p:cNvSpPr>
            <p:nvPr/>
          </p:nvSpPr>
          <p:spPr bwMode="auto">
            <a:xfrm>
              <a:off x="1489" y="976"/>
              <a:ext cx="28" cy="14"/>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rgbClr val="00CC99"/>
            </a:solidFill>
            <a:ln w="9525">
              <a:solidFill>
                <a:srgbClr val="000000"/>
              </a:solidFill>
              <a:round/>
              <a:headEnd/>
              <a:tailEnd/>
            </a:ln>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2" name="Freeform 70">
              <a:extLst>
                <a:ext uri="{FF2B5EF4-FFF2-40B4-BE49-F238E27FC236}">
                  <a16:creationId xmlns:a16="http://schemas.microsoft.com/office/drawing/2014/main" id="{8B2F3D65-7E00-5D45-B201-518DAF552032}"/>
                </a:ext>
              </a:extLst>
            </p:cNvPr>
            <p:cNvSpPr>
              <a:spLocks/>
            </p:cNvSpPr>
            <p:nvPr/>
          </p:nvSpPr>
          <p:spPr bwMode="auto">
            <a:xfrm>
              <a:off x="1623" y="999"/>
              <a:ext cx="1510" cy="1052"/>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3" name="Text Box 71">
              <a:extLst>
                <a:ext uri="{FF2B5EF4-FFF2-40B4-BE49-F238E27FC236}">
                  <a16:creationId xmlns:a16="http://schemas.microsoft.com/office/drawing/2014/main" id="{E68507B9-D09E-784A-9037-01E28A33760D}"/>
                </a:ext>
              </a:extLst>
            </p:cNvPr>
            <p:cNvSpPr txBox="1">
              <a:spLocks noChangeArrowheads="1"/>
            </p:cNvSpPr>
            <p:nvPr/>
          </p:nvSpPr>
          <p:spPr bwMode="auto">
            <a:xfrm>
              <a:off x="2680" y="1008"/>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9</a:t>
              </a:r>
              <a:endParaRPr lang="en-US" kern="0" dirty="0">
                <a:solidFill>
                  <a:srgbClr val="000000"/>
                </a:solidFill>
              </a:endParaRPr>
            </a:p>
          </p:txBody>
        </p:sp>
      </p:grpSp>
      <p:sp>
        <p:nvSpPr>
          <p:cNvPr id="346" name="Text Box 73">
            <a:extLst>
              <a:ext uri="{FF2B5EF4-FFF2-40B4-BE49-F238E27FC236}">
                <a16:creationId xmlns:a16="http://schemas.microsoft.com/office/drawing/2014/main" id="{A7B8CE6F-D2D0-C64A-985C-14A532171BDD}"/>
              </a:ext>
            </a:extLst>
          </p:cNvPr>
          <p:cNvSpPr txBox="1">
            <a:spLocks noChangeArrowheads="1"/>
          </p:cNvSpPr>
          <p:nvPr/>
        </p:nvSpPr>
        <p:spPr bwMode="auto">
          <a:xfrm>
            <a:off x="593232" y="1792545"/>
            <a:ext cx="8179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kern="0" dirty="0">
                <a:solidFill>
                  <a:srgbClr val="000000"/>
                </a:solidFill>
              </a:rPr>
              <a:t>Step</a:t>
            </a:r>
          </a:p>
          <a:p>
            <a:pPr algn="r" eaLnBrk="0" fontAlgn="base" hangingPunct="0">
              <a:spcBef>
                <a:spcPct val="0"/>
              </a:spcBef>
              <a:spcAft>
                <a:spcPct val="0"/>
              </a:spcAft>
              <a:defRPr/>
            </a:pPr>
            <a:endParaRPr lang="en-US" kern="0" dirty="0">
              <a:solidFill>
                <a:srgbClr val="000000"/>
              </a:solidFill>
            </a:endParaRPr>
          </a:p>
        </p:txBody>
      </p:sp>
      <p:sp>
        <p:nvSpPr>
          <p:cNvPr id="347" name="Text Box 74">
            <a:extLst>
              <a:ext uri="{FF2B5EF4-FFF2-40B4-BE49-F238E27FC236}">
                <a16:creationId xmlns:a16="http://schemas.microsoft.com/office/drawing/2014/main" id="{68BAE725-C9B0-4841-BC00-DFE4ABCC81F2}"/>
              </a:ext>
            </a:extLst>
          </p:cNvPr>
          <p:cNvSpPr txBox="1">
            <a:spLocks noChangeArrowheads="1"/>
          </p:cNvSpPr>
          <p:nvPr/>
        </p:nvSpPr>
        <p:spPr bwMode="auto">
          <a:xfrm>
            <a:off x="1661579" y="1793419"/>
            <a:ext cx="4667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i="1" kern="0" dirty="0">
                <a:solidFill>
                  <a:srgbClr val="000000"/>
                </a:solidFill>
              </a:rPr>
              <a:t>N</a:t>
            </a:r>
            <a:r>
              <a:rPr lang="en-US" i="1" kern="0" dirty="0">
                <a:solidFill>
                  <a:srgbClr val="000000"/>
                </a:solidFill>
                <a:cs typeface="Arial" charset="0"/>
              </a:rPr>
              <a:t>'</a:t>
            </a:r>
          </a:p>
        </p:txBody>
      </p:sp>
      <p:sp>
        <p:nvSpPr>
          <p:cNvPr id="348" name="Text Box 75">
            <a:extLst>
              <a:ext uri="{FF2B5EF4-FFF2-40B4-BE49-F238E27FC236}">
                <a16:creationId xmlns:a16="http://schemas.microsoft.com/office/drawing/2014/main" id="{852A35C1-53FD-CB4F-B4CA-0E3908EA55AD}"/>
              </a:ext>
            </a:extLst>
          </p:cNvPr>
          <p:cNvSpPr txBox="1">
            <a:spLocks noChangeArrowheads="1"/>
          </p:cNvSpPr>
          <p:nvPr/>
        </p:nvSpPr>
        <p:spPr bwMode="auto">
          <a:xfrm>
            <a:off x="2373738" y="1644712"/>
            <a:ext cx="64152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v</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p(v)</a:t>
            </a:r>
          </a:p>
        </p:txBody>
      </p:sp>
      <p:sp>
        <p:nvSpPr>
          <p:cNvPr id="349" name="Text Box 76">
            <a:extLst>
              <a:ext uri="{FF2B5EF4-FFF2-40B4-BE49-F238E27FC236}">
                <a16:creationId xmlns:a16="http://schemas.microsoft.com/office/drawing/2014/main" id="{BBDC5F24-2BBB-0D44-B8B8-9CFC425F44D1}"/>
              </a:ext>
            </a:extLst>
          </p:cNvPr>
          <p:cNvSpPr txBox="1">
            <a:spLocks noChangeArrowheads="1"/>
          </p:cNvSpPr>
          <p:nvPr/>
        </p:nvSpPr>
        <p:spPr bwMode="auto">
          <a:xfrm>
            <a:off x="785268" y="22801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0</a:t>
            </a:r>
          </a:p>
        </p:txBody>
      </p:sp>
      <p:sp>
        <p:nvSpPr>
          <p:cNvPr id="350" name="Text Box 77">
            <a:extLst>
              <a:ext uri="{FF2B5EF4-FFF2-40B4-BE49-F238E27FC236}">
                <a16:creationId xmlns:a16="http://schemas.microsoft.com/office/drawing/2014/main" id="{1F8B1E53-4D00-F94A-8B2B-876B773605C7}"/>
              </a:ext>
            </a:extLst>
          </p:cNvPr>
          <p:cNvSpPr txBox="1">
            <a:spLocks noChangeArrowheads="1"/>
          </p:cNvSpPr>
          <p:nvPr/>
        </p:nvSpPr>
        <p:spPr bwMode="auto">
          <a:xfrm>
            <a:off x="770326" y="2715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1</a:t>
            </a:r>
          </a:p>
        </p:txBody>
      </p:sp>
      <p:sp>
        <p:nvSpPr>
          <p:cNvPr id="351" name="Text Box 78">
            <a:extLst>
              <a:ext uri="{FF2B5EF4-FFF2-40B4-BE49-F238E27FC236}">
                <a16:creationId xmlns:a16="http://schemas.microsoft.com/office/drawing/2014/main" id="{E227DF10-F3CE-8B4B-80AA-C13257890D0D}"/>
              </a:ext>
            </a:extLst>
          </p:cNvPr>
          <p:cNvSpPr txBox="1">
            <a:spLocks noChangeArrowheads="1"/>
          </p:cNvSpPr>
          <p:nvPr/>
        </p:nvSpPr>
        <p:spPr bwMode="auto">
          <a:xfrm>
            <a:off x="767972" y="319393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a:t>
            </a:r>
          </a:p>
        </p:txBody>
      </p:sp>
      <p:sp>
        <p:nvSpPr>
          <p:cNvPr id="352" name="Text Box 79">
            <a:extLst>
              <a:ext uri="{FF2B5EF4-FFF2-40B4-BE49-F238E27FC236}">
                <a16:creationId xmlns:a16="http://schemas.microsoft.com/office/drawing/2014/main" id="{58F5B987-DA0B-DE4E-A3DB-E7A0F640D49B}"/>
              </a:ext>
            </a:extLst>
          </p:cNvPr>
          <p:cNvSpPr txBox="1">
            <a:spLocks noChangeArrowheads="1"/>
          </p:cNvSpPr>
          <p:nvPr/>
        </p:nvSpPr>
        <p:spPr bwMode="auto">
          <a:xfrm>
            <a:off x="765563" y="362202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a:t>
            </a:r>
          </a:p>
        </p:txBody>
      </p:sp>
      <p:sp>
        <p:nvSpPr>
          <p:cNvPr id="353" name="Text Box 80">
            <a:extLst>
              <a:ext uri="{FF2B5EF4-FFF2-40B4-BE49-F238E27FC236}">
                <a16:creationId xmlns:a16="http://schemas.microsoft.com/office/drawing/2014/main" id="{E271C2C0-9C9D-0843-979B-F9ADBEE6BCCF}"/>
              </a:ext>
            </a:extLst>
          </p:cNvPr>
          <p:cNvSpPr txBox="1">
            <a:spLocks noChangeArrowheads="1"/>
          </p:cNvSpPr>
          <p:nvPr/>
        </p:nvSpPr>
        <p:spPr bwMode="auto">
          <a:xfrm>
            <a:off x="762130" y="41100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a:t>
            </a:r>
          </a:p>
        </p:txBody>
      </p:sp>
      <p:sp>
        <p:nvSpPr>
          <p:cNvPr id="354" name="Text Box 81">
            <a:extLst>
              <a:ext uri="{FF2B5EF4-FFF2-40B4-BE49-F238E27FC236}">
                <a16:creationId xmlns:a16="http://schemas.microsoft.com/office/drawing/2014/main" id="{448385CC-395B-0249-94AC-C347F1C7C4C6}"/>
              </a:ext>
            </a:extLst>
          </p:cNvPr>
          <p:cNvSpPr txBox="1">
            <a:spLocks noChangeArrowheads="1"/>
          </p:cNvSpPr>
          <p:nvPr/>
        </p:nvSpPr>
        <p:spPr bwMode="auto">
          <a:xfrm>
            <a:off x="760856" y="455104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a:t>
            </a:r>
          </a:p>
        </p:txBody>
      </p:sp>
      <p:sp>
        <p:nvSpPr>
          <p:cNvPr id="355" name="Text Box 82">
            <a:extLst>
              <a:ext uri="{FF2B5EF4-FFF2-40B4-BE49-F238E27FC236}">
                <a16:creationId xmlns:a16="http://schemas.microsoft.com/office/drawing/2014/main" id="{CB1E6E3C-1D2C-0440-BB3B-C048D495B661}"/>
              </a:ext>
            </a:extLst>
          </p:cNvPr>
          <p:cNvSpPr txBox="1">
            <a:spLocks noChangeArrowheads="1"/>
          </p:cNvSpPr>
          <p:nvPr/>
        </p:nvSpPr>
        <p:spPr bwMode="auto">
          <a:xfrm>
            <a:off x="3207477" y="1647177"/>
            <a:ext cx="6880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w</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p(w)</a:t>
            </a:r>
          </a:p>
        </p:txBody>
      </p:sp>
      <p:sp>
        <p:nvSpPr>
          <p:cNvPr id="356" name="Text Box 83">
            <a:extLst>
              <a:ext uri="{FF2B5EF4-FFF2-40B4-BE49-F238E27FC236}">
                <a16:creationId xmlns:a16="http://schemas.microsoft.com/office/drawing/2014/main" id="{3D04A92E-6A73-6E4A-8741-77860D62720F}"/>
              </a:ext>
            </a:extLst>
          </p:cNvPr>
          <p:cNvSpPr txBox="1">
            <a:spLocks noChangeArrowheads="1"/>
          </p:cNvSpPr>
          <p:nvPr/>
        </p:nvSpPr>
        <p:spPr bwMode="auto">
          <a:xfrm>
            <a:off x="4098638" y="1647176"/>
            <a:ext cx="64152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x</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p(x)</a:t>
            </a:r>
          </a:p>
        </p:txBody>
      </p:sp>
      <p:sp>
        <p:nvSpPr>
          <p:cNvPr id="357" name="Text Box 84">
            <a:extLst>
              <a:ext uri="{FF2B5EF4-FFF2-40B4-BE49-F238E27FC236}">
                <a16:creationId xmlns:a16="http://schemas.microsoft.com/office/drawing/2014/main" id="{2192712D-9E59-B944-BD03-C11BC42337CD}"/>
              </a:ext>
            </a:extLst>
          </p:cNvPr>
          <p:cNvSpPr txBox="1">
            <a:spLocks noChangeArrowheads="1"/>
          </p:cNvSpPr>
          <p:nvPr/>
        </p:nvSpPr>
        <p:spPr bwMode="auto">
          <a:xfrm>
            <a:off x="4934206" y="1652652"/>
            <a:ext cx="64152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y</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p(y)</a:t>
            </a:r>
          </a:p>
        </p:txBody>
      </p:sp>
      <p:sp>
        <p:nvSpPr>
          <p:cNvPr id="358" name="Text Box 85">
            <a:extLst>
              <a:ext uri="{FF2B5EF4-FFF2-40B4-BE49-F238E27FC236}">
                <a16:creationId xmlns:a16="http://schemas.microsoft.com/office/drawing/2014/main" id="{9759BEB2-4722-4F4D-9B33-21A7ED7DEE63}"/>
              </a:ext>
            </a:extLst>
          </p:cNvPr>
          <p:cNvSpPr txBox="1">
            <a:spLocks noChangeArrowheads="1"/>
          </p:cNvSpPr>
          <p:nvPr/>
        </p:nvSpPr>
        <p:spPr bwMode="auto">
          <a:xfrm>
            <a:off x="5771830" y="1651940"/>
            <a:ext cx="63030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z</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p(z)</a:t>
            </a:r>
          </a:p>
        </p:txBody>
      </p:sp>
      <p:sp>
        <p:nvSpPr>
          <p:cNvPr id="360" name="Line 87">
            <a:extLst>
              <a:ext uri="{FF2B5EF4-FFF2-40B4-BE49-F238E27FC236}">
                <a16:creationId xmlns:a16="http://schemas.microsoft.com/office/drawing/2014/main" id="{8A5F9E13-788E-9143-9F2C-DF086CF7066C}"/>
              </a:ext>
            </a:extLst>
          </p:cNvPr>
          <p:cNvSpPr>
            <a:spLocks noChangeShapeType="1"/>
          </p:cNvSpPr>
          <p:nvPr/>
        </p:nvSpPr>
        <p:spPr bwMode="auto">
          <a:xfrm>
            <a:off x="939397" y="2690590"/>
            <a:ext cx="5150117"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1" name="Text Box 88">
            <a:extLst>
              <a:ext uri="{FF2B5EF4-FFF2-40B4-BE49-F238E27FC236}">
                <a16:creationId xmlns:a16="http://schemas.microsoft.com/office/drawing/2014/main" id="{B5D75FC0-2828-1E41-B4E4-7454030F9FF7}"/>
              </a:ext>
            </a:extLst>
          </p:cNvPr>
          <p:cNvSpPr txBox="1">
            <a:spLocks noChangeArrowheads="1"/>
          </p:cNvSpPr>
          <p:nvPr/>
        </p:nvSpPr>
        <p:spPr bwMode="auto">
          <a:xfrm>
            <a:off x="1766343" y="227057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FF0000"/>
                </a:solidFill>
              </a:rPr>
              <a:t>u</a:t>
            </a:r>
          </a:p>
        </p:txBody>
      </p:sp>
      <p:sp>
        <p:nvSpPr>
          <p:cNvPr id="362" name="Line 89">
            <a:extLst>
              <a:ext uri="{FF2B5EF4-FFF2-40B4-BE49-F238E27FC236}">
                <a16:creationId xmlns:a16="http://schemas.microsoft.com/office/drawing/2014/main" id="{8BD77020-FC12-9249-83A7-84423976E659}"/>
              </a:ext>
            </a:extLst>
          </p:cNvPr>
          <p:cNvSpPr>
            <a:spLocks noChangeShapeType="1"/>
          </p:cNvSpPr>
          <p:nvPr/>
        </p:nvSpPr>
        <p:spPr bwMode="auto">
          <a:xfrm>
            <a:off x="871302" y="3151241"/>
            <a:ext cx="5224698"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3" name="Line 90">
            <a:extLst>
              <a:ext uri="{FF2B5EF4-FFF2-40B4-BE49-F238E27FC236}">
                <a16:creationId xmlns:a16="http://schemas.microsoft.com/office/drawing/2014/main" id="{9B928B6B-4609-A44E-A6B9-1009B9CF89E0}"/>
              </a:ext>
            </a:extLst>
          </p:cNvPr>
          <p:cNvSpPr>
            <a:spLocks noChangeShapeType="1"/>
          </p:cNvSpPr>
          <p:nvPr/>
        </p:nvSpPr>
        <p:spPr bwMode="auto">
          <a:xfrm>
            <a:off x="871302" y="3618848"/>
            <a:ext cx="5224698"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4" name="Line 91">
            <a:extLst>
              <a:ext uri="{FF2B5EF4-FFF2-40B4-BE49-F238E27FC236}">
                <a16:creationId xmlns:a16="http://schemas.microsoft.com/office/drawing/2014/main" id="{C76CD917-F8A2-084E-A595-FE42589B9BF9}"/>
              </a:ext>
            </a:extLst>
          </p:cNvPr>
          <p:cNvSpPr>
            <a:spLocks noChangeShapeType="1"/>
          </p:cNvSpPr>
          <p:nvPr/>
        </p:nvSpPr>
        <p:spPr bwMode="auto">
          <a:xfrm>
            <a:off x="818428" y="4551040"/>
            <a:ext cx="5277571"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5" name="Line 92">
            <a:extLst>
              <a:ext uri="{FF2B5EF4-FFF2-40B4-BE49-F238E27FC236}">
                <a16:creationId xmlns:a16="http://schemas.microsoft.com/office/drawing/2014/main" id="{676FEE77-1F18-B34E-9F67-2476A2B29244}"/>
              </a:ext>
            </a:extLst>
          </p:cNvPr>
          <p:cNvSpPr>
            <a:spLocks noChangeShapeType="1"/>
          </p:cNvSpPr>
          <p:nvPr/>
        </p:nvSpPr>
        <p:spPr bwMode="auto">
          <a:xfrm>
            <a:off x="866540" y="4075166"/>
            <a:ext cx="5229460"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6" name="Line 93">
            <a:extLst>
              <a:ext uri="{FF2B5EF4-FFF2-40B4-BE49-F238E27FC236}">
                <a16:creationId xmlns:a16="http://schemas.microsoft.com/office/drawing/2014/main" id="{3EEF148F-9B80-C748-A557-23B2FBFF01AE}"/>
              </a:ext>
            </a:extLst>
          </p:cNvPr>
          <p:cNvSpPr>
            <a:spLocks noChangeShapeType="1"/>
          </p:cNvSpPr>
          <p:nvPr/>
        </p:nvSpPr>
        <p:spPr bwMode="auto">
          <a:xfrm>
            <a:off x="866016" y="5009992"/>
            <a:ext cx="5229984"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grpSp>
        <p:nvGrpSpPr>
          <p:cNvPr id="367" name="Group 94">
            <a:extLst>
              <a:ext uri="{FF2B5EF4-FFF2-40B4-BE49-F238E27FC236}">
                <a16:creationId xmlns:a16="http://schemas.microsoft.com/office/drawing/2014/main" id="{558A3619-2058-4548-85D0-840189D30DCE}"/>
              </a:ext>
            </a:extLst>
          </p:cNvPr>
          <p:cNvGrpSpPr>
            <a:grpSpLocks/>
          </p:cNvGrpSpPr>
          <p:nvPr/>
        </p:nvGrpSpPr>
        <p:grpSpPr bwMode="auto">
          <a:xfrm>
            <a:off x="2400069" y="2268766"/>
            <a:ext cx="3937006" cy="409575"/>
            <a:chOff x="1329" y="1036"/>
            <a:chExt cx="2480" cy="258"/>
          </a:xfrm>
        </p:grpSpPr>
        <p:sp>
          <p:nvSpPr>
            <p:cNvPr id="368" name="Text Box 95">
              <a:extLst>
                <a:ext uri="{FF2B5EF4-FFF2-40B4-BE49-F238E27FC236}">
                  <a16:creationId xmlns:a16="http://schemas.microsoft.com/office/drawing/2014/main" id="{A9A49627-FB9F-6845-8479-4BEAC42773FB}"/>
                </a:ext>
              </a:extLst>
            </p:cNvPr>
            <p:cNvSpPr txBox="1">
              <a:spLocks noChangeArrowheads="1"/>
            </p:cNvSpPr>
            <p:nvPr/>
          </p:nvSpPr>
          <p:spPr bwMode="auto">
            <a:xfrm>
              <a:off x="3509" y="1036"/>
              <a:ext cx="3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latin typeface="Comic Sans MS" charset="0"/>
                </a:rPr>
                <a:t>∞ </a:t>
              </a:r>
              <a:endParaRPr lang="en-US" kern="0" dirty="0">
                <a:solidFill>
                  <a:srgbClr val="000000"/>
                </a:solidFill>
              </a:endParaRPr>
            </a:p>
          </p:txBody>
        </p:sp>
        <p:sp>
          <p:nvSpPr>
            <p:cNvPr id="369" name="Text Box 96">
              <a:extLst>
                <a:ext uri="{FF2B5EF4-FFF2-40B4-BE49-F238E27FC236}">
                  <a16:creationId xmlns:a16="http://schemas.microsoft.com/office/drawing/2014/main" id="{41F7B139-E678-B342-AD4B-7706825D14B9}"/>
                </a:ext>
              </a:extLst>
            </p:cNvPr>
            <p:cNvSpPr txBox="1">
              <a:spLocks noChangeArrowheads="1"/>
            </p:cNvSpPr>
            <p:nvPr/>
          </p:nvSpPr>
          <p:spPr bwMode="auto">
            <a:xfrm>
              <a:off x="2989" y="1042"/>
              <a:ext cx="3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latin typeface="Comic Sans MS" charset="0"/>
                </a:rPr>
                <a:t>∞ </a:t>
              </a:r>
              <a:endParaRPr lang="en-US" kern="0" dirty="0">
                <a:solidFill>
                  <a:srgbClr val="000000"/>
                </a:solidFill>
              </a:endParaRPr>
            </a:p>
          </p:txBody>
        </p:sp>
        <p:sp>
          <p:nvSpPr>
            <p:cNvPr id="370" name="Text Box 97">
              <a:extLst>
                <a:ext uri="{FF2B5EF4-FFF2-40B4-BE49-F238E27FC236}">
                  <a16:creationId xmlns:a16="http://schemas.microsoft.com/office/drawing/2014/main" id="{5B097C3C-A220-B449-93F9-E7D23003D931}"/>
                </a:ext>
              </a:extLst>
            </p:cNvPr>
            <p:cNvSpPr txBox="1">
              <a:spLocks noChangeArrowheads="1"/>
            </p:cNvSpPr>
            <p:nvPr/>
          </p:nvSpPr>
          <p:spPr bwMode="auto">
            <a:xfrm>
              <a:off x="1329" y="1038"/>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7,u</a:t>
              </a:r>
            </a:p>
          </p:txBody>
        </p:sp>
        <p:sp>
          <p:nvSpPr>
            <p:cNvPr id="371" name="Text Box 98">
              <a:extLst>
                <a:ext uri="{FF2B5EF4-FFF2-40B4-BE49-F238E27FC236}">
                  <a16:creationId xmlns:a16="http://schemas.microsoft.com/office/drawing/2014/main" id="{A0B94B27-CE7D-C949-AB21-F3E5E557F643}"/>
                </a:ext>
              </a:extLst>
            </p:cNvPr>
            <p:cNvSpPr txBox="1">
              <a:spLocks noChangeArrowheads="1"/>
            </p:cNvSpPr>
            <p:nvPr/>
          </p:nvSpPr>
          <p:spPr bwMode="auto">
            <a:xfrm>
              <a:off x="1855" y="1041"/>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3,u</a:t>
              </a:r>
            </a:p>
          </p:txBody>
        </p:sp>
        <p:sp>
          <p:nvSpPr>
            <p:cNvPr id="372" name="Text Box 99">
              <a:extLst>
                <a:ext uri="{FF2B5EF4-FFF2-40B4-BE49-F238E27FC236}">
                  <a16:creationId xmlns:a16="http://schemas.microsoft.com/office/drawing/2014/main" id="{8F8C77A4-ABDE-6E4B-A507-A4A1C104D5C9}"/>
                </a:ext>
              </a:extLst>
            </p:cNvPr>
            <p:cNvSpPr txBox="1">
              <a:spLocks noChangeArrowheads="1"/>
            </p:cNvSpPr>
            <p:nvPr/>
          </p:nvSpPr>
          <p:spPr bwMode="auto">
            <a:xfrm>
              <a:off x="2407" y="1038"/>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5,u</a:t>
              </a:r>
            </a:p>
          </p:txBody>
        </p:sp>
      </p:grpSp>
      <p:sp>
        <p:nvSpPr>
          <p:cNvPr id="373" name="Text Box 100">
            <a:extLst>
              <a:ext uri="{FF2B5EF4-FFF2-40B4-BE49-F238E27FC236}">
                <a16:creationId xmlns:a16="http://schemas.microsoft.com/office/drawing/2014/main" id="{ACA0D86F-02A7-B84B-A3AB-5BBFB524F62E}"/>
              </a:ext>
            </a:extLst>
          </p:cNvPr>
          <p:cNvSpPr txBox="1">
            <a:spLocks noChangeArrowheads="1"/>
          </p:cNvSpPr>
          <p:nvPr/>
        </p:nvSpPr>
        <p:spPr bwMode="auto">
          <a:xfrm>
            <a:off x="1595504" y="2721633"/>
            <a:ext cx="5132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a:t>
            </a:r>
          </a:p>
        </p:txBody>
      </p:sp>
      <p:grpSp>
        <p:nvGrpSpPr>
          <p:cNvPr id="374" name="Group 101">
            <a:extLst>
              <a:ext uri="{FF2B5EF4-FFF2-40B4-BE49-F238E27FC236}">
                <a16:creationId xmlns:a16="http://schemas.microsoft.com/office/drawing/2014/main" id="{BC7C6C04-9C61-5440-80EF-C809C32DFA20}"/>
              </a:ext>
            </a:extLst>
          </p:cNvPr>
          <p:cNvGrpSpPr>
            <a:grpSpLocks/>
          </p:cNvGrpSpPr>
          <p:nvPr/>
        </p:nvGrpSpPr>
        <p:grpSpPr bwMode="auto">
          <a:xfrm>
            <a:off x="2409590" y="2707832"/>
            <a:ext cx="3933824" cy="420688"/>
            <a:chOff x="1328" y="1004"/>
            <a:chExt cx="2478" cy="265"/>
          </a:xfrm>
        </p:grpSpPr>
        <p:sp>
          <p:nvSpPr>
            <p:cNvPr id="375" name="Text Box 102">
              <a:extLst>
                <a:ext uri="{FF2B5EF4-FFF2-40B4-BE49-F238E27FC236}">
                  <a16:creationId xmlns:a16="http://schemas.microsoft.com/office/drawing/2014/main" id="{ABAEF0CA-F3B4-3F40-B673-304562BCEA0C}"/>
                </a:ext>
              </a:extLst>
            </p:cNvPr>
            <p:cNvSpPr txBox="1">
              <a:spLocks noChangeArrowheads="1"/>
            </p:cNvSpPr>
            <p:nvPr/>
          </p:nvSpPr>
          <p:spPr bwMode="auto">
            <a:xfrm>
              <a:off x="3506" y="1004"/>
              <a:ext cx="3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latin typeface="Comic Sans MS" charset="0"/>
                </a:rPr>
                <a:t>∞ </a:t>
              </a:r>
              <a:endParaRPr lang="en-US" kern="0" dirty="0">
                <a:solidFill>
                  <a:srgbClr val="000000"/>
                </a:solidFill>
              </a:endParaRPr>
            </a:p>
          </p:txBody>
        </p:sp>
        <p:sp>
          <p:nvSpPr>
            <p:cNvPr id="376" name="Text Box 103">
              <a:extLst>
                <a:ext uri="{FF2B5EF4-FFF2-40B4-BE49-F238E27FC236}">
                  <a16:creationId xmlns:a16="http://schemas.microsoft.com/office/drawing/2014/main" id="{E1707184-54DA-3043-95FA-5D2589479085}"/>
                </a:ext>
              </a:extLst>
            </p:cNvPr>
            <p:cNvSpPr txBox="1">
              <a:spLocks noChangeArrowheads="1"/>
            </p:cNvSpPr>
            <p:nvPr/>
          </p:nvSpPr>
          <p:spPr bwMode="auto">
            <a:xfrm>
              <a:off x="2880" y="1014"/>
              <a:ext cx="48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11</a:t>
              </a:r>
              <a:r>
                <a:rPr lang="en-US" sz="2000" kern="0" dirty="0">
                  <a:solidFill>
                    <a:srgbClr val="000000"/>
                  </a:solidFill>
                </a:rPr>
                <a:t>,w</a:t>
              </a:r>
              <a:r>
                <a:rPr lang="en-US" sz="2000" kern="0" dirty="0">
                  <a:solidFill>
                    <a:srgbClr val="000000"/>
                  </a:solidFill>
                  <a:latin typeface="Comic Sans MS" charset="0"/>
                </a:rPr>
                <a:t> </a:t>
              </a:r>
              <a:endParaRPr lang="en-US" kern="0" dirty="0">
                <a:solidFill>
                  <a:srgbClr val="000000"/>
                </a:solidFill>
              </a:endParaRPr>
            </a:p>
          </p:txBody>
        </p:sp>
        <p:sp>
          <p:nvSpPr>
            <p:cNvPr id="377" name="Text Box 104">
              <a:extLst>
                <a:ext uri="{FF2B5EF4-FFF2-40B4-BE49-F238E27FC236}">
                  <a16:creationId xmlns:a16="http://schemas.microsoft.com/office/drawing/2014/main" id="{D3F92256-ECF4-674D-BB01-22E8F8101968}"/>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6,w</a:t>
              </a:r>
            </a:p>
          </p:txBody>
        </p:sp>
        <p:sp>
          <p:nvSpPr>
            <p:cNvPr id="378" name="Text Box 105">
              <a:extLst>
                <a:ext uri="{FF2B5EF4-FFF2-40B4-BE49-F238E27FC236}">
                  <a16:creationId xmlns:a16="http://schemas.microsoft.com/office/drawing/2014/main" id="{71B35D57-CA7D-E747-B1BC-4BCC98CEE5FF}"/>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endParaRPr lang="en-US" sz="2000" kern="0" dirty="0">
                <a:solidFill>
                  <a:srgbClr val="000000"/>
                </a:solidFill>
              </a:endParaRPr>
            </a:p>
          </p:txBody>
        </p:sp>
        <p:sp>
          <p:nvSpPr>
            <p:cNvPr id="379" name="Text Box 106">
              <a:extLst>
                <a:ext uri="{FF2B5EF4-FFF2-40B4-BE49-F238E27FC236}">
                  <a16:creationId xmlns:a16="http://schemas.microsoft.com/office/drawing/2014/main" id="{05FF3FA7-68BA-E148-B1AB-F1DC697DD5AB}"/>
                </a:ext>
              </a:extLst>
            </p:cNvPr>
            <p:cNvSpPr txBox="1">
              <a:spLocks noChangeArrowheads="1"/>
            </p:cNvSpPr>
            <p:nvPr/>
          </p:nvSpPr>
          <p:spPr bwMode="auto">
            <a:xfrm>
              <a:off x="2400" y="1013"/>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5,u</a:t>
              </a:r>
            </a:p>
          </p:txBody>
        </p:sp>
      </p:grpSp>
      <p:grpSp>
        <p:nvGrpSpPr>
          <p:cNvPr id="380" name="Group 107">
            <a:extLst>
              <a:ext uri="{FF2B5EF4-FFF2-40B4-BE49-F238E27FC236}">
                <a16:creationId xmlns:a16="http://schemas.microsoft.com/office/drawing/2014/main" id="{7E2626C5-CF93-9948-940E-8D5F72A7FC73}"/>
              </a:ext>
            </a:extLst>
          </p:cNvPr>
          <p:cNvGrpSpPr>
            <a:grpSpLocks/>
          </p:cNvGrpSpPr>
          <p:nvPr/>
        </p:nvGrpSpPr>
        <p:grpSpPr bwMode="auto">
          <a:xfrm>
            <a:off x="2398427" y="3156225"/>
            <a:ext cx="4005263" cy="414336"/>
            <a:chOff x="1328" y="1008"/>
            <a:chExt cx="2523" cy="261"/>
          </a:xfrm>
        </p:grpSpPr>
        <p:sp>
          <p:nvSpPr>
            <p:cNvPr id="381" name="Text Box 108">
              <a:extLst>
                <a:ext uri="{FF2B5EF4-FFF2-40B4-BE49-F238E27FC236}">
                  <a16:creationId xmlns:a16="http://schemas.microsoft.com/office/drawing/2014/main" id="{AFBD965A-43AF-524E-B4A9-98B0171545D9}"/>
                </a:ext>
              </a:extLst>
            </p:cNvPr>
            <p:cNvSpPr txBox="1">
              <a:spLocks noChangeArrowheads="1"/>
            </p:cNvSpPr>
            <p:nvPr/>
          </p:nvSpPr>
          <p:spPr bwMode="auto">
            <a:xfrm>
              <a:off x="3403" y="1011"/>
              <a:ext cx="44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14</a:t>
              </a:r>
              <a:r>
                <a:rPr lang="en-US" sz="2000" kern="0" dirty="0">
                  <a:solidFill>
                    <a:srgbClr val="000000"/>
                  </a:solidFill>
                </a:rPr>
                <a:t>,x </a:t>
              </a:r>
            </a:p>
          </p:txBody>
        </p:sp>
        <p:sp>
          <p:nvSpPr>
            <p:cNvPr id="382" name="Text Box 109">
              <a:extLst>
                <a:ext uri="{FF2B5EF4-FFF2-40B4-BE49-F238E27FC236}">
                  <a16:creationId xmlns:a16="http://schemas.microsoft.com/office/drawing/2014/main" id="{AC0F38BE-BBC3-6F4E-B9EA-051436270F08}"/>
                </a:ext>
              </a:extLst>
            </p:cNvPr>
            <p:cNvSpPr txBox="1">
              <a:spLocks noChangeArrowheads="1"/>
            </p:cNvSpPr>
            <p:nvPr/>
          </p:nvSpPr>
          <p:spPr bwMode="auto">
            <a:xfrm>
              <a:off x="2885" y="1008"/>
              <a:ext cx="4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11,</a:t>
              </a:r>
              <a:r>
                <a:rPr lang="en-US" sz="2000" kern="0" dirty="0">
                  <a:solidFill>
                    <a:srgbClr val="000000"/>
                  </a:solidFill>
                </a:rPr>
                <a:t>w </a:t>
              </a:r>
              <a:endParaRPr lang="en-US" kern="0" dirty="0">
                <a:solidFill>
                  <a:srgbClr val="000000"/>
                </a:solidFill>
              </a:endParaRPr>
            </a:p>
          </p:txBody>
        </p:sp>
        <p:sp>
          <p:nvSpPr>
            <p:cNvPr id="383" name="Text Box 110">
              <a:extLst>
                <a:ext uri="{FF2B5EF4-FFF2-40B4-BE49-F238E27FC236}">
                  <a16:creationId xmlns:a16="http://schemas.microsoft.com/office/drawing/2014/main" id="{A05F7448-12D1-D84F-9CDE-912BCF72A01D}"/>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6,w</a:t>
              </a:r>
            </a:p>
          </p:txBody>
        </p:sp>
        <p:sp>
          <p:nvSpPr>
            <p:cNvPr id="384" name="Text Box 111">
              <a:extLst>
                <a:ext uri="{FF2B5EF4-FFF2-40B4-BE49-F238E27FC236}">
                  <a16:creationId xmlns:a16="http://schemas.microsoft.com/office/drawing/2014/main" id="{FD8E90C8-7E27-9944-8C71-AF1BD0233694}"/>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endParaRPr lang="en-US" sz="2000" kern="0" dirty="0">
                <a:solidFill>
                  <a:srgbClr val="000000"/>
                </a:solidFill>
              </a:endParaRPr>
            </a:p>
          </p:txBody>
        </p:sp>
        <p:sp>
          <p:nvSpPr>
            <p:cNvPr id="385" name="Text Box 112">
              <a:extLst>
                <a:ext uri="{FF2B5EF4-FFF2-40B4-BE49-F238E27FC236}">
                  <a16:creationId xmlns:a16="http://schemas.microsoft.com/office/drawing/2014/main" id="{42882C9F-E751-B44C-9ECC-51EC29977CC5}"/>
                </a:ext>
              </a:extLst>
            </p:cNvPr>
            <p:cNvSpPr txBox="1">
              <a:spLocks noChangeArrowheads="1"/>
            </p:cNvSpPr>
            <p:nvPr/>
          </p:nvSpPr>
          <p:spPr bwMode="auto">
            <a:xfrm>
              <a:off x="2390" y="1016"/>
              <a:ext cx="1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endParaRPr lang="en-US" sz="2000" kern="0" dirty="0">
                <a:solidFill>
                  <a:srgbClr val="000000"/>
                </a:solidFill>
              </a:endParaRPr>
            </a:p>
          </p:txBody>
        </p:sp>
      </p:grpSp>
      <p:sp>
        <p:nvSpPr>
          <p:cNvPr id="386" name="Oval 113">
            <a:extLst>
              <a:ext uri="{FF2B5EF4-FFF2-40B4-BE49-F238E27FC236}">
                <a16:creationId xmlns:a16="http://schemas.microsoft.com/office/drawing/2014/main" id="{CA07159E-E1BA-F141-B1FF-A9FEC3ABC3C1}"/>
              </a:ext>
            </a:extLst>
          </p:cNvPr>
          <p:cNvSpPr>
            <a:spLocks noChangeArrowheads="1"/>
          </p:cNvSpPr>
          <p:nvPr/>
        </p:nvSpPr>
        <p:spPr bwMode="auto">
          <a:xfrm>
            <a:off x="3192476" y="2263739"/>
            <a:ext cx="661410" cy="40637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87" name="Oval 114">
            <a:extLst>
              <a:ext uri="{FF2B5EF4-FFF2-40B4-BE49-F238E27FC236}">
                <a16:creationId xmlns:a16="http://schemas.microsoft.com/office/drawing/2014/main" id="{62801FA1-0308-3F47-AABC-89A1C31D0B51}"/>
              </a:ext>
            </a:extLst>
          </p:cNvPr>
          <p:cNvSpPr>
            <a:spLocks noChangeArrowheads="1"/>
          </p:cNvSpPr>
          <p:nvPr/>
        </p:nvSpPr>
        <p:spPr bwMode="auto">
          <a:xfrm>
            <a:off x="4050170" y="2719263"/>
            <a:ext cx="679816" cy="40693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88" name="Text Box 115">
            <a:extLst>
              <a:ext uri="{FF2B5EF4-FFF2-40B4-BE49-F238E27FC236}">
                <a16:creationId xmlns:a16="http://schemas.microsoft.com/office/drawing/2014/main" id="{FDC188CB-240A-384E-B25B-A5EC55C65308}"/>
              </a:ext>
            </a:extLst>
          </p:cNvPr>
          <p:cNvSpPr txBox="1">
            <a:spLocks noChangeArrowheads="1"/>
          </p:cNvSpPr>
          <p:nvPr/>
        </p:nvSpPr>
        <p:spPr bwMode="auto">
          <a:xfrm>
            <a:off x="1479143" y="3195058"/>
            <a:ext cx="6415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a:t>
            </a:r>
          </a:p>
        </p:txBody>
      </p:sp>
      <p:sp>
        <p:nvSpPr>
          <p:cNvPr id="389" name="Oval 116">
            <a:extLst>
              <a:ext uri="{FF2B5EF4-FFF2-40B4-BE49-F238E27FC236}">
                <a16:creationId xmlns:a16="http://schemas.microsoft.com/office/drawing/2014/main" id="{B75F5C54-5678-6548-96E7-8FA9101FCFC9}"/>
              </a:ext>
            </a:extLst>
          </p:cNvPr>
          <p:cNvSpPr>
            <a:spLocks noChangeArrowheads="1"/>
          </p:cNvSpPr>
          <p:nvPr/>
        </p:nvSpPr>
        <p:spPr bwMode="auto">
          <a:xfrm>
            <a:off x="2374191" y="3175054"/>
            <a:ext cx="665830" cy="425097"/>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0" name="Text Box 117">
            <a:extLst>
              <a:ext uri="{FF2B5EF4-FFF2-40B4-BE49-F238E27FC236}">
                <a16:creationId xmlns:a16="http://schemas.microsoft.com/office/drawing/2014/main" id="{842A56D7-E405-6242-9B11-D34F99B3B871}"/>
              </a:ext>
            </a:extLst>
          </p:cNvPr>
          <p:cNvSpPr txBox="1">
            <a:spLocks noChangeArrowheads="1"/>
          </p:cNvSpPr>
          <p:nvPr/>
        </p:nvSpPr>
        <p:spPr bwMode="auto">
          <a:xfrm>
            <a:off x="1373894" y="3653711"/>
            <a:ext cx="762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uwxv</a:t>
            </a:r>
          </a:p>
        </p:txBody>
      </p:sp>
      <p:grpSp>
        <p:nvGrpSpPr>
          <p:cNvPr id="391" name="Group 118">
            <a:extLst>
              <a:ext uri="{FF2B5EF4-FFF2-40B4-BE49-F238E27FC236}">
                <a16:creationId xmlns:a16="http://schemas.microsoft.com/office/drawing/2014/main" id="{24891FB7-CCEA-1C44-8641-F1973787CC8B}"/>
              </a:ext>
            </a:extLst>
          </p:cNvPr>
          <p:cNvGrpSpPr>
            <a:grpSpLocks/>
          </p:cNvGrpSpPr>
          <p:nvPr/>
        </p:nvGrpSpPr>
        <p:grpSpPr bwMode="auto">
          <a:xfrm>
            <a:off x="4873416" y="3639944"/>
            <a:ext cx="1544638" cy="400050"/>
            <a:chOff x="1851" y="2756"/>
            <a:chExt cx="973" cy="252"/>
          </a:xfrm>
        </p:grpSpPr>
        <p:sp>
          <p:nvSpPr>
            <p:cNvPr id="392" name="Text Box 119">
              <a:extLst>
                <a:ext uri="{FF2B5EF4-FFF2-40B4-BE49-F238E27FC236}">
                  <a16:creationId xmlns:a16="http://schemas.microsoft.com/office/drawing/2014/main" id="{FDD3AD43-F8C3-954D-8CC1-37DDA254D1AF}"/>
                </a:ext>
              </a:extLst>
            </p:cNvPr>
            <p:cNvSpPr txBox="1">
              <a:spLocks noChangeArrowheads="1"/>
            </p:cNvSpPr>
            <p:nvPr/>
          </p:nvSpPr>
          <p:spPr bwMode="auto">
            <a:xfrm>
              <a:off x="2376" y="2756"/>
              <a:ext cx="44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14</a:t>
              </a:r>
              <a:r>
                <a:rPr lang="en-US" sz="2000" kern="0" dirty="0">
                  <a:solidFill>
                    <a:srgbClr val="000000"/>
                  </a:solidFill>
                </a:rPr>
                <a:t>,x </a:t>
              </a:r>
            </a:p>
          </p:txBody>
        </p:sp>
        <p:sp>
          <p:nvSpPr>
            <p:cNvPr id="393" name="Text Box 120">
              <a:extLst>
                <a:ext uri="{FF2B5EF4-FFF2-40B4-BE49-F238E27FC236}">
                  <a16:creationId xmlns:a16="http://schemas.microsoft.com/office/drawing/2014/main" id="{A5A6672A-2DAC-A548-AE0D-9C0BEAE1F481}"/>
                </a:ext>
              </a:extLst>
            </p:cNvPr>
            <p:cNvSpPr txBox="1">
              <a:spLocks noChangeArrowheads="1"/>
            </p:cNvSpPr>
            <p:nvPr/>
          </p:nvSpPr>
          <p:spPr bwMode="auto">
            <a:xfrm>
              <a:off x="1851" y="2756"/>
              <a:ext cx="44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10,</a:t>
              </a:r>
              <a:r>
                <a:rPr lang="en-US" sz="2000" kern="0" dirty="0">
                  <a:solidFill>
                    <a:srgbClr val="000000"/>
                  </a:solidFill>
                </a:rPr>
                <a:t>v </a:t>
              </a:r>
              <a:endParaRPr lang="en-US" kern="0" dirty="0">
                <a:solidFill>
                  <a:srgbClr val="000000"/>
                </a:solidFill>
              </a:endParaRPr>
            </a:p>
          </p:txBody>
        </p:sp>
      </p:grpSp>
      <p:sp>
        <p:nvSpPr>
          <p:cNvPr id="394" name="Oval 121">
            <a:extLst>
              <a:ext uri="{FF2B5EF4-FFF2-40B4-BE49-F238E27FC236}">
                <a16:creationId xmlns:a16="http://schemas.microsoft.com/office/drawing/2014/main" id="{611DDB78-2B7E-2542-9D8B-A5C45FB4E4B4}"/>
              </a:ext>
            </a:extLst>
          </p:cNvPr>
          <p:cNvSpPr>
            <a:spLocks noChangeArrowheads="1"/>
          </p:cNvSpPr>
          <p:nvPr/>
        </p:nvSpPr>
        <p:spPr bwMode="auto">
          <a:xfrm>
            <a:off x="4848116" y="3652013"/>
            <a:ext cx="676583" cy="393367"/>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5" name="Text Box 122">
            <a:extLst>
              <a:ext uri="{FF2B5EF4-FFF2-40B4-BE49-F238E27FC236}">
                <a16:creationId xmlns:a16="http://schemas.microsoft.com/office/drawing/2014/main" id="{8C60FCAA-A8DF-9E4E-9A07-3A30DE5CF6BB}"/>
              </a:ext>
            </a:extLst>
          </p:cNvPr>
          <p:cNvSpPr txBox="1">
            <a:spLocks noChangeArrowheads="1"/>
          </p:cNvSpPr>
          <p:nvPr/>
        </p:nvSpPr>
        <p:spPr bwMode="auto">
          <a:xfrm>
            <a:off x="1295811" y="4107137"/>
            <a:ext cx="8980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uwxvy</a:t>
            </a:r>
          </a:p>
        </p:txBody>
      </p:sp>
      <p:sp>
        <p:nvSpPr>
          <p:cNvPr id="396" name="Text Box 123">
            <a:extLst>
              <a:ext uri="{FF2B5EF4-FFF2-40B4-BE49-F238E27FC236}">
                <a16:creationId xmlns:a16="http://schemas.microsoft.com/office/drawing/2014/main" id="{F1BFAA7C-7ACD-2F4D-86BB-F5DA8784BBBE}"/>
              </a:ext>
            </a:extLst>
          </p:cNvPr>
          <p:cNvSpPr txBox="1">
            <a:spLocks noChangeArrowheads="1"/>
          </p:cNvSpPr>
          <p:nvPr/>
        </p:nvSpPr>
        <p:spPr bwMode="auto">
          <a:xfrm>
            <a:off x="5621287" y="4095635"/>
            <a:ext cx="7077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12</a:t>
            </a:r>
            <a:r>
              <a:rPr lang="en-US" sz="2000" kern="0" dirty="0">
                <a:solidFill>
                  <a:srgbClr val="000000"/>
                </a:solidFill>
              </a:rPr>
              <a:t>,y </a:t>
            </a:r>
          </a:p>
        </p:txBody>
      </p:sp>
      <p:sp>
        <p:nvSpPr>
          <p:cNvPr id="397" name="Oval 124">
            <a:extLst>
              <a:ext uri="{FF2B5EF4-FFF2-40B4-BE49-F238E27FC236}">
                <a16:creationId xmlns:a16="http://schemas.microsoft.com/office/drawing/2014/main" id="{0595C3F1-3B4E-AC41-9EFD-C0BB66A3E504}"/>
              </a:ext>
            </a:extLst>
          </p:cNvPr>
          <p:cNvSpPr>
            <a:spLocks noChangeArrowheads="1"/>
          </p:cNvSpPr>
          <p:nvPr/>
        </p:nvSpPr>
        <p:spPr bwMode="auto">
          <a:xfrm>
            <a:off x="5669111" y="4130222"/>
            <a:ext cx="707756" cy="389115"/>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8" name="Rectangle 125">
            <a:extLst>
              <a:ext uri="{FF2B5EF4-FFF2-40B4-BE49-F238E27FC236}">
                <a16:creationId xmlns:a16="http://schemas.microsoft.com/office/drawing/2014/main" id="{0037DF6F-3A02-DE43-B518-773A20FBE160}"/>
              </a:ext>
            </a:extLst>
          </p:cNvPr>
          <p:cNvSpPr>
            <a:spLocks noChangeArrowheads="1"/>
          </p:cNvSpPr>
          <p:nvPr/>
        </p:nvSpPr>
        <p:spPr bwMode="auto">
          <a:xfrm>
            <a:off x="1229773" y="5251763"/>
            <a:ext cx="8910647" cy="1421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eaLnBrk="0" fontAlgn="base" hangingPunct="0">
              <a:lnSpc>
                <a:spcPct val="85000"/>
              </a:lnSpc>
              <a:spcBef>
                <a:spcPct val="20000"/>
              </a:spcBef>
              <a:spcAft>
                <a:spcPct val="0"/>
              </a:spcAft>
              <a:buClr>
                <a:srgbClr val="000099"/>
              </a:buClr>
              <a:buSzPct val="65000"/>
              <a:buFont typeface="Wingdings" charset="0"/>
              <a:buNone/>
            </a:pPr>
            <a:r>
              <a:rPr lang="en-US" sz="2800" dirty="0">
                <a:solidFill>
                  <a:srgbClr val="CC0000"/>
                </a:solidFill>
                <a:ea typeface="ＭＳ Ｐゴシック" charset="0"/>
              </a:rPr>
              <a:t>notes:</a:t>
            </a:r>
          </a:p>
          <a:p>
            <a:pPr marL="342900" indent="-342900" eaLnBrk="0" fontAlgn="base" hangingPunct="0">
              <a:lnSpc>
                <a:spcPct val="85000"/>
              </a:lnSpc>
              <a:spcBef>
                <a:spcPct val="20000"/>
              </a:spcBef>
              <a:spcAft>
                <a:spcPct val="0"/>
              </a:spcAft>
              <a:buClr>
                <a:srgbClr val="000099"/>
              </a:buClr>
              <a:buSzPct val="100000"/>
              <a:buFont typeface="Wingdings" pitchFamily="2" charset="2"/>
              <a:buChar char="§"/>
            </a:pPr>
            <a:r>
              <a:rPr lang="en-US" sz="2400" dirty="0">
                <a:solidFill>
                  <a:srgbClr val="000000"/>
                </a:solidFill>
                <a:ea typeface="ＭＳ Ｐゴシック" charset="0"/>
              </a:rPr>
              <a:t>construct least-cost-path tree by tracing predecessor nodes</a:t>
            </a:r>
          </a:p>
          <a:p>
            <a:pPr marL="342900" indent="-342900" eaLnBrk="0" fontAlgn="base" hangingPunct="0">
              <a:lnSpc>
                <a:spcPct val="85000"/>
              </a:lnSpc>
              <a:spcBef>
                <a:spcPct val="20000"/>
              </a:spcBef>
              <a:spcAft>
                <a:spcPct val="0"/>
              </a:spcAft>
              <a:buClr>
                <a:srgbClr val="000099"/>
              </a:buClr>
              <a:buSzPct val="100000"/>
              <a:buFont typeface="Wingdings" pitchFamily="2" charset="2"/>
              <a:buChar char="§"/>
            </a:pPr>
            <a:r>
              <a:rPr lang="en-US" sz="2400" dirty="0">
                <a:solidFill>
                  <a:srgbClr val="000000"/>
                </a:solidFill>
                <a:ea typeface="ＭＳ Ｐゴシック" charset="0"/>
              </a:rPr>
              <a:t>ties can exist (can be broken arbitrarily)</a:t>
            </a:r>
          </a:p>
        </p:txBody>
      </p:sp>
      <p:sp>
        <p:nvSpPr>
          <p:cNvPr id="399" name="Line 126">
            <a:extLst>
              <a:ext uri="{FF2B5EF4-FFF2-40B4-BE49-F238E27FC236}">
                <a16:creationId xmlns:a16="http://schemas.microsoft.com/office/drawing/2014/main" id="{C99F0D07-C97F-7244-BE7D-62DDB539FA1D}"/>
              </a:ext>
            </a:extLst>
          </p:cNvPr>
          <p:cNvSpPr>
            <a:spLocks noChangeShapeType="1"/>
          </p:cNvSpPr>
          <p:nvPr/>
        </p:nvSpPr>
        <p:spPr bwMode="auto">
          <a:xfrm>
            <a:off x="10477917" y="3471860"/>
            <a:ext cx="5905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0" name="Line 127">
            <a:extLst>
              <a:ext uri="{FF2B5EF4-FFF2-40B4-BE49-F238E27FC236}">
                <a16:creationId xmlns:a16="http://schemas.microsoft.com/office/drawing/2014/main" id="{8F3B222C-0283-4642-B404-4B8A996A5AB3}"/>
              </a:ext>
            </a:extLst>
          </p:cNvPr>
          <p:cNvSpPr>
            <a:spLocks noChangeShapeType="1"/>
          </p:cNvSpPr>
          <p:nvPr/>
        </p:nvSpPr>
        <p:spPr bwMode="auto">
          <a:xfrm flipV="1">
            <a:off x="8821087" y="3483435"/>
            <a:ext cx="1463675" cy="120491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1" name="Line 128">
            <a:extLst>
              <a:ext uri="{FF2B5EF4-FFF2-40B4-BE49-F238E27FC236}">
                <a16:creationId xmlns:a16="http://schemas.microsoft.com/office/drawing/2014/main" id="{F0DFADDD-C351-D342-B3F8-01384E3240C6}"/>
              </a:ext>
            </a:extLst>
          </p:cNvPr>
          <p:cNvSpPr>
            <a:spLocks noChangeShapeType="1"/>
          </p:cNvSpPr>
          <p:nvPr/>
        </p:nvSpPr>
        <p:spPr bwMode="auto">
          <a:xfrm>
            <a:off x="8718966" y="3539863"/>
            <a:ext cx="9525" cy="104775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2" name="Line 129">
            <a:extLst>
              <a:ext uri="{FF2B5EF4-FFF2-40B4-BE49-F238E27FC236}">
                <a16:creationId xmlns:a16="http://schemas.microsoft.com/office/drawing/2014/main" id="{917DAF3B-7743-C54C-9109-8A2DC359089C}"/>
              </a:ext>
            </a:extLst>
          </p:cNvPr>
          <p:cNvSpPr>
            <a:spLocks noChangeShapeType="1"/>
          </p:cNvSpPr>
          <p:nvPr/>
        </p:nvSpPr>
        <p:spPr bwMode="auto">
          <a:xfrm flipV="1">
            <a:off x="7577755" y="1754709"/>
            <a:ext cx="1012825" cy="1628775"/>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3" name="Line 130">
            <a:extLst>
              <a:ext uri="{FF2B5EF4-FFF2-40B4-BE49-F238E27FC236}">
                <a16:creationId xmlns:a16="http://schemas.microsoft.com/office/drawing/2014/main" id="{F3B9ECBE-8021-EC4B-8E7D-26831A93BED1}"/>
              </a:ext>
            </a:extLst>
          </p:cNvPr>
          <p:cNvSpPr>
            <a:spLocks noChangeShapeType="1"/>
          </p:cNvSpPr>
          <p:nvPr/>
        </p:nvSpPr>
        <p:spPr bwMode="auto">
          <a:xfrm flipV="1">
            <a:off x="7693502" y="3475036"/>
            <a:ext cx="944562"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4" name="Text Box 131">
            <a:extLst>
              <a:ext uri="{FF2B5EF4-FFF2-40B4-BE49-F238E27FC236}">
                <a16:creationId xmlns:a16="http://schemas.microsoft.com/office/drawing/2014/main" id="{F5BA4ED6-2050-C341-8B0F-1599D2341CC2}"/>
              </a:ext>
            </a:extLst>
          </p:cNvPr>
          <p:cNvSpPr txBox="1">
            <a:spLocks noChangeArrowheads="1"/>
          </p:cNvSpPr>
          <p:nvPr/>
        </p:nvSpPr>
        <p:spPr bwMode="auto">
          <a:xfrm>
            <a:off x="1138922" y="4584970"/>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uwxvyz</a:t>
            </a:r>
          </a:p>
        </p:txBody>
      </p:sp>
      <p:cxnSp>
        <p:nvCxnSpPr>
          <p:cNvPr id="7" name="Straight Connector 6">
            <a:extLst>
              <a:ext uri="{FF2B5EF4-FFF2-40B4-BE49-F238E27FC236}">
                <a16:creationId xmlns:a16="http://schemas.microsoft.com/office/drawing/2014/main" id="{665D16F8-4952-FE4D-91E2-4F6D021B6D74}"/>
              </a:ext>
            </a:extLst>
          </p:cNvPr>
          <p:cNvCxnSpPr/>
          <p:nvPr/>
        </p:nvCxnSpPr>
        <p:spPr>
          <a:xfrm>
            <a:off x="668005" y="2233984"/>
            <a:ext cx="5645188" cy="0"/>
          </a:xfrm>
          <a:prstGeom prst="line">
            <a:avLst/>
          </a:prstGeom>
          <a:ln w="25400">
            <a:solidFill>
              <a:srgbClr val="0000A8"/>
            </a:solidFill>
          </a:ln>
        </p:spPr>
        <p:style>
          <a:lnRef idx="1">
            <a:schemeClr val="accent1"/>
          </a:lnRef>
          <a:fillRef idx="0">
            <a:schemeClr val="accent1"/>
          </a:fillRef>
          <a:effectRef idx="0">
            <a:schemeClr val="accent1"/>
          </a:effectRef>
          <a:fontRef idx="minor">
            <a:schemeClr val="tx1"/>
          </a:fontRef>
        </p:style>
      </p:cxnSp>
      <p:sp>
        <p:nvSpPr>
          <p:cNvPr id="512" name="TextBox 511">
            <a:extLst>
              <a:ext uri="{FF2B5EF4-FFF2-40B4-BE49-F238E27FC236}">
                <a16:creationId xmlns:a16="http://schemas.microsoft.com/office/drawing/2014/main" id="{1F94D8F7-F56C-4044-B4A2-EFA8658B0151}"/>
              </a:ext>
            </a:extLst>
          </p:cNvPr>
          <p:cNvSpPr txBox="1"/>
          <p:nvPr/>
        </p:nvSpPr>
        <p:spPr>
          <a:xfrm>
            <a:off x="2529460" y="1384347"/>
            <a:ext cx="370422" cy="369332"/>
          </a:xfrm>
          <a:prstGeom prst="rect">
            <a:avLst/>
          </a:prstGeom>
          <a:noFill/>
        </p:spPr>
        <p:txBody>
          <a:bodyPr wrap="square" rtlCol="0">
            <a:spAutoFit/>
          </a:bodyPr>
          <a:lstStyle/>
          <a:p>
            <a:r>
              <a:rPr lang="en-US" i="1" dirty="0">
                <a:solidFill>
                  <a:srgbClr val="FF0000"/>
                </a:solidFill>
              </a:rPr>
              <a:t>v</a:t>
            </a:r>
          </a:p>
        </p:txBody>
      </p:sp>
      <p:sp>
        <p:nvSpPr>
          <p:cNvPr id="409" name="TextBox 408">
            <a:extLst>
              <a:ext uri="{FF2B5EF4-FFF2-40B4-BE49-F238E27FC236}">
                <a16:creationId xmlns:a16="http://schemas.microsoft.com/office/drawing/2014/main" id="{7F4BE64D-5BB6-3946-92A1-758E1216783E}"/>
              </a:ext>
            </a:extLst>
          </p:cNvPr>
          <p:cNvSpPr txBox="1"/>
          <p:nvPr/>
        </p:nvSpPr>
        <p:spPr>
          <a:xfrm>
            <a:off x="3373839" y="1382288"/>
            <a:ext cx="370422" cy="369332"/>
          </a:xfrm>
          <a:prstGeom prst="rect">
            <a:avLst/>
          </a:prstGeom>
          <a:noFill/>
        </p:spPr>
        <p:txBody>
          <a:bodyPr wrap="square" rtlCol="0">
            <a:spAutoFit/>
          </a:bodyPr>
          <a:lstStyle/>
          <a:p>
            <a:r>
              <a:rPr lang="en-US" i="1" dirty="0">
                <a:solidFill>
                  <a:srgbClr val="FF0000"/>
                </a:solidFill>
              </a:rPr>
              <a:t>w</a:t>
            </a:r>
          </a:p>
        </p:txBody>
      </p:sp>
      <p:sp>
        <p:nvSpPr>
          <p:cNvPr id="410" name="TextBox 409">
            <a:extLst>
              <a:ext uri="{FF2B5EF4-FFF2-40B4-BE49-F238E27FC236}">
                <a16:creationId xmlns:a16="http://schemas.microsoft.com/office/drawing/2014/main" id="{A1DE38EA-067E-254B-81F2-AFB941CD30A7}"/>
              </a:ext>
            </a:extLst>
          </p:cNvPr>
          <p:cNvSpPr txBox="1"/>
          <p:nvPr/>
        </p:nvSpPr>
        <p:spPr>
          <a:xfrm>
            <a:off x="4255287" y="1380228"/>
            <a:ext cx="370422" cy="369332"/>
          </a:xfrm>
          <a:prstGeom prst="rect">
            <a:avLst/>
          </a:prstGeom>
          <a:noFill/>
        </p:spPr>
        <p:txBody>
          <a:bodyPr wrap="square" rtlCol="0">
            <a:spAutoFit/>
          </a:bodyPr>
          <a:lstStyle/>
          <a:p>
            <a:r>
              <a:rPr lang="en-US" i="1" dirty="0">
                <a:solidFill>
                  <a:srgbClr val="FF0000"/>
                </a:solidFill>
              </a:rPr>
              <a:t>x</a:t>
            </a:r>
          </a:p>
        </p:txBody>
      </p:sp>
      <p:sp>
        <p:nvSpPr>
          <p:cNvPr id="411" name="TextBox 410">
            <a:extLst>
              <a:ext uri="{FF2B5EF4-FFF2-40B4-BE49-F238E27FC236}">
                <a16:creationId xmlns:a16="http://schemas.microsoft.com/office/drawing/2014/main" id="{1FC94161-DABC-FD40-9A12-0A0B92FB9413}"/>
              </a:ext>
            </a:extLst>
          </p:cNvPr>
          <p:cNvSpPr txBox="1"/>
          <p:nvPr/>
        </p:nvSpPr>
        <p:spPr>
          <a:xfrm>
            <a:off x="5099667" y="1378168"/>
            <a:ext cx="370422" cy="369332"/>
          </a:xfrm>
          <a:prstGeom prst="rect">
            <a:avLst/>
          </a:prstGeom>
          <a:noFill/>
        </p:spPr>
        <p:txBody>
          <a:bodyPr wrap="square" rtlCol="0">
            <a:spAutoFit/>
          </a:bodyPr>
          <a:lstStyle/>
          <a:p>
            <a:r>
              <a:rPr lang="en-US" i="1" dirty="0">
                <a:solidFill>
                  <a:srgbClr val="FF0000"/>
                </a:solidFill>
              </a:rPr>
              <a:t>y</a:t>
            </a:r>
          </a:p>
        </p:txBody>
      </p:sp>
      <p:sp>
        <p:nvSpPr>
          <p:cNvPr id="412" name="TextBox 411">
            <a:extLst>
              <a:ext uri="{FF2B5EF4-FFF2-40B4-BE49-F238E27FC236}">
                <a16:creationId xmlns:a16="http://schemas.microsoft.com/office/drawing/2014/main" id="{288BE9D6-D8FD-304E-9D68-FE3AAEE6F204}"/>
              </a:ext>
            </a:extLst>
          </p:cNvPr>
          <p:cNvSpPr txBox="1"/>
          <p:nvPr/>
        </p:nvSpPr>
        <p:spPr>
          <a:xfrm>
            <a:off x="5968759" y="1376108"/>
            <a:ext cx="370422" cy="369332"/>
          </a:xfrm>
          <a:prstGeom prst="rect">
            <a:avLst/>
          </a:prstGeom>
          <a:noFill/>
        </p:spPr>
        <p:txBody>
          <a:bodyPr wrap="square" rtlCol="0">
            <a:spAutoFit/>
          </a:bodyPr>
          <a:lstStyle/>
          <a:p>
            <a:r>
              <a:rPr lang="en-US" i="1" dirty="0">
                <a:solidFill>
                  <a:srgbClr val="FF0000"/>
                </a:solidFill>
              </a:rPr>
              <a:t>z</a:t>
            </a:r>
          </a:p>
        </p:txBody>
      </p:sp>
      <p:grpSp>
        <p:nvGrpSpPr>
          <p:cNvPr id="519" name="Group 518">
            <a:extLst>
              <a:ext uri="{FF2B5EF4-FFF2-40B4-BE49-F238E27FC236}">
                <a16:creationId xmlns:a16="http://schemas.microsoft.com/office/drawing/2014/main" id="{CCBC2688-EEF7-0A41-A1D1-FD3592861590}"/>
              </a:ext>
            </a:extLst>
          </p:cNvPr>
          <p:cNvGrpSpPr/>
          <p:nvPr/>
        </p:nvGrpSpPr>
        <p:grpSpPr>
          <a:xfrm>
            <a:off x="1771136" y="1428236"/>
            <a:ext cx="1923534" cy="1652716"/>
            <a:chOff x="1771136" y="1428236"/>
            <a:chExt cx="1923534" cy="1652716"/>
          </a:xfrm>
        </p:grpSpPr>
        <p:sp>
          <p:nvSpPr>
            <p:cNvPr id="513" name="Oval 512">
              <a:extLst>
                <a:ext uri="{FF2B5EF4-FFF2-40B4-BE49-F238E27FC236}">
                  <a16:creationId xmlns:a16="http://schemas.microsoft.com/office/drawing/2014/main" id="{3C2FF37F-A919-434C-8979-051B31CFD835}"/>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15" name="Straight Arrow Connector 514">
              <a:extLst>
                <a:ext uri="{FF2B5EF4-FFF2-40B4-BE49-F238E27FC236}">
                  <a16:creationId xmlns:a16="http://schemas.microsoft.com/office/drawing/2014/main" id="{6361C28B-7EB6-4E49-801C-002A7038AFD0}"/>
                </a:ext>
              </a:extLst>
            </p:cNvPr>
            <p:cNvCxnSpPr>
              <a:cxnSpLocks/>
            </p:cNvCxnSpPr>
            <p:nvPr/>
          </p:nvCxnSpPr>
          <p:spPr>
            <a:xfrm flipH="1">
              <a:off x="2007973" y="1686697"/>
              <a:ext cx="1414851" cy="11430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4" name="Oval 423">
              <a:extLst>
                <a:ext uri="{FF2B5EF4-FFF2-40B4-BE49-F238E27FC236}">
                  <a16:creationId xmlns:a16="http://schemas.microsoft.com/office/drawing/2014/main" id="{5CDBFCDB-3AB4-FE47-9C83-3D6DE05B385E}"/>
                </a:ext>
              </a:extLst>
            </p:cNvPr>
            <p:cNvSpPr/>
            <p:nvPr/>
          </p:nvSpPr>
          <p:spPr>
            <a:xfrm>
              <a:off x="1771136" y="278542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20" name="Group 419">
            <a:extLst>
              <a:ext uri="{FF2B5EF4-FFF2-40B4-BE49-F238E27FC236}">
                <a16:creationId xmlns:a16="http://schemas.microsoft.com/office/drawing/2014/main" id="{34492E69-FC51-D44D-A0DF-E498D79FEC0F}"/>
              </a:ext>
            </a:extLst>
          </p:cNvPr>
          <p:cNvGrpSpPr/>
          <p:nvPr/>
        </p:nvGrpSpPr>
        <p:grpSpPr>
          <a:xfrm>
            <a:off x="1812326" y="1419997"/>
            <a:ext cx="2739080" cy="2146986"/>
            <a:chOff x="955590" y="1428236"/>
            <a:chExt cx="2739080" cy="2146986"/>
          </a:xfrm>
        </p:grpSpPr>
        <p:sp>
          <p:nvSpPr>
            <p:cNvPr id="421" name="Oval 420">
              <a:extLst>
                <a:ext uri="{FF2B5EF4-FFF2-40B4-BE49-F238E27FC236}">
                  <a16:creationId xmlns:a16="http://schemas.microsoft.com/office/drawing/2014/main" id="{8B78A21D-0C51-5E40-A873-B41F0061767F}"/>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22" name="Straight Arrow Connector 421">
              <a:extLst>
                <a:ext uri="{FF2B5EF4-FFF2-40B4-BE49-F238E27FC236}">
                  <a16:creationId xmlns:a16="http://schemas.microsoft.com/office/drawing/2014/main" id="{E057DF8D-CA83-344B-BC32-922BE22FB3C6}"/>
                </a:ext>
              </a:extLst>
            </p:cNvPr>
            <p:cNvCxnSpPr>
              <a:cxnSpLocks/>
              <a:endCxn id="426" idx="7"/>
            </p:cNvCxnSpPr>
            <p:nvPr/>
          </p:nvCxnSpPr>
          <p:spPr>
            <a:xfrm flipH="1">
              <a:off x="1224541" y="1686697"/>
              <a:ext cx="2198284" cy="163627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6" name="Oval 425">
              <a:extLst>
                <a:ext uri="{FF2B5EF4-FFF2-40B4-BE49-F238E27FC236}">
                  <a16:creationId xmlns:a16="http://schemas.microsoft.com/office/drawing/2014/main" id="{1144855E-246F-7640-9688-9DE68CCDF895}"/>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28" name="Group 427">
            <a:extLst>
              <a:ext uri="{FF2B5EF4-FFF2-40B4-BE49-F238E27FC236}">
                <a16:creationId xmlns:a16="http://schemas.microsoft.com/office/drawing/2014/main" id="{5C63813B-DF47-A04D-AB7C-06783AC116F7}"/>
              </a:ext>
            </a:extLst>
          </p:cNvPr>
          <p:cNvGrpSpPr/>
          <p:nvPr/>
        </p:nvGrpSpPr>
        <p:grpSpPr>
          <a:xfrm>
            <a:off x="1853514" y="1417939"/>
            <a:ext cx="990599" cy="2598007"/>
            <a:chOff x="955590" y="977215"/>
            <a:chExt cx="990599" cy="2598007"/>
          </a:xfrm>
        </p:grpSpPr>
        <p:sp>
          <p:nvSpPr>
            <p:cNvPr id="429" name="Oval 428">
              <a:extLst>
                <a:ext uri="{FF2B5EF4-FFF2-40B4-BE49-F238E27FC236}">
                  <a16:creationId xmlns:a16="http://schemas.microsoft.com/office/drawing/2014/main" id="{D4DF0F4E-4FAB-7E4A-B79C-58901FD967B2}"/>
                </a:ext>
              </a:extLst>
            </p:cNvPr>
            <p:cNvSpPr/>
            <p:nvPr/>
          </p:nvSpPr>
          <p:spPr>
            <a:xfrm>
              <a:off x="1631093" y="97721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30" name="Straight Arrow Connector 429">
              <a:extLst>
                <a:ext uri="{FF2B5EF4-FFF2-40B4-BE49-F238E27FC236}">
                  <a16:creationId xmlns:a16="http://schemas.microsoft.com/office/drawing/2014/main" id="{253E7A77-3CD8-4444-8652-326E4122CA29}"/>
                </a:ext>
              </a:extLst>
            </p:cNvPr>
            <p:cNvCxnSpPr>
              <a:cxnSpLocks/>
              <a:stCxn id="429" idx="4"/>
              <a:endCxn id="431" idx="0"/>
            </p:cNvCxnSpPr>
            <p:nvPr/>
          </p:nvCxnSpPr>
          <p:spPr>
            <a:xfrm flipH="1">
              <a:off x="1113138" y="1272747"/>
              <a:ext cx="675503" cy="200694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1" name="Oval 430">
              <a:extLst>
                <a:ext uri="{FF2B5EF4-FFF2-40B4-BE49-F238E27FC236}">
                  <a16:creationId xmlns:a16="http://schemas.microsoft.com/office/drawing/2014/main" id="{77F07FF7-2B96-0646-A06A-6A4413FB14D0}"/>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34" name="Group 433">
            <a:extLst>
              <a:ext uri="{FF2B5EF4-FFF2-40B4-BE49-F238E27FC236}">
                <a16:creationId xmlns:a16="http://schemas.microsoft.com/office/drawing/2014/main" id="{0CCDB2C5-7C8F-BA48-8528-642609B263D7}"/>
              </a:ext>
            </a:extLst>
          </p:cNvPr>
          <p:cNvGrpSpPr/>
          <p:nvPr/>
        </p:nvGrpSpPr>
        <p:grpSpPr>
          <a:xfrm>
            <a:off x="1915299" y="1436471"/>
            <a:ext cx="3480486" cy="3049030"/>
            <a:chOff x="955590" y="526192"/>
            <a:chExt cx="3480486" cy="3049030"/>
          </a:xfrm>
        </p:grpSpPr>
        <p:sp>
          <p:nvSpPr>
            <p:cNvPr id="435" name="Oval 434">
              <a:extLst>
                <a:ext uri="{FF2B5EF4-FFF2-40B4-BE49-F238E27FC236}">
                  <a16:creationId xmlns:a16="http://schemas.microsoft.com/office/drawing/2014/main" id="{B6DFCC8C-1043-294A-BBDC-453DCF8BA68B}"/>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36" name="Straight Arrow Connector 435">
              <a:extLst>
                <a:ext uri="{FF2B5EF4-FFF2-40B4-BE49-F238E27FC236}">
                  <a16:creationId xmlns:a16="http://schemas.microsoft.com/office/drawing/2014/main" id="{97B46750-16A8-574E-A52F-46729E9F7031}"/>
                </a:ext>
              </a:extLst>
            </p:cNvPr>
            <p:cNvCxnSpPr>
              <a:cxnSpLocks/>
              <a:stCxn id="435" idx="3"/>
              <a:endCxn id="437" idx="7"/>
            </p:cNvCxnSpPr>
            <p:nvPr/>
          </p:nvCxnSpPr>
          <p:spPr>
            <a:xfrm flipH="1">
              <a:off x="1224541" y="778444"/>
              <a:ext cx="2942584" cy="254452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7" name="Oval 436">
              <a:extLst>
                <a:ext uri="{FF2B5EF4-FFF2-40B4-BE49-F238E27FC236}">
                  <a16:creationId xmlns:a16="http://schemas.microsoft.com/office/drawing/2014/main" id="{904708D2-FA76-7B48-81BA-5EC9975951EB}"/>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39" name="Group 438">
            <a:extLst>
              <a:ext uri="{FF2B5EF4-FFF2-40B4-BE49-F238E27FC236}">
                <a16:creationId xmlns:a16="http://schemas.microsoft.com/office/drawing/2014/main" id="{D192E325-2F11-F54E-90FD-CBE3F2807D0F}"/>
              </a:ext>
            </a:extLst>
          </p:cNvPr>
          <p:cNvGrpSpPr/>
          <p:nvPr/>
        </p:nvGrpSpPr>
        <p:grpSpPr>
          <a:xfrm>
            <a:off x="1839100" y="1422055"/>
            <a:ext cx="4419599" cy="3537122"/>
            <a:chOff x="16477" y="526192"/>
            <a:chExt cx="4419599" cy="3537122"/>
          </a:xfrm>
        </p:grpSpPr>
        <p:sp>
          <p:nvSpPr>
            <p:cNvPr id="440" name="Oval 439">
              <a:extLst>
                <a:ext uri="{FF2B5EF4-FFF2-40B4-BE49-F238E27FC236}">
                  <a16:creationId xmlns:a16="http://schemas.microsoft.com/office/drawing/2014/main" id="{10536CE6-8D99-2348-945A-2105D954DF20}"/>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41" name="Straight Arrow Connector 440">
              <a:extLst>
                <a:ext uri="{FF2B5EF4-FFF2-40B4-BE49-F238E27FC236}">
                  <a16:creationId xmlns:a16="http://schemas.microsoft.com/office/drawing/2014/main" id="{F0B19E82-F38B-574C-B89D-511382F96E8E}"/>
                </a:ext>
              </a:extLst>
            </p:cNvPr>
            <p:cNvCxnSpPr>
              <a:cxnSpLocks/>
              <a:stCxn id="440" idx="3"/>
              <a:endCxn id="442" idx="7"/>
            </p:cNvCxnSpPr>
            <p:nvPr/>
          </p:nvCxnSpPr>
          <p:spPr>
            <a:xfrm flipH="1">
              <a:off x="285428" y="778444"/>
              <a:ext cx="3881697" cy="303261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2" name="Oval 441">
              <a:extLst>
                <a:ext uri="{FF2B5EF4-FFF2-40B4-BE49-F238E27FC236}">
                  <a16:creationId xmlns:a16="http://schemas.microsoft.com/office/drawing/2014/main" id="{532A319F-9E77-E440-8542-72A35376DAE1}"/>
                </a:ext>
              </a:extLst>
            </p:cNvPr>
            <p:cNvSpPr/>
            <p:nvPr/>
          </p:nvSpPr>
          <p:spPr>
            <a:xfrm>
              <a:off x="16477" y="376778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Tree>
    <p:extLst>
      <p:ext uri="{BB962C8B-B14F-4D97-AF65-F5344CB8AC3E}">
        <p14:creationId xmlns:p14="http://schemas.microsoft.com/office/powerpoint/2010/main" val="3890858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7"/>
                                        </p:tgtEl>
                                        <p:attrNameLst>
                                          <p:attrName>style.visibility</p:attrName>
                                        </p:attrNameLst>
                                      </p:cBhvr>
                                      <p:to>
                                        <p:strVal val="visible"/>
                                      </p:to>
                                    </p:set>
                                    <p:animEffect transition="in" filter="wipe(left)">
                                      <p:cBhvr>
                                        <p:cTn id="7" dur="1000"/>
                                        <p:tgtEl>
                                          <p:spTgt spid="3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86"/>
                                        </p:tgtEl>
                                        <p:attrNameLst>
                                          <p:attrName>style.visibility</p:attrName>
                                        </p:attrNameLst>
                                      </p:cBhvr>
                                      <p:to>
                                        <p:strVal val="visible"/>
                                      </p:to>
                                    </p:set>
                                    <p:animEffect transition="in" filter="dissolve">
                                      <p:cBhvr>
                                        <p:cTn id="12" dur="500"/>
                                        <p:tgtEl>
                                          <p:spTgt spid="386"/>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19"/>
                                        </p:tgtEl>
                                        <p:attrNameLst>
                                          <p:attrName>style.visibility</p:attrName>
                                        </p:attrNameLst>
                                      </p:cBhvr>
                                      <p:to>
                                        <p:strVal val="visible"/>
                                      </p:to>
                                    </p:set>
                                    <p:animEffect transition="in" filter="dissolve">
                                      <p:cBhvr>
                                        <p:cTn id="16" dur="1000"/>
                                        <p:tgtEl>
                                          <p:spTgt spid="519"/>
                                        </p:tgtEl>
                                      </p:cBhvr>
                                    </p:animEffect>
                                  </p:childTnLst>
                                </p:cTn>
                              </p:par>
                            </p:childTnLst>
                          </p:cTn>
                        </p:par>
                        <p:par>
                          <p:cTn id="17" fill="hold">
                            <p:stCondLst>
                              <p:cond delay="1500"/>
                            </p:stCondLst>
                            <p:childTnLst>
                              <p:par>
                                <p:cTn id="18" presetID="9" presetClass="entr" presetSubtype="0" fill="hold" grpId="0" nodeType="afterEffect">
                                  <p:stCondLst>
                                    <p:cond delay="0"/>
                                  </p:stCondLst>
                                  <p:childTnLst>
                                    <p:set>
                                      <p:cBhvr>
                                        <p:cTn id="19" dur="1" fill="hold">
                                          <p:stCondLst>
                                            <p:cond delay="0"/>
                                          </p:stCondLst>
                                        </p:cTn>
                                        <p:tgtEl>
                                          <p:spTgt spid="373"/>
                                        </p:tgtEl>
                                        <p:attrNameLst>
                                          <p:attrName>style.visibility</p:attrName>
                                        </p:attrNameLst>
                                      </p:cBhvr>
                                      <p:to>
                                        <p:strVal val="visible"/>
                                      </p:to>
                                    </p:set>
                                    <p:animEffect transition="in" filter="dissolve">
                                      <p:cBhvr>
                                        <p:cTn id="20" dur="500"/>
                                        <p:tgtEl>
                                          <p:spTgt spid="373"/>
                                        </p:tgtEl>
                                      </p:cBhvr>
                                    </p:animEffect>
                                  </p:childTnLst>
                                </p:cTn>
                              </p:par>
                            </p:childTnLst>
                          </p:cTn>
                        </p:par>
                        <p:par>
                          <p:cTn id="21" fill="hold">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403"/>
                                        </p:tgtEl>
                                        <p:attrNameLst>
                                          <p:attrName>style.visibility</p:attrName>
                                        </p:attrNameLst>
                                      </p:cBhvr>
                                      <p:to>
                                        <p:strVal val="visible"/>
                                      </p:to>
                                    </p:set>
                                    <p:animEffect transition="in" filter="dissolve">
                                      <p:cBhvr>
                                        <p:cTn id="24" dur="1000"/>
                                        <p:tgtEl>
                                          <p:spTgt spid="40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374"/>
                                        </p:tgtEl>
                                        <p:attrNameLst>
                                          <p:attrName>style.visibility</p:attrName>
                                        </p:attrNameLst>
                                      </p:cBhvr>
                                      <p:to>
                                        <p:strVal val="visible"/>
                                      </p:to>
                                    </p:set>
                                    <p:animEffect transition="in" filter="wipe(left)">
                                      <p:cBhvr>
                                        <p:cTn id="29" dur="1000"/>
                                        <p:tgtEl>
                                          <p:spTgt spid="374"/>
                                        </p:tgtEl>
                                      </p:cBhvr>
                                    </p:animEffect>
                                  </p:childTnLst>
                                </p:cTn>
                              </p:par>
                              <p:par>
                                <p:cTn id="30" presetID="9" presetClass="exit" presetSubtype="0" fill="hold" nodeType="withEffect">
                                  <p:stCondLst>
                                    <p:cond delay="0"/>
                                  </p:stCondLst>
                                  <p:childTnLst>
                                    <p:animEffect transition="out" filter="dissolve">
                                      <p:cBhvr>
                                        <p:cTn id="31" dur="500"/>
                                        <p:tgtEl>
                                          <p:spTgt spid="519"/>
                                        </p:tgtEl>
                                      </p:cBhvr>
                                    </p:animEffect>
                                    <p:set>
                                      <p:cBhvr>
                                        <p:cTn id="32" dur="1" fill="hold">
                                          <p:stCondLst>
                                            <p:cond delay="499"/>
                                          </p:stCondLst>
                                        </p:cTn>
                                        <p:tgtEl>
                                          <p:spTgt spid="51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87"/>
                                        </p:tgtEl>
                                        <p:attrNameLst>
                                          <p:attrName>style.visibility</p:attrName>
                                        </p:attrNameLst>
                                      </p:cBhvr>
                                      <p:to>
                                        <p:strVal val="visible"/>
                                      </p:to>
                                    </p:set>
                                    <p:animEffect transition="in" filter="dissolve">
                                      <p:cBhvr>
                                        <p:cTn id="37" dur="500"/>
                                        <p:tgtEl>
                                          <p:spTgt spid="387"/>
                                        </p:tgtEl>
                                      </p:cBhvr>
                                    </p:animEffect>
                                  </p:childTnLst>
                                </p:cTn>
                              </p:par>
                            </p:childTnLst>
                          </p:cTn>
                        </p:par>
                        <p:par>
                          <p:cTn id="38" fill="hold">
                            <p:stCondLst>
                              <p:cond delay="500"/>
                            </p:stCondLst>
                            <p:childTnLst>
                              <p:par>
                                <p:cTn id="39" presetID="9" presetClass="entr" presetSubtype="0" fill="hold" nodeType="afterEffect">
                                  <p:stCondLst>
                                    <p:cond delay="0"/>
                                  </p:stCondLst>
                                  <p:childTnLst>
                                    <p:set>
                                      <p:cBhvr>
                                        <p:cTn id="40" dur="1" fill="hold">
                                          <p:stCondLst>
                                            <p:cond delay="0"/>
                                          </p:stCondLst>
                                        </p:cTn>
                                        <p:tgtEl>
                                          <p:spTgt spid="420"/>
                                        </p:tgtEl>
                                        <p:attrNameLst>
                                          <p:attrName>style.visibility</p:attrName>
                                        </p:attrNameLst>
                                      </p:cBhvr>
                                      <p:to>
                                        <p:strVal val="visible"/>
                                      </p:to>
                                    </p:set>
                                    <p:animEffect transition="in" filter="dissolve">
                                      <p:cBhvr>
                                        <p:cTn id="41" dur="1000"/>
                                        <p:tgtEl>
                                          <p:spTgt spid="420"/>
                                        </p:tgtEl>
                                      </p:cBhvr>
                                    </p:animEffect>
                                  </p:childTnLst>
                                </p:cTn>
                              </p:par>
                            </p:childTnLst>
                          </p:cTn>
                        </p:par>
                        <p:par>
                          <p:cTn id="42" fill="hold">
                            <p:stCondLst>
                              <p:cond delay="1500"/>
                            </p:stCondLst>
                            <p:childTnLst>
                              <p:par>
                                <p:cTn id="43" presetID="9" presetClass="entr" presetSubtype="0" fill="hold" grpId="0" nodeType="afterEffect">
                                  <p:stCondLst>
                                    <p:cond delay="0"/>
                                  </p:stCondLst>
                                  <p:childTnLst>
                                    <p:set>
                                      <p:cBhvr>
                                        <p:cTn id="44" dur="1" fill="hold">
                                          <p:stCondLst>
                                            <p:cond delay="0"/>
                                          </p:stCondLst>
                                        </p:cTn>
                                        <p:tgtEl>
                                          <p:spTgt spid="388"/>
                                        </p:tgtEl>
                                        <p:attrNameLst>
                                          <p:attrName>style.visibility</p:attrName>
                                        </p:attrNameLst>
                                      </p:cBhvr>
                                      <p:to>
                                        <p:strVal val="visible"/>
                                      </p:to>
                                    </p:set>
                                    <p:animEffect transition="in" filter="dissolve">
                                      <p:cBhvr>
                                        <p:cTn id="45" dur="500"/>
                                        <p:tgtEl>
                                          <p:spTgt spid="388"/>
                                        </p:tgtEl>
                                      </p:cBhvr>
                                    </p:animEffect>
                                  </p:childTnLst>
                                </p:cTn>
                              </p:par>
                            </p:childTnLst>
                          </p:cTn>
                        </p:par>
                        <p:par>
                          <p:cTn id="46" fill="hold">
                            <p:stCondLst>
                              <p:cond delay="2000"/>
                            </p:stCondLst>
                            <p:childTnLst>
                              <p:par>
                                <p:cTn id="47" presetID="9" presetClass="entr" presetSubtype="0" fill="hold" grpId="0" nodeType="afterEffect">
                                  <p:stCondLst>
                                    <p:cond delay="0"/>
                                  </p:stCondLst>
                                  <p:childTnLst>
                                    <p:set>
                                      <p:cBhvr>
                                        <p:cTn id="48" dur="1" fill="hold">
                                          <p:stCondLst>
                                            <p:cond delay="0"/>
                                          </p:stCondLst>
                                        </p:cTn>
                                        <p:tgtEl>
                                          <p:spTgt spid="402"/>
                                        </p:tgtEl>
                                        <p:attrNameLst>
                                          <p:attrName>style.visibility</p:attrName>
                                        </p:attrNameLst>
                                      </p:cBhvr>
                                      <p:to>
                                        <p:strVal val="visible"/>
                                      </p:to>
                                    </p:set>
                                    <p:animEffect transition="in" filter="dissolve">
                                      <p:cBhvr>
                                        <p:cTn id="49" dur="1000"/>
                                        <p:tgtEl>
                                          <p:spTgt spid="402"/>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380"/>
                                        </p:tgtEl>
                                        <p:attrNameLst>
                                          <p:attrName>style.visibility</p:attrName>
                                        </p:attrNameLst>
                                      </p:cBhvr>
                                      <p:to>
                                        <p:strVal val="visible"/>
                                      </p:to>
                                    </p:set>
                                    <p:animEffect transition="in" filter="wipe(left)">
                                      <p:cBhvr>
                                        <p:cTn id="54" dur="1000"/>
                                        <p:tgtEl>
                                          <p:spTgt spid="380"/>
                                        </p:tgtEl>
                                      </p:cBhvr>
                                    </p:animEffect>
                                  </p:childTnLst>
                                </p:cTn>
                              </p:par>
                              <p:par>
                                <p:cTn id="55" presetID="9" presetClass="exit" presetSubtype="0" fill="hold" nodeType="withEffect">
                                  <p:stCondLst>
                                    <p:cond delay="0"/>
                                  </p:stCondLst>
                                  <p:childTnLst>
                                    <p:animEffect transition="out" filter="dissolve">
                                      <p:cBhvr>
                                        <p:cTn id="56" dur="500"/>
                                        <p:tgtEl>
                                          <p:spTgt spid="420"/>
                                        </p:tgtEl>
                                      </p:cBhvr>
                                    </p:animEffect>
                                    <p:set>
                                      <p:cBhvr>
                                        <p:cTn id="57" dur="1" fill="hold">
                                          <p:stCondLst>
                                            <p:cond delay="499"/>
                                          </p:stCondLst>
                                        </p:cTn>
                                        <p:tgtEl>
                                          <p:spTgt spid="420"/>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389"/>
                                        </p:tgtEl>
                                        <p:attrNameLst>
                                          <p:attrName>style.visibility</p:attrName>
                                        </p:attrNameLst>
                                      </p:cBhvr>
                                      <p:to>
                                        <p:strVal val="visible"/>
                                      </p:to>
                                    </p:set>
                                    <p:animEffect transition="in" filter="dissolve">
                                      <p:cBhvr>
                                        <p:cTn id="62" dur="500"/>
                                        <p:tgtEl>
                                          <p:spTgt spid="389"/>
                                        </p:tgtEl>
                                      </p:cBhvr>
                                    </p:animEffect>
                                  </p:childTnLst>
                                </p:cTn>
                              </p:par>
                            </p:childTnLst>
                          </p:cTn>
                        </p:par>
                        <p:par>
                          <p:cTn id="63" fill="hold">
                            <p:stCondLst>
                              <p:cond delay="500"/>
                            </p:stCondLst>
                            <p:childTnLst>
                              <p:par>
                                <p:cTn id="64" presetID="9" presetClass="entr" presetSubtype="0" fill="hold" nodeType="afterEffect">
                                  <p:stCondLst>
                                    <p:cond delay="0"/>
                                  </p:stCondLst>
                                  <p:childTnLst>
                                    <p:set>
                                      <p:cBhvr>
                                        <p:cTn id="65" dur="1" fill="hold">
                                          <p:stCondLst>
                                            <p:cond delay="0"/>
                                          </p:stCondLst>
                                        </p:cTn>
                                        <p:tgtEl>
                                          <p:spTgt spid="428"/>
                                        </p:tgtEl>
                                        <p:attrNameLst>
                                          <p:attrName>style.visibility</p:attrName>
                                        </p:attrNameLst>
                                      </p:cBhvr>
                                      <p:to>
                                        <p:strVal val="visible"/>
                                      </p:to>
                                    </p:set>
                                    <p:animEffect transition="in" filter="dissolve">
                                      <p:cBhvr>
                                        <p:cTn id="66" dur="1000"/>
                                        <p:tgtEl>
                                          <p:spTgt spid="428"/>
                                        </p:tgtEl>
                                      </p:cBhvr>
                                    </p:animEffect>
                                  </p:childTnLst>
                                </p:cTn>
                              </p:par>
                            </p:childTnLst>
                          </p:cTn>
                        </p:par>
                        <p:par>
                          <p:cTn id="67" fill="hold">
                            <p:stCondLst>
                              <p:cond delay="1500"/>
                            </p:stCondLst>
                            <p:childTnLst>
                              <p:par>
                                <p:cTn id="68" presetID="9" presetClass="entr" presetSubtype="0" fill="hold" grpId="0" nodeType="afterEffect">
                                  <p:stCondLst>
                                    <p:cond delay="0"/>
                                  </p:stCondLst>
                                  <p:childTnLst>
                                    <p:set>
                                      <p:cBhvr>
                                        <p:cTn id="69" dur="1" fill="hold">
                                          <p:stCondLst>
                                            <p:cond delay="0"/>
                                          </p:stCondLst>
                                        </p:cTn>
                                        <p:tgtEl>
                                          <p:spTgt spid="390"/>
                                        </p:tgtEl>
                                        <p:attrNameLst>
                                          <p:attrName>style.visibility</p:attrName>
                                        </p:attrNameLst>
                                      </p:cBhvr>
                                      <p:to>
                                        <p:strVal val="visible"/>
                                      </p:to>
                                    </p:set>
                                    <p:animEffect transition="in" filter="dissolve">
                                      <p:cBhvr>
                                        <p:cTn id="70" dur="500"/>
                                        <p:tgtEl>
                                          <p:spTgt spid="390"/>
                                        </p:tgtEl>
                                      </p:cBhvr>
                                    </p:animEffect>
                                  </p:childTnLst>
                                </p:cTn>
                              </p:par>
                            </p:childTnLst>
                          </p:cTn>
                        </p:par>
                        <p:par>
                          <p:cTn id="71" fill="hold">
                            <p:stCondLst>
                              <p:cond delay="2000"/>
                            </p:stCondLst>
                            <p:childTnLst>
                              <p:par>
                                <p:cTn id="72" presetID="9" presetClass="entr" presetSubtype="0" fill="hold" grpId="0" nodeType="afterEffect">
                                  <p:stCondLst>
                                    <p:cond delay="0"/>
                                  </p:stCondLst>
                                  <p:childTnLst>
                                    <p:set>
                                      <p:cBhvr>
                                        <p:cTn id="73" dur="1" fill="hold">
                                          <p:stCondLst>
                                            <p:cond delay="0"/>
                                          </p:stCondLst>
                                        </p:cTn>
                                        <p:tgtEl>
                                          <p:spTgt spid="401"/>
                                        </p:tgtEl>
                                        <p:attrNameLst>
                                          <p:attrName>style.visibility</p:attrName>
                                        </p:attrNameLst>
                                      </p:cBhvr>
                                      <p:to>
                                        <p:strVal val="visible"/>
                                      </p:to>
                                    </p:set>
                                    <p:animEffect transition="in" filter="dissolve">
                                      <p:cBhvr>
                                        <p:cTn id="74" dur="1000"/>
                                        <p:tgtEl>
                                          <p:spTgt spid="401"/>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391"/>
                                        </p:tgtEl>
                                        <p:attrNameLst>
                                          <p:attrName>style.visibility</p:attrName>
                                        </p:attrNameLst>
                                      </p:cBhvr>
                                      <p:to>
                                        <p:strVal val="visible"/>
                                      </p:to>
                                    </p:set>
                                    <p:animEffect transition="in" filter="wipe(left)">
                                      <p:cBhvr>
                                        <p:cTn id="79" dur="1000"/>
                                        <p:tgtEl>
                                          <p:spTgt spid="391"/>
                                        </p:tgtEl>
                                      </p:cBhvr>
                                    </p:animEffect>
                                  </p:childTnLst>
                                </p:cTn>
                              </p:par>
                              <p:par>
                                <p:cTn id="80" presetID="9" presetClass="exit" presetSubtype="0" fill="hold" nodeType="withEffect">
                                  <p:stCondLst>
                                    <p:cond delay="0"/>
                                  </p:stCondLst>
                                  <p:childTnLst>
                                    <p:animEffect transition="out" filter="dissolve">
                                      <p:cBhvr>
                                        <p:cTn id="81" dur="500"/>
                                        <p:tgtEl>
                                          <p:spTgt spid="428"/>
                                        </p:tgtEl>
                                      </p:cBhvr>
                                    </p:animEffect>
                                    <p:set>
                                      <p:cBhvr>
                                        <p:cTn id="82" dur="1" fill="hold">
                                          <p:stCondLst>
                                            <p:cond delay="499"/>
                                          </p:stCondLst>
                                        </p:cTn>
                                        <p:tgtEl>
                                          <p:spTgt spid="428"/>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394"/>
                                        </p:tgtEl>
                                        <p:attrNameLst>
                                          <p:attrName>style.visibility</p:attrName>
                                        </p:attrNameLst>
                                      </p:cBhvr>
                                      <p:to>
                                        <p:strVal val="visible"/>
                                      </p:to>
                                    </p:set>
                                    <p:animEffect transition="in" filter="dissolve">
                                      <p:cBhvr>
                                        <p:cTn id="87" dur="500"/>
                                        <p:tgtEl>
                                          <p:spTgt spid="394"/>
                                        </p:tgtEl>
                                      </p:cBhvr>
                                    </p:animEffect>
                                  </p:childTnLst>
                                </p:cTn>
                              </p:par>
                            </p:childTnLst>
                          </p:cTn>
                        </p:par>
                        <p:par>
                          <p:cTn id="88" fill="hold">
                            <p:stCondLst>
                              <p:cond delay="500"/>
                            </p:stCondLst>
                            <p:childTnLst>
                              <p:par>
                                <p:cTn id="89" presetID="9" presetClass="entr" presetSubtype="0" fill="hold" nodeType="afterEffect">
                                  <p:stCondLst>
                                    <p:cond delay="0"/>
                                  </p:stCondLst>
                                  <p:childTnLst>
                                    <p:set>
                                      <p:cBhvr>
                                        <p:cTn id="90" dur="1" fill="hold">
                                          <p:stCondLst>
                                            <p:cond delay="0"/>
                                          </p:stCondLst>
                                        </p:cTn>
                                        <p:tgtEl>
                                          <p:spTgt spid="434"/>
                                        </p:tgtEl>
                                        <p:attrNameLst>
                                          <p:attrName>style.visibility</p:attrName>
                                        </p:attrNameLst>
                                      </p:cBhvr>
                                      <p:to>
                                        <p:strVal val="visible"/>
                                      </p:to>
                                    </p:set>
                                    <p:animEffect transition="in" filter="dissolve">
                                      <p:cBhvr>
                                        <p:cTn id="91" dur="1000"/>
                                        <p:tgtEl>
                                          <p:spTgt spid="434"/>
                                        </p:tgtEl>
                                      </p:cBhvr>
                                    </p:animEffect>
                                  </p:childTnLst>
                                </p:cTn>
                              </p:par>
                            </p:childTnLst>
                          </p:cTn>
                        </p:par>
                        <p:par>
                          <p:cTn id="92" fill="hold">
                            <p:stCondLst>
                              <p:cond delay="1500"/>
                            </p:stCondLst>
                            <p:childTnLst>
                              <p:par>
                                <p:cTn id="93" presetID="9" presetClass="entr" presetSubtype="0" fill="hold" grpId="0" nodeType="afterEffect">
                                  <p:stCondLst>
                                    <p:cond delay="0"/>
                                  </p:stCondLst>
                                  <p:childTnLst>
                                    <p:set>
                                      <p:cBhvr>
                                        <p:cTn id="94" dur="1" fill="hold">
                                          <p:stCondLst>
                                            <p:cond delay="0"/>
                                          </p:stCondLst>
                                        </p:cTn>
                                        <p:tgtEl>
                                          <p:spTgt spid="395"/>
                                        </p:tgtEl>
                                        <p:attrNameLst>
                                          <p:attrName>style.visibility</p:attrName>
                                        </p:attrNameLst>
                                      </p:cBhvr>
                                      <p:to>
                                        <p:strVal val="visible"/>
                                      </p:to>
                                    </p:set>
                                    <p:animEffect transition="in" filter="dissolve">
                                      <p:cBhvr>
                                        <p:cTn id="95" dur="500"/>
                                        <p:tgtEl>
                                          <p:spTgt spid="395"/>
                                        </p:tgtEl>
                                      </p:cBhvr>
                                    </p:animEffect>
                                  </p:childTnLst>
                                </p:cTn>
                              </p:par>
                            </p:childTnLst>
                          </p:cTn>
                        </p:par>
                        <p:par>
                          <p:cTn id="96" fill="hold">
                            <p:stCondLst>
                              <p:cond delay="2000"/>
                            </p:stCondLst>
                            <p:childTnLst>
                              <p:par>
                                <p:cTn id="97" presetID="9" presetClass="entr" presetSubtype="0" fill="hold" grpId="0" nodeType="afterEffect">
                                  <p:stCondLst>
                                    <p:cond delay="0"/>
                                  </p:stCondLst>
                                  <p:childTnLst>
                                    <p:set>
                                      <p:cBhvr>
                                        <p:cTn id="98" dur="1" fill="hold">
                                          <p:stCondLst>
                                            <p:cond delay="0"/>
                                          </p:stCondLst>
                                        </p:cTn>
                                        <p:tgtEl>
                                          <p:spTgt spid="400"/>
                                        </p:tgtEl>
                                        <p:attrNameLst>
                                          <p:attrName>style.visibility</p:attrName>
                                        </p:attrNameLst>
                                      </p:cBhvr>
                                      <p:to>
                                        <p:strVal val="visible"/>
                                      </p:to>
                                    </p:set>
                                    <p:animEffect transition="in" filter="dissolve">
                                      <p:cBhvr>
                                        <p:cTn id="99" dur="1000"/>
                                        <p:tgtEl>
                                          <p:spTgt spid="400"/>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396"/>
                                        </p:tgtEl>
                                        <p:attrNameLst>
                                          <p:attrName>style.visibility</p:attrName>
                                        </p:attrNameLst>
                                      </p:cBhvr>
                                      <p:to>
                                        <p:strVal val="visible"/>
                                      </p:to>
                                    </p:set>
                                    <p:animEffect transition="in" filter="wipe(left)">
                                      <p:cBhvr>
                                        <p:cTn id="104" dur="1000"/>
                                        <p:tgtEl>
                                          <p:spTgt spid="396"/>
                                        </p:tgtEl>
                                      </p:cBhvr>
                                    </p:animEffect>
                                  </p:childTnLst>
                                </p:cTn>
                              </p:par>
                              <p:par>
                                <p:cTn id="105" presetID="9" presetClass="exit" presetSubtype="0" fill="hold" nodeType="withEffect">
                                  <p:stCondLst>
                                    <p:cond delay="0"/>
                                  </p:stCondLst>
                                  <p:childTnLst>
                                    <p:animEffect transition="out" filter="dissolve">
                                      <p:cBhvr>
                                        <p:cTn id="106" dur="500"/>
                                        <p:tgtEl>
                                          <p:spTgt spid="434"/>
                                        </p:tgtEl>
                                      </p:cBhvr>
                                    </p:animEffect>
                                    <p:set>
                                      <p:cBhvr>
                                        <p:cTn id="107" dur="1" fill="hold">
                                          <p:stCondLst>
                                            <p:cond delay="499"/>
                                          </p:stCondLst>
                                        </p:cTn>
                                        <p:tgtEl>
                                          <p:spTgt spid="434"/>
                                        </p:tgtEl>
                                        <p:attrNameLst>
                                          <p:attrName>style.visibility</p:attrName>
                                        </p:attrNameLst>
                                      </p:cBhvr>
                                      <p:to>
                                        <p:strVal val="hidden"/>
                                      </p:to>
                                    </p:set>
                                  </p:childTnLst>
                                </p:cTn>
                              </p:par>
                            </p:childTnLst>
                          </p:cTn>
                        </p:par>
                      </p:childTnLst>
                    </p:cTn>
                  </p:par>
                  <p:par>
                    <p:cTn id="108" fill="hold">
                      <p:stCondLst>
                        <p:cond delay="indefinite"/>
                      </p:stCondLst>
                      <p:childTnLst>
                        <p:par>
                          <p:cTn id="109" fill="hold">
                            <p:stCondLst>
                              <p:cond delay="0"/>
                            </p:stCondLst>
                            <p:childTnLst>
                              <p:par>
                                <p:cTn id="110" presetID="9" presetClass="entr" presetSubtype="0" fill="hold" grpId="0" nodeType="clickEffect">
                                  <p:stCondLst>
                                    <p:cond delay="0"/>
                                  </p:stCondLst>
                                  <p:childTnLst>
                                    <p:set>
                                      <p:cBhvr>
                                        <p:cTn id="111" dur="1" fill="hold">
                                          <p:stCondLst>
                                            <p:cond delay="0"/>
                                          </p:stCondLst>
                                        </p:cTn>
                                        <p:tgtEl>
                                          <p:spTgt spid="397"/>
                                        </p:tgtEl>
                                        <p:attrNameLst>
                                          <p:attrName>style.visibility</p:attrName>
                                        </p:attrNameLst>
                                      </p:cBhvr>
                                      <p:to>
                                        <p:strVal val="visible"/>
                                      </p:to>
                                    </p:set>
                                    <p:animEffect transition="in" filter="dissolve">
                                      <p:cBhvr>
                                        <p:cTn id="112" dur="500"/>
                                        <p:tgtEl>
                                          <p:spTgt spid="39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439"/>
                                        </p:tgtEl>
                                        <p:attrNameLst>
                                          <p:attrName>style.visibility</p:attrName>
                                        </p:attrNameLst>
                                      </p:cBhvr>
                                      <p:to>
                                        <p:strVal val="visible"/>
                                      </p:to>
                                    </p:set>
                                    <p:animEffect transition="in" filter="dissolve">
                                      <p:cBhvr>
                                        <p:cTn id="116" dur="1000"/>
                                        <p:tgtEl>
                                          <p:spTgt spid="439"/>
                                        </p:tgtEl>
                                      </p:cBhvr>
                                    </p:animEffect>
                                  </p:childTnLst>
                                </p:cTn>
                              </p:par>
                            </p:childTnLst>
                          </p:cTn>
                        </p:par>
                        <p:par>
                          <p:cTn id="117" fill="hold">
                            <p:stCondLst>
                              <p:cond delay="1500"/>
                            </p:stCondLst>
                            <p:childTnLst>
                              <p:par>
                                <p:cTn id="118" presetID="9" presetClass="entr" presetSubtype="0" fill="hold" grpId="0" nodeType="afterEffect">
                                  <p:stCondLst>
                                    <p:cond delay="0"/>
                                  </p:stCondLst>
                                  <p:childTnLst>
                                    <p:set>
                                      <p:cBhvr>
                                        <p:cTn id="119" dur="1" fill="hold">
                                          <p:stCondLst>
                                            <p:cond delay="0"/>
                                          </p:stCondLst>
                                        </p:cTn>
                                        <p:tgtEl>
                                          <p:spTgt spid="404"/>
                                        </p:tgtEl>
                                        <p:attrNameLst>
                                          <p:attrName>style.visibility</p:attrName>
                                        </p:attrNameLst>
                                      </p:cBhvr>
                                      <p:to>
                                        <p:strVal val="visible"/>
                                      </p:to>
                                    </p:set>
                                    <p:animEffect transition="in" filter="dissolve">
                                      <p:cBhvr>
                                        <p:cTn id="120" dur="500"/>
                                        <p:tgtEl>
                                          <p:spTgt spid="404"/>
                                        </p:tgtEl>
                                      </p:cBhvr>
                                    </p:animEffect>
                                  </p:childTnLst>
                                </p:cTn>
                              </p:par>
                            </p:childTnLst>
                          </p:cTn>
                        </p:par>
                        <p:par>
                          <p:cTn id="121" fill="hold">
                            <p:stCondLst>
                              <p:cond delay="2000"/>
                            </p:stCondLst>
                            <p:childTnLst>
                              <p:par>
                                <p:cTn id="122" presetID="9" presetClass="entr" presetSubtype="0" fill="hold" grpId="0" nodeType="afterEffect">
                                  <p:stCondLst>
                                    <p:cond delay="0"/>
                                  </p:stCondLst>
                                  <p:childTnLst>
                                    <p:set>
                                      <p:cBhvr>
                                        <p:cTn id="123" dur="1" fill="hold">
                                          <p:stCondLst>
                                            <p:cond delay="0"/>
                                          </p:stCondLst>
                                        </p:cTn>
                                        <p:tgtEl>
                                          <p:spTgt spid="399"/>
                                        </p:tgtEl>
                                        <p:attrNameLst>
                                          <p:attrName>style.visibility</p:attrName>
                                        </p:attrNameLst>
                                      </p:cBhvr>
                                      <p:to>
                                        <p:strVal val="visible"/>
                                      </p:to>
                                    </p:set>
                                    <p:animEffect transition="in" filter="dissolve">
                                      <p:cBhvr>
                                        <p:cTn id="124" dur="1000"/>
                                        <p:tgtEl>
                                          <p:spTgt spid="399"/>
                                        </p:tgtEl>
                                      </p:cBhvr>
                                    </p:animEffect>
                                  </p:childTnLst>
                                </p:cTn>
                              </p:par>
                            </p:childTnLst>
                          </p:cTn>
                        </p:par>
                      </p:childTnLst>
                    </p:cTn>
                  </p:par>
                  <p:par>
                    <p:cTn id="125" fill="hold">
                      <p:stCondLst>
                        <p:cond delay="indefinite"/>
                      </p:stCondLst>
                      <p:childTnLst>
                        <p:par>
                          <p:cTn id="126" fill="hold">
                            <p:stCondLst>
                              <p:cond delay="0"/>
                            </p:stCondLst>
                            <p:childTnLst>
                              <p:par>
                                <p:cTn id="127" presetID="9" presetClass="entr" presetSubtype="0" fill="hold" grpId="0" nodeType="clickEffect">
                                  <p:stCondLst>
                                    <p:cond delay="0"/>
                                  </p:stCondLst>
                                  <p:childTnLst>
                                    <p:set>
                                      <p:cBhvr>
                                        <p:cTn id="128" dur="1" fill="hold">
                                          <p:stCondLst>
                                            <p:cond delay="0"/>
                                          </p:stCondLst>
                                        </p:cTn>
                                        <p:tgtEl>
                                          <p:spTgt spid="398"/>
                                        </p:tgtEl>
                                        <p:attrNameLst>
                                          <p:attrName>style.visibility</p:attrName>
                                        </p:attrNameLst>
                                      </p:cBhvr>
                                      <p:to>
                                        <p:strVal val="visible"/>
                                      </p:to>
                                    </p:set>
                                    <p:animEffect transition="in" filter="dissolve">
                                      <p:cBhvr>
                                        <p:cTn id="129" dur="500"/>
                                        <p:tgtEl>
                                          <p:spTgt spid="398"/>
                                        </p:tgtEl>
                                      </p:cBhvr>
                                    </p:animEffect>
                                  </p:childTnLst>
                                </p:cTn>
                              </p:par>
                              <p:par>
                                <p:cTn id="130" presetID="9" presetClass="exit" presetSubtype="0" fill="hold" nodeType="withEffect">
                                  <p:stCondLst>
                                    <p:cond delay="0"/>
                                  </p:stCondLst>
                                  <p:childTnLst>
                                    <p:animEffect transition="out" filter="dissolve">
                                      <p:cBhvr>
                                        <p:cTn id="131" dur="500"/>
                                        <p:tgtEl>
                                          <p:spTgt spid="439"/>
                                        </p:tgtEl>
                                      </p:cBhvr>
                                    </p:animEffect>
                                    <p:set>
                                      <p:cBhvr>
                                        <p:cTn id="132" dur="1" fill="hold">
                                          <p:stCondLst>
                                            <p:cond delay="499"/>
                                          </p:stCondLst>
                                        </p:cTn>
                                        <p:tgtEl>
                                          <p:spTgt spid="4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 grpId="0"/>
      <p:bldP spid="386" grpId="0" animBg="1"/>
      <p:bldP spid="387" grpId="0" animBg="1"/>
      <p:bldP spid="388" grpId="0"/>
      <p:bldP spid="389" grpId="0" animBg="1"/>
      <p:bldP spid="390" grpId="0"/>
      <p:bldP spid="394" grpId="0" animBg="1"/>
      <p:bldP spid="395" grpId="0"/>
      <p:bldP spid="396" grpId="0"/>
      <p:bldP spid="397" grpId="0" animBg="1"/>
      <p:bldP spid="398" grpId="0"/>
      <p:bldP spid="399" grpId="0" animBg="1"/>
      <p:bldP spid="400" grpId="0" animBg="1"/>
      <p:bldP spid="401" grpId="0" animBg="1"/>
      <p:bldP spid="402" grpId="0" animBg="1"/>
      <p:bldP spid="403" grpId="0" animBg="1"/>
      <p:bldP spid="40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CAD535FA-3323-5A43-A352-F3C8C44E3B62}"/>
              </a:ext>
            </a:extLst>
          </p:cNvPr>
          <p:cNvSpPr>
            <a:spLocks noGrp="1"/>
          </p:cNvSpPr>
          <p:nvPr>
            <p:ph idx="1"/>
          </p:nvPr>
        </p:nvSpPr>
        <p:spPr>
          <a:xfrm>
            <a:off x="838200" y="1724027"/>
            <a:ext cx="10813026" cy="517728"/>
          </a:xfrm>
        </p:spPr>
        <p:txBody>
          <a:bodyPr>
            <a:normAutofit lnSpcReduction="10000"/>
          </a:bodyPr>
          <a:lstStyle/>
          <a:p>
            <a:pPr marL="130175" indent="0">
              <a:buNone/>
            </a:pPr>
            <a:r>
              <a:rPr lang="en-US" sz="3200" dirty="0"/>
              <a:t>Based on </a:t>
            </a:r>
            <a:r>
              <a:rPr lang="en-US" sz="3200" i="1" dirty="0">
                <a:solidFill>
                  <a:srgbClr val="0000A8"/>
                </a:solidFill>
              </a:rPr>
              <a:t>Bellman-Ford</a:t>
            </a:r>
            <a:r>
              <a:rPr lang="en-US" sz="3200" dirty="0"/>
              <a:t> (BF) equation (dynamic programming):</a:t>
            </a:r>
          </a:p>
          <a:p>
            <a:endParaRPr lang="en-US" dirty="0"/>
          </a:p>
        </p:txBody>
      </p:sp>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48</a:t>
            </a:fld>
            <a:endParaRPr lang="en-US" dirty="0">
              <a:solidFill>
                <a:prstClr val="white">
                  <a:lumMod val="50000"/>
                </a:prstClr>
              </a:solidFill>
            </a:endParaRPr>
          </a:p>
        </p:txBody>
      </p:sp>
      <p:grpSp>
        <p:nvGrpSpPr>
          <p:cNvPr id="30" name="Group 29">
            <a:extLst>
              <a:ext uri="{FF2B5EF4-FFF2-40B4-BE49-F238E27FC236}">
                <a16:creationId xmlns:a16="http://schemas.microsoft.com/office/drawing/2014/main" id="{2FFC0ED4-C8EE-C348-BF6A-3B5057DBF745}"/>
              </a:ext>
            </a:extLst>
          </p:cNvPr>
          <p:cNvGrpSpPr/>
          <p:nvPr/>
        </p:nvGrpSpPr>
        <p:grpSpPr>
          <a:xfrm>
            <a:off x="1902542" y="2507226"/>
            <a:ext cx="8854256" cy="2757948"/>
            <a:chOff x="1902542" y="2507226"/>
            <a:chExt cx="8854256" cy="2757948"/>
          </a:xfrm>
        </p:grpSpPr>
        <p:sp>
          <p:nvSpPr>
            <p:cNvPr id="8" name="Rectangle 3">
              <a:extLst>
                <a:ext uri="{FF2B5EF4-FFF2-40B4-BE49-F238E27FC236}">
                  <a16:creationId xmlns:a16="http://schemas.microsoft.com/office/drawing/2014/main" id="{16172113-4B9B-B44F-B37E-0F9E92FBDD04}"/>
                </a:ext>
              </a:extLst>
            </p:cNvPr>
            <p:cNvSpPr txBox="1">
              <a:spLocks noChangeArrowheads="1"/>
            </p:cNvSpPr>
            <p:nvPr/>
          </p:nvSpPr>
          <p:spPr>
            <a:xfrm>
              <a:off x="2803423" y="3288890"/>
              <a:ext cx="7953375" cy="197628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sz="3000" dirty="0">
                  <a:solidFill>
                    <a:prstClr val="black"/>
                  </a:solidFill>
                  <a:latin typeface="Arial" panose="020B0604020202020204" pitchFamily="34" charset="0"/>
                  <a:cs typeface="Arial" panose="020B0604020202020204" pitchFamily="34" charset="0"/>
                </a:rPr>
                <a:t>Let </a:t>
              </a:r>
              <a:r>
                <a:rPr lang="en-US" sz="3000" i="1" dirty="0">
                  <a:solidFill>
                    <a:prstClr val="black"/>
                  </a:solidFill>
                  <a:latin typeface="Arial" panose="020B0604020202020204" pitchFamily="34" charset="0"/>
                  <a:cs typeface="Arial" panose="020B0604020202020204" pitchFamily="34" charset="0"/>
                </a:rPr>
                <a:t>D</a:t>
              </a:r>
              <a:r>
                <a:rPr lang="en-US" sz="3000" i="1" baseline="-25000" dirty="0">
                  <a:solidFill>
                    <a:prstClr val="black"/>
                  </a:solidFill>
                  <a:latin typeface="Arial" panose="020B0604020202020204" pitchFamily="34" charset="0"/>
                  <a:cs typeface="Arial" panose="020B0604020202020204" pitchFamily="34" charset="0"/>
                </a:rPr>
                <a:t>x</a:t>
              </a:r>
              <a:r>
                <a:rPr lang="en-US" sz="3000" i="1" dirty="0">
                  <a:solidFill>
                    <a:prstClr val="black"/>
                  </a:solidFill>
                  <a:latin typeface="Arial" panose="020B0604020202020204" pitchFamily="34" charset="0"/>
                  <a:cs typeface="Arial" panose="020B0604020202020204" pitchFamily="34" charset="0"/>
                </a:rPr>
                <a:t>(y): </a:t>
              </a:r>
              <a:r>
                <a:rPr lang="en-US" sz="3000" dirty="0">
                  <a:solidFill>
                    <a:prstClr val="black"/>
                  </a:solidFill>
                  <a:latin typeface="Arial" panose="020B0604020202020204" pitchFamily="34" charset="0"/>
                  <a:cs typeface="Arial" panose="020B0604020202020204" pitchFamily="34" charset="0"/>
                </a:rPr>
                <a:t>cost of least-cost path from </a:t>
              </a:r>
              <a:r>
                <a:rPr lang="en-US" sz="3000" i="1" dirty="0">
                  <a:solidFill>
                    <a:prstClr val="black"/>
                  </a:solidFill>
                  <a:latin typeface="Arial" panose="020B0604020202020204" pitchFamily="34" charset="0"/>
                  <a:cs typeface="Arial" panose="020B0604020202020204" pitchFamily="34" charset="0"/>
                </a:rPr>
                <a:t>x</a:t>
              </a:r>
              <a:r>
                <a:rPr lang="en-US" sz="3000" dirty="0">
                  <a:solidFill>
                    <a:prstClr val="black"/>
                  </a:solidFill>
                  <a:latin typeface="Arial" panose="020B0604020202020204" pitchFamily="34" charset="0"/>
                  <a:cs typeface="Arial" panose="020B0604020202020204" pitchFamily="34" charset="0"/>
                </a:rPr>
                <a:t> to </a:t>
              </a:r>
              <a:r>
                <a:rPr lang="en-US" sz="3000" i="1" dirty="0">
                  <a:solidFill>
                    <a:prstClr val="black"/>
                  </a:solidFill>
                  <a:latin typeface="Arial" panose="020B0604020202020204" pitchFamily="34" charset="0"/>
                  <a:cs typeface="Arial" panose="020B0604020202020204" pitchFamily="34" charset="0"/>
                </a:rPr>
                <a:t>y</a:t>
              </a:r>
              <a:r>
                <a:rPr lang="en-US" sz="3000" dirty="0">
                  <a:solidFill>
                    <a:prstClr val="black"/>
                  </a:solidFill>
                  <a:latin typeface="Arial" panose="020B0604020202020204" pitchFamily="34" charset="0"/>
                  <a:cs typeface="Arial" panose="020B0604020202020204" pitchFamily="34" charset="0"/>
                </a:rPr>
                <a:t>.</a:t>
              </a:r>
            </a:p>
            <a:p>
              <a:pPr>
                <a:buFont typeface="Wingdings" charset="0"/>
                <a:buNone/>
              </a:pPr>
              <a:r>
                <a:rPr lang="en-US" sz="3000" dirty="0">
                  <a:solidFill>
                    <a:prstClr val="black"/>
                  </a:solidFill>
                  <a:latin typeface="Arial" panose="020B0604020202020204" pitchFamily="34" charset="0"/>
                  <a:cs typeface="Arial" panose="020B0604020202020204" pitchFamily="34" charset="0"/>
                </a:rPr>
                <a:t>Then:</a:t>
              </a:r>
            </a:p>
            <a:p>
              <a:pPr>
                <a:buFont typeface="Wingdings" charset="0"/>
                <a:buNone/>
              </a:pPr>
              <a:r>
                <a:rPr lang="en-US" dirty="0">
                  <a:solidFill>
                    <a:srgbClr val="CC0000"/>
                  </a:solidFill>
                  <a:latin typeface="Arial" panose="020B0604020202020204" pitchFamily="34" charset="0"/>
                  <a:cs typeface="Arial" panose="020B0604020202020204" pitchFamily="34" charset="0"/>
                </a:rPr>
                <a:t>   </a:t>
              </a:r>
              <a:r>
                <a:rPr lang="en-US" sz="3200" i="1" dirty="0">
                  <a:solidFill>
                    <a:srgbClr val="CC0000"/>
                  </a:solidFill>
                  <a:latin typeface="Arial" panose="020B0604020202020204" pitchFamily="34" charset="0"/>
                  <a:cs typeface="Arial" panose="020B0604020202020204" pitchFamily="34" charset="0"/>
                </a:rPr>
                <a:t>D</a:t>
              </a:r>
              <a:r>
                <a:rPr lang="en-US" sz="3200" i="1" baseline="-25000" dirty="0">
                  <a:solidFill>
                    <a:srgbClr val="CC0000"/>
                  </a:solidFill>
                  <a:latin typeface="Arial" panose="020B0604020202020204" pitchFamily="34" charset="0"/>
                  <a:cs typeface="Arial" panose="020B0604020202020204" pitchFamily="34" charset="0"/>
                </a:rPr>
                <a:t>x</a:t>
              </a:r>
              <a:r>
                <a:rPr lang="en-US" sz="3200" i="1" dirty="0">
                  <a:solidFill>
                    <a:srgbClr val="CC0000"/>
                  </a:solidFill>
                  <a:latin typeface="Arial" panose="020B0604020202020204" pitchFamily="34" charset="0"/>
                  <a:cs typeface="Arial" panose="020B0604020202020204" pitchFamily="34" charset="0"/>
                </a:rPr>
                <a:t>(y) = </a:t>
              </a:r>
              <a:r>
                <a:rPr lang="en-US" sz="3200" dirty="0">
                  <a:solidFill>
                    <a:srgbClr val="CC0000"/>
                  </a:solidFill>
                  <a:latin typeface="Arial" panose="020B0604020202020204" pitchFamily="34" charset="0"/>
                  <a:cs typeface="Arial" panose="020B0604020202020204" pitchFamily="34" charset="0"/>
                </a:rPr>
                <a:t>min</a:t>
              </a:r>
              <a:r>
                <a:rPr lang="en-US" sz="3200" i="1" baseline="-25000" dirty="0">
                  <a:solidFill>
                    <a:srgbClr val="CC0000"/>
                  </a:solidFill>
                  <a:latin typeface="Arial" panose="020B0604020202020204" pitchFamily="34" charset="0"/>
                  <a:cs typeface="Arial" panose="020B0604020202020204" pitchFamily="34" charset="0"/>
                </a:rPr>
                <a:t>v</a:t>
              </a:r>
              <a:r>
                <a:rPr lang="en-US" sz="3200" i="1" dirty="0">
                  <a:solidFill>
                    <a:srgbClr val="CC0000"/>
                  </a:solidFill>
                  <a:latin typeface="Arial" panose="020B0604020202020204" pitchFamily="34" charset="0"/>
                  <a:cs typeface="Arial" panose="020B0604020202020204" pitchFamily="34" charset="0"/>
                </a:rPr>
                <a:t> { c</a:t>
              </a:r>
              <a:r>
                <a:rPr lang="en-US" sz="3200" i="1" baseline="-25000" dirty="0">
                  <a:solidFill>
                    <a:srgbClr val="CC0000"/>
                  </a:solidFill>
                  <a:latin typeface="Arial" panose="020B0604020202020204" pitchFamily="34" charset="0"/>
                  <a:cs typeface="Arial" panose="020B0604020202020204" pitchFamily="34" charset="0"/>
                </a:rPr>
                <a:t>x,v </a:t>
              </a:r>
              <a:r>
                <a:rPr lang="en-US" sz="3200" i="1" dirty="0">
                  <a:solidFill>
                    <a:srgbClr val="CC0000"/>
                  </a:solidFill>
                  <a:latin typeface="Arial" panose="020B0604020202020204" pitchFamily="34" charset="0"/>
                  <a:cs typeface="Arial" panose="020B0604020202020204" pitchFamily="34" charset="0"/>
                </a:rPr>
                <a:t>+ D</a:t>
              </a:r>
              <a:r>
                <a:rPr lang="en-US" sz="3200" i="1" baseline="-25000" dirty="0">
                  <a:solidFill>
                    <a:srgbClr val="CC0000"/>
                  </a:solidFill>
                  <a:latin typeface="Arial" panose="020B0604020202020204" pitchFamily="34" charset="0"/>
                  <a:cs typeface="Arial" panose="020B0604020202020204" pitchFamily="34" charset="0"/>
                </a:rPr>
                <a:t>v</a:t>
              </a:r>
              <a:r>
                <a:rPr lang="en-US" sz="3200" i="1" dirty="0">
                  <a:solidFill>
                    <a:srgbClr val="CC0000"/>
                  </a:solidFill>
                  <a:latin typeface="Arial" panose="020B0604020202020204" pitchFamily="34" charset="0"/>
                  <a:cs typeface="Arial" panose="020B0604020202020204" pitchFamily="34" charset="0"/>
                </a:rPr>
                <a:t>(y) }</a:t>
              </a:r>
            </a:p>
            <a:p>
              <a:pPr>
                <a:buFont typeface="Wingdings" charset="0"/>
                <a:buNone/>
              </a:pPr>
              <a:r>
                <a:rPr lang="en-US" sz="3200" dirty="0">
                  <a:solidFill>
                    <a:prstClr val="black"/>
                  </a:solidFill>
                  <a:latin typeface="Arial" panose="020B0604020202020204" pitchFamily="34" charset="0"/>
                  <a:cs typeface="Arial" panose="020B0604020202020204" pitchFamily="34" charset="0"/>
                </a:rPr>
                <a:t>   </a:t>
              </a:r>
            </a:p>
            <a:p>
              <a:pPr>
                <a:buFont typeface="Wingdings" charset="0"/>
                <a:buNone/>
              </a:pPr>
              <a:endParaRPr lang="en-US" dirty="0">
                <a:solidFill>
                  <a:prstClr val="black"/>
                </a:solidFill>
                <a:latin typeface="Gill Sans MT" charset="0"/>
              </a:endParaRPr>
            </a:p>
          </p:txBody>
        </p:sp>
        <p:sp>
          <p:nvSpPr>
            <p:cNvPr id="9" name="Rectangle 8">
              <a:extLst>
                <a:ext uri="{FF2B5EF4-FFF2-40B4-BE49-F238E27FC236}">
                  <a16:creationId xmlns:a16="http://schemas.microsoft.com/office/drawing/2014/main" id="{CB5C580C-1126-504E-8FA4-8CD48ACEC90C}"/>
                </a:ext>
              </a:extLst>
            </p:cNvPr>
            <p:cNvSpPr/>
            <p:nvPr/>
          </p:nvSpPr>
          <p:spPr>
            <a:xfrm>
              <a:off x="1902542" y="2743199"/>
              <a:ext cx="8686800" cy="218276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0" name="TextBox 9">
              <a:extLst>
                <a:ext uri="{FF2B5EF4-FFF2-40B4-BE49-F238E27FC236}">
                  <a16:creationId xmlns:a16="http://schemas.microsoft.com/office/drawing/2014/main" id="{19693CD9-8C4E-4040-AB87-525C3BB2DD5B}"/>
                </a:ext>
              </a:extLst>
            </p:cNvPr>
            <p:cNvSpPr txBox="1"/>
            <p:nvPr/>
          </p:nvSpPr>
          <p:spPr>
            <a:xfrm>
              <a:off x="2418735" y="2507226"/>
              <a:ext cx="3047501" cy="461665"/>
            </a:xfrm>
            <a:prstGeom prst="rect">
              <a:avLst/>
            </a:prstGeom>
            <a:solidFill>
              <a:schemeClr val="bg1"/>
            </a:solidFill>
          </p:spPr>
          <p:txBody>
            <a:bodyPr wrap="none" rtlCol="0">
              <a:spAutoFit/>
            </a:bodyPr>
            <a:lstStyle/>
            <a:p>
              <a:r>
                <a:rPr lang="en-US" sz="2400" dirty="0">
                  <a:solidFill>
                    <a:srgbClr val="C00000"/>
                  </a:solidFill>
                </a:rPr>
                <a:t>Bellman-Ford equation</a:t>
              </a:r>
            </a:p>
          </p:txBody>
        </p:sp>
      </p:grpSp>
      <p:grpSp>
        <p:nvGrpSpPr>
          <p:cNvPr id="20" name="Group 19">
            <a:extLst>
              <a:ext uri="{FF2B5EF4-FFF2-40B4-BE49-F238E27FC236}">
                <a16:creationId xmlns:a16="http://schemas.microsoft.com/office/drawing/2014/main" id="{CAC9B7B6-F48D-464C-80B7-D4E3FFE8A0DD}"/>
              </a:ext>
            </a:extLst>
          </p:cNvPr>
          <p:cNvGrpSpPr/>
          <p:nvPr/>
        </p:nvGrpSpPr>
        <p:grpSpPr>
          <a:xfrm>
            <a:off x="882140" y="4742711"/>
            <a:ext cx="4443412" cy="1557316"/>
            <a:chOff x="2040982" y="4374411"/>
            <a:chExt cx="4443412" cy="1557316"/>
          </a:xfrm>
        </p:grpSpPr>
        <p:sp>
          <p:nvSpPr>
            <p:cNvPr id="13" name="Text Box 8">
              <a:extLst>
                <a:ext uri="{FF2B5EF4-FFF2-40B4-BE49-F238E27FC236}">
                  <a16:creationId xmlns:a16="http://schemas.microsoft.com/office/drawing/2014/main" id="{3EF53877-706D-1B4F-97A3-D4D8AB9B3440}"/>
                </a:ext>
              </a:extLst>
            </p:cNvPr>
            <p:cNvSpPr txBox="1">
              <a:spLocks noChangeArrowheads="1"/>
            </p:cNvSpPr>
            <p:nvPr/>
          </p:nvSpPr>
          <p:spPr bwMode="auto">
            <a:xfrm>
              <a:off x="2040982" y="5474527"/>
              <a:ext cx="44434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dirty="0">
                  <a:solidFill>
                    <a:prstClr val="black"/>
                  </a:solidFill>
                  <a:latin typeface="Calibri" panose="020F0502020204030204"/>
                </a:rPr>
                <a:t>min</a:t>
              </a:r>
              <a:r>
                <a:rPr lang="en-US" dirty="0">
                  <a:solidFill>
                    <a:prstClr val="black"/>
                  </a:solidFill>
                  <a:latin typeface="Calibri" panose="020F0502020204030204"/>
                </a:rPr>
                <a:t> taken over all neighbors</a:t>
              </a:r>
              <a:r>
                <a:rPr lang="en-US" i="1" dirty="0">
                  <a:solidFill>
                    <a:prstClr val="black"/>
                  </a:solidFill>
                  <a:latin typeface="Calibri" panose="020F0502020204030204"/>
                </a:rPr>
                <a:t> v </a:t>
              </a:r>
              <a:r>
                <a:rPr lang="en-US" dirty="0">
                  <a:solidFill>
                    <a:prstClr val="black"/>
                  </a:solidFill>
                  <a:latin typeface="Calibri" panose="020F0502020204030204"/>
                </a:rPr>
                <a:t>of </a:t>
              </a:r>
              <a:r>
                <a:rPr lang="en-US" i="1" dirty="0">
                  <a:solidFill>
                    <a:prstClr val="black"/>
                  </a:solidFill>
                  <a:latin typeface="Calibri" panose="020F0502020204030204"/>
                </a:rPr>
                <a:t>x</a:t>
              </a:r>
            </a:p>
          </p:txBody>
        </p:sp>
        <p:sp>
          <p:nvSpPr>
            <p:cNvPr id="15" name="Line 10">
              <a:extLst>
                <a:ext uri="{FF2B5EF4-FFF2-40B4-BE49-F238E27FC236}">
                  <a16:creationId xmlns:a16="http://schemas.microsoft.com/office/drawing/2014/main" id="{C88D2D32-84DC-074E-91A8-72F035B287D6}"/>
                </a:ext>
              </a:extLst>
            </p:cNvPr>
            <p:cNvSpPr>
              <a:spLocks noChangeShapeType="1"/>
            </p:cNvSpPr>
            <p:nvPr/>
          </p:nvSpPr>
          <p:spPr bwMode="auto">
            <a:xfrm>
              <a:off x="6409694" y="4374411"/>
              <a:ext cx="0" cy="1357464"/>
            </a:xfrm>
            <a:prstGeom prst="line">
              <a:avLst/>
            </a:prstGeom>
            <a:noFill/>
            <a:ln w="12700">
              <a:solidFill>
                <a:srgbClr val="0000A8"/>
              </a:solidFill>
              <a:round/>
              <a:headEnd/>
              <a:tailEnd/>
            </a:ln>
            <a:extLst>
              <a:ext uri="{909E8E84-426E-40DD-AFC4-6F175D3DCCD1}">
                <a14:hiddenFill xmlns:a14="http://schemas.microsoft.com/office/drawing/2010/main">
                  <a:noFill/>
                </a14:hiddenFill>
              </a:ext>
            </a:extLst>
          </p:spPr>
          <p:txBody>
            <a:bodyPr wrap="none"/>
            <a:lstStyle/>
            <a:p>
              <a:endParaRPr lang="en-US" dirty="0">
                <a:solidFill>
                  <a:prstClr val="black"/>
                </a:solidFill>
              </a:endParaRPr>
            </a:p>
          </p:txBody>
        </p:sp>
      </p:grpSp>
      <p:grpSp>
        <p:nvGrpSpPr>
          <p:cNvPr id="29" name="Group 28">
            <a:extLst>
              <a:ext uri="{FF2B5EF4-FFF2-40B4-BE49-F238E27FC236}">
                <a16:creationId xmlns:a16="http://schemas.microsoft.com/office/drawing/2014/main" id="{59653ED9-AAD1-2C47-B7F8-1C4C9C2392B7}"/>
              </a:ext>
            </a:extLst>
          </p:cNvPr>
          <p:cNvGrpSpPr/>
          <p:nvPr/>
        </p:nvGrpSpPr>
        <p:grpSpPr>
          <a:xfrm>
            <a:off x="6490417" y="4684735"/>
            <a:ext cx="4855304" cy="1072830"/>
            <a:chOff x="6490417" y="4684735"/>
            <a:chExt cx="4855304" cy="1072830"/>
          </a:xfrm>
        </p:grpSpPr>
        <p:sp>
          <p:nvSpPr>
            <p:cNvPr id="14" name="Text Box 9">
              <a:extLst>
                <a:ext uri="{FF2B5EF4-FFF2-40B4-BE49-F238E27FC236}">
                  <a16:creationId xmlns:a16="http://schemas.microsoft.com/office/drawing/2014/main" id="{84D3DDF1-A07C-4944-BFAD-0934045A41C5}"/>
                </a:ext>
              </a:extLst>
            </p:cNvPr>
            <p:cNvSpPr txBox="1">
              <a:spLocks noChangeArrowheads="1"/>
            </p:cNvSpPr>
            <p:nvPr/>
          </p:nvSpPr>
          <p:spPr bwMode="auto">
            <a:xfrm>
              <a:off x="6490417" y="5295900"/>
              <a:ext cx="485530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dirty="0">
                  <a:solidFill>
                    <a:prstClr val="black"/>
                  </a:solidFill>
                  <a:latin typeface="Calibri" panose="020F0502020204030204"/>
                </a:rPr>
                <a:t>v</a:t>
              </a:r>
              <a:r>
                <a:rPr lang="en-US" dirty="0">
                  <a:solidFill>
                    <a:prstClr val="black"/>
                  </a:solidFill>
                  <a:latin typeface="Calibri" panose="020F0502020204030204"/>
                </a:rPr>
                <a:t>’s estimated least-cost-path cost to </a:t>
              </a:r>
              <a:r>
                <a:rPr lang="en-US" i="1" dirty="0">
                  <a:solidFill>
                    <a:prstClr val="black"/>
                  </a:solidFill>
                  <a:latin typeface="Calibri" panose="020F0502020204030204"/>
                </a:rPr>
                <a:t>y</a:t>
              </a:r>
            </a:p>
          </p:txBody>
        </p:sp>
        <p:cxnSp>
          <p:nvCxnSpPr>
            <p:cNvPr id="24" name="Straight Connector 23">
              <a:extLst>
                <a:ext uri="{FF2B5EF4-FFF2-40B4-BE49-F238E27FC236}">
                  <a16:creationId xmlns:a16="http://schemas.microsoft.com/office/drawing/2014/main" id="{897FA599-E18E-564C-8B44-C47AC16DEBD6}"/>
                </a:ext>
              </a:extLst>
            </p:cNvPr>
            <p:cNvCxnSpPr>
              <a:cxnSpLocks/>
            </p:cNvCxnSpPr>
            <p:nvPr/>
          </p:nvCxnSpPr>
          <p:spPr>
            <a:xfrm flipV="1">
              <a:off x="6789107" y="4684735"/>
              <a:ext cx="0" cy="713983"/>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D9DDF3FC-7958-1A4C-9958-CFEED50F7D04}"/>
              </a:ext>
            </a:extLst>
          </p:cNvPr>
          <p:cNvGrpSpPr/>
          <p:nvPr/>
        </p:nvGrpSpPr>
        <p:grpSpPr>
          <a:xfrm>
            <a:off x="5898825" y="4749453"/>
            <a:ext cx="3734933" cy="1589812"/>
            <a:chOff x="5898825" y="4749453"/>
            <a:chExt cx="3734933" cy="1589812"/>
          </a:xfrm>
        </p:grpSpPr>
        <p:sp>
          <p:nvSpPr>
            <p:cNvPr id="12" name="Text Box 7">
              <a:extLst>
                <a:ext uri="{FF2B5EF4-FFF2-40B4-BE49-F238E27FC236}">
                  <a16:creationId xmlns:a16="http://schemas.microsoft.com/office/drawing/2014/main" id="{4E51D062-C026-C442-99A3-A58F234CF451}"/>
                </a:ext>
              </a:extLst>
            </p:cNvPr>
            <p:cNvSpPr txBox="1">
              <a:spLocks noChangeArrowheads="1"/>
            </p:cNvSpPr>
            <p:nvPr/>
          </p:nvSpPr>
          <p:spPr bwMode="auto">
            <a:xfrm>
              <a:off x="5898825" y="5877600"/>
              <a:ext cx="373493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solidFill>
                    <a:prstClr val="black"/>
                  </a:solidFill>
                  <a:latin typeface="Calibri" panose="020F0502020204030204"/>
                </a:rPr>
                <a:t>direct cost of link from</a:t>
              </a:r>
              <a:r>
                <a:rPr lang="en-US" i="1" dirty="0">
                  <a:solidFill>
                    <a:prstClr val="black"/>
                  </a:solidFill>
                  <a:latin typeface="Calibri" panose="020F0502020204030204"/>
                </a:rPr>
                <a:t> x </a:t>
              </a:r>
              <a:r>
                <a:rPr lang="en-US" dirty="0">
                  <a:solidFill>
                    <a:prstClr val="black"/>
                  </a:solidFill>
                  <a:latin typeface="Calibri" panose="020F0502020204030204"/>
                </a:rPr>
                <a:t>to </a:t>
              </a:r>
              <a:r>
                <a:rPr lang="en-US" i="1" dirty="0">
                  <a:solidFill>
                    <a:prstClr val="black"/>
                  </a:solidFill>
                  <a:latin typeface="Calibri" panose="020F0502020204030204"/>
                </a:rPr>
                <a:t>v</a:t>
              </a:r>
            </a:p>
          </p:txBody>
        </p:sp>
        <p:cxnSp>
          <p:nvCxnSpPr>
            <p:cNvPr id="25" name="Straight Connector 24">
              <a:extLst>
                <a:ext uri="{FF2B5EF4-FFF2-40B4-BE49-F238E27FC236}">
                  <a16:creationId xmlns:a16="http://schemas.microsoft.com/office/drawing/2014/main" id="{DBA47127-1CA2-C945-9F12-07114230EB74}"/>
                </a:ext>
              </a:extLst>
            </p:cNvPr>
            <p:cNvCxnSpPr>
              <a:cxnSpLocks/>
            </p:cNvCxnSpPr>
            <p:nvPr/>
          </p:nvCxnSpPr>
          <p:spPr>
            <a:xfrm flipV="1">
              <a:off x="5901847" y="4749453"/>
              <a:ext cx="0" cy="1338196"/>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95827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dissolve">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dissolve">
                                      <p:cBhvr>
                                        <p:cTn id="17" dur="5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dissolv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Bellman-Ford Example</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49</a:t>
            </a:fld>
            <a:endParaRPr lang="en-US" dirty="0">
              <a:solidFill>
                <a:prstClr val="white">
                  <a:lumMod val="50000"/>
                </a:prstClr>
              </a:solidFill>
            </a:endParaRPr>
          </a:p>
        </p:txBody>
      </p:sp>
      <p:sp>
        <p:nvSpPr>
          <p:cNvPr id="101" name="Freeform 4">
            <a:extLst>
              <a:ext uri="{FF2B5EF4-FFF2-40B4-BE49-F238E27FC236}">
                <a16:creationId xmlns:a16="http://schemas.microsoft.com/office/drawing/2014/main" id="{B3361BDC-FC6E-7D45-AF3A-D0E68A57BA18}"/>
              </a:ext>
            </a:extLst>
          </p:cNvPr>
          <p:cNvSpPr>
            <a:spLocks/>
          </p:cNvSpPr>
          <p:nvPr/>
        </p:nvSpPr>
        <p:spPr bwMode="auto">
          <a:xfrm>
            <a:off x="1464895" y="2577601"/>
            <a:ext cx="3571875" cy="2236788"/>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2" name="Freeform 5">
            <a:extLst>
              <a:ext uri="{FF2B5EF4-FFF2-40B4-BE49-F238E27FC236}">
                <a16:creationId xmlns:a16="http://schemas.microsoft.com/office/drawing/2014/main" id="{EB384ECE-A843-C347-B24C-9E275CEAC2CD}"/>
              </a:ext>
            </a:extLst>
          </p:cNvPr>
          <p:cNvSpPr>
            <a:spLocks/>
          </p:cNvSpPr>
          <p:nvPr/>
        </p:nvSpPr>
        <p:spPr bwMode="auto">
          <a:xfrm>
            <a:off x="1974545" y="3431326"/>
            <a:ext cx="542925" cy="295275"/>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3" name="Oval 6">
            <a:extLst>
              <a:ext uri="{FF2B5EF4-FFF2-40B4-BE49-F238E27FC236}">
                <a16:creationId xmlns:a16="http://schemas.microsoft.com/office/drawing/2014/main" id="{AB39D95A-2416-9A44-A4A8-038FB65B4DCD}"/>
              </a:ext>
            </a:extLst>
          </p:cNvPr>
          <p:cNvSpPr>
            <a:spLocks noChangeArrowheads="1"/>
          </p:cNvSpPr>
          <p:nvPr/>
        </p:nvSpPr>
        <p:spPr bwMode="auto">
          <a:xfrm>
            <a:off x="1561795" y="381550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4" name="Line 7">
            <a:extLst>
              <a:ext uri="{FF2B5EF4-FFF2-40B4-BE49-F238E27FC236}">
                <a16:creationId xmlns:a16="http://schemas.microsoft.com/office/drawing/2014/main" id="{E78BA6E9-D2DE-3B4C-B8F0-0B60FECF113C}"/>
              </a:ext>
            </a:extLst>
          </p:cNvPr>
          <p:cNvSpPr>
            <a:spLocks noChangeShapeType="1"/>
          </p:cNvSpPr>
          <p:nvPr/>
        </p:nvSpPr>
        <p:spPr bwMode="auto">
          <a:xfrm>
            <a:off x="1561795" y="38043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5" name="Line 8">
            <a:extLst>
              <a:ext uri="{FF2B5EF4-FFF2-40B4-BE49-F238E27FC236}">
                <a16:creationId xmlns:a16="http://schemas.microsoft.com/office/drawing/2014/main" id="{A0D47CD4-5213-7747-B8ED-B82CB1DF3F26}"/>
              </a:ext>
            </a:extLst>
          </p:cNvPr>
          <p:cNvSpPr>
            <a:spLocks noChangeShapeType="1"/>
          </p:cNvSpPr>
          <p:nvPr/>
        </p:nvSpPr>
        <p:spPr bwMode="auto">
          <a:xfrm>
            <a:off x="2058683" y="38043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6" name="Rectangle 9">
            <a:extLst>
              <a:ext uri="{FF2B5EF4-FFF2-40B4-BE49-F238E27FC236}">
                <a16:creationId xmlns:a16="http://schemas.microsoft.com/office/drawing/2014/main" id="{9CC7A1F3-7121-9A4D-8ED5-61BE06416511}"/>
              </a:ext>
            </a:extLst>
          </p:cNvPr>
          <p:cNvSpPr>
            <a:spLocks noChangeArrowheads="1"/>
          </p:cNvSpPr>
          <p:nvPr/>
        </p:nvSpPr>
        <p:spPr bwMode="auto">
          <a:xfrm>
            <a:off x="1561795" y="380438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07" name="Oval 10">
            <a:extLst>
              <a:ext uri="{FF2B5EF4-FFF2-40B4-BE49-F238E27FC236}">
                <a16:creationId xmlns:a16="http://schemas.microsoft.com/office/drawing/2014/main" id="{942A74E2-4B12-2844-8247-4DD1081A42A8}"/>
              </a:ext>
            </a:extLst>
          </p:cNvPr>
          <p:cNvSpPr>
            <a:spLocks noChangeArrowheads="1"/>
          </p:cNvSpPr>
          <p:nvPr/>
        </p:nvSpPr>
        <p:spPr bwMode="auto">
          <a:xfrm>
            <a:off x="1557033" y="371072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3" name="Oval 26">
            <a:extLst>
              <a:ext uri="{FF2B5EF4-FFF2-40B4-BE49-F238E27FC236}">
                <a16:creationId xmlns:a16="http://schemas.microsoft.com/office/drawing/2014/main" id="{74166FED-9DB6-AE4B-B5E4-19FFE33242C9}"/>
              </a:ext>
            </a:extLst>
          </p:cNvPr>
          <p:cNvSpPr>
            <a:spLocks noChangeArrowheads="1"/>
          </p:cNvSpPr>
          <p:nvPr/>
        </p:nvSpPr>
        <p:spPr bwMode="auto">
          <a:xfrm>
            <a:off x="3408058" y="442510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4" name="Line 27">
            <a:extLst>
              <a:ext uri="{FF2B5EF4-FFF2-40B4-BE49-F238E27FC236}">
                <a16:creationId xmlns:a16="http://schemas.microsoft.com/office/drawing/2014/main" id="{69186391-9606-034D-9306-C735925D8202}"/>
              </a:ext>
            </a:extLst>
          </p:cNvPr>
          <p:cNvSpPr>
            <a:spLocks noChangeShapeType="1"/>
          </p:cNvSpPr>
          <p:nvPr/>
        </p:nvSpPr>
        <p:spPr bwMode="auto">
          <a:xfrm>
            <a:off x="3408058" y="44139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5" name="Line 28">
            <a:extLst>
              <a:ext uri="{FF2B5EF4-FFF2-40B4-BE49-F238E27FC236}">
                <a16:creationId xmlns:a16="http://schemas.microsoft.com/office/drawing/2014/main" id="{75BB6334-D1C4-D94A-BA99-4367AA958123}"/>
              </a:ext>
            </a:extLst>
          </p:cNvPr>
          <p:cNvSpPr>
            <a:spLocks noChangeShapeType="1"/>
          </p:cNvSpPr>
          <p:nvPr/>
        </p:nvSpPr>
        <p:spPr bwMode="auto">
          <a:xfrm>
            <a:off x="3904945" y="44139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6" name="Rectangle 29">
            <a:extLst>
              <a:ext uri="{FF2B5EF4-FFF2-40B4-BE49-F238E27FC236}">
                <a16:creationId xmlns:a16="http://schemas.microsoft.com/office/drawing/2014/main" id="{4D831A84-D0A6-2A4D-89B7-0B39B1BD83E9}"/>
              </a:ext>
            </a:extLst>
          </p:cNvPr>
          <p:cNvSpPr>
            <a:spLocks noChangeArrowheads="1"/>
          </p:cNvSpPr>
          <p:nvPr/>
        </p:nvSpPr>
        <p:spPr bwMode="auto">
          <a:xfrm>
            <a:off x="3408058" y="441398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27" name="Oval 30">
            <a:extLst>
              <a:ext uri="{FF2B5EF4-FFF2-40B4-BE49-F238E27FC236}">
                <a16:creationId xmlns:a16="http://schemas.microsoft.com/office/drawing/2014/main" id="{D0D42B8D-5E2B-7841-A6D2-30BC21485C1D}"/>
              </a:ext>
            </a:extLst>
          </p:cNvPr>
          <p:cNvSpPr>
            <a:spLocks noChangeArrowheads="1"/>
          </p:cNvSpPr>
          <p:nvPr/>
        </p:nvSpPr>
        <p:spPr bwMode="auto">
          <a:xfrm>
            <a:off x="3403295" y="432032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8" name="Oval 31">
            <a:extLst>
              <a:ext uri="{FF2B5EF4-FFF2-40B4-BE49-F238E27FC236}">
                <a16:creationId xmlns:a16="http://schemas.microsoft.com/office/drawing/2014/main" id="{12DF998B-81DA-CA49-8C5F-CC780FA09A5F}"/>
              </a:ext>
            </a:extLst>
          </p:cNvPr>
          <p:cNvSpPr>
            <a:spLocks noChangeArrowheads="1"/>
          </p:cNvSpPr>
          <p:nvPr/>
        </p:nvSpPr>
        <p:spPr bwMode="auto">
          <a:xfrm>
            <a:off x="4304995" y="3883763"/>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9" name="Line 32">
            <a:extLst>
              <a:ext uri="{FF2B5EF4-FFF2-40B4-BE49-F238E27FC236}">
                <a16:creationId xmlns:a16="http://schemas.microsoft.com/office/drawing/2014/main" id="{0931E746-EEC9-4149-B22C-B128CADA6621}"/>
              </a:ext>
            </a:extLst>
          </p:cNvPr>
          <p:cNvSpPr>
            <a:spLocks noChangeShapeType="1"/>
          </p:cNvSpPr>
          <p:nvPr/>
        </p:nvSpPr>
        <p:spPr bwMode="auto">
          <a:xfrm>
            <a:off x="4304995" y="38726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0" name="Line 33">
            <a:extLst>
              <a:ext uri="{FF2B5EF4-FFF2-40B4-BE49-F238E27FC236}">
                <a16:creationId xmlns:a16="http://schemas.microsoft.com/office/drawing/2014/main" id="{18A78410-02D9-124E-8247-E082F13220BE}"/>
              </a:ext>
            </a:extLst>
          </p:cNvPr>
          <p:cNvSpPr>
            <a:spLocks noChangeShapeType="1"/>
          </p:cNvSpPr>
          <p:nvPr/>
        </p:nvSpPr>
        <p:spPr bwMode="auto">
          <a:xfrm>
            <a:off x="4801883" y="38726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1" name="Rectangle 34">
            <a:extLst>
              <a:ext uri="{FF2B5EF4-FFF2-40B4-BE49-F238E27FC236}">
                <a16:creationId xmlns:a16="http://schemas.microsoft.com/office/drawing/2014/main" id="{200B969E-4AA3-A14C-AF42-EAA87444EF6D}"/>
              </a:ext>
            </a:extLst>
          </p:cNvPr>
          <p:cNvSpPr>
            <a:spLocks noChangeArrowheads="1"/>
          </p:cNvSpPr>
          <p:nvPr/>
        </p:nvSpPr>
        <p:spPr bwMode="auto">
          <a:xfrm>
            <a:off x="4304995" y="3872651"/>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32" name="Oval 35">
            <a:extLst>
              <a:ext uri="{FF2B5EF4-FFF2-40B4-BE49-F238E27FC236}">
                <a16:creationId xmlns:a16="http://schemas.microsoft.com/office/drawing/2014/main" id="{79F8363D-C882-3044-8464-7FCFFC28C2B2}"/>
              </a:ext>
            </a:extLst>
          </p:cNvPr>
          <p:cNvSpPr>
            <a:spLocks noChangeArrowheads="1"/>
          </p:cNvSpPr>
          <p:nvPr/>
        </p:nvSpPr>
        <p:spPr bwMode="auto">
          <a:xfrm>
            <a:off x="4300233" y="3778988"/>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3" name="Freeform 36">
            <a:extLst>
              <a:ext uri="{FF2B5EF4-FFF2-40B4-BE49-F238E27FC236}">
                <a16:creationId xmlns:a16="http://schemas.microsoft.com/office/drawing/2014/main" id="{C5ED50C5-F56B-144B-B077-B4B2FEDC3660}"/>
              </a:ext>
            </a:extLst>
          </p:cNvPr>
          <p:cNvSpPr>
            <a:spLocks/>
          </p:cNvSpPr>
          <p:nvPr/>
        </p:nvSpPr>
        <p:spPr bwMode="auto">
          <a:xfrm>
            <a:off x="3655708" y="3474188"/>
            <a:ext cx="1588" cy="828675"/>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4" name="Freeform 37">
            <a:extLst>
              <a:ext uri="{FF2B5EF4-FFF2-40B4-BE49-F238E27FC236}">
                <a16:creationId xmlns:a16="http://schemas.microsoft.com/office/drawing/2014/main" id="{A19ED863-F302-4C4B-BF32-9ED18D75863D}"/>
              </a:ext>
            </a:extLst>
          </p:cNvPr>
          <p:cNvSpPr>
            <a:spLocks/>
          </p:cNvSpPr>
          <p:nvPr/>
        </p:nvSpPr>
        <p:spPr bwMode="auto">
          <a:xfrm>
            <a:off x="2555570" y="3483713"/>
            <a:ext cx="1588" cy="852488"/>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5" name="Freeform 38">
            <a:extLst>
              <a:ext uri="{FF2B5EF4-FFF2-40B4-BE49-F238E27FC236}">
                <a16:creationId xmlns:a16="http://schemas.microsoft.com/office/drawing/2014/main" id="{6BF3134C-2B3E-1548-AB3D-A3BDFF4F4A5C}"/>
              </a:ext>
            </a:extLst>
          </p:cNvPr>
          <p:cNvSpPr>
            <a:spLocks/>
          </p:cNvSpPr>
          <p:nvPr/>
        </p:nvSpPr>
        <p:spPr bwMode="auto">
          <a:xfrm>
            <a:off x="2817508" y="3459901"/>
            <a:ext cx="800100" cy="9525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6" name="Freeform 39">
            <a:extLst>
              <a:ext uri="{FF2B5EF4-FFF2-40B4-BE49-F238E27FC236}">
                <a16:creationId xmlns:a16="http://schemas.microsoft.com/office/drawing/2014/main" id="{C6245707-E1A1-D049-ABCA-63F805299AF1}"/>
              </a:ext>
            </a:extLst>
          </p:cNvPr>
          <p:cNvSpPr>
            <a:spLocks/>
          </p:cNvSpPr>
          <p:nvPr/>
        </p:nvSpPr>
        <p:spPr bwMode="auto">
          <a:xfrm>
            <a:off x="3908120" y="4012351"/>
            <a:ext cx="581025" cy="428625"/>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7" name="Freeform 40">
            <a:extLst>
              <a:ext uri="{FF2B5EF4-FFF2-40B4-BE49-F238E27FC236}">
                <a16:creationId xmlns:a16="http://schemas.microsoft.com/office/drawing/2014/main" id="{4B76FA55-0E59-6C45-8AD8-BE40BC0A5648}"/>
              </a:ext>
            </a:extLst>
          </p:cNvPr>
          <p:cNvSpPr>
            <a:spLocks/>
          </p:cNvSpPr>
          <p:nvPr/>
        </p:nvSpPr>
        <p:spPr bwMode="auto">
          <a:xfrm>
            <a:off x="2827033" y="4460026"/>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8" name="Freeform 41">
            <a:extLst>
              <a:ext uri="{FF2B5EF4-FFF2-40B4-BE49-F238E27FC236}">
                <a16:creationId xmlns:a16="http://schemas.microsoft.com/office/drawing/2014/main" id="{478F5CA3-540D-704B-A0A9-843221692BFB}"/>
              </a:ext>
            </a:extLst>
          </p:cNvPr>
          <p:cNvSpPr>
            <a:spLocks/>
          </p:cNvSpPr>
          <p:nvPr/>
        </p:nvSpPr>
        <p:spPr bwMode="auto">
          <a:xfrm>
            <a:off x="1888820" y="3945676"/>
            <a:ext cx="438150" cy="41910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9" name="Freeform 42">
            <a:extLst>
              <a:ext uri="{FF2B5EF4-FFF2-40B4-BE49-F238E27FC236}">
                <a16:creationId xmlns:a16="http://schemas.microsoft.com/office/drawing/2014/main" id="{09441A01-DB3D-8849-9E6E-B61A9E1DF7A5}"/>
              </a:ext>
            </a:extLst>
          </p:cNvPr>
          <p:cNvSpPr>
            <a:spLocks/>
          </p:cNvSpPr>
          <p:nvPr/>
        </p:nvSpPr>
        <p:spPr bwMode="auto">
          <a:xfrm>
            <a:off x="2817508" y="3364651"/>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0" name="Freeform 43">
            <a:extLst>
              <a:ext uri="{FF2B5EF4-FFF2-40B4-BE49-F238E27FC236}">
                <a16:creationId xmlns:a16="http://schemas.microsoft.com/office/drawing/2014/main" id="{FFD32857-C28D-9847-80E0-9E7FFFB0893C}"/>
              </a:ext>
            </a:extLst>
          </p:cNvPr>
          <p:cNvSpPr>
            <a:spLocks/>
          </p:cNvSpPr>
          <p:nvPr/>
        </p:nvSpPr>
        <p:spPr bwMode="auto">
          <a:xfrm>
            <a:off x="3889070" y="3359888"/>
            <a:ext cx="628650" cy="423863"/>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1" name="Freeform 44">
            <a:extLst>
              <a:ext uri="{FF2B5EF4-FFF2-40B4-BE49-F238E27FC236}">
                <a16:creationId xmlns:a16="http://schemas.microsoft.com/office/drawing/2014/main" id="{95317AFD-8425-9047-82D2-5C53D86FC4B1}"/>
              </a:ext>
            </a:extLst>
          </p:cNvPr>
          <p:cNvSpPr>
            <a:spLocks/>
          </p:cNvSpPr>
          <p:nvPr/>
        </p:nvSpPr>
        <p:spPr bwMode="auto">
          <a:xfrm>
            <a:off x="1798333" y="2678851"/>
            <a:ext cx="1762125" cy="1023938"/>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2" name="Group 45">
            <a:extLst>
              <a:ext uri="{FF2B5EF4-FFF2-40B4-BE49-F238E27FC236}">
                <a16:creationId xmlns:a16="http://schemas.microsoft.com/office/drawing/2014/main" id="{8EA0B5C0-FA92-A244-9016-9BA3D6889A5F}"/>
              </a:ext>
            </a:extLst>
          </p:cNvPr>
          <p:cNvGrpSpPr>
            <a:grpSpLocks/>
          </p:cNvGrpSpPr>
          <p:nvPr/>
        </p:nvGrpSpPr>
        <p:grpSpPr bwMode="auto">
          <a:xfrm>
            <a:off x="1639583" y="3628176"/>
            <a:ext cx="325438" cy="396875"/>
            <a:chOff x="2954" y="2425"/>
            <a:chExt cx="208" cy="250"/>
          </a:xfrm>
        </p:grpSpPr>
        <p:sp>
          <p:nvSpPr>
            <p:cNvPr id="168" name="Rectangle 46">
              <a:extLst>
                <a:ext uri="{FF2B5EF4-FFF2-40B4-BE49-F238E27FC236}">
                  <a16:creationId xmlns:a16="http://schemas.microsoft.com/office/drawing/2014/main" id="{F6376756-4852-A74B-A929-795C12362D0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9" name="Text Box 47">
              <a:extLst>
                <a:ext uri="{FF2B5EF4-FFF2-40B4-BE49-F238E27FC236}">
                  <a16:creationId xmlns:a16="http://schemas.microsoft.com/office/drawing/2014/main" id="{8D21A96D-93CD-CC4E-9802-65B183FC94A2}"/>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143" name="Group 48">
            <a:extLst>
              <a:ext uri="{FF2B5EF4-FFF2-40B4-BE49-F238E27FC236}">
                <a16:creationId xmlns:a16="http://schemas.microsoft.com/office/drawing/2014/main" id="{BAEC1726-7585-D84C-8544-8B19570BB0D1}"/>
              </a:ext>
            </a:extLst>
          </p:cNvPr>
          <p:cNvGrpSpPr>
            <a:grpSpLocks/>
          </p:cNvGrpSpPr>
          <p:nvPr/>
        </p:nvGrpSpPr>
        <p:grpSpPr bwMode="auto">
          <a:xfrm>
            <a:off x="3503308" y="4237776"/>
            <a:ext cx="311150" cy="396875"/>
            <a:chOff x="2958" y="2425"/>
            <a:chExt cx="199" cy="250"/>
          </a:xfrm>
        </p:grpSpPr>
        <p:sp>
          <p:nvSpPr>
            <p:cNvPr id="166" name="Rectangle 49">
              <a:extLst>
                <a:ext uri="{FF2B5EF4-FFF2-40B4-BE49-F238E27FC236}">
                  <a16:creationId xmlns:a16="http://schemas.microsoft.com/office/drawing/2014/main" id="{30D6A47E-3051-2642-B778-56D0A6ADF6C5}"/>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7" name="Text Box 50">
              <a:extLst>
                <a:ext uri="{FF2B5EF4-FFF2-40B4-BE49-F238E27FC236}">
                  <a16:creationId xmlns:a16="http://schemas.microsoft.com/office/drawing/2014/main" id="{657B88CD-80B6-9149-A47C-0E4E47210BDB}"/>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147" name="Group 60">
            <a:extLst>
              <a:ext uri="{FF2B5EF4-FFF2-40B4-BE49-F238E27FC236}">
                <a16:creationId xmlns:a16="http://schemas.microsoft.com/office/drawing/2014/main" id="{C6605578-FE95-B24F-BADA-356BBFD8BB95}"/>
              </a:ext>
            </a:extLst>
          </p:cNvPr>
          <p:cNvGrpSpPr>
            <a:grpSpLocks/>
          </p:cNvGrpSpPr>
          <p:nvPr/>
        </p:nvGrpSpPr>
        <p:grpSpPr bwMode="auto">
          <a:xfrm>
            <a:off x="4398658" y="3647226"/>
            <a:ext cx="336550" cy="457200"/>
            <a:chOff x="2949" y="2395"/>
            <a:chExt cx="214" cy="288"/>
          </a:xfrm>
        </p:grpSpPr>
        <p:sp>
          <p:nvSpPr>
            <p:cNvPr id="158" name="Rectangle 61">
              <a:extLst>
                <a:ext uri="{FF2B5EF4-FFF2-40B4-BE49-F238E27FC236}">
                  <a16:creationId xmlns:a16="http://schemas.microsoft.com/office/drawing/2014/main" id="{41CF463B-AC90-B448-AB77-AD1A2A48F0FD}"/>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9" name="Text Box 62">
              <a:extLst>
                <a:ext uri="{FF2B5EF4-FFF2-40B4-BE49-F238E27FC236}">
                  <a16:creationId xmlns:a16="http://schemas.microsoft.com/office/drawing/2014/main" id="{6948C996-9399-804D-A0BC-5489BB15AF69}"/>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148" name="Text Box 63">
            <a:extLst>
              <a:ext uri="{FF2B5EF4-FFF2-40B4-BE49-F238E27FC236}">
                <a16:creationId xmlns:a16="http://schemas.microsoft.com/office/drawing/2014/main" id="{5119DE63-46A3-DA49-98F8-27DCAD97989D}"/>
              </a:ext>
            </a:extLst>
          </p:cNvPr>
          <p:cNvSpPr txBox="1">
            <a:spLocks noChangeArrowheads="1"/>
          </p:cNvSpPr>
          <p:nvPr/>
        </p:nvSpPr>
        <p:spPr bwMode="auto">
          <a:xfrm>
            <a:off x="1966608" y="334877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149" name="Text Box 64">
            <a:extLst>
              <a:ext uri="{FF2B5EF4-FFF2-40B4-BE49-F238E27FC236}">
                <a16:creationId xmlns:a16="http://schemas.microsoft.com/office/drawing/2014/main" id="{C6DA4233-38DD-5642-A09A-BB31A7CEF55D}"/>
              </a:ext>
            </a:extLst>
          </p:cNvPr>
          <p:cNvSpPr txBox="1">
            <a:spLocks noChangeArrowheads="1"/>
          </p:cNvSpPr>
          <p:nvPr/>
        </p:nvSpPr>
        <p:spPr bwMode="auto">
          <a:xfrm>
            <a:off x="2519058" y="3696438"/>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150" name="Text Box 65">
            <a:extLst>
              <a:ext uri="{FF2B5EF4-FFF2-40B4-BE49-F238E27FC236}">
                <a16:creationId xmlns:a16="http://schemas.microsoft.com/office/drawing/2014/main" id="{6E303301-D563-6140-AA2B-70CA3406E2CA}"/>
              </a:ext>
            </a:extLst>
          </p:cNvPr>
          <p:cNvSpPr txBox="1">
            <a:spLocks noChangeArrowheads="1"/>
          </p:cNvSpPr>
          <p:nvPr/>
        </p:nvSpPr>
        <p:spPr bwMode="auto">
          <a:xfrm>
            <a:off x="1828495" y="403457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151" name="Text Box 66">
            <a:extLst>
              <a:ext uri="{FF2B5EF4-FFF2-40B4-BE49-F238E27FC236}">
                <a16:creationId xmlns:a16="http://schemas.microsoft.com/office/drawing/2014/main" id="{CBC99722-8514-834D-85FC-347C82160B5B}"/>
              </a:ext>
            </a:extLst>
          </p:cNvPr>
          <p:cNvSpPr txBox="1">
            <a:spLocks noChangeArrowheads="1"/>
          </p:cNvSpPr>
          <p:nvPr/>
        </p:nvSpPr>
        <p:spPr bwMode="auto">
          <a:xfrm>
            <a:off x="3128658" y="384407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152" name="Text Box 67">
            <a:extLst>
              <a:ext uri="{FF2B5EF4-FFF2-40B4-BE49-F238E27FC236}">
                <a16:creationId xmlns:a16="http://schemas.microsoft.com/office/drawing/2014/main" id="{83B046CC-9905-9C43-9054-62843B40FB2F}"/>
              </a:ext>
            </a:extLst>
          </p:cNvPr>
          <p:cNvSpPr txBox="1">
            <a:spLocks noChangeArrowheads="1"/>
          </p:cNvSpPr>
          <p:nvPr/>
        </p:nvSpPr>
        <p:spPr bwMode="auto">
          <a:xfrm>
            <a:off x="3028645" y="4406051"/>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153" name="Text Box 68">
            <a:extLst>
              <a:ext uri="{FF2B5EF4-FFF2-40B4-BE49-F238E27FC236}">
                <a16:creationId xmlns:a16="http://schemas.microsoft.com/office/drawing/2014/main" id="{534112F7-D709-B040-8EB3-28DABCD693F8}"/>
              </a:ext>
            </a:extLst>
          </p:cNvPr>
          <p:cNvSpPr txBox="1">
            <a:spLocks noChangeArrowheads="1"/>
          </p:cNvSpPr>
          <p:nvPr/>
        </p:nvSpPr>
        <p:spPr bwMode="auto">
          <a:xfrm>
            <a:off x="3600145" y="3725013"/>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154" name="Text Box 69">
            <a:extLst>
              <a:ext uri="{FF2B5EF4-FFF2-40B4-BE49-F238E27FC236}">
                <a16:creationId xmlns:a16="http://schemas.microsoft.com/office/drawing/2014/main" id="{23747841-C3BA-4F4A-AF0C-5509D7AD1A16}"/>
              </a:ext>
            </a:extLst>
          </p:cNvPr>
          <p:cNvSpPr txBox="1">
            <a:spLocks noChangeArrowheads="1"/>
          </p:cNvSpPr>
          <p:nvPr/>
        </p:nvSpPr>
        <p:spPr bwMode="auto">
          <a:xfrm>
            <a:off x="4171645" y="4144113"/>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155" name="Text Box 70">
            <a:extLst>
              <a:ext uri="{FF2B5EF4-FFF2-40B4-BE49-F238E27FC236}">
                <a16:creationId xmlns:a16="http://schemas.microsoft.com/office/drawing/2014/main" id="{505A16BA-1B4E-2946-BF56-95BF07F6629A}"/>
              </a:ext>
            </a:extLst>
          </p:cNvPr>
          <p:cNvSpPr txBox="1">
            <a:spLocks noChangeArrowheads="1"/>
          </p:cNvSpPr>
          <p:nvPr/>
        </p:nvSpPr>
        <p:spPr bwMode="auto">
          <a:xfrm>
            <a:off x="4128783" y="329162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156" name="Text Box 71">
            <a:extLst>
              <a:ext uri="{FF2B5EF4-FFF2-40B4-BE49-F238E27FC236}">
                <a16:creationId xmlns:a16="http://schemas.microsoft.com/office/drawing/2014/main" id="{629902D3-50B9-0949-B491-4ABB181418AE}"/>
              </a:ext>
            </a:extLst>
          </p:cNvPr>
          <p:cNvSpPr txBox="1">
            <a:spLocks noChangeArrowheads="1"/>
          </p:cNvSpPr>
          <p:nvPr/>
        </p:nvSpPr>
        <p:spPr bwMode="auto">
          <a:xfrm>
            <a:off x="2961970" y="3053501"/>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157" name="Text Box 72">
            <a:extLst>
              <a:ext uri="{FF2B5EF4-FFF2-40B4-BE49-F238E27FC236}">
                <a16:creationId xmlns:a16="http://schemas.microsoft.com/office/drawing/2014/main" id="{165ABB11-551D-C643-B086-8CDB0076CFD6}"/>
              </a:ext>
            </a:extLst>
          </p:cNvPr>
          <p:cNvSpPr txBox="1">
            <a:spLocks noChangeArrowheads="1"/>
          </p:cNvSpPr>
          <p:nvPr/>
        </p:nvSpPr>
        <p:spPr bwMode="auto">
          <a:xfrm>
            <a:off x="2404758" y="2629638"/>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170" name="Text Box 73">
            <a:extLst>
              <a:ext uri="{FF2B5EF4-FFF2-40B4-BE49-F238E27FC236}">
                <a16:creationId xmlns:a16="http://schemas.microsoft.com/office/drawing/2014/main" id="{50793FC3-EA52-8A46-B2EB-EA9264E29B97}"/>
              </a:ext>
            </a:extLst>
          </p:cNvPr>
          <p:cNvSpPr txBox="1">
            <a:spLocks noChangeArrowheads="1"/>
          </p:cNvSpPr>
          <p:nvPr/>
        </p:nvSpPr>
        <p:spPr bwMode="auto">
          <a:xfrm>
            <a:off x="826718" y="1453057"/>
            <a:ext cx="110604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800" kern="0" dirty="0">
                <a:solidFill>
                  <a:srgbClr val="000000"/>
                </a:solidFill>
                <a:latin typeface="Calibri" panose="020F0502020204030204"/>
              </a:rPr>
              <a:t>Suppose that </a:t>
            </a:r>
            <a:r>
              <a:rPr lang="en-US" sz="2800" i="1" kern="0" dirty="0">
                <a:solidFill>
                  <a:srgbClr val="000000"/>
                </a:solidFill>
                <a:latin typeface="Calibri" panose="020F0502020204030204"/>
              </a:rPr>
              <a:t>u</a:t>
            </a:r>
            <a:r>
              <a:rPr lang="en-US" sz="2800" kern="0" dirty="0">
                <a:solidFill>
                  <a:srgbClr val="000000"/>
                </a:solidFill>
                <a:latin typeface="Calibri" panose="020F0502020204030204"/>
              </a:rPr>
              <a:t>’s neighboring node</a:t>
            </a:r>
            <a:r>
              <a:rPr lang="en-US" sz="2800" i="1" kern="0" dirty="0">
                <a:solidFill>
                  <a:srgbClr val="000000"/>
                </a:solidFill>
                <a:latin typeface="Calibri" panose="020F0502020204030204"/>
              </a:rPr>
              <a:t>s, x,v,w, </a:t>
            </a:r>
            <a:r>
              <a:rPr lang="en-US" sz="2800" kern="0" dirty="0">
                <a:solidFill>
                  <a:srgbClr val="000000"/>
                </a:solidFill>
                <a:latin typeface="Calibri" panose="020F0502020204030204"/>
              </a:rPr>
              <a:t>know that for destination</a:t>
            </a:r>
            <a:r>
              <a:rPr lang="en-US" sz="2800" i="1" kern="0" dirty="0">
                <a:solidFill>
                  <a:srgbClr val="000000"/>
                </a:solidFill>
                <a:latin typeface="Calibri" panose="020F0502020204030204"/>
              </a:rPr>
              <a:t> z</a:t>
            </a:r>
            <a:r>
              <a:rPr lang="en-US" sz="2800" kern="0" dirty="0">
                <a:solidFill>
                  <a:srgbClr val="000000"/>
                </a:solidFill>
                <a:latin typeface="Calibri" panose="020F0502020204030204"/>
              </a:rPr>
              <a:t>:</a:t>
            </a:r>
          </a:p>
        </p:txBody>
      </p:sp>
      <p:grpSp>
        <p:nvGrpSpPr>
          <p:cNvPr id="198" name="Group 197">
            <a:extLst>
              <a:ext uri="{FF2B5EF4-FFF2-40B4-BE49-F238E27FC236}">
                <a16:creationId xmlns:a16="http://schemas.microsoft.com/office/drawing/2014/main" id="{B6EDB62A-BA4E-E241-91FE-0B3F85B42586}"/>
              </a:ext>
            </a:extLst>
          </p:cNvPr>
          <p:cNvGrpSpPr/>
          <p:nvPr/>
        </p:nvGrpSpPr>
        <p:grpSpPr>
          <a:xfrm>
            <a:off x="5954236" y="2228981"/>
            <a:ext cx="4331635" cy="1775026"/>
            <a:chOff x="5954236" y="2228981"/>
            <a:chExt cx="4331635" cy="1775026"/>
          </a:xfrm>
        </p:grpSpPr>
        <p:sp>
          <p:nvSpPr>
            <p:cNvPr id="171" name="Text Box 74">
              <a:extLst>
                <a:ext uri="{FF2B5EF4-FFF2-40B4-BE49-F238E27FC236}">
                  <a16:creationId xmlns:a16="http://schemas.microsoft.com/office/drawing/2014/main" id="{08AC163F-B177-6F4C-8CFD-A821A782FABB}"/>
                </a:ext>
              </a:extLst>
            </p:cNvPr>
            <p:cNvSpPr txBox="1">
              <a:spLocks noChangeArrowheads="1"/>
            </p:cNvSpPr>
            <p:nvPr/>
          </p:nvSpPr>
          <p:spPr bwMode="auto">
            <a:xfrm>
              <a:off x="6467193" y="2803678"/>
              <a:ext cx="359585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i="1" kern="0" dirty="0">
                  <a:solidFill>
                    <a:srgbClr val="000000"/>
                  </a:solidFill>
                </a:rPr>
                <a:t>D</a:t>
              </a:r>
              <a:r>
                <a:rPr lang="en-US" i="1" kern="0" baseline="-25000" dirty="0">
                  <a:solidFill>
                    <a:srgbClr val="000000"/>
                  </a:solidFill>
                </a:rPr>
                <a:t>u</a:t>
              </a:r>
              <a:r>
                <a:rPr lang="en-US" i="1" kern="0" dirty="0">
                  <a:solidFill>
                    <a:srgbClr val="000000"/>
                  </a:solidFill>
                </a:rPr>
                <a:t>(z) </a:t>
              </a:r>
              <a:r>
                <a:rPr lang="en-US" kern="0" dirty="0">
                  <a:solidFill>
                    <a:srgbClr val="000000"/>
                  </a:solidFill>
                </a:rPr>
                <a:t>= min { </a:t>
              </a:r>
              <a:r>
                <a:rPr lang="en-US" i="1" kern="0" dirty="0">
                  <a:solidFill>
                    <a:srgbClr val="000000"/>
                  </a:solidFill>
                </a:rPr>
                <a:t>c</a:t>
              </a:r>
              <a:r>
                <a:rPr lang="en-US" i="1" kern="0" baseline="-25000" dirty="0">
                  <a:solidFill>
                    <a:srgbClr val="000000"/>
                  </a:solidFill>
                </a:rPr>
                <a:t>u,v </a:t>
              </a:r>
              <a:r>
                <a:rPr lang="en-US" i="1" kern="0" dirty="0">
                  <a:solidFill>
                    <a:srgbClr val="000000"/>
                  </a:solidFill>
                </a:rPr>
                <a:t>+ D</a:t>
              </a:r>
              <a:r>
                <a:rPr lang="en-US" i="1" kern="0" baseline="-25000" dirty="0">
                  <a:solidFill>
                    <a:srgbClr val="000000"/>
                  </a:solidFill>
                </a:rPr>
                <a:t>v</a:t>
              </a:r>
              <a:r>
                <a:rPr lang="en-US" i="1" kern="0" dirty="0">
                  <a:solidFill>
                    <a:srgbClr val="000000"/>
                  </a:solidFill>
                </a:rPr>
                <a:t>(z),</a:t>
              </a:r>
            </a:p>
            <a:p>
              <a:pPr eaLnBrk="0" fontAlgn="base" hangingPunct="0">
                <a:spcBef>
                  <a:spcPct val="0"/>
                </a:spcBef>
                <a:spcAft>
                  <a:spcPct val="0"/>
                </a:spcAft>
                <a:defRPr/>
              </a:pPr>
              <a:r>
                <a:rPr lang="en-US" i="1" kern="0" dirty="0">
                  <a:solidFill>
                    <a:srgbClr val="000000"/>
                  </a:solidFill>
                </a:rPr>
                <a:t>                    c</a:t>
              </a:r>
              <a:r>
                <a:rPr lang="en-US" i="1" kern="0" baseline="-25000" dirty="0">
                  <a:solidFill>
                    <a:srgbClr val="000000"/>
                  </a:solidFill>
                </a:rPr>
                <a:t>u,x </a:t>
              </a:r>
              <a:r>
                <a:rPr lang="en-US" i="1" kern="0" dirty="0">
                  <a:solidFill>
                    <a:srgbClr val="000000"/>
                  </a:solidFill>
                </a:rPr>
                <a:t>+ D</a:t>
              </a:r>
              <a:r>
                <a:rPr lang="en-US" i="1" kern="0" baseline="-25000" dirty="0">
                  <a:solidFill>
                    <a:srgbClr val="000000"/>
                  </a:solidFill>
                </a:rPr>
                <a:t>x</a:t>
              </a:r>
              <a:r>
                <a:rPr lang="en-US" i="1" kern="0" dirty="0">
                  <a:solidFill>
                    <a:srgbClr val="000000"/>
                  </a:solidFill>
                </a:rPr>
                <a:t>(z),</a:t>
              </a:r>
            </a:p>
            <a:p>
              <a:pPr eaLnBrk="0" fontAlgn="base" hangingPunct="0">
                <a:spcBef>
                  <a:spcPct val="0"/>
                </a:spcBef>
                <a:spcAft>
                  <a:spcPct val="0"/>
                </a:spcAft>
                <a:defRPr/>
              </a:pPr>
              <a:r>
                <a:rPr lang="en-US" i="1" kern="0" dirty="0">
                  <a:solidFill>
                    <a:srgbClr val="000000"/>
                  </a:solidFill>
                </a:rPr>
                <a:t>                    c</a:t>
              </a:r>
              <a:r>
                <a:rPr lang="en-US" i="1" kern="0" baseline="-25000" dirty="0">
                  <a:solidFill>
                    <a:srgbClr val="000000"/>
                  </a:solidFill>
                </a:rPr>
                <a:t>u,w </a:t>
              </a:r>
              <a:r>
                <a:rPr lang="en-US" i="1" kern="0" dirty="0">
                  <a:solidFill>
                    <a:srgbClr val="000000"/>
                  </a:solidFill>
                </a:rPr>
                <a:t>+ D</a:t>
              </a:r>
              <a:r>
                <a:rPr lang="en-US" i="1" kern="0" baseline="-25000" dirty="0">
                  <a:solidFill>
                    <a:srgbClr val="000000"/>
                  </a:solidFill>
                </a:rPr>
                <a:t>w</a:t>
              </a:r>
              <a:r>
                <a:rPr lang="en-US" i="1" kern="0" dirty="0">
                  <a:solidFill>
                    <a:srgbClr val="000000"/>
                  </a:solidFill>
                </a:rPr>
                <a:t>(z) </a:t>
              </a:r>
              <a:r>
                <a:rPr lang="en-US" kern="0" dirty="0">
                  <a:solidFill>
                    <a:srgbClr val="000000"/>
                  </a:solidFill>
                </a:rPr>
                <a:t>}</a:t>
              </a:r>
            </a:p>
          </p:txBody>
        </p:sp>
        <p:sp>
          <p:nvSpPr>
            <p:cNvPr id="173" name="Text Box 76">
              <a:extLst>
                <a:ext uri="{FF2B5EF4-FFF2-40B4-BE49-F238E27FC236}">
                  <a16:creationId xmlns:a16="http://schemas.microsoft.com/office/drawing/2014/main" id="{75683FA0-BB30-1143-8370-A231590ECC6F}"/>
                </a:ext>
              </a:extLst>
            </p:cNvPr>
            <p:cNvSpPr txBox="1">
              <a:spLocks noChangeArrowheads="1"/>
            </p:cNvSpPr>
            <p:nvPr/>
          </p:nvSpPr>
          <p:spPr bwMode="auto">
            <a:xfrm>
              <a:off x="5954236" y="2228981"/>
              <a:ext cx="43316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800" kern="0" dirty="0">
                  <a:solidFill>
                    <a:srgbClr val="000000"/>
                  </a:solidFill>
                  <a:latin typeface="Calibri" panose="020F0502020204030204"/>
                </a:rPr>
                <a:t>Bellman-Ford equation says:</a:t>
              </a:r>
            </a:p>
          </p:txBody>
        </p:sp>
      </p:grpSp>
      <p:sp>
        <p:nvSpPr>
          <p:cNvPr id="11" name="Oval 10">
            <a:extLst>
              <a:ext uri="{FF2B5EF4-FFF2-40B4-BE49-F238E27FC236}">
                <a16:creationId xmlns:a16="http://schemas.microsoft.com/office/drawing/2014/main" id="{D0322153-8ADE-0E45-A262-AA9A6F947B78}"/>
              </a:ext>
            </a:extLst>
          </p:cNvPr>
          <p:cNvSpPr/>
          <p:nvPr/>
        </p:nvSpPr>
        <p:spPr>
          <a:xfrm>
            <a:off x="1490598" y="3507287"/>
            <a:ext cx="613776"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9" name="Group 18">
            <a:extLst>
              <a:ext uri="{FF2B5EF4-FFF2-40B4-BE49-F238E27FC236}">
                <a16:creationId xmlns:a16="http://schemas.microsoft.com/office/drawing/2014/main" id="{05CDC77B-12CB-3641-B097-13A93B9A5519}"/>
              </a:ext>
            </a:extLst>
          </p:cNvPr>
          <p:cNvGrpSpPr/>
          <p:nvPr/>
        </p:nvGrpSpPr>
        <p:grpSpPr>
          <a:xfrm>
            <a:off x="764088" y="2192055"/>
            <a:ext cx="1691013" cy="1127342"/>
            <a:chOff x="764088" y="2192055"/>
            <a:chExt cx="1691013" cy="1127342"/>
          </a:xfrm>
        </p:grpSpPr>
        <p:sp>
          <p:nvSpPr>
            <p:cNvPr id="17" name="Freeform 16">
              <a:extLst>
                <a:ext uri="{FF2B5EF4-FFF2-40B4-BE49-F238E27FC236}">
                  <a16:creationId xmlns:a16="http://schemas.microsoft.com/office/drawing/2014/main" id="{2F6815DA-1947-6340-8445-6A386E65C0A9}"/>
                </a:ext>
              </a:extLst>
            </p:cNvPr>
            <p:cNvSpPr/>
            <p:nvPr/>
          </p:nvSpPr>
          <p:spPr>
            <a:xfrm>
              <a:off x="851770" y="2630466"/>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8" name="Group 17">
              <a:extLst>
                <a:ext uri="{FF2B5EF4-FFF2-40B4-BE49-F238E27FC236}">
                  <a16:creationId xmlns:a16="http://schemas.microsoft.com/office/drawing/2014/main" id="{B6668ED3-D130-3D45-B084-001DB41CD429}"/>
                </a:ext>
              </a:extLst>
            </p:cNvPr>
            <p:cNvGrpSpPr/>
            <p:nvPr/>
          </p:nvGrpSpPr>
          <p:grpSpPr>
            <a:xfrm>
              <a:off x="764088" y="2192055"/>
              <a:ext cx="1346844" cy="461665"/>
              <a:chOff x="764088" y="2192055"/>
              <a:chExt cx="1346844" cy="461665"/>
            </a:xfrm>
          </p:grpSpPr>
          <p:sp>
            <p:nvSpPr>
              <p:cNvPr id="16" name="Rectangle 15">
                <a:extLst>
                  <a:ext uri="{FF2B5EF4-FFF2-40B4-BE49-F238E27FC236}">
                    <a16:creationId xmlns:a16="http://schemas.microsoft.com/office/drawing/2014/main" id="{3BEA4562-9169-7C42-BB3A-DDCF769E8C27}"/>
                  </a:ext>
                </a:extLst>
              </p:cNvPr>
              <p:cNvSpPr/>
              <p:nvPr/>
            </p:nvSpPr>
            <p:spPr>
              <a:xfrm>
                <a:off x="851770" y="224215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extBox 3">
                <a:extLst>
                  <a:ext uri="{FF2B5EF4-FFF2-40B4-BE49-F238E27FC236}">
                    <a16:creationId xmlns:a16="http://schemas.microsoft.com/office/drawing/2014/main" id="{CFA04257-DEFD-8540-BF6E-236DE2C4C53F}"/>
                  </a:ext>
                </a:extLst>
              </p:cNvPr>
              <p:cNvSpPr txBox="1"/>
              <p:nvPr/>
            </p:nvSpPr>
            <p:spPr>
              <a:xfrm>
                <a:off x="764088" y="2192055"/>
                <a:ext cx="1346844" cy="461665"/>
              </a:xfrm>
              <a:prstGeom prst="rect">
                <a:avLst/>
              </a:prstGeom>
              <a:noFill/>
            </p:spPr>
            <p:txBody>
              <a:bodyPr wrap="none" rtlCol="0">
                <a:spAutoFit/>
              </a:bodyPr>
              <a:lstStyle/>
              <a:p>
                <a:pPr marL="123825"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v</a:t>
                </a:r>
                <a:r>
                  <a:rPr lang="en-US" sz="2400" i="1" kern="0" dirty="0">
                    <a:solidFill>
                      <a:srgbClr val="000000"/>
                    </a:solidFill>
                    <a:ea typeface="ＭＳ Ｐゴシック" charset="0"/>
                  </a:rPr>
                  <a:t>(z) </a:t>
                </a:r>
                <a:r>
                  <a:rPr lang="en-US" sz="2400" kern="0" dirty="0">
                    <a:solidFill>
                      <a:srgbClr val="000000"/>
                    </a:solidFill>
                    <a:ea typeface="ＭＳ Ｐゴシック" charset="0"/>
                  </a:rPr>
                  <a:t>= 5</a:t>
                </a:r>
                <a:endParaRPr lang="en-US" sz="2400" kern="0" dirty="0">
                  <a:solidFill>
                    <a:srgbClr val="000000"/>
                  </a:solidFill>
                </a:endParaRPr>
              </a:p>
            </p:txBody>
          </p:sp>
        </p:grpSp>
      </p:grpSp>
      <p:grpSp>
        <p:nvGrpSpPr>
          <p:cNvPr id="180" name="Group 179">
            <a:extLst>
              <a:ext uri="{FF2B5EF4-FFF2-40B4-BE49-F238E27FC236}">
                <a16:creationId xmlns:a16="http://schemas.microsoft.com/office/drawing/2014/main" id="{C721CBAE-72DC-0B4C-AC71-D468764AA3F0}"/>
              </a:ext>
            </a:extLst>
          </p:cNvPr>
          <p:cNvGrpSpPr/>
          <p:nvPr/>
        </p:nvGrpSpPr>
        <p:grpSpPr>
          <a:xfrm>
            <a:off x="2315033" y="3160213"/>
            <a:ext cx="501650" cy="396875"/>
            <a:chOff x="836555" y="3112712"/>
            <a:chExt cx="501650" cy="396875"/>
          </a:xfrm>
        </p:grpSpPr>
        <p:grpSp>
          <p:nvGrpSpPr>
            <p:cNvPr id="179" name="Group 178">
              <a:extLst>
                <a:ext uri="{FF2B5EF4-FFF2-40B4-BE49-F238E27FC236}">
                  <a16:creationId xmlns:a16="http://schemas.microsoft.com/office/drawing/2014/main" id="{A465F243-8453-E94C-A8EB-000E66654551}"/>
                </a:ext>
              </a:extLst>
            </p:cNvPr>
            <p:cNvGrpSpPr/>
            <p:nvPr/>
          </p:nvGrpSpPr>
          <p:grpSpPr>
            <a:xfrm>
              <a:off x="836555" y="3205962"/>
              <a:ext cx="501650" cy="233363"/>
              <a:chOff x="2303158" y="3229713"/>
              <a:chExt cx="501650" cy="233363"/>
            </a:xfrm>
          </p:grpSpPr>
          <p:sp>
            <p:nvSpPr>
              <p:cNvPr id="113" name="Oval 16">
                <a:extLst>
                  <a:ext uri="{FF2B5EF4-FFF2-40B4-BE49-F238E27FC236}">
                    <a16:creationId xmlns:a16="http://schemas.microsoft.com/office/drawing/2014/main" id="{0853C746-773B-9B4B-9E9D-1A3FFD58F819}"/>
                  </a:ext>
                </a:extLst>
              </p:cNvPr>
              <p:cNvSpPr>
                <a:spLocks noChangeArrowheads="1"/>
              </p:cNvSpPr>
              <p:nvPr/>
            </p:nvSpPr>
            <p:spPr bwMode="auto">
              <a:xfrm>
                <a:off x="2307920" y="3334488"/>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4" name="Line 17">
                <a:extLst>
                  <a:ext uri="{FF2B5EF4-FFF2-40B4-BE49-F238E27FC236}">
                    <a16:creationId xmlns:a16="http://schemas.microsoft.com/office/drawing/2014/main" id="{02D5EB0A-0D47-D64A-94C0-9489ADD634C2}"/>
                  </a:ext>
                </a:extLst>
              </p:cNvPr>
              <p:cNvSpPr>
                <a:spLocks noChangeShapeType="1"/>
              </p:cNvSpPr>
              <p:nvPr/>
            </p:nvSpPr>
            <p:spPr bwMode="auto">
              <a:xfrm>
                <a:off x="2307920" y="332337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5" name="Line 18">
                <a:extLst>
                  <a:ext uri="{FF2B5EF4-FFF2-40B4-BE49-F238E27FC236}">
                    <a16:creationId xmlns:a16="http://schemas.microsoft.com/office/drawing/2014/main" id="{19267F03-A18E-E94D-AFBE-D362644035BF}"/>
                  </a:ext>
                </a:extLst>
              </p:cNvPr>
              <p:cNvSpPr>
                <a:spLocks noChangeShapeType="1"/>
              </p:cNvSpPr>
              <p:nvPr/>
            </p:nvSpPr>
            <p:spPr bwMode="auto">
              <a:xfrm>
                <a:off x="2804808" y="332337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6" name="Rectangle 19">
                <a:extLst>
                  <a:ext uri="{FF2B5EF4-FFF2-40B4-BE49-F238E27FC236}">
                    <a16:creationId xmlns:a16="http://schemas.microsoft.com/office/drawing/2014/main" id="{5775B4BF-7190-E346-A0C4-3136C4FDFA52}"/>
                  </a:ext>
                </a:extLst>
              </p:cNvPr>
              <p:cNvSpPr>
                <a:spLocks noChangeArrowheads="1"/>
              </p:cNvSpPr>
              <p:nvPr/>
            </p:nvSpPr>
            <p:spPr bwMode="auto">
              <a:xfrm>
                <a:off x="2307920" y="3323376"/>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17" name="Oval 20">
                <a:extLst>
                  <a:ext uri="{FF2B5EF4-FFF2-40B4-BE49-F238E27FC236}">
                    <a16:creationId xmlns:a16="http://schemas.microsoft.com/office/drawing/2014/main" id="{527A7EAA-5AB1-D541-8B8E-A74D44BA7595}"/>
                  </a:ext>
                </a:extLst>
              </p:cNvPr>
              <p:cNvSpPr>
                <a:spLocks noChangeArrowheads="1"/>
              </p:cNvSpPr>
              <p:nvPr/>
            </p:nvSpPr>
            <p:spPr bwMode="auto">
              <a:xfrm>
                <a:off x="2303158" y="3229713"/>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grpSp>
          <p:nvGrpSpPr>
            <p:cNvPr id="146" name="Group 57">
              <a:extLst>
                <a:ext uri="{FF2B5EF4-FFF2-40B4-BE49-F238E27FC236}">
                  <a16:creationId xmlns:a16="http://schemas.microsoft.com/office/drawing/2014/main" id="{E5EC63B4-77F4-0244-AFB9-0658A6C7E1D8}"/>
                </a:ext>
              </a:extLst>
            </p:cNvPr>
            <p:cNvGrpSpPr>
              <a:grpSpLocks/>
            </p:cNvGrpSpPr>
            <p:nvPr/>
          </p:nvGrpSpPr>
          <p:grpSpPr bwMode="auto">
            <a:xfrm>
              <a:off x="929455" y="3112712"/>
              <a:ext cx="311150" cy="396875"/>
              <a:chOff x="2958" y="2425"/>
              <a:chExt cx="199" cy="250"/>
            </a:xfrm>
          </p:grpSpPr>
          <p:sp>
            <p:nvSpPr>
              <p:cNvPr id="160" name="Rectangle 58">
                <a:extLst>
                  <a:ext uri="{FF2B5EF4-FFF2-40B4-BE49-F238E27FC236}">
                    <a16:creationId xmlns:a16="http://schemas.microsoft.com/office/drawing/2014/main" id="{DD912960-89ED-D147-B665-AC6CCFCE5F4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1" name="Text Box 59">
                <a:extLst>
                  <a:ext uri="{FF2B5EF4-FFF2-40B4-BE49-F238E27FC236}">
                    <a16:creationId xmlns:a16="http://schemas.microsoft.com/office/drawing/2014/main" id="{540DB369-7FE9-DE41-B6CA-42B11EC1DA64}"/>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grpSp>
        <p:nvGrpSpPr>
          <p:cNvPr id="187" name="Group 186">
            <a:extLst>
              <a:ext uri="{FF2B5EF4-FFF2-40B4-BE49-F238E27FC236}">
                <a16:creationId xmlns:a16="http://schemas.microsoft.com/office/drawing/2014/main" id="{F0B3B02B-083F-B544-92D3-D4A53099AC16}"/>
              </a:ext>
            </a:extLst>
          </p:cNvPr>
          <p:cNvGrpSpPr/>
          <p:nvPr/>
        </p:nvGrpSpPr>
        <p:grpSpPr>
          <a:xfrm>
            <a:off x="3717682" y="2156537"/>
            <a:ext cx="1617434" cy="1131193"/>
            <a:chOff x="3717682" y="2156537"/>
            <a:chExt cx="1617434" cy="1131193"/>
          </a:xfrm>
        </p:grpSpPr>
        <p:sp>
          <p:nvSpPr>
            <p:cNvPr id="182" name="Freeform 181">
              <a:extLst>
                <a:ext uri="{FF2B5EF4-FFF2-40B4-BE49-F238E27FC236}">
                  <a16:creationId xmlns:a16="http://schemas.microsoft.com/office/drawing/2014/main" id="{ADC690BC-B355-8B44-A59E-02C693DA19C7}"/>
                </a:ext>
              </a:extLst>
            </p:cNvPr>
            <p:cNvSpPr/>
            <p:nvPr/>
          </p:nvSpPr>
          <p:spPr>
            <a:xfrm flipH="1">
              <a:off x="3717682" y="2598799"/>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86" name="Group 185">
              <a:extLst>
                <a:ext uri="{FF2B5EF4-FFF2-40B4-BE49-F238E27FC236}">
                  <a16:creationId xmlns:a16="http://schemas.microsoft.com/office/drawing/2014/main" id="{28A5A808-82DD-BB42-BA0F-146BE0A1F565}"/>
                </a:ext>
              </a:extLst>
            </p:cNvPr>
            <p:cNvGrpSpPr/>
            <p:nvPr/>
          </p:nvGrpSpPr>
          <p:grpSpPr>
            <a:xfrm>
              <a:off x="3933770" y="2156537"/>
              <a:ext cx="1401346" cy="461665"/>
              <a:chOff x="5257869" y="2364355"/>
              <a:chExt cx="1401346" cy="461665"/>
            </a:xfrm>
          </p:grpSpPr>
          <p:sp>
            <p:nvSpPr>
              <p:cNvPr id="177" name="Rectangle 176">
                <a:extLst>
                  <a:ext uri="{FF2B5EF4-FFF2-40B4-BE49-F238E27FC236}">
                    <a16:creationId xmlns:a16="http://schemas.microsoft.com/office/drawing/2014/main" id="{549EF23C-2FFE-C14C-951E-E59A0690CED4}"/>
                  </a:ext>
                </a:extLst>
              </p:cNvPr>
              <p:cNvSpPr/>
              <p:nvPr/>
            </p:nvSpPr>
            <p:spPr>
              <a:xfrm>
                <a:off x="5402893" y="242169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5" name="TextBox 174">
                <a:extLst>
                  <a:ext uri="{FF2B5EF4-FFF2-40B4-BE49-F238E27FC236}">
                    <a16:creationId xmlns:a16="http://schemas.microsoft.com/office/drawing/2014/main" id="{649CD771-2F80-AF41-B52D-63EB08A14300}"/>
                  </a:ext>
                </a:extLst>
              </p:cNvPr>
              <p:cNvSpPr txBox="1"/>
              <p:nvPr/>
            </p:nvSpPr>
            <p:spPr>
              <a:xfrm>
                <a:off x="5257869" y="2364355"/>
                <a:ext cx="1401346" cy="461665"/>
              </a:xfrm>
              <a:prstGeom prst="rect">
                <a:avLst/>
              </a:prstGeom>
              <a:noFill/>
            </p:spPr>
            <p:txBody>
              <a:bodyPr wrap="none" rtlCol="0">
                <a:spAutoFit/>
              </a:bodyPr>
              <a:lstStyle/>
              <a:p>
                <a:pPr marL="123825"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w</a:t>
                </a:r>
                <a:r>
                  <a:rPr lang="en-US" sz="2400" i="1" kern="0" dirty="0">
                    <a:solidFill>
                      <a:srgbClr val="000000"/>
                    </a:solidFill>
                    <a:ea typeface="ＭＳ Ｐゴシック" charset="0"/>
                  </a:rPr>
                  <a:t>(z) = </a:t>
                </a:r>
                <a:r>
                  <a:rPr lang="en-US" sz="2400" kern="0" dirty="0">
                    <a:solidFill>
                      <a:srgbClr val="000000"/>
                    </a:solidFill>
                    <a:ea typeface="ＭＳ Ｐゴシック" charset="0"/>
                  </a:rPr>
                  <a:t>3</a:t>
                </a:r>
              </a:p>
            </p:txBody>
          </p:sp>
        </p:grpSp>
      </p:grpSp>
      <p:grpSp>
        <p:nvGrpSpPr>
          <p:cNvPr id="188" name="Group 187">
            <a:extLst>
              <a:ext uri="{FF2B5EF4-FFF2-40B4-BE49-F238E27FC236}">
                <a16:creationId xmlns:a16="http://schemas.microsoft.com/office/drawing/2014/main" id="{D186D734-0E35-0848-877D-0B8A6851C7C0}"/>
              </a:ext>
            </a:extLst>
          </p:cNvPr>
          <p:cNvGrpSpPr/>
          <p:nvPr/>
        </p:nvGrpSpPr>
        <p:grpSpPr>
          <a:xfrm>
            <a:off x="3392183" y="3123351"/>
            <a:ext cx="500062" cy="396875"/>
            <a:chOff x="3392183" y="3123351"/>
            <a:chExt cx="500062" cy="396875"/>
          </a:xfrm>
        </p:grpSpPr>
        <p:sp>
          <p:nvSpPr>
            <p:cNvPr id="118" name="Oval 21">
              <a:extLst>
                <a:ext uri="{FF2B5EF4-FFF2-40B4-BE49-F238E27FC236}">
                  <a16:creationId xmlns:a16="http://schemas.microsoft.com/office/drawing/2014/main" id="{CA014D69-6A3C-9242-91D0-7DCB5FF13431}"/>
                </a:ext>
              </a:extLst>
            </p:cNvPr>
            <p:cNvSpPr>
              <a:spLocks noChangeArrowheads="1"/>
            </p:cNvSpPr>
            <p:nvPr/>
          </p:nvSpPr>
          <p:spPr bwMode="auto">
            <a:xfrm>
              <a:off x="3392183" y="3328138"/>
              <a:ext cx="495300"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9" name="Line 22">
              <a:extLst>
                <a:ext uri="{FF2B5EF4-FFF2-40B4-BE49-F238E27FC236}">
                  <a16:creationId xmlns:a16="http://schemas.microsoft.com/office/drawing/2014/main" id="{A6BCF00D-E263-8C4C-AD85-5BD8F55AD872}"/>
                </a:ext>
              </a:extLst>
            </p:cNvPr>
            <p:cNvSpPr>
              <a:spLocks noChangeShapeType="1"/>
            </p:cNvSpPr>
            <p:nvPr/>
          </p:nvSpPr>
          <p:spPr bwMode="auto">
            <a:xfrm>
              <a:off x="3392183" y="331702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0" name="Line 23">
              <a:extLst>
                <a:ext uri="{FF2B5EF4-FFF2-40B4-BE49-F238E27FC236}">
                  <a16:creationId xmlns:a16="http://schemas.microsoft.com/office/drawing/2014/main" id="{CDCA1E47-6B43-D144-9AB7-28160C22D56F}"/>
                </a:ext>
              </a:extLst>
            </p:cNvPr>
            <p:cNvSpPr>
              <a:spLocks noChangeShapeType="1"/>
            </p:cNvSpPr>
            <p:nvPr/>
          </p:nvSpPr>
          <p:spPr bwMode="auto">
            <a:xfrm>
              <a:off x="3887483" y="331702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1" name="Rectangle 24">
              <a:extLst>
                <a:ext uri="{FF2B5EF4-FFF2-40B4-BE49-F238E27FC236}">
                  <a16:creationId xmlns:a16="http://schemas.microsoft.com/office/drawing/2014/main" id="{B3CD70A8-E93D-AC46-8A88-E9576AB39730}"/>
                </a:ext>
              </a:extLst>
            </p:cNvPr>
            <p:cNvSpPr>
              <a:spLocks noChangeArrowheads="1"/>
            </p:cNvSpPr>
            <p:nvPr/>
          </p:nvSpPr>
          <p:spPr bwMode="auto">
            <a:xfrm>
              <a:off x="3392183" y="3317026"/>
              <a:ext cx="490538"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22" name="Oval 25">
              <a:extLst>
                <a:ext uri="{FF2B5EF4-FFF2-40B4-BE49-F238E27FC236}">
                  <a16:creationId xmlns:a16="http://schemas.microsoft.com/office/drawing/2014/main" id="{C2A5705E-82DA-3146-B8C6-31D210861B04}"/>
                </a:ext>
              </a:extLst>
            </p:cNvPr>
            <p:cNvSpPr>
              <a:spLocks noChangeArrowheads="1"/>
            </p:cNvSpPr>
            <p:nvPr/>
          </p:nvSpPr>
          <p:spPr bwMode="auto">
            <a:xfrm>
              <a:off x="3396945" y="3228126"/>
              <a:ext cx="495300"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5" name="Group 54">
              <a:extLst>
                <a:ext uri="{FF2B5EF4-FFF2-40B4-BE49-F238E27FC236}">
                  <a16:creationId xmlns:a16="http://schemas.microsoft.com/office/drawing/2014/main" id="{10D52570-25C6-A74A-94B9-5AE0B127BCD8}"/>
                </a:ext>
              </a:extLst>
            </p:cNvPr>
            <p:cNvGrpSpPr>
              <a:grpSpLocks/>
            </p:cNvGrpSpPr>
            <p:nvPr/>
          </p:nvGrpSpPr>
          <p:grpSpPr bwMode="auto">
            <a:xfrm>
              <a:off x="3466795" y="3123351"/>
              <a:ext cx="368300" cy="396875"/>
              <a:chOff x="2941" y="2413"/>
              <a:chExt cx="235" cy="250"/>
            </a:xfrm>
          </p:grpSpPr>
          <p:sp>
            <p:nvSpPr>
              <p:cNvPr id="162" name="Rectangle 55">
                <a:extLst>
                  <a:ext uri="{FF2B5EF4-FFF2-40B4-BE49-F238E27FC236}">
                    <a16:creationId xmlns:a16="http://schemas.microsoft.com/office/drawing/2014/main" id="{E048F283-E3E7-474A-9EB5-932E8F2E8A10}"/>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3" name="Text Box 56">
                <a:extLst>
                  <a:ext uri="{FF2B5EF4-FFF2-40B4-BE49-F238E27FC236}">
                    <a16:creationId xmlns:a16="http://schemas.microsoft.com/office/drawing/2014/main" id="{44012ACC-934B-934B-8D00-F664ACDB7DE8}"/>
                  </a:ext>
                </a:extLst>
              </p:cNvPr>
              <p:cNvSpPr txBox="1">
                <a:spLocks noChangeArrowheads="1"/>
              </p:cNvSpPr>
              <p:nvPr/>
            </p:nvSpPr>
            <p:spPr bwMode="auto">
              <a:xfrm>
                <a:off x="2941" y="2413"/>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grpSp>
        <p:nvGrpSpPr>
          <p:cNvPr id="195" name="Group 194">
            <a:extLst>
              <a:ext uri="{FF2B5EF4-FFF2-40B4-BE49-F238E27FC236}">
                <a16:creationId xmlns:a16="http://schemas.microsoft.com/office/drawing/2014/main" id="{860B586A-B5CC-CE4A-9EA2-334F6AEAC3E2}"/>
              </a:ext>
            </a:extLst>
          </p:cNvPr>
          <p:cNvGrpSpPr/>
          <p:nvPr/>
        </p:nvGrpSpPr>
        <p:grpSpPr>
          <a:xfrm>
            <a:off x="848468" y="4372180"/>
            <a:ext cx="1691740" cy="1106944"/>
            <a:chOff x="848468" y="4372180"/>
            <a:chExt cx="1691740" cy="1106944"/>
          </a:xfrm>
        </p:grpSpPr>
        <p:sp>
          <p:nvSpPr>
            <p:cNvPr id="190" name="Freeform 189">
              <a:extLst>
                <a:ext uri="{FF2B5EF4-FFF2-40B4-BE49-F238E27FC236}">
                  <a16:creationId xmlns:a16="http://schemas.microsoft.com/office/drawing/2014/main" id="{0FDAB56E-7C26-614E-9058-3AA449B7210D}"/>
                </a:ext>
              </a:extLst>
            </p:cNvPr>
            <p:cNvSpPr/>
            <p:nvPr/>
          </p:nvSpPr>
          <p:spPr>
            <a:xfrm flipV="1">
              <a:off x="936877" y="4372180"/>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94" name="Group 193">
              <a:extLst>
                <a:ext uri="{FF2B5EF4-FFF2-40B4-BE49-F238E27FC236}">
                  <a16:creationId xmlns:a16="http://schemas.microsoft.com/office/drawing/2014/main" id="{31779409-6F55-874D-8E5A-3B311FFB355F}"/>
                </a:ext>
              </a:extLst>
            </p:cNvPr>
            <p:cNvGrpSpPr/>
            <p:nvPr/>
          </p:nvGrpSpPr>
          <p:grpSpPr>
            <a:xfrm>
              <a:off x="848468" y="5017459"/>
              <a:ext cx="1342034" cy="461665"/>
              <a:chOff x="296266" y="4536509"/>
              <a:chExt cx="1342034" cy="461665"/>
            </a:xfrm>
          </p:grpSpPr>
          <p:sp>
            <p:nvSpPr>
              <p:cNvPr id="178" name="Rectangle 177">
                <a:extLst>
                  <a:ext uri="{FF2B5EF4-FFF2-40B4-BE49-F238E27FC236}">
                    <a16:creationId xmlns:a16="http://schemas.microsoft.com/office/drawing/2014/main" id="{6D48F49C-5FEB-D94C-B56E-06D13EA9B5E1}"/>
                  </a:ext>
                </a:extLst>
              </p:cNvPr>
              <p:cNvSpPr/>
              <p:nvPr/>
            </p:nvSpPr>
            <p:spPr>
              <a:xfrm>
                <a:off x="398223" y="4576176"/>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4" name="TextBox 173">
                <a:extLst>
                  <a:ext uri="{FF2B5EF4-FFF2-40B4-BE49-F238E27FC236}">
                    <a16:creationId xmlns:a16="http://schemas.microsoft.com/office/drawing/2014/main" id="{1DB737CC-056A-554D-A2BB-CD3B4E0B69C1}"/>
                  </a:ext>
                </a:extLst>
              </p:cNvPr>
              <p:cNvSpPr txBox="1"/>
              <p:nvPr/>
            </p:nvSpPr>
            <p:spPr>
              <a:xfrm>
                <a:off x="296266" y="4536509"/>
                <a:ext cx="1342034" cy="461665"/>
              </a:xfrm>
              <a:prstGeom prst="rect">
                <a:avLst/>
              </a:prstGeom>
              <a:noFill/>
            </p:spPr>
            <p:txBody>
              <a:bodyPr wrap="none" rtlCol="0">
                <a:spAutoFit/>
              </a:bodyPr>
              <a:lstStyle/>
              <a:p>
                <a:pPr marL="123825"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x</a:t>
                </a:r>
                <a:r>
                  <a:rPr lang="en-US" sz="2400" i="1" kern="0" dirty="0">
                    <a:solidFill>
                      <a:srgbClr val="000000"/>
                    </a:solidFill>
                    <a:ea typeface="ＭＳ Ｐゴシック" charset="0"/>
                  </a:rPr>
                  <a:t>(z)</a:t>
                </a:r>
                <a:r>
                  <a:rPr lang="en-US" sz="2400" kern="0" dirty="0">
                    <a:solidFill>
                      <a:srgbClr val="000000"/>
                    </a:solidFill>
                    <a:ea typeface="ＭＳ Ｐゴシック" charset="0"/>
                  </a:rPr>
                  <a:t> = 3</a:t>
                </a:r>
                <a:endParaRPr lang="en-US" sz="2400" kern="0" dirty="0">
                  <a:solidFill>
                    <a:srgbClr val="000000"/>
                  </a:solidFill>
                </a:endParaRPr>
              </a:p>
            </p:txBody>
          </p:sp>
        </p:grpSp>
      </p:grpSp>
      <p:grpSp>
        <p:nvGrpSpPr>
          <p:cNvPr id="196" name="Group 195">
            <a:extLst>
              <a:ext uri="{FF2B5EF4-FFF2-40B4-BE49-F238E27FC236}">
                <a16:creationId xmlns:a16="http://schemas.microsoft.com/office/drawing/2014/main" id="{58A5A6F4-5535-7044-9045-AFBC8693D3DD}"/>
              </a:ext>
            </a:extLst>
          </p:cNvPr>
          <p:cNvGrpSpPr/>
          <p:nvPr/>
        </p:nvGrpSpPr>
        <p:grpSpPr>
          <a:xfrm>
            <a:off x="2309508" y="4185388"/>
            <a:ext cx="501650" cy="457200"/>
            <a:chOff x="2309508" y="4185388"/>
            <a:chExt cx="501650" cy="457200"/>
          </a:xfrm>
        </p:grpSpPr>
        <p:sp>
          <p:nvSpPr>
            <p:cNvPr id="108" name="Oval 11">
              <a:extLst>
                <a:ext uri="{FF2B5EF4-FFF2-40B4-BE49-F238E27FC236}">
                  <a16:creationId xmlns:a16="http://schemas.microsoft.com/office/drawing/2014/main" id="{470E1052-993B-F24E-9782-67DE07D0D057}"/>
                </a:ext>
              </a:extLst>
            </p:cNvPr>
            <p:cNvSpPr>
              <a:spLocks noChangeArrowheads="1"/>
            </p:cNvSpPr>
            <p:nvPr/>
          </p:nvSpPr>
          <p:spPr bwMode="auto">
            <a:xfrm>
              <a:off x="2314270" y="4429863"/>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9" name="Line 12">
              <a:extLst>
                <a:ext uri="{FF2B5EF4-FFF2-40B4-BE49-F238E27FC236}">
                  <a16:creationId xmlns:a16="http://schemas.microsoft.com/office/drawing/2014/main" id="{31D48756-4D3F-4547-BA38-955DF048F8FC}"/>
                </a:ext>
              </a:extLst>
            </p:cNvPr>
            <p:cNvSpPr>
              <a:spLocks noChangeShapeType="1"/>
            </p:cNvSpPr>
            <p:nvPr/>
          </p:nvSpPr>
          <p:spPr bwMode="auto">
            <a:xfrm>
              <a:off x="2314270" y="44187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0" name="Line 13">
              <a:extLst>
                <a:ext uri="{FF2B5EF4-FFF2-40B4-BE49-F238E27FC236}">
                  <a16:creationId xmlns:a16="http://schemas.microsoft.com/office/drawing/2014/main" id="{739610AA-5AAB-D14A-A48E-0A54C959A9D0}"/>
                </a:ext>
              </a:extLst>
            </p:cNvPr>
            <p:cNvSpPr>
              <a:spLocks noChangeShapeType="1"/>
            </p:cNvSpPr>
            <p:nvPr/>
          </p:nvSpPr>
          <p:spPr bwMode="auto">
            <a:xfrm>
              <a:off x="2811158" y="44187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1" name="Rectangle 14">
              <a:extLst>
                <a:ext uri="{FF2B5EF4-FFF2-40B4-BE49-F238E27FC236}">
                  <a16:creationId xmlns:a16="http://schemas.microsoft.com/office/drawing/2014/main" id="{360C5DF9-4C76-A744-9F0B-26316821C79F}"/>
                </a:ext>
              </a:extLst>
            </p:cNvPr>
            <p:cNvSpPr>
              <a:spLocks noChangeArrowheads="1"/>
            </p:cNvSpPr>
            <p:nvPr/>
          </p:nvSpPr>
          <p:spPr bwMode="auto">
            <a:xfrm>
              <a:off x="2314270" y="4418751"/>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12" name="Oval 15">
              <a:extLst>
                <a:ext uri="{FF2B5EF4-FFF2-40B4-BE49-F238E27FC236}">
                  <a16:creationId xmlns:a16="http://schemas.microsoft.com/office/drawing/2014/main" id="{2CD5FE5E-F3FC-794D-801F-716C3113547D}"/>
                </a:ext>
              </a:extLst>
            </p:cNvPr>
            <p:cNvSpPr>
              <a:spLocks noChangeArrowheads="1"/>
            </p:cNvSpPr>
            <p:nvPr/>
          </p:nvSpPr>
          <p:spPr bwMode="auto">
            <a:xfrm>
              <a:off x="2309508" y="4325088"/>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4" name="Group 51">
              <a:extLst>
                <a:ext uri="{FF2B5EF4-FFF2-40B4-BE49-F238E27FC236}">
                  <a16:creationId xmlns:a16="http://schemas.microsoft.com/office/drawing/2014/main" id="{0ED4F197-C93F-DA4E-8544-F01425D7A988}"/>
                </a:ext>
              </a:extLst>
            </p:cNvPr>
            <p:cNvGrpSpPr>
              <a:grpSpLocks/>
            </p:cNvGrpSpPr>
            <p:nvPr/>
          </p:nvGrpSpPr>
          <p:grpSpPr bwMode="auto">
            <a:xfrm>
              <a:off x="2409520" y="4185388"/>
              <a:ext cx="336550" cy="457200"/>
              <a:chOff x="2951" y="2395"/>
              <a:chExt cx="213" cy="288"/>
            </a:xfrm>
          </p:grpSpPr>
          <p:sp>
            <p:nvSpPr>
              <p:cNvPr id="164" name="Rectangle 52">
                <a:extLst>
                  <a:ext uri="{FF2B5EF4-FFF2-40B4-BE49-F238E27FC236}">
                    <a16:creationId xmlns:a16="http://schemas.microsoft.com/office/drawing/2014/main" id="{CE500E28-5EFE-184C-AFDD-8A846D35845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5" name="Text Box 53">
                <a:extLst>
                  <a:ext uri="{FF2B5EF4-FFF2-40B4-BE49-F238E27FC236}">
                    <a16:creationId xmlns:a16="http://schemas.microsoft.com/office/drawing/2014/main" id="{37535D4F-07D0-264C-A07C-015C89C49EF6}"/>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sp>
        <p:nvSpPr>
          <p:cNvPr id="197" name="Text Box 74">
            <a:extLst>
              <a:ext uri="{FF2B5EF4-FFF2-40B4-BE49-F238E27FC236}">
                <a16:creationId xmlns:a16="http://schemas.microsoft.com/office/drawing/2014/main" id="{6F64D06C-3D4A-B04D-8692-766E31CD85CD}"/>
              </a:ext>
            </a:extLst>
          </p:cNvPr>
          <p:cNvSpPr txBox="1">
            <a:spLocks noChangeArrowheads="1"/>
          </p:cNvSpPr>
          <p:nvPr/>
        </p:nvSpPr>
        <p:spPr bwMode="auto">
          <a:xfrm>
            <a:off x="7446311" y="3940800"/>
            <a:ext cx="2605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kern="0" dirty="0">
                <a:solidFill>
                  <a:srgbClr val="000000"/>
                </a:solidFill>
              </a:rPr>
              <a:t>= min {2 + 5,</a:t>
            </a:r>
          </a:p>
          <a:p>
            <a:pPr eaLnBrk="0" fontAlgn="base" hangingPunct="0">
              <a:spcBef>
                <a:spcPct val="0"/>
              </a:spcBef>
              <a:spcAft>
                <a:spcPct val="0"/>
              </a:spcAft>
              <a:defRPr/>
            </a:pPr>
            <a:r>
              <a:rPr lang="en-US" kern="0" dirty="0">
                <a:solidFill>
                  <a:srgbClr val="000000"/>
                </a:solidFill>
              </a:rPr>
              <a:t>           1 + 3,</a:t>
            </a:r>
          </a:p>
          <a:p>
            <a:pPr eaLnBrk="0" fontAlgn="base" hangingPunct="0">
              <a:spcBef>
                <a:spcPct val="0"/>
              </a:spcBef>
              <a:spcAft>
                <a:spcPct val="0"/>
              </a:spcAft>
              <a:defRPr/>
            </a:pPr>
            <a:r>
              <a:rPr lang="en-US" kern="0" dirty="0">
                <a:solidFill>
                  <a:srgbClr val="000000"/>
                </a:solidFill>
              </a:rPr>
              <a:t>           5 + 3}  = 4</a:t>
            </a:r>
          </a:p>
        </p:txBody>
      </p:sp>
      <p:grpSp>
        <p:nvGrpSpPr>
          <p:cNvPr id="204" name="Group 203">
            <a:extLst>
              <a:ext uri="{FF2B5EF4-FFF2-40B4-BE49-F238E27FC236}">
                <a16:creationId xmlns:a16="http://schemas.microsoft.com/office/drawing/2014/main" id="{8A292125-2EE5-8447-8FF0-AEFFAC0F3684}"/>
              </a:ext>
            </a:extLst>
          </p:cNvPr>
          <p:cNvGrpSpPr/>
          <p:nvPr/>
        </p:nvGrpSpPr>
        <p:grpSpPr>
          <a:xfrm>
            <a:off x="6270932" y="2745287"/>
            <a:ext cx="4777024" cy="3733537"/>
            <a:chOff x="6270932" y="2745287"/>
            <a:chExt cx="4777024" cy="3733537"/>
          </a:xfrm>
        </p:grpSpPr>
        <p:sp>
          <p:nvSpPr>
            <p:cNvPr id="172" name="Text Box 75">
              <a:extLst>
                <a:ext uri="{FF2B5EF4-FFF2-40B4-BE49-F238E27FC236}">
                  <a16:creationId xmlns:a16="http://schemas.microsoft.com/office/drawing/2014/main" id="{D4C1EC73-3BE9-374D-9155-88EE026DCC19}"/>
                </a:ext>
              </a:extLst>
            </p:cNvPr>
            <p:cNvSpPr txBox="1">
              <a:spLocks noChangeArrowheads="1"/>
            </p:cNvSpPr>
            <p:nvPr/>
          </p:nvSpPr>
          <p:spPr bwMode="auto">
            <a:xfrm>
              <a:off x="6270932" y="5284523"/>
              <a:ext cx="4777024" cy="1194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lnSpc>
                  <a:spcPct val="85000"/>
                </a:lnSpc>
                <a:spcBef>
                  <a:spcPct val="0"/>
                </a:spcBef>
                <a:spcAft>
                  <a:spcPct val="0"/>
                </a:spcAft>
              </a:pPr>
              <a:r>
                <a:rPr lang="en-US" sz="2800" i="1" dirty="0">
                  <a:solidFill>
                    <a:srgbClr val="000000"/>
                  </a:solidFill>
                  <a:latin typeface="Calibri" panose="020F0502020204030204"/>
                </a:rPr>
                <a:t>node achieving minimum (x) is next hop on estimated least-cost path to destination (z)</a:t>
              </a:r>
            </a:p>
          </p:txBody>
        </p:sp>
        <p:grpSp>
          <p:nvGrpSpPr>
            <p:cNvPr id="203" name="Group 202">
              <a:extLst>
                <a:ext uri="{FF2B5EF4-FFF2-40B4-BE49-F238E27FC236}">
                  <a16:creationId xmlns:a16="http://schemas.microsoft.com/office/drawing/2014/main" id="{2177DC18-8CDE-BA4F-8FF1-5BE42EF07A19}"/>
                </a:ext>
              </a:extLst>
            </p:cNvPr>
            <p:cNvGrpSpPr/>
            <p:nvPr/>
          </p:nvGrpSpPr>
          <p:grpSpPr>
            <a:xfrm>
              <a:off x="6465518" y="2745287"/>
              <a:ext cx="3645073" cy="2469715"/>
              <a:chOff x="6465518" y="2745287"/>
              <a:chExt cx="3645073" cy="2469715"/>
            </a:xfrm>
          </p:grpSpPr>
          <p:sp>
            <p:nvSpPr>
              <p:cNvPr id="200" name="Oval 199">
                <a:extLst>
                  <a:ext uri="{FF2B5EF4-FFF2-40B4-BE49-F238E27FC236}">
                    <a16:creationId xmlns:a16="http://schemas.microsoft.com/office/drawing/2014/main" id="{CF226A95-9353-0345-B51C-FDB35A8DBEBD}"/>
                  </a:ext>
                </a:extLst>
              </p:cNvPr>
              <p:cNvSpPr/>
              <p:nvPr/>
            </p:nvSpPr>
            <p:spPr>
              <a:xfrm>
                <a:off x="6465518" y="2745287"/>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01" name="Oval 200">
                <a:extLst>
                  <a:ext uri="{FF2B5EF4-FFF2-40B4-BE49-F238E27FC236}">
                    <a16:creationId xmlns:a16="http://schemas.microsoft.com/office/drawing/2014/main" id="{700A119D-A8CE-A24F-8ACD-5859569B99F4}"/>
                  </a:ext>
                </a:extLst>
              </p:cNvPr>
              <p:cNvSpPr/>
              <p:nvPr/>
            </p:nvSpPr>
            <p:spPr>
              <a:xfrm>
                <a:off x="9235857" y="4601226"/>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02" name="Oval 201">
                <a:extLst>
                  <a:ext uri="{FF2B5EF4-FFF2-40B4-BE49-F238E27FC236}">
                    <a16:creationId xmlns:a16="http://schemas.microsoft.com/office/drawing/2014/main" id="{02459B3A-8E65-7640-A5B7-E7540BECDC06}"/>
                  </a:ext>
                </a:extLst>
              </p:cNvPr>
              <p:cNvSpPr/>
              <p:nvPr/>
            </p:nvSpPr>
            <p:spPr>
              <a:xfrm>
                <a:off x="8098076" y="3187872"/>
                <a:ext cx="1722329" cy="482254"/>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Tree>
    <p:extLst>
      <p:ext uri="{BB962C8B-B14F-4D97-AF65-F5344CB8AC3E}">
        <p14:creationId xmlns:p14="http://schemas.microsoft.com/office/powerpoint/2010/main" val="4016215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down)">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95"/>
                                        </p:tgtEl>
                                        <p:attrNameLst>
                                          <p:attrName>style.visibility</p:attrName>
                                        </p:attrNameLst>
                                      </p:cBhvr>
                                      <p:to>
                                        <p:strVal val="visible"/>
                                      </p:to>
                                    </p:set>
                                    <p:animEffect transition="in" filter="wipe(up)">
                                      <p:cBhvr>
                                        <p:cTn id="17" dur="500"/>
                                        <p:tgtEl>
                                          <p:spTgt spid="19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87"/>
                                        </p:tgtEl>
                                        <p:attrNameLst>
                                          <p:attrName>style.visibility</p:attrName>
                                        </p:attrNameLst>
                                      </p:cBhvr>
                                      <p:to>
                                        <p:strVal val="visible"/>
                                      </p:to>
                                    </p:set>
                                    <p:animEffect transition="in" filter="wipe(down)">
                                      <p:cBhvr>
                                        <p:cTn id="22" dur="500"/>
                                        <p:tgtEl>
                                          <p:spTgt spid="18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98"/>
                                        </p:tgtEl>
                                        <p:attrNameLst>
                                          <p:attrName>style.visibility</p:attrName>
                                        </p:attrNameLst>
                                      </p:cBhvr>
                                      <p:to>
                                        <p:strVal val="visible"/>
                                      </p:to>
                                    </p:set>
                                    <p:animEffect transition="in" filter="dissolve">
                                      <p:cBhvr>
                                        <p:cTn id="27" dur="500"/>
                                        <p:tgtEl>
                                          <p:spTgt spid="19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97"/>
                                        </p:tgtEl>
                                        <p:attrNameLst>
                                          <p:attrName>style.visibility</p:attrName>
                                        </p:attrNameLst>
                                      </p:cBhvr>
                                      <p:to>
                                        <p:strVal val="visible"/>
                                      </p:to>
                                    </p:set>
                                    <p:animEffect transition="in" filter="dissolve">
                                      <p:cBhvr>
                                        <p:cTn id="32" dur="500"/>
                                        <p:tgtEl>
                                          <p:spTgt spid="19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04"/>
                                        </p:tgtEl>
                                        <p:attrNameLst>
                                          <p:attrName>style.visibility</p:attrName>
                                        </p:attrNameLst>
                                      </p:cBhvr>
                                      <p:to>
                                        <p:strVal val="visible"/>
                                      </p:to>
                                    </p:set>
                                    <p:animEffect transition="in" filter="dissolve">
                                      <p:cBhvr>
                                        <p:cTn id="37"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97"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50</a:t>
            </a:fld>
            <a:endParaRPr lang="en-US" dirty="0">
              <a:solidFill>
                <a:prstClr val="white">
                  <a:lumMod val="50000"/>
                </a:prstClr>
              </a:solidFill>
            </a:endParaRPr>
          </a:p>
        </p:txBody>
      </p:sp>
      <p:sp>
        <p:nvSpPr>
          <p:cNvPr id="21" name="Rectangle 3">
            <a:extLst>
              <a:ext uri="{FF2B5EF4-FFF2-40B4-BE49-F238E27FC236}">
                <a16:creationId xmlns:a16="http://schemas.microsoft.com/office/drawing/2014/main" id="{E33E7BCD-C9D1-7D45-9F57-213BDDBFDBF8}"/>
              </a:ext>
            </a:extLst>
          </p:cNvPr>
          <p:cNvSpPr txBox="1">
            <a:spLocks noChangeArrowheads="1"/>
          </p:cNvSpPr>
          <p:nvPr/>
        </p:nvSpPr>
        <p:spPr>
          <a:xfrm>
            <a:off x="696238" y="1449887"/>
            <a:ext cx="10815181" cy="138099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sz="3200" dirty="0">
                <a:solidFill>
                  <a:srgbClr val="CC0000"/>
                </a:solidFill>
              </a:rPr>
              <a:t>key idea: </a:t>
            </a:r>
          </a:p>
          <a:p>
            <a:pPr marL="460375" indent="-330200">
              <a:defRPr/>
            </a:pPr>
            <a:r>
              <a:rPr lang="en-US" dirty="0">
                <a:solidFill>
                  <a:prstClr val="black"/>
                </a:solidFill>
              </a:rPr>
              <a:t>from time-to-time, each node sends its own distance vector estimate to neighbors</a:t>
            </a:r>
          </a:p>
        </p:txBody>
      </p:sp>
      <p:sp>
        <p:nvSpPr>
          <p:cNvPr id="23" name="Rectangle 5">
            <a:extLst>
              <a:ext uri="{FF2B5EF4-FFF2-40B4-BE49-F238E27FC236}">
                <a16:creationId xmlns:a16="http://schemas.microsoft.com/office/drawing/2014/main" id="{64DF72B6-39CC-344C-9D00-C68FD6E10584}"/>
              </a:ext>
            </a:extLst>
          </p:cNvPr>
          <p:cNvSpPr>
            <a:spLocks noChangeArrowheads="1"/>
          </p:cNvSpPr>
          <p:nvPr/>
        </p:nvSpPr>
        <p:spPr bwMode="auto">
          <a:xfrm>
            <a:off x="824173" y="4778050"/>
            <a:ext cx="10674719" cy="150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7663" indent="-347663">
              <a:lnSpc>
                <a:spcPct val="90000"/>
              </a:lnSpc>
              <a:spcBef>
                <a:spcPct val="20000"/>
              </a:spcBef>
              <a:buClr>
                <a:srgbClr val="0000A8"/>
              </a:buClr>
              <a:buSzPct val="100000"/>
              <a:buFont typeface="Wingdings" pitchFamily="2" charset="2"/>
              <a:buChar char="§"/>
            </a:pPr>
            <a:r>
              <a:rPr lang="en-US" sz="2800" dirty="0">
                <a:solidFill>
                  <a:prstClr val="black"/>
                </a:solidFill>
              </a:rPr>
              <a:t>under minor, natural conditions, the estimate </a:t>
            </a:r>
            <a:r>
              <a:rPr lang="en-US" sz="2800" i="1" dirty="0">
                <a:solidFill>
                  <a:prstClr val="black"/>
                </a:solidFill>
                <a:cs typeface="Times New Roman" charset="0"/>
              </a:rPr>
              <a:t>D</a:t>
            </a:r>
            <a:r>
              <a:rPr lang="en-US" sz="2800" i="1" baseline="-30000" dirty="0">
                <a:solidFill>
                  <a:prstClr val="black"/>
                </a:solidFill>
                <a:cs typeface="Times New Roman" charset="0"/>
              </a:rPr>
              <a:t>x</a:t>
            </a:r>
            <a:r>
              <a:rPr lang="en-US" sz="2800" i="1" dirty="0">
                <a:solidFill>
                  <a:prstClr val="black"/>
                </a:solidFill>
                <a:cs typeface="Times New Roman" charset="0"/>
              </a:rPr>
              <a:t>(y) converge to the actual least cost </a:t>
            </a:r>
            <a:r>
              <a:rPr lang="en-US" sz="2800" dirty="0">
                <a:solidFill>
                  <a:prstClr val="black"/>
                </a:solidFill>
              </a:rPr>
              <a:t>d</a:t>
            </a:r>
            <a:r>
              <a:rPr lang="en-US" sz="2800" baseline="-25000" dirty="0">
                <a:solidFill>
                  <a:prstClr val="black"/>
                </a:solidFill>
              </a:rPr>
              <a:t>x</a:t>
            </a:r>
            <a:r>
              <a:rPr lang="en-US" sz="2800" dirty="0">
                <a:solidFill>
                  <a:prstClr val="black"/>
                </a:solidFill>
              </a:rPr>
              <a:t>(y)</a:t>
            </a:r>
            <a:r>
              <a:rPr lang="en-US" sz="2400" dirty="0">
                <a:solidFill>
                  <a:prstClr val="black"/>
                </a:solidFill>
              </a:rPr>
              <a:t> </a:t>
            </a:r>
          </a:p>
        </p:txBody>
      </p:sp>
      <p:grpSp>
        <p:nvGrpSpPr>
          <p:cNvPr id="4" name="Group 3">
            <a:extLst>
              <a:ext uri="{FF2B5EF4-FFF2-40B4-BE49-F238E27FC236}">
                <a16:creationId xmlns:a16="http://schemas.microsoft.com/office/drawing/2014/main" id="{2D26794A-966A-6D45-813B-D1EAD011046F}"/>
              </a:ext>
            </a:extLst>
          </p:cNvPr>
          <p:cNvGrpSpPr/>
          <p:nvPr/>
        </p:nvGrpSpPr>
        <p:grpSpPr>
          <a:xfrm>
            <a:off x="648222" y="2792259"/>
            <a:ext cx="10815181" cy="1412234"/>
            <a:chOff x="648222" y="2792259"/>
            <a:chExt cx="10815181" cy="1412234"/>
          </a:xfrm>
        </p:grpSpPr>
        <p:sp>
          <p:nvSpPr>
            <p:cNvPr id="22" name="Rectangle 4">
              <a:extLst>
                <a:ext uri="{FF2B5EF4-FFF2-40B4-BE49-F238E27FC236}">
                  <a16:creationId xmlns:a16="http://schemas.microsoft.com/office/drawing/2014/main" id="{8820A465-F22E-4E44-9E83-58539B59DFB8}"/>
                </a:ext>
              </a:extLst>
            </p:cNvPr>
            <p:cNvSpPr>
              <a:spLocks noChangeArrowheads="1"/>
            </p:cNvSpPr>
            <p:nvPr/>
          </p:nvSpPr>
          <p:spPr bwMode="auto">
            <a:xfrm>
              <a:off x="2556528" y="3681273"/>
              <a:ext cx="67094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r>
                <a:rPr lang="en-US" sz="2800" i="1" dirty="0">
                  <a:solidFill>
                    <a:srgbClr val="CC0000"/>
                  </a:solidFill>
                  <a:cs typeface="Times New Roman" charset="0"/>
                </a:rPr>
                <a:t>D</a:t>
              </a:r>
              <a:r>
                <a:rPr lang="en-US" sz="2800" i="1" baseline="-30000" dirty="0">
                  <a:solidFill>
                    <a:srgbClr val="CC0000"/>
                  </a:solidFill>
                  <a:cs typeface="Times New Roman" charset="0"/>
                </a:rPr>
                <a:t>x</a:t>
              </a:r>
              <a:r>
                <a:rPr lang="en-US" sz="2800" i="1" dirty="0">
                  <a:solidFill>
                    <a:srgbClr val="CC0000"/>
                  </a:solidFill>
                  <a:cs typeface="Times New Roman" charset="0"/>
                </a:rPr>
                <a:t>(y) ← min</a:t>
              </a:r>
              <a:r>
                <a:rPr lang="en-US" sz="2800" i="1" baseline="-30000" dirty="0">
                  <a:solidFill>
                    <a:srgbClr val="CC0000"/>
                  </a:solidFill>
                  <a:cs typeface="Times New Roman" charset="0"/>
                </a:rPr>
                <a:t>v</a:t>
              </a:r>
              <a:r>
                <a:rPr lang="en-US" sz="2800" i="1" dirty="0">
                  <a:solidFill>
                    <a:srgbClr val="CC0000"/>
                  </a:solidFill>
                  <a:cs typeface="Times New Roman" charset="0"/>
                </a:rPr>
                <a:t>{c</a:t>
              </a:r>
              <a:r>
                <a:rPr lang="en-US" sz="2800" i="1" baseline="-25000" dirty="0">
                  <a:solidFill>
                    <a:srgbClr val="CC0000"/>
                  </a:solidFill>
                  <a:cs typeface="Times New Roman" charset="0"/>
                </a:rPr>
                <a:t>x,v </a:t>
              </a:r>
              <a:r>
                <a:rPr lang="en-US" sz="2800" i="1" dirty="0">
                  <a:solidFill>
                    <a:srgbClr val="CC0000"/>
                  </a:solidFill>
                  <a:cs typeface="Times New Roman" charset="0"/>
                </a:rPr>
                <a:t>+ D</a:t>
              </a:r>
              <a:r>
                <a:rPr lang="en-US" sz="2800" i="1" baseline="-30000" dirty="0">
                  <a:solidFill>
                    <a:srgbClr val="CC0000"/>
                  </a:solidFill>
                  <a:cs typeface="Times New Roman" charset="0"/>
                </a:rPr>
                <a:t>v</a:t>
              </a:r>
              <a:r>
                <a:rPr lang="en-US" sz="2800" i="1" dirty="0">
                  <a:solidFill>
                    <a:srgbClr val="CC0000"/>
                  </a:solidFill>
                  <a:cs typeface="Times New Roman" charset="0"/>
                </a:rPr>
                <a:t>(y)}  </a:t>
              </a:r>
              <a:r>
                <a:rPr lang="en-US" sz="2800" dirty="0">
                  <a:solidFill>
                    <a:prstClr val="black"/>
                  </a:solidFill>
                  <a:cs typeface="Times New Roman" charset="0"/>
                </a:rPr>
                <a:t>for each node </a:t>
              </a:r>
              <a:r>
                <a:rPr lang="en-US" sz="2800" i="1" dirty="0">
                  <a:solidFill>
                    <a:prstClr val="black"/>
                  </a:solidFill>
                  <a:cs typeface="Times New Roman" charset="0"/>
                </a:rPr>
                <a:t>y</a:t>
              </a:r>
              <a:r>
                <a:rPr lang="en-US" sz="2800" dirty="0">
                  <a:solidFill>
                    <a:prstClr val="black"/>
                  </a:solidFill>
                  <a:cs typeface="Times New Roman" charset="0"/>
                </a:rPr>
                <a:t> </a:t>
              </a:r>
              <a:r>
                <a:rPr lang="en-US" sz="2800" dirty="0">
                  <a:solidFill>
                    <a:prstClr val="black"/>
                  </a:solidFill>
                  <a:ea typeface="MS Mincho" charset="0"/>
                  <a:cs typeface="MS Mincho" charset="0"/>
                </a:rPr>
                <a:t>∊</a:t>
              </a:r>
              <a:r>
                <a:rPr lang="en-US" sz="2800" dirty="0">
                  <a:solidFill>
                    <a:prstClr val="black"/>
                  </a:solidFill>
                  <a:cs typeface="Times New Roman" charset="0"/>
                </a:rPr>
                <a:t> </a:t>
              </a:r>
              <a:r>
                <a:rPr lang="en-US" sz="2800" i="1" dirty="0">
                  <a:solidFill>
                    <a:prstClr val="black"/>
                  </a:solidFill>
                  <a:cs typeface="Times New Roman" charset="0"/>
                </a:rPr>
                <a:t>N</a:t>
              </a:r>
            </a:p>
          </p:txBody>
        </p:sp>
        <p:sp>
          <p:nvSpPr>
            <p:cNvPr id="26" name="Rectangle 3">
              <a:extLst>
                <a:ext uri="{FF2B5EF4-FFF2-40B4-BE49-F238E27FC236}">
                  <a16:creationId xmlns:a16="http://schemas.microsoft.com/office/drawing/2014/main" id="{76402688-900A-584B-96BE-A2D2A8F80C55}"/>
                </a:ext>
              </a:extLst>
            </p:cNvPr>
            <p:cNvSpPr txBox="1">
              <a:spLocks noChangeArrowheads="1"/>
            </p:cNvSpPr>
            <p:nvPr/>
          </p:nvSpPr>
          <p:spPr>
            <a:xfrm>
              <a:off x="648222" y="2792259"/>
              <a:ext cx="10815181" cy="1015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indent="-330200">
                <a:defRPr/>
              </a:pPr>
              <a:r>
                <a:rPr lang="en-US" dirty="0">
                  <a:solidFill>
                    <a:prstClr val="black"/>
                  </a:solidFill>
                </a:rPr>
                <a:t>when </a:t>
              </a:r>
              <a:r>
                <a:rPr lang="en-US" i="1" dirty="0">
                  <a:solidFill>
                    <a:prstClr val="black"/>
                  </a:solidFill>
                </a:rPr>
                <a:t>x</a:t>
              </a:r>
              <a:r>
                <a:rPr lang="en-US" dirty="0">
                  <a:solidFill>
                    <a:prstClr val="black"/>
                  </a:solidFill>
                </a:rPr>
                <a:t> receives new DV estimate from any neighbor, it updates its own DV using B-F equation:</a:t>
              </a:r>
            </a:p>
          </p:txBody>
        </p:sp>
      </p:grpSp>
    </p:spTree>
    <p:extLst>
      <p:ext uri="{BB962C8B-B14F-4D97-AF65-F5344CB8AC3E}">
        <p14:creationId xmlns:p14="http://schemas.microsoft.com/office/powerpoint/2010/main" val="72592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dissolv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51</a:t>
            </a:fld>
            <a:endParaRPr lang="en-US" dirty="0">
              <a:solidFill>
                <a:prstClr val="white">
                  <a:lumMod val="50000"/>
                </a:prstClr>
              </a:solidFill>
            </a:endParaRPr>
          </a:p>
        </p:txBody>
      </p:sp>
      <p:sp>
        <p:nvSpPr>
          <p:cNvPr id="9" name="Rectangle 3">
            <a:extLst>
              <a:ext uri="{FF2B5EF4-FFF2-40B4-BE49-F238E27FC236}">
                <a16:creationId xmlns:a16="http://schemas.microsoft.com/office/drawing/2014/main" id="{5F891EAD-A289-0847-8476-12FDB9A2A09E}"/>
              </a:ext>
            </a:extLst>
          </p:cNvPr>
          <p:cNvSpPr txBox="1">
            <a:spLocks noChangeArrowheads="1"/>
          </p:cNvSpPr>
          <p:nvPr/>
        </p:nvSpPr>
        <p:spPr>
          <a:xfrm>
            <a:off x="6173635" y="1530372"/>
            <a:ext cx="5400414" cy="197691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CC0000"/>
                </a:solidFill>
              </a:rPr>
              <a:t>iterative, asynchronous:</a:t>
            </a:r>
            <a:r>
              <a:rPr lang="en-US" dirty="0">
                <a:solidFill>
                  <a:srgbClr val="FF0000"/>
                </a:solidFill>
              </a:rPr>
              <a:t> </a:t>
            </a:r>
            <a:r>
              <a:rPr lang="en-US" sz="2400" dirty="0">
                <a:solidFill>
                  <a:prstClr val="black"/>
                </a:solidFill>
              </a:rPr>
              <a:t>each local iteration caused by: </a:t>
            </a:r>
          </a:p>
          <a:p>
            <a:pPr marL="460375" indent="-223838"/>
            <a:r>
              <a:rPr lang="en-US" sz="2400" dirty="0">
                <a:solidFill>
                  <a:prstClr val="black"/>
                </a:solidFill>
              </a:rPr>
              <a:t>local link cost change </a:t>
            </a:r>
          </a:p>
          <a:p>
            <a:pPr marL="460375" indent="-223838"/>
            <a:r>
              <a:rPr lang="en-US" sz="2400" dirty="0">
                <a:solidFill>
                  <a:prstClr val="black"/>
                </a:solidFill>
              </a:rPr>
              <a:t>DV update message from neighbor</a:t>
            </a:r>
          </a:p>
        </p:txBody>
      </p:sp>
      <p:sp>
        <p:nvSpPr>
          <p:cNvPr id="10" name="Text Box 4">
            <a:extLst>
              <a:ext uri="{FF2B5EF4-FFF2-40B4-BE49-F238E27FC236}">
                <a16:creationId xmlns:a16="http://schemas.microsoft.com/office/drawing/2014/main" id="{B41893AC-4325-F74F-8450-C793E4D00240}"/>
              </a:ext>
            </a:extLst>
          </p:cNvPr>
          <p:cNvSpPr txBox="1">
            <a:spLocks noChangeArrowheads="1"/>
          </p:cNvSpPr>
          <p:nvPr/>
        </p:nvSpPr>
        <p:spPr bwMode="auto">
          <a:xfrm>
            <a:off x="1077577" y="2097023"/>
            <a:ext cx="4622104" cy="2345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spcBef>
                <a:spcPct val="50000"/>
              </a:spcBef>
            </a:pPr>
            <a:endParaRPr lang="en-US" dirty="0">
              <a:solidFill>
                <a:prstClr val="black"/>
              </a:solidFill>
              <a:latin typeface="Times New Roman" charset="0"/>
            </a:endParaRPr>
          </a:p>
          <a:p>
            <a:pPr algn="ctr">
              <a:lnSpc>
                <a:spcPct val="90000"/>
              </a:lnSpc>
            </a:pPr>
            <a:r>
              <a:rPr lang="en-US" sz="2800" i="1" dirty="0">
                <a:solidFill>
                  <a:srgbClr val="000099"/>
                </a:solidFill>
                <a:latin typeface="Calibri" panose="020F0502020204030204"/>
              </a:rPr>
              <a:t>wait</a:t>
            </a:r>
            <a:r>
              <a:rPr lang="en-US" dirty="0">
                <a:solidFill>
                  <a:srgbClr val="000099"/>
                </a:solidFill>
                <a:latin typeface="Calibri" panose="020F0502020204030204"/>
              </a:rPr>
              <a:t> </a:t>
            </a:r>
            <a:r>
              <a:rPr lang="en-US" sz="2800" dirty="0">
                <a:solidFill>
                  <a:prstClr val="black"/>
                </a:solidFill>
                <a:latin typeface="Calibri" panose="020F0502020204030204"/>
              </a:rPr>
              <a:t>for (change in local link cost or msg from neighbor)</a:t>
            </a:r>
          </a:p>
          <a:p>
            <a:pPr>
              <a:lnSpc>
                <a:spcPct val="90000"/>
              </a:lnSpc>
            </a:pPr>
            <a:endParaRPr lang="en-US" sz="2000" dirty="0">
              <a:solidFill>
                <a:prstClr val="black"/>
              </a:solidFill>
              <a:latin typeface="Calibri" panose="020F0502020204030204"/>
            </a:endParaRPr>
          </a:p>
          <a:p>
            <a:pPr>
              <a:lnSpc>
                <a:spcPct val="90000"/>
              </a:lnSpc>
            </a:pPr>
            <a:endParaRPr lang="en-US" sz="2000" dirty="0">
              <a:solidFill>
                <a:prstClr val="black"/>
              </a:solidFill>
              <a:latin typeface="Calibri" panose="020F0502020204030204"/>
            </a:endParaRPr>
          </a:p>
          <a:p>
            <a:pPr algn="ctr">
              <a:spcBef>
                <a:spcPct val="50000"/>
              </a:spcBef>
            </a:pPr>
            <a:endParaRPr lang="en-US" dirty="0">
              <a:solidFill>
                <a:prstClr val="black"/>
              </a:solidFill>
              <a:latin typeface="Times New Roman" charset="0"/>
            </a:endParaRPr>
          </a:p>
        </p:txBody>
      </p:sp>
      <p:sp>
        <p:nvSpPr>
          <p:cNvPr id="14" name="Text Box 8">
            <a:extLst>
              <a:ext uri="{FF2B5EF4-FFF2-40B4-BE49-F238E27FC236}">
                <a16:creationId xmlns:a16="http://schemas.microsoft.com/office/drawing/2014/main" id="{71AD5EDC-87FD-634A-9465-87600AAFC2A8}"/>
              </a:ext>
            </a:extLst>
          </p:cNvPr>
          <p:cNvSpPr txBox="1">
            <a:spLocks noChangeArrowheads="1"/>
          </p:cNvSpPr>
          <p:nvPr/>
        </p:nvSpPr>
        <p:spPr bwMode="auto">
          <a:xfrm>
            <a:off x="977032" y="1397588"/>
            <a:ext cx="203132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3200" dirty="0">
                <a:solidFill>
                  <a:srgbClr val="CC0000"/>
                </a:solidFill>
                <a:latin typeface="Calibri" panose="020F0502020204030204"/>
              </a:rPr>
              <a:t>each node:</a:t>
            </a:r>
          </a:p>
        </p:txBody>
      </p:sp>
      <p:sp>
        <p:nvSpPr>
          <p:cNvPr id="15" name="Rectangle 3">
            <a:extLst>
              <a:ext uri="{FF2B5EF4-FFF2-40B4-BE49-F238E27FC236}">
                <a16:creationId xmlns:a16="http://schemas.microsoft.com/office/drawing/2014/main" id="{5302920D-3833-AE4E-83FE-DE8AB636259C}"/>
              </a:ext>
            </a:extLst>
          </p:cNvPr>
          <p:cNvSpPr txBox="1">
            <a:spLocks noChangeArrowheads="1"/>
          </p:cNvSpPr>
          <p:nvPr/>
        </p:nvSpPr>
        <p:spPr>
          <a:xfrm>
            <a:off x="6138145" y="3549151"/>
            <a:ext cx="4936951" cy="291427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CC0000"/>
                </a:solidFill>
              </a:rPr>
              <a:t>distributed, self-stopping: </a:t>
            </a:r>
            <a:r>
              <a:rPr lang="en-US" sz="2400" dirty="0">
                <a:solidFill>
                  <a:prstClr val="black"/>
                </a:solidFill>
              </a:rPr>
              <a:t>each node notifies neighbors </a:t>
            </a:r>
            <a:r>
              <a:rPr lang="en-US" sz="2400" i="1" dirty="0">
                <a:solidFill>
                  <a:prstClr val="black"/>
                </a:solidFill>
              </a:rPr>
              <a:t>only</a:t>
            </a:r>
            <a:r>
              <a:rPr lang="en-US" sz="2400" dirty="0">
                <a:solidFill>
                  <a:prstClr val="black"/>
                </a:solidFill>
              </a:rPr>
              <a:t> when its DV changes</a:t>
            </a:r>
          </a:p>
          <a:p>
            <a:pPr marL="522288" lvl="1" indent="-236538">
              <a:buFont typeface="Wingdings" pitchFamily="2" charset="2"/>
              <a:buChar char="§"/>
            </a:pPr>
            <a:r>
              <a:rPr lang="en-US" dirty="0">
                <a:solidFill>
                  <a:prstClr val="black"/>
                </a:solidFill>
              </a:rPr>
              <a:t>neighbors then notify their neighbors – </a:t>
            </a:r>
            <a:r>
              <a:rPr lang="en-US" i="1" dirty="0">
                <a:solidFill>
                  <a:prstClr val="black"/>
                </a:solidFill>
              </a:rPr>
              <a:t>only if necessary</a:t>
            </a:r>
          </a:p>
          <a:p>
            <a:pPr marL="522288" lvl="1" indent="-236538">
              <a:buFont typeface="Wingdings" pitchFamily="2" charset="2"/>
              <a:buChar char="§"/>
            </a:pPr>
            <a:r>
              <a:rPr lang="en-US" dirty="0">
                <a:solidFill>
                  <a:prstClr val="black"/>
                </a:solidFill>
              </a:rPr>
              <a:t>no notification received, no actions taken!</a:t>
            </a:r>
          </a:p>
        </p:txBody>
      </p:sp>
      <p:grpSp>
        <p:nvGrpSpPr>
          <p:cNvPr id="3" name="Group 2">
            <a:extLst>
              <a:ext uri="{FF2B5EF4-FFF2-40B4-BE49-F238E27FC236}">
                <a16:creationId xmlns:a16="http://schemas.microsoft.com/office/drawing/2014/main" id="{B53C11C6-D826-5F43-A2B4-6804C1E58E41}"/>
              </a:ext>
            </a:extLst>
          </p:cNvPr>
          <p:cNvGrpSpPr/>
          <p:nvPr/>
        </p:nvGrpSpPr>
        <p:grpSpPr>
          <a:xfrm>
            <a:off x="1092191" y="3294344"/>
            <a:ext cx="4622104" cy="1554474"/>
            <a:chOff x="1317659" y="3169084"/>
            <a:chExt cx="4622104" cy="1554474"/>
          </a:xfrm>
        </p:grpSpPr>
        <p:sp>
          <p:nvSpPr>
            <p:cNvPr id="11" name="Line 5">
              <a:extLst>
                <a:ext uri="{FF2B5EF4-FFF2-40B4-BE49-F238E27FC236}">
                  <a16:creationId xmlns:a16="http://schemas.microsoft.com/office/drawing/2014/main" id="{3F1A2ABA-C0FF-3042-AB19-EBB20A32C1C0}"/>
                </a:ext>
              </a:extLst>
            </p:cNvPr>
            <p:cNvSpPr>
              <a:spLocks noChangeShapeType="1"/>
            </p:cNvSpPr>
            <p:nvPr/>
          </p:nvSpPr>
          <p:spPr bwMode="auto">
            <a:xfrm>
              <a:off x="3601463" y="3169084"/>
              <a:ext cx="0" cy="422581"/>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solidFill>
                  <a:prstClr val="black"/>
                </a:solidFill>
              </a:endParaRPr>
            </a:p>
          </p:txBody>
        </p:sp>
        <p:sp>
          <p:nvSpPr>
            <p:cNvPr id="17" name="Text Box 4">
              <a:extLst>
                <a:ext uri="{FF2B5EF4-FFF2-40B4-BE49-F238E27FC236}">
                  <a16:creationId xmlns:a16="http://schemas.microsoft.com/office/drawing/2014/main" id="{0127FDB6-1E7E-B747-9FF9-706AF3DA67E3}"/>
                </a:ext>
              </a:extLst>
            </p:cNvPr>
            <p:cNvSpPr txBox="1">
              <a:spLocks noChangeArrowheads="1"/>
            </p:cNvSpPr>
            <p:nvPr/>
          </p:nvSpPr>
          <p:spPr bwMode="auto">
            <a:xfrm>
              <a:off x="1317659" y="3301630"/>
              <a:ext cx="4622104"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endParaRPr lang="en-US" sz="2000" dirty="0">
                <a:solidFill>
                  <a:prstClr val="black"/>
                </a:solidFill>
                <a:latin typeface="Calibri" panose="020F0502020204030204"/>
              </a:endParaRPr>
            </a:p>
            <a:p>
              <a:pPr algn="ctr">
                <a:lnSpc>
                  <a:spcPct val="90000"/>
                </a:lnSpc>
              </a:pPr>
              <a:r>
                <a:rPr lang="en-US" sz="2800" i="1" dirty="0">
                  <a:solidFill>
                    <a:srgbClr val="000099"/>
                  </a:solidFill>
                  <a:latin typeface="Calibri" panose="020F0502020204030204"/>
                </a:rPr>
                <a:t>recompute</a:t>
              </a:r>
              <a:r>
                <a:rPr lang="en-US" sz="2800" dirty="0">
                  <a:solidFill>
                    <a:prstClr val="black"/>
                  </a:solidFill>
                  <a:latin typeface="Calibri" panose="020F0502020204030204"/>
                </a:rPr>
                <a:t> DV estimates using DV received from neighbor</a:t>
              </a:r>
            </a:p>
            <a:p>
              <a:pPr>
                <a:lnSpc>
                  <a:spcPct val="90000"/>
                </a:lnSpc>
              </a:pPr>
              <a:endParaRPr lang="en-US" sz="2000" dirty="0">
                <a:solidFill>
                  <a:prstClr val="black"/>
                </a:solidFill>
                <a:latin typeface="Calibri" panose="020F0502020204030204"/>
              </a:endParaRPr>
            </a:p>
          </p:txBody>
        </p:sp>
      </p:grpSp>
      <p:grpSp>
        <p:nvGrpSpPr>
          <p:cNvPr id="7" name="Group 6">
            <a:extLst>
              <a:ext uri="{FF2B5EF4-FFF2-40B4-BE49-F238E27FC236}">
                <a16:creationId xmlns:a16="http://schemas.microsoft.com/office/drawing/2014/main" id="{7AB2E6A7-BBBF-E942-BD5C-47863B3A0DE5}"/>
              </a:ext>
            </a:extLst>
          </p:cNvPr>
          <p:cNvGrpSpPr/>
          <p:nvPr/>
        </p:nvGrpSpPr>
        <p:grpSpPr>
          <a:xfrm>
            <a:off x="1054612" y="4521895"/>
            <a:ext cx="4622104" cy="1284197"/>
            <a:chOff x="1280080" y="4396635"/>
            <a:chExt cx="4622104" cy="1284197"/>
          </a:xfrm>
        </p:grpSpPr>
        <p:sp>
          <p:nvSpPr>
            <p:cNvPr id="12" name="Line 6">
              <a:extLst>
                <a:ext uri="{FF2B5EF4-FFF2-40B4-BE49-F238E27FC236}">
                  <a16:creationId xmlns:a16="http://schemas.microsoft.com/office/drawing/2014/main" id="{D8667227-75F3-2946-9800-49EF5E66E793}"/>
                </a:ext>
              </a:extLst>
            </p:cNvPr>
            <p:cNvSpPr>
              <a:spLocks noChangeShapeType="1"/>
            </p:cNvSpPr>
            <p:nvPr/>
          </p:nvSpPr>
          <p:spPr bwMode="auto">
            <a:xfrm>
              <a:off x="3578268" y="4396635"/>
              <a:ext cx="0" cy="439673"/>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solidFill>
                  <a:prstClr val="black"/>
                </a:solidFill>
              </a:endParaRPr>
            </a:p>
          </p:txBody>
        </p:sp>
        <p:sp>
          <p:nvSpPr>
            <p:cNvPr id="18" name="Text Box 4">
              <a:extLst>
                <a:ext uri="{FF2B5EF4-FFF2-40B4-BE49-F238E27FC236}">
                  <a16:creationId xmlns:a16="http://schemas.microsoft.com/office/drawing/2014/main" id="{397A11E9-C3A3-2347-8FE5-1B38BBB5C819}"/>
                </a:ext>
              </a:extLst>
            </p:cNvPr>
            <p:cNvSpPr txBox="1">
              <a:spLocks noChangeArrowheads="1"/>
            </p:cNvSpPr>
            <p:nvPr/>
          </p:nvSpPr>
          <p:spPr bwMode="auto">
            <a:xfrm>
              <a:off x="1280080" y="4535903"/>
              <a:ext cx="4622104" cy="1144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endParaRPr lang="en-US" sz="2000" dirty="0">
                <a:solidFill>
                  <a:prstClr val="black"/>
                </a:solidFill>
                <a:latin typeface="Calibri" panose="020F0502020204030204"/>
              </a:endParaRPr>
            </a:p>
            <a:p>
              <a:pPr algn="ctr">
                <a:lnSpc>
                  <a:spcPct val="90000"/>
                </a:lnSpc>
              </a:pPr>
              <a:r>
                <a:rPr lang="en-US" sz="2800" dirty="0">
                  <a:solidFill>
                    <a:prstClr val="black"/>
                  </a:solidFill>
                  <a:latin typeface="Calibri" panose="020F0502020204030204"/>
                </a:rPr>
                <a:t>if DV to any destination has changed, </a:t>
              </a:r>
              <a:r>
                <a:rPr lang="en-US" sz="2800" i="1" dirty="0">
                  <a:solidFill>
                    <a:srgbClr val="000099"/>
                  </a:solidFill>
                  <a:latin typeface="Calibri" panose="020F0502020204030204"/>
                </a:rPr>
                <a:t>notify</a:t>
              </a:r>
              <a:r>
                <a:rPr lang="en-US" sz="2800" dirty="0">
                  <a:solidFill>
                    <a:prstClr val="black"/>
                  </a:solidFill>
                  <a:latin typeface="Calibri" panose="020F0502020204030204"/>
                </a:rPr>
                <a:t> neighbors </a:t>
              </a:r>
            </a:p>
          </p:txBody>
        </p:sp>
      </p:grpSp>
      <p:cxnSp>
        <p:nvCxnSpPr>
          <p:cNvPr id="16" name="Straight Connector 15">
            <a:extLst>
              <a:ext uri="{FF2B5EF4-FFF2-40B4-BE49-F238E27FC236}">
                <a16:creationId xmlns:a16="http://schemas.microsoft.com/office/drawing/2014/main" id="{A5F1EEA1-E3D6-FE44-9DE6-5BA118248F5E}"/>
              </a:ext>
            </a:extLst>
          </p:cNvPr>
          <p:cNvCxnSpPr/>
          <p:nvPr/>
        </p:nvCxnSpPr>
        <p:spPr>
          <a:xfrm flipV="1">
            <a:off x="3369501" y="5718132"/>
            <a:ext cx="0" cy="454068"/>
          </a:xfrm>
          <a:prstGeom prst="line">
            <a:avLst/>
          </a:prstGeom>
          <a:ln w="190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E1A9ECAE-CD60-CD4E-8453-32556903D047}"/>
              </a:ext>
            </a:extLst>
          </p:cNvPr>
          <p:cNvCxnSpPr/>
          <p:nvPr/>
        </p:nvCxnSpPr>
        <p:spPr>
          <a:xfrm>
            <a:off x="3352800" y="2179529"/>
            <a:ext cx="0" cy="338203"/>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E0990E6-E4F6-004A-983C-35F56F91D474}"/>
              </a:ext>
            </a:extLst>
          </p:cNvPr>
          <p:cNvCxnSpPr/>
          <p:nvPr/>
        </p:nvCxnSpPr>
        <p:spPr>
          <a:xfrm>
            <a:off x="1052186" y="6172200"/>
            <a:ext cx="230061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1994047-8DFC-3848-A093-707102890135}"/>
              </a:ext>
            </a:extLst>
          </p:cNvPr>
          <p:cNvCxnSpPr/>
          <p:nvPr/>
        </p:nvCxnSpPr>
        <p:spPr>
          <a:xfrm>
            <a:off x="1052186" y="2178485"/>
            <a:ext cx="230061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BD0BEAE-AFEE-C84E-B69C-BA9C126D7B96}"/>
              </a:ext>
            </a:extLst>
          </p:cNvPr>
          <p:cNvCxnSpPr>
            <a:cxnSpLocks/>
          </p:cNvCxnSpPr>
          <p:nvPr/>
        </p:nvCxnSpPr>
        <p:spPr>
          <a:xfrm>
            <a:off x="1039660" y="2167003"/>
            <a:ext cx="0" cy="4005197"/>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9423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up)">
                                      <p:cBhvr>
                                        <p:cTn id="22" dur="500"/>
                                        <p:tgtEl>
                                          <p:spTgt spid="16"/>
                                        </p:tgtEl>
                                      </p:cBhvr>
                                    </p:animEffect>
                                  </p:childTnLst>
                                </p:cTn>
                              </p:par>
                            </p:childTnLst>
                          </p:cTn>
                        </p:par>
                        <p:par>
                          <p:cTn id="23" fill="hold">
                            <p:stCondLst>
                              <p:cond delay="500"/>
                            </p:stCondLst>
                            <p:childTnLst>
                              <p:par>
                                <p:cTn id="24" presetID="22" presetClass="entr" presetSubtype="2" fill="hold" nodeType="after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wipe(right)">
                                      <p:cBhvr>
                                        <p:cTn id="26" dur="500"/>
                                        <p:tgtEl>
                                          <p:spTgt spid="27"/>
                                        </p:tgtEl>
                                      </p:cBhvr>
                                    </p:animEffect>
                                  </p:childTnLst>
                                </p:cTn>
                              </p:par>
                            </p:childTnLst>
                          </p:cTn>
                        </p:par>
                        <p:par>
                          <p:cTn id="27" fill="hold">
                            <p:stCondLst>
                              <p:cond delay="1000"/>
                            </p:stCondLst>
                            <p:childTnLst>
                              <p:par>
                                <p:cTn id="28" presetID="22" presetClass="entr" presetSubtype="4" fill="hold" nodeType="after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wipe(down)">
                                      <p:cBhvr>
                                        <p:cTn id="30" dur="500"/>
                                        <p:tgtEl>
                                          <p:spTgt spid="30"/>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wipe(left)">
                                      <p:cBhvr>
                                        <p:cTn id="34" dur="500"/>
                                        <p:tgtEl>
                                          <p:spTgt spid="28"/>
                                        </p:tgtEl>
                                      </p:cBhvr>
                                    </p:animEffect>
                                  </p:childTnLst>
                                </p:cTn>
                              </p:par>
                            </p:childTnLst>
                          </p:cTn>
                        </p:par>
                        <p:par>
                          <p:cTn id="35" fill="hold">
                            <p:stCondLst>
                              <p:cond delay="2000"/>
                            </p:stCondLst>
                            <p:childTnLst>
                              <p:par>
                                <p:cTn id="36" presetID="22" presetClass="entr" presetSubtype="1"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up)">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dissolv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dissolv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8" name="Group 357">
            <a:extLst>
              <a:ext uri="{FF2B5EF4-FFF2-40B4-BE49-F238E27FC236}">
                <a16:creationId xmlns:a16="http://schemas.microsoft.com/office/drawing/2014/main" id="{EFC6901E-6625-8845-BE3F-534E18DC96EB}"/>
              </a:ext>
            </a:extLst>
          </p:cNvPr>
          <p:cNvGrpSpPr/>
          <p:nvPr/>
        </p:nvGrpSpPr>
        <p:grpSpPr>
          <a:xfrm>
            <a:off x="2822712" y="1130710"/>
            <a:ext cx="1552644" cy="2620631"/>
            <a:chOff x="3216002" y="1012723"/>
            <a:chExt cx="1552644" cy="2620631"/>
          </a:xfrm>
        </p:grpSpPr>
        <p:sp>
          <p:nvSpPr>
            <p:cNvPr id="359" name="Freeform 358">
              <a:extLst>
                <a:ext uri="{FF2B5EF4-FFF2-40B4-BE49-F238E27FC236}">
                  <a16:creationId xmlns:a16="http://schemas.microsoft.com/office/drawing/2014/main" id="{4CD71459-EB0F-DA48-840A-CE1D12C897D0}"/>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0EDC177C-D23A-4F4C-864F-FFDFF6E33129}"/>
                </a:ext>
              </a:extLst>
            </p:cNvPr>
            <p:cNvGrpSpPr/>
            <p:nvPr/>
          </p:nvGrpSpPr>
          <p:grpSpPr>
            <a:xfrm>
              <a:off x="3216002" y="1012723"/>
              <a:ext cx="1130292" cy="2620631"/>
              <a:chOff x="3216002" y="1012723"/>
              <a:chExt cx="1130292" cy="2620631"/>
            </a:xfrm>
          </p:grpSpPr>
          <p:sp>
            <p:nvSpPr>
              <p:cNvPr id="361" name="Rectangle 360">
                <a:extLst>
                  <a:ext uri="{FF2B5EF4-FFF2-40B4-BE49-F238E27FC236}">
                    <a16:creationId xmlns:a16="http://schemas.microsoft.com/office/drawing/2014/main" id="{F9DA473D-F5CB-3B48-B236-B65636E0B23E}"/>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2" name="Group 361">
                <a:extLst>
                  <a:ext uri="{FF2B5EF4-FFF2-40B4-BE49-F238E27FC236}">
                    <a16:creationId xmlns:a16="http://schemas.microsoft.com/office/drawing/2014/main" id="{FBAC5385-3193-A948-B616-246766D0C301}"/>
                  </a:ext>
                </a:extLst>
              </p:cNvPr>
              <p:cNvGrpSpPr/>
              <p:nvPr/>
            </p:nvGrpSpPr>
            <p:grpSpPr>
              <a:xfrm>
                <a:off x="3216002" y="1017253"/>
                <a:ext cx="1130292" cy="2616101"/>
                <a:chOff x="9472118" y="702026"/>
                <a:chExt cx="1130292" cy="2616101"/>
              </a:xfrm>
            </p:grpSpPr>
            <p:sp>
              <p:nvSpPr>
                <p:cNvPr id="363" name="Rectangle 362">
                  <a:extLst>
                    <a:ext uri="{FF2B5EF4-FFF2-40B4-BE49-F238E27FC236}">
                      <a16:creationId xmlns:a16="http://schemas.microsoft.com/office/drawing/2014/main" id="{62FD532C-FB8E-AD49-9559-40749CB0E8D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4" name="TextBox 363">
                  <a:extLst>
                    <a:ext uri="{FF2B5EF4-FFF2-40B4-BE49-F238E27FC236}">
                      <a16:creationId xmlns:a16="http://schemas.microsoft.com/office/drawing/2014/main" id="{21E168E0-497F-9044-9F81-6819E97B423F}"/>
                    </a:ext>
                  </a:extLst>
                </p:cNvPr>
                <p:cNvSpPr txBox="1"/>
                <p:nvPr/>
              </p:nvSpPr>
              <p:spPr>
                <a:xfrm>
                  <a:off x="9472118" y="702026"/>
                  <a:ext cx="1117197" cy="2616101"/>
                </a:xfrm>
                <a:prstGeom prst="rect">
                  <a:avLst/>
                </a:prstGeom>
                <a:noFill/>
              </p:spPr>
              <p:txBody>
                <a:bodyPr wrap="square" rtlCol="0">
                  <a:spAutoFit/>
                </a:bodyPr>
                <a:lstStyle/>
                <a:p>
                  <a:pPr algn="ctr"/>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5" name="Straight Connector 364">
                  <a:extLst>
                    <a:ext uri="{FF2B5EF4-FFF2-40B4-BE49-F238E27FC236}">
                      <a16:creationId xmlns:a16="http://schemas.microsoft.com/office/drawing/2014/main" id="{B09A1AE0-8356-D74F-B5C2-A657CA3ED6AC}"/>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6" name="Rectangle 365">
                  <a:extLst>
                    <a:ext uri="{FF2B5EF4-FFF2-40B4-BE49-F238E27FC236}">
                      <a16:creationId xmlns:a16="http://schemas.microsoft.com/office/drawing/2014/main" id="{06F76BBD-7406-A34C-951B-FADCC0FF3664}"/>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52</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254" name="Group 253">
            <a:extLst>
              <a:ext uri="{FF2B5EF4-FFF2-40B4-BE49-F238E27FC236}">
                <a16:creationId xmlns:a16="http://schemas.microsoft.com/office/drawing/2014/main" id="{20D98609-9181-0C4A-AE2C-346DD87867AA}"/>
              </a:ext>
            </a:extLst>
          </p:cNvPr>
          <p:cNvGrpSpPr/>
          <p:nvPr/>
        </p:nvGrpSpPr>
        <p:grpSpPr>
          <a:xfrm>
            <a:off x="584365" y="1859143"/>
            <a:ext cx="736099" cy="1229581"/>
            <a:chOff x="10030307" y="3444875"/>
            <a:chExt cx="736099" cy="1229581"/>
          </a:xfrm>
        </p:grpSpPr>
        <p:sp>
          <p:nvSpPr>
            <p:cNvPr id="227" name="TextBox 226">
              <a:extLst>
                <a:ext uri="{FF2B5EF4-FFF2-40B4-BE49-F238E27FC236}">
                  <a16:creationId xmlns:a16="http://schemas.microsoft.com/office/drawing/2014/main" id="{28F628B2-E287-644F-9022-BD27AE29D1B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t=0</a:t>
              </a:r>
            </a:p>
          </p:txBody>
        </p:sp>
        <p:grpSp>
          <p:nvGrpSpPr>
            <p:cNvPr id="253" name="Group 252">
              <a:extLst>
                <a:ext uri="{FF2B5EF4-FFF2-40B4-BE49-F238E27FC236}">
                  <a16:creationId xmlns:a16="http://schemas.microsoft.com/office/drawing/2014/main" id="{CC49A0EA-8708-104C-8A7B-0A0875E68DB4}"/>
                </a:ext>
              </a:extLst>
            </p:cNvPr>
            <p:cNvGrpSpPr/>
            <p:nvPr/>
          </p:nvGrpSpPr>
          <p:grpSpPr>
            <a:xfrm>
              <a:off x="10034588" y="3444875"/>
              <a:ext cx="682627" cy="682625"/>
              <a:chOff x="10034588" y="3444875"/>
              <a:chExt cx="682627" cy="682625"/>
            </a:xfrm>
          </p:grpSpPr>
          <p:sp>
            <p:nvSpPr>
              <p:cNvPr id="228" name="Oval 227">
                <a:extLst>
                  <a:ext uri="{FF2B5EF4-FFF2-40B4-BE49-F238E27FC236}">
                    <a16:creationId xmlns:a16="http://schemas.microsoft.com/office/drawing/2014/main" id="{17BA58CB-2477-BE4F-97AD-F6234ACEAEAE}"/>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30" name="Straight Connector 229">
                <a:extLst>
                  <a:ext uri="{FF2B5EF4-FFF2-40B4-BE49-F238E27FC236}">
                    <a16:creationId xmlns:a16="http://schemas.microsoft.com/office/drawing/2014/main" id="{A83B3BF1-2FE7-D941-8F17-F53DF698D3D4}"/>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809C848E-61D7-604B-904F-F46B1F70915E}"/>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6E443275-F9DD-D04E-8D60-BAD1DFBA800E}"/>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1A40FE45-C3D5-8644-80E7-3A6FF3B0D482}"/>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A92626E3-5D76-4747-8F59-14CDEC813418}"/>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4BE49970-1DAF-8145-AC4C-92BBC982EFAC}"/>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1D7190C8-8824-E245-88FF-07416CD845EC}"/>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B93D5913-A28D-6F4C-84E5-4BFBB5E94829}"/>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0DAC6B31-B886-0043-8195-9BFF5909EE55}"/>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FE8501E0-4894-EB46-9A8C-90438C4B458B}"/>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7D05F761-1E2D-D242-8145-FA6CB5216129}"/>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8E9805E-BE5E-D841-AC71-C07001BD4DBA}"/>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250" name="Oval 249">
                <a:extLst>
                  <a:ext uri="{FF2B5EF4-FFF2-40B4-BE49-F238E27FC236}">
                    <a16:creationId xmlns:a16="http://schemas.microsoft.com/office/drawing/2014/main" id="{FC54B5C3-6CE5-0444-91FF-053BF6CE589C}"/>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52" name="Straight Connector 251">
                <a:extLst>
                  <a:ext uri="{FF2B5EF4-FFF2-40B4-BE49-F238E27FC236}">
                    <a16:creationId xmlns:a16="http://schemas.microsoft.com/office/drawing/2014/main" id="{1FFD0838-0271-4340-8F0B-74EF500112A7}"/>
                  </a:ext>
                </a:extLst>
              </p:cNvPr>
              <p:cNvCxnSpPr>
                <a:cxnSpLocks/>
              </p:cNvCxnSpPr>
              <p:nvPr/>
            </p:nvCxnSpPr>
            <p:spPr>
              <a:xfrm>
                <a:off x="10372725" y="3548510"/>
                <a:ext cx="0" cy="207515"/>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255" name="TextBox 254">
            <a:extLst>
              <a:ext uri="{FF2B5EF4-FFF2-40B4-BE49-F238E27FC236}">
                <a16:creationId xmlns:a16="http://schemas.microsoft.com/office/drawing/2014/main" id="{748F6DEF-668E-5841-A6A2-B63A0C4711C1}"/>
              </a:ext>
            </a:extLst>
          </p:cNvPr>
          <p:cNvSpPr txBox="1"/>
          <p:nvPr/>
        </p:nvSpPr>
        <p:spPr>
          <a:xfrm flipH="1">
            <a:off x="427284" y="3275636"/>
            <a:ext cx="2195814" cy="1089529"/>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All nodes have distance estimates to nearest neighbors (only)</a:t>
            </a:r>
          </a:p>
        </p:txBody>
      </p:sp>
      <p:grpSp>
        <p:nvGrpSpPr>
          <p:cNvPr id="1029" name="Group 1028">
            <a:extLst>
              <a:ext uri="{FF2B5EF4-FFF2-40B4-BE49-F238E27FC236}">
                <a16:creationId xmlns:a16="http://schemas.microsoft.com/office/drawing/2014/main" id="{317D5632-B975-3440-BACC-A257B3D4043E}"/>
              </a:ext>
            </a:extLst>
          </p:cNvPr>
          <p:cNvGrpSpPr/>
          <p:nvPr/>
        </p:nvGrpSpPr>
        <p:grpSpPr>
          <a:xfrm>
            <a:off x="5663694" y="2293717"/>
            <a:ext cx="5624685" cy="2298788"/>
            <a:chOff x="5663694" y="2293717"/>
            <a:chExt cx="5624685" cy="2298788"/>
          </a:xfrm>
        </p:grpSpPr>
        <p:sp>
          <p:nvSpPr>
            <p:cNvPr id="1024" name="TextBox 1023">
              <a:extLst>
                <a:ext uri="{FF2B5EF4-FFF2-40B4-BE49-F238E27FC236}">
                  <a16:creationId xmlns:a16="http://schemas.microsoft.com/office/drawing/2014/main" id="{F3693395-6389-7A45-93DD-EF462B33B043}"/>
                </a:ext>
              </a:extLst>
            </p:cNvPr>
            <p:cNvSpPr txBox="1"/>
            <p:nvPr/>
          </p:nvSpPr>
          <p:spPr>
            <a:xfrm>
              <a:off x="9259747" y="3669175"/>
              <a:ext cx="2028632" cy="923330"/>
            </a:xfrm>
            <a:prstGeom prst="rect">
              <a:avLst/>
            </a:prstGeom>
            <a:noFill/>
          </p:spPr>
          <p:txBody>
            <a:bodyPr wrap="none" rtlCol="0">
              <a:spAutoFit/>
            </a:bodyPr>
            <a:lstStyle/>
            <a:p>
              <a:r>
                <a:rPr lang="en-US" dirty="0">
                  <a:solidFill>
                    <a:prstClr val="black"/>
                  </a:solidFill>
                </a:rPr>
                <a:t>A few asymmetries:</a:t>
              </a:r>
            </a:p>
            <a:p>
              <a:pPr marL="285750" indent="-285750">
                <a:buClr>
                  <a:srgbClr val="0000A8"/>
                </a:buClr>
                <a:buFont typeface="Wingdings" pitchFamily="2" charset="2"/>
                <a:buChar char="§"/>
              </a:pPr>
              <a:r>
                <a:rPr lang="en-US" dirty="0">
                  <a:solidFill>
                    <a:prstClr val="black"/>
                  </a:solidFill>
                </a:rPr>
                <a:t>missing link</a:t>
              </a:r>
            </a:p>
            <a:p>
              <a:pPr marL="285750" indent="-285750">
                <a:buClr>
                  <a:srgbClr val="0000A8"/>
                </a:buClr>
                <a:buFont typeface="Wingdings" pitchFamily="2" charset="2"/>
                <a:buChar char="§"/>
              </a:pPr>
              <a:r>
                <a:rPr lang="en-US" dirty="0">
                  <a:solidFill>
                    <a:prstClr val="black"/>
                  </a:solidFill>
                </a:rPr>
                <a:t>larger cost</a:t>
              </a:r>
            </a:p>
          </p:txBody>
        </p:sp>
        <p:cxnSp>
          <p:nvCxnSpPr>
            <p:cNvPr id="1027" name="Straight Arrow Connector 1026">
              <a:extLst>
                <a:ext uri="{FF2B5EF4-FFF2-40B4-BE49-F238E27FC236}">
                  <a16:creationId xmlns:a16="http://schemas.microsoft.com/office/drawing/2014/main" id="{4E929335-40BB-CB40-86CA-FAACFF10EC6F}"/>
                </a:ext>
              </a:extLst>
            </p:cNvPr>
            <p:cNvCxnSpPr/>
            <p:nvPr/>
          </p:nvCxnSpPr>
          <p:spPr>
            <a:xfrm flipH="1" flipV="1">
              <a:off x="8414795" y="3032568"/>
              <a:ext cx="995423" cy="1111169"/>
            </a:xfrm>
            <a:prstGeom prst="straightConnector1">
              <a:avLst/>
            </a:prstGeom>
            <a:ln>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260" name="Straight Arrow Connector 259">
              <a:extLst>
                <a:ext uri="{FF2B5EF4-FFF2-40B4-BE49-F238E27FC236}">
                  <a16:creationId xmlns:a16="http://schemas.microsoft.com/office/drawing/2014/main" id="{8C615253-8FD8-C347-9EAB-9A57486BFFB0}"/>
                </a:ext>
              </a:extLst>
            </p:cNvPr>
            <p:cNvCxnSpPr>
              <a:cxnSpLocks/>
            </p:cNvCxnSpPr>
            <p:nvPr/>
          </p:nvCxnSpPr>
          <p:spPr>
            <a:xfrm flipH="1" flipV="1">
              <a:off x="5663694" y="2293717"/>
              <a:ext cx="3726112" cy="2091470"/>
            </a:xfrm>
            <a:prstGeom prst="straightConnector1">
              <a:avLst/>
            </a:prstGeom>
            <a:ln>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032" name="Right Arrow 1031">
            <a:extLst>
              <a:ext uri="{FF2B5EF4-FFF2-40B4-BE49-F238E27FC236}">
                <a16:creationId xmlns:a16="http://schemas.microsoft.com/office/drawing/2014/main" id="{48701230-5EB3-4E4B-BEE9-CAD81136ECF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6" name="TextBox 355">
            <a:extLst>
              <a:ext uri="{FF2B5EF4-FFF2-40B4-BE49-F238E27FC236}">
                <a16:creationId xmlns:a16="http://schemas.microsoft.com/office/drawing/2014/main" id="{51404446-23C0-2D44-BCD1-6A216A38E9F1}"/>
              </a:ext>
            </a:extLst>
          </p:cNvPr>
          <p:cNvSpPr txBox="1"/>
          <p:nvPr/>
        </p:nvSpPr>
        <p:spPr>
          <a:xfrm flipH="1">
            <a:off x="435306" y="4375569"/>
            <a:ext cx="2195814" cy="1089529"/>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All nodes send their local distance vector to their neighbors</a:t>
            </a:r>
          </a:p>
        </p:txBody>
      </p:sp>
    </p:spTree>
    <p:extLst>
      <p:ext uri="{BB962C8B-B14F-4D97-AF65-F5344CB8AC3E}">
        <p14:creationId xmlns:p14="http://schemas.microsoft.com/office/powerpoint/2010/main" val="2306443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dissolve">
                                      <p:cBhvr>
                                        <p:cTn id="7" dur="1000"/>
                                        <p:tgtEl>
                                          <p:spTgt spid="102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animEffect transition="in" filter="dissolve">
                                      <p:cBhvr>
                                        <p:cTn id="12" dur="500"/>
                                        <p:tgtEl>
                                          <p:spTgt spid="356"/>
                                        </p:tgtEl>
                                      </p:cBhvr>
                                    </p:animEffect>
                                  </p:childTnLst>
                                </p:cTn>
                              </p:par>
                              <p:par>
                                <p:cTn id="13" presetID="9" presetClass="exit" presetSubtype="0" fill="hold" nodeType="withEffect">
                                  <p:stCondLst>
                                    <p:cond delay="0"/>
                                  </p:stCondLst>
                                  <p:childTnLst>
                                    <p:animEffect transition="out" filter="dissolve">
                                      <p:cBhvr>
                                        <p:cTn id="14" dur="500"/>
                                        <p:tgtEl>
                                          <p:spTgt spid="1029"/>
                                        </p:tgtEl>
                                      </p:cBhvr>
                                    </p:animEffect>
                                    <p:set>
                                      <p:cBhvr>
                                        <p:cTn id="15" dur="1" fill="hold">
                                          <p:stCondLst>
                                            <p:cond delay="499"/>
                                          </p:stCondLst>
                                        </p:cTn>
                                        <p:tgtEl>
                                          <p:spTgt spid="1029"/>
                                        </p:tgtEl>
                                        <p:attrNameLst>
                                          <p:attrName>style.visibility</p:attrName>
                                        </p:attrNameLst>
                                      </p:cBhvr>
                                      <p:to>
                                        <p:strVal val="hidden"/>
                                      </p:to>
                                    </p:set>
                                  </p:childTnLst>
                                </p:cTn>
                              </p:par>
                              <p:par>
                                <p:cTn id="16" presetID="9" presetClass="exit" presetSubtype="0" fill="hold" nodeType="withEffect">
                                  <p:stCondLst>
                                    <p:cond delay="0"/>
                                  </p:stCondLst>
                                  <p:childTnLst>
                                    <p:animEffect transition="out" filter="dissolve">
                                      <p:cBhvr>
                                        <p:cTn id="17" dur="500"/>
                                        <p:tgtEl>
                                          <p:spTgt spid="358"/>
                                        </p:tgtEl>
                                      </p:cBhvr>
                                    </p:animEffect>
                                    <p:set>
                                      <p:cBhvr>
                                        <p:cTn id="18" dur="1" fill="hold">
                                          <p:stCondLst>
                                            <p:cond delay="499"/>
                                          </p:stCondLst>
                                        </p:cTn>
                                        <p:tgtEl>
                                          <p:spTgt spid="358"/>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1032"/>
                                        </p:tgtEl>
                                        <p:attrNameLst>
                                          <p:attrName>style.visibility</p:attrName>
                                        </p:attrNameLst>
                                      </p:cBhvr>
                                      <p:to>
                                        <p:strVal val="visible"/>
                                      </p:to>
                                    </p:set>
                                    <p:animEffect transition="in" filter="wipe(up)">
                                      <p:cBhvr>
                                        <p:cTn id="23" dur="500"/>
                                        <p:tgtEl>
                                          <p:spTgt spid="1032"/>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51"/>
                                        </p:tgtEl>
                                        <p:attrNameLst>
                                          <p:attrName>style.visibility</p:attrName>
                                        </p:attrNameLst>
                                      </p:cBhvr>
                                      <p:to>
                                        <p:strVal val="visible"/>
                                      </p:to>
                                    </p:set>
                                    <p:animEffect transition="in" filter="wipe(left)">
                                      <p:cBhvr>
                                        <p:cTn id="26" dur="500"/>
                                        <p:tgtEl>
                                          <p:spTgt spid="351"/>
                                        </p:tgtEl>
                                      </p:cBhvr>
                                    </p:animEffect>
                                  </p:childTnLst>
                                </p:cTn>
                              </p:par>
                            </p:childTnLst>
                          </p:cTn>
                        </p:par>
                        <p:par>
                          <p:cTn id="27" fill="hold">
                            <p:stCondLst>
                              <p:cond delay="500"/>
                            </p:stCondLst>
                            <p:childTnLst>
                              <p:par>
                                <p:cTn id="28" presetID="22" presetClass="entr" presetSubtype="2" fill="hold" grpId="0" nodeType="afterEffect">
                                  <p:stCondLst>
                                    <p:cond delay="0"/>
                                  </p:stCondLst>
                                  <p:childTnLst>
                                    <p:set>
                                      <p:cBhvr>
                                        <p:cTn id="29" dur="1" fill="hold">
                                          <p:stCondLst>
                                            <p:cond delay="0"/>
                                          </p:stCondLst>
                                        </p:cTn>
                                        <p:tgtEl>
                                          <p:spTgt spid="350"/>
                                        </p:tgtEl>
                                        <p:attrNameLst>
                                          <p:attrName>style.visibility</p:attrName>
                                        </p:attrNameLst>
                                      </p:cBhvr>
                                      <p:to>
                                        <p:strVal val="visible"/>
                                      </p:to>
                                    </p:set>
                                    <p:animEffect transition="in" filter="wipe(right)">
                                      <p:cBhvr>
                                        <p:cTn id="30" dur="500"/>
                                        <p:tgtEl>
                                          <p:spTgt spid="350"/>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268"/>
                                        </p:tgtEl>
                                        <p:attrNameLst>
                                          <p:attrName>style.visibility</p:attrName>
                                        </p:attrNameLst>
                                      </p:cBhvr>
                                      <p:to>
                                        <p:strVal val="visible"/>
                                      </p:to>
                                    </p:set>
                                    <p:animEffect transition="in" filter="wipe(up)">
                                      <p:cBhvr>
                                        <p:cTn id="33" dur="500"/>
                                        <p:tgtEl>
                                          <p:spTgt spid="268"/>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353"/>
                                        </p:tgtEl>
                                        <p:attrNameLst>
                                          <p:attrName>style.visibility</p:attrName>
                                        </p:attrNameLst>
                                      </p:cBhvr>
                                      <p:to>
                                        <p:strVal val="visible"/>
                                      </p:to>
                                    </p:set>
                                    <p:animEffect transition="in" filter="wipe(left)">
                                      <p:cBhvr>
                                        <p:cTn id="36" dur="500"/>
                                        <p:tgtEl>
                                          <p:spTgt spid="353"/>
                                        </p:tgtEl>
                                      </p:cBhvr>
                                    </p:animEffect>
                                  </p:childTnLst>
                                </p:cTn>
                              </p:par>
                            </p:childTnLst>
                          </p:cTn>
                        </p:par>
                        <p:par>
                          <p:cTn id="37" fill="hold">
                            <p:stCondLst>
                              <p:cond delay="1000"/>
                            </p:stCondLst>
                            <p:childTnLst>
                              <p:par>
                                <p:cTn id="38" presetID="22" presetClass="entr" presetSubtype="2" fill="hold" grpId="0" nodeType="afterEffect">
                                  <p:stCondLst>
                                    <p:cond delay="0"/>
                                  </p:stCondLst>
                                  <p:childTnLst>
                                    <p:set>
                                      <p:cBhvr>
                                        <p:cTn id="39" dur="1" fill="hold">
                                          <p:stCondLst>
                                            <p:cond delay="0"/>
                                          </p:stCondLst>
                                        </p:cTn>
                                        <p:tgtEl>
                                          <p:spTgt spid="352"/>
                                        </p:tgtEl>
                                        <p:attrNameLst>
                                          <p:attrName>style.visibility</p:attrName>
                                        </p:attrNameLst>
                                      </p:cBhvr>
                                      <p:to>
                                        <p:strVal val="visible"/>
                                      </p:to>
                                    </p:set>
                                    <p:animEffect transition="in" filter="wipe(right)">
                                      <p:cBhvr>
                                        <p:cTn id="40" dur="500"/>
                                        <p:tgtEl>
                                          <p:spTgt spid="352"/>
                                        </p:tgtEl>
                                      </p:cBhvr>
                                    </p:animEffect>
                                  </p:childTnLst>
                                </p:cTn>
                              </p:par>
                            </p:childTnLst>
                          </p:cTn>
                        </p:par>
                        <p:par>
                          <p:cTn id="41" fill="hold">
                            <p:stCondLst>
                              <p:cond delay="1500"/>
                            </p:stCondLst>
                            <p:childTnLst>
                              <p:par>
                                <p:cTn id="42" presetID="22" presetClass="entr" presetSubtype="4" fill="hold" grpId="0" nodeType="afterEffect">
                                  <p:stCondLst>
                                    <p:cond delay="0"/>
                                  </p:stCondLst>
                                  <p:childTnLst>
                                    <p:set>
                                      <p:cBhvr>
                                        <p:cTn id="43" dur="1" fill="hold">
                                          <p:stCondLst>
                                            <p:cond delay="0"/>
                                          </p:stCondLst>
                                        </p:cTn>
                                        <p:tgtEl>
                                          <p:spTgt spid="267"/>
                                        </p:tgtEl>
                                        <p:attrNameLst>
                                          <p:attrName>style.visibility</p:attrName>
                                        </p:attrNameLst>
                                      </p:cBhvr>
                                      <p:to>
                                        <p:strVal val="visible"/>
                                      </p:to>
                                    </p:set>
                                    <p:animEffect transition="in" filter="wipe(down)">
                                      <p:cBhvr>
                                        <p:cTn id="44" dur="500"/>
                                        <p:tgtEl>
                                          <p:spTgt spid="267"/>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349"/>
                                        </p:tgtEl>
                                        <p:attrNameLst>
                                          <p:attrName>style.visibility</p:attrName>
                                        </p:attrNameLst>
                                      </p:cBhvr>
                                      <p:to>
                                        <p:strVal val="visible"/>
                                      </p:to>
                                    </p:set>
                                    <p:animEffect transition="in" filter="wipe(left)">
                                      <p:cBhvr>
                                        <p:cTn id="47" dur="500"/>
                                        <p:tgtEl>
                                          <p:spTgt spid="349"/>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270"/>
                                        </p:tgtEl>
                                        <p:attrNameLst>
                                          <p:attrName>style.visibility</p:attrName>
                                        </p:attrNameLst>
                                      </p:cBhvr>
                                      <p:to>
                                        <p:strVal val="visible"/>
                                      </p:to>
                                    </p:set>
                                    <p:animEffect transition="in" filter="wipe(up)">
                                      <p:cBhvr>
                                        <p:cTn id="50" dur="500"/>
                                        <p:tgtEl>
                                          <p:spTgt spid="270"/>
                                        </p:tgtEl>
                                      </p:cBhvr>
                                    </p:animEffect>
                                  </p:childTnLst>
                                </p:cTn>
                              </p:par>
                            </p:childTnLst>
                          </p:cTn>
                        </p:par>
                        <p:par>
                          <p:cTn id="51" fill="hold">
                            <p:stCondLst>
                              <p:cond delay="2000"/>
                            </p:stCondLst>
                            <p:childTnLst>
                              <p:par>
                                <p:cTn id="52" presetID="22" presetClass="entr" presetSubtype="2" fill="hold" grpId="0" nodeType="afterEffect">
                                  <p:stCondLst>
                                    <p:cond delay="0"/>
                                  </p:stCondLst>
                                  <p:childTnLst>
                                    <p:set>
                                      <p:cBhvr>
                                        <p:cTn id="53" dur="1" fill="hold">
                                          <p:stCondLst>
                                            <p:cond delay="0"/>
                                          </p:stCondLst>
                                        </p:cTn>
                                        <p:tgtEl>
                                          <p:spTgt spid="348"/>
                                        </p:tgtEl>
                                        <p:attrNameLst>
                                          <p:attrName>style.visibility</p:attrName>
                                        </p:attrNameLst>
                                      </p:cBhvr>
                                      <p:to>
                                        <p:strVal val="visible"/>
                                      </p:to>
                                    </p:set>
                                    <p:animEffect transition="in" filter="wipe(right)">
                                      <p:cBhvr>
                                        <p:cTn id="54" dur="500"/>
                                        <p:tgtEl>
                                          <p:spTgt spid="34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269"/>
                                        </p:tgtEl>
                                        <p:attrNameLst>
                                          <p:attrName>style.visibility</p:attrName>
                                        </p:attrNameLst>
                                      </p:cBhvr>
                                      <p:to>
                                        <p:strVal val="visible"/>
                                      </p:to>
                                    </p:set>
                                    <p:animEffect transition="in" filter="wipe(down)">
                                      <p:cBhvr>
                                        <p:cTn id="57" dur="500"/>
                                        <p:tgtEl>
                                          <p:spTgt spid="269"/>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355"/>
                                        </p:tgtEl>
                                        <p:attrNameLst>
                                          <p:attrName>style.visibility</p:attrName>
                                        </p:attrNameLst>
                                      </p:cBhvr>
                                      <p:to>
                                        <p:strVal val="visible"/>
                                      </p:to>
                                    </p:set>
                                    <p:animEffect transition="in" filter="wipe(left)">
                                      <p:cBhvr>
                                        <p:cTn id="60" dur="500"/>
                                        <p:tgtEl>
                                          <p:spTgt spid="355"/>
                                        </p:tgtEl>
                                      </p:cBhvr>
                                    </p:animEffect>
                                  </p:childTnLst>
                                </p:cTn>
                              </p:par>
                              <p:par>
                                <p:cTn id="61" presetID="22" presetClass="entr" presetSubtype="1" fill="hold" grpId="0" nodeType="withEffect">
                                  <p:stCondLst>
                                    <p:cond delay="0"/>
                                  </p:stCondLst>
                                  <p:childTnLst>
                                    <p:set>
                                      <p:cBhvr>
                                        <p:cTn id="62" dur="1" fill="hold">
                                          <p:stCondLst>
                                            <p:cond delay="0"/>
                                          </p:stCondLst>
                                        </p:cTn>
                                        <p:tgtEl>
                                          <p:spTgt spid="272"/>
                                        </p:tgtEl>
                                        <p:attrNameLst>
                                          <p:attrName>style.visibility</p:attrName>
                                        </p:attrNameLst>
                                      </p:cBhvr>
                                      <p:to>
                                        <p:strVal val="visible"/>
                                      </p:to>
                                    </p:set>
                                    <p:animEffect transition="in" filter="wipe(up)">
                                      <p:cBhvr>
                                        <p:cTn id="63" dur="500"/>
                                        <p:tgtEl>
                                          <p:spTgt spid="272"/>
                                        </p:tgtEl>
                                      </p:cBhvr>
                                    </p:animEffect>
                                  </p:childTnLst>
                                </p:cTn>
                              </p:par>
                            </p:childTnLst>
                          </p:cTn>
                        </p:par>
                        <p:par>
                          <p:cTn id="64" fill="hold">
                            <p:stCondLst>
                              <p:cond delay="2500"/>
                            </p:stCondLst>
                            <p:childTnLst>
                              <p:par>
                                <p:cTn id="65" presetID="22" presetClass="entr" presetSubtype="2" fill="hold" grpId="0" nodeType="afterEffect">
                                  <p:stCondLst>
                                    <p:cond delay="0"/>
                                  </p:stCondLst>
                                  <p:childTnLst>
                                    <p:set>
                                      <p:cBhvr>
                                        <p:cTn id="66" dur="1" fill="hold">
                                          <p:stCondLst>
                                            <p:cond delay="0"/>
                                          </p:stCondLst>
                                        </p:cTn>
                                        <p:tgtEl>
                                          <p:spTgt spid="354"/>
                                        </p:tgtEl>
                                        <p:attrNameLst>
                                          <p:attrName>style.visibility</p:attrName>
                                        </p:attrNameLst>
                                      </p:cBhvr>
                                      <p:to>
                                        <p:strVal val="visible"/>
                                      </p:to>
                                    </p:set>
                                    <p:animEffect transition="in" filter="wipe(right)">
                                      <p:cBhvr>
                                        <p:cTn id="67" dur="500"/>
                                        <p:tgtEl>
                                          <p:spTgt spid="354"/>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274"/>
                                        </p:tgtEl>
                                        <p:attrNameLst>
                                          <p:attrName>style.visibility</p:attrName>
                                        </p:attrNameLst>
                                      </p:cBhvr>
                                      <p:to>
                                        <p:strVal val="visible"/>
                                      </p:to>
                                    </p:set>
                                    <p:animEffect transition="in" filter="wipe(up)">
                                      <p:cBhvr>
                                        <p:cTn id="70" dur="500"/>
                                        <p:tgtEl>
                                          <p:spTgt spid="274"/>
                                        </p:tgtEl>
                                      </p:cBhvr>
                                    </p:animEffect>
                                  </p:childTnLst>
                                </p:cTn>
                              </p:par>
                            </p:childTnLst>
                          </p:cTn>
                        </p:par>
                        <p:par>
                          <p:cTn id="71" fill="hold">
                            <p:stCondLst>
                              <p:cond delay="3000"/>
                            </p:stCondLst>
                            <p:childTnLst>
                              <p:par>
                                <p:cTn id="72" presetID="22" presetClass="entr" presetSubtype="4" fill="hold" grpId="0" nodeType="afterEffect">
                                  <p:stCondLst>
                                    <p:cond delay="0"/>
                                  </p:stCondLst>
                                  <p:childTnLst>
                                    <p:set>
                                      <p:cBhvr>
                                        <p:cTn id="73" dur="1" fill="hold">
                                          <p:stCondLst>
                                            <p:cond delay="0"/>
                                          </p:stCondLst>
                                        </p:cTn>
                                        <p:tgtEl>
                                          <p:spTgt spid="271"/>
                                        </p:tgtEl>
                                        <p:attrNameLst>
                                          <p:attrName>style.visibility</p:attrName>
                                        </p:attrNameLst>
                                      </p:cBhvr>
                                      <p:to>
                                        <p:strVal val="visible"/>
                                      </p:to>
                                    </p:set>
                                    <p:animEffect transition="in" filter="wipe(down)">
                                      <p:cBhvr>
                                        <p:cTn id="74" dur="500"/>
                                        <p:tgtEl>
                                          <p:spTgt spid="271"/>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347"/>
                                        </p:tgtEl>
                                        <p:attrNameLst>
                                          <p:attrName>style.visibility</p:attrName>
                                        </p:attrNameLst>
                                      </p:cBhvr>
                                      <p:to>
                                        <p:strVal val="visible"/>
                                      </p:to>
                                    </p:set>
                                    <p:animEffect transition="in" filter="wipe(left)">
                                      <p:cBhvr>
                                        <p:cTn id="77" dur="500"/>
                                        <p:tgtEl>
                                          <p:spTgt spid="347"/>
                                        </p:tgtEl>
                                      </p:cBhvr>
                                    </p:animEffect>
                                  </p:childTnLst>
                                </p:cTn>
                              </p:par>
                            </p:childTnLst>
                          </p:cTn>
                        </p:par>
                        <p:par>
                          <p:cTn id="78" fill="hold">
                            <p:stCondLst>
                              <p:cond delay="3500"/>
                            </p:stCondLst>
                            <p:childTnLst>
                              <p:par>
                                <p:cTn id="79" presetID="22" presetClass="entr" presetSubtype="2" fill="hold" grpId="0" nodeType="afterEffect">
                                  <p:stCondLst>
                                    <p:cond delay="0"/>
                                  </p:stCondLst>
                                  <p:childTnLst>
                                    <p:set>
                                      <p:cBhvr>
                                        <p:cTn id="80" dur="1" fill="hold">
                                          <p:stCondLst>
                                            <p:cond delay="0"/>
                                          </p:stCondLst>
                                        </p:cTn>
                                        <p:tgtEl>
                                          <p:spTgt spid="346"/>
                                        </p:tgtEl>
                                        <p:attrNameLst>
                                          <p:attrName>style.visibility</p:attrName>
                                        </p:attrNameLst>
                                      </p:cBhvr>
                                      <p:to>
                                        <p:strVal val="visible"/>
                                      </p:to>
                                    </p:set>
                                    <p:animEffect transition="in" filter="wipe(right)">
                                      <p:cBhvr>
                                        <p:cTn id="81" dur="500"/>
                                        <p:tgtEl>
                                          <p:spTgt spid="346"/>
                                        </p:tgtEl>
                                      </p:cBhvr>
                                    </p:animEffect>
                                  </p:childTnLst>
                                </p:cTn>
                              </p:par>
                              <p:par>
                                <p:cTn id="82" presetID="22" presetClass="entr" presetSubtype="4" fill="hold" grpId="0" nodeType="withEffect">
                                  <p:stCondLst>
                                    <p:cond delay="0"/>
                                  </p:stCondLst>
                                  <p:childTnLst>
                                    <p:set>
                                      <p:cBhvr>
                                        <p:cTn id="83" dur="1" fill="hold">
                                          <p:stCondLst>
                                            <p:cond delay="0"/>
                                          </p:stCondLst>
                                        </p:cTn>
                                        <p:tgtEl>
                                          <p:spTgt spid="273"/>
                                        </p:tgtEl>
                                        <p:attrNameLst>
                                          <p:attrName>style.visibility</p:attrName>
                                        </p:attrNameLst>
                                      </p:cBhvr>
                                      <p:to>
                                        <p:strVal val="visible"/>
                                      </p:to>
                                    </p:set>
                                    <p:animEffect transition="in" filter="wipe(down)">
                                      <p:cBhvr>
                                        <p:cTn id="84" dur="500"/>
                                        <p:tgtEl>
                                          <p:spTgt spid="273"/>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280"/>
                                        </p:tgtEl>
                                        <p:attrNameLst>
                                          <p:attrName>style.visibility</p:attrName>
                                        </p:attrNameLst>
                                      </p:cBhvr>
                                      <p:to>
                                        <p:strVal val="visible"/>
                                      </p:to>
                                    </p:set>
                                    <p:animEffect transition="in" filter="wipe(left)">
                                      <p:cBhvr>
                                        <p:cTn id="87" dur="500"/>
                                        <p:tgtEl>
                                          <p:spTgt spid="280"/>
                                        </p:tgtEl>
                                      </p:cBhvr>
                                    </p:animEffect>
                                  </p:childTnLst>
                                </p:cTn>
                              </p:par>
                            </p:childTnLst>
                          </p:cTn>
                        </p:par>
                        <p:par>
                          <p:cTn id="88" fill="hold">
                            <p:stCondLst>
                              <p:cond delay="4000"/>
                            </p:stCondLst>
                            <p:childTnLst>
                              <p:par>
                                <p:cTn id="89" presetID="22" presetClass="entr" presetSubtype="2" fill="hold" grpId="0" nodeType="afterEffect">
                                  <p:stCondLst>
                                    <p:cond delay="0"/>
                                  </p:stCondLst>
                                  <p:childTnLst>
                                    <p:set>
                                      <p:cBhvr>
                                        <p:cTn id="90" dur="1" fill="hold">
                                          <p:stCondLst>
                                            <p:cond delay="0"/>
                                          </p:stCondLst>
                                        </p:cTn>
                                        <p:tgtEl>
                                          <p:spTgt spid="279"/>
                                        </p:tgtEl>
                                        <p:attrNameLst>
                                          <p:attrName>style.visibility</p:attrName>
                                        </p:attrNameLst>
                                      </p:cBhvr>
                                      <p:to>
                                        <p:strVal val="visible"/>
                                      </p:to>
                                    </p:set>
                                    <p:animEffect transition="in" filter="wipe(right)">
                                      <p:cBhvr>
                                        <p:cTn id="91" dur="500"/>
                                        <p:tgtEl>
                                          <p:spTgt spid="279"/>
                                        </p:tgtEl>
                                      </p:cBhvr>
                                    </p:animEffect>
                                  </p:childTnLst>
                                </p:cTn>
                              </p:par>
                              <p:par>
                                <p:cTn id="92" presetID="22" presetClass="entr" presetSubtype="4" fill="hold" grpId="0" nodeType="withEffect">
                                  <p:stCondLst>
                                    <p:cond delay="0"/>
                                  </p:stCondLst>
                                  <p:childTnLst>
                                    <p:set>
                                      <p:cBhvr>
                                        <p:cTn id="93" dur="1" fill="hold">
                                          <p:stCondLst>
                                            <p:cond delay="0"/>
                                          </p:stCondLst>
                                        </p:cTn>
                                        <p:tgtEl>
                                          <p:spTgt spid="275"/>
                                        </p:tgtEl>
                                        <p:attrNameLst>
                                          <p:attrName>style.visibility</p:attrName>
                                        </p:attrNameLst>
                                      </p:cBhvr>
                                      <p:to>
                                        <p:strVal val="visible"/>
                                      </p:to>
                                    </p:set>
                                    <p:animEffect transition="in" filter="wipe(down)">
                                      <p:cBhvr>
                                        <p:cTn id="94"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P spid="35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53</a:t>
            </a:fld>
            <a:endParaRPr lang="en-US" dirty="0">
              <a:solidFill>
                <a:prstClr val="white">
                  <a:lumMod val="50000"/>
                </a:prstClr>
              </a:solidFill>
            </a:endParaRPr>
          </a:p>
        </p:txBody>
      </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srgbClr val="0000A8"/>
              </a:buClr>
              <a:buFont typeface="Wingdings" pitchFamily="2" charset="2"/>
              <a:buChar char="§"/>
            </a:pPr>
            <a:r>
              <a:rPr lang="en-US" dirty="0">
                <a:solidFill>
                  <a:prstClr val="black"/>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76" name="Straight Connector 175">
                <a:extLst>
                  <a:ext uri="{FF2B5EF4-FFF2-40B4-BE49-F238E27FC236}">
                    <a16:creationId xmlns:a16="http://schemas.microsoft.com/office/drawing/2014/main" id="{4DC6920A-A583-934A-B8F7-D01CB5A4F755}"/>
                  </a:ext>
                </a:extLst>
              </p:cNvPr>
              <p:cNvCxnSpPr>
                <a:cxnSpLocks/>
              </p:cNvCxnSpPr>
              <p:nvPr/>
            </p:nvCxnSpPr>
            <p:spPr>
              <a:xfrm flipH="1">
                <a:off x="10361752" y="3564494"/>
                <a:ext cx="137579" cy="231764"/>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cxnSp>
        <p:nvCxnSpPr>
          <p:cNvPr id="178" name="Straight Connector 177">
            <a:extLst>
              <a:ext uri="{FF2B5EF4-FFF2-40B4-BE49-F238E27FC236}">
                <a16:creationId xmlns:a16="http://schemas.microsoft.com/office/drawing/2014/main" id="{AB5E9CBF-AF97-5D48-B9CB-2EC5C2C526F5}"/>
              </a:ext>
            </a:extLst>
          </p:cNvPr>
          <p:cNvCxnSpPr>
            <a:cxnSpLocks/>
            <a:stCxn id="180" idx="2"/>
            <a:endCxn id="180"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D7EFE419-3569-2941-B21B-FEE938B00519}"/>
              </a:ext>
            </a:extLst>
          </p:cNvPr>
          <p:cNvCxnSpPr>
            <a:cxnSpLocks/>
            <a:stCxn id="180" idx="1"/>
            <a:endCxn id="180"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0" name="Rectangle 179">
            <a:extLst>
              <a:ext uri="{FF2B5EF4-FFF2-40B4-BE49-F238E27FC236}">
                <a16:creationId xmlns:a16="http://schemas.microsoft.com/office/drawing/2014/main" id="{4E468BF4-771A-9F4F-B78A-F622D4132D71}"/>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81" name="Rectangle 180">
            <a:extLst>
              <a:ext uri="{FF2B5EF4-FFF2-40B4-BE49-F238E27FC236}">
                <a16:creationId xmlns:a16="http://schemas.microsoft.com/office/drawing/2014/main" id="{CE684AEF-59A3-F546-87AC-81E722615FE7}"/>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82" name="Group 181">
            <a:extLst>
              <a:ext uri="{FF2B5EF4-FFF2-40B4-BE49-F238E27FC236}">
                <a16:creationId xmlns:a16="http://schemas.microsoft.com/office/drawing/2014/main" id="{90024695-3FDD-964E-B152-496C22A4D46B}"/>
              </a:ext>
            </a:extLst>
          </p:cNvPr>
          <p:cNvGrpSpPr/>
          <p:nvPr/>
        </p:nvGrpSpPr>
        <p:grpSpPr>
          <a:xfrm>
            <a:off x="4333785" y="5772213"/>
            <a:ext cx="4395351" cy="404576"/>
            <a:chOff x="4333785" y="5772213"/>
            <a:chExt cx="4395351" cy="404576"/>
          </a:xfrm>
        </p:grpSpPr>
        <p:grpSp>
          <p:nvGrpSpPr>
            <p:cNvPr id="183" name="Group 182">
              <a:extLst>
                <a:ext uri="{FF2B5EF4-FFF2-40B4-BE49-F238E27FC236}">
                  <a16:creationId xmlns:a16="http://schemas.microsoft.com/office/drawing/2014/main" id="{6C8EE3F3-AE25-054F-9105-9B7FA34FFD32}"/>
                </a:ext>
              </a:extLst>
            </p:cNvPr>
            <p:cNvGrpSpPr/>
            <p:nvPr/>
          </p:nvGrpSpPr>
          <p:grpSpPr>
            <a:xfrm>
              <a:off x="4333785" y="5772213"/>
              <a:ext cx="531821" cy="369069"/>
              <a:chOff x="1348328" y="2475647"/>
              <a:chExt cx="603916" cy="419100"/>
            </a:xfrm>
          </p:grpSpPr>
          <p:grpSp>
            <p:nvGrpSpPr>
              <p:cNvPr id="265" name="Group 264">
                <a:extLst>
                  <a:ext uri="{FF2B5EF4-FFF2-40B4-BE49-F238E27FC236}">
                    <a16:creationId xmlns:a16="http://schemas.microsoft.com/office/drawing/2014/main" id="{5D6CC66D-1EF8-A444-9970-9D45735DBF98}"/>
                  </a:ext>
                </a:extLst>
              </p:cNvPr>
              <p:cNvGrpSpPr/>
              <p:nvPr/>
            </p:nvGrpSpPr>
            <p:grpSpPr>
              <a:xfrm>
                <a:off x="1348328" y="2555748"/>
                <a:ext cx="603916" cy="308999"/>
                <a:chOff x="5278570" y="2983486"/>
                <a:chExt cx="501650" cy="233363"/>
              </a:xfrm>
            </p:grpSpPr>
            <p:sp>
              <p:nvSpPr>
                <p:cNvPr id="278" name="Oval 5">
                  <a:extLst>
                    <a:ext uri="{FF2B5EF4-FFF2-40B4-BE49-F238E27FC236}">
                      <a16:creationId xmlns:a16="http://schemas.microsoft.com/office/drawing/2014/main" id="{19EC7CC2-5F3C-F044-855B-3528C76254F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81" name="Line 6">
                  <a:extLst>
                    <a:ext uri="{FF2B5EF4-FFF2-40B4-BE49-F238E27FC236}">
                      <a16:creationId xmlns:a16="http://schemas.microsoft.com/office/drawing/2014/main" id="{6779C44F-E1F7-DF44-9610-B2A0F6F2797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82" name="Line 7">
                  <a:extLst>
                    <a:ext uri="{FF2B5EF4-FFF2-40B4-BE49-F238E27FC236}">
                      <a16:creationId xmlns:a16="http://schemas.microsoft.com/office/drawing/2014/main" id="{D14FB091-AFB7-A944-A8E6-CDE6BB062C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5" name="Rectangle 8">
                  <a:extLst>
                    <a:ext uri="{FF2B5EF4-FFF2-40B4-BE49-F238E27FC236}">
                      <a16:creationId xmlns:a16="http://schemas.microsoft.com/office/drawing/2014/main" id="{3C11373B-941E-A341-8B50-3B1BAB28832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57" name="Oval 9">
                  <a:extLst>
                    <a:ext uri="{FF2B5EF4-FFF2-40B4-BE49-F238E27FC236}">
                      <a16:creationId xmlns:a16="http://schemas.microsoft.com/office/drawing/2014/main" id="{59F44B8F-8F72-CD4B-B450-03B98435A4D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66" name="Group 44">
                <a:extLst>
                  <a:ext uri="{FF2B5EF4-FFF2-40B4-BE49-F238E27FC236}">
                    <a16:creationId xmlns:a16="http://schemas.microsoft.com/office/drawing/2014/main" id="{C69DC42A-1FAB-8243-B34F-E94F334C76B2}"/>
                  </a:ext>
                </a:extLst>
              </p:cNvPr>
              <p:cNvGrpSpPr>
                <a:grpSpLocks/>
              </p:cNvGrpSpPr>
              <p:nvPr/>
            </p:nvGrpSpPr>
            <p:grpSpPr bwMode="auto">
              <a:xfrm>
                <a:off x="1456374" y="2475647"/>
                <a:ext cx="355165" cy="419100"/>
                <a:chOff x="2944" y="2405"/>
                <a:chExt cx="227" cy="264"/>
              </a:xfrm>
            </p:grpSpPr>
            <p:sp>
              <p:nvSpPr>
                <p:cNvPr id="276" name="Rectangle 45">
                  <a:extLst>
                    <a:ext uri="{FF2B5EF4-FFF2-40B4-BE49-F238E27FC236}">
                      <a16:creationId xmlns:a16="http://schemas.microsoft.com/office/drawing/2014/main" id="{70E25FC2-8CD7-BD46-8EEF-1398E7F97E7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77" name="Text Box 46">
                  <a:extLst>
                    <a:ext uri="{FF2B5EF4-FFF2-40B4-BE49-F238E27FC236}">
                      <a16:creationId xmlns:a16="http://schemas.microsoft.com/office/drawing/2014/main" id="{F9BD9777-D95A-EA46-92E1-12A0C4095B98}"/>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214" name="Group 213">
              <a:extLst>
                <a:ext uri="{FF2B5EF4-FFF2-40B4-BE49-F238E27FC236}">
                  <a16:creationId xmlns:a16="http://schemas.microsoft.com/office/drawing/2014/main" id="{1916AC98-2221-2E46-9C20-FABA3737D42E}"/>
                </a:ext>
              </a:extLst>
            </p:cNvPr>
            <p:cNvGrpSpPr/>
            <p:nvPr/>
          </p:nvGrpSpPr>
          <p:grpSpPr>
            <a:xfrm>
              <a:off x="6263949" y="5807720"/>
              <a:ext cx="531821" cy="369069"/>
              <a:chOff x="1348328" y="2507397"/>
              <a:chExt cx="603916" cy="419100"/>
            </a:xfrm>
          </p:grpSpPr>
          <p:grpSp>
            <p:nvGrpSpPr>
              <p:cNvPr id="251" name="Group 250">
                <a:extLst>
                  <a:ext uri="{FF2B5EF4-FFF2-40B4-BE49-F238E27FC236}">
                    <a16:creationId xmlns:a16="http://schemas.microsoft.com/office/drawing/2014/main" id="{276E517F-B609-7C4D-AF44-D726D3196676}"/>
                  </a:ext>
                </a:extLst>
              </p:cNvPr>
              <p:cNvGrpSpPr/>
              <p:nvPr/>
            </p:nvGrpSpPr>
            <p:grpSpPr>
              <a:xfrm>
                <a:off x="1348328" y="2555748"/>
                <a:ext cx="603916" cy="308999"/>
                <a:chOff x="5278570" y="2983486"/>
                <a:chExt cx="501650" cy="233363"/>
              </a:xfrm>
            </p:grpSpPr>
            <p:sp>
              <p:nvSpPr>
                <p:cNvPr id="259" name="Oval 5">
                  <a:extLst>
                    <a:ext uri="{FF2B5EF4-FFF2-40B4-BE49-F238E27FC236}">
                      <a16:creationId xmlns:a16="http://schemas.microsoft.com/office/drawing/2014/main" id="{DB42A8EC-C196-C840-A504-2428E394768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61" name="Line 6">
                  <a:extLst>
                    <a:ext uri="{FF2B5EF4-FFF2-40B4-BE49-F238E27FC236}">
                      <a16:creationId xmlns:a16="http://schemas.microsoft.com/office/drawing/2014/main" id="{3F365F5A-D6EA-D742-8402-8A4394B313B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62" name="Line 7">
                  <a:extLst>
                    <a:ext uri="{FF2B5EF4-FFF2-40B4-BE49-F238E27FC236}">
                      <a16:creationId xmlns:a16="http://schemas.microsoft.com/office/drawing/2014/main" id="{9177141B-66C5-2C42-A137-216B8B13C8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63" name="Rectangle 8">
                  <a:extLst>
                    <a:ext uri="{FF2B5EF4-FFF2-40B4-BE49-F238E27FC236}">
                      <a16:creationId xmlns:a16="http://schemas.microsoft.com/office/drawing/2014/main" id="{AE62DE18-0008-9444-9562-C4F5BAA6887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64" name="Oval 9">
                  <a:extLst>
                    <a:ext uri="{FF2B5EF4-FFF2-40B4-BE49-F238E27FC236}">
                      <a16:creationId xmlns:a16="http://schemas.microsoft.com/office/drawing/2014/main" id="{152F8C8A-0D1A-8B45-807C-D91E5356788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56" name="Group 44">
                <a:extLst>
                  <a:ext uri="{FF2B5EF4-FFF2-40B4-BE49-F238E27FC236}">
                    <a16:creationId xmlns:a16="http://schemas.microsoft.com/office/drawing/2014/main" id="{B39FA0FD-C7BF-0944-A9C2-76560B3C5716}"/>
                  </a:ext>
                </a:extLst>
              </p:cNvPr>
              <p:cNvGrpSpPr>
                <a:grpSpLocks/>
              </p:cNvGrpSpPr>
              <p:nvPr/>
            </p:nvGrpSpPr>
            <p:grpSpPr bwMode="auto">
              <a:xfrm>
                <a:off x="1456374" y="2507397"/>
                <a:ext cx="355165" cy="419100"/>
                <a:chOff x="2944" y="2425"/>
                <a:chExt cx="227" cy="264"/>
              </a:xfrm>
            </p:grpSpPr>
            <p:sp>
              <p:nvSpPr>
                <p:cNvPr id="257" name="Rectangle 45">
                  <a:extLst>
                    <a:ext uri="{FF2B5EF4-FFF2-40B4-BE49-F238E27FC236}">
                      <a16:creationId xmlns:a16="http://schemas.microsoft.com/office/drawing/2014/main" id="{EC0865B6-5078-B846-B9A1-B22AF242AEC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58" name="Text Box 46">
                  <a:extLst>
                    <a:ext uri="{FF2B5EF4-FFF2-40B4-BE49-F238E27FC236}">
                      <a16:creationId xmlns:a16="http://schemas.microsoft.com/office/drawing/2014/main" id="{31AE0430-51CF-024F-9407-1E001488D4F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220" name="Group 219">
              <a:extLst>
                <a:ext uri="{FF2B5EF4-FFF2-40B4-BE49-F238E27FC236}">
                  <a16:creationId xmlns:a16="http://schemas.microsoft.com/office/drawing/2014/main" id="{117B399C-7375-8C45-B153-5E0DDE79A730}"/>
                </a:ext>
              </a:extLst>
            </p:cNvPr>
            <p:cNvGrpSpPr/>
            <p:nvPr/>
          </p:nvGrpSpPr>
          <p:grpSpPr>
            <a:xfrm>
              <a:off x="8197315" y="5805271"/>
              <a:ext cx="531821" cy="369069"/>
              <a:chOff x="1348328" y="2507397"/>
              <a:chExt cx="603916" cy="419100"/>
            </a:xfrm>
          </p:grpSpPr>
          <p:grpSp>
            <p:nvGrpSpPr>
              <p:cNvPr id="229" name="Group 228">
                <a:extLst>
                  <a:ext uri="{FF2B5EF4-FFF2-40B4-BE49-F238E27FC236}">
                    <a16:creationId xmlns:a16="http://schemas.microsoft.com/office/drawing/2014/main" id="{4F9AB240-E175-A144-B6B9-2DEE10D553A2}"/>
                  </a:ext>
                </a:extLst>
              </p:cNvPr>
              <p:cNvGrpSpPr/>
              <p:nvPr/>
            </p:nvGrpSpPr>
            <p:grpSpPr>
              <a:xfrm>
                <a:off x="1348328" y="2555748"/>
                <a:ext cx="603916" cy="308999"/>
                <a:chOff x="5278570" y="2983486"/>
                <a:chExt cx="501650" cy="233363"/>
              </a:xfrm>
            </p:grpSpPr>
            <p:sp>
              <p:nvSpPr>
                <p:cNvPr id="238" name="Oval 5">
                  <a:extLst>
                    <a:ext uri="{FF2B5EF4-FFF2-40B4-BE49-F238E27FC236}">
                      <a16:creationId xmlns:a16="http://schemas.microsoft.com/office/drawing/2014/main" id="{3D7BCFC3-725F-A347-AF8E-208167808DC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43" name="Line 6">
                  <a:extLst>
                    <a:ext uri="{FF2B5EF4-FFF2-40B4-BE49-F238E27FC236}">
                      <a16:creationId xmlns:a16="http://schemas.microsoft.com/office/drawing/2014/main" id="{A8673090-13F7-EA46-8F52-E998712551F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44" name="Line 7">
                  <a:extLst>
                    <a:ext uri="{FF2B5EF4-FFF2-40B4-BE49-F238E27FC236}">
                      <a16:creationId xmlns:a16="http://schemas.microsoft.com/office/drawing/2014/main" id="{CA6A678E-A8F1-4341-B140-0132895B81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45" name="Rectangle 8">
                  <a:extLst>
                    <a:ext uri="{FF2B5EF4-FFF2-40B4-BE49-F238E27FC236}">
                      <a16:creationId xmlns:a16="http://schemas.microsoft.com/office/drawing/2014/main" id="{CB19ADB2-AFF7-0341-97AC-822A6436561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46" name="Oval 9">
                  <a:extLst>
                    <a:ext uri="{FF2B5EF4-FFF2-40B4-BE49-F238E27FC236}">
                      <a16:creationId xmlns:a16="http://schemas.microsoft.com/office/drawing/2014/main" id="{129E19EF-F5CE-AE49-A59D-F98EA32F73F1}"/>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31" name="Group 44">
                <a:extLst>
                  <a:ext uri="{FF2B5EF4-FFF2-40B4-BE49-F238E27FC236}">
                    <a16:creationId xmlns:a16="http://schemas.microsoft.com/office/drawing/2014/main" id="{33BC9284-082A-C547-80A2-CE5B33183945}"/>
                  </a:ext>
                </a:extLst>
              </p:cNvPr>
              <p:cNvGrpSpPr>
                <a:grpSpLocks/>
              </p:cNvGrpSpPr>
              <p:nvPr/>
            </p:nvGrpSpPr>
            <p:grpSpPr bwMode="auto">
              <a:xfrm>
                <a:off x="1500196" y="2507397"/>
                <a:ext cx="267548" cy="419100"/>
                <a:chOff x="2972" y="2425"/>
                <a:chExt cx="171" cy="264"/>
              </a:xfrm>
            </p:grpSpPr>
            <p:sp>
              <p:nvSpPr>
                <p:cNvPr id="236" name="Rectangle 45">
                  <a:extLst>
                    <a:ext uri="{FF2B5EF4-FFF2-40B4-BE49-F238E27FC236}">
                      <a16:creationId xmlns:a16="http://schemas.microsoft.com/office/drawing/2014/main" id="{4193C60B-BF7A-AF45-81F6-7D7BE48E1BA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37" name="Text Box 46">
                  <a:extLst>
                    <a:ext uri="{FF2B5EF4-FFF2-40B4-BE49-F238E27FC236}">
                      <a16:creationId xmlns:a16="http://schemas.microsoft.com/office/drawing/2014/main" id="{5F25081C-318C-894D-91F5-40D4DDBE2A94}"/>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358" name="TextBox 357">
            <a:extLst>
              <a:ext uri="{FF2B5EF4-FFF2-40B4-BE49-F238E27FC236}">
                <a16:creationId xmlns:a16="http://schemas.microsoft.com/office/drawing/2014/main" id="{39063DBA-AA21-B940-821D-0DA362ACBFD2}"/>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359" name="TextBox 358">
            <a:extLst>
              <a:ext uri="{FF2B5EF4-FFF2-40B4-BE49-F238E27FC236}">
                <a16:creationId xmlns:a16="http://schemas.microsoft.com/office/drawing/2014/main" id="{B6173759-393F-EF41-BF23-9FF3A6808F43}"/>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360" name="TextBox 359">
            <a:extLst>
              <a:ext uri="{FF2B5EF4-FFF2-40B4-BE49-F238E27FC236}">
                <a16:creationId xmlns:a16="http://schemas.microsoft.com/office/drawing/2014/main" id="{A2333B97-3D20-6A48-A225-3ECD3BF3BDCC}"/>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361" name="TextBox 360">
            <a:extLst>
              <a:ext uri="{FF2B5EF4-FFF2-40B4-BE49-F238E27FC236}">
                <a16:creationId xmlns:a16="http://schemas.microsoft.com/office/drawing/2014/main" id="{FDA085E2-BBF4-1640-BBF7-8F6C365AFCD6}"/>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362" name="TextBox 361">
            <a:extLst>
              <a:ext uri="{FF2B5EF4-FFF2-40B4-BE49-F238E27FC236}">
                <a16:creationId xmlns:a16="http://schemas.microsoft.com/office/drawing/2014/main" id="{703C7E13-37F5-E945-B01D-1D28211C2728}"/>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363" name="TextBox 362">
            <a:extLst>
              <a:ext uri="{FF2B5EF4-FFF2-40B4-BE49-F238E27FC236}">
                <a16:creationId xmlns:a16="http://schemas.microsoft.com/office/drawing/2014/main" id="{0ABBA765-6FBF-C847-827C-2F752F3AAE10}"/>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364" name="TextBox 363">
            <a:extLst>
              <a:ext uri="{FF2B5EF4-FFF2-40B4-BE49-F238E27FC236}">
                <a16:creationId xmlns:a16="http://schemas.microsoft.com/office/drawing/2014/main" id="{EBDE6AFC-30C3-2441-8BF5-2620B9D87DE9}"/>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365" name="TextBox 364">
            <a:extLst>
              <a:ext uri="{FF2B5EF4-FFF2-40B4-BE49-F238E27FC236}">
                <a16:creationId xmlns:a16="http://schemas.microsoft.com/office/drawing/2014/main" id="{CDA0FD3D-74E3-A34A-B988-BFD2BFA0DE3D}"/>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366" name="TextBox 365">
            <a:extLst>
              <a:ext uri="{FF2B5EF4-FFF2-40B4-BE49-F238E27FC236}">
                <a16:creationId xmlns:a16="http://schemas.microsoft.com/office/drawing/2014/main" id="{43EDD2E3-77B9-4648-A935-D42AA319AD53}"/>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367" name="TextBox 366">
            <a:extLst>
              <a:ext uri="{FF2B5EF4-FFF2-40B4-BE49-F238E27FC236}">
                <a16:creationId xmlns:a16="http://schemas.microsoft.com/office/drawing/2014/main" id="{CDBF86C5-B9CE-4442-83BB-63B8F31E7B05}"/>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368" name="TextBox 367">
            <a:extLst>
              <a:ext uri="{FF2B5EF4-FFF2-40B4-BE49-F238E27FC236}">
                <a16:creationId xmlns:a16="http://schemas.microsoft.com/office/drawing/2014/main" id="{A7F4D230-4375-284D-93AF-56B3816424D0}"/>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369" name="Right Arrow 368">
            <a:extLst>
              <a:ext uri="{FF2B5EF4-FFF2-40B4-BE49-F238E27FC236}">
                <a16:creationId xmlns:a16="http://schemas.microsoft.com/office/drawing/2014/main" id="{BA6E4B87-B0D2-584A-8275-944F9B27A998}"/>
              </a:ext>
            </a:extLst>
          </p:cNvPr>
          <p:cNvSpPr/>
          <p:nvPr/>
        </p:nvSpPr>
        <p:spPr>
          <a:xfrm rot="16200000" flipV="1">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0" name="Right Arrow 369">
            <a:extLst>
              <a:ext uri="{FF2B5EF4-FFF2-40B4-BE49-F238E27FC236}">
                <a16:creationId xmlns:a16="http://schemas.microsoft.com/office/drawing/2014/main" id="{25938079-A318-4141-A85D-C146526D6BA5}"/>
              </a:ext>
            </a:extLst>
          </p:cNvPr>
          <p:cNvSpPr/>
          <p:nvPr/>
        </p:nvSpPr>
        <p:spPr>
          <a:xfrm rot="5400000" flipV="1">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1" name="Right Arrow 370">
            <a:extLst>
              <a:ext uri="{FF2B5EF4-FFF2-40B4-BE49-F238E27FC236}">
                <a16:creationId xmlns:a16="http://schemas.microsoft.com/office/drawing/2014/main" id="{92A84268-7A7F-1141-806B-F9720C1E86BA}"/>
              </a:ext>
            </a:extLst>
          </p:cNvPr>
          <p:cNvSpPr/>
          <p:nvPr/>
        </p:nvSpPr>
        <p:spPr>
          <a:xfrm rot="16200000" flipV="1">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2" name="Right Arrow 371">
            <a:extLst>
              <a:ext uri="{FF2B5EF4-FFF2-40B4-BE49-F238E27FC236}">
                <a16:creationId xmlns:a16="http://schemas.microsoft.com/office/drawing/2014/main" id="{5DCF7BEA-490D-7745-BC10-20C900207F60}"/>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3" name="Right Arrow 372">
            <a:extLst>
              <a:ext uri="{FF2B5EF4-FFF2-40B4-BE49-F238E27FC236}">
                <a16:creationId xmlns:a16="http://schemas.microsoft.com/office/drawing/2014/main" id="{093DBBC2-F1D6-0B4E-A923-77744DD15C01}"/>
              </a:ext>
            </a:extLst>
          </p:cNvPr>
          <p:cNvSpPr/>
          <p:nvPr/>
        </p:nvSpPr>
        <p:spPr>
          <a:xfrm rot="16200000" flipV="1">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4" name="Right Arrow 373">
            <a:extLst>
              <a:ext uri="{FF2B5EF4-FFF2-40B4-BE49-F238E27FC236}">
                <a16:creationId xmlns:a16="http://schemas.microsoft.com/office/drawing/2014/main" id="{0F571382-3562-BB46-B385-29691871F5CE}"/>
              </a:ext>
            </a:extLst>
          </p:cNvPr>
          <p:cNvSpPr/>
          <p:nvPr/>
        </p:nvSpPr>
        <p:spPr>
          <a:xfrm rot="5400000" flipV="1">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5" name="Right Arrow 374">
            <a:extLst>
              <a:ext uri="{FF2B5EF4-FFF2-40B4-BE49-F238E27FC236}">
                <a16:creationId xmlns:a16="http://schemas.microsoft.com/office/drawing/2014/main" id="{876E6BAE-D896-7444-8D9A-FECC0D13BE6B}"/>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6" name="Right Arrow 375">
            <a:extLst>
              <a:ext uri="{FF2B5EF4-FFF2-40B4-BE49-F238E27FC236}">
                <a16:creationId xmlns:a16="http://schemas.microsoft.com/office/drawing/2014/main" id="{8005B430-D654-C548-A728-7231A3350154}"/>
              </a:ext>
            </a:extLst>
          </p:cNvPr>
          <p:cNvSpPr/>
          <p:nvPr/>
        </p:nvSpPr>
        <p:spPr>
          <a:xfrm rot="5400000" flipV="1">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7" name="Right Arrow 376">
            <a:extLst>
              <a:ext uri="{FF2B5EF4-FFF2-40B4-BE49-F238E27FC236}">
                <a16:creationId xmlns:a16="http://schemas.microsoft.com/office/drawing/2014/main" id="{07B2F373-535A-9748-8358-0787A35EDF9D}"/>
              </a:ext>
            </a:extLst>
          </p:cNvPr>
          <p:cNvSpPr/>
          <p:nvPr/>
        </p:nvSpPr>
        <p:spPr>
          <a:xfrm rot="16200000" flipV="1">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8" name="Right Arrow 377">
            <a:extLst>
              <a:ext uri="{FF2B5EF4-FFF2-40B4-BE49-F238E27FC236}">
                <a16:creationId xmlns:a16="http://schemas.microsoft.com/office/drawing/2014/main" id="{52E07261-BA5A-9643-AF15-22A0B236F904}"/>
              </a:ext>
            </a:extLst>
          </p:cNvPr>
          <p:cNvSpPr/>
          <p:nvPr/>
        </p:nvSpPr>
        <p:spPr>
          <a:xfrm rot="5400000" flipV="1">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9" name="Right Arrow 378">
            <a:extLst>
              <a:ext uri="{FF2B5EF4-FFF2-40B4-BE49-F238E27FC236}">
                <a16:creationId xmlns:a16="http://schemas.microsoft.com/office/drawing/2014/main" id="{2402EEBC-A1F3-1446-AA76-F9332E751545}"/>
              </a:ext>
            </a:extLst>
          </p:cNvPr>
          <p:cNvSpPr/>
          <p:nvPr/>
        </p:nvSpPr>
        <p:spPr>
          <a:xfrm rot="10800000" flipH="1">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80" name="Right Arrow 379">
            <a:extLst>
              <a:ext uri="{FF2B5EF4-FFF2-40B4-BE49-F238E27FC236}">
                <a16:creationId xmlns:a16="http://schemas.microsoft.com/office/drawing/2014/main" id="{C1018A25-D7FD-F941-918C-CEFF20CD7430}"/>
              </a:ext>
            </a:extLst>
          </p:cNvPr>
          <p:cNvSpPr/>
          <p:nvPr/>
        </p:nvSpPr>
        <p:spPr>
          <a:xfrm flipH="1">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81" name="Group 380">
            <a:extLst>
              <a:ext uri="{FF2B5EF4-FFF2-40B4-BE49-F238E27FC236}">
                <a16:creationId xmlns:a16="http://schemas.microsoft.com/office/drawing/2014/main" id="{2C52FCE5-76B4-7B4F-BED3-D2285766D778}"/>
              </a:ext>
            </a:extLst>
          </p:cNvPr>
          <p:cNvGrpSpPr/>
          <p:nvPr/>
        </p:nvGrpSpPr>
        <p:grpSpPr>
          <a:xfrm>
            <a:off x="4336458" y="3833790"/>
            <a:ext cx="4395351" cy="404576"/>
            <a:chOff x="4333785" y="5772213"/>
            <a:chExt cx="4395351" cy="404576"/>
          </a:xfrm>
        </p:grpSpPr>
        <p:grpSp>
          <p:nvGrpSpPr>
            <p:cNvPr id="382" name="Group 381">
              <a:extLst>
                <a:ext uri="{FF2B5EF4-FFF2-40B4-BE49-F238E27FC236}">
                  <a16:creationId xmlns:a16="http://schemas.microsoft.com/office/drawing/2014/main" id="{E5B74157-FBC4-9B41-9413-6A9523B4475D}"/>
                </a:ext>
              </a:extLst>
            </p:cNvPr>
            <p:cNvGrpSpPr/>
            <p:nvPr/>
          </p:nvGrpSpPr>
          <p:grpSpPr>
            <a:xfrm>
              <a:off x="4333785" y="5772213"/>
              <a:ext cx="531821" cy="369069"/>
              <a:chOff x="1348328" y="2475647"/>
              <a:chExt cx="603916" cy="419100"/>
            </a:xfrm>
          </p:grpSpPr>
          <p:grpSp>
            <p:nvGrpSpPr>
              <p:cNvPr id="403" name="Group 402">
                <a:extLst>
                  <a:ext uri="{FF2B5EF4-FFF2-40B4-BE49-F238E27FC236}">
                    <a16:creationId xmlns:a16="http://schemas.microsoft.com/office/drawing/2014/main" id="{BE1F897A-859B-D840-8C66-A7F185CFDEE9}"/>
                  </a:ext>
                </a:extLst>
              </p:cNvPr>
              <p:cNvGrpSpPr/>
              <p:nvPr/>
            </p:nvGrpSpPr>
            <p:grpSpPr>
              <a:xfrm>
                <a:off x="1348328" y="2555748"/>
                <a:ext cx="603916" cy="308999"/>
                <a:chOff x="5278570" y="2983486"/>
                <a:chExt cx="501650" cy="233363"/>
              </a:xfrm>
            </p:grpSpPr>
            <p:sp>
              <p:nvSpPr>
                <p:cNvPr id="407" name="Oval 5">
                  <a:extLst>
                    <a:ext uri="{FF2B5EF4-FFF2-40B4-BE49-F238E27FC236}">
                      <a16:creationId xmlns:a16="http://schemas.microsoft.com/office/drawing/2014/main" id="{44AFD1B0-34FB-A345-9A4A-558E115EE38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8" name="Line 6">
                  <a:extLst>
                    <a:ext uri="{FF2B5EF4-FFF2-40B4-BE49-F238E27FC236}">
                      <a16:creationId xmlns:a16="http://schemas.microsoft.com/office/drawing/2014/main" id="{92EE8670-6890-3E48-81E2-F2529036970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9" name="Line 7">
                  <a:extLst>
                    <a:ext uri="{FF2B5EF4-FFF2-40B4-BE49-F238E27FC236}">
                      <a16:creationId xmlns:a16="http://schemas.microsoft.com/office/drawing/2014/main" id="{B5C3C8FB-696B-B740-A582-1BC475E8AD2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10" name="Rectangle 8">
                  <a:extLst>
                    <a:ext uri="{FF2B5EF4-FFF2-40B4-BE49-F238E27FC236}">
                      <a16:creationId xmlns:a16="http://schemas.microsoft.com/office/drawing/2014/main" id="{4B0E4D59-1BC8-C542-BCF2-181FC4E1DD8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11" name="Oval 9">
                  <a:extLst>
                    <a:ext uri="{FF2B5EF4-FFF2-40B4-BE49-F238E27FC236}">
                      <a16:creationId xmlns:a16="http://schemas.microsoft.com/office/drawing/2014/main" id="{60D48562-6FC2-394A-9762-DB852AC205C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04" name="Group 44">
                <a:extLst>
                  <a:ext uri="{FF2B5EF4-FFF2-40B4-BE49-F238E27FC236}">
                    <a16:creationId xmlns:a16="http://schemas.microsoft.com/office/drawing/2014/main" id="{74519609-955F-A840-86C0-6A339E537DAF}"/>
                  </a:ext>
                </a:extLst>
              </p:cNvPr>
              <p:cNvGrpSpPr>
                <a:grpSpLocks/>
              </p:cNvGrpSpPr>
              <p:nvPr/>
            </p:nvGrpSpPr>
            <p:grpSpPr bwMode="auto">
              <a:xfrm>
                <a:off x="1456374" y="2475647"/>
                <a:ext cx="355165" cy="419100"/>
                <a:chOff x="2944" y="2405"/>
                <a:chExt cx="227" cy="264"/>
              </a:xfrm>
            </p:grpSpPr>
            <p:sp>
              <p:nvSpPr>
                <p:cNvPr id="405" name="Rectangle 45">
                  <a:extLst>
                    <a:ext uri="{FF2B5EF4-FFF2-40B4-BE49-F238E27FC236}">
                      <a16:creationId xmlns:a16="http://schemas.microsoft.com/office/drawing/2014/main" id="{3E79CB50-C86A-B743-885D-FCF36192F37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6" name="Text Box 46">
                  <a:extLst>
                    <a:ext uri="{FF2B5EF4-FFF2-40B4-BE49-F238E27FC236}">
                      <a16:creationId xmlns:a16="http://schemas.microsoft.com/office/drawing/2014/main" id="{AD8E9D3F-52FF-4D4D-A215-818DE194277F}"/>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383" name="Group 382">
              <a:extLst>
                <a:ext uri="{FF2B5EF4-FFF2-40B4-BE49-F238E27FC236}">
                  <a16:creationId xmlns:a16="http://schemas.microsoft.com/office/drawing/2014/main" id="{20A7C2A6-7DD0-0445-AF7C-F9E28B75F235}"/>
                </a:ext>
              </a:extLst>
            </p:cNvPr>
            <p:cNvGrpSpPr/>
            <p:nvPr/>
          </p:nvGrpSpPr>
          <p:grpSpPr>
            <a:xfrm>
              <a:off x="6263949" y="5807720"/>
              <a:ext cx="531821" cy="369069"/>
              <a:chOff x="1348328" y="2507397"/>
              <a:chExt cx="603916" cy="419100"/>
            </a:xfrm>
          </p:grpSpPr>
          <p:grpSp>
            <p:nvGrpSpPr>
              <p:cNvPr id="394" name="Group 393">
                <a:extLst>
                  <a:ext uri="{FF2B5EF4-FFF2-40B4-BE49-F238E27FC236}">
                    <a16:creationId xmlns:a16="http://schemas.microsoft.com/office/drawing/2014/main" id="{5E0509C9-19D8-1641-9666-B248C5EAA158}"/>
                  </a:ext>
                </a:extLst>
              </p:cNvPr>
              <p:cNvGrpSpPr/>
              <p:nvPr/>
            </p:nvGrpSpPr>
            <p:grpSpPr>
              <a:xfrm>
                <a:off x="1348328" y="2555748"/>
                <a:ext cx="603916" cy="308999"/>
                <a:chOff x="5278570" y="2983486"/>
                <a:chExt cx="501650" cy="233363"/>
              </a:xfrm>
            </p:grpSpPr>
            <p:sp>
              <p:nvSpPr>
                <p:cNvPr id="398" name="Oval 5">
                  <a:extLst>
                    <a:ext uri="{FF2B5EF4-FFF2-40B4-BE49-F238E27FC236}">
                      <a16:creationId xmlns:a16="http://schemas.microsoft.com/office/drawing/2014/main" id="{F800737F-8972-794E-8C64-2C8CDAC4836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9" name="Line 6">
                  <a:extLst>
                    <a:ext uri="{FF2B5EF4-FFF2-40B4-BE49-F238E27FC236}">
                      <a16:creationId xmlns:a16="http://schemas.microsoft.com/office/drawing/2014/main" id="{0099617B-FF31-3340-810C-247A1ED3196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0" name="Line 7">
                  <a:extLst>
                    <a:ext uri="{FF2B5EF4-FFF2-40B4-BE49-F238E27FC236}">
                      <a16:creationId xmlns:a16="http://schemas.microsoft.com/office/drawing/2014/main" id="{AEB4753D-35A0-4B4F-AAE8-4B80DF356C1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1" name="Rectangle 8">
                  <a:extLst>
                    <a:ext uri="{FF2B5EF4-FFF2-40B4-BE49-F238E27FC236}">
                      <a16:creationId xmlns:a16="http://schemas.microsoft.com/office/drawing/2014/main" id="{4BEFDEDD-8E64-8543-BC9A-2BCF6DAD652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02" name="Oval 9">
                  <a:extLst>
                    <a:ext uri="{FF2B5EF4-FFF2-40B4-BE49-F238E27FC236}">
                      <a16:creationId xmlns:a16="http://schemas.microsoft.com/office/drawing/2014/main" id="{D2A5D1FC-C342-FF42-8178-52927BF00B9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95" name="Group 44">
                <a:extLst>
                  <a:ext uri="{FF2B5EF4-FFF2-40B4-BE49-F238E27FC236}">
                    <a16:creationId xmlns:a16="http://schemas.microsoft.com/office/drawing/2014/main" id="{FF45955A-4D2C-0E44-91D6-2BEA7A78D82A}"/>
                  </a:ext>
                </a:extLst>
              </p:cNvPr>
              <p:cNvGrpSpPr>
                <a:grpSpLocks/>
              </p:cNvGrpSpPr>
              <p:nvPr/>
            </p:nvGrpSpPr>
            <p:grpSpPr bwMode="auto">
              <a:xfrm>
                <a:off x="1456374" y="2507397"/>
                <a:ext cx="355165" cy="419100"/>
                <a:chOff x="2944" y="2425"/>
                <a:chExt cx="227" cy="264"/>
              </a:xfrm>
            </p:grpSpPr>
            <p:sp>
              <p:nvSpPr>
                <p:cNvPr id="396" name="Rectangle 45">
                  <a:extLst>
                    <a:ext uri="{FF2B5EF4-FFF2-40B4-BE49-F238E27FC236}">
                      <a16:creationId xmlns:a16="http://schemas.microsoft.com/office/drawing/2014/main" id="{77268971-CD1F-DD41-BB7D-8BAB708D2CA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7" name="Text Box 46">
                  <a:extLst>
                    <a:ext uri="{FF2B5EF4-FFF2-40B4-BE49-F238E27FC236}">
                      <a16:creationId xmlns:a16="http://schemas.microsoft.com/office/drawing/2014/main" id="{FD2F45D0-872F-6A45-A595-CB348ADD2161}"/>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384" name="Group 383">
              <a:extLst>
                <a:ext uri="{FF2B5EF4-FFF2-40B4-BE49-F238E27FC236}">
                  <a16:creationId xmlns:a16="http://schemas.microsoft.com/office/drawing/2014/main" id="{7CB50BA4-E6E4-A54D-B90C-A0EA7DDA6E81}"/>
                </a:ext>
              </a:extLst>
            </p:cNvPr>
            <p:cNvGrpSpPr/>
            <p:nvPr/>
          </p:nvGrpSpPr>
          <p:grpSpPr>
            <a:xfrm>
              <a:off x="8197315" y="5805271"/>
              <a:ext cx="531821" cy="369069"/>
              <a:chOff x="1348328" y="2507397"/>
              <a:chExt cx="603916" cy="419100"/>
            </a:xfrm>
          </p:grpSpPr>
          <p:grpSp>
            <p:nvGrpSpPr>
              <p:cNvPr id="385" name="Group 384">
                <a:extLst>
                  <a:ext uri="{FF2B5EF4-FFF2-40B4-BE49-F238E27FC236}">
                    <a16:creationId xmlns:a16="http://schemas.microsoft.com/office/drawing/2014/main" id="{F0C7D337-D5DC-B146-B6A0-5EAD66350917}"/>
                  </a:ext>
                </a:extLst>
              </p:cNvPr>
              <p:cNvGrpSpPr/>
              <p:nvPr/>
            </p:nvGrpSpPr>
            <p:grpSpPr>
              <a:xfrm>
                <a:off x="1348328" y="2555748"/>
                <a:ext cx="603916" cy="308999"/>
                <a:chOff x="5278570" y="2983486"/>
                <a:chExt cx="501650" cy="233363"/>
              </a:xfrm>
            </p:grpSpPr>
            <p:sp>
              <p:nvSpPr>
                <p:cNvPr id="389" name="Oval 5">
                  <a:extLst>
                    <a:ext uri="{FF2B5EF4-FFF2-40B4-BE49-F238E27FC236}">
                      <a16:creationId xmlns:a16="http://schemas.microsoft.com/office/drawing/2014/main" id="{4E201FD3-CC75-2B4F-83C6-9C945200DA4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0" name="Line 6">
                  <a:extLst>
                    <a:ext uri="{FF2B5EF4-FFF2-40B4-BE49-F238E27FC236}">
                      <a16:creationId xmlns:a16="http://schemas.microsoft.com/office/drawing/2014/main" id="{A2B75435-5655-8E4D-A5FD-B37E0BE1D86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1" name="Line 7">
                  <a:extLst>
                    <a:ext uri="{FF2B5EF4-FFF2-40B4-BE49-F238E27FC236}">
                      <a16:creationId xmlns:a16="http://schemas.microsoft.com/office/drawing/2014/main" id="{84B12EFB-7BAE-C446-AAAD-5507060FFE9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2" name="Rectangle 8">
                  <a:extLst>
                    <a:ext uri="{FF2B5EF4-FFF2-40B4-BE49-F238E27FC236}">
                      <a16:creationId xmlns:a16="http://schemas.microsoft.com/office/drawing/2014/main" id="{3F9824EC-B6A0-EA4F-97FB-E73B52F6A00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93" name="Oval 9">
                  <a:extLst>
                    <a:ext uri="{FF2B5EF4-FFF2-40B4-BE49-F238E27FC236}">
                      <a16:creationId xmlns:a16="http://schemas.microsoft.com/office/drawing/2014/main" id="{9BB965F5-6CB9-8945-9FD8-314A82137BF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86" name="Group 44">
                <a:extLst>
                  <a:ext uri="{FF2B5EF4-FFF2-40B4-BE49-F238E27FC236}">
                    <a16:creationId xmlns:a16="http://schemas.microsoft.com/office/drawing/2014/main" id="{78550AC4-ABD8-394D-8ED0-A5E3144FAD6F}"/>
                  </a:ext>
                </a:extLst>
              </p:cNvPr>
              <p:cNvGrpSpPr>
                <a:grpSpLocks/>
              </p:cNvGrpSpPr>
              <p:nvPr/>
            </p:nvGrpSpPr>
            <p:grpSpPr bwMode="auto">
              <a:xfrm>
                <a:off x="1492372" y="2507397"/>
                <a:ext cx="283194" cy="419100"/>
                <a:chOff x="2967" y="2425"/>
                <a:chExt cx="181" cy="264"/>
              </a:xfrm>
            </p:grpSpPr>
            <p:sp>
              <p:nvSpPr>
                <p:cNvPr id="387" name="Rectangle 45">
                  <a:extLst>
                    <a:ext uri="{FF2B5EF4-FFF2-40B4-BE49-F238E27FC236}">
                      <a16:creationId xmlns:a16="http://schemas.microsoft.com/office/drawing/2014/main" id="{97E14D4A-6296-D445-802B-C680BA36145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88" name="Text Box 46">
                  <a:extLst>
                    <a:ext uri="{FF2B5EF4-FFF2-40B4-BE49-F238E27FC236}">
                      <a16:creationId xmlns:a16="http://schemas.microsoft.com/office/drawing/2014/main" id="{AAD06BA3-96DB-BD47-BF7B-5CEB82B1BB3B}"/>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12" name="Group 411">
            <a:extLst>
              <a:ext uri="{FF2B5EF4-FFF2-40B4-BE49-F238E27FC236}">
                <a16:creationId xmlns:a16="http://schemas.microsoft.com/office/drawing/2014/main" id="{D6141904-3F73-4D45-A9C2-BEB109B06772}"/>
              </a:ext>
            </a:extLst>
          </p:cNvPr>
          <p:cNvGrpSpPr/>
          <p:nvPr/>
        </p:nvGrpSpPr>
        <p:grpSpPr>
          <a:xfrm>
            <a:off x="4333785" y="1906063"/>
            <a:ext cx="4395351" cy="404576"/>
            <a:chOff x="4333785" y="5772213"/>
            <a:chExt cx="4395351" cy="404576"/>
          </a:xfrm>
        </p:grpSpPr>
        <p:grpSp>
          <p:nvGrpSpPr>
            <p:cNvPr id="413" name="Group 412">
              <a:extLst>
                <a:ext uri="{FF2B5EF4-FFF2-40B4-BE49-F238E27FC236}">
                  <a16:creationId xmlns:a16="http://schemas.microsoft.com/office/drawing/2014/main" id="{930A2AFF-1070-E64E-9D6A-1403FCE21009}"/>
                </a:ext>
              </a:extLst>
            </p:cNvPr>
            <p:cNvGrpSpPr/>
            <p:nvPr/>
          </p:nvGrpSpPr>
          <p:grpSpPr>
            <a:xfrm>
              <a:off x="4333785" y="5772213"/>
              <a:ext cx="531821" cy="369069"/>
              <a:chOff x="1348328" y="2475647"/>
              <a:chExt cx="603916" cy="419100"/>
            </a:xfrm>
          </p:grpSpPr>
          <p:grpSp>
            <p:nvGrpSpPr>
              <p:cNvPr id="434" name="Group 433">
                <a:extLst>
                  <a:ext uri="{FF2B5EF4-FFF2-40B4-BE49-F238E27FC236}">
                    <a16:creationId xmlns:a16="http://schemas.microsoft.com/office/drawing/2014/main" id="{24483B8D-6CBB-CD46-8745-5EBE21AF8697}"/>
                  </a:ext>
                </a:extLst>
              </p:cNvPr>
              <p:cNvGrpSpPr/>
              <p:nvPr/>
            </p:nvGrpSpPr>
            <p:grpSpPr>
              <a:xfrm>
                <a:off x="1348328" y="2555748"/>
                <a:ext cx="603916" cy="308999"/>
                <a:chOff x="5278570" y="2983486"/>
                <a:chExt cx="501650" cy="233363"/>
              </a:xfrm>
            </p:grpSpPr>
            <p:sp>
              <p:nvSpPr>
                <p:cNvPr id="438" name="Oval 5">
                  <a:extLst>
                    <a:ext uri="{FF2B5EF4-FFF2-40B4-BE49-F238E27FC236}">
                      <a16:creationId xmlns:a16="http://schemas.microsoft.com/office/drawing/2014/main" id="{6FDC2129-9A8F-5A45-8E76-775246AE325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9" name="Line 6">
                  <a:extLst>
                    <a:ext uri="{FF2B5EF4-FFF2-40B4-BE49-F238E27FC236}">
                      <a16:creationId xmlns:a16="http://schemas.microsoft.com/office/drawing/2014/main" id="{E05E39C5-0238-1446-A5B0-A3A1B984A50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40" name="Line 7">
                  <a:extLst>
                    <a:ext uri="{FF2B5EF4-FFF2-40B4-BE49-F238E27FC236}">
                      <a16:creationId xmlns:a16="http://schemas.microsoft.com/office/drawing/2014/main" id="{60B86382-D07D-7040-A2F7-505F52DA766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41" name="Rectangle 8">
                  <a:extLst>
                    <a:ext uri="{FF2B5EF4-FFF2-40B4-BE49-F238E27FC236}">
                      <a16:creationId xmlns:a16="http://schemas.microsoft.com/office/drawing/2014/main" id="{07BC4E59-E5C2-AC45-9E61-0CAEAC713A3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42" name="Oval 9">
                  <a:extLst>
                    <a:ext uri="{FF2B5EF4-FFF2-40B4-BE49-F238E27FC236}">
                      <a16:creationId xmlns:a16="http://schemas.microsoft.com/office/drawing/2014/main" id="{D15E7F48-03A4-C644-AB3D-9A07A4F2FF1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35" name="Group 44">
                <a:extLst>
                  <a:ext uri="{FF2B5EF4-FFF2-40B4-BE49-F238E27FC236}">
                    <a16:creationId xmlns:a16="http://schemas.microsoft.com/office/drawing/2014/main" id="{0F84DC72-6B88-3747-8140-C35EAAD006F6}"/>
                  </a:ext>
                </a:extLst>
              </p:cNvPr>
              <p:cNvGrpSpPr>
                <a:grpSpLocks/>
              </p:cNvGrpSpPr>
              <p:nvPr/>
            </p:nvGrpSpPr>
            <p:grpSpPr bwMode="auto">
              <a:xfrm>
                <a:off x="1456374" y="2475647"/>
                <a:ext cx="355165" cy="419100"/>
                <a:chOff x="2944" y="2405"/>
                <a:chExt cx="227" cy="264"/>
              </a:xfrm>
            </p:grpSpPr>
            <p:sp>
              <p:nvSpPr>
                <p:cNvPr id="436" name="Rectangle 45">
                  <a:extLst>
                    <a:ext uri="{FF2B5EF4-FFF2-40B4-BE49-F238E27FC236}">
                      <a16:creationId xmlns:a16="http://schemas.microsoft.com/office/drawing/2014/main" id="{F778FC4B-8EF8-414B-9536-D30CF641FFD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7" name="Text Box 46">
                  <a:extLst>
                    <a:ext uri="{FF2B5EF4-FFF2-40B4-BE49-F238E27FC236}">
                      <a16:creationId xmlns:a16="http://schemas.microsoft.com/office/drawing/2014/main" id="{912A3E35-D77A-6A40-B073-4EA003CCDF78}"/>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414" name="Group 413">
              <a:extLst>
                <a:ext uri="{FF2B5EF4-FFF2-40B4-BE49-F238E27FC236}">
                  <a16:creationId xmlns:a16="http://schemas.microsoft.com/office/drawing/2014/main" id="{5CC18FC4-2A37-CC43-84F4-2E4969E1E18C}"/>
                </a:ext>
              </a:extLst>
            </p:cNvPr>
            <p:cNvGrpSpPr/>
            <p:nvPr/>
          </p:nvGrpSpPr>
          <p:grpSpPr>
            <a:xfrm>
              <a:off x="6263949" y="5807720"/>
              <a:ext cx="531821" cy="369069"/>
              <a:chOff x="1348328" y="2507397"/>
              <a:chExt cx="603916" cy="419100"/>
            </a:xfrm>
          </p:grpSpPr>
          <p:grpSp>
            <p:nvGrpSpPr>
              <p:cNvPr id="425" name="Group 424">
                <a:extLst>
                  <a:ext uri="{FF2B5EF4-FFF2-40B4-BE49-F238E27FC236}">
                    <a16:creationId xmlns:a16="http://schemas.microsoft.com/office/drawing/2014/main" id="{571FFDA0-7CCD-6541-9470-2DAA896E540D}"/>
                  </a:ext>
                </a:extLst>
              </p:cNvPr>
              <p:cNvGrpSpPr/>
              <p:nvPr/>
            </p:nvGrpSpPr>
            <p:grpSpPr>
              <a:xfrm>
                <a:off x="1348328" y="2555748"/>
                <a:ext cx="603916" cy="308999"/>
                <a:chOff x="5278570" y="2983486"/>
                <a:chExt cx="501650" cy="233363"/>
              </a:xfrm>
            </p:grpSpPr>
            <p:sp>
              <p:nvSpPr>
                <p:cNvPr id="429" name="Oval 5">
                  <a:extLst>
                    <a:ext uri="{FF2B5EF4-FFF2-40B4-BE49-F238E27FC236}">
                      <a16:creationId xmlns:a16="http://schemas.microsoft.com/office/drawing/2014/main" id="{890F9138-93A9-9E4A-B33F-A3118CA22F9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0" name="Line 6">
                  <a:extLst>
                    <a:ext uri="{FF2B5EF4-FFF2-40B4-BE49-F238E27FC236}">
                      <a16:creationId xmlns:a16="http://schemas.microsoft.com/office/drawing/2014/main" id="{5898E9B3-AFBD-234D-8D95-0C6F496ABDB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1" name="Line 7">
                  <a:extLst>
                    <a:ext uri="{FF2B5EF4-FFF2-40B4-BE49-F238E27FC236}">
                      <a16:creationId xmlns:a16="http://schemas.microsoft.com/office/drawing/2014/main" id="{2FA91DB3-B0C8-CE4B-AD03-14386A8F0C9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2" name="Rectangle 8">
                  <a:extLst>
                    <a:ext uri="{FF2B5EF4-FFF2-40B4-BE49-F238E27FC236}">
                      <a16:creationId xmlns:a16="http://schemas.microsoft.com/office/drawing/2014/main" id="{75D7AA85-AA3C-9A41-8DDF-35ED561A0054}"/>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33" name="Oval 9">
                  <a:extLst>
                    <a:ext uri="{FF2B5EF4-FFF2-40B4-BE49-F238E27FC236}">
                      <a16:creationId xmlns:a16="http://schemas.microsoft.com/office/drawing/2014/main" id="{FFDDC1A2-DDBC-D54C-899E-4ED7244E742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26" name="Group 44">
                <a:extLst>
                  <a:ext uri="{FF2B5EF4-FFF2-40B4-BE49-F238E27FC236}">
                    <a16:creationId xmlns:a16="http://schemas.microsoft.com/office/drawing/2014/main" id="{8AC75149-FF4E-FF47-B9D1-2A503E9A2BB4}"/>
                  </a:ext>
                </a:extLst>
              </p:cNvPr>
              <p:cNvGrpSpPr>
                <a:grpSpLocks/>
              </p:cNvGrpSpPr>
              <p:nvPr/>
            </p:nvGrpSpPr>
            <p:grpSpPr bwMode="auto">
              <a:xfrm>
                <a:off x="1456374" y="2507397"/>
                <a:ext cx="355165" cy="419100"/>
                <a:chOff x="2944" y="2425"/>
                <a:chExt cx="227" cy="264"/>
              </a:xfrm>
            </p:grpSpPr>
            <p:sp>
              <p:nvSpPr>
                <p:cNvPr id="427" name="Rectangle 45">
                  <a:extLst>
                    <a:ext uri="{FF2B5EF4-FFF2-40B4-BE49-F238E27FC236}">
                      <a16:creationId xmlns:a16="http://schemas.microsoft.com/office/drawing/2014/main" id="{A1C72749-E916-C743-95AD-77A7093C54C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8" name="Text Box 46">
                  <a:extLst>
                    <a:ext uri="{FF2B5EF4-FFF2-40B4-BE49-F238E27FC236}">
                      <a16:creationId xmlns:a16="http://schemas.microsoft.com/office/drawing/2014/main" id="{61C11CB2-AF11-A34A-BC61-DAC0A8724F5D}"/>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415" name="Group 414">
              <a:extLst>
                <a:ext uri="{FF2B5EF4-FFF2-40B4-BE49-F238E27FC236}">
                  <a16:creationId xmlns:a16="http://schemas.microsoft.com/office/drawing/2014/main" id="{F92775E6-8E4A-DC47-8C00-D7CDF3BF3A89}"/>
                </a:ext>
              </a:extLst>
            </p:cNvPr>
            <p:cNvGrpSpPr/>
            <p:nvPr/>
          </p:nvGrpSpPr>
          <p:grpSpPr>
            <a:xfrm>
              <a:off x="8197315" y="5805271"/>
              <a:ext cx="531821" cy="369069"/>
              <a:chOff x="1348328" y="2507397"/>
              <a:chExt cx="603916" cy="419100"/>
            </a:xfrm>
          </p:grpSpPr>
          <p:grpSp>
            <p:nvGrpSpPr>
              <p:cNvPr id="416" name="Group 415">
                <a:extLst>
                  <a:ext uri="{FF2B5EF4-FFF2-40B4-BE49-F238E27FC236}">
                    <a16:creationId xmlns:a16="http://schemas.microsoft.com/office/drawing/2014/main" id="{DF065D3B-3767-8B4A-9038-653B9F8AEE7B}"/>
                  </a:ext>
                </a:extLst>
              </p:cNvPr>
              <p:cNvGrpSpPr/>
              <p:nvPr/>
            </p:nvGrpSpPr>
            <p:grpSpPr>
              <a:xfrm>
                <a:off x="1348328" y="2555748"/>
                <a:ext cx="603916" cy="308999"/>
                <a:chOff x="5278570" y="2983486"/>
                <a:chExt cx="501650" cy="233363"/>
              </a:xfrm>
            </p:grpSpPr>
            <p:sp>
              <p:nvSpPr>
                <p:cNvPr id="420" name="Oval 5">
                  <a:extLst>
                    <a:ext uri="{FF2B5EF4-FFF2-40B4-BE49-F238E27FC236}">
                      <a16:creationId xmlns:a16="http://schemas.microsoft.com/office/drawing/2014/main" id="{D0A3835C-514D-5140-9584-0164B8BAB86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1" name="Line 6">
                  <a:extLst>
                    <a:ext uri="{FF2B5EF4-FFF2-40B4-BE49-F238E27FC236}">
                      <a16:creationId xmlns:a16="http://schemas.microsoft.com/office/drawing/2014/main" id="{6401BEF0-9CAC-7843-8992-54C5933DC35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2" name="Line 7">
                  <a:extLst>
                    <a:ext uri="{FF2B5EF4-FFF2-40B4-BE49-F238E27FC236}">
                      <a16:creationId xmlns:a16="http://schemas.microsoft.com/office/drawing/2014/main" id="{081C22D9-FA0D-3545-860C-4BCDAC6A950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3" name="Rectangle 8">
                  <a:extLst>
                    <a:ext uri="{FF2B5EF4-FFF2-40B4-BE49-F238E27FC236}">
                      <a16:creationId xmlns:a16="http://schemas.microsoft.com/office/drawing/2014/main" id="{A27FBD24-DB32-FF46-A024-AA93825D4A3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24" name="Oval 9">
                  <a:extLst>
                    <a:ext uri="{FF2B5EF4-FFF2-40B4-BE49-F238E27FC236}">
                      <a16:creationId xmlns:a16="http://schemas.microsoft.com/office/drawing/2014/main" id="{C5D9CABA-76B6-FD40-A227-AF591EA2E46D}"/>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17" name="Group 44">
                <a:extLst>
                  <a:ext uri="{FF2B5EF4-FFF2-40B4-BE49-F238E27FC236}">
                    <a16:creationId xmlns:a16="http://schemas.microsoft.com/office/drawing/2014/main" id="{B927058A-3D5D-DD42-8DDB-77B48BB33DA3}"/>
                  </a:ext>
                </a:extLst>
              </p:cNvPr>
              <p:cNvGrpSpPr>
                <a:grpSpLocks/>
              </p:cNvGrpSpPr>
              <p:nvPr/>
            </p:nvGrpSpPr>
            <p:grpSpPr bwMode="auto">
              <a:xfrm>
                <a:off x="1464202" y="2507397"/>
                <a:ext cx="341084" cy="419100"/>
                <a:chOff x="2949" y="2425"/>
                <a:chExt cx="218" cy="264"/>
              </a:xfrm>
            </p:grpSpPr>
            <p:sp>
              <p:nvSpPr>
                <p:cNvPr id="418" name="Rectangle 45">
                  <a:extLst>
                    <a:ext uri="{FF2B5EF4-FFF2-40B4-BE49-F238E27FC236}">
                      <a16:creationId xmlns:a16="http://schemas.microsoft.com/office/drawing/2014/main" id="{3F62028C-EF22-0244-93E4-6925CE49FE3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19" name="Text Box 46">
                  <a:extLst>
                    <a:ext uri="{FF2B5EF4-FFF2-40B4-BE49-F238E27FC236}">
                      <a16:creationId xmlns:a16="http://schemas.microsoft.com/office/drawing/2014/main" id="{07E837AC-92AC-014D-85FB-20B861230354}"/>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443" name="Right Arrow 442">
            <a:extLst>
              <a:ext uri="{FF2B5EF4-FFF2-40B4-BE49-F238E27FC236}">
                <a16:creationId xmlns:a16="http://schemas.microsoft.com/office/drawing/2014/main" id="{08994EEC-226A-DA44-9536-FEE4129AED34}"/>
              </a:ext>
            </a:extLst>
          </p:cNvPr>
          <p:cNvSpPr/>
          <p:nvPr/>
        </p:nvSpPr>
        <p:spPr>
          <a:xfrm rot="10800000" flipH="1">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4" name="Right Arrow 443">
            <a:extLst>
              <a:ext uri="{FF2B5EF4-FFF2-40B4-BE49-F238E27FC236}">
                <a16:creationId xmlns:a16="http://schemas.microsoft.com/office/drawing/2014/main" id="{A48E270D-862C-1C45-BEF7-EC00D39823A7}"/>
              </a:ext>
            </a:extLst>
          </p:cNvPr>
          <p:cNvSpPr/>
          <p:nvPr/>
        </p:nvSpPr>
        <p:spPr>
          <a:xfrm flipH="1">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5" name="Right Arrow 444">
            <a:extLst>
              <a:ext uri="{FF2B5EF4-FFF2-40B4-BE49-F238E27FC236}">
                <a16:creationId xmlns:a16="http://schemas.microsoft.com/office/drawing/2014/main" id="{BC4763BF-FECA-554B-AFF7-E2BC3FABA73B}"/>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6" name="Right Arrow 445">
            <a:extLst>
              <a:ext uri="{FF2B5EF4-FFF2-40B4-BE49-F238E27FC236}">
                <a16:creationId xmlns:a16="http://schemas.microsoft.com/office/drawing/2014/main" id="{B6066F19-55AA-384C-BDDF-80DC7824160A}"/>
              </a:ext>
            </a:extLst>
          </p:cNvPr>
          <p:cNvSpPr/>
          <p:nvPr/>
        </p:nvSpPr>
        <p:spPr>
          <a:xfrm flipH="1">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7" name="Right Arrow 446">
            <a:extLst>
              <a:ext uri="{FF2B5EF4-FFF2-40B4-BE49-F238E27FC236}">
                <a16:creationId xmlns:a16="http://schemas.microsoft.com/office/drawing/2014/main" id="{CD8CACDD-8F79-BE47-96D9-8C52DBCA67F7}"/>
              </a:ext>
            </a:extLst>
          </p:cNvPr>
          <p:cNvSpPr/>
          <p:nvPr/>
        </p:nvSpPr>
        <p:spPr>
          <a:xfrm>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8" name="Right Arrow 447">
            <a:extLst>
              <a:ext uri="{FF2B5EF4-FFF2-40B4-BE49-F238E27FC236}">
                <a16:creationId xmlns:a16="http://schemas.microsoft.com/office/drawing/2014/main" id="{0E6CECC5-E326-E14B-A49E-FA2AB4DFBA5F}"/>
              </a:ext>
            </a:extLst>
          </p:cNvPr>
          <p:cNvSpPr/>
          <p:nvPr/>
        </p:nvSpPr>
        <p:spPr>
          <a:xfrm rot="10800000">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9" name="Right Arrow 448">
            <a:extLst>
              <a:ext uri="{FF2B5EF4-FFF2-40B4-BE49-F238E27FC236}">
                <a16:creationId xmlns:a16="http://schemas.microsoft.com/office/drawing/2014/main" id="{80466F61-87C0-9E4D-B619-90D68FA0F69E}"/>
              </a:ext>
            </a:extLst>
          </p:cNvPr>
          <p:cNvSpPr/>
          <p:nvPr/>
        </p:nvSpPr>
        <p:spPr>
          <a:xfrm rot="10800000" flipH="1">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50" name="Right Arrow 449">
            <a:extLst>
              <a:ext uri="{FF2B5EF4-FFF2-40B4-BE49-F238E27FC236}">
                <a16:creationId xmlns:a16="http://schemas.microsoft.com/office/drawing/2014/main" id="{841A6B82-10F1-7644-AE66-76DBC46F143D}"/>
              </a:ext>
            </a:extLst>
          </p:cNvPr>
          <p:cNvSpPr/>
          <p:nvPr/>
        </p:nvSpPr>
        <p:spPr>
          <a:xfrm rot="10800000">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51" name="Right Arrow 450">
            <a:extLst>
              <a:ext uri="{FF2B5EF4-FFF2-40B4-BE49-F238E27FC236}">
                <a16:creationId xmlns:a16="http://schemas.microsoft.com/office/drawing/2014/main" id="{7609754F-07F6-FA45-93A2-C8E47D2319FE}"/>
              </a:ext>
            </a:extLst>
          </p:cNvPr>
          <p:cNvSpPr/>
          <p:nvPr/>
        </p:nvSpPr>
        <p:spPr>
          <a:xfrm rot="10800000" flipH="1">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52" name="Right Arrow 451">
            <a:extLst>
              <a:ext uri="{FF2B5EF4-FFF2-40B4-BE49-F238E27FC236}">
                <a16:creationId xmlns:a16="http://schemas.microsoft.com/office/drawing/2014/main" id="{5C844F20-C817-CD45-8859-550B71FF0669}"/>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1961506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69"/>
                                        </p:tgtEl>
                                        <p:attrNameLst>
                                          <p:attrName>style.visibility</p:attrName>
                                        </p:attrNameLst>
                                      </p:cBhvr>
                                      <p:to>
                                        <p:strVal val="visible"/>
                                      </p:to>
                                    </p:set>
                                    <p:animEffect transition="in" filter="wipe(down)">
                                      <p:cBhvr>
                                        <p:cTn id="7" dur="1000"/>
                                        <p:tgtEl>
                                          <p:spTgt spid="369"/>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48"/>
                                        </p:tgtEl>
                                        <p:attrNameLst>
                                          <p:attrName>style.visibility</p:attrName>
                                        </p:attrNameLst>
                                      </p:cBhvr>
                                      <p:to>
                                        <p:strVal val="visible"/>
                                      </p:to>
                                    </p:set>
                                    <p:animEffect transition="in" filter="wipe(right)">
                                      <p:cBhvr>
                                        <p:cTn id="10" dur="1000"/>
                                        <p:tgtEl>
                                          <p:spTgt spid="448"/>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447"/>
                                        </p:tgtEl>
                                        <p:attrNameLst>
                                          <p:attrName>style.visibility</p:attrName>
                                        </p:attrNameLst>
                                      </p:cBhvr>
                                      <p:to>
                                        <p:strVal val="visible"/>
                                      </p:to>
                                    </p:set>
                                    <p:animEffect transition="in" filter="wipe(left)">
                                      <p:cBhvr>
                                        <p:cTn id="13" dur="1000"/>
                                        <p:tgtEl>
                                          <p:spTgt spid="447"/>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71"/>
                                        </p:tgtEl>
                                        <p:attrNameLst>
                                          <p:attrName>style.visibility</p:attrName>
                                        </p:attrNameLst>
                                      </p:cBhvr>
                                      <p:to>
                                        <p:strVal val="visible"/>
                                      </p:to>
                                    </p:set>
                                    <p:animEffect transition="in" filter="wipe(down)">
                                      <p:cBhvr>
                                        <p:cTn id="16" dur="1000"/>
                                        <p:tgtEl>
                                          <p:spTgt spid="371"/>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450"/>
                                        </p:tgtEl>
                                        <p:attrNameLst>
                                          <p:attrName>style.visibility</p:attrName>
                                        </p:attrNameLst>
                                      </p:cBhvr>
                                      <p:to>
                                        <p:strVal val="visible"/>
                                      </p:to>
                                    </p:set>
                                    <p:animEffect transition="in" filter="wipe(right)">
                                      <p:cBhvr>
                                        <p:cTn id="19" dur="1000"/>
                                        <p:tgtEl>
                                          <p:spTgt spid="450"/>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49"/>
                                        </p:tgtEl>
                                        <p:attrNameLst>
                                          <p:attrName>style.visibility</p:attrName>
                                        </p:attrNameLst>
                                      </p:cBhvr>
                                      <p:to>
                                        <p:strVal val="visible"/>
                                      </p:to>
                                    </p:set>
                                    <p:animEffect transition="in" filter="wipe(left)">
                                      <p:cBhvr>
                                        <p:cTn id="22" dur="1000"/>
                                        <p:tgtEl>
                                          <p:spTgt spid="449"/>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370"/>
                                        </p:tgtEl>
                                        <p:attrNameLst>
                                          <p:attrName>style.visibility</p:attrName>
                                        </p:attrNameLst>
                                      </p:cBhvr>
                                      <p:to>
                                        <p:strVal val="visible"/>
                                      </p:to>
                                    </p:set>
                                    <p:animEffect transition="in" filter="wipe(up)">
                                      <p:cBhvr>
                                        <p:cTn id="25" dur="1000"/>
                                        <p:tgtEl>
                                          <p:spTgt spid="370"/>
                                        </p:tgtEl>
                                      </p:cBhvr>
                                    </p:animEffect>
                                  </p:childTnLst>
                                </p:cTn>
                              </p:par>
                              <p:par>
                                <p:cTn id="26" presetID="22" presetClass="entr" presetSubtype="2" fill="hold" grpId="0" nodeType="withEffect">
                                  <p:stCondLst>
                                    <p:cond delay="0"/>
                                  </p:stCondLst>
                                  <p:childTnLst>
                                    <p:set>
                                      <p:cBhvr>
                                        <p:cTn id="27" dur="1" fill="hold">
                                          <p:stCondLst>
                                            <p:cond delay="0"/>
                                          </p:stCondLst>
                                        </p:cTn>
                                        <p:tgtEl>
                                          <p:spTgt spid="446"/>
                                        </p:tgtEl>
                                        <p:attrNameLst>
                                          <p:attrName>style.visibility</p:attrName>
                                        </p:attrNameLst>
                                      </p:cBhvr>
                                      <p:to>
                                        <p:strVal val="visible"/>
                                      </p:to>
                                    </p:set>
                                    <p:animEffect transition="in" filter="wipe(right)">
                                      <p:cBhvr>
                                        <p:cTn id="28" dur="1000"/>
                                        <p:tgtEl>
                                          <p:spTgt spid="446"/>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wipe(down)">
                                      <p:cBhvr>
                                        <p:cTn id="31" dur="1000"/>
                                        <p:tgtEl>
                                          <p:spTgt spid="373"/>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445"/>
                                        </p:tgtEl>
                                        <p:attrNameLst>
                                          <p:attrName>style.visibility</p:attrName>
                                        </p:attrNameLst>
                                      </p:cBhvr>
                                      <p:to>
                                        <p:strVal val="visible"/>
                                      </p:to>
                                    </p:set>
                                    <p:animEffect transition="in" filter="wipe(left)">
                                      <p:cBhvr>
                                        <p:cTn id="34" dur="1000"/>
                                        <p:tgtEl>
                                          <p:spTgt spid="445"/>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372"/>
                                        </p:tgtEl>
                                        <p:attrNameLst>
                                          <p:attrName>style.visibility</p:attrName>
                                        </p:attrNameLst>
                                      </p:cBhvr>
                                      <p:to>
                                        <p:strVal val="visible"/>
                                      </p:to>
                                    </p:set>
                                    <p:animEffect transition="in" filter="wipe(up)">
                                      <p:cBhvr>
                                        <p:cTn id="37" dur="1000"/>
                                        <p:tgtEl>
                                          <p:spTgt spid="372"/>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452"/>
                                        </p:tgtEl>
                                        <p:attrNameLst>
                                          <p:attrName>style.visibility</p:attrName>
                                        </p:attrNameLst>
                                      </p:cBhvr>
                                      <p:to>
                                        <p:strVal val="visible"/>
                                      </p:to>
                                    </p:set>
                                    <p:animEffect transition="in" filter="wipe(right)">
                                      <p:cBhvr>
                                        <p:cTn id="40" dur="1000"/>
                                        <p:tgtEl>
                                          <p:spTgt spid="452"/>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375"/>
                                        </p:tgtEl>
                                        <p:attrNameLst>
                                          <p:attrName>style.visibility</p:attrName>
                                        </p:attrNameLst>
                                      </p:cBhvr>
                                      <p:to>
                                        <p:strVal val="visible"/>
                                      </p:to>
                                    </p:set>
                                    <p:animEffect transition="in" filter="wipe(down)">
                                      <p:cBhvr>
                                        <p:cTn id="43" dur="1000"/>
                                        <p:tgtEl>
                                          <p:spTgt spid="375"/>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451"/>
                                        </p:tgtEl>
                                        <p:attrNameLst>
                                          <p:attrName>style.visibility</p:attrName>
                                        </p:attrNameLst>
                                      </p:cBhvr>
                                      <p:to>
                                        <p:strVal val="visible"/>
                                      </p:to>
                                    </p:set>
                                    <p:animEffect transition="in" filter="wipe(left)">
                                      <p:cBhvr>
                                        <p:cTn id="46" dur="1000"/>
                                        <p:tgtEl>
                                          <p:spTgt spid="451"/>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377"/>
                                        </p:tgtEl>
                                        <p:attrNameLst>
                                          <p:attrName>style.visibility</p:attrName>
                                        </p:attrNameLst>
                                      </p:cBhvr>
                                      <p:to>
                                        <p:strVal val="visible"/>
                                      </p:to>
                                    </p:set>
                                    <p:animEffect transition="in" filter="wipe(down)">
                                      <p:cBhvr>
                                        <p:cTn id="49" dur="1000"/>
                                        <p:tgtEl>
                                          <p:spTgt spid="377"/>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374"/>
                                        </p:tgtEl>
                                        <p:attrNameLst>
                                          <p:attrName>style.visibility</p:attrName>
                                        </p:attrNameLst>
                                      </p:cBhvr>
                                      <p:to>
                                        <p:strVal val="visible"/>
                                      </p:to>
                                    </p:set>
                                    <p:animEffect transition="in" filter="wipe(up)">
                                      <p:cBhvr>
                                        <p:cTn id="52" dur="1000"/>
                                        <p:tgtEl>
                                          <p:spTgt spid="374"/>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444"/>
                                        </p:tgtEl>
                                        <p:attrNameLst>
                                          <p:attrName>style.visibility</p:attrName>
                                        </p:attrNameLst>
                                      </p:cBhvr>
                                      <p:to>
                                        <p:strVal val="visible"/>
                                      </p:to>
                                    </p:set>
                                    <p:animEffect transition="in" filter="wipe(right)">
                                      <p:cBhvr>
                                        <p:cTn id="55" dur="1000"/>
                                        <p:tgtEl>
                                          <p:spTgt spid="444"/>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443"/>
                                        </p:tgtEl>
                                        <p:attrNameLst>
                                          <p:attrName>style.visibility</p:attrName>
                                        </p:attrNameLst>
                                      </p:cBhvr>
                                      <p:to>
                                        <p:strVal val="visible"/>
                                      </p:to>
                                    </p:set>
                                    <p:animEffect transition="in" filter="wipe(left)">
                                      <p:cBhvr>
                                        <p:cTn id="58" dur="1000"/>
                                        <p:tgtEl>
                                          <p:spTgt spid="443"/>
                                        </p:tgtEl>
                                      </p:cBhvr>
                                    </p:animEffect>
                                  </p:childTnLst>
                                </p:cTn>
                              </p:par>
                              <p:par>
                                <p:cTn id="59" presetID="22" presetClass="entr" presetSubtype="1" fill="hold" grpId="0" nodeType="withEffect">
                                  <p:stCondLst>
                                    <p:cond delay="0"/>
                                  </p:stCondLst>
                                  <p:childTnLst>
                                    <p:set>
                                      <p:cBhvr>
                                        <p:cTn id="60" dur="1" fill="hold">
                                          <p:stCondLst>
                                            <p:cond delay="0"/>
                                          </p:stCondLst>
                                        </p:cTn>
                                        <p:tgtEl>
                                          <p:spTgt spid="376"/>
                                        </p:tgtEl>
                                        <p:attrNameLst>
                                          <p:attrName>style.visibility</p:attrName>
                                        </p:attrNameLst>
                                      </p:cBhvr>
                                      <p:to>
                                        <p:strVal val="visible"/>
                                      </p:to>
                                    </p:set>
                                    <p:animEffect transition="in" filter="wipe(up)">
                                      <p:cBhvr>
                                        <p:cTn id="61" dur="1000"/>
                                        <p:tgtEl>
                                          <p:spTgt spid="376"/>
                                        </p:tgtEl>
                                      </p:cBhvr>
                                    </p:animEffect>
                                  </p:childTnLst>
                                </p:cTn>
                              </p:par>
                              <p:par>
                                <p:cTn id="62" presetID="22" presetClass="entr" presetSubtype="2" fill="hold" grpId="0" nodeType="withEffect">
                                  <p:stCondLst>
                                    <p:cond delay="0"/>
                                  </p:stCondLst>
                                  <p:childTnLst>
                                    <p:set>
                                      <p:cBhvr>
                                        <p:cTn id="63" dur="1" fill="hold">
                                          <p:stCondLst>
                                            <p:cond delay="0"/>
                                          </p:stCondLst>
                                        </p:cTn>
                                        <p:tgtEl>
                                          <p:spTgt spid="380"/>
                                        </p:tgtEl>
                                        <p:attrNameLst>
                                          <p:attrName>style.visibility</p:attrName>
                                        </p:attrNameLst>
                                      </p:cBhvr>
                                      <p:to>
                                        <p:strVal val="visible"/>
                                      </p:to>
                                    </p:set>
                                    <p:animEffect transition="in" filter="wipe(right)">
                                      <p:cBhvr>
                                        <p:cTn id="64" dur="1000"/>
                                        <p:tgtEl>
                                          <p:spTgt spid="380"/>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379"/>
                                        </p:tgtEl>
                                        <p:attrNameLst>
                                          <p:attrName>style.visibility</p:attrName>
                                        </p:attrNameLst>
                                      </p:cBhvr>
                                      <p:to>
                                        <p:strVal val="visible"/>
                                      </p:to>
                                    </p:set>
                                    <p:animEffect transition="in" filter="wipe(left)">
                                      <p:cBhvr>
                                        <p:cTn id="67" dur="1000"/>
                                        <p:tgtEl>
                                          <p:spTgt spid="379"/>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378"/>
                                        </p:tgtEl>
                                        <p:attrNameLst>
                                          <p:attrName>style.visibility</p:attrName>
                                        </p:attrNameLst>
                                      </p:cBhvr>
                                      <p:to>
                                        <p:strVal val="visible"/>
                                      </p:to>
                                    </p:set>
                                    <p:animEffect transition="in" filter="wipe(up)">
                                      <p:cBhvr>
                                        <p:cTn id="70" dur="1000"/>
                                        <p:tgtEl>
                                          <p:spTgt spid="3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443" grpId="0" animBg="1"/>
      <p:bldP spid="444" grpId="0" animBg="1"/>
      <p:bldP spid="445" grpId="0" animBg="1"/>
      <p:bldP spid="446" grpId="0" animBg="1"/>
      <p:bldP spid="447" grpId="0" animBg="1"/>
      <p:bldP spid="448" grpId="0" animBg="1"/>
      <p:bldP spid="449" grpId="0" animBg="1"/>
      <p:bldP spid="450" grpId="0" animBg="1"/>
      <p:bldP spid="451" grpId="0" animBg="1"/>
      <p:bldP spid="45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54</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srgbClr val="0000A8"/>
              </a:buClr>
              <a:buFont typeface="Wingdings" pitchFamily="2" charset="2"/>
              <a:buChar char="§"/>
            </a:pPr>
            <a:r>
              <a:rPr lang="en-US" dirty="0">
                <a:solidFill>
                  <a:prstClr val="black"/>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3" name="Group 2">
            <a:extLst>
              <a:ext uri="{FF2B5EF4-FFF2-40B4-BE49-F238E27FC236}">
                <a16:creationId xmlns:a16="http://schemas.microsoft.com/office/drawing/2014/main" id="{BE3B24DF-00CD-F548-AD9E-519F13CEFE2A}"/>
              </a:ext>
            </a:extLst>
          </p:cNvPr>
          <p:cNvGrpSpPr/>
          <p:nvPr/>
        </p:nvGrpSpPr>
        <p:grpSpPr>
          <a:xfrm>
            <a:off x="3972233" y="1627242"/>
            <a:ext cx="5089626" cy="4955455"/>
            <a:chOff x="3982064" y="1612491"/>
            <a:chExt cx="5089626" cy="4955455"/>
          </a:xfrm>
        </p:grpSpPr>
        <p:grpSp>
          <p:nvGrpSpPr>
            <p:cNvPr id="7" name="Group 6">
              <a:extLst>
                <a:ext uri="{FF2B5EF4-FFF2-40B4-BE49-F238E27FC236}">
                  <a16:creationId xmlns:a16="http://schemas.microsoft.com/office/drawing/2014/main" id="{4AA8C641-B239-B74E-A56A-6FC17DD05F53}"/>
                </a:ext>
              </a:extLst>
            </p:cNvPr>
            <p:cNvGrpSpPr/>
            <p:nvPr/>
          </p:nvGrpSpPr>
          <p:grpSpPr>
            <a:xfrm>
              <a:off x="4011560" y="1641985"/>
              <a:ext cx="1196054" cy="1022555"/>
              <a:chOff x="9655277" y="2349909"/>
              <a:chExt cx="1196054" cy="1022555"/>
            </a:xfrm>
          </p:grpSpPr>
          <p:sp>
            <p:nvSpPr>
              <p:cNvPr id="4" name="Freeform 3">
                <a:extLst>
                  <a:ext uri="{FF2B5EF4-FFF2-40B4-BE49-F238E27FC236}">
                    <a16:creationId xmlns:a16="http://schemas.microsoft.com/office/drawing/2014/main" id="{00707AC5-49E7-AE40-8A46-1ACEF91E823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 name="TextBox 5">
                <a:extLst>
                  <a:ext uri="{FF2B5EF4-FFF2-40B4-BE49-F238E27FC236}">
                    <a16:creationId xmlns:a16="http://schemas.microsoft.com/office/drawing/2014/main" id="{95C2C0DC-E6A2-784B-8032-7F8C86E35889}"/>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57" name="Group 156">
              <a:extLst>
                <a:ext uri="{FF2B5EF4-FFF2-40B4-BE49-F238E27FC236}">
                  <a16:creationId xmlns:a16="http://schemas.microsoft.com/office/drawing/2014/main" id="{34F33CFE-B17F-9D43-BD1A-F46BCD176DD6}"/>
                </a:ext>
              </a:extLst>
            </p:cNvPr>
            <p:cNvGrpSpPr/>
            <p:nvPr/>
          </p:nvGrpSpPr>
          <p:grpSpPr>
            <a:xfrm>
              <a:off x="5943598" y="1627238"/>
              <a:ext cx="1196054" cy="1022555"/>
              <a:chOff x="9655277" y="2349909"/>
              <a:chExt cx="1196054" cy="1022555"/>
            </a:xfrm>
          </p:grpSpPr>
          <p:sp>
            <p:nvSpPr>
              <p:cNvPr id="177" name="Freeform 176">
                <a:extLst>
                  <a:ext uri="{FF2B5EF4-FFF2-40B4-BE49-F238E27FC236}">
                    <a16:creationId xmlns:a16="http://schemas.microsoft.com/office/drawing/2014/main" id="{F0BEA684-9A42-E94C-B2D5-EDC1A1F2EF2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8" name="TextBox 177">
                <a:extLst>
                  <a:ext uri="{FF2B5EF4-FFF2-40B4-BE49-F238E27FC236}">
                    <a16:creationId xmlns:a16="http://schemas.microsoft.com/office/drawing/2014/main" id="{2F8ED3B6-87B0-574A-9DA5-A41BD73B3CF5}"/>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79" name="Group 178">
              <a:extLst>
                <a:ext uri="{FF2B5EF4-FFF2-40B4-BE49-F238E27FC236}">
                  <a16:creationId xmlns:a16="http://schemas.microsoft.com/office/drawing/2014/main" id="{9A4B8D63-0904-2145-8F9E-1FEF70C7AF9F}"/>
                </a:ext>
              </a:extLst>
            </p:cNvPr>
            <p:cNvGrpSpPr/>
            <p:nvPr/>
          </p:nvGrpSpPr>
          <p:grpSpPr>
            <a:xfrm>
              <a:off x="7875636" y="1612491"/>
              <a:ext cx="1196054" cy="1022555"/>
              <a:chOff x="9655277" y="2349909"/>
              <a:chExt cx="1196054" cy="1022555"/>
            </a:xfrm>
          </p:grpSpPr>
          <p:sp>
            <p:nvSpPr>
              <p:cNvPr id="180" name="Freeform 179">
                <a:extLst>
                  <a:ext uri="{FF2B5EF4-FFF2-40B4-BE49-F238E27FC236}">
                    <a16:creationId xmlns:a16="http://schemas.microsoft.com/office/drawing/2014/main" id="{EC6C0209-ECBD-E24C-AA45-744B932DC11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81" name="TextBox 180">
                <a:extLst>
                  <a:ext uri="{FF2B5EF4-FFF2-40B4-BE49-F238E27FC236}">
                    <a16:creationId xmlns:a16="http://schemas.microsoft.com/office/drawing/2014/main" id="{31B9CF9C-B04D-5A4F-AC32-278B0ED42F01}"/>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82" name="Group 181">
              <a:extLst>
                <a:ext uri="{FF2B5EF4-FFF2-40B4-BE49-F238E27FC236}">
                  <a16:creationId xmlns:a16="http://schemas.microsoft.com/office/drawing/2014/main" id="{EC02EBAB-7E8B-8144-9064-B32C5427DBD9}"/>
                </a:ext>
              </a:extLst>
            </p:cNvPr>
            <p:cNvGrpSpPr/>
            <p:nvPr/>
          </p:nvGrpSpPr>
          <p:grpSpPr>
            <a:xfrm>
              <a:off x="3996812" y="3593688"/>
              <a:ext cx="1196054" cy="1022555"/>
              <a:chOff x="9655277" y="2349909"/>
              <a:chExt cx="1196054" cy="1022555"/>
            </a:xfrm>
          </p:grpSpPr>
          <p:sp>
            <p:nvSpPr>
              <p:cNvPr id="183" name="Freeform 182">
                <a:extLst>
                  <a:ext uri="{FF2B5EF4-FFF2-40B4-BE49-F238E27FC236}">
                    <a16:creationId xmlns:a16="http://schemas.microsoft.com/office/drawing/2014/main" id="{4F8E9313-A12A-3849-B12A-1BC5C1A36AF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CA0F4249-5B41-3D48-9023-8757509C8B5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0" name="Group 219">
              <a:extLst>
                <a:ext uri="{FF2B5EF4-FFF2-40B4-BE49-F238E27FC236}">
                  <a16:creationId xmlns:a16="http://schemas.microsoft.com/office/drawing/2014/main" id="{B89D7B16-224E-0545-AAE5-58B841BB7F79}"/>
                </a:ext>
              </a:extLst>
            </p:cNvPr>
            <p:cNvGrpSpPr/>
            <p:nvPr/>
          </p:nvGrpSpPr>
          <p:grpSpPr>
            <a:xfrm>
              <a:off x="5928850" y="3578941"/>
              <a:ext cx="1196054" cy="1022555"/>
              <a:chOff x="9655277" y="2349909"/>
              <a:chExt cx="1196054" cy="1022555"/>
            </a:xfrm>
          </p:grpSpPr>
          <p:sp>
            <p:nvSpPr>
              <p:cNvPr id="227" name="Freeform 226">
                <a:extLst>
                  <a:ext uri="{FF2B5EF4-FFF2-40B4-BE49-F238E27FC236}">
                    <a16:creationId xmlns:a16="http://schemas.microsoft.com/office/drawing/2014/main" id="{C98EEB01-D57D-DF44-921F-DE4A3FCEA6F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28" name="TextBox 227">
                <a:extLst>
                  <a:ext uri="{FF2B5EF4-FFF2-40B4-BE49-F238E27FC236}">
                    <a16:creationId xmlns:a16="http://schemas.microsoft.com/office/drawing/2014/main" id="{A6BE9F63-A36F-B842-81EA-382F13B1F7EE}"/>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9" name="Group 228">
              <a:extLst>
                <a:ext uri="{FF2B5EF4-FFF2-40B4-BE49-F238E27FC236}">
                  <a16:creationId xmlns:a16="http://schemas.microsoft.com/office/drawing/2014/main" id="{D9355008-5692-5045-9867-573B61A6287F}"/>
                </a:ext>
              </a:extLst>
            </p:cNvPr>
            <p:cNvGrpSpPr/>
            <p:nvPr/>
          </p:nvGrpSpPr>
          <p:grpSpPr>
            <a:xfrm>
              <a:off x="7860888" y="3564194"/>
              <a:ext cx="1196054" cy="1022555"/>
              <a:chOff x="9655277" y="2349909"/>
              <a:chExt cx="1196054" cy="1022555"/>
            </a:xfrm>
          </p:grpSpPr>
          <p:sp>
            <p:nvSpPr>
              <p:cNvPr id="230" name="Freeform 229">
                <a:extLst>
                  <a:ext uri="{FF2B5EF4-FFF2-40B4-BE49-F238E27FC236}">
                    <a16:creationId xmlns:a16="http://schemas.microsoft.com/office/drawing/2014/main" id="{FB50278F-0DAA-BE47-BF4C-10BB64655FD9}"/>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1" name="TextBox 230">
                <a:extLst>
                  <a:ext uri="{FF2B5EF4-FFF2-40B4-BE49-F238E27FC236}">
                    <a16:creationId xmlns:a16="http://schemas.microsoft.com/office/drawing/2014/main" id="{D80FE26B-BC39-3840-8971-AC80538B679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2" name="Group 231">
              <a:extLst>
                <a:ext uri="{FF2B5EF4-FFF2-40B4-BE49-F238E27FC236}">
                  <a16:creationId xmlns:a16="http://schemas.microsoft.com/office/drawing/2014/main" id="{8919850D-033C-884C-874D-578D6BEF54D6}"/>
                </a:ext>
              </a:extLst>
            </p:cNvPr>
            <p:cNvGrpSpPr/>
            <p:nvPr/>
          </p:nvGrpSpPr>
          <p:grpSpPr>
            <a:xfrm>
              <a:off x="3982064" y="5545391"/>
              <a:ext cx="1196054" cy="1022555"/>
              <a:chOff x="9655277" y="2349909"/>
              <a:chExt cx="1196054" cy="1022555"/>
            </a:xfrm>
          </p:grpSpPr>
          <p:sp>
            <p:nvSpPr>
              <p:cNvPr id="233" name="Freeform 232">
                <a:extLst>
                  <a:ext uri="{FF2B5EF4-FFF2-40B4-BE49-F238E27FC236}">
                    <a16:creationId xmlns:a16="http://schemas.microsoft.com/office/drawing/2014/main" id="{A58AC890-F958-6645-870D-1AB87CB3F2A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4" name="TextBox 233">
                <a:extLst>
                  <a:ext uri="{FF2B5EF4-FFF2-40B4-BE49-F238E27FC236}">
                    <a16:creationId xmlns:a16="http://schemas.microsoft.com/office/drawing/2014/main" id="{F91239F9-821D-324E-AED8-FC0DBAC8E53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5" name="Group 234">
              <a:extLst>
                <a:ext uri="{FF2B5EF4-FFF2-40B4-BE49-F238E27FC236}">
                  <a16:creationId xmlns:a16="http://schemas.microsoft.com/office/drawing/2014/main" id="{4D851E35-9983-2647-8751-B14388AB0989}"/>
                </a:ext>
              </a:extLst>
            </p:cNvPr>
            <p:cNvGrpSpPr/>
            <p:nvPr/>
          </p:nvGrpSpPr>
          <p:grpSpPr>
            <a:xfrm>
              <a:off x="5914102" y="5530644"/>
              <a:ext cx="1196054" cy="1022555"/>
              <a:chOff x="9655277" y="2349909"/>
              <a:chExt cx="1196054" cy="1022555"/>
            </a:xfrm>
          </p:grpSpPr>
          <p:sp>
            <p:nvSpPr>
              <p:cNvPr id="236" name="Freeform 235">
                <a:extLst>
                  <a:ext uri="{FF2B5EF4-FFF2-40B4-BE49-F238E27FC236}">
                    <a16:creationId xmlns:a16="http://schemas.microsoft.com/office/drawing/2014/main" id="{B0E043AA-70A2-8045-AEF2-608FF9160AE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7" name="TextBox 236">
                <a:extLst>
                  <a:ext uri="{FF2B5EF4-FFF2-40B4-BE49-F238E27FC236}">
                    <a16:creationId xmlns:a16="http://schemas.microsoft.com/office/drawing/2014/main" id="{E0712C29-CD00-4544-87CB-605AB5CBBE0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8" name="Group 237">
              <a:extLst>
                <a:ext uri="{FF2B5EF4-FFF2-40B4-BE49-F238E27FC236}">
                  <a16:creationId xmlns:a16="http://schemas.microsoft.com/office/drawing/2014/main" id="{031F5E61-5B07-8C41-A704-C2A49253CC50}"/>
                </a:ext>
              </a:extLst>
            </p:cNvPr>
            <p:cNvGrpSpPr/>
            <p:nvPr/>
          </p:nvGrpSpPr>
          <p:grpSpPr>
            <a:xfrm>
              <a:off x="7846140" y="5515897"/>
              <a:ext cx="1196054" cy="1022555"/>
              <a:chOff x="9655277" y="2349909"/>
              <a:chExt cx="1196054" cy="1022555"/>
            </a:xfrm>
          </p:grpSpPr>
          <p:sp>
            <p:nvSpPr>
              <p:cNvPr id="239" name="Freeform 238">
                <a:extLst>
                  <a:ext uri="{FF2B5EF4-FFF2-40B4-BE49-F238E27FC236}">
                    <a16:creationId xmlns:a16="http://schemas.microsoft.com/office/drawing/2014/main" id="{B72B4351-32EB-1245-8CF3-9F678CEC542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0" name="TextBox 239">
                <a:extLst>
                  <a:ext uri="{FF2B5EF4-FFF2-40B4-BE49-F238E27FC236}">
                    <a16:creationId xmlns:a16="http://schemas.microsoft.com/office/drawing/2014/main" id="{2D65D50F-2DBC-ED46-BC08-037761F3504F}"/>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cxnSp>
        <p:nvCxnSpPr>
          <p:cNvPr id="241" name="Straight Connector 240">
            <a:extLst>
              <a:ext uri="{FF2B5EF4-FFF2-40B4-BE49-F238E27FC236}">
                <a16:creationId xmlns:a16="http://schemas.microsoft.com/office/drawing/2014/main" id="{B38AD34A-F832-BE4A-A882-9D9F4CB12C05}"/>
              </a:ext>
            </a:extLst>
          </p:cNvPr>
          <p:cNvCxnSpPr>
            <a:cxnSpLocks/>
          </p:cNvCxnSpPr>
          <p:nvPr/>
        </p:nvCxnSpPr>
        <p:spPr>
          <a:xfrm flipH="1">
            <a:off x="901961" y="1975104"/>
            <a:ext cx="151428" cy="257429"/>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4364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 </a:t>
            </a:r>
            <a:r>
              <a:rPr lang="en-US" dirty="0">
                <a:solidFill>
                  <a:srgbClr val="0000A8"/>
                </a:solidFill>
              </a:rPr>
              <a:t>iteration</a:t>
            </a:r>
            <a:endParaRPr lang="en-US" dirty="0"/>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55</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1032" name="Right Arrow 1031">
            <a:extLst>
              <a:ext uri="{FF2B5EF4-FFF2-40B4-BE49-F238E27FC236}">
                <a16:creationId xmlns:a16="http://schemas.microsoft.com/office/drawing/2014/main" id="{48701230-5EB3-4E4B-BEE9-CAD81136ECF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8" name="TextBox 157">
            <a:extLst>
              <a:ext uri="{FF2B5EF4-FFF2-40B4-BE49-F238E27FC236}">
                <a16:creationId xmlns:a16="http://schemas.microsoft.com/office/drawing/2014/main" id="{766038ED-ED2A-EA48-9435-9C5569CA63F0}"/>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srgbClr val="0000A8"/>
              </a:buClr>
              <a:buFont typeface="Wingdings" pitchFamily="2" charset="2"/>
              <a:buChar char="§"/>
            </a:pPr>
            <a:r>
              <a:rPr lang="en-US" dirty="0">
                <a:solidFill>
                  <a:prstClr val="black"/>
                </a:solidFill>
              </a:rPr>
              <a:t>send their new local distance vector to neighbors</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flipH="1">
            <a:off x="908583" y="1975104"/>
            <a:ext cx="148463" cy="24613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7585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up)">
                                      <p:cBhvr>
                                        <p:cTn id="7" dur="1000"/>
                                        <p:tgtEl>
                                          <p:spTgt spid="103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350"/>
                                        </p:tgtEl>
                                        <p:attrNameLst>
                                          <p:attrName>style.visibility</p:attrName>
                                        </p:attrNameLst>
                                      </p:cBhvr>
                                      <p:to>
                                        <p:strVal val="visible"/>
                                      </p:to>
                                    </p:set>
                                    <p:animEffect transition="in" filter="wipe(right)">
                                      <p:cBhvr>
                                        <p:cTn id="13" dur="1000"/>
                                        <p:tgtEl>
                                          <p:spTgt spid="350"/>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268"/>
                                        </p:tgtEl>
                                        <p:attrNameLst>
                                          <p:attrName>style.visibility</p:attrName>
                                        </p:attrNameLst>
                                      </p:cBhvr>
                                      <p:to>
                                        <p:strVal val="visible"/>
                                      </p:to>
                                    </p:set>
                                    <p:animEffect transition="in" filter="wipe(up)">
                                      <p:cBhvr>
                                        <p:cTn id="16" dur="1000"/>
                                        <p:tgtEl>
                                          <p:spTgt spid="26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53"/>
                                        </p:tgtEl>
                                        <p:attrNameLst>
                                          <p:attrName>style.visibility</p:attrName>
                                        </p:attrNameLst>
                                      </p:cBhvr>
                                      <p:to>
                                        <p:strVal val="visible"/>
                                      </p:to>
                                    </p:set>
                                    <p:animEffect transition="in" filter="wipe(left)">
                                      <p:cBhvr>
                                        <p:cTn id="19" dur="1000"/>
                                        <p:tgtEl>
                                          <p:spTgt spid="353"/>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352"/>
                                        </p:tgtEl>
                                        <p:attrNameLst>
                                          <p:attrName>style.visibility</p:attrName>
                                        </p:attrNameLst>
                                      </p:cBhvr>
                                      <p:to>
                                        <p:strVal val="visible"/>
                                      </p:to>
                                    </p:set>
                                    <p:animEffect transition="in" filter="wipe(right)">
                                      <p:cBhvr>
                                        <p:cTn id="22" dur="1000"/>
                                        <p:tgtEl>
                                          <p:spTgt spid="352"/>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67"/>
                                        </p:tgtEl>
                                        <p:attrNameLst>
                                          <p:attrName>style.visibility</p:attrName>
                                        </p:attrNameLst>
                                      </p:cBhvr>
                                      <p:to>
                                        <p:strVal val="visible"/>
                                      </p:to>
                                    </p:set>
                                    <p:animEffect transition="in" filter="wipe(down)">
                                      <p:cBhvr>
                                        <p:cTn id="25" dur="1000"/>
                                        <p:tgtEl>
                                          <p:spTgt spid="267"/>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349"/>
                                        </p:tgtEl>
                                        <p:attrNameLst>
                                          <p:attrName>style.visibility</p:attrName>
                                        </p:attrNameLst>
                                      </p:cBhvr>
                                      <p:to>
                                        <p:strVal val="visible"/>
                                      </p:to>
                                    </p:set>
                                    <p:animEffect transition="in" filter="wipe(left)">
                                      <p:cBhvr>
                                        <p:cTn id="28" dur="1000"/>
                                        <p:tgtEl>
                                          <p:spTgt spid="349"/>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270"/>
                                        </p:tgtEl>
                                        <p:attrNameLst>
                                          <p:attrName>style.visibility</p:attrName>
                                        </p:attrNameLst>
                                      </p:cBhvr>
                                      <p:to>
                                        <p:strVal val="visible"/>
                                      </p:to>
                                    </p:set>
                                    <p:animEffect transition="in" filter="wipe(up)">
                                      <p:cBhvr>
                                        <p:cTn id="31" dur="1000"/>
                                        <p:tgtEl>
                                          <p:spTgt spid="270"/>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348"/>
                                        </p:tgtEl>
                                        <p:attrNameLst>
                                          <p:attrName>style.visibility</p:attrName>
                                        </p:attrNameLst>
                                      </p:cBhvr>
                                      <p:to>
                                        <p:strVal val="visible"/>
                                      </p:to>
                                    </p:set>
                                    <p:animEffect transition="in" filter="wipe(right)">
                                      <p:cBhvr>
                                        <p:cTn id="34" dur="1000"/>
                                        <p:tgtEl>
                                          <p:spTgt spid="348"/>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269"/>
                                        </p:tgtEl>
                                        <p:attrNameLst>
                                          <p:attrName>style.visibility</p:attrName>
                                        </p:attrNameLst>
                                      </p:cBhvr>
                                      <p:to>
                                        <p:strVal val="visible"/>
                                      </p:to>
                                    </p:set>
                                    <p:animEffect transition="in" filter="wipe(down)">
                                      <p:cBhvr>
                                        <p:cTn id="37" dur="1000"/>
                                        <p:tgtEl>
                                          <p:spTgt spid="269"/>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355"/>
                                        </p:tgtEl>
                                        <p:attrNameLst>
                                          <p:attrName>style.visibility</p:attrName>
                                        </p:attrNameLst>
                                      </p:cBhvr>
                                      <p:to>
                                        <p:strVal val="visible"/>
                                      </p:to>
                                    </p:set>
                                    <p:animEffect transition="in" filter="wipe(left)">
                                      <p:cBhvr>
                                        <p:cTn id="40" dur="1000"/>
                                        <p:tgtEl>
                                          <p:spTgt spid="35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up)">
                                      <p:cBhvr>
                                        <p:cTn id="43" dur="1000"/>
                                        <p:tgtEl>
                                          <p:spTgt spid="272"/>
                                        </p:tgtEl>
                                      </p:cBhvr>
                                    </p:animEffect>
                                  </p:childTnLst>
                                </p:cTn>
                              </p:par>
                              <p:par>
                                <p:cTn id="44" presetID="22" presetClass="entr" presetSubtype="2" fill="hold" grpId="0" nodeType="withEffect">
                                  <p:stCondLst>
                                    <p:cond delay="0"/>
                                  </p:stCondLst>
                                  <p:childTnLst>
                                    <p:set>
                                      <p:cBhvr>
                                        <p:cTn id="45" dur="1" fill="hold">
                                          <p:stCondLst>
                                            <p:cond delay="0"/>
                                          </p:stCondLst>
                                        </p:cTn>
                                        <p:tgtEl>
                                          <p:spTgt spid="354"/>
                                        </p:tgtEl>
                                        <p:attrNameLst>
                                          <p:attrName>style.visibility</p:attrName>
                                        </p:attrNameLst>
                                      </p:cBhvr>
                                      <p:to>
                                        <p:strVal val="visible"/>
                                      </p:to>
                                    </p:set>
                                    <p:animEffect transition="in" filter="wipe(right)">
                                      <p:cBhvr>
                                        <p:cTn id="46" dur="1000"/>
                                        <p:tgtEl>
                                          <p:spTgt spid="354"/>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274"/>
                                        </p:tgtEl>
                                        <p:attrNameLst>
                                          <p:attrName>style.visibility</p:attrName>
                                        </p:attrNameLst>
                                      </p:cBhvr>
                                      <p:to>
                                        <p:strVal val="visible"/>
                                      </p:to>
                                    </p:set>
                                    <p:animEffect transition="in" filter="wipe(up)">
                                      <p:cBhvr>
                                        <p:cTn id="49" dur="1000"/>
                                        <p:tgtEl>
                                          <p:spTgt spid="274"/>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271"/>
                                        </p:tgtEl>
                                        <p:attrNameLst>
                                          <p:attrName>style.visibility</p:attrName>
                                        </p:attrNameLst>
                                      </p:cBhvr>
                                      <p:to>
                                        <p:strVal val="visible"/>
                                      </p:to>
                                    </p:set>
                                    <p:animEffect transition="in" filter="wipe(down)">
                                      <p:cBhvr>
                                        <p:cTn id="52" dur="1000"/>
                                        <p:tgtEl>
                                          <p:spTgt spid="27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347"/>
                                        </p:tgtEl>
                                        <p:attrNameLst>
                                          <p:attrName>style.visibility</p:attrName>
                                        </p:attrNameLst>
                                      </p:cBhvr>
                                      <p:to>
                                        <p:strVal val="visible"/>
                                      </p:to>
                                    </p:set>
                                    <p:animEffect transition="in" filter="wipe(left)">
                                      <p:cBhvr>
                                        <p:cTn id="55" dur="1000"/>
                                        <p:tgtEl>
                                          <p:spTgt spid="347"/>
                                        </p:tgtEl>
                                      </p:cBhvr>
                                    </p:animEffect>
                                  </p:childTnLst>
                                </p:cTn>
                              </p:par>
                              <p:par>
                                <p:cTn id="56" presetID="22" presetClass="entr" presetSubtype="2" fill="hold" grpId="0" nodeType="withEffect">
                                  <p:stCondLst>
                                    <p:cond delay="0"/>
                                  </p:stCondLst>
                                  <p:childTnLst>
                                    <p:set>
                                      <p:cBhvr>
                                        <p:cTn id="57" dur="1" fill="hold">
                                          <p:stCondLst>
                                            <p:cond delay="0"/>
                                          </p:stCondLst>
                                        </p:cTn>
                                        <p:tgtEl>
                                          <p:spTgt spid="346"/>
                                        </p:tgtEl>
                                        <p:attrNameLst>
                                          <p:attrName>style.visibility</p:attrName>
                                        </p:attrNameLst>
                                      </p:cBhvr>
                                      <p:to>
                                        <p:strVal val="visible"/>
                                      </p:to>
                                    </p:set>
                                    <p:animEffect transition="in" filter="wipe(right)">
                                      <p:cBhvr>
                                        <p:cTn id="58" dur="1000"/>
                                        <p:tgtEl>
                                          <p:spTgt spid="346"/>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273"/>
                                        </p:tgtEl>
                                        <p:attrNameLst>
                                          <p:attrName>style.visibility</p:attrName>
                                        </p:attrNameLst>
                                      </p:cBhvr>
                                      <p:to>
                                        <p:strVal val="visible"/>
                                      </p:to>
                                    </p:set>
                                    <p:animEffect transition="in" filter="wipe(down)">
                                      <p:cBhvr>
                                        <p:cTn id="61" dur="1000"/>
                                        <p:tgtEl>
                                          <p:spTgt spid="273"/>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80"/>
                                        </p:tgtEl>
                                        <p:attrNameLst>
                                          <p:attrName>style.visibility</p:attrName>
                                        </p:attrNameLst>
                                      </p:cBhvr>
                                      <p:to>
                                        <p:strVal val="visible"/>
                                      </p:to>
                                    </p:set>
                                    <p:animEffect transition="in" filter="wipe(left)">
                                      <p:cBhvr>
                                        <p:cTn id="64" dur="1000"/>
                                        <p:tgtEl>
                                          <p:spTgt spid="280"/>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279"/>
                                        </p:tgtEl>
                                        <p:attrNameLst>
                                          <p:attrName>style.visibility</p:attrName>
                                        </p:attrNameLst>
                                      </p:cBhvr>
                                      <p:to>
                                        <p:strVal val="visible"/>
                                      </p:to>
                                    </p:set>
                                    <p:animEffect transition="in" filter="wipe(right)">
                                      <p:cBhvr>
                                        <p:cTn id="67" dur="1000"/>
                                        <p:tgtEl>
                                          <p:spTgt spid="279"/>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275"/>
                                        </p:tgtEl>
                                        <p:attrNameLst>
                                          <p:attrName>style.visibility</p:attrName>
                                        </p:attrNameLst>
                                      </p:cBhvr>
                                      <p:to>
                                        <p:strVal val="visible"/>
                                      </p:to>
                                    </p:set>
                                    <p:animEffect transition="in" filter="wipe(down)">
                                      <p:cBhvr>
                                        <p:cTn id="70" dur="10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56</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1032" name="Right Arrow 1031">
            <a:extLst>
              <a:ext uri="{FF2B5EF4-FFF2-40B4-BE49-F238E27FC236}">
                <a16:creationId xmlns:a16="http://schemas.microsoft.com/office/drawing/2014/main" id="{48701230-5EB3-4E4B-BEE9-CAD81136ECFC}"/>
              </a:ext>
            </a:extLst>
          </p:cNvPr>
          <p:cNvSpPr/>
          <p:nvPr/>
        </p:nvSpPr>
        <p:spPr>
          <a:xfrm rot="16200000" flipV="1">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5400000" flipV="1">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16200000" flipV="1">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16200000" flipV="1">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5400000" flipV="1">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5400000" flipV="1">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16200000" flipV="1">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5400000" flipV="1">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flipH="1">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flipH="1">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flipH="1">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flipH="1">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flipH="1">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rot="10800000">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flipH="1">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rot="10800000">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flipH="1">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srgbClr val="0000A8"/>
              </a:buClr>
              <a:buFont typeface="Wingdings" pitchFamily="2" charset="2"/>
              <a:buChar char="§"/>
            </a:pPr>
            <a:r>
              <a:rPr lang="en-US" dirty="0">
                <a:solidFill>
                  <a:prstClr val="black"/>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t=2</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76" name="Straight Connector 175">
                <a:extLst>
                  <a:ext uri="{FF2B5EF4-FFF2-40B4-BE49-F238E27FC236}">
                    <a16:creationId xmlns:a16="http://schemas.microsoft.com/office/drawing/2014/main" id="{4DC6920A-A583-934A-B8F7-D01CB5A4F755}"/>
                  </a:ext>
                </a:extLst>
              </p:cNvPr>
              <p:cNvCxnSpPr>
                <a:cxnSpLocks/>
              </p:cNvCxnSpPr>
              <p:nvPr/>
            </p:nvCxnSpPr>
            <p:spPr>
              <a:xfrm flipH="1">
                <a:off x="10365498" y="3656685"/>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9392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down)">
                                      <p:cBhvr>
                                        <p:cTn id="7" dur="1000"/>
                                        <p:tgtEl>
                                          <p:spTgt spid="103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right)">
                                      <p:cBhvr>
                                        <p:cTn id="10" dur="1000"/>
                                        <p:tgtEl>
                                          <p:spTgt spid="351"/>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350"/>
                                        </p:tgtEl>
                                        <p:attrNameLst>
                                          <p:attrName>style.visibility</p:attrName>
                                        </p:attrNameLst>
                                      </p:cBhvr>
                                      <p:to>
                                        <p:strVal val="visible"/>
                                      </p:to>
                                    </p:set>
                                    <p:animEffect transition="in" filter="wipe(left)">
                                      <p:cBhvr>
                                        <p:cTn id="13" dur="1000"/>
                                        <p:tgtEl>
                                          <p:spTgt spid="350"/>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268"/>
                                        </p:tgtEl>
                                        <p:attrNameLst>
                                          <p:attrName>style.visibility</p:attrName>
                                        </p:attrNameLst>
                                      </p:cBhvr>
                                      <p:to>
                                        <p:strVal val="visible"/>
                                      </p:to>
                                    </p:set>
                                    <p:animEffect transition="in" filter="wipe(down)">
                                      <p:cBhvr>
                                        <p:cTn id="16" dur="1000"/>
                                        <p:tgtEl>
                                          <p:spTgt spid="268"/>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353"/>
                                        </p:tgtEl>
                                        <p:attrNameLst>
                                          <p:attrName>style.visibility</p:attrName>
                                        </p:attrNameLst>
                                      </p:cBhvr>
                                      <p:to>
                                        <p:strVal val="visible"/>
                                      </p:to>
                                    </p:set>
                                    <p:animEffect transition="in" filter="wipe(right)">
                                      <p:cBhvr>
                                        <p:cTn id="19" dur="1000"/>
                                        <p:tgtEl>
                                          <p:spTgt spid="353"/>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52"/>
                                        </p:tgtEl>
                                        <p:attrNameLst>
                                          <p:attrName>style.visibility</p:attrName>
                                        </p:attrNameLst>
                                      </p:cBhvr>
                                      <p:to>
                                        <p:strVal val="visible"/>
                                      </p:to>
                                    </p:set>
                                    <p:animEffect transition="in" filter="wipe(left)">
                                      <p:cBhvr>
                                        <p:cTn id="22" dur="1000"/>
                                        <p:tgtEl>
                                          <p:spTgt spid="352"/>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267"/>
                                        </p:tgtEl>
                                        <p:attrNameLst>
                                          <p:attrName>style.visibility</p:attrName>
                                        </p:attrNameLst>
                                      </p:cBhvr>
                                      <p:to>
                                        <p:strVal val="visible"/>
                                      </p:to>
                                    </p:set>
                                    <p:animEffect transition="in" filter="wipe(up)">
                                      <p:cBhvr>
                                        <p:cTn id="25" dur="1000"/>
                                        <p:tgtEl>
                                          <p:spTgt spid="267"/>
                                        </p:tgtEl>
                                      </p:cBhvr>
                                    </p:animEffect>
                                  </p:childTnLst>
                                </p:cTn>
                              </p:par>
                              <p:par>
                                <p:cTn id="26" presetID="22" presetClass="entr" presetSubtype="2" fill="hold" grpId="0" nodeType="withEffect">
                                  <p:stCondLst>
                                    <p:cond delay="0"/>
                                  </p:stCondLst>
                                  <p:childTnLst>
                                    <p:set>
                                      <p:cBhvr>
                                        <p:cTn id="27" dur="1" fill="hold">
                                          <p:stCondLst>
                                            <p:cond delay="0"/>
                                          </p:stCondLst>
                                        </p:cTn>
                                        <p:tgtEl>
                                          <p:spTgt spid="349"/>
                                        </p:tgtEl>
                                        <p:attrNameLst>
                                          <p:attrName>style.visibility</p:attrName>
                                        </p:attrNameLst>
                                      </p:cBhvr>
                                      <p:to>
                                        <p:strVal val="visible"/>
                                      </p:to>
                                    </p:set>
                                    <p:animEffect transition="in" filter="wipe(right)">
                                      <p:cBhvr>
                                        <p:cTn id="28" dur="1000"/>
                                        <p:tgtEl>
                                          <p:spTgt spid="349"/>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270"/>
                                        </p:tgtEl>
                                        <p:attrNameLst>
                                          <p:attrName>style.visibility</p:attrName>
                                        </p:attrNameLst>
                                      </p:cBhvr>
                                      <p:to>
                                        <p:strVal val="visible"/>
                                      </p:to>
                                    </p:set>
                                    <p:animEffect transition="in" filter="wipe(down)">
                                      <p:cBhvr>
                                        <p:cTn id="31" dur="1000"/>
                                        <p:tgtEl>
                                          <p:spTgt spid="270"/>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348"/>
                                        </p:tgtEl>
                                        <p:attrNameLst>
                                          <p:attrName>style.visibility</p:attrName>
                                        </p:attrNameLst>
                                      </p:cBhvr>
                                      <p:to>
                                        <p:strVal val="visible"/>
                                      </p:to>
                                    </p:set>
                                    <p:animEffect transition="in" filter="wipe(left)">
                                      <p:cBhvr>
                                        <p:cTn id="34" dur="1000"/>
                                        <p:tgtEl>
                                          <p:spTgt spid="348"/>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269"/>
                                        </p:tgtEl>
                                        <p:attrNameLst>
                                          <p:attrName>style.visibility</p:attrName>
                                        </p:attrNameLst>
                                      </p:cBhvr>
                                      <p:to>
                                        <p:strVal val="visible"/>
                                      </p:to>
                                    </p:set>
                                    <p:animEffect transition="in" filter="wipe(up)">
                                      <p:cBhvr>
                                        <p:cTn id="37" dur="1000"/>
                                        <p:tgtEl>
                                          <p:spTgt spid="269"/>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355"/>
                                        </p:tgtEl>
                                        <p:attrNameLst>
                                          <p:attrName>style.visibility</p:attrName>
                                        </p:attrNameLst>
                                      </p:cBhvr>
                                      <p:to>
                                        <p:strVal val="visible"/>
                                      </p:to>
                                    </p:set>
                                    <p:animEffect transition="in" filter="wipe(right)">
                                      <p:cBhvr>
                                        <p:cTn id="40" dur="1000"/>
                                        <p:tgtEl>
                                          <p:spTgt spid="355"/>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down)">
                                      <p:cBhvr>
                                        <p:cTn id="43" dur="1000"/>
                                        <p:tgtEl>
                                          <p:spTgt spid="272"/>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354"/>
                                        </p:tgtEl>
                                        <p:attrNameLst>
                                          <p:attrName>style.visibility</p:attrName>
                                        </p:attrNameLst>
                                      </p:cBhvr>
                                      <p:to>
                                        <p:strVal val="visible"/>
                                      </p:to>
                                    </p:set>
                                    <p:animEffect transition="in" filter="wipe(left)">
                                      <p:cBhvr>
                                        <p:cTn id="46" dur="1000"/>
                                        <p:tgtEl>
                                          <p:spTgt spid="354"/>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274"/>
                                        </p:tgtEl>
                                        <p:attrNameLst>
                                          <p:attrName>style.visibility</p:attrName>
                                        </p:attrNameLst>
                                      </p:cBhvr>
                                      <p:to>
                                        <p:strVal val="visible"/>
                                      </p:to>
                                    </p:set>
                                    <p:animEffect transition="in" filter="wipe(down)">
                                      <p:cBhvr>
                                        <p:cTn id="49" dur="1000"/>
                                        <p:tgtEl>
                                          <p:spTgt spid="274"/>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271"/>
                                        </p:tgtEl>
                                        <p:attrNameLst>
                                          <p:attrName>style.visibility</p:attrName>
                                        </p:attrNameLst>
                                      </p:cBhvr>
                                      <p:to>
                                        <p:strVal val="visible"/>
                                      </p:to>
                                    </p:set>
                                    <p:animEffect transition="in" filter="wipe(up)">
                                      <p:cBhvr>
                                        <p:cTn id="52" dur="1000"/>
                                        <p:tgtEl>
                                          <p:spTgt spid="27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347"/>
                                        </p:tgtEl>
                                        <p:attrNameLst>
                                          <p:attrName>style.visibility</p:attrName>
                                        </p:attrNameLst>
                                      </p:cBhvr>
                                      <p:to>
                                        <p:strVal val="visible"/>
                                      </p:to>
                                    </p:set>
                                    <p:animEffect transition="in" filter="wipe(right)">
                                      <p:cBhvr>
                                        <p:cTn id="55" dur="1000"/>
                                        <p:tgtEl>
                                          <p:spTgt spid="347"/>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346"/>
                                        </p:tgtEl>
                                        <p:attrNameLst>
                                          <p:attrName>style.visibility</p:attrName>
                                        </p:attrNameLst>
                                      </p:cBhvr>
                                      <p:to>
                                        <p:strVal val="visible"/>
                                      </p:to>
                                    </p:set>
                                    <p:animEffect transition="in" filter="wipe(left)">
                                      <p:cBhvr>
                                        <p:cTn id="58" dur="1000"/>
                                        <p:tgtEl>
                                          <p:spTgt spid="346"/>
                                        </p:tgtEl>
                                      </p:cBhvr>
                                    </p:animEffect>
                                  </p:childTnLst>
                                </p:cTn>
                              </p:par>
                              <p:par>
                                <p:cTn id="59" presetID="22" presetClass="entr" presetSubtype="1" fill="hold" grpId="0" nodeType="withEffect">
                                  <p:stCondLst>
                                    <p:cond delay="0"/>
                                  </p:stCondLst>
                                  <p:childTnLst>
                                    <p:set>
                                      <p:cBhvr>
                                        <p:cTn id="60" dur="1" fill="hold">
                                          <p:stCondLst>
                                            <p:cond delay="0"/>
                                          </p:stCondLst>
                                        </p:cTn>
                                        <p:tgtEl>
                                          <p:spTgt spid="273"/>
                                        </p:tgtEl>
                                        <p:attrNameLst>
                                          <p:attrName>style.visibility</p:attrName>
                                        </p:attrNameLst>
                                      </p:cBhvr>
                                      <p:to>
                                        <p:strVal val="visible"/>
                                      </p:to>
                                    </p:set>
                                    <p:animEffect transition="in" filter="wipe(up)">
                                      <p:cBhvr>
                                        <p:cTn id="61" dur="1000"/>
                                        <p:tgtEl>
                                          <p:spTgt spid="273"/>
                                        </p:tgtEl>
                                      </p:cBhvr>
                                    </p:animEffect>
                                  </p:childTnLst>
                                </p:cTn>
                              </p:par>
                              <p:par>
                                <p:cTn id="62" presetID="22" presetClass="entr" presetSubtype="2" fill="hold" grpId="0" nodeType="withEffect">
                                  <p:stCondLst>
                                    <p:cond delay="0"/>
                                  </p:stCondLst>
                                  <p:childTnLst>
                                    <p:set>
                                      <p:cBhvr>
                                        <p:cTn id="63" dur="1" fill="hold">
                                          <p:stCondLst>
                                            <p:cond delay="0"/>
                                          </p:stCondLst>
                                        </p:cTn>
                                        <p:tgtEl>
                                          <p:spTgt spid="280"/>
                                        </p:tgtEl>
                                        <p:attrNameLst>
                                          <p:attrName>style.visibility</p:attrName>
                                        </p:attrNameLst>
                                      </p:cBhvr>
                                      <p:to>
                                        <p:strVal val="visible"/>
                                      </p:to>
                                    </p:set>
                                    <p:animEffect transition="in" filter="wipe(right)">
                                      <p:cBhvr>
                                        <p:cTn id="64" dur="1000"/>
                                        <p:tgtEl>
                                          <p:spTgt spid="280"/>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279"/>
                                        </p:tgtEl>
                                        <p:attrNameLst>
                                          <p:attrName>style.visibility</p:attrName>
                                        </p:attrNameLst>
                                      </p:cBhvr>
                                      <p:to>
                                        <p:strVal val="visible"/>
                                      </p:to>
                                    </p:set>
                                    <p:animEffect transition="in" filter="wipe(left)">
                                      <p:cBhvr>
                                        <p:cTn id="67" dur="1000"/>
                                        <p:tgtEl>
                                          <p:spTgt spid="279"/>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275"/>
                                        </p:tgtEl>
                                        <p:attrNameLst>
                                          <p:attrName>style.visibility</p:attrName>
                                        </p:attrNameLst>
                                      </p:cBhvr>
                                      <p:to>
                                        <p:strVal val="visible"/>
                                      </p:to>
                                    </p:set>
                                    <p:animEffect transition="in" filter="wipe(up)">
                                      <p:cBhvr>
                                        <p:cTn id="70" dur="10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57</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8</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2</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srgbClr val="0000A8"/>
              </a:buClr>
              <a:buFont typeface="Wingdings" pitchFamily="2" charset="2"/>
              <a:buChar char="§"/>
            </a:pPr>
            <a:r>
              <a:rPr lang="en-US" dirty="0">
                <a:solidFill>
                  <a:prstClr val="black"/>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t=2</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3" name="Group 2">
            <a:extLst>
              <a:ext uri="{FF2B5EF4-FFF2-40B4-BE49-F238E27FC236}">
                <a16:creationId xmlns:a16="http://schemas.microsoft.com/office/drawing/2014/main" id="{BE3B24DF-00CD-F548-AD9E-519F13CEFE2A}"/>
              </a:ext>
            </a:extLst>
          </p:cNvPr>
          <p:cNvGrpSpPr/>
          <p:nvPr/>
        </p:nvGrpSpPr>
        <p:grpSpPr>
          <a:xfrm>
            <a:off x="4041058" y="1582994"/>
            <a:ext cx="5089626" cy="4955455"/>
            <a:chOff x="3982064" y="1612491"/>
            <a:chExt cx="5089626" cy="4955455"/>
          </a:xfrm>
        </p:grpSpPr>
        <p:grpSp>
          <p:nvGrpSpPr>
            <p:cNvPr id="7" name="Group 6">
              <a:extLst>
                <a:ext uri="{FF2B5EF4-FFF2-40B4-BE49-F238E27FC236}">
                  <a16:creationId xmlns:a16="http://schemas.microsoft.com/office/drawing/2014/main" id="{4AA8C641-B239-B74E-A56A-6FC17DD05F53}"/>
                </a:ext>
              </a:extLst>
            </p:cNvPr>
            <p:cNvGrpSpPr/>
            <p:nvPr/>
          </p:nvGrpSpPr>
          <p:grpSpPr>
            <a:xfrm>
              <a:off x="4011560" y="1641985"/>
              <a:ext cx="1196054" cy="1022555"/>
              <a:chOff x="9655277" y="2349909"/>
              <a:chExt cx="1196054" cy="1022555"/>
            </a:xfrm>
          </p:grpSpPr>
          <p:sp>
            <p:nvSpPr>
              <p:cNvPr id="4" name="Freeform 3">
                <a:extLst>
                  <a:ext uri="{FF2B5EF4-FFF2-40B4-BE49-F238E27FC236}">
                    <a16:creationId xmlns:a16="http://schemas.microsoft.com/office/drawing/2014/main" id="{00707AC5-49E7-AE40-8A46-1ACEF91E823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 name="TextBox 5">
                <a:extLst>
                  <a:ext uri="{FF2B5EF4-FFF2-40B4-BE49-F238E27FC236}">
                    <a16:creationId xmlns:a16="http://schemas.microsoft.com/office/drawing/2014/main" id="{95C2C0DC-E6A2-784B-8032-7F8C86E35889}"/>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57" name="Group 156">
              <a:extLst>
                <a:ext uri="{FF2B5EF4-FFF2-40B4-BE49-F238E27FC236}">
                  <a16:creationId xmlns:a16="http://schemas.microsoft.com/office/drawing/2014/main" id="{34F33CFE-B17F-9D43-BD1A-F46BCD176DD6}"/>
                </a:ext>
              </a:extLst>
            </p:cNvPr>
            <p:cNvGrpSpPr/>
            <p:nvPr/>
          </p:nvGrpSpPr>
          <p:grpSpPr>
            <a:xfrm>
              <a:off x="5943598" y="1627238"/>
              <a:ext cx="1196054" cy="1022555"/>
              <a:chOff x="9655277" y="2349909"/>
              <a:chExt cx="1196054" cy="1022555"/>
            </a:xfrm>
          </p:grpSpPr>
          <p:sp>
            <p:nvSpPr>
              <p:cNvPr id="177" name="Freeform 176">
                <a:extLst>
                  <a:ext uri="{FF2B5EF4-FFF2-40B4-BE49-F238E27FC236}">
                    <a16:creationId xmlns:a16="http://schemas.microsoft.com/office/drawing/2014/main" id="{F0BEA684-9A42-E94C-B2D5-EDC1A1F2EF2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8" name="TextBox 177">
                <a:extLst>
                  <a:ext uri="{FF2B5EF4-FFF2-40B4-BE49-F238E27FC236}">
                    <a16:creationId xmlns:a16="http://schemas.microsoft.com/office/drawing/2014/main" id="{2F8ED3B6-87B0-574A-9DA5-A41BD73B3CF5}"/>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79" name="Group 178">
              <a:extLst>
                <a:ext uri="{FF2B5EF4-FFF2-40B4-BE49-F238E27FC236}">
                  <a16:creationId xmlns:a16="http://schemas.microsoft.com/office/drawing/2014/main" id="{9A4B8D63-0904-2145-8F9E-1FEF70C7AF9F}"/>
                </a:ext>
              </a:extLst>
            </p:cNvPr>
            <p:cNvGrpSpPr/>
            <p:nvPr/>
          </p:nvGrpSpPr>
          <p:grpSpPr>
            <a:xfrm>
              <a:off x="7875636" y="1612491"/>
              <a:ext cx="1196054" cy="1022555"/>
              <a:chOff x="9655277" y="2349909"/>
              <a:chExt cx="1196054" cy="1022555"/>
            </a:xfrm>
          </p:grpSpPr>
          <p:sp>
            <p:nvSpPr>
              <p:cNvPr id="180" name="Freeform 179">
                <a:extLst>
                  <a:ext uri="{FF2B5EF4-FFF2-40B4-BE49-F238E27FC236}">
                    <a16:creationId xmlns:a16="http://schemas.microsoft.com/office/drawing/2014/main" id="{EC6C0209-ECBD-E24C-AA45-744B932DC11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81" name="TextBox 180">
                <a:extLst>
                  <a:ext uri="{FF2B5EF4-FFF2-40B4-BE49-F238E27FC236}">
                    <a16:creationId xmlns:a16="http://schemas.microsoft.com/office/drawing/2014/main" id="{31B9CF9C-B04D-5A4F-AC32-278B0ED42F01}"/>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82" name="Group 181">
              <a:extLst>
                <a:ext uri="{FF2B5EF4-FFF2-40B4-BE49-F238E27FC236}">
                  <a16:creationId xmlns:a16="http://schemas.microsoft.com/office/drawing/2014/main" id="{EC02EBAB-7E8B-8144-9064-B32C5427DBD9}"/>
                </a:ext>
              </a:extLst>
            </p:cNvPr>
            <p:cNvGrpSpPr/>
            <p:nvPr/>
          </p:nvGrpSpPr>
          <p:grpSpPr>
            <a:xfrm>
              <a:off x="3996812" y="3593688"/>
              <a:ext cx="1196054" cy="1022555"/>
              <a:chOff x="9655277" y="2349909"/>
              <a:chExt cx="1196054" cy="1022555"/>
            </a:xfrm>
          </p:grpSpPr>
          <p:sp>
            <p:nvSpPr>
              <p:cNvPr id="183" name="Freeform 182">
                <a:extLst>
                  <a:ext uri="{FF2B5EF4-FFF2-40B4-BE49-F238E27FC236}">
                    <a16:creationId xmlns:a16="http://schemas.microsoft.com/office/drawing/2014/main" id="{4F8E9313-A12A-3849-B12A-1BC5C1A36AF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CA0F4249-5B41-3D48-9023-8757509C8B5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0" name="Group 219">
              <a:extLst>
                <a:ext uri="{FF2B5EF4-FFF2-40B4-BE49-F238E27FC236}">
                  <a16:creationId xmlns:a16="http://schemas.microsoft.com/office/drawing/2014/main" id="{B89D7B16-224E-0545-AAE5-58B841BB7F79}"/>
                </a:ext>
              </a:extLst>
            </p:cNvPr>
            <p:cNvGrpSpPr/>
            <p:nvPr/>
          </p:nvGrpSpPr>
          <p:grpSpPr>
            <a:xfrm>
              <a:off x="5928850" y="3578941"/>
              <a:ext cx="1196054" cy="1022555"/>
              <a:chOff x="9655277" y="2349909"/>
              <a:chExt cx="1196054" cy="1022555"/>
            </a:xfrm>
          </p:grpSpPr>
          <p:sp>
            <p:nvSpPr>
              <p:cNvPr id="227" name="Freeform 226">
                <a:extLst>
                  <a:ext uri="{FF2B5EF4-FFF2-40B4-BE49-F238E27FC236}">
                    <a16:creationId xmlns:a16="http://schemas.microsoft.com/office/drawing/2014/main" id="{C98EEB01-D57D-DF44-921F-DE4A3FCEA6F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28" name="TextBox 227">
                <a:extLst>
                  <a:ext uri="{FF2B5EF4-FFF2-40B4-BE49-F238E27FC236}">
                    <a16:creationId xmlns:a16="http://schemas.microsoft.com/office/drawing/2014/main" id="{A6BE9F63-A36F-B842-81EA-382F13B1F7EE}"/>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9" name="Group 228">
              <a:extLst>
                <a:ext uri="{FF2B5EF4-FFF2-40B4-BE49-F238E27FC236}">
                  <a16:creationId xmlns:a16="http://schemas.microsoft.com/office/drawing/2014/main" id="{D9355008-5692-5045-9867-573B61A6287F}"/>
                </a:ext>
              </a:extLst>
            </p:cNvPr>
            <p:cNvGrpSpPr/>
            <p:nvPr/>
          </p:nvGrpSpPr>
          <p:grpSpPr>
            <a:xfrm>
              <a:off x="7860888" y="3564194"/>
              <a:ext cx="1196054" cy="1022555"/>
              <a:chOff x="9655277" y="2349909"/>
              <a:chExt cx="1196054" cy="1022555"/>
            </a:xfrm>
          </p:grpSpPr>
          <p:sp>
            <p:nvSpPr>
              <p:cNvPr id="230" name="Freeform 229">
                <a:extLst>
                  <a:ext uri="{FF2B5EF4-FFF2-40B4-BE49-F238E27FC236}">
                    <a16:creationId xmlns:a16="http://schemas.microsoft.com/office/drawing/2014/main" id="{FB50278F-0DAA-BE47-BF4C-10BB64655FD9}"/>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1" name="TextBox 230">
                <a:extLst>
                  <a:ext uri="{FF2B5EF4-FFF2-40B4-BE49-F238E27FC236}">
                    <a16:creationId xmlns:a16="http://schemas.microsoft.com/office/drawing/2014/main" id="{D80FE26B-BC39-3840-8971-AC80538B679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2" name="Group 231">
              <a:extLst>
                <a:ext uri="{FF2B5EF4-FFF2-40B4-BE49-F238E27FC236}">
                  <a16:creationId xmlns:a16="http://schemas.microsoft.com/office/drawing/2014/main" id="{8919850D-033C-884C-874D-578D6BEF54D6}"/>
                </a:ext>
              </a:extLst>
            </p:cNvPr>
            <p:cNvGrpSpPr/>
            <p:nvPr/>
          </p:nvGrpSpPr>
          <p:grpSpPr>
            <a:xfrm>
              <a:off x="3982064" y="5545391"/>
              <a:ext cx="1196054" cy="1022555"/>
              <a:chOff x="9655277" y="2349909"/>
              <a:chExt cx="1196054" cy="1022555"/>
            </a:xfrm>
          </p:grpSpPr>
          <p:sp>
            <p:nvSpPr>
              <p:cNvPr id="233" name="Freeform 232">
                <a:extLst>
                  <a:ext uri="{FF2B5EF4-FFF2-40B4-BE49-F238E27FC236}">
                    <a16:creationId xmlns:a16="http://schemas.microsoft.com/office/drawing/2014/main" id="{A58AC890-F958-6645-870D-1AB87CB3F2A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4" name="TextBox 233">
                <a:extLst>
                  <a:ext uri="{FF2B5EF4-FFF2-40B4-BE49-F238E27FC236}">
                    <a16:creationId xmlns:a16="http://schemas.microsoft.com/office/drawing/2014/main" id="{F91239F9-821D-324E-AED8-FC0DBAC8E53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5" name="Group 234">
              <a:extLst>
                <a:ext uri="{FF2B5EF4-FFF2-40B4-BE49-F238E27FC236}">
                  <a16:creationId xmlns:a16="http://schemas.microsoft.com/office/drawing/2014/main" id="{4D851E35-9983-2647-8751-B14388AB0989}"/>
                </a:ext>
              </a:extLst>
            </p:cNvPr>
            <p:cNvGrpSpPr/>
            <p:nvPr/>
          </p:nvGrpSpPr>
          <p:grpSpPr>
            <a:xfrm>
              <a:off x="5914102" y="5530644"/>
              <a:ext cx="1196054" cy="1022555"/>
              <a:chOff x="9655277" y="2349909"/>
              <a:chExt cx="1196054" cy="1022555"/>
            </a:xfrm>
          </p:grpSpPr>
          <p:sp>
            <p:nvSpPr>
              <p:cNvPr id="236" name="Freeform 235">
                <a:extLst>
                  <a:ext uri="{FF2B5EF4-FFF2-40B4-BE49-F238E27FC236}">
                    <a16:creationId xmlns:a16="http://schemas.microsoft.com/office/drawing/2014/main" id="{B0E043AA-70A2-8045-AEF2-608FF9160AE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7" name="TextBox 236">
                <a:extLst>
                  <a:ext uri="{FF2B5EF4-FFF2-40B4-BE49-F238E27FC236}">
                    <a16:creationId xmlns:a16="http://schemas.microsoft.com/office/drawing/2014/main" id="{E0712C29-CD00-4544-87CB-605AB5CBBE0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8" name="Group 237">
              <a:extLst>
                <a:ext uri="{FF2B5EF4-FFF2-40B4-BE49-F238E27FC236}">
                  <a16:creationId xmlns:a16="http://schemas.microsoft.com/office/drawing/2014/main" id="{031F5E61-5B07-8C41-A704-C2A49253CC50}"/>
                </a:ext>
              </a:extLst>
            </p:cNvPr>
            <p:cNvGrpSpPr/>
            <p:nvPr/>
          </p:nvGrpSpPr>
          <p:grpSpPr>
            <a:xfrm>
              <a:off x="7846140" y="5515897"/>
              <a:ext cx="1196054" cy="1022555"/>
              <a:chOff x="9655277" y="2349909"/>
              <a:chExt cx="1196054" cy="1022555"/>
            </a:xfrm>
          </p:grpSpPr>
          <p:sp>
            <p:nvSpPr>
              <p:cNvPr id="239" name="Freeform 238">
                <a:extLst>
                  <a:ext uri="{FF2B5EF4-FFF2-40B4-BE49-F238E27FC236}">
                    <a16:creationId xmlns:a16="http://schemas.microsoft.com/office/drawing/2014/main" id="{B72B4351-32EB-1245-8CF3-9F678CEC542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0" name="TextBox 239">
                <a:extLst>
                  <a:ext uri="{FF2B5EF4-FFF2-40B4-BE49-F238E27FC236}">
                    <a16:creationId xmlns:a16="http://schemas.microsoft.com/office/drawing/2014/main" id="{2D65D50F-2DBC-ED46-BC08-037761F3504F}"/>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cxnSp>
        <p:nvCxnSpPr>
          <p:cNvPr id="241" name="Straight Connector 240">
            <a:extLst>
              <a:ext uri="{FF2B5EF4-FFF2-40B4-BE49-F238E27FC236}">
                <a16:creationId xmlns:a16="http://schemas.microsoft.com/office/drawing/2014/main" id="{B38AD34A-F832-BE4A-A882-9D9F4CB12C05}"/>
              </a:ext>
            </a:extLst>
          </p:cNvPr>
          <p:cNvCxnSpPr>
            <a:cxnSpLocks/>
          </p:cNvCxnSpPr>
          <p:nvPr/>
        </p:nvCxnSpPr>
        <p:spPr>
          <a:xfrm flipH="1">
            <a:off x="919556" y="2070953"/>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6500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 </a:t>
            </a:r>
            <a:r>
              <a:rPr lang="en-US" dirty="0">
                <a:solidFill>
                  <a:srgbClr val="0000A8"/>
                </a:solidFill>
              </a:rPr>
              <a:t>iteration</a:t>
            </a:r>
            <a:endParaRPr lang="en-US" dirty="0"/>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58</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1032" name="Right Arrow 1031">
            <a:extLst>
              <a:ext uri="{FF2B5EF4-FFF2-40B4-BE49-F238E27FC236}">
                <a16:creationId xmlns:a16="http://schemas.microsoft.com/office/drawing/2014/main" id="{48701230-5EB3-4E4B-BEE9-CAD81136ECF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8" name="TextBox 157">
            <a:extLst>
              <a:ext uri="{FF2B5EF4-FFF2-40B4-BE49-F238E27FC236}">
                <a16:creationId xmlns:a16="http://schemas.microsoft.com/office/drawing/2014/main" id="{766038ED-ED2A-EA48-9435-9C5569CA63F0}"/>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srgbClr val="0000A8"/>
              </a:buClr>
              <a:buFont typeface="Wingdings" pitchFamily="2" charset="2"/>
              <a:buChar char="§"/>
            </a:pPr>
            <a:r>
              <a:rPr lang="en-US" dirty="0">
                <a:solidFill>
                  <a:prstClr val="black"/>
                </a:solidFill>
              </a:rPr>
              <a:t>send their new local distance vector to neighbors</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t=2</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flipH="1">
            <a:off x="919556" y="2070953"/>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93956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up)">
                                      <p:cBhvr>
                                        <p:cTn id="7" dur="1000"/>
                                        <p:tgtEl>
                                          <p:spTgt spid="103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350"/>
                                        </p:tgtEl>
                                        <p:attrNameLst>
                                          <p:attrName>style.visibility</p:attrName>
                                        </p:attrNameLst>
                                      </p:cBhvr>
                                      <p:to>
                                        <p:strVal val="visible"/>
                                      </p:to>
                                    </p:set>
                                    <p:animEffect transition="in" filter="wipe(right)">
                                      <p:cBhvr>
                                        <p:cTn id="13" dur="1000"/>
                                        <p:tgtEl>
                                          <p:spTgt spid="350"/>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268"/>
                                        </p:tgtEl>
                                        <p:attrNameLst>
                                          <p:attrName>style.visibility</p:attrName>
                                        </p:attrNameLst>
                                      </p:cBhvr>
                                      <p:to>
                                        <p:strVal val="visible"/>
                                      </p:to>
                                    </p:set>
                                    <p:animEffect transition="in" filter="wipe(up)">
                                      <p:cBhvr>
                                        <p:cTn id="16" dur="1000"/>
                                        <p:tgtEl>
                                          <p:spTgt spid="26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53"/>
                                        </p:tgtEl>
                                        <p:attrNameLst>
                                          <p:attrName>style.visibility</p:attrName>
                                        </p:attrNameLst>
                                      </p:cBhvr>
                                      <p:to>
                                        <p:strVal val="visible"/>
                                      </p:to>
                                    </p:set>
                                    <p:animEffect transition="in" filter="wipe(left)">
                                      <p:cBhvr>
                                        <p:cTn id="19" dur="1000"/>
                                        <p:tgtEl>
                                          <p:spTgt spid="353"/>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352"/>
                                        </p:tgtEl>
                                        <p:attrNameLst>
                                          <p:attrName>style.visibility</p:attrName>
                                        </p:attrNameLst>
                                      </p:cBhvr>
                                      <p:to>
                                        <p:strVal val="visible"/>
                                      </p:to>
                                    </p:set>
                                    <p:animEffect transition="in" filter="wipe(right)">
                                      <p:cBhvr>
                                        <p:cTn id="22" dur="1000"/>
                                        <p:tgtEl>
                                          <p:spTgt spid="352"/>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67"/>
                                        </p:tgtEl>
                                        <p:attrNameLst>
                                          <p:attrName>style.visibility</p:attrName>
                                        </p:attrNameLst>
                                      </p:cBhvr>
                                      <p:to>
                                        <p:strVal val="visible"/>
                                      </p:to>
                                    </p:set>
                                    <p:animEffect transition="in" filter="wipe(down)">
                                      <p:cBhvr>
                                        <p:cTn id="25" dur="1000"/>
                                        <p:tgtEl>
                                          <p:spTgt spid="267"/>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349"/>
                                        </p:tgtEl>
                                        <p:attrNameLst>
                                          <p:attrName>style.visibility</p:attrName>
                                        </p:attrNameLst>
                                      </p:cBhvr>
                                      <p:to>
                                        <p:strVal val="visible"/>
                                      </p:to>
                                    </p:set>
                                    <p:animEffect transition="in" filter="wipe(left)">
                                      <p:cBhvr>
                                        <p:cTn id="28" dur="1000"/>
                                        <p:tgtEl>
                                          <p:spTgt spid="349"/>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270"/>
                                        </p:tgtEl>
                                        <p:attrNameLst>
                                          <p:attrName>style.visibility</p:attrName>
                                        </p:attrNameLst>
                                      </p:cBhvr>
                                      <p:to>
                                        <p:strVal val="visible"/>
                                      </p:to>
                                    </p:set>
                                    <p:animEffect transition="in" filter="wipe(up)">
                                      <p:cBhvr>
                                        <p:cTn id="31" dur="1000"/>
                                        <p:tgtEl>
                                          <p:spTgt spid="270"/>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348"/>
                                        </p:tgtEl>
                                        <p:attrNameLst>
                                          <p:attrName>style.visibility</p:attrName>
                                        </p:attrNameLst>
                                      </p:cBhvr>
                                      <p:to>
                                        <p:strVal val="visible"/>
                                      </p:to>
                                    </p:set>
                                    <p:animEffect transition="in" filter="wipe(right)">
                                      <p:cBhvr>
                                        <p:cTn id="34" dur="1000"/>
                                        <p:tgtEl>
                                          <p:spTgt spid="348"/>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269"/>
                                        </p:tgtEl>
                                        <p:attrNameLst>
                                          <p:attrName>style.visibility</p:attrName>
                                        </p:attrNameLst>
                                      </p:cBhvr>
                                      <p:to>
                                        <p:strVal val="visible"/>
                                      </p:to>
                                    </p:set>
                                    <p:animEffect transition="in" filter="wipe(down)">
                                      <p:cBhvr>
                                        <p:cTn id="37" dur="1000"/>
                                        <p:tgtEl>
                                          <p:spTgt spid="269"/>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355"/>
                                        </p:tgtEl>
                                        <p:attrNameLst>
                                          <p:attrName>style.visibility</p:attrName>
                                        </p:attrNameLst>
                                      </p:cBhvr>
                                      <p:to>
                                        <p:strVal val="visible"/>
                                      </p:to>
                                    </p:set>
                                    <p:animEffect transition="in" filter="wipe(left)">
                                      <p:cBhvr>
                                        <p:cTn id="40" dur="1000"/>
                                        <p:tgtEl>
                                          <p:spTgt spid="35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up)">
                                      <p:cBhvr>
                                        <p:cTn id="43" dur="1000"/>
                                        <p:tgtEl>
                                          <p:spTgt spid="272"/>
                                        </p:tgtEl>
                                      </p:cBhvr>
                                    </p:animEffect>
                                  </p:childTnLst>
                                </p:cTn>
                              </p:par>
                              <p:par>
                                <p:cTn id="44" presetID="22" presetClass="entr" presetSubtype="2" fill="hold" grpId="0" nodeType="withEffect">
                                  <p:stCondLst>
                                    <p:cond delay="0"/>
                                  </p:stCondLst>
                                  <p:childTnLst>
                                    <p:set>
                                      <p:cBhvr>
                                        <p:cTn id="45" dur="1" fill="hold">
                                          <p:stCondLst>
                                            <p:cond delay="0"/>
                                          </p:stCondLst>
                                        </p:cTn>
                                        <p:tgtEl>
                                          <p:spTgt spid="354"/>
                                        </p:tgtEl>
                                        <p:attrNameLst>
                                          <p:attrName>style.visibility</p:attrName>
                                        </p:attrNameLst>
                                      </p:cBhvr>
                                      <p:to>
                                        <p:strVal val="visible"/>
                                      </p:to>
                                    </p:set>
                                    <p:animEffect transition="in" filter="wipe(right)">
                                      <p:cBhvr>
                                        <p:cTn id="46" dur="1000"/>
                                        <p:tgtEl>
                                          <p:spTgt spid="354"/>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274"/>
                                        </p:tgtEl>
                                        <p:attrNameLst>
                                          <p:attrName>style.visibility</p:attrName>
                                        </p:attrNameLst>
                                      </p:cBhvr>
                                      <p:to>
                                        <p:strVal val="visible"/>
                                      </p:to>
                                    </p:set>
                                    <p:animEffect transition="in" filter="wipe(up)">
                                      <p:cBhvr>
                                        <p:cTn id="49" dur="1000"/>
                                        <p:tgtEl>
                                          <p:spTgt spid="274"/>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271"/>
                                        </p:tgtEl>
                                        <p:attrNameLst>
                                          <p:attrName>style.visibility</p:attrName>
                                        </p:attrNameLst>
                                      </p:cBhvr>
                                      <p:to>
                                        <p:strVal val="visible"/>
                                      </p:to>
                                    </p:set>
                                    <p:animEffect transition="in" filter="wipe(down)">
                                      <p:cBhvr>
                                        <p:cTn id="52" dur="1000"/>
                                        <p:tgtEl>
                                          <p:spTgt spid="27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347"/>
                                        </p:tgtEl>
                                        <p:attrNameLst>
                                          <p:attrName>style.visibility</p:attrName>
                                        </p:attrNameLst>
                                      </p:cBhvr>
                                      <p:to>
                                        <p:strVal val="visible"/>
                                      </p:to>
                                    </p:set>
                                    <p:animEffect transition="in" filter="wipe(left)">
                                      <p:cBhvr>
                                        <p:cTn id="55" dur="1000"/>
                                        <p:tgtEl>
                                          <p:spTgt spid="347"/>
                                        </p:tgtEl>
                                      </p:cBhvr>
                                    </p:animEffect>
                                  </p:childTnLst>
                                </p:cTn>
                              </p:par>
                              <p:par>
                                <p:cTn id="56" presetID="22" presetClass="entr" presetSubtype="2" fill="hold" grpId="0" nodeType="withEffect">
                                  <p:stCondLst>
                                    <p:cond delay="0"/>
                                  </p:stCondLst>
                                  <p:childTnLst>
                                    <p:set>
                                      <p:cBhvr>
                                        <p:cTn id="57" dur="1" fill="hold">
                                          <p:stCondLst>
                                            <p:cond delay="0"/>
                                          </p:stCondLst>
                                        </p:cTn>
                                        <p:tgtEl>
                                          <p:spTgt spid="346"/>
                                        </p:tgtEl>
                                        <p:attrNameLst>
                                          <p:attrName>style.visibility</p:attrName>
                                        </p:attrNameLst>
                                      </p:cBhvr>
                                      <p:to>
                                        <p:strVal val="visible"/>
                                      </p:to>
                                    </p:set>
                                    <p:animEffect transition="in" filter="wipe(right)">
                                      <p:cBhvr>
                                        <p:cTn id="58" dur="1000"/>
                                        <p:tgtEl>
                                          <p:spTgt spid="346"/>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273"/>
                                        </p:tgtEl>
                                        <p:attrNameLst>
                                          <p:attrName>style.visibility</p:attrName>
                                        </p:attrNameLst>
                                      </p:cBhvr>
                                      <p:to>
                                        <p:strVal val="visible"/>
                                      </p:to>
                                    </p:set>
                                    <p:animEffect transition="in" filter="wipe(down)">
                                      <p:cBhvr>
                                        <p:cTn id="61" dur="1000"/>
                                        <p:tgtEl>
                                          <p:spTgt spid="273"/>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80"/>
                                        </p:tgtEl>
                                        <p:attrNameLst>
                                          <p:attrName>style.visibility</p:attrName>
                                        </p:attrNameLst>
                                      </p:cBhvr>
                                      <p:to>
                                        <p:strVal val="visible"/>
                                      </p:to>
                                    </p:set>
                                    <p:animEffect transition="in" filter="wipe(left)">
                                      <p:cBhvr>
                                        <p:cTn id="64" dur="1000"/>
                                        <p:tgtEl>
                                          <p:spTgt spid="280"/>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279"/>
                                        </p:tgtEl>
                                        <p:attrNameLst>
                                          <p:attrName>style.visibility</p:attrName>
                                        </p:attrNameLst>
                                      </p:cBhvr>
                                      <p:to>
                                        <p:strVal val="visible"/>
                                      </p:to>
                                    </p:set>
                                    <p:animEffect transition="in" filter="wipe(right)">
                                      <p:cBhvr>
                                        <p:cTn id="67" dur="1000"/>
                                        <p:tgtEl>
                                          <p:spTgt spid="279"/>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275"/>
                                        </p:tgtEl>
                                        <p:attrNameLst>
                                          <p:attrName>style.visibility</p:attrName>
                                        </p:attrNameLst>
                                      </p:cBhvr>
                                      <p:to>
                                        <p:strVal val="visible"/>
                                      </p:to>
                                    </p:set>
                                    <p:animEffect transition="in" filter="wipe(down)">
                                      <p:cBhvr>
                                        <p:cTn id="70" dur="10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 </a:t>
            </a:r>
            <a:r>
              <a:rPr lang="en-US" dirty="0">
                <a:solidFill>
                  <a:srgbClr val="0000A8"/>
                </a:solidFill>
              </a:rPr>
              <a:t>iteration</a:t>
            </a:r>
            <a:endParaRPr lang="en-US" dirty="0"/>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59</a:t>
            </a:fld>
            <a:endParaRPr lang="en-US" dirty="0">
              <a:solidFill>
                <a:prstClr val="white">
                  <a:lumMod val="50000"/>
                </a:prstClr>
              </a:solidFill>
            </a:endParaRPr>
          </a:p>
        </p:txBody>
      </p:sp>
      <p:sp>
        <p:nvSpPr>
          <p:cNvPr id="3" name="TextBox 2">
            <a:extLst>
              <a:ext uri="{FF2B5EF4-FFF2-40B4-BE49-F238E27FC236}">
                <a16:creationId xmlns:a16="http://schemas.microsoft.com/office/drawing/2014/main" id="{E64D2C47-1DEC-CB48-81E3-F236B95001DD}"/>
              </a:ext>
            </a:extLst>
          </p:cNvPr>
          <p:cNvSpPr txBox="1"/>
          <p:nvPr/>
        </p:nvSpPr>
        <p:spPr>
          <a:xfrm>
            <a:off x="1280160" y="1859280"/>
            <a:ext cx="8864671" cy="1384995"/>
          </a:xfrm>
          <a:prstGeom prst="rect">
            <a:avLst/>
          </a:prstGeom>
          <a:noFill/>
        </p:spPr>
        <p:txBody>
          <a:bodyPr wrap="none" rtlCol="0">
            <a:spAutoFit/>
          </a:bodyPr>
          <a:lstStyle/>
          <a:p>
            <a:r>
              <a:rPr lang="en-US" sz="2800" dirty="0">
                <a:solidFill>
                  <a:prstClr val="black"/>
                </a:solidFill>
              </a:rPr>
              <a:t>…. and so on</a:t>
            </a:r>
          </a:p>
          <a:p>
            <a:endParaRPr lang="en-US" sz="2800" dirty="0">
              <a:solidFill>
                <a:prstClr val="black"/>
              </a:solidFill>
            </a:endParaRPr>
          </a:p>
          <a:p>
            <a:r>
              <a:rPr lang="en-US" sz="2800" dirty="0">
                <a:solidFill>
                  <a:prstClr val="black"/>
                </a:solidFill>
              </a:rPr>
              <a:t>Let’s next take a look at the iterative </a:t>
            </a:r>
            <a:r>
              <a:rPr lang="en-US" sz="2800" i="1" dirty="0">
                <a:solidFill>
                  <a:prstClr val="black"/>
                </a:solidFill>
              </a:rPr>
              <a:t>computations</a:t>
            </a:r>
            <a:r>
              <a:rPr lang="en-US" sz="2800" dirty="0">
                <a:solidFill>
                  <a:prstClr val="black"/>
                </a:solidFill>
              </a:rPr>
              <a:t> at nodes</a:t>
            </a:r>
          </a:p>
        </p:txBody>
      </p:sp>
    </p:spTree>
    <p:extLst>
      <p:ext uri="{BB962C8B-B14F-4D97-AF65-F5344CB8AC3E}">
        <p14:creationId xmlns:p14="http://schemas.microsoft.com/office/powerpoint/2010/main" val="67661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 name="Group 371">
            <a:extLst>
              <a:ext uri="{FF2B5EF4-FFF2-40B4-BE49-F238E27FC236}">
                <a16:creationId xmlns:a16="http://schemas.microsoft.com/office/drawing/2014/main" id="{6256310D-2722-AC40-836B-70B2E6C735F3}"/>
              </a:ext>
            </a:extLst>
          </p:cNvPr>
          <p:cNvGrpSpPr/>
          <p:nvPr/>
        </p:nvGrpSpPr>
        <p:grpSpPr>
          <a:xfrm>
            <a:off x="2827965" y="1130710"/>
            <a:ext cx="1547391" cy="2620631"/>
            <a:chOff x="3221255" y="1012723"/>
            <a:chExt cx="1547391" cy="2620631"/>
          </a:xfrm>
        </p:grpSpPr>
        <p:sp>
          <p:nvSpPr>
            <p:cNvPr id="373" name="Freeform 372">
              <a:extLst>
                <a:ext uri="{FF2B5EF4-FFF2-40B4-BE49-F238E27FC236}">
                  <a16:creationId xmlns:a16="http://schemas.microsoft.com/office/drawing/2014/main" id="{83550A18-F3EF-E943-8229-8A03AEBA0C06}"/>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4" name="Group 373">
              <a:extLst>
                <a:ext uri="{FF2B5EF4-FFF2-40B4-BE49-F238E27FC236}">
                  <a16:creationId xmlns:a16="http://schemas.microsoft.com/office/drawing/2014/main" id="{CB9AF062-8753-5B40-ABD3-B709A7CA41D6}"/>
                </a:ext>
              </a:extLst>
            </p:cNvPr>
            <p:cNvGrpSpPr/>
            <p:nvPr/>
          </p:nvGrpSpPr>
          <p:grpSpPr>
            <a:xfrm>
              <a:off x="3221255" y="1012723"/>
              <a:ext cx="1172904" cy="2620631"/>
              <a:chOff x="3221255" y="1012723"/>
              <a:chExt cx="1172904" cy="2620631"/>
            </a:xfrm>
          </p:grpSpPr>
          <p:sp>
            <p:nvSpPr>
              <p:cNvPr id="375" name="Rectangle 374">
                <a:extLst>
                  <a:ext uri="{FF2B5EF4-FFF2-40B4-BE49-F238E27FC236}">
                    <a16:creationId xmlns:a16="http://schemas.microsoft.com/office/drawing/2014/main" id="{993DA739-7CEA-114D-820B-DF132DB3984F}"/>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6" name="Group 375">
                <a:extLst>
                  <a:ext uri="{FF2B5EF4-FFF2-40B4-BE49-F238E27FC236}">
                    <a16:creationId xmlns:a16="http://schemas.microsoft.com/office/drawing/2014/main" id="{CCC46E28-2F9A-614B-981E-EA679AD82EB0}"/>
                  </a:ext>
                </a:extLst>
              </p:cNvPr>
              <p:cNvGrpSpPr/>
              <p:nvPr/>
            </p:nvGrpSpPr>
            <p:grpSpPr>
              <a:xfrm>
                <a:off x="3221255" y="1017253"/>
                <a:ext cx="1172904" cy="2616101"/>
                <a:chOff x="9477371" y="702026"/>
                <a:chExt cx="1172904" cy="2616101"/>
              </a:xfrm>
            </p:grpSpPr>
            <p:sp>
              <p:nvSpPr>
                <p:cNvPr id="377" name="Rectangle 376">
                  <a:extLst>
                    <a:ext uri="{FF2B5EF4-FFF2-40B4-BE49-F238E27FC236}">
                      <a16:creationId xmlns:a16="http://schemas.microsoft.com/office/drawing/2014/main" id="{99E48FE5-7FBB-0648-927F-69AA9BA117F7}"/>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8" name="TextBox 377">
                  <a:extLst>
                    <a:ext uri="{FF2B5EF4-FFF2-40B4-BE49-F238E27FC236}">
                      <a16:creationId xmlns:a16="http://schemas.microsoft.com/office/drawing/2014/main" id="{741917D9-8AC9-0D49-8D6F-B97725FED00C}"/>
                    </a:ext>
                  </a:extLst>
                </p:cNvPr>
                <p:cNvSpPr txBox="1"/>
                <p:nvPr/>
              </p:nvSpPr>
              <p:spPr>
                <a:xfrm>
                  <a:off x="9533078" y="702026"/>
                  <a:ext cx="1117197" cy="2616101"/>
                </a:xfrm>
                <a:prstGeom prst="rect">
                  <a:avLst/>
                </a:prstGeom>
                <a:noFill/>
              </p:spPr>
              <p:txBody>
                <a:bodyPr wrap="square" rtlCol="0">
                  <a:spAutoFit/>
                </a:bodyPr>
                <a:lstStyle/>
                <a:p>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9" name="Straight Connector 378">
                  <a:extLst>
                    <a:ext uri="{FF2B5EF4-FFF2-40B4-BE49-F238E27FC236}">
                      <a16:creationId xmlns:a16="http://schemas.microsoft.com/office/drawing/2014/main" id="{50ED32A2-619A-5348-8102-F0D95343ADBB}"/>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0" name="Rectangle 379">
                  <a:extLst>
                    <a:ext uri="{FF2B5EF4-FFF2-40B4-BE49-F238E27FC236}">
                      <a16:creationId xmlns:a16="http://schemas.microsoft.com/office/drawing/2014/main" id="{DCEA8569-4767-BC4F-95B8-4CEC559CA8A1}"/>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60</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b receives DVs from a, c, e</a:t>
            </a:r>
          </a:p>
        </p:txBody>
      </p:sp>
      <p:sp>
        <p:nvSpPr>
          <p:cNvPr id="345" name="Right Arrow 344">
            <a:extLst>
              <a:ext uri="{FF2B5EF4-FFF2-40B4-BE49-F238E27FC236}">
                <a16:creationId xmlns:a16="http://schemas.microsoft.com/office/drawing/2014/main" id="{92F5E3C5-FAC5-934A-B5A5-9BE872588D4E}"/>
              </a:ext>
            </a:extLst>
          </p:cNvPr>
          <p:cNvSpPr/>
          <p:nvPr/>
        </p:nvSpPr>
        <p:spPr>
          <a:xfrm rot="16200000">
            <a:off x="6346718" y="340688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6" name="Right Arrow 355">
            <a:extLst>
              <a:ext uri="{FF2B5EF4-FFF2-40B4-BE49-F238E27FC236}">
                <a16:creationId xmlns:a16="http://schemas.microsoft.com/office/drawing/2014/main" id="{FECE1C4C-C6DE-E44B-8914-C9FAB6E59F01}"/>
              </a:ext>
            </a:extLst>
          </p:cNvPr>
          <p:cNvSpPr/>
          <p:nvPr/>
        </p:nvSpPr>
        <p:spPr>
          <a:xfrm>
            <a:off x="4973224" y="19379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7" name="Right Arrow 356">
            <a:extLst>
              <a:ext uri="{FF2B5EF4-FFF2-40B4-BE49-F238E27FC236}">
                <a16:creationId xmlns:a16="http://schemas.microsoft.com/office/drawing/2014/main" id="{E44AC5A8-AB5C-6D48-965A-B3150C882B9F}"/>
              </a:ext>
            </a:extLst>
          </p:cNvPr>
          <p:cNvSpPr/>
          <p:nvPr/>
        </p:nvSpPr>
        <p:spPr>
          <a:xfrm rot="10800000">
            <a:off x="7631559" y="191970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 name="Group 3">
            <a:extLst>
              <a:ext uri="{FF2B5EF4-FFF2-40B4-BE49-F238E27FC236}">
                <a16:creationId xmlns:a16="http://schemas.microsoft.com/office/drawing/2014/main" id="{D3B35DA9-63C6-B944-AEED-1CE8A219D68F}"/>
              </a:ext>
            </a:extLst>
          </p:cNvPr>
          <p:cNvGrpSpPr/>
          <p:nvPr/>
        </p:nvGrpSpPr>
        <p:grpSpPr>
          <a:xfrm>
            <a:off x="8740877" y="219997"/>
            <a:ext cx="2045109" cy="2667397"/>
            <a:chOff x="8740877" y="219997"/>
            <a:chExt cx="2045109" cy="2667397"/>
          </a:xfrm>
        </p:grpSpPr>
        <p:sp>
          <p:nvSpPr>
            <p:cNvPr id="234" name="Freeform 233">
              <a:extLst>
                <a:ext uri="{FF2B5EF4-FFF2-40B4-BE49-F238E27FC236}">
                  <a16:creationId xmlns:a16="http://schemas.microsoft.com/office/drawing/2014/main" id="{CD3625DA-7674-FD43-A116-87C156BB9E53}"/>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8" name="Group 357">
              <a:extLst>
                <a:ext uri="{FF2B5EF4-FFF2-40B4-BE49-F238E27FC236}">
                  <a16:creationId xmlns:a16="http://schemas.microsoft.com/office/drawing/2014/main" id="{8E84743B-19DB-E241-B0AF-861F515FE360}"/>
                </a:ext>
              </a:extLst>
            </p:cNvPr>
            <p:cNvGrpSpPr/>
            <p:nvPr/>
          </p:nvGrpSpPr>
          <p:grpSpPr>
            <a:xfrm>
              <a:off x="9636528" y="219997"/>
              <a:ext cx="1149458" cy="2667397"/>
              <a:chOff x="9764348" y="1447800"/>
              <a:chExt cx="1149458" cy="2667397"/>
            </a:xfrm>
          </p:grpSpPr>
          <p:sp>
            <p:nvSpPr>
              <p:cNvPr id="359" name="Rectangle 358">
                <a:extLst>
                  <a:ext uri="{FF2B5EF4-FFF2-40B4-BE49-F238E27FC236}">
                    <a16:creationId xmlns:a16="http://schemas.microsoft.com/office/drawing/2014/main" id="{FBF5705D-BC98-2845-B684-C5D5E33CE86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45185F04-540F-1048-94D0-753D4872458F}"/>
                  </a:ext>
                </a:extLst>
              </p:cNvPr>
              <p:cNvGrpSpPr/>
              <p:nvPr/>
            </p:nvGrpSpPr>
            <p:grpSpPr>
              <a:xfrm>
                <a:off x="9764348" y="1447800"/>
                <a:ext cx="1130291" cy="2667397"/>
                <a:chOff x="9472119" y="702026"/>
                <a:chExt cx="1130291" cy="2667397"/>
              </a:xfrm>
            </p:grpSpPr>
            <p:sp>
              <p:nvSpPr>
                <p:cNvPr id="361" name="Rectangle 360">
                  <a:extLst>
                    <a:ext uri="{FF2B5EF4-FFF2-40B4-BE49-F238E27FC236}">
                      <a16:creationId xmlns:a16="http://schemas.microsoft.com/office/drawing/2014/main" id="{F1B029F2-3CFB-F446-A49B-ABBE33D0754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2" name="TextBox 361">
                  <a:extLst>
                    <a:ext uri="{FF2B5EF4-FFF2-40B4-BE49-F238E27FC236}">
                      <a16:creationId xmlns:a16="http://schemas.microsoft.com/office/drawing/2014/main" id="{E601508D-C456-214F-B2CC-E58813667624}"/>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3" name="Straight Connector 362">
                  <a:extLst>
                    <a:ext uri="{FF2B5EF4-FFF2-40B4-BE49-F238E27FC236}">
                      <a16:creationId xmlns:a16="http://schemas.microsoft.com/office/drawing/2014/main" id="{3FDDC54C-ACD2-B847-8FF7-2C6CBDB5C16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4" name="Rectangle 363">
                  <a:extLst>
                    <a:ext uri="{FF2B5EF4-FFF2-40B4-BE49-F238E27FC236}">
                      <a16:creationId xmlns:a16="http://schemas.microsoft.com/office/drawing/2014/main" id="{C28D2058-9ADC-2F45-A3D5-6BE95FBA06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183" name="Freeform 182">
            <a:extLst>
              <a:ext uri="{FF2B5EF4-FFF2-40B4-BE49-F238E27FC236}">
                <a16:creationId xmlns:a16="http://schemas.microsoft.com/office/drawing/2014/main" id="{2593EFCC-23E2-4043-94E6-A9E17FCC79C5}"/>
              </a:ext>
            </a:extLst>
          </p:cNvPr>
          <p:cNvSpPr/>
          <p:nvPr/>
        </p:nvSpPr>
        <p:spPr>
          <a:xfrm>
            <a:off x="6794417" y="3016538"/>
            <a:ext cx="288970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9702" h="2634390">
                <a:moveTo>
                  <a:pt x="10817" y="896701"/>
                </a:moveTo>
                <a:cubicBezTo>
                  <a:pt x="1751126" y="516521"/>
                  <a:pt x="1777345" y="533564"/>
                  <a:pt x="2869381" y="0"/>
                </a:cubicBezTo>
                <a:cubicBezTo>
                  <a:pt x="2869381" y="783303"/>
                  <a:pt x="2889702" y="1851087"/>
                  <a:pt x="2889702" y="2634390"/>
                </a:cubicBezTo>
                <a:cubicBezTo>
                  <a:pt x="2630785" y="598784"/>
                  <a:pt x="2043143" y="642374"/>
                  <a:pt x="0" y="1094330"/>
                </a:cubicBezTo>
                <a:lnTo>
                  <a:pt x="10817" y="8967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5" name="Group 364">
            <a:extLst>
              <a:ext uri="{FF2B5EF4-FFF2-40B4-BE49-F238E27FC236}">
                <a16:creationId xmlns:a16="http://schemas.microsoft.com/office/drawing/2014/main" id="{CD6AC636-949C-B04A-A12F-4BBF60E3A068}"/>
              </a:ext>
            </a:extLst>
          </p:cNvPr>
          <p:cNvGrpSpPr/>
          <p:nvPr/>
        </p:nvGrpSpPr>
        <p:grpSpPr>
          <a:xfrm>
            <a:off x="9654637" y="3018176"/>
            <a:ext cx="1131350" cy="2675039"/>
            <a:chOff x="9762792" y="4031226"/>
            <a:chExt cx="1131350" cy="2675039"/>
          </a:xfrm>
        </p:grpSpPr>
        <p:sp>
          <p:nvSpPr>
            <p:cNvPr id="366" name="Rectangle 365">
              <a:extLst>
                <a:ext uri="{FF2B5EF4-FFF2-40B4-BE49-F238E27FC236}">
                  <a16:creationId xmlns:a16="http://schemas.microsoft.com/office/drawing/2014/main" id="{E11C6EC6-4F28-CD44-B5B6-0143F1CD0CD3}"/>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7" name="Group 366">
              <a:extLst>
                <a:ext uri="{FF2B5EF4-FFF2-40B4-BE49-F238E27FC236}">
                  <a16:creationId xmlns:a16="http://schemas.microsoft.com/office/drawing/2014/main" id="{B79E58C0-B1B4-B94B-8F0E-EB904614ACD4}"/>
                </a:ext>
              </a:extLst>
            </p:cNvPr>
            <p:cNvGrpSpPr/>
            <p:nvPr/>
          </p:nvGrpSpPr>
          <p:grpSpPr>
            <a:xfrm>
              <a:off x="9762792" y="4038868"/>
              <a:ext cx="1130292" cy="2667397"/>
              <a:chOff x="9472118" y="702026"/>
              <a:chExt cx="1130292" cy="2667397"/>
            </a:xfrm>
          </p:grpSpPr>
          <p:sp>
            <p:nvSpPr>
              <p:cNvPr id="368" name="Rectangle 367">
                <a:extLst>
                  <a:ext uri="{FF2B5EF4-FFF2-40B4-BE49-F238E27FC236}">
                    <a16:creationId xmlns:a16="http://schemas.microsoft.com/office/drawing/2014/main" id="{F6C3876C-103E-634C-8619-285D4D96A9C8}"/>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9" name="TextBox 368">
                <a:extLst>
                  <a:ext uri="{FF2B5EF4-FFF2-40B4-BE49-F238E27FC236}">
                    <a16:creationId xmlns:a16="http://schemas.microsoft.com/office/drawing/2014/main" id="{7C7420E3-75DE-FB4C-B805-F6E92683D068}"/>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0" name="Straight Connector 369">
                <a:extLst>
                  <a:ext uri="{FF2B5EF4-FFF2-40B4-BE49-F238E27FC236}">
                    <a16:creationId xmlns:a16="http://schemas.microsoft.com/office/drawing/2014/main" id="{1DC7A48D-E2F6-C84C-A00F-2E0AAD581115}"/>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1" name="Rectangle 370">
                <a:extLst>
                  <a:ext uri="{FF2B5EF4-FFF2-40B4-BE49-F238E27FC236}">
                    <a16:creationId xmlns:a16="http://schemas.microsoft.com/office/drawing/2014/main" id="{D7FCACB9-7EBD-6042-B148-4018CD65A0BC}"/>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Tree>
    <p:extLst>
      <p:ext uri="{BB962C8B-B14F-4D97-AF65-F5344CB8AC3E}">
        <p14:creationId xmlns:p14="http://schemas.microsoft.com/office/powerpoint/2010/main" val="34587478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1"/>
                                        </p:tgtEl>
                                        <p:attrNameLst>
                                          <p:attrName>style.visibility</p:attrName>
                                        </p:attrNameLst>
                                      </p:cBhvr>
                                      <p:to>
                                        <p:strVal val="visible"/>
                                      </p:to>
                                    </p:set>
                                    <p:animEffect transition="in" filter="wipe(down)">
                                      <p:cBhvr>
                                        <p:cTn id="7" dur="500"/>
                                        <p:tgtEl>
                                          <p:spTgt spid="24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54"/>
                                        </p:tgtEl>
                                        <p:attrNameLst>
                                          <p:attrName>style.visibility</p:attrName>
                                        </p:attrNameLst>
                                      </p:cBhvr>
                                      <p:to>
                                        <p:strVal val="visible"/>
                                      </p:to>
                                    </p:set>
                                    <p:animEffect transition="in" filter="dissolve">
                                      <p:cBhvr>
                                        <p:cTn id="10" dur="500"/>
                                        <p:tgtEl>
                                          <p:spTgt spid="15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372"/>
                                        </p:tgtEl>
                                        <p:attrNameLst>
                                          <p:attrName>style.visibility</p:attrName>
                                        </p:attrNameLst>
                                      </p:cBhvr>
                                      <p:to>
                                        <p:strVal val="visible"/>
                                      </p:to>
                                    </p:set>
                                    <p:animEffect transition="in" filter="wipe(right)">
                                      <p:cBhvr>
                                        <p:cTn id="15" dur="500"/>
                                        <p:tgtEl>
                                          <p:spTgt spid="37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83"/>
                                        </p:tgtEl>
                                        <p:attrNameLst>
                                          <p:attrName>style.visibility</p:attrName>
                                        </p:attrNameLst>
                                      </p:cBhvr>
                                      <p:to>
                                        <p:strVal val="visible"/>
                                      </p:to>
                                    </p:set>
                                    <p:animEffect transition="in" filter="wipe(left)">
                                      <p:cBhvr>
                                        <p:cTn id="25" dur="500"/>
                                        <p:tgtEl>
                                          <p:spTgt spid="183"/>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365"/>
                                        </p:tgtEl>
                                        <p:attrNameLst>
                                          <p:attrName>style.visibility</p:attrName>
                                        </p:attrNameLst>
                                      </p:cBhvr>
                                      <p:to>
                                        <p:strVal val="visible"/>
                                      </p:to>
                                    </p:set>
                                    <p:animEffect transition="in" filter="wipe(left)">
                                      <p:cBhvr>
                                        <p:cTn id="29" dur="500"/>
                                        <p:tgtEl>
                                          <p:spTgt spid="36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2" fill="hold" grpId="0" nodeType="clickEffect">
                                  <p:stCondLst>
                                    <p:cond delay="0"/>
                                  </p:stCondLst>
                                  <p:childTnLst>
                                    <p:set>
                                      <p:cBhvr>
                                        <p:cTn id="33" dur="1" fill="hold">
                                          <p:stCondLst>
                                            <p:cond delay="0"/>
                                          </p:stCondLst>
                                        </p:cTn>
                                        <p:tgtEl>
                                          <p:spTgt spid="357"/>
                                        </p:tgtEl>
                                        <p:attrNameLst>
                                          <p:attrName>style.visibility</p:attrName>
                                        </p:attrNameLst>
                                      </p:cBhvr>
                                      <p:to>
                                        <p:strVal val="visible"/>
                                      </p:to>
                                    </p:set>
                                    <p:animEffect transition="in" filter="wipe(right)">
                                      <p:cBhvr>
                                        <p:cTn id="34" dur="500"/>
                                        <p:tgtEl>
                                          <p:spTgt spid="357"/>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356"/>
                                        </p:tgtEl>
                                        <p:attrNameLst>
                                          <p:attrName>style.visibility</p:attrName>
                                        </p:attrNameLst>
                                      </p:cBhvr>
                                      <p:to>
                                        <p:strVal val="visible"/>
                                      </p:to>
                                    </p:set>
                                    <p:animEffect transition="in" filter="wipe(left)">
                                      <p:cBhvr>
                                        <p:cTn id="37" dur="500"/>
                                        <p:tgtEl>
                                          <p:spTgt spid="35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345"/>
                                        </p:tgtEl>
                                        <p:attrNameLst>
                                          <p:attrName>style.visibility</p:attrName>
                                        </p:attrNameLst>
                                      </p:cBhvr>
                                      <p:to>
                                        <p:strVal val="visible"/>
                                      </p:to>
                                    </p:set>
                                    <p:animEffect transition="in" filter="wipe(down)">
                                      <p:cBhvr>
                                        <p:cTn id="40" dur="500"/>
                                        <p:tgtEl>
                                          <p:spTgt spid="3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animBg="1"/>
      <p:bldP spid="345" grpId="0" animBg="1"/>
      <p:bldP spid="356" grpId="0" animBg="1"/>
      <p:bldP spid="357" grpId="0" animBg="1"/>
      <p:bldP spid="183"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66" name="Group 265">
            <a:extLst>
              <a:ext uri="{FF2B5EF4-FFF2-40B4-BE49-F238E27FC236}">
                <a16:creationId xmlns:a16="http://schemas.microsoft.com/office/drawing/2014/main" id="{F5A721E1-D89A-D04F-AF9A-53AC581D1684}"/>
              </a:ext>
            </a:extLst>
          </p:cNvPr>
          <p:cNvGrpSpPr/>
          <p:nvPr/>
        </p:nvGrpSpPr>
        <p:grpSpPr>
          <a:xfrm>
            <a:off x="2827965" y="1130710"/>
            <a:ext cx="1547391" cy="2620631"/>
            <a:chOff x="3221255" y="1012723"/>
            <a:chExt cx="1547391" cy="2620631"/>
          </a:xfrm>
        </p:grpSpPr>
        <p:sp>
          <p:nvSpPr>
            <p:cNvPr id="267" name="Freeform 266">
              <a:extLst>
                <a:ext uri="{FF2B5EF4-FFF2-40B4-BE49-F238E27FC236}">
                  <a16:creationId xmlns:a16="http://schemas.microsoft.com/office/drawing/2014/main" id="{49DB6681-9B63-7A46-990C-D2A795B1B751}"/>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68" name="Group 267">
              <a:extLst>
                <a:ext uri="{FF2B5EF4-FFF2-40B4-BE49-F238E27FC236}">
                  <a16:creationId xmlns:a16="http://schemas.microsoft.com/office/drawing/2014/main" id="{69CB876D-91B9-C142-AA5B-DC2AF8DEC6AE}"/>
                </a:ext>
              </a:extLst>
            </p:cNvPr>
            <p:cNvGrpSpPr/>
            <p:nvPr/>
          </p:nvGrpSpPr>
          <p:grpSpPr>
            <a:xfrm>
              <a:off x="3221255" y="1012723"/>
              <a:ext cx="1172904" cy="2620631"/>
              <a:chOff x="3221255" y="1012723"/>
              <a:chExt cx="1172904" cy="2620631"/>
            </a:xfrm>
          </p:grpSpPr>
          <p:sp>
            <p:nvSpPr>
              <p:cNvPr id="269" name="Rectangle 268">
                <a:extLst>
                  <a:ext uri="{FF2B5EF4-FFF2-40B4-BE49-F238E27FC236}">
                    <a16:creationId xmlns:a16="http://schemas.microsoft.com/office/drawing/2014/main" id="{FC99428F-669F-1E46-A55A-26DF3A9BEA1B}"/>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70" name="Group 269">
                <a:extLst>
                  <a:ext uri="{FF2B5EF4-FFF2-40B4-BE49-F238E27FC236}">
                    <a16:creationId xmlns:a16="http://schemas.microsoft.com/office/drawing/2014/main" id="{677BBA41-FB32-774E-B537-76ECED6020C6}"/>
                  </a:ext>
                </a:extLst>
              </p:cNvPr>
              <p:cNvGrpSpPr/>
              <p:nvPr/>
            </p:nvGrpSpPr>
            <p:grpSpPr>
              <a:xfrm>
                <a:off x="3221255" y="1017253"/>
                <a:ext cx="1172904" cy="2616101"/>
                <a:chOff x="9477371" y="702026"/>
                <a:chExt cx="1172904" cy="2616101"/>
              </a:xfrm>
            </p:grpSpPr>
            <p:sp>
              <p:nvSpPr>
                <p:cNvPr id="271" name="Rectangle 270">
                  <a:extLst>
                    <a:ext uri="{FF2B5EF4-FFF2-40B4-BE49-F238E27FC236}">
                      <a16:creationId xmlns:a16="http://schemas.microsoft.com/office/drawing/2014/main" id="{4648EB17-23D0-A848-88DD-EC56D3EAAB24}"/>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TextBox 271">
                  <a:extLst>
                    <a:ext uri="{FF2B5EF4-FFF2-40B4-BE49-F238E27FC236}">
                      <a16:creationId xmlns:a16="http://schemas.microsoft.com/office/drawing/2014/main" id="{FF1D7D44-0F2C-4347-A4A1-BBEC5CE4FD94}"/>
                    </a:ext>
                  </a:extLst>
                </p:cNvPr>
                <p:cNvSpPr txBox="1"/>
                <p:nvPr/>
              </p:nvSpPr>
              <p:spPr>
                <a:xfrm>
                  <a:off x="9533078" y="702026"/>
                  <a:ext cx="1117197" cy="2616101"/>
                </a:xfrm>
                <a:prstGeom prst="rect">
                  <a:avLst/>
                </a:prstGeom>
                <a:noFill/>
              </p:spPr>
              <p:txBody>
                <a:bodyPr wrap="square" rtlCol="0">
                  <a:spAutoFit/>
                </a:bodyPr>
                <a:lstStyle/>
                <a:p>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273" name="Straight Connector 272">
                  <a:extLst>
                    <a:ext uri="{FF2B5EF4-FFF2-40B4-BE49-F238E27FC236}">
                      <a16:creationId xmlns:a16="http://schemas.microsoft.com/office/drawing/2014/main" id="{8B19CF8A-DF73-AB45-8BDA-ABCDA25B842C}"/>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74" name="Rectangle 273">
                  <a:extLst>
                    <a:ext uri="{FF2B5EF4-FFF2-40B4-BE49-F238E27FC236}">
                      <a16:creationId xmlns:a16="http://schemas.microsoft.com/office/drawing/2014/main" id="{916DB935-59F3-ED4F-9B27-B2F6B2896EC2}"/>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grpSp>
        <p:nvGrpSpPr>
          <p:cNvPr id="275" name="Group 274">
            <a:extLst>
              <a:ext uri="{FF2B5EF4-FFF2-40B4-BE49-F238E27FC236}">
                <a16:creationId xmlns:a16="http://schemas.microsoft.com/office/drawing/2014/main" id="{A2F1D687-C332-114C-A115-90CF8BBB8F39}"/>
              </a:ext>
            </a:extLst>
          </p:cNvPr>
          <p:cNvGrpSpPr/>
          <p:nvPr/>
        </p:nvGrpSpPr>
        <p:grpSpPr>
          <a:xfrm>
            <a:off x="6656438" y="235974"/>
            <a:ext cx="2493133" cy="1917291"/>
            <a:chOff x="7010400" y="108155"/>
            <a:chExt cx="2493133" cy="1917291"/>
          </a:xfrm>
        </p:grpSpPr>
        <p:sp>
          <p:nvSpPr>
            <p:cNvPr id="276" name="Freeform 275">
              <a:extLst>
                <a:ext uri="{FF2B5EF4-FFF2-40B4-BE49-F238E27FC236}">
                  <a16:creationId xmlns:a16="http://schemas.microsoft.com/office/drawing/2014/main" id="{7C98B51F-B4A6-3B45-888C-5FBB44E4FF36}"/>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77" name="Group 276">
              <a:extLst>
                <a:ext uri="{FF2B5EF4-FFF2-40B4-BE49-F238E27FC236}">
                  <a16:creationId xmlns:a16="http://schemas.microsoft.com/office/drawing/2014/main" id="{A45539DD-F434-7243-8ECC-25D3434D7334}"/>
                </a:ext>
              </a:extLst>
            </p:cNvPr>
            <p:cNvGrpSpPr/>
            <p:nvPr/>
          </p:nvGrpSpPr>
          <p:grpSpPr>
            <a:xfrm>
              <a:off x="7323884" y="108155"/>
              <a:ext cx="2179649" cy="1445342"/>
              <a:chOff x="7323884" y="108155"/>
              <a:chExt cx="2179649" cy="1445342"/>
            </a:xfrm>
          </p:grpSpPr>
          <p:sp>
            <p:nvSpPr>
              <p:cNvPr id="278" name="Rectangle 277">
                <a:extLst>
                  <a:ext uri="{FF2B5EF4-FFF2-40B4-BE49-F238E27FC236}">
                    <a16:creationId xmlns:a16="http://schemas.microsoft.com/office/drawing/2014/main" id="{CA406176-DE57-4844-B765-7A5DBC46A9EB}"/>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79" name="Group 278">
                <a:extLst>
                  <a:ext uri="{FF2B5EF4-FFF2-40B4-BE49-F238E27FC236}">
                    <a16:creationId xmlns:a16="http://schemas.microsoft.com/office/drawing/2014/main" id="{D1BD4369-9943-0043-95A9-A467EAB2D21E}"/>
                  </a:ext>
                </a:extLst>
              </p:cNvPr>
              <p:cNvGrpSpPr/>
              <p:nvPr/>
            </p:nvGrpSpPr>
            <p:grpSpPr>
              <a:xfrm>
                <a:off x="7323884" y="120836"/>
                <a:ext cx="2179649" cy="1432661"/>
                <a:chOff x="7323884" y="120836"/>
                <a:chExt cx="2179649" cy="1432661"/>
              </a:xfrm>
            </p:grpSpPr>
            <p:sp>
              <p:nvSpPr>
                <p:cNvPr id="280" name="Rectangle 279">
                  <a:extLst>
                    <a:ext uri="{FF2B5EF4-FFF2-40B4-BE49-F238E27FC236}">
                      <a16:creationId xmlns:a16="http://schemas.microsoft.com/office/drawing/2014/main" id="{089F8FCB-FEC8-0A4A-8AC9-A05239270264}"/>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2" name="TextBox 281">
                  <a:extLst>
                    <a:ext uri="{FF2B5EF4-FFF2-40B4-BE49-F238E27FC236}">
                      <a16:creationId xmlns:a16="http://schemas.microsoft.com/office/drawing/2014/main" id="{618E84D4-ACDD-F443-9A75-31985FCC03A1}"/>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346" name="Straight Connector 345">
                  <a:extLst>
                    <a:ext uri="{FF2B5EF4-FFF2-40B4-BE49-F238E27FC236}">
                      <a16:creationId xmlns:a16="http://schemas.microsoft.com/office/drawing/2014/main" id="{076AD015-1EF6-8F4C-958E-F02708D5F21D}"/>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47" name="Rectangle 346">
                  <a:extLst>
                    <a:ext uri="{FF2B5EF4-FFF2-40B4-BE49-F238E27FC236}">
                      <a16:creationId xmlns:a16="http://schemas.microsoft.com/office/drawing/2014/main" id="{397C8588-CD10-484F-9B94-94120FF4354A}"/>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TextBox 347">
                  <a:extLst>
                    <a:ext uri="{FF2B5EF4-FFF2-40B4-BE49-F238E27FC236}">
                      <a16:creationId xmlns:a16="http://schemas.microsoft.com/office/drawing/2014/main" id="{470F7948-0893-B143-8C47-CBE72D6C5729}"/>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349" name="TextBox 348">
                  <a:extLst>
                    <a:ext uri="{FF2B5EF4-FFF2-40B4-BE49-F238E27FC236}">
                      <a16:creationId xmlns:a16="http://schemas.microsoft.com/office/drawing/2014/main" id="{60E7DAE4-8059-1543-AFD1-A4A0E4F2EF26}"/>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grpSp>
        <p:nvGrpSpPr>
          <p:cNvPr id="350" name="Group 349">
            <a:extLst>
              <a:ext uri="{FF2B5EF4-FFF2-40B4-BE49-F238E27FC236}">
                <a16:creationId xmlns:a16="http://schemas.microsoft.com/office/drawing/2014/main" id="{D4D406BB-E3BB-5344-B200-F9B30FAC676C}"/>
              </a:ext>
            </a:extLst>
          </p:cNvPr>
          <p:cNvGrpSpPr/>
          <p:nvPr/>
        </p:nvGrpSpPr>
        <p:grpSpPr>
          <a:xfrm>
            <a:off x="8740877" y="219997"/>
            <a:ext cx="2045109" cy="2667397"/>
            <a:chOff x="8740877" y="219997"/>
            <a:chExt cx="2045109" cy="2667397"/>
          </a:xfrm>
        </p:grpSpPr>
        <p:sp>
          <p:nvSpPr>
            <p:cNvPr id="351" name="Freeform 350">
              <a:extLst>
                <a:ext uri="{FF2B5EF4-FFF2-40B4-BE49-F238E27FC236}">
                  <a16:creationId xmlns:a16="http://schemas.microsoft.com/office/drawing/2014/main" id="{29570479-0D3A-DD40-AC69-6246D2D0E3AE}"/>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2" name="Group 351">
              <a:extLst>
                <a:ext uri="{FF2B5EF4-FFF2-40B4-BE49-F238E27FC236}">
                  <a16:creationId xmlns:a16="http://schemas.microsoft.com/office/drawing/2014/main" id="{C0DD3948-CF89-1B4A-9C82-0AB37CAEB9E9}"/>
                </a:ext>
              </a:extLst>
            </p:cNvPr>
            <p:cNvGrpSpPr/>
            <p:nvPr/>
          </p:nvGrpSpPr>
          <p:grpSpPr>
            <a:xfrm>
              <a:off x="9636528" y="219997"/>
              <a:ext cx="1149458" cy="2667397"/>
              <a:chOff x="9764348" y="1447800"/>
              <a:chExt cx="1149458" cy="2667397"/>
            </a:xfrm>
          </p:grpSpPr>
          <p:sp>
            <p:nvSpPr>
              <p:cNvPr id="353" name="Rectangle 352">
                <a:extLst>
                  <a:ext uri="{FF2B5EF4-FFF2-40B4-BE49-F238E27FC236}">
                    <a16:creationId xmlns:a16="http://schemas.microsoft.com/office/drawing/2014/main" id="{437B9C08-3BDF-8F4F-A9C0-02990BD722CE}"/>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4" name="Group 353">
                <a:extLst>
                  <a:ext uri="{FF2B5EF4-FFF2-40B4-BE49-F238E27FC236}">
                    <a16:creationId xmlns:a16="http://schemas.microsoft.com/office/drawing/2014/main" id="{E7008705-C479-2D4C-9959-510B7A9B8EE6}"/>
                  </a:ext>
                </a:extLst>
              </p:cNvPr>
              <p:cNvGrpSpPr/>
              <p:nvPr/>
            </p:nvGrpSpPr>
            <p:grpSpPr>
              <a:xfrm>
                <a:off x="9764348" y="1447800"/>
                <a:ext cx="1130291" cy="2667397"/>
                <a:chOff x="9472119" y="702026"/>
                <a:chExt cx="1130291" cy="2667397"/>
              </a:xfrm>
            </p:grpSpPr>
            <p:sp>
              <p:nvSpPr>
                <p:cNvPr id="355" name="Rectangle 354">
                  <a:extLst>
                    <a:ext uri="{FF2B5EF4-FFF2-40B4-BE49-F238E27FC236}">
                      <a16:creationId xmlns:a16="http://schemas.microsoft.com/office/drawing/2014/main" id="{085258CE-30FC-464C-A0FC-0D9E6D9AB747}"/>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81" name="TextBox 380">
                  <a:extLst>
                    <a:ext uri="{FF2B5EF4-FFF2-40B4-BE49-F238E27FC236}">
                      <a16:creationId xmlns:a16="http://schemas.microsoft.com/office/drawing/2014/main" id="{B9BA6274-E0A0-3948-A5DB-55B7676924DC}"/>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82" name="Straight Connector 381">
                  <a:extLst>
                    <a:ext uri="{FF2B5EF4-FFF2-40B4-BE49-F238E27FC236}">
                      <a16:creationId xmlns:a16="http://schemas.microsoft.com/office/drawing/2014/main" id="{AFF98828-2852-754C-BEFC-C6380D94C068}"/>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3" name="Rectangle 382">
                  <a:extLst>
                    <a:ext uri="{FF2B5EF4-FFF2-40B4-BE49-F238E27FC236}">
                      <a16:creationId xmlns:a16="http://schemas.microsoft.com/office/drawing/2014/main" id="{999BD57D-FB10-9E43-BD0A-D8BC2F0EB29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grpSp>
        <p:nvGrpSpPr>
          <p:cNvPr id="384" name="Group 383">
            <a:extLst>
              <a:ext uri="{FF2B5EF4-FFF2-40B4-BE49-F238E27FC236}">
                <a16:creationId xmlns:a16="http://schemas.microsoft.com/office/drawing/2014/main" id="{FB03A273-627E-574B-BDC0-F4AE140B7CE4}"/>
              </a:ext>
            </a:extLst>
          </p:cNvPr>
          <p:cNvGrpSpPr/>
          <p:nvPr/>
        </p:nvGrpSpPr>
        <p:grpSpPr>
          <a:xfrm>
            <a:off x="9654637" y="3018176"/>
            <a:ext cx="1131350" cy="2675039"/>
            <a:chOff x="9762792" y="4031226"/>
            <a:chExt cx="1131350" cy="2675039"/>
          </a:xfrm>
        </p:grpSpPr>
        <p:sp>
          <p:nvSpPr>
            <p:cNvPr id="385" name="Rectangle 384">
              <a:extLst>
                <a:ext uri="{FF2B5EF4-FFF2-40B4-BE49-F238E27FC236}">
                  <a16:creationId xmlns:a16="http://schemas.microsoft.com/office/drawing/2014/main" id="{98C9FAD2-B0B7-5F4B-8DEA-95D7BB126D5B}"/>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86" name="Group 385">
              <a:extLst>
                <a:ext uri="{FF2B5EF4-FFF2-40B4-BE49-F238E27FC236}">
                  <a16:creationId xmlns:a16="http://schemas.microsoft.com/office/drawing/2014/main" id="{86276953-83B5-3D47-A4D9-B87794FE4688}"/>
                </a:ext>
              </a:extLst>
            </p:cNvPr>
            <p:cNvGrpSpPr/>
            <p:nvPr/>
          </p:nvGrpSpPr>
          <p:grpSpPr>
            <a:xfrm>
              <a:off x="9762792" y="4038868"/>
              <a:ext cx="1130292" cy="2667397"/>
              <a:chOff x="9472118" y="702026"/>
              <a:chExt cx="1130292" cy="2667397"/>
            </a:xfrm>
          </p:grpSpPr>
          <p:sp>
            <p:nvSpPr>
              <p:cNvPr id="387" name="Rectangle 386">
                <a:extLst>
                  <a:ext uri="{FF2B5EF4-FFF2-40B4-BE49-F238E27FC236}">
                    <a16:creationId xmlns:a16="http://schemas.microsoft.com/office/drawing/2014/main" id="{26F330CB-993E-B144-B52B-1CE527DC352D}"/>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88" name="TextBox 387">
                <a:extLst>
                  <a:ext uri="{FF2B5EF4-FFF2-40B4-BE49-F238E27FC236}">
                    <a16:creationId xmlns:a16="http://schemas.microsoft.com/office/drawing/2014/main" id="{61BA57FB-5FEA-284A-9CDD-7BA22D224965}"/>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89" name="Straight Connector 388">
                <a:extLst>
                  <a:ext uri="{FF2B5EF4-FFF2-40B4-BE49-F238E27FC236}">
                    <a16:creationId xmlns:a16="http://schemas.microsoft.com/office/drawing/2014/main" id="{15485626-0681-5545-8700-8078D9D0CE37}"/>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0" name="Rectangle 389">
                <a:extLst>
                  <a:ext uri="{FF2B5EF4-FFF2-40B4-BE49-F238E27FC236}">
                    <a16:creationId xmlns:a16="http://schemas.microsoft.com/office/drawing/2014/main" id="{F3B40FD9-7D9E-B44D-9695-EAE9651C456A}"/>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61</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3920218" y="485596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5855120" y="485789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066110" y="399944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068038" y="592276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081390" y="590296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840230"/>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b receives DVs from a, c, e, computes:</a:t>
            </a:r>
          </a:p>
        </p:txBody>
      </p:sp>
      <p:sp>
        <p:nvSpPr>
          <p:cNvPr id="356" name="Right Arrow 355">
            <a:extLst>
              <a:ext uri="{FF2B5EF4-FFF2-40B4-BE49-F238E27FC236}">
                <a16:creationId xmlns:a16="http://schemas.microsoft.com/office/drawing/2014/main" id="{FECE1C4C-C6DE-E44B-8914-C9FAB6E59F01}"/>
              </a:ext>
            </a:extLst>
          </p:cNvPr>
          <p:cNvSpPr/>
          <p:nvPr/>
        </p:nvSpPr>
        <p:spPr>
          <a:xfrm>
            <a:off x="4973224" y="19379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7" name="Right Arrow 356">
            <a:extLst>
              <a:ext uri="{FF2B5EF4-FFF2-40B4-BE49-F238E27FC236}">
                <a16:creationId xmlns:a16="http://schemas.microsoft.com/office/drawing/2014/main" id="{E44AC5A8-AB5C-6D48-965A-B3150C882B9F}"/>
              </a:ext>
            </a:extLst>
          </p:cNvPr>
          <p:cNvSpPr/>
          <p:nvPr/>
        </p:nvSpPr>
        <p:spPr>
          <a:xfrm rot="10800000">
            <a:off x="7631559" y="191970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sp>
        <p:nvSpPr>
          <p:cNvPr id="3" name="Freeform 2">
            <a:extLst>
              <a:ext uri="{FF2B5EF4-FFF2-40B4-BE49-F238E27FC236}">
                <a16:creationId xmlns:a16="http://schemas.microsoft.com/office/drawing/2014/main" id="{2C0204D3-6B89-BB42-939B-2BC738257374}"/>
              </a:ext>
            </a:extLst>
          </p:cNvPr>
          <p:cNvSpPr/>
          <p:nvPr/>
        </p:nvSpPr>
        <p:spPr>
          <a:xfrm>
            <a:off x="3078478" y="2885440"/>
            <a:ext cx="5923281" cy="3820160"/>
          </a:xfrm>
          <a:custGeom>
            <a:avLst/>
            <a:gdLst>
              <a:gd name="connsiteX0" fmla="*/ 528320 w 5049520"/>
              <a:gd name="connsiteY0" fmla="*/ 0 h 3840480"/>
              <a:gd name="connsiteX1" fmla="*/ 2275840 w 5049520"/>
              <a:gd name="connsiteY1" fmla="*/ 0 h 3840480"/>
              <a:gd name="connsiteX2" fmla="*/ 2255520 w 5049520"/>
              <a:gd name="connsiteY2" fmla="*/ 69088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56923 w 5049520"/>
              <a:gd name="connsiteY6" fmla="*/ 904240 h 3840480"/>
              <a:gd name="connsiteX7" fmla="*/ 294640 w 5049520"/>
              <a:gd name="connsiteY7" fmla="*/ 375920 h 3840480"/>
              <a:gd name="connsiteX8" fmla="*/ 528320 w 5049520"/>
              <a:gd name="connsiteY8" fmla="*/ 0 h 3840480"/>
              <a:gd name="connsiteX0" fmla="*/ 1170627 w 5691827"/>
              <a:gd name="connsiteY0" fmla="*/ 0 h 3840480"/>
              <a:gd name="connsiteX1" fmla="*/ 2918147 w 5691827"/>
              <a:gd name="connsiteY1" fmla="*/ 0 h 3840480"/>
              <a:gd name="connsiteX2" fmla="*/ 2918147 w 5691827"/>
              <a:gd name="connsiteY2" fmla="*/ 955040 h 3840480"/>
              <a:gd name="connsiteX3" fmla="*/ 5661347 w 5691827"/>
              <a:gd name="connsiteY3" fmla="*/ 782320 h 3840480"/>
              <a:gd name="connsiteX4" fmla="*/ 5691827 w 5691827"/>
              <a:gd name="connsiteY4" fmla="*/ 3820160 h 3840480"/>
              <a:gd name="connsiteX5" fmla="*/ 642307 w 5691827"/>
              <a:gd name="connsiteY5" fmla="*/ 3840480 h 3840480"/>
              <a:gd name="connsiteX6" fmla="*/ 0 w 5691827"/>
              <a:gd name="connsiteY6" fmla="*/ 955040 h 3840480"/>
              <a:gd name="connsiteX7" fmla="*/ 936947 w 5691827"/>
              <a:gd name="connsiteY7" fmla="*/ 375920 h 3840480"/>
              <a:gd name="connsiteX8" fmla="*/ 1170627 w 5691827"/>
              <a:gd name="connsiteY8" fmla="*/ 0 h 384048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1006119 w 5760999"/>
              <a:gd name="connsiteY7" fmla="*/ 375920 h 3820160"/>
              <a:gd name="connsiteX8" fmla="*/ 1239799 w 5760999"/>
              <a:gd name="connsiteY8" fmla="*/ 0 h 382016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917184 w 5760999"/>
              <a:gd name="connsiteY7" fmla="*/ 904240 h 3820160"/>
              <a:gd name="connsiteX8" fmla="*/ 1239799 w 5760999"/>
              <a:gd name="connsiteY8" fmla="*/ 0 h 382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999" h="3820160">
                <a:moveTo>
                  <a:pt x="1239799" y="0"/>
                </a:moveTo>
                <a:lnTo>
                  <a:pt x="2987319" y="0"/>
                </a:lnTo>
                <a:lnTo>
                  <a:pt x="2987319" y="955040"/>
                </a:lnTo>
                <a:lnTo>
                  <a:pt x="5730519" y="782320"/>
                </a:lnTo>
                <a:lnTo>
                  <a:pt x="5760999" y="3820160"/>
                </a:lnTo>
                <a:lnTo>
                  <a:pt x="0" y="3810000"/>
                </a:lnTo>
                <a:lnTo>
                  <a:pt x="69172" y="955040"/>
                </a:lnTo>
                <a:lnTo>
                  <a:pt x="917184" y="904240"/>
                </a:lnTo>
                <a:lnTo>
                  <a:pt x="1239799"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9" name="Group 238">
            <a:extLst>
              <a:ext uri="{FF2B5EF4-FFF2-40B4-BE49-F238E27FC236}">
                <a16:creationId xmlns:a16="http://schemas.microsoft.com/office/drawing/2014/main" id="{0E0A9FB0-8302-2744-A9AC-61FA5D0E591E}"/>
              </a:ext>
            </a:extLst>
          </p:cNvPr>
          <p:cNvGrpSpPr/>
          <p:nvPr/>
        </p:nvGrpSpPr>
        <p:grpSpPr>
          <a:xfrm>
            <a:off x="7010562" y="5133094"/>
            <a:ext cx="2128849" cy="1445342"/>
            <a:chOff x="7344204" y="108155"/>
            <a:chExt cx="2128849" cy="1445342"/>
          </a:xfrm>
        </p:grpSpPr>
        <p:sp>
          <p:nvSpPr>
            <p:cNvPr id="240" name="Rectangle 239">
              <a:extLst>
                <a:ext uri="{FF2B5EF4-FFF2-40B4-BE49-F238E27FC236}">
                  <a16:creationId xmlns:a16="http://schemas.microsoft.com/office/drawing/2014/main" id="{D243147C-9122-B241-8C55-25D0B03D8B27}"/>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52" name="Group 251">
              <a:extLst>
                <a:ext uri="{FF2B5EF4-FFF2-40B4-BE49-F238E27FC236}">
                  <a16:creationId xmlns:a16="http://schemas.microsoft.com/office/drawing/2014/main" id="{6D2336AA-0C32-324B-A00A-57F9CA7ECD15}"/>
                </a:ext>
              </a:extLst>
            </p:cNvPr>
            <p:cNvGrpSpPr/>
            <p:nvPr/>
          </p:nvGrpSpPr>
          <p:grpSpPr>
            <a:xfrm>
              <a:off x="7344204" y="120836"/>
              <a:ext cx="2128849" cy="1432661"/>
              <a:chOff x="7344204" y="120836"/>
              <a:chExt cx="2128849" cy="1432661"/>
            </a:xfrm>
          </p:grpSpPr>
          <p:sp>
            <p:nvSpPr>
              <p:cNvPr id="253" name="Rectangle 252">
                <a:extLst>
                  <a:ext uri="{FF2B5EF4-FFF2-40B4-BE49-F238E27FC236}">
                    <a16:creationId xmlns:a16="http://schemas.microsoft.com/office/drawing/2014/main" id="{9DC590FA-D1AC-6D48-9AED-FD23B9858548}"/>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4" name="TextBox 253">
                <a:extLst>
                  <a:ext uri="{FF2B5EF4-FFF2-40B4-BE49-F238E27FC236}">
                    <a16:creationId xmlns:a16="http://schemas.microsoft.com/office/drawing/2014/main" id="{8366C6AB-4C92-574D-ABC4-3F2AE3DE7BA4}"/>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55" name="Straight Connector 254">
                <a:extLst>
                  <a:ext uri="{FF2B5EF4-FFF2-40B4-BE49-F238E27FC236}">
                    <a16:creationId xmlns:a16="http://schemas.microsoft.com/office/drawing/2014/main" id="{D0A767ED-844F-1848-B773-F20F44965F19}"/>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255">
                <a:extLst>
                  <a:ext uri="{FF2B5EF4-FFF2-40B4-BE49-F238E27FC236}">
                    <a16:creationId xmlns:a16="http://schemas.microsoft.com/office/drawing/2014/main" id="{14FE793B-897D-AE4D-809B-4BC6049E42EF}"/>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7" name="TextBox 256">
                <a:extLst>
                  <a:ext uri="{FF2B5EF4-FFF2-40B4-BE49-F238E27FC236}">
                    <a16:creationId xmlns:a16="http://schemas.microsoft.com/office/drawing/2014/main" id="{4C7B8338-DF18-834C-9D16-A6EFCD25492C}"/>
                  </a:ext>
                </a:extLst>
              </p:cNvPr>
              <p:cNvSpPr txBox="1"/>
              <p:nvPr/>
            </p:nvSpPr>
            <p:spPr>
              <a:xfrm>
                <a:off x="836200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2</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2</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8" name="TextBox 257">
                <a:extLst>
                  <a:ext uri="{FF2B5EF4-FFF2-40B4-BE49-F238E27FC236}">
                    <a16:creationId xmlns:a16="http://schemas.microsoft.com/office/drawing/2014/main" id="{35BC9C8C-D610-0F40-9928-D68B0361F296}"/>
                  </a:ext>
                </a:extLst>
              </p:cNvPr>
              <p:cNvSpPr txBox="1"/>
              <p:nvPr/>
            </p:nvSpPr>
            <p:spPr>
              <a:xfrm>
                <a:off x="734420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2</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nvGrpSpPr>
          <p:cNvPr id="178" name="Group 177">
            <a:extLst>
              <a:ext uri="{FF2B5EF4-FFF2-40B4-BE49-F238E27FC236}">
                <a16:creationId xmlns:a16="http://schemas.microsoft.com/office/drawing/2014/main" id="{89D4687F-AFE7-244E-A453-8BB8262DAAC3}"/>
              </a:ext>
            </a:extLst>
          </p:cNvPr>
          <p:cNvGrpSpPr/>
          <p:nvPr/>
        </p:nvGrpSpPr>
        <p:grpSpPr>
          <a:xfrm>
            <a:off x="6256790" y="3442384"/>
            <a:ext cx="531821" cy="369069"/>
            <a:chOff x="1348328" y="2507397"/>
            <a:chExt cx="603916" cy="419100"/>
          </a:xfrm>
        </p:grpSpPr>
        <p:grpSp>
          <p:nvGrpSpPr>
            <p:cNvPr id="179" name="Group 178">
              <a:extLst>
                <a:ext uri="{FF2B5EF4-FFF2-40B4-BE49-F238E27FC236}">
                  <a16:creationId xmlns:a16="http://schemas.microsoft.com/office/drawing/2014/main" id="{C2BE01E6-70E6-8E4C-BA8D-DED393966A32}"/>
                </a:ext>
              </a:extLst>
            </p:cNvPr>
            <p:cNvGrpSpPr/>
            <p:nvPr/>
          </p:nvGrpSpPr>
          <p:grpSpPr>
            <a:xfrm>
              <a:off x="1348328" y="2555748"/>
              <a:ext cx="603916" cy="308999"/>
              <a:chOff x="5278570" y="2983486"/>
              <a:chExt cx="501650" cy="233363"/>
            </a:xfrm>
          </p:grpSpPr>
          <p:sp>
            <p:nvSpPr>
              <p:cNvPr id="214" name="Oval 5">
                <a:extLst>
                  <a:ext uri="{FF2B5EF4-FFF2-40B4-BE49-F238E27FC236}">
                    <a16:creationId xmlns:a16="http://schemas.microsoft.com/office/drawing/2014/main" id="{576AA6BD-E7DD-0A40-BFA5-EFAB7BD890E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20" name="Line 6">
                <a:extLst>
                  <a:ext uri="{FF2B5EF4-FFF2-40B4-BE49-F238E27FC236}">
                    <a16:creationId xmlns:a16="http://schemas.microsoft.com/office/drawing/2014/main" id="{FB5F05C7-2780-E646-8583-F10D5D5536E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27" name="Line 7">
                <a:extLst>
                  <a:ext uri="{FF2B5EF4-FFF2-40B4-BE49-F238E27FC236}">
                    <a16:creationId xmlns:a16="http://schemas.microsoft.com/office/drawing/2014/main" id="{240BBD39-ACCD-DF48-9D18-EC6A730D10B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28" name="Rectangle 8">
                <a:extLst>
                  <a:ext uri="{FF2B5EF4-FFF2-40B4-BE49-F238E27FC236}">
                    <a16:creationId xmlns:a16="http://schemas.microsoft.com/office/drawing/2014/main" id="{349823E2-5D3A-874F-8AEA-E5A577221D0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29" name="Oval 9">
                <a:extLst>
                  <a:ext uri="{FF2B5EF4-FFF2-40B4-BE49-F238E27FC236}">
                    <a16:creationId xmlns:a16="http://schemas.microsoft.com/office/drawing/2014/main" id="{6A08B5E5-AB62-2748-A4C8-66903F651ED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0" name="Group 44">
              <a:extLst>
                <a:ext uri="{FF2B5EF4-FFF2-40B4-BE49-F238E27FC236}">
                  <a16:creationId xmlns:a16="http://schemas.microsoft.com/office/drawing/2014/main" id="{43C35E11-2685-B047-A4DC-8CC297487F34}"/>
                </a:ext>
              </a:extLst>
            </p:cNvPr>
            <p:cNvGrpSpPr>
              <a:grpSpLocks/>
            </p:cNvGrpSpPr>
            <p:nvPr/>
          </p:nvGrpSpPr>
          <p:grpSpPr bwMode="auto">
            <a:xfrm>
              <a:off x="1456374" y="2507397"/>
              <a:ext cx="355165" cy="419100"/>
              <a:chOff x="2944" y="2425"/>
              <a:chExt cx="227" cy="264"/>
            </a:xfrm>
          </p:grpSpPr>
          <p:sp>
            <p:nvSpPr>
              <p:cNvPr id="181" name="Rectangle 45">
                <a:extLst>
                  <a:ext uri="{FF2B5EF4-FFF2-40B4-BE49-F238E27FC236}">
                    <a16:creationId xmlns:a16="http://schemas.microsoft.com/office/drawing/2014/main" id="{EC128E69-3091-E647-8AD6-7159F31038D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82" name="Text Box 46">
                <a:extLst>
                  <a:ext uri="{FF2B5EF4-FFF2-40B4-BE49-F238E27FC236}">
                    <a16:creationId xmlns:a16="http://schemas.microsoft.com/office/drawing/2014/main" id="{A7A5AEDE-B171-4F4D-BA15-5EAD869315A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sp>
        <p:nvSpPr>
          <p:cNvPr id="259" name="Right Arrow 258">
            <a:extLst>
              <a:ext uri="{FF2B5EF4-FFF2-40B4-BE49-F238E27FC236}">
                <a16:creationId xmlns:a16="http://schemas.microsoft.com/office/drawing/2014/main" id="{E250E3B0-8C1E-E145-9521-A455E8D67258}"/>
              </a:ext>
            </a:extLst>
          </p:cNvPr>
          <p:cNvSpPr/>
          <p:nvPr/>
        </p:nvSpPr>
        <p:spPr>
          <a:xfrm rot="16200000">
            <a:off x="6307392" y="303096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4" name="Freeform 263">
            <a:extLst>
              <a:ext uri="{FF2B5EF4-FFF2-40B4-BE49-F238E27FC236}">
                <a16:creationId xmlns:a16="http://schemas.microsoft.com/office/drawing/2014/main" id="{858E32EE-CF9A-BC4E-8C7A-5B0F4E196DDB}"/>
              </a:ext>
            </a:extLst>
          </p:cNvPr>
          <p:cNvSpPr/>
          <p:nvPr/>
        </p:nvSpPr>
        <p:spPr>
          <a:xfrm>
            <a:off x="6784256" y="3016538"/>
            <a:ext cx="289986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0 w 2899205"/>
              <a:gd name="connsiteY0" fmla="*/ 541101 h 2634390"/>
              <a:gd name="connsiteX1" fmla="*/ 2878884 w 2899205"/>
              <a:gd name="connsiteY1" fmla="*/ 0 h 2634390"/>
              <a:gd name="connsiteX2" fmla="*/ 2899205 w 2899205"/>
              <a:gd name="connsiteY2" fmla="*/ 2634390 h 2634390"/>
              <a:gd name="connsiteX3" fmla="*/ 9503 w 2899205"/>
              <a:gd name="connsiteY3" fmla="*/ 1094330 h 2634390"/>
              <a:gd name="connsiteX4" fmla="*/ 0 w 2899205"/>
              <a:gd name="connsiteY4" fmla="*/ 541101 h 2634390"/>
              <a:gd name="connsiteX0" fmla="*/ 0 w 2899205"/>
              <a:gd name="connsiteY0" fmla="*/ 541101 h 2634390"/>
              <a:gd name="connsiteX1" fmla="*/ 2878884 w 2899205"/>
              <a:gd name="connsiteY1" fmla="*/ 0 h 2634390"/>
              <a:gd name="connsiteX2" fmla="*/ 2899205 w 2899205"/>
              <a:gd name="connsiteY2" fmla="*/ 2634390 h 2634390"/>
              <a:gd name="connsiteX3" fmla="*/ 9503 w 2899205"/>
              <a:gd name="connsiteY3" fmla="*/ 1094330 h 2634390"/>
              <a:gd name="connsiteX4" fmla="*/ 0 w 2899205"/>
              <a:gd name="connsiteY4" fmla="*/ 541101 h 2634390"/>
              <a:gd name="connsiteX0" fmla="*/ 657 w 2899862"/>
              <a:gd name="connsiteY0" fmla="*/ 541101 h 2634390"/>
              <a:gd name="connsiteX1" fmla="*/ 2879541 w 2899862"/>
              <a:gd name="connsiteY1" fmla="*/ 0 h 2634390"/>
              <a:gd name="connsiteX2" fmla="*/ 2899862 w 2899862"/>
              <a:gd name="connsiteY2" fmla="*/ 2634390 h 2634390"/>
              <a:gd name="connsiteX3" fmla="*/ 0 w 2899862"/>
              <a:gd name="connsiteY3" fmla="*/ 708250 h 2634390"/>
              <a:gd name="connsiteX4" fmla="*/ 657 w 2899862"/>
              <a:gd name="connsiteY4" fmla="*/ 541101 h 2634390"/>
              <a:gd name="connsiteX0" fmla="*/ 657 w 2899862"/>
              <a:gd name="connsiteY0" fmla="*/ 541101 h 2634390"/>
              <a:gd name="connsiteX1" fmla="*/ 2879541 w 2899862"/>
              <a:gd name="connsiteY1" fmla="*/ 0 h 2634390"/>
              <a:gd name="connsiteX2" fmla="*/ 2899862 w 2899862"/>
              <a:gd name="connsiteY2" fmla="*/ 2634390 h 2634390"/>
              <a:gd name="connsiteX3" fmla="*/ 0 w 2899862"/>
              <a:gd name="connsiteY3" fmla="*/ 708250 h 2634390"/>
              <a:gd name="connsiteX4" fmla="*/ 657 w 2899862"/>
              <a:gd name="connsiteY4" fmla="*/ 5411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9862" h="2634390">
                <a:moveTo>
                  <a:pt x="657" y="541101"/>
                </a:moveTo>
                <a:cubicBezTo>
                  <a:pt x="1842566" y="465721"/>
                  <a:pt x="1787505" y="533564"/>
                  <a:pt x="2879541" y="0"/>
                </a:cubicBezTo>
                <a:cubicBezTo>
                  <a:pt x="2879541" y="783303"/>
                  <a:pt x="2899862" y="1851087"/>
                  <a:pt x="2899862" y="2634390"/>
                </a:cubicBezTo>
                <a:cubicBezTo>
                  <a:pt x="2640945" y="598784"/>
                  <a:pt x="2154903" y="642374"/>
                  <a:pt x="0" y="708250"/>
                </a:cubicBezTo>
                <a:lnTo>
                  <a:pt x="657" y="5411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5" name="Down Arrow 264">
            <a:extLst>
              <a:ext uri="{FF2B5EF4-FFF2-40B4-BE49-F238E27FC236}">
                <a16:creationId xmlns:a16="http://schemas.microsoft.com/office/drawing/2014/main" id="{3CB1AFBB-CB3F-1542-8613-2F98EF8BBFE5}"/>
              </a:ext>
            </a:extLst>
          </p:cNvPr>
          <p:cNvSpPr/>
          <p:nvPr/>
        </p:nvSpPr>
        <p:spPr>
          <a:xfrm rot="16200000">
            <a:off x="6612907" y="5410623"/>
            <a:ext cx="339615" cy="560629"/>
          </a:xfrm>
          <a:prstGeom prst="downArrow">
            <a:avLst/>
          </a:prstGeom>
          <a:gradFill>
            <a:gsLst>
              <a:gs pos="0">
                <a:schemeClr val="bg1"/>
              </a:gs>
              <a:gs pos="100000">
                <a:schemeClr val="accent5">
                  <a:lumMod val="40000"/>
                  <a:lumOff val="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0" name="Group 9">
            <a:extLst>
              <a:ext uri="{FF2B5EF4-FFF2-40B4-BE49-F238E27FC236}">
                <a16:creationId xmlns:a16="http://schemas.microsoft.com/office/drawing/2014/main" id="{B3DD77FF-E95C-9640-83A8-8668D2A2C680}"/>
              </a:ext>
            </a:extLst>
          </p:cNvPr>
          <p:cNvGrpSpPr/>
          <p:nvPr/>
        </p:nvGrpSpPr>
        <p:grpSpPr>
          <a:xfrm>
            <a:off x="751840" y="2113280"/>
            <a:ext cx="6014720" cy="4541520"/>
            <a:chOff x="751840" y="2113280"/>
            <a:chExt cx="6014720" cy="4541520"/>
          </a:xfrm>
        </p:grpSpPr>
        <p:sp>
          <p:nvSpPr>
            <p:cNvPr id="176" name="Rectangle 175">
              <a:extLst>
                <a:ext uri="{FF2B5EF4-FFF2-40B4-BE49-F238E27FC236}">
                  <a16:creationId xmlns:a16="http://schemas.microsoft.com/office/drawing/2014/main" id="{F01C52F0-787E-E542-8310-BD2127FCC025}"/>
                </a:ext>
              </a:extLst>
            </p:cNvPr>
            <p:cNvSpPr/>
            <p:nvPr/>
          </p:nvSpPr>
          <p:spPr>
            <a:xfrm>
              <a:off x="782320" y="3942080"/>
              <a:ext cx="5659120" cy="271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Freeform 7">
              <a:extLst>
                <a:ext uri="{FF2B5EF4-FFF2-40B4-BE49-F238E27FC236}">
                  <a16:creationId xmlns:a16="http://schemas.microsoft.com/office/drawing/2014/main" id="{0B553762-65E4-7242-AB73-E073D39B1FB6}"/>
                </a:ext>
              </a:extLst>
            </p:cNvPr>
            <p:cNvSpPr/>
            <p:nvPr/>
          </p:nvSpPr>
          <p:spPr>
            <a:xfrm>
              <a:off x="751840" y="2113280"/>
              <a:ext cx="6014720" cy="1838960"/>
            </a:xfrm>
            <a:custGeom>
              <a:avLst/>
              <a:gdLst>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5912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5912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20" h="1838960">
                  <a:moveTo>
                    <a:pt x="6014720" y="0"/>
                  </a:moveTo>
                  <a:cubicBezTo>
                    <a:pt x="4937760" y="795867"/>
                    <a:pt x="5008880" y="1479973"/>
                    <a:pt x="5659120" y="1838960"/>
                  </a:cubicBezTo>
                  <a:lnTo>
                    <a:pt x="0" y="1838960"/>
                  </a:lnTo>
                  <a:cubicBezTo>
                    <a:pt x="3772747" y="1642533"/>
                    <a:pt x="3776133" y="1578187"/>
                    <a:pt x="5496560" y="0"/>
                  </a:cubicBezTo>
                  <a:lnTo>
                    <a:pt x="6014720" y="0"/>
                  </a:lnTo>
                  <a:close/>
                </a:path>
              </a:pathLst>
            </a:custGeom>
            <a:gradFill>
              <a:gsLst>
                <a:gs pos="0">
                  <a:schemeClr val="bg1"/>
                </a:gs>
                <a:gs pos="100000">
                  <a:schemeClr val="accent5">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260" name="Group 259">
            <a:extLst>
              <a:ext uri="{FF2B5EF4-FFF2-40B4-BE49-F238E27FC236}">
                <a16:creationId xmlns:a16="http://schemas.microsoft.com/office/drawing/2014/main" id="{F7FE6501-59AE-7E4F-A363-64532C89299C}"/>
              </a:ext>
            </a:extLst>
          </p:cNvPr>
          <p:cNvGrpSpPr/>
          <p:nvPr/>
        </p:nvGrpSpPr>
        <p:grpSpPr>
          <a:xfrm>
            <a:off x="5852446" y="1758989"/>
            <a:ext cx="1196054" cy="1022555"/>
            <a:chOff x="9655277" y="2349909"/>
            <a:chExt cx="1196054" cy="1022555"/>
          </a:xfrm>
        </p:grpSpPr>
        <p:sp>
          <p:nvSpPr>
            <p:cNvPr id="261" name="Freeform 260">
              <a:extLst>
                <a:ext uri="{FF2B5EF4-FFF2-40B4-BE49-F238E27FC236}">
                  <a16:creationId xmlns:a16="http://schemas.microsoft.com/office/drawing/2014/main" id="{C63ACF7A-01CE-D940-9A14-306A3279A42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2" name="TextBox 261">
              <a:extLst>
                <a:ext uri="{FF2B5EF4-FFF2-40B4-BE49-F238E27FC236}">
                  <a16:creationId xmlns:a16="http://schemas.microsoft.com/office/drawing/2014/main" id="{669F4A56-8AD8-9443-9DD4-4E6082993E4D}"/>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
        <p:nvSpPr>
          <p:cNvPr id="263" name="TextBox 262">
            <a:extLst>
              <a:ext uri="{FF2B5EF4-FFF2-40B4-BE49-F238E27FC236}">
                <a16:creationId xmlns:a16="http://schemas.microsoft.com/office/drawing/2014/main" id="{AD73DF7B-C6A1-8C43-92E7-35914D44AF5F}"/>
              </a:ext>
            </a:extLst>
          </p:cNvPr>
          <p:cNvSpPr txBox="1"/>
          <p:nvPr/>
        </p:nvSpPr>
        <p:spPr>
          <a:xfrm>
            <a:off x="6355429" y="1927737"/>
            <a:ext cx="319318" cy="400110"/>
          </a:xfrm>
          <a:prstGeom prst="rect">
            <a:avLst/>
          </a:prstGeom>
          <a:noFill/>
        </p:spPr>
        <p:txBody>
          <a:bodyPr wrap="none" rtlCol="0">
            <a:spAutoFit/>
          </a:bodyPr>
          <a:lstStyle/>
          <a:p>
            <a:r>
              <a:rPr lang="en-US" sz="2000" dirty="0">
                <a:solidFill>
                  <a:prstClr val="black"/>
                </a:solidFill>
              </a:rPr>
              <a:t>b</a:t>
            </a:r>
          </a:p>
        </p:txBody>
      </p:sp>
      <p:sp>
        <p:nvSpPr>
          <p:cNvPr id="230" name="TextBox 229">
            <a:extLst>
              <a:ext uri="{FF2B5EF4-FFF2-40B4-BE49-F238E27FC236}">
                <a16:creationId xmlns:a16="http://schemas.microsoft.com/office/drawing/2014/main" id="{592C8CA7-0104-4B46-8A79-58E2F147158C}"/>
              </a:ext>
            </a:extLst>
          </p:cNvPr>
          <p:cNvSpPr txBox="1"/>
          <p:nvPr/>
        </p:nvSpPr>
        <p:spPr>
          <a:xfrm>
            <a:off x="894080" y="4021574"/>
            <a:ext cx="556768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(a)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(a),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(a), c</a:t>
            </a:r>
            <a:r>
              <a:rPr lang="en-US" sz="1600" baseline="-25000" dirty="0">
                <a:solidFill>
                  <a:prstClr val="black"/>
                </a:solidFill>
              </a:rPr>
              <a:t>b,e</a:t>
            </a:r>
            <a:r>
              <a:rPr lang="en-US" sz="1600" dirty="0">
                <a:solidFill>
                  <a:prstClr val="black"/>
                </a:solidFill>
              </a:rPr>
              <a:t>+D</a:t>
            </a:r>
            <a:r>
              <a:rPr lang="en-US" sz="1600" baseline="-25000" dirty="0">
                <a:solidFill>
                  <a:prstClr val="black"/>
                </a:solidFill>
              </a:rPr>
              <a:t>e</a:t>
            </a:r>
            <a:r>
              <a:rPr lang="en-US" sz="1600" dirty="0">
                <a:solidFill>
                  <a:prstClr val="black"/>
                </a:solidFill>
              </a:rPr>
              <a:t>(a)}  = min{8,</a:t>
            </a:r>
            <a:r>
              <a:rPr lang="en-US" sz="1600" dirty="0">
                <a:solidFill>
                  <a:prstClr val="black"/>
                </a:solidFill>
                <a:cs typeface="Arial" charset="0"/>
              </a:rPr>
              <a:t>∞,∞} = 8 </a:t>
            </a:r>
          </a:p>
        </p:txBody>
      </p:sp>
      <p:sp>
        <p:nvSpPr>
          <p:cNvPr id="231" name="TextBox 230">
            <a:extLst>
              <a:ext uri="{FF2B5EF4-FFF2-40B4-BE49-F238E27FC236}">
                <a16:creationId xmlns:a16="http://schemas.microsoft.com/office/drawing/2014/main" id="{DCFB5697-087A-6A4F-A48D-98A3E75CFA5F}"/>
              </a:ext>
            </a:extLst>
          </p:cNvPr>
          <p:cNvSpPr txBox="1"/>
          <p:nvPr/>
        </p:nvSpPr>
        <p:spPr>
          <a:xfrm>
            <a:off x="894080" y="4346694"/>
            <a:ext cx="553720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(c)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(c),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(c),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(c)}  = min{</a:t>
            </a:r>
            <a:r>
              <a:rPr lang="en-US" sz="1600" dirty="0">
                <a:solidFill>
                  <a:prstClr val="black"/>
                </a:solidFill>
                <a:cs typeface="Arial" charset="0"/>
              </a:rPr>
              <a:t>∞,1,∞} = 1 </a:t>
            </a:r>
            <a:endParaRPr lang="en-US" sz="1600" dirty="0">
              <a:solidFill>
                <a:prstClr val="black"/>
              </a:solidFill>
            </a:endParaRPr>
          </a:p>
        </p:txBody>
      </p:sp>
      <p:sp>
        <p:nvSpPr>
          <p:cNvPr id="232" name="TextBox 231">
            <a:extLst>
              <a:ext uri="{FF2B5EF4-FFF2-40B4-BE49-F238E27FC236}">
                <a16:creationId xmlns:a16="http://schemas.microsoft.com/office/drawing/2014/main" id="{0E1E6414-BFC2-6F49-BF7D-69F4679C38EE}"/>
              </a:ext>
            </a:extLst>
          </p:cNvPr>
          <p:cNvSpPr txBox="1"/>
          <p:nvPr/>
        </p:nvSpPr>
        <p:spPr>
          <a:xfrm>
            <a:off x="883920" y="4671814"/>
            <a:ext cx="552704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(d)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(d),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(d),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(d)}  = min{</a:t>
            </a:r>
            <a:r>
              <a:rPr lang="en-US" sz="1600" dirty="0">
                <a:solidFill>
                  <a:prstClr val="black"/>
                </a:solidFill>
                <a:cs typeface="Arial" charset="0"/>
              </a:rPr>
              <a:t>9,2,∞} = 2 </a:t>
            </a:r>
            <a:endParaRPr lang="en-US" sz="1600" dirty="0">
              <a:solidFill>
                <a:prstClr val="black"/>
              </a:solidFill>
            </a:endParaRPr>
          </a:p>
        </p:txBody>
      </p:sp>
      <p:sp>
        <p:nvSpPr>
          <p:cNvPr id="235" name="TextBox 234">
            <a:extLst>
              <a:ext uri="{FF2B5EF4-FFF2-40B4-BE49-F238E27FC236}">
                <a16:creationId xmlns:a16="http://schemas.microsoft.com/office/drawing/2014/main" id="{3834A49C-F57F-2B4C-8C1E-8CA2C48DB280}"/>
              </a:ext>
            </a:extLst>
          </p:cNvPr>
          <p:cNvSpPr txBox="1"/>
          <p:nvPr/>
        </p:nvSpPr>
        <p:spPr>
          <a:xfrm>
            <a:off x="883920" y="5301734"/>
            <a:ext cx="54965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(f)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(f),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(f),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(f)}  = min{</a:t>
            </a:r>
            <a:r>
              <a:rPr lang="en-US" sz="1600" dirty="0">
                <a:solidFill>
                  <a:prstClr val="black"/>
                </a:solidFill>
                <a:cs typeface="Arial" charset="0"/>
              </a:rPr>
              <a:t>∞,∞,2} = 2 </a:t>
            </a:r>
            <a:endParaRPr lang="en-US" sz="1600" dirty="0">
              <a:solidFill>
                <a:prstClr val="black"/>
              </a:solidFill>
            </a:endParaRPr>
          </a:p>
        </p:txBody>
      </p:sp>
      <p:sp>
        <p:nvSpPr>
          <p:cNvPr id="237" name="TextBox 236">
            <a:extLst>
              <a:ext uri="{FF2B5EF4-FFF2-40B4-BE49-F238E27FC236}">
                <a16:creationId xmlns:a16="http://schemas.microsoft.com/office/drawing/2014/main" id="{0F652DFE-1D53-2E40-AA65-BBF6D49AD967}"/>
              </a:ext>
            </a:extLst>
          </p:cNvPr>
          <p:cNvSpPr txBox="1"/>
          <p:nvPr/>
        </p:nvSpPr>
        <p:spPr>
          <a:xfrm>
            <a:off x="894080" y="6244828"/>
            <a:ext cx="546608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(i)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(i),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(i), c</a:t>
            </a:r>
            <a:r>
              <a:rPr lang="en-US" sz="1600" baseline="-25000" dirty="0">
                <a:solidFill>
                  <a:prstClr val="black"/>
                </a:solidFill>
              </a:rPr>
              <a:t> b,e</a:t>
            </a:r>
            <a:r>
              <a:rPr lang="en-US" sz="1600" dirty="0">
                <a:solidFill>
                  <a:prstClr val="black"/>
                </a:solidFill>
              </a:rPr>
              <a:t>+D</a:t>
            </a:r>
            <a:r>
              <a:rPr lang="en-US" sz="1600" baseline="-25000" dirty="0">
                <a:solidFill>
                  <a:prstClr val="black"/>
                </a:solidFill>
              </a:rPr>
              <a:t>e</a:t>
            </a:r>
            <a:r>
              <a:rPr lang="en-US" sz="1600" dirty="0">
                <a:solidFill>
                  <a:prstClr val="black"/>
                </a:solidFill>
              </a:rPr>
              <a:t>(i)}  = min{</a:t>
            </a:r>
            <a:r>
              <a:rPr lang="en-US" sz="1600" dirty="0">
                <a:solidFill>
                  <a:prstClr val="black"/>
                </a:solidFill>
                <a:cs typeface="Arial" charset="0"/>
              </a:rPr>
              <a:t>∞,</a:t>
            </a:r>
            <a:r>
              <a:rPr lang="en-US" sz="1600" baseline="-25000" dirty="0">
                <a:solidFill>
                  <a:prstClr val="black"/>
                </a:solidFill>
              </a:rPr>
              <a:t> </a:t>
            </a:r>
            <a:r>
              <a:rPr lang="en-US" sz="1600" dirty="0">
                <a:solidFill>
                  <a:prstClr val="black"/>
                </a:solidFill>
                <a:cs typeface="Arial" charset="0"/>
              </a:rPr>
              <a:t>∞, ∞} = ∞ </a:t>
            </a:r>
            <a:endParaRPr lang="en-US" sz="1600" dirty="0">
              <a:solidFill>
                <a:prstClr val="black"/>
              </a:solidFill>
            </a:endParaRPr>
          </a:p>
        </p:txBody>
      </p:sp>
      <p:sp>
        <p:nvSpPr>
          <p:cNvPr id="238" name="TextBox 237">
            <a:extLst>
              <a:ext uri="{FF2B5EF4-FFF2-40B4-BE49-F238E27FC236}">
                <a16:creationId xmlns:a16="http://schemas.microsoft.com/office/drawing/2014/main" id="{6F6C5C23-C561-3C45-BF6E-B71BD8ABBA6F}"/>
              </a:ext>
            </a:extLst>
          </p:cNvPr>
          <p:cNvSpPr txBox="1"/>
          <p:nvPr/>
        </p:nvSpPr>
        <p:spPr>
          <a:xfrm>
            <a:off x="883920" y="5940028"/>
            <a:ext cx="55473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(h)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(h),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(h), c</a:t>
            </a:r>
            <a:r>
              <a:rPr lang="en-US" sz="1600" baseline="-25000" dirty="0">
                <a:solidFill>
                  <a:prstClr val="black"/>
                </a:solidFill>
              </a:rPr>
              <a:t> b,e</a:t>
            </a:r>
            <a:r>
              <a:rPr lang="en-US" sz="1600" dirty="0">
                <a:solidFill>
                  <a:prstClr val="black"/>
                </a:solidFill>
              </a:rPr>
              <a:t>+D</a:t>
            </a:r>
            <a:r>
              <a:rPr lang="en-US" sz="1600" baseline="-25000" dirty="0">
                <a:solidFill>
                  <a:prstClr val="black"/>
                </a:solidFill>
              </a:rPr>
              <a:t>e</a:t>
            </a:r>
            <a:r>
              <a:rPr lang="en-US" sz="1600" dirty="0">
                <a:solidFill>
                  <a:prstClr val="black"/>
                </a:solidFill>
              </a:rPr>
              <a:t>(h)}  = min{</a:t>
            </a:r>
            <a:r>
              <a:rPr lang="en-US" sz="1600" dirty="0">
                <a:solidFill>
                  <a:prstClr val="black"/>
                </a:solidFill>
                <a:cs typeface="Arial" charset="0"/>
              </a:rPr>
              <a:t>∞,</a:t>
            </a:r>
            <a:r>
              <a:rPr lang="en-US" sz="1600" baseline="-25000" dirty="0">
                <a:solidFill>
                  <a:prstClr val="black"/>
                </a:solidFill>
              </a:rPr>
              <a:t> </a:t>
            </a:r>
            <a:r>
              <a:rPr lang="en-US" sz="1600" dirty="0">
                <a:solidFill>
                  <a:prstClr val="black"/>
                </a:solidFill>
                <a:cs typeface="Arial" charset="0"/>
              </a:rPr>
              <a:t>∞, 2} = 2 </a:t>
            </a:r>
            <a:endParaRPr lang="en-US" sz="1600" dirty="0">
              <a:solidFill>
                <a:prstClr val="black"/>
              </a:solidFill>
            </a:endParaRPr>
          </a:p>
        </p:txBody>
      </p:sp>
      <p:sp>
        <p:nvSpPr>
          <p:cNvPr id="233" name="TextBox 232">
            <a:extLst>
              <a:ext uri="{FF2B5EF4-FFF2-40B4-BE49-F238E27FC236}">
                <a16:creationId xmlns:a16="http://schemas.microsoft.com/office/drawing/2014/main" id="{BADCD68C-1DA0-8447-9D21-763071468EAD}"/>
              </a:ext>
            </a:extLst>
          </p:cNvPr>
          <p:cNvSpPr txBox="1"/>
          <p:nvPr/>
        </p:nvSpPr>
        <p:spPr>
          <a:xfrm>
            <a:off x="894080" y="4976614"/>
            <a:ext cx="54457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(e)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(e),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(e),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(e)}  = min{</a:t>
            </a:r>
            <a:r>
              <a:rPr lang="en-US" sz="1600" dirty="0">
                <a:solidFill>
                  <a:prstClr val="black"/>
                </a:solidFill>
                <a:cs typeface="Arial" charset="0"/>
              </a:rPr>
              <a:t>∞,∞,1} = 1 </a:t>
            </a:r>
            <a:endParaRPr lang="en-US" sz="1600" dirty="0">
              <a:solidFill>
                <a:prstClr val="black"/>
              </a:solidFill>
            </a:endParaRPr>
          </a:p>
        </p:txBody>
      </p:sp>
      <p:sp>
        <p:nvSpPr>
          <p:cNvPr id="236" name="TextBox 235">
            <a:extLst>
              <a:ext uri="{FF2B5EF4-FFF2-40B4-BE49-F238E27FC236}">
                <a16:creationId xmlns:a16="http://schemas.microsoft.com/office/drawing/2014/main" id="{CD08082F-26E1-5D4C-847F-FBDD59BB5533}"/>
              </a:ext>
            </a:extLst>
          </p:cNvPr>
          <p:cNvSpPr txBox="1"/>
          <p:nvPr/>
        </p:nvSpPr>
        <p:spPr>
          <a:xfrm>
            <a:off x="894080" y="5616694"/>
            <a:ext cx="55473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(g)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(g),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(g), c</a:t>
            </a:r>
            <a:r>
              <a:rPr lang="en-US" sz="1600" baseline="-25000" dirty="0">
                <a:solidFill>
                  <a:prstClr val="black"/>
                </a:solidFill>
              </a:rPr>
              <a:t> b,e</a:t>
            </a:r>
            <a:r>
              <a:rPr lang="en-US" sz="1600" dirty="0">
                <a:solidFill>
                  <a:prstClr val="black"/>
                </a:solidFill>
              </a:rPr>
              <a:t>+D</a:t>
            </a:r>
            <a:r>
              <a:rPr lang="en-US" sz="1600" baseline="-25000" dirty="0">
                <a:solidFill>
                  <a:prstClr val="black"/>
                </a:solidFill>
              </a:rPr>
              <a:t>e</a:t>
            </a:r>
            <a:r>
              <a:rPr lang="en-US" sz="1600" dirty="0">
                <a:solidFill>
                  <a:prstClr val="black"/>
                </a:solidFill>
              </a:rPr>
              <a:t>(g)}  = min{</a:t>
            </a:r>
            <a:r>
              <a:rPr lang="en-US" sz="1600" dirty="0">
                <a:solidFill>
                  <a:prstClr val="black"/>
                </a:solidFill>
                <a:cs typeface="Arial" charset="0"/>
              </a:rPr>
              <a:t>∞,</a:t>
            </a:r>
            <a:r>
              <a:rPr lang="en-US" sz="1600" baseline="-25000" dirty="0">
                <a:solidFill>
                  <a:prstClr val="black"/>
                </a:solidFill>
              </a:rPr>
              <a:t> </a:t>
            </a:r>
            <a:r>
              <a:rPr lang="en-US" sz="1600" dirty="0">
                <a:solidFill>
                  <a:prstClr val="black"/>
                </a:solidFill>
                <a:cs typeface="Arial" charset="0"/>
              </a:rPr>
              <a:t>∞, ∞} = ∞ </a:t>
            </a:r>
            <a:endParaRPr lang="en-US" sz="1600" dirty="0">
              <a:solidFill>
                <a:prstClr val="black"/>
              </a:solidFill>
            </a:endParaRPr>
          </a:p>
        </p:txBody>
      </p:sp>
    </p:spTree>
    <p:extLst>
      <p:ext uri="{BB962C8B-B14F-4D97-AF65-F5344CB8AC3E}">
        <p14:creationId xmlns:p14="http://schemas.microsoft.com/office/powerpoint/2010/main" val="3090128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up)">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0"/>
                                        </p:tgtEl>
                                        <p:attrNameLst>
                                          <p:attrName>style.visibility</p:attrName>
                                        </p:attrNameLst>
                                      </p:cBhvr>
                                      <p:to>
                                        <p:strVal val="visible"/>
                                      </p:to>
                                    </p:set>
                                    <p:animEffect transition="in" filter="dissolve">
                                      <p:cBhvr>
                                        <p:cTn id="17" dur="500"/>
                                        <p:tgtEl>
                                          <p:spTgt spid="23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1"/>
                                        </p:tgtEl>
                                        <p:attrNameLst>
                                          <p:attrName>style.visibility</p:attrName>
                                        </p:attrNameLst>
                                      </p:cBhvr>
                                      <p:to>
                                        <p:strVal val="visible"/>
                                      </p:to>
                                    </p:set>
                                    <p:animEffect transition="in" filter="dissolve">
                                      <p:cBhvr>
                                        <p:cTn id="22" dur="500"/>
                                        <p:tgtEl>
                                          <p:spTgt spid="23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2"/>
                                        </p:tgtEl>
                                        <p:attrNameLst>
                                          <p:attrName>style.visibility</p:attrName>
                                        </p:attrNameLst>
                                      </p:cBhvr>
                                      <p:to>
                                        <p:strVal val="visible"/>
                                      </p:to>
                                    </p:set>
                                    <p:animEffect transition="in" filter="dissolve">
                                      <p:cBhvr>
                                        <p:cTn id="27" dur="500"/>
                                        <p:tgtEl>
                                          <p:spTgt spid="23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3"/>
                                        </p:tgtEl>
                                        <p:attrNameLst>
                                          <p:attrName>style.visibility</p:attrName>
                                        </p:attrNameLst>
                                      </p:cBhvr>
                                      <p:to>
                                        <p:strVal val="visible"/>
                                      </p:to>
                                    </p:set>
                                    <p:animEffect transition="in" filter="dissolve">
                                      <p:cBhvr>
                                        <p:cTn id="32" dur="500"/>
                                        <p:tgtEl>
                                          <p:spTgt spid="23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dissolve">
                                      <p:cBhvr>
                                        <p:cTn id="37" dur="500"/>
                                        <p:tgtEl>
                                          <p:spTgt spid="235"/>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236"/>
                                        </p:tgtEl>
                                        <p:attrNameLst>
                                          <p:attrName>style.visibility</p:attrName>
                                        </p:attrNameLst>
                                      </p:cBhvr>
                                      <p:to>
                                        <p:strVal val="visible"/>
                                      </p:to>
                                    </p:set>
                                    <p:animEffect transition="in" filter="dissolve">
                                      <p:cBhvr>
                                        <p:cTn id="42" dur="500"/>
                                        <p:tgtEl>
                                          <p:spTgt spid="236"/>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38"/>
                                        </p:tgtEl>
                                        <p:attrNameLst>
                                          <p:attrName>style.visibility</p:attrName>
                                        </p:attrNameLst>
                                      </p:cBhvr>
                                      <p:to>
                                        <p:strVal val="visible"/>
                                      </p:to>
                                    </p:set>
                                    <p:animEffect transition="in" filter="dissolve">
                                      <p:cBhvr>
                                        <p:cTn id="47" dur="500"/>
                                        <p:tgtEl>
                                          <p:spTgt spid="238"/>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37"/>
                                        </p:tgtEl>
                                        <p:attrNameLst>
                                          <p:attrName>style.visibility</p:attrName>
                                        </p:attrNameLst>
                                      </p:cBhvr>
                                      <p:to>
                                        <p:strVal val="visible"/>
                                      </p:to>
                                    </p:set>
                                    <p:animEffect transition="in" filter="dissolve">
                                      <p:cBhvr>
                                        <p:cTn id="52" dur="500"/>
                                        <p:tgtEl>
                                          <p:spTgt spid="237"/>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65"/>
                                        </p:tgtEl>
                                        <p:attrNameLst>
                                          <p:attrName>style.visibility</p:attrName>
                                        </p:attrNameLst>
                                      </p:cBhvr>
                                      <p:to>
                                        <p:strVal val="visible"/>
                                      </p:to>
                                    </p:set>
                                    <p:animEffect transition="in" filter="wipe(left)">
                                      <p:cBhvr>
                                        <p:cTn id="57" dur="500"/>
                                        <p:tgtEl>
                                          <p:spTgt spid="265"/>
                                        </p:tgtEl>
                                      </p:cBhvr>
                                    </p:animEffect>
                                  </p:childTnLst>
                                </p:cTn>
                              </p:par>
                            </p:childTnLst>
                          </p:cTn>
                        </p:par>
                        <p:par>
                          <p:cTn id="58" fill="hold">
                            <p:stCondLst>
                              <p:cond delay="500"/>
                            </p:stCondLst>
                            <p:childTnLst>
                              <p:par>
                                <p:cTn id="59" presetID="22" presetClass="entr" presetSubtype="8" fill="hold" nodeType="afterEffect">
                                  <p:stCondLst>
                                    <p:cond delay="0"/>
                                  </p:stCondLst>
                                  <p:childTnLst>
                                    <p:set>
                                      <p:cBhvr>
                                        <p:cTn id="60" dur="1" fill="hold">
                                          <p:stCondLst>
                                            <p:cond delay="0"/>
                                          </p:stCondLst>
                                        </p:cTn>
                                        <p:tgtEl>
                                          <p:spTgt spid="239"/>
                                        </p:tgtEl>
                                        <p:attrNameLst>
                                          <p:attrName>style.visibility</p:attrName>
                                        </p:attrNameLst>
                                      </p:cBhvr>
                                      <p:to>
                                        <p:strVal val="visible"/>
                                      </p:to>
                                    </p:set>
                                    <p:animEffect transition="in" filter="wipe(left)">
                                      <p:cBhvr>
                                        <p:cTn id="61" dur="500"/>
                                        <p:tgtEl>
                                          <p:spTgt spid="239"/>
                                        </p:tgtEl>
                                      </p:cBhvr>
                                    </p:animEffect>
                                  </p:childTnLst>
                                </p:cTn>
                              </p:par>
                            </p:childTnLst>
                          </p:cTn>
                        </p:par>
                      </p:childTnLst>
                    </p:cTn>
                  </p:par>
                  <p:par>
                    <p:cTn id="62" fill="hold">
                      <p:stCondLst>
                        <p:cond delay="indefinite"/>
                      </p:stCondLst>
                      <p:childTnLst>
                        <p:par>
                          <p:cTn id="63" fill="hold">
                            <p:stCondLst>
                              <p:cond delay="0"/>
                            </p:stCondLst>
                            <p:childTnLst>
                              <p:par>
                                <p:cTn id="64" presetID="42" presetClass="path" presetSubtype="0" accel="50000" decel="50000" fill="hold" nodeType="clickEffect">
                                  <p:stCondLst>
                                    <p:cond delay="0"/>
                                  </p:stCondLst>
                                  <p:childTnLst>
                                    <p:animMotion origin="layout" path="M -0.00156 -3.7037E-6 L -0.0013 -0.71435 " pathEditMode="relative" rAng="0" ptsTypes="AA">
                                      <p:cBhvr>
                                        <p:cTn id="65" dur="2000" fill="hold"/>
                                        <p:tgtEl>
                                          <p:spTgt spid="239"/>
                                        </p:tgtEl>
                                        <p:attrNameLst>
                                          <p:attrName>ppt_x</p:attrName>
                                          <p:attrName>ppt_y</p:attrName>
                                        </p:attrNameLst>
                                      </p:cBhvr>
                                      <p:rCtr x="13" y="-3571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65" grpId="0" animBg="1"/>
      <p:bldP spid="230" grpId="0"/>
      <p:bldP spid="231" grpId="0"/>
      <p:bldP spid="232" grpId="0"/>
      <p:bldP spid="235" grpId="0"/>
      <p:bldP spid="237" grpId="0"/>
      <p:bldP spid="238" grpId="0"/>
      <p:bldP spid="233" grpId="0"/>
      <p:bldP spid="236"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 name="Group 371">
            <a:extLst>
              <a:ext uri="{FF2B5EF4-FFF2-40B4-BE49-F238E27FC236}">
                <a16:creationId xmlns:a16="http://schemas.microsoft.com/office/drawing/2014/main" id="{6256310D-2722-AC40-836B-70B2E6C735F3}"/>
              </a:ext>
            </a:extLst>
          </p:cNvPr>
          <p:cNvGrpSpPr/>
          <p:nvPr/>
        </p:nvGrpSpPr>
        <p:grpSpPr>
          <a:xfrm>
            <a:off x="2827965" y="1130710"/>
            <a:ext cx="1547391" cy="2620631"/>
            <a:chOff x="3221255" y="1012723"/>
            <a:chExt cx="1547391" cy="2620631"/>
          </a:xfrm>
        </p:grpSpPr>
        <p:sp>
          <p:nvSpPr>
            <p:cNvPr id="373" name="Freeform 372">
              <a:extLst>
                <a:ext uri="{FF2B5EF4-FFF2-40B4-BE49-F238E27FC236}">
                  <a16:creationId xmlns:a16="http://schemas.microsoft.com/office/drawing/2014/main" id="{83550A18-F3EF-E943-8229-8A03AEBA0C06}"/>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4" name="Group 373">
              <a:extLst>
                <a:ext uri="{FF2B5EF4-FFF2-40B4-BE49-F238E27FC236}">
                  <a16:creationId xmlns:a16="http://schemas.microsoft.com/office/drawing/2014/main" id="{CB9AF062-8753-5B40-ABD3-B709A7CA41D6}"/>
                </a:ext>
              </a:extLst>
            </p:cNvPr>
            <p:cNvGrpSpPr/>
            <p:nvPr/>
          </p:nvGrpSpPr>
          <p:grpSpPr>
            <a:xfrm>
              <a:off x="3221255" y="1012723"/>
              <a:ext cx="1172904" cy="2620631"/>
              <a:chOff x="3221255" y="1012723"/>
              <a:chExt cx="1172904" cy="2620631"/>
            </a:xfrm>
          </p:grpSpPr>
          <p:sp>
            <p:nvSpPr>
              <p:cNvPr id="375" name="Rectangle 374">
                <a:extLst>
                  <a:ext uri="{FF2B5EF4-FFF2-40B4-BE49-F238E27FC236}">
                    <a16:creationId xmlns:a16="http://schemas.microsoft.com/office/drawing/2014/main" id="{993DA739-7CEA-114D-820B-DF132DB3984F}"/>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6" name="Group 375">
                <a:extLst>
                  <a:ext uri="{FF2B5EF4-FFF2-40B4-BE49-F238E27FC236}">
                    <a16:creationId xmlns:a16="http://schemas.microsoft.com/office/drawing/2014/main" id="{CCC46E28-2F9A-614B-981E-EA679AD82EB0}"/>
                  </a:ext>
                </a:extLst>
              </p:cNvPr>
              <p:cNvGrpSpPr/>
              <p:nvPr/>
            </p:nvGrpSpPr>
            <p:grpSpPr>
              <a:xfrm>
                <a:off x="3221255" y="1017253"/>
                <a:ext cx="1172904" cy="2616101"/>
                <a:chOff x="9477371" y="702026"/>
                <a:chExt cx="1172904" cy="2616101"/>
              </a:xfrm>
            </p:grpSpPr>
            <p:sp>
              <p:nvSpPr>
                <p:cNvPr id="377" name="Rectangle 376">
                  <a:extLst>
                    <a:ext uri="{FF2B5EF4-FFF2-40B4-BE49-F238E27FC236}">
                      <a16:creationId xmlns:a16="http://schemas.microsoft.com/office/drawing/2014/main" id="{99E48FE5-7FBB-0648-927F-69AA9BA117F7}"/>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8" name="TextBox 377">
                  <a:extLst>
                    <a:ext uri="{FF2B5EF4-FFF2-40B4-BE49-F238E27FC236}">
                      <a16:creationId xmlns:a16="http://schemas.microsoft.com/office/drawing/2014/main" id="{741917D9-8AC9-0D49-8D6F-B97725FED00C}"/>
                    </a:ext>
                  </a:extLst>
                </p:cNvPr>
                <p:cNvSpPr txBox="1"/>
                <p:nvPr/>
              </p:nvSpPr>
              <p:spPr>
                <a:xfrm>
                  <a:off x="9533078" y="702026"/>
                  <a:ext cx="1117197" cy="2616101"/>
                </a:xfrm>
                <a:prstGeom prst="rect">
                  <a:avLst/>
                </a:prstGeom>
                <a:noFill/>
              </p:spPr>
              <p:txBody>
                <a:bodyPr wrap="square" rtlCol="0">
                  <a:spAutoFit/>
                </a:bodyPr>
                <a:lstStyle/>
                <a:p>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9" name="Straight Connector 378">
                  <a:extLst>
                    <a:ext uri="{FF2B5EF4-FFF2-40B4-BE49-F238E27FC236}">
                      <a16:creationId xmlns:a16="http://schemas.microsoft.com/office/drawing/2014/main" id="{50ED32A2-619A-5348-8102-F0D95343ADBB}"/>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0" name="Rectangle 379">
                  <a:extLst>
                    <a:ext uri="{FF2B5EF4-FFF2-40B4-BE49-F238E27FC236}">
                      <a16:creationId xmlns:a16="http://schemas.microsoft.com/office/drawing/2014/main" id="{DCEA8569-4767-BC4F-95B8-4CEC559CA8A1}"/>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62</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c receives DVs from b</a:t>
            </a:r>
          </a:p>
        </p:txBody>
      </p:sp>
      <p:sp>
        <p:nvSpPr>
          <p:cNvPr id="345" name="Right Arrow 344">
            <a:extLst>
              <a:ext uri="{FF2B5EF4-FFF2-40B4-BE49-F238E27FC236}">
                <a16:creationId xmlns:a16="http://schemas.microsoft.com/office/drawing/2014/main" id="{92F5E3C5-FAC5-934A-B5A5-9BE872588D4E}"/>
              </a:ext>
            </a:extLst>
          </p:cNvPr>
          <p:cNvSpPr/>
          <p:nvPr/>
        </p:nvSpPr>
        <p:spPr>
          <a:xfrm rot="16200000">
            <a:off x="6346718" y="340688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6" name="Right Arrow 355">
            <a:extLst>
              <a:ext uri="{FF2B5EF4-FFF2-40B4-BE49-F238E27FC236}">
                <a16:creationId xmlns:a16="http://schemas.microsoft.com/office/drawing/2014/main" id="{FECE1C4C-C6DE-E44B-8914-C9FAB6E59F01}"/>
              </a:ext>
            </a:extLst>
          </p:cNvPr>
          <p:cNvSpPr/>
          <p:nvPr/>
        </p:nvSpPr>
        <p:spPr>
          <a:xfrm>
            <a:off x="4973224" y="19379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7" name="Right Arrow 356">
            <a:extLst>
              <a:ext uri="{FF2B5EF4-FFF2-40B4-BE49-F238E27FC236}">
                <a16:creationId xmlns:a16="http://schemas.microsoft.com/office/drawing/2014/main" id="{E44AC5A8-AB5C-6D48-965A-B3150C882B9F}"/>
              </a:ext>
            </a:extLst>
          </p:cNvPr>
          <p:cNvSpPr/>
          <p:nvPr/>
        </p:nvSpPr>
        <p:spPr>
          <a:xfrm rot="10800000">
            <a:off x="7631559" y="191970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 name="Group 3">
            <a:extLst>
              <a:ext uri="{FF2B5EF4-FFF2-40B4-BE49-F238E27FC236}">
                <a16:creationId xmlns:a16="http://schemas.microsoft.com/office/drawing/2014/main" id="{D3B35DA9-63C6-B944-AEED-1CE8A219D68F}"/>
              </a:ext>
            </a:extLst>
          </p:cNvPr>
          <p:cNvGrpSpPr/>
          <p:nvPr/>
        </p:nvGrpSpPr>
        <p:grpSpPr>
          <a:xfrm>
            <a:off x="8740877" y="219997"/>
            <a:ext cx="2045109" cy="2667397"/>
            <a:chOff x="8740877" y="219997"/>
            <a:chExt cx="2045109" cy="2667397"/>
          </a:xfrm>
        </p:grpSpPr>
        <p:sp>
          <p:nvSpPr>
            <p:cNvPr id="234" name="Freeform 233">
              <a:extLst>
                <a:ext uri="{FF2B5EF4-FFF2-40B4-BE49-F238E27FC236}">
                  <a16:creationId xmlns:a16="http://schemas.microsoft.com/office/drawing/2014/main" id="{CD3625DA-7674-FD43-A116-87C156BB9E53}"/>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8" name="Group 357">
              <a:extLst>
                <a:ext uri="{FF2B5EF4-FFF2-40B4-BE49-F238E27FC236}">
                  <a16:creationId xmlns:a16="http://schemas.microsoft.com/office/drawing/2014/main" id="{8E84743B-19DB-E241-B0AF-861F515FE360}"/>
                </a:ext>
              </a:extLst>
            </p:cNvPr>
            <p:cNvGrpSpPr/>
            <p:nvPr/>
          </p:nvGrpSpPr>
          <p:grpSpPr>
            <a:xfrm>
              <a:off x="9636528" y="219997"/>
              <a:ext cx="1149458" cy="2667397"/>
              <a:chOff x="9764348" y="1447800"/>
              <a:chExt cx="1149458" cy="2667397"/>
            </a:xfrm>
          </p:grpSpPr>
          <p:sp>
            <p:nvSpPr>
              <p:cNvPr id="359" name="Rectangle 358">
                <a:extLst>
                  <a:ext uri="{FF2B5EF4-FFF2-40B4-BE49-F238E27FC236}">
                    <a16:creationId xmlns:a16="http://schemas.microsoft.com/office/drawing/2014/main" id="{FBF5705D-BC98-2845-B684-C5D5E33CE86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45185F04-540F-1048-94D0-753D4872458F}"/>
                  </a:ext>
                </a:extLst>
              </p:cNvPr>
              <p:cNvGrpSpPr/>
              <p:nvPr/>
            </p:nvGrpSpPr>
            <p:grpSpPr>
              <a:xfrm>
                <a:off x="9764348" y="1447800"/>
                <a:ext cx="1130291" cy="2667397"/>
                <a:chOff x="9472119" y="702026"/>
                <a:chExt cx="1130291" cy="2667397"/>
              </a:xfrm>
            </p:grpSpPr>
            <p:sp>
              <p:nvSpPr>
                <p:cNvPr id="361" name="Rectangle 360">
                  <a:extLst>
                    <a:ext uri="{FF2B5EF4-FFF2-40B4-BE49-F238E27FC236}">
                      <a16:creationId xmlns:a16="http://schemas.microsoft.com/office/drawing/2014/main" id="{F1B029F2-3CFB-F446-A49B-ABBE33D0754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2" name="TextBox 361">
                  <a:extLst>
                    <a:ext uri="{FF2B5EF4-FFF2-40B4-BE49-F238E27FC236}">
                      <a16:creationId xmlns:a16="http://schemas.microsoft.com/office/drawing/2014/main" id="{E601508D-C456-214F-B2CC-E58813667624}"/>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3" name="Straight Connector 362">
                  <a:extLst>
                    <a:ext uri="{FF2B5EF4-FFF2-40B4-BE49-F238E27FC236}">
                      <a16:creationId xmlns:a16="http://schemas.microsoft.com/office/drawing/2014/main" id="{3FDDC54C-ACD2-B847-8FF7-2C6CBDB5C16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4" name="Rectangle 363">
                  <a:extLst>
                    <a:ext uri="{FF2B5EF4-FFF2-40B4-BE49-F238E27FC236}">
                      <a16:creationId xmlns:a16="http://schemas.microsoft.com/office/drawing/2014/main" id="{C28D2058-9ADC-2F45-A3D5-6BE95FBA06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183" name="Freeform 182">
            <a:extLst>
              <a:ext uri="{FF2B5EF4-FFF2-40B4-BE49-F238E27FC236}">
                <a16:creationId xmlns:a16="http://schemas.microsoft.com/office/drawing/2014/main" id="{2593EFCC-23E2-4043-94E6-A9E17FCC79C5}"/>
              </a:ext>
            </a:extLst>
          </p:cNvPr>
          <p:cNvSpPr/>
          <p:nvPr/>
        </p:nvSpPr>
        <p:spPr>
          <a:xfrm>
            <a:off x="6794417" y="3016538"/>
            <a:ext cx="288970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9702" h="2634390">
                <a:moveTo>
                  <a:pt x="10817" y="896701"/>
                </a:moveTo>
                <a:cubicBezTo>
                  <a:pt x="1751126" y="516521"/>
                  <a:pt x="1777345" y="533564"/>
                  <a:pt x="2869381" y="0"/>
                </a:cubicBezTo>
                <a:cubicBezTo>
                  <a:pt x="2869381" y="783303"/>
                  <a:pt x="2889702" y="1851087"/>
                  <a:pt x="2889702" y="2634390"/>
                </a:cubicBezTo>
                <a:cubicBezTo>
                  <a:pt x="2630785" y="598784"/>
                  <a:pt x="2043143" y="642374"/>
                  <a:pt x="0" y="1094330"/>
                </a:cubicBezTo>
                <a:lnTo>
                  <a:pt x="10817" y="8967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5" name="Group 364">
            <a:extLst>
              <a:ext uri="{FF2B5EF4-FFF2-40B4-BE49-F238E27FC236}">
                <a16:creationId xmlns:a16="http://schemas.microsoft.com/office/drawing/2014/main" id="{CD6AC636-949C-B04A-A12F-4BBF60E3A068}"/>
              </a:ext>
            </a:extLst>
          </p:cNvPr>
          <p:cNvGrpSpPr/>
          <p:nvPr/>
        </p:nvGrpSpPr>
        <p:grpSpPr>
          <a:xfrm>
            <a:off x="9654637" y="3018176"/>
            <a:ext cx="1131350" cy="2675039"/>
            <a:chOff x="9762792" y="4031226"/>
            <a:chExt cx="1131350" cy="2675039"/>
          </a:xfrm>
        </p:grpSpPr>
        <p:sp>
          <p:nvSpPr>
            <p:cNvPr id="366" name="Rectangle 365">
              <a:extLst>
                <a:ext uri="{FF2B5EF4-FFF2-40B4-BE49-F238E27FC236}">
                  <a16:creationId xmlns:a16="http://schemas.microsoft.com/office/drawing/2014/main" id="{E11C6EC6-4F28-CD44-B5B6-0143F1CD0CD3}"/>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7" name="Group 366">
              <a:extLst>
                <a:ext uri="{FF2B5EF4-FFF2-40B4-BE49-F238E27FC236}">
                  <a16:creationId xmlns:a16="http://schemas.microsoft.com/office/drawing/2014/main" id="{B79E58C0-B1B4-B94B-8F0E-EB904614ACD4}"/>
                </a:ext>
              </a:extLst>
            </p:cNvPr>
            <p:cNvGrpSpPr/>
            <p:nvPr/>
          </p:nvGrpSpPr>
          <p:grpSpPr>
            <a:xfrm>
              <a:off x="9762792" y="4038868"/>
              <a:ext cx="1130292" cy="2667397"/>
              <a:chOff x="9472118" y="702026"/>
              <a:chExt cx="1130292" cy="2667397"/>
            </a:xfrm>
          </p:grpSpPr>
          <p:sp>
            <p:nvSpPr>
              <p:cNvPr id="368" name="Rectangle 367">
                <a:extLst>
                  <a:ext uri="{FF2B5EF4-FFF2-40B4-BE49-F238E27FC236}">
                    <a16:creationId xmlns:a16="http://schemas.microsoft.com/office/drawing/2014/main" id="{F6C3876C-103E-634C-8619-285D4D96A9C8}"/>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9" name="TextBox 368">
                <a:extLst>
                  <a:ext uri="{FF2B5EF4-FFF2-40B4-BE49-F238E27FC236}">
                    <a16:creationId xmlns:a16="http://schemas.microsoft.com/office/drawing/2014/main" id="{7C7420E3-75DE-FB4C-B805-F6E92683D068}"/>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0" name="Straight Connector 369">
                <a:extLst>
                  <a:ext uri="{FF2B5EF4-FFF2-40B4-BE49-F238E27FC236}">
                    <a16:creationId xmlns:a16="http://schemas.microsoft.com/office/drawing/2014/main" id="{1DC7A48D-E2F6-C84C-A00F-2E0AAD581115}"/>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1" name="Rectangle 370">
                <a:extLst>
                  <a:ext uri="{FF2B5EF4-FFF2-40B4-BE49-F238E27FC236}">
                    <a16:creationId xmlns:a16="http://schemas.microsoft.com/office/drawing/2014/main" id="{D7FCACB9-7EBD-6042-B148-4018CD65A0BC}"/>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176" name="Right Arrow 175">
            <a:extLst>
              <a:ext uri="{FF2B5EF4-FFF2-40B4-BE49-F238E27FC236}">
                <a16:creationId xmlns:a16="http://schemas.microsoft.com/office/drawing/2014/main" id="{ADFF0534-3A73-9C40-92B4-D9FA82829903}"/>
              </a:ext>
            </a:extLst>
          </p:cNvPr>
          <p:cNvSpPr/>
          <p:nvPr/>
        </p:nvSpPr>
        <p:spPr>
          <a:xfrm>
            <a:off x="6977380" y="192782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9017726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281"/>
                                        </p:tgtEl>
                                        <p:attrNameLst>
                                          <p:attrName>style.visibility</p:attrName>
                                        </p:attrNameLst>
                                      </p:cBhvr>
                                      <p:to>
                                        <p:strVal val="visible"/>
                                      </p:to>
                                    </p:set>
                                    <p:animEffect transition="in" filter="dissolve">
                                      <p:cBhvr>
                                        <p:cTn id="7" dur="500"/>
                                        <p:tgtEl>
                                          <p:spTgt spid="281"/>
                                        </p:tgtEl>
                                      </p:cBhvr>
                                    </p:animEffect>
                                  </p:childTnLst>
                                </p:cTn>
                              </p:par>
                              <p:par>
                                <p:cTn id="8" presetID="9" presetClass="exit" presetSubtype="0" fill="hold" grpId="0" nodeType="withEffect">
                                  <p:stCondLst>
                                    <p:cond delay="0"/>
                                  </p:stCondLst>
                                  <p:childTnLst>
                                    <p:animEffect transition="out" filter="dissolve">
                                      <p:cBhvr>
                                        <p:cTn id="9" dur="500"/>
                                        <p:tgtEl>
                                          <p:spTgt spid="356"/>
                                        </p:tgtEl>
                                      </p:cBhvr>
                                    </p:animEffect>
                                    <p:set>
                                      <p:cBhvr>
                                        <p:cTn id="10" dur="1" fill="hold">
                                          <p:stCondLst>
                                            <p:cond delay="499"/>
                                          </p:stCondLst>
                                        </p:cTn>
                                        <p:tgtEl>
                                          <p:spTgt spid="356"/>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372"/>
                                        </p:tgtEl>
                                      </p:cBhvr>
                                    </p:animEffect>
                                    <p:set>
                                      <p:cBhvr>
                                        <p:cTn id="13" dur="1" fill="hold">
                                          <p:stCondLst>
                                            <p:cond delay="499"/>
                                          </p:stCondLst>
                                        </p:cTn>
                                        <p:tgtEl>
                                          <p:spTgt spid="372"/>
                                        </p:tgtEl>
                                        <p:attrNameLst>
                                          <p:attrName>style.visibility</p:attrName>
                                        </p:attrNameLst>
                                      </p:cBhvr>
                                      <p:to>
                                        <p:strVal val="hidden"/>
                                      </p:to>
                                    </p:set>
                                  </p:childTnLst>
                                </p:cTn>
                              </p:par>
                              <p:par>
                                <p:cTn id="14" presetID="9" presetClass="exit" presetSubtype="0" fill="hold" nodeType="withEffect">
                                  <p:stCondLst>
                                    <p:cond delay="0"/>
                                  </p:stCondLst>
                                  <p:childTnLst>
                                    <p:animEffect transition="out" filter="dissolve">
                                      <p:cBhvr>
                                        <p:cTn id="15" dur="500"/>
                                        <p:tgtEl>
                                          <p:spTgt spid="365"/>
                                        </p:tgtEl>
                                      </p:cBhvr>
                                    </p:animEffect>
                                    <p:set>
                                      <p:cBhvr>
                                        <p:cTn id="16" dur="1" fill="hold">
                                          <p:stCondLst>
                                            <p:cond delay="499"/>
                                          </p:stCondLst>
                                        </p:cTn>
                                        <p:tgtEl>
                                          <p:spTgt spid="365"/>
                                        </p:tgtEl>
                                        <p:attrNameLst>
                                          <p:attrName>style.visibility</p:attrName>
                                        </p:attrNameLst>
                                      </p:cBhvr>
                                      <p:to>
                                        <p:strVal val="hidden"/>
                                      </p:to>
                                    </p:set>
                                  </p:childTnLst>
                                </p:cTn>
                              </p:par>
                              <p:par>
                                <p:cTn id="17" presetID="9" presetClass="exit" presetSubtype="0" fill="hold" grpId="0" nodeType="withEffect">
                                  <p:stCondLst>
                                    <p:cond delay="0"/>
                                  </p:stCondLst>
                                  <p:childTnLst>
                                    <p:animEffect transition="out" filter="dissolve">
                                      <p:cBhvr>
                                        <p:cTn id="18" dur="500"/>
                                        <p:tgtEl>
                                          <p:spTgt spid="345"/>
                                        </p:tgtEl>
                                      </p:cBhvr>
                                    </p:animEffect>
                                    <p:set>
                                      <p:cBhvr>
                                        <p:cTn id="19" dur="1" fill="hold">
                                          <p:stCondLst>
                                            <p:cond delay="499"/>
                                          </p:stCondLst>
                                        </p:cTn>
                                        <p:tgtEl>
                                          <p:spTgt spid="345"/>
                                        </p:tgtEl>
                                        <p:attrNameLst>
                                          <p:attrName>style.visibility</p:attrName>
                                        </p:attrNameLst>
                                      </p:cBhvr>
                                      <p:to>
                                        <p:strVal val="hidden"/>
                                      </p:to>
                                    </p:set>
                                  </p:childTnLst>
                                </p:cTn>
                              </p:par>
                              <p:par>
                                <p:cTn id="20" presetID="9" presetClass="exit" presetSubtype="0" fill="hold" grpId="0" nodeType="withEffect">
                                  <p:stCondLst>
                                    <p:cond delay="0"/>
                                  </p:stCondLst>
                                  <p:childTnLst>
                                    <p:animEffect transition="out" filter="dissolve">
                                      <p:cBhvr>
                                        <p:cTn id="21" dur="500"/>
                                        <p:tgtEl>
                                          <p:spTgt spid="357"/>
                                        </p:tgtEl>
                                      </p:cBhvr>
                                    </p:animEffect>
                                    <p:set>
                                      <p:cBhvr>
                                        <p:cTn id="22" dur="1" fill="hold">
                                          <p:stCondLst>
                                            <p:cond delay="499"/>
                                          </p:stCondLst>
                                        </p:cTn>
                                        <p:tgtEl>
                                          <p:spTgt spid="357"/>
                                        </p:tgtEl>
                                        <p:attrNameLst>
                                          <p:attrName>style.visibility</p:attrName>
                                        </p:attrNameLst>
                                      </p:cBhvr>
                                      <p:to>
                                        <p:strVal val="hidden"/>
                                      </p:to>
                                    </p:set>
                                  </p:childTnLst>
                                </p:cTn>
                              </p:par>
                              <p:par>
                                <p:cTn id="23" presetID="9" presetClass="entr" presetSubtype="0" fill="hold" grpId="0" nodeType="withEffect">
                                  <p:stCondLst>
                                    <p:cond delay="0"/>
                                  </p:stCondLst>
                                  <p:childTnLst>
                                    <p:set>
                                      <p:cBhvr>
                                        <p:cTn id="24" dur="1" fill="hold">
                                          <p:stCondLst>
                                            <p:cond delay="0"/>
                                          </p:stCondLst>
                                        </p:cTn>
                                        <p:tgtEl>
                                          <p:spTgt spid="176"/>
                                        </p:tgtEl>
                                        <p:attrNameLst>
                                          <p:attrName>style.visibility</p:attrName>
                                        </p:attrNameLst>
                                      </p:cBhvr>
                                      <p:to>
                                        <p:strVal val="visible"/>
                                      </p:to>
                                    </p:set>
                                    <p:animEffect transition="in" filter="dissolve">
                                      <p:cBhvr>
                                        <p:cTn id="25" dur="500"/>
                                        <p:tgtEl>
                                          <p:spTgt spid="176"/>
                                        </p:tgtEl>
                                      </p:cBhvr>
                                    </p:animEffect>
                                  </p:childTnLst>
                                </p:cTn>
                              </p:par>
                              <p:par>
                                <p:cTn id="26" presetID="9" presetClass="exit" presetSubtype="0" fill="hold" grpId="0" nodeType="withEffect">
                                  <p:stCondLst>
                                    <p:cond delay="0"/>
                                  </p:stCondLst>
                                  <p:childTnLst>
                                    <p:animEffect transition="out" filter="dissolve">
                                      <p:cBhvr>
                                        <p:cTn id="27" dur="500"/>
                                        <p:tgtEl>
                                          <p:spTgt spid="183"/>
                                        </p:tgtEl>
                                      </p:cBhvr>
                                    </p:animEffect>
                                    <p:set>
                                      <p:cBhvr>
                                        <p:cTn id="28" dur="1" fill="hold">
                                          <p:stCondLst>
                                            <p:cond delay="499"/>
                                          </p:stCondLst>
                                        </p:cTn>
                                        <p:tgtEl>
                                          <p:spTgt spid="18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345" grpId="0" animBg="1"/>
      <p:bldP spid="356" grpId="0" animBg="1"/>
      <p:bldP spid="357" grpId="0" animBg="1"/>
      <p:bldP spid="183" grpId="0" animBg="1"/>
      <p:bldP spid="17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63</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2079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c receives DVs from b computes:</a:t>
            </a: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 name="Group 3">
            <a:extLst>
              <a:ext uri="{FF2B5EF4-FFF2-40B4-BE49-F238E27FC236}">
                <a16:creationId xmlns:a16="http://schemas.microsoft.com/office/drawing/2014/main" id="{D3B35DA9-63C6-B944-AEED-1CE8A219D68F}"/>
              </a:ext>
            </a:extLst>
          </p:cNvPr>
          <p:cNvGrpSpPr/>
          <p:nvPr/>
        </p:nvGrpSpPr>
        <p:grpSpPr>
          <a:xfrm>
            <a:off x="8740877" y="219997"/>
            <a:ext cx="2045109" cy="2667397"/>
            <a:chOff x="8740877" y="219997"/>
            <a:chExt cx="2045109" cy="2667397"/>
          </a:xfrm>
        </p:grpSpPr>
        <p:sp>
          <p:nvSpPr>
            <p:cNvPr id="234" name="Freeform 233">
              <a:extLst>
                <a:ext uri="{FF2B5EF4-FFF2-40B4-BE49-F238E27FC236}">
                  <a16:creationId xmlns:a16="http://schemas.microsoft.com/office/drawing/2014/main" id="{CD3625DA-7674-FD43-A116-87C156BB9E53}"/>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8" name="Group 357">
              <a:extLst>
                <a:ext uri="{FF2B5EF4-FFF2-40B4-BE49-F238E27FC236}">
                  <a16:creationId xmlns:a16="http://schemas.microsoft.com/office/drawing/2014/main" id="{8E84743B-19DB-E241-B0AF-861F515FE360}"/>
                </a:ext>
              </a:extLst>
            </p:cNvPr>
            <p:cNvGrpSpPr/>
            <p:nvPr/>
          </p:nvGrpSpPr>
          <p:grpSpPr>
            <a:xfrm>
              <a:off x="9636528" y="219997"/>
              <a:ext cx="1149458" cy="2667397"/>
              <a:chOff x="9764348" y="1447800"/>
              <a:chExt cx="1149458" cy="2667397"/>
            </a:xfrm>
          </p:grpSpPr>
          <p:sp>
            <p:nvSpPr>
              <p:cNvPr id="359" name="Rectangle 358">
                <a:extLst>
                  <a:ext uri="{FF2B5EF4-FFF2-40B4-BE49-F238E27FC236}">
                    <a16:creationId xmlns:a16="http://schemas.microsoft.com/office/drawing/2014/main" id="{FBF5705D-BC98-2845-B684-C5D5E33CE86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45185F04-540F-1048-94D0-753D4872458F}"/>
                  </a:ext>
                </a:extLst>
              </p:cNvPr>
              <p:cNvGrpSpPr/>
              <p:nvPr/>
            </p:nvGrpSpPr>
            <p:grpSpPr>
              <a:xfrm>
                <a:off x="9764348" y="1447800"/>
                <a:ext cx="1130291" cy="2667397"/>
                <a:chOff x="9472119" y="702026"/>
                <a:chExt cx="1130291" cy="2667397"/>
              </a:xfrm>
            </p:grpSpPr>
            <p:sp>
              <p:nvSpPr>
                <p:cNvPr id="361" name="Rectangle 360">
                  <a:extLst>
                    <a:ext uri="{FF2B5EF4-FFF2-40B4-BE49-F238E27FC236}">
                      <a16:creationId xmlns:a16="http://schemas.microsoft.com/office/drawing/2014/main" id="{F1B029F2-3CFB-F446-A49B-ABBE33D0754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2" name="TextBox 361">
                  <a:extLst>
                    <a:ext uri="{FF2B5EF4-FFF2-40B4-BE49-F238E27FC236}">
                      <a16:creationId xmlns:a16="http://schemas.microsoft.com/office/drawing/2014/main" id="{E601508D-C456-214F-B2CC-E58813667624}"/>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3" name="Straight Connector 362">
                  <a:extLst>
                    <a:ext uri="{FF2B5EF4-FFF2-40B4-BE49-F238E27FC236}">
                      <a16:creationId xmlns:a16="http://schemas.microsoft.com/office/drawing/2014/main" id="{3FDDC54C-ACD2-B847-8FF7-2C6CBDB5C16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4" name="Rectangle 363">
                  <a:extLst>
                    <a:ext uri="{FF2B5EF4-FFF2-40B4-BE49-F238E27FC236}">
                      <a16:creationId xmlns:a16="http://schemas.microsoft.com/office/drawing/2014/main" id="{C28D2058-9ADC-2F45-A3D5-6BE95FBA06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176" name="Right Arrow 175">
            <a:extLst>
              <a:ext uri="{FF2B5EF4-FFF2-40B4-BE49-F238E27FC236}">
                <a16:creationId xmlns:a16="http://schemas.microsoft.com/office/drawing/2014/main" id="{ADFF0534-3A73-9C40-92B4-D9FA82829903}"/>
              </a:ext>
            </a:extLst>
          </p:cNvPr>
          <p:cNvSpPr/>
          <p:nvPr/>
        </p:nvSpPr>
        <p:spPr>
          <a:xfrm>
            <a:off x="6977380" y="192782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7" name="Freeform 176">
            <a:extLst>
              <a:ext uri="{FF2B5EF4-FFF2-40B4-BE49-F238E27FC236}">
                <a16:creationId xmlns:a16="http://schemas.microsoft.com/office/drawing/2014/main" id="{331A1580-F5D4-CF4F-8042-0A1E5AEF8310}"/>
              </a:ext>
            </a:extLst>
          </p:cNvPr>
          <p:cNvSpPr/>
          <p:nvPr/>
        </p:nvSpPr>
        <p:spPr>
          <a:xfrm>
            <a:off x="3281678" y="1747520"/>
            <a:ext cx="5923281" cy="4988560"/>
          </a:xfrm>
          <a:custGeom>
            <a:avLst/>
            <a:gdLst>
              <a:gd name="connsiteX0" fmla="*/ 528320 w 5049520"/>
              <a:gd name="connsiteY0" fmla="*/ 0 h 3840480"/>
              <a:gd name="connsiteX1" fmla="*/ 2275840 w 5049520"/>
              <a:gd name="connsiteY1" fmla="*/ 0 h 3840480"/>
              <a:gd name="connsiteX2" fmla="*/ 2255520 w 5049520"/>
              <a:gd name="connsiteY2" fmla="*/ 69088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56923 w 5049520"/>
              <a:gd name="connsiteY6" fmla="*/ 904240 h 3840480"/>
              <a:gd name="connsiteX7" fmla="*/ 294640 w 5049520"/>
              <a:gd name="connsiteY7" fmla="*/ 375920 h 3840480"/>
              <a:gd name="connsiteX8" fmla="*/ 528320 w 5049520"/>
              <a:gd name="connsiteY8" fmla="*/ 0 h 3840480"/>
              <a:gd name="connsiteX0" fmla="*/ 1170627 w 5691827"/>
              <a:gd name="connsiteY0" fmla="*/ 0 h 3840480"/>
              <a:gd name="connsiteX1" fmla="*/ 2918147 w 5691827"/>
              <a:gd name="connsiteY1" fmla="*/ 0 h 3840480"/>
              <a:gd name="connsiteX2" fmla="*/ 2918147 w 5691827"/>
              <a:gd name="connsiteY2" fmla="*/ 955040 h 3840480"/>
              <a:gd name="connsiteX3" fmla="*/ 5661347 w 5691827"/>
              <a:gd name="connsiteY3" fmla="*/ 782320 h 3840480"/>
              <a:gd name="connsiteX4" fmla="*/ 5691827 w 5691827"/>
              <a:gd name="connsiteY4" fmla="*/ 3820160 h 3840480"/>
              <a:gd name="connsiteX5" fmla="*/ 642307 w 5691827"/>
              <a:gd name="connsiteY5" fmla="*/ 3840480 h 3840480"/>
              <a:gd name="connsiteX6" fmla="*/ 0 w 5691827"/>
              <a:gd name="connsiteY6" fmla="*/ 955040 h 3840480"/>
              <a:gd name="connsiteX7" fmla="*/ 936947 w 5691827"/>
              <a:gd name="connsiteY7" fmla="*/ 375920 h 3840480"/>
              <a:gd name="connsiteX8" fmla="*/ 1170627 w 5691827"/>
              <a:gd name="connsiteY8" fmla="*/ 0 h 384048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1006119 w 5760999"/>
              <a:gd name="connsiteY7" fmla="*/ 375920 h 3820160"/>
              <a:gd name="connsiteX8" fmla="*/ 1239799 w 5760999"/>
              <a:gd name="connsiteY8" fmla="*/ 0 h 382016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917184 w 5760999"/>
              <a:gd name="connsiteY7" fmla="*/ 904240 h 3820160"/>
              <a:gd name="connsiteX8" fmla="*/ 1239799 w 5760999"/>
              <a:gd name="connsiteY8" fmla="*/ 0 h 3820160"/>
              <a:gd name="connsiteX0" fmla="*/ 1239799 w 5760999"/>
              <a:gd name="connsiteY0" fmla="*/ 386080 h 4206240"/>
              <a:gd name="connsiteX1" fmla="*/ 2987319 w 5760999"/>
              <a:gd name="connsiteY1" fmla="*/ 386080 h 4206240"/>
              <a:gd name="connsiteX2" fmla="*/ 3570336 w 5760999"/>
              <a:gd name="connsiteY2" fmla="*/ 0 h 4206240"/>
              <a:gd name="connsiteX3" fmla="*/ 5730519 w 5760999"/>
              <a:gd name="connsiteY3" fmla="*/ 1168400 h 4206240"/>
              <a:gd name="connsiteX4" fmla="*/ 5760999 w 5760999"/>
              <a:gd name="connsiteY4" fmla="*/ 4206240 h 4206240"/>
              <a:gd name="connsiteX5" fmla="*/ 0 w 5760999"/>
              <a:gd name="connsiteY5" fmla="*/ 4196080 h 4206240"/>
              <a:gd name="connsiteX6" fmla="*/ 69172 w 5760999"/>
              <a:gd name="connsiteY6" fmla="*/ 1341120 h 4206240"/>
              <a:gd name="connsiteX7" fmla="*/ 917184 w 5760999"/>
              <a:gd name="connsiteY7" fmla="*/ 1290320 h 4206240"/>
              <a:gd name="connsiteX8" fmla="*/ 1239799 w 5760999"/>
              <a:gd name="connsiteY8" fmla="*/ 386080 h 4206240"/>
              <a:gd name="connsiteX0" fmla="*/ 1239799 w 5760999"/>
              <a:gd name="connsiteY0" fmla="*/ 599440 h 4419600"/>
              <a:gd name="connsiteX1" fmla="*/ 2829213 w 5760999"/>
              <a:gd name="connsiteY1" fmla="*/ 0 h 4419600"/>
              <a:gd name="connsiteX2" fmla="*/ 3570336 w 5760999"/>
              <a:gd name="connsiteY2" fmla="*/ 213360 h 4419600"/>
              <a:gd name="connsiteX3" fmla="*/ 5730519 w 5760999"/>
              <a:gd name="connsiteY3" fmla="*/ 1381760 h 4419600"/>
              <a:gd name="connsiteX4" fmla="*/ 5760999 w 5760999"/>
              <a:gd name="connsiteY4" fmla="*/ 4419600 h 4419600"/>
              <a:gd name="connsiteX5" fmla="*/ 0 w 5760999"/>
              <a:gd name="connsiteY5" fmla="*/ 4409440 h 4419600"/>
              <a:gd name="connsiteX6" fmla="*/ 69172 w 5760999"/>
              <a:gd name="connsiteY6" fmla="*/ 1554480 h 4419600"/>
              <a:gd name="connsiteX7" fmla="*/ 917184 w 5760999"/>
              <a:gd name="connsiteY7" fmla="*/ 1503680 h 4419600"/>
              <a:gd name="connsiteX8" fmla="*/ 1239799 w 5760999"/>
              <a:gd name="connsiteY8" fmla="*/ 599440 h 4419600"/>
              <a:gd name="connsiteX0" fmla="*/ 2524413 w 5760999"/>
              <a:gd name="connsiteY0" fmla="*/ 0 h 4958080"/>
              <a:gd name="connsiteX1" fmla="*/ 2829213 w 5760999"/>
              <a:gd name="connsiteY1" fmla="*/ 538480 h 4958080"/>
              <a:gd name="connsiteX2" fmla="*/ 3570336 w 5760999"/>
              <a:gd name="connsiteY2" fmla="*/ 751840 h 4958080"/>
              <a:gd name="connsiteX3" fmla="*/ 5730519 w 5760999"/>
              <a:gd name="connsiteY3" fmla="*/ 1920240 h 4958080"/>
              <a:gd name="connsiteX4" fmla="*/ 5760999 w 5760999"/>
              <a:gd name="connsiteY4" fmla="*/ 4958080 h 4958080"/>
              <a:gd name="connsiteX5" fmla="*/ 0 w 5760999"/>
              <a:gd name="connsiteY5" fmla="*/ 4947920 h 4958080"/>
              <a:gd name="connsiteX6" fmla="*/ 69172 w 5760999"/>
              <a:gd name="connsiteY6" fmla="*/ 2092960 h 4958080"/>
              <a:gd name="connsiteX7" fmla="*/ 917184 w 5760999"/>
              <a:gd name="connsiteY7" fmla="*/ 2042160 h 4958080"/>
              <a:gd name="connsiteX8" fmla="*/ 2524413 w 5760999"/>
              <a:gd name="connsiteY8" fmla="*/ 0 h 4958080"/>
              <a:gd name="connsiteX0" fmla="*/ 2524413 w 5760999"/>
              <a:gd name="connsiteY0" fmla="*/ 30480 h 4988560"/>
              <a:gd name="connsiteX1" fmla="*/ 2829213 w 5760999"/>
              <a:gd name="connsiteY1" fmla="*/ 568960 h 4988560"/>
              <a:gd name="connsiteX2" fmla="*/ 3570336 w 5760999"/>
              <a:gd name="connsiteY2" fmla="*/ 782320 h 4988560"/>
              <a:gd name="connsiteX3" fmla="*/ 5730519 w 5760999"/>
              <a:gd name="connsiteY3" fmla="*/ 1950720 h 4988560"/>
              <a:gd name="connsiteX4" fmla="*/ 5760999 w 5760999"/>
              <a:gd name="connsiteY4" fmla="*/ 4988560 h 4988560"/>
              <a:gd name="connsiteX5" fmla="*/ 0 w 5760999"/>
              <a:gd name="connsiteY5" fmla="*/ 4978400 h 4988560"/>
              <a:gd name="connsiteX6" fmla="*/ 69172 w 5760999"/>
              <a:gd name="connsiteY6" fmla="*/ 2123440 h 4988560"/>
              <a:gd name="connsiteX7" fmla="*/ 936947 w 5760999"/>
              <a:gd name="connsiteY7" fmla="*/ 0 h 4988560"/>
              <a:gd name="connsiteX8" fmla="*/ 2524413 w 5760999"/>
              <a:gd name="connsiteY8" fmla="*/ 30480 h 4988560"/>
              <a:gd name="connsiteX0" fmla="*/ 2524413 w 5760999"/>
              <a:gd name="connsiteY0" fmla="*/ 30480 h 4988560"/>
              <a:gd name="connsiteX1" fmla="*/ 2829213 w 5760999"/>
              <a:gd name="connsiteY1" fmla="*/ 568960 h 4988560"/>
              <a:gd name="connsiteX2" fmla="*/ 3570336 w 5760999"/>
              <a:gd name="connsiteY2" fmla="*/ 782320 h 4988560"/>
              <a:gd name="connsiteX3" fmla="*/ 5730519 w 5760999"/>
              <a:gd name="connsiteY3" fmla="*/ 1950720 h 4988560"/>
              <a:gd name="connsiteX4" fmla="*/ 5760999 w 5760999"/>
              <a:gd name="connsiteY4" fmla="*/ 4988560 h 4988560"/>
              <a:gd name="connsiteX5" fmla="*/ 0 w 5760999"/>
              <a:gd name="connsiteY5" fmla="*/ 4978400 h 4988560"/>
              <a:gd name="connsiteX6" fmla="*/ 138344 w 5760999"/>
              <a:gd name="connsiteY6" fmla="*/ 20320 h 4988560"/>
              <a:gd name="connsiteX7" fmla="*/ 936947 w 5760999"/>
              <a:gd name="connsiteY7" fmla="*/ 0 h 4988560"/>
              <a:gd name="connsiteX8" fmla="*/ 2524413 w 5760999"/>
              <a:gd name="connsiteY8" fmla="*/ 30480 h 498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999" h="4988560">
                <a:moveTo>
                  <a:pt x="2524413" y="30480"/>
                </a:moveTo>
                <a:lnTo>
                  <a:pt x="2829213" y="568960"/>
                </a:lnTo>
                <a:lnTo>
                  <a:pt x="3570336" y="782320"/>
                </a:lnTo>
                <a:lnTo>
                  <a:pt x="5730519" y="1950720"/>
                </a:lnTo>
                <a:lnTo>
                  <a:pt x="5760999" y="4988560"/>
                </a:lnTo>
                <a:lnTo>
                  <a:pt x="0" y="4978400"/>
                </a:lnTo>
                <a:lnTo>
                  <a:pt x="138344" y="20320"/>
                </a:lnTo>
                <a:lnTo>
                  <a:pt x="936947" y="0"/>
                </a:lnTo>
                <a:lnTo>
                  <a:pt x="2524413" y="3048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82" name="Rectangle 181">
            <a:extLst>
              <a:ext uri="{FF2B5EF4-FFF2-40B4-BE49-F238E27FC236}">
                <a16:creationId xmlns:a16="http://schemas.microsoft.com/office/drawing/2014/main" id="{56DAE9A3-A8D4-1F4F-87B8-95E9E01E9ED6}"/>
              </a:ext>
            </a:extLst>
          </p:cNvPr>
          <p:cNvSpPr/>
          <p:nvPr/>
        </p:nvSpPr>
        <p:spPr>
          <a:xfrm>
            <a:off x="3068320" y="3810000"/>
            <a:ext cx="3535680" cy="271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6435970D-289F-5C44-88EB-0ED68EC089EF}"/>
              </a:ext>
            </a:extLst>
          </p:cNvPr>
          <p:cNvSpPr txBox="1"/>
          <p:nvPr/>
        </p:nvSpPr>
        <p:spPr>
          <a:xfrm>
            <a:off x="3180080" y="3889494"/>
            <a:ext cx="335280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(a)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(a}} </a:t>
            </a:r>
            <a:r>
              <a:rPr lang="en-US" sz="1600" dirty="0">
                <a:solidFill>
                  <a:prstClr val="black"/>
                </a:solidFill>
                <a:cs typeface="Arial" charset="0"/>
              </a:rPr>
              <a:t>= 1 + 8 = 9 </a:t>
            </a:r>
          </a:p>
        </p:txBody>
      </p:sp>
      <p:sp>
        <p:nvSpPr>
          <p:cNvPr id="220" name="TextBox 219">
            <a:extLst>
              <a:ext uri="{FF2B5EF4-FFF2-40B4-BE49-F238E27FC236}">
                <a16:creationId xmlns:a16="http://schemas.microsoft.com/office/drawing/2014/main" id="{2915EDBD-C6AE-C34B-A2D2-6F98B54A26DF}"/>
              </a:ext>
            </a:extLst>
          </p:cNvPr>
          <p:cNvSpPr txBox="1"/>
          <p:nvPr/>
        </p:nvSpPr>
        <p:spPr>
          <a:xfrm>
            <a:off x="3180080" y="4214614"/>
            <a:ext cx="335280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(b)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(b)} = 1 + 0 = 1</a:t>
            </a:r>
          </a:p>
        </p:txBody>
      </p:sp>
      <p:sp>
        <p:nvSpPr>
          <p:cNvPr id="227" name="TextBox 226">
            <a:extLst>
              <a:ext uri="{FF2B5EF4-FFF2-40B4-BE49-F238E27FC236}">
                <a16:creationId xmlns:a16="http://schemas.microsoft.com/office/drawing/2014/main" id="{2ACDF90F-67A6-E647-A359-36DFD3E0EAEE}"/>
              </a:ext>
            </a:extLst>
          </p:cNvPr>
          <p:cNvSpPr txBox="1"/>
          <p:nvPr/>
        </p:nvSpPr>
        <p:spPr>
          <a:xfrm>
            <a:off x="3169920" y="4539734"/>
            <a:ext cx="344424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(d)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(d)} = 1+ </a:t>
            </a:r>
            <a:r>
              <a:rPr lang="en-US" sz="1600" dirty="0">
                <a:solidFill>
                  <a:prstClr val="black"/>
                </a:solidFill>
                <a:cs typeface="Arial" charset="0"/>
              </a:rPr>
              <a:t>∞ = ∞ </a:t>
            </a:r>
            <a:endParaRPr lang="en-US" sz="1600" dirty="0">
              <a:solidFill>
                <a:prstClr val="black"/>
              </a:solidFill>
            </a:endParaRPr>
          </a:p>
        </p:txBody>
      </p:sp>
      <p:sp>
        <p:nvSpPr>
          <p:cNvPr id="228" name="TextBox 227">
            <a:extLst>
              <a:ext uri="{FF2B5EF4-FFF2-40B4-BE49-F238E27FC236}">
                <a16:creationId xmlns:a16="http://schemas.microsoft.com/office/drawing/2014/main" id="{DD24FB0F-A16D-AD44-B13C-8FACD3AE60AA}"/>
              </a:ext>
            </a:extLst>
          </p:cNvPr>
          <p:cNvSpPr txBox="1"/>
          <p:nvPr/>
        </p:nvSpPr>
        <p:spPr>
          <a:xfrm>
            <a:off x="3180080" y="4844534"/>
            <a:ext cx="327152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(e)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(e)} = 1 + 1 = 2</a:t>
            </a:r>
          </a:p>
        </p:txBody>
      </p:sp>
      <p:sp>
        <p:nvSpPr>
          <p:cNvPr id="229" name="TextBox 228">
            <a:extLst>
              <a:ext uri="{FF2B5EF4-FFF2-40B4-BE49-F238E27FC236}">
                <a16:creationId xmlns:a16="http://schemas.microsoft.com/office/drawing/2014/main" id="{392C7836-E2B2-3344-B33C-D0311C182CE1}"/>
              </a:ext>
            </a:extLst>
          </p:cNvPr>
          <p:cNvSpPr txBox="1"/>
          <p:nvPr/>
        </p:nvSpPr>
        <p:spPr>
          <a:xfrm>
            <a:off x="3169920" y="5169654"/>
            <a:ext cx="33629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(f)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(f)} = 1+ </a:t>
            </a:r>
            <a:r>
              <a:rPr lang="en-US" sz="1600" dirty="0">
                <a:solidFill>
                  <a:prstClr val="black"/>
                </a:solidFill>
                <a:cs typeface="Arial" charset="0"/>
              </a:rPr>
              <a:t>∞ = ∞ </a:t>
            </a:r>
            <a:endParaRPr lang="en-US" sz="1600" dirty="0">
              <a:solidFill>
                <a:prstClr val="black"/>
              </a:solidFill>
            </a:endParaRPr>
          </a:p>
        </p:txBody>
      </p:sp>
      <p:sp>
        <p:nvSpPr>
          <p:cNvPr id="230" name="TextBox 229">
            <a:extLst>
              <a:ext uri="{FF2B5EF4-FFF2-40B4-BE49-F238E27FC236}">
                <a16:creationId xmlns:a16="http://schemas.microsoft.com/office/drawing/2014/main" id="{A4B5D70E-C9D4-A94D-83A5-723A3BC5D7B2}"/>
              </a:ext>
            </a:extLst>
          </p:cNvPr>
          <p:cNvSpPr txBox="1"/>
          <p:nvPr/>
        </p:nvSpPr>
        <p:spPr>
          <a:xfrm>
            <a:off x="3180080" y="5484614"/>
            <a:ext cx="322072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(g)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(g)} = 1+ </a:t>
            </a:r>
            <a:r>
              <a:rPr lang="en-US" sz="1600" dirty="0">
                <a:solidFill>
                  <a:prstClr val="black"/>
                </a:solidFill>
                <a:cs typeface="Arial" charset="0"/>
              </a:rPr>
              <a:t>∞ = ∞ </a:t>
            </a:r>
            <a:endParaRPr lang="en-US" sz="1600" dirty="0">
              <a:solidFill>
                <a:prstClr val="black"/>
              </a:solidFill>
            </a:endParaRPr>
          </a:p>
        </p:txBody>
      </p:sp>
      <p:sp>
        <p:nvSpPr>
          <p:cNvPr id="231" name="TextBox 230">
            <a:extLst>
              <a:ext uri="{FF2B5EF4-FFF2-40B4-BE49-F238E27FC236}">
                <a16:creationId xmlns:a16="http://schemas.microsoft.com/office/drawing/2014/main" id="{98C46536-27F6-EA4E-8DAA-99731029B077}"/>
              </a:ext>
            </a:extLst>
          </p:cNvPr>
          <p:cNvSpPr txBox="1"/>
          <p:nvPr/>
        </p:nvSpPr>
        <p:spPr>
          <a:xfrm>
            <a:off x="3180080" y="6112748"/>
            <a:ext cx="337312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(i)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(i)} = 1+ </a:t>
            </a:r>
            <a:r>
              <a:rPr lang="en-US" sz="1600" dirty="0">
                <a:solidFill>
                  <a:prstClr val="black"/>
                </a:solidFill>
                <a:cs typeface="Arial" charset="0"/>
              </a:rPr>
              <a:t>∞ = ∞ </a:t>
            </a:r>
            <a:endParaRPr lang="en-US" sz="1600" dirty="0">
              <a:solidFill>
                <a:prstClr val="black"/>
              </a:solidFill>
            </a:endParaRPr>
          </a:p>
        </p:txBody>
      </p:sp>
      <p:sp>
        <p:nvSpPr>
          <p:cNvPr id="232" name="TextBox 231">
            <a:extLst>
              <a:ext uri="{FF2B5EF4-FFF2-40B4-BE49-F238E27FC236}">
                <a16:creationId xmlns:a16="http://schemas.microsoft.com/office/drawing/2014/main" id="{5B587E4B-98D8-314C-AD6C-D5C59E491D12}"/>
              </a:ext>
            </a:extLst>
          </p:cNvPr>
          <p:cNvSpPr txBox="1"/>
          <p:nvPr/>
        </p:nvSpPr>
        <p:spPr>
          <a:xfrm>
            <a:off x="3169920" y="5807948"/>
            <a:ext cx="338328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(h) = min{c</a:t>
            </a:r>
            <a:r>
              <a:rPr lang="en-US" sz="1600" baseline="-25000" dirty="0">
                <a:solidFill>
                  <a:prstClr val="black"/>
                </a:solidFill>
              </a:rPr>
              <a:t>bc,b</a:t>
            </a:r>
            <a:r>
              <a:rPr lang="en-US" sz="1600" dirty="0">
                <a:solidFill>
                  <a:prstClr val="black"/>
                </a:solidFill>
              </a:rPr>
              <a:t>+D</a:t>
            </a:r>
            <a:r>
              <a:rPr lang="en-US" sz="1600" baseline="-25000" dirty="0">
                <a:solidFill>
                  <a:prstClr val="black"/>
                </a:solidFill>
              </a:rPr>
              <a:t>b</a:t>
            </a:r>
            <a:r>
              <a:rPr lang="en-US" sz="1600" dirty="0">
                <a:solidFill>
                  <a:prstClr val="black"/>
                </a:solidFill>
              </a:rPr>
              <a:t>(h)} = 1+ </a:t>
            </a:r>
            <a:r>
              <a:rPr lang="en-US" sz="1600" dirty="0">
                <a:solidFill>
                  <a:prstClr val="black"/>
                </a:solidFill>
                <a:cs typeface="Arial" charset="0"/>
              </a:rPr>
              <a:t>∞ = ∞ </a:t>
            </a:r>
            <a:endParaRPr lang="en-US" sz="1600" dirty="0">
              <a:solidFill>
                <a:prstClr val="black"/>
              </a:solidFill>
            </a:endParaRPr>
          </a:p>
        </p:txBody>
      </p:sp>
      <p:sp>
        <p:nvSpPr>
          <p:cNvPr id="238" name="Down Arrow 237">
            <a:extLst>
              <a:ext uri="{FF2B5EF4-FFF2-40B4-BE49-F238E27FC236}">
                <a16:creationId xmlns:a16="http://schemas.microsoft.com/office/drawing/2014/main" id="{1B75EA05-516F-1A42-869B-A05112D9F54E}"/>
              </a:ext>
            </a:extLst>
          </p:cNvPr>
          <p:cNvSpPr/>
          <p:nvPr/>
        </p:nvSpPr>
        <p:spPr>
          <a:xfrm rot="16200000">
            <a:off x="6704347" y="5410623"/>
            <a:ext cx="339615" cy="560629"/>
          </a:xfrm>
          <a:prstGeom prst="downArrow">
            <a:avLst/>
          </a:prstGeom>
          <a:gradFill>
            <a:gsLst>
              <a:gs pos="0">
                <a:schemeClr val="bg1"/>
              </a:gs>
              <a:gs pos="100000">
                <a:schemeClr val="accent5">
                  <a:lumMod val="40000"/>
                  <a:lumOff val="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52" name="Group 251">
            <a:extLst>
              <a:ext uri="{FF2B5EF4-FFF2-40B4-BE49-F238E27FC236}">
                <a16:creationId xmlns:a16="http://schemas.microsoft.com/office/drawing/2014/main" id="{7E5DB8CA-DD05-F947-B8C0-C515F9C0A281}"/>
              </a:ext>
            </a:extLst>
          </p:cNvPr>
          <p:cNvGrpSpPr/>
          <p:nvPr/>
        </p:nvGrpSpPr>
        <p:grpSpPr>
          <a:xfrm>
            <a:off x="7147328" y="3969037"/>
            <a:ext cx="1149458" cy="2667397"/>
            <a:chOff x="9764348" y="1447800"/>
            <a:chExt cx="1149458" cy="2667397"/>
          </a:xfrm>
        </p:grpSpPr>
        <p:sp>
          <p:nvSpPr>
            <p:cNvPr id="253" name="Rectangle 252">
              <a:extLst>
                <a:ext uri="{FF2B5EF4-FFF2-40B4-BE49-F238E27FC236}">
                  <a16:creationId xmlns:a16="http://schemas.microsoft.com/office/drawing/2014/main" id="{90DA1C9B-D797-2940-9D9A-52DB91665546}"/>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54" name="Group 253">
              <a:extLst>
                <a:ext uri="{FF2B5EF4-FFF2-40B4-BE49-F238E27FC236}">
                  <a16:creationId xmlns:a16="http://schemas.microsoft.com/office/drawing/2014/main" id="{A438FEFE-9A0E-E14F-A20C-433AD0E31E2A}"/>
                </a:ext>
              </a:extLst>
            </p:cNvPr>
            <p:cNvGrpSpPr/>
            <p:nvPr/>
          </p:nvGrpSpPr>
          <p:grpSpPr>
            <a:xfrm>
              <a:off x="9764348" y="1447800"/>
              <a:ext cx="1130291" cy="2667397"/>
              <a:chOff x="9472119" y="702026"/>
              <a:chExt cx="1130291" cy="2667397"/>
            </a:xfrm>
          </p:grpSpPr>
          <p:sp>
            <p:nvSpPr>
              <p:cNvPr id="255" name="Rectangle 254">
                <a:extLst>
                  <a:ext uri="{FF2B5EF4-FFF2-40B4-BE49-F238E27FC236}">
                    <a16:creationId xmlns:a16="http://schemas.microsoft.com/office/drawing/2014/main" id="{0DDE6AB4-1AAE-4740-BF48-DF453B07DF19}"/>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6" name="TextBox 255">
                <a:extLst>
                  <a:ext uri="{FF2B5EF4-FFF2-40B4-BE49-F238E27FC236}">
                    <a16:creationId xmlns:a16="http://schemas.microsoft.com/office/drawing/2014/main" id="{E5208DC7-BADD-0348-8188-DDEF7D011927}"/>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9</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2</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257" name="Straight Connector 256">
                <a:extLst>
                  <a:ext uri="{FF2B5EF4-FFF2-40B4-BE49-F238E27FC236}">
                    <a16:creationId xmlns:a16="http://schemas.microsoft.com/office/drawing/2014/main" id="{27A1646E-2395-DE4C-9EB7-A010C4C5AB76}"/>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8" name="Rectangle 257">
                <a:extLst>
                  <a:ext uri="{FF2B5EF4-FFF2-40B4-BE49-F238E27FC236}">
                    <a16:creationId xmlns:a16="http://schemas.microsoft.com/office/drawing/2014/main" id="{5D06E1AD-42EC-234A-8990-0D862398AAF1}"/>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3" name="Freeform 2">
            <a:extLst>
              <a:ext uri="{FF2B5EF4-FFF2-40B4-BE49-F238E27FC236}">
                <a16:creationId xmlns:a16="http://schemas.microsoft.com/office/drawing/2014/main" id="{49C604FF-993B-294E-A4FB-B0CD03969C40}"/>
              </a:ext>
            </a:extLst>
          </p:cNvPr>
          <p:cNvSpPr/>
          <p:nvPr/>
        </p:nvSpPr>
        <p:spPr>
          <a:xfrm>
            <a:off x="3068320" y="2194560"/>
            <a:ext cx="5598160" cy="1625600"/>
          </a:xfrm>
          <a:custGeom>
            <a:avLst/>
            <a:gdLst>
              <a:gd name="connsiteX0" fmla="*/ 5120640 w 5628640"/>
              <a:gd name="connsiteY0" fmla="*/ 0 h 1615440"/>
              <a:gd name="connsiteX1" fmla="*/ 0 w 5628640"/>
              <a:gd name="connsiteY1" fmla="*/ 1615440 h 1615440"/>
              <a:gd name="connsiteX2" fmla="*/ 3515360 w 5628640"/>
              <a:gd name="connsiteY2" fmla="*/ 1615440 h 1615440"/>
              <a:gd name="connsiteX3" fmla="*/ 5628640 w 5628640"/>
              <a:gd name="connsiteY3" fmla="*/ 10160 h 1615440"/>
              <a:gd name="connsiteX4" fmla="*/ 5120640 w 5628640"/>
              <a:gd name="connsiteY4" fmla="*/ 0 h 1615440"/>
              <a:gd name="connsiteX0" fmla="*/ 5120640 w 5628640"/>
              <a:gd name="connsiteY0" fmla="*/ 0 h 1615440"/>
              <a:gd name="connsiteX1" fmla="*/ 0 w 5628640"/>
              <a:gd name="connsiteY1" fmla="*/ 1615440 h 1615440"/>
              <a:gd name="connsiteX2" fmla="*/ 3515360 w 5628640"/>
              <a:gd name="connsiteY2" fmla="*/ 1615440 h 1615440"/>
              <a:gd name="connsiteX3" fmla="*/ 5628640 w 5628640"/>
              <a:gd name="connsiteY3" fmla="*/ 10160 h 1615440"/>
              <a:gd name="connsiteX4" fmla="*/ 5120640 w 5628640"/>
              <a:gd name="connsiteY4" fmla="*/ 0 h 161544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598160"/>
              <a:gd name="connsiteY0" fmla="*/ 0 h 1625600"/>
              <a:gd name="connsiteX1" fmla="*/ 0 w 5598160"/>
              <a:gd name="connsiteY1" fmla="*/ 1615440 h 1625600"/>
              <a:gd name="connsiteX2" fmla="*/ 3535680 w 5598160"/>
              <a:gd name="connsiteY2" fmla="*/ 1625600 h 1625600"/>
              <a:gd name="connsiteX3" fmla="*/ 5598160 w 5598160"/>
              <a:gd name="connsiteY3" fmla="*/ 50800 h 1625600"/>
              <a:gd name="connsiteX4" fmla="*/ 5120640 w 5598160"/>
              <a:gd name="connsiteY4" fmla="*/ 0 h 1625600"/>
              <a:gd name="connsiteX0" fmla="*/ 5120640 w 5598160"/>
              <a:gd name="connsiteY0" fmla="*/ 0 h 1625600"/>
              <a:gd name="connsiteX1" fmla="*/ 0 w 5598160"/>
              <a:gd name="connsiteY1" fmla="*/ 1615440 h 1625600"/>
              <a:gd name="connsiteX2" fmla="*/ 3535680 w 5598160"/>
              <a:gd name="connsiteY2" fmla="*/ 1625600 h 1625600"/>
              <a:gd name="connsiteX3" fmla="*/ 5598160 w 5598160"/>
              <a:gd name="connsiteY3" fmla="*/ 50800 h 1625600"/>
              <a:gd name="connsiteX4" fmla="*/ 5120640 w 5598160"/>
              <a:gd name="connsiteY4" fmla="*/ 0 h 1625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160" h="1625600">
                <a:moveTo>
                  <a:pt x="5120640" y="0"/>
                </a:moveTo>
                <a:cubicBezTo>
                  <a:pt x="3495040" y="812800"/>
                  <a:pt x="2540000" y="1127760"/>
                  <a:pt x="0" y="1615440"/>
                </a:cubicBezTo>
                <a:lnTo>
                  <a:pt x="3535680" y="1625600"/>
                </a:lnTo>
                <a:cubicBezTo>
                  <a:pt x="4087707" y="988907"/>
                  <a:pt x="4243493" y="890693"/>
                  <a:pt x="5598160" y="50800"/>
                </a:cubicBezTo>
                <a:cubicBezTo>
                  <a:pt x="5317067" y="98213"/>
                  <a:pt x="5259493" y="115147"/>
                  <a:pt x="5120640" y="0"/>
                </a:cubicBezTo>
                <a:close/>
              </a:path>
            </a:pathLst>
          </a:custGeom>
          <a:gradFill>
            <a:gsLst>
              <a:gs pos="0">
                <a:schemeClr val="bg1">
                  <a:lumMod val="100000"/>
                </a:schemeClr>
              </a:gs>
              <a:gs pos="100000">
                <a:schemeClr val="accent5">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3" name="Group 232">
            <a:extLst>
              <a:ext uri="{FF2B5EF4-FFF2-40B4-BE49-F238E27FC236}">
                <a16:creationId xmlns:a16="http://schemas.microsoft.com/office/drawing/2014/main" id="{A044BE68-E074-7343-AA40-5C62E04FEF33}"/>
              </a:ext>
            </a:extLst>
          </p:cNvPr>
          <p:cNvGrpSpPr/>
          <p:nvPr/>
        </p:nvGrpSpPr>
        <p:grpSpPr>
          <a:xfrm>
            <a:off x="7868428" y="1698029"/>
            <a:ext cx="1196054" cy="1022555"/>
            <a:chOff x="9655277" y="2349909"/>
            <a:chExt cx="1196054" cy="1022555"/>
          </a:xfrm>
        </p:grpSpPr>
        <p:sp>
          <p:nvSpPr>
            <p:cNvPr id="235" name="Freeform 234">
              <a:extLst>
                <a:ext uri="{FF2B5EF4-FFF2-40B4-BE49-F238E27FC236}">
                  <a16:creationId xmlns:a16="http://schemas.microsoft.com/office/drawing/2014/main" id="{C432037B-C0B1-0946-9310-8F414043AC97}"/>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6" name="TextBox 235">
              <a:extLst>
                <a:ext uri="{FF2B5EF4-FFF2-40B4-BE49-F238E27FC236}">
                  <a16:creationId xmlns:a16="http://schemas.microsoft.com/office/drawing/2014/main" id="{282C0F4B-EE5D-3F44-A552-A4006C30F736}"/>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
        <p:nvSpPr>
          <p:cNvPr id="178" name="TextBox 1">
            <a:extLst>
              <a:ext uri="{FF2B5EF4-FFF2-40B4-BE49-F238E27FC236}">
                <a16:creationId xmlns:a16="http://schemas.microsoft.com/office/drawing/2014/main" id="{864085B5-CC56-654B-9AEA-E4EFBB597B8E}"/>
              </a:ext>
            </a:extLst>
          </p:cNvPr>
          <p:cNvSpPr txBox="1">
            <a:spLocks noChangeArrowheads="1"/>
          </p:cNvSpPr>
          <p:nvPr/>
        </p:nvSpPr>
        <p:spPr bwMode="auto">
          <a:xfrm>
            <a:off x="8542751" y="5433536"/>
            <a:ext cx="354428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solidFill>
                  <a:prstClr val="black"/>
                </a:solidFill>
              </a:rPr>
              <a:t>* Check out the online interactive exercises for more examples: h</a:t>
            </a:r>
            <a:r>
              <a:rPr lang="en-US" sz="1200" dirty="0">
                <a:solidFill>
                  <a:prstClr val="black"/>
                </a:solidFill>
              </a:rPr>
              <a:t>ttp://gaia.cs.umass.edu/kurose_ross/interactive/</a:t>
            </a:r>
          </a:p>
        </p:txBody>
      </p:sp>
    </p:spTree>
    <p:extLst>
      <p:ext uri="{BB962C8B-B14F-4D97-AF65-F5344CB8AC3E}">
        <p14:creationId xmlns:p14="http://schemas.microsoft.com/office/powerpoint/2010/main" val="2812341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dissolve">
                                      <p:cBhvr>
                                        <p:cTn id="7" dur="1000"/>
                                        <p:tgtEl>
                                          <p:spTgt spid="1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up)">
                                      <p:cBhvr>
                                        <p:cTn id="12" dur="500"/>
                                        <p:tgtEl>
                                          <p:spTgt spid="3"/>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182"/>
                                        </p:tgtEl>
                                        <p:attrNameLst>
                                          <p:attrName>style.visibility</p:attrName>
                                        </p:attrNameLst>
                                      </p:cBhvr>
                                      <p:to>
                                        <p:strVal val="visible"/>
                                      </p:to>
                                    </p:set>
                                    <p:animEffect transition="in" filter="wipe(up)">
                                      <p:cBhvr>
                                        <p:cTn id="16" dur="500"/>
                                        <p:tgtEl>
                                          <p:spTgt spid="18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14"/>
                                        </p:tgtEl>
                                        <p:attrNameLst>
                                          <p:attrName>style.visibility</p:attrName>
                                        </p:attrNameLst>
                                      </p:cBhvr>
                                      <p:to>
                                        <p:strVal val="visible"/>
                                      </p:to>
                                    </p:set>
                                    <p:animEffect transition="in" filter="dissolve">
                                      <p:cBhvr>
                                        <p:cTn id="21" dur="500"/>
                                        <p:tgtEl>
                                          <p:spTgt spid="2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20"/>
                                        </p:tgtEl>
                                        <p:attrNameLst>
                                          <p:attrName>style.visibility</p:attrName>
                                        </p:attrNameLst>
                                      </p:cBhvr>
                                      <p:to>
                                        <p:strVal val="visible"/>
                                      </p:to>
                                    </p:set>
                                    <p:animEffect transition="in" filter="dissolve">
                                      <p:cBhvr>
                                        <p:cTn id="26" dur="500"/>
                                        <p:tgtEl>
                                          <p:spTgt spid="22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27"/>
                                        </p:tgtEl>
                                        <p:attrNameLst>
                                          <p:attrName>style.visibility</p:attrName>
                                        </p:attrNameLst>
                                      </p:cBhvr>
                                      <p:to>
                                        <p:strVal val="visible"/>
                                      </p:to>
                                    </p:set>
                                    <p:animEffect transition="in" filter="dissolve">
                                      <p:cBhvr>
                                        <p:cTn id="31" dur="500"/>
                                        <p:tgtEl>
                                          <p:spTgt spid="22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8"/>
                                        </p:tgtEl>
                                        <p:attrNameLst>
                                          <p:attrName>style.visibility</p:attrName>
                                        </p:attrNameLst>
                                      </p:cBhvr>
                                      <p:to>
                                        <p:strVal val="visible"/>
                                      </p:to>
                                    </p:set>
                                    <p:animEffect transition="in" filter="dissolve">
                                      <p:cBhvr>
                                        <p:cTn id="36" dur="500"/>
                                        <p:tgtEl>
                                          <p:spTgt spid="228"/>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29"/>
                                        </p:tgtEl>
                                        <p:attrNameLst>
                                          <p:attrName>style.visibility</p:attrName>
                                        </p:attrNameLst>
                                      </p:cBhvr>
                                      <p:to>
                                        <p:strVal val="visible"/>
                                      </p:to>
                                    </p:set>
                                    <p:animEffect transition="in" filter="dissolve">
                                      <p:cBhvr>
                                        <p:cTn id="41" dur="500"/>
                                        <p:tgtEl>
                                          <p:spTgt spid="229"/>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230"/>
                                        </p:tgtEl>
                                        <p:attrNameLst>
                                          <p:attrName>style.visibility</p:attrName>
                                        </p:attrNameLst>
                                      </p:cBhvr>
                                      <p:to>
                                        <p:strVal val="visible"/>
                                      </p:to>
                                    </p:set>
                                    <p:animEffect transition="in" filter="dissolve">
                                      <p:cBhvr>
                                        <p:cTn id="46" dur="500"/>
                                        <p:tgtEl>
                                          <p:spTgt spid="230"/>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232"/>
                                        </p:tgtEl>
                                        <p:attrNameLst>
                                          <p:attrName>style.visibility</p:attrName>
                                        </p:attrNameLst>
                                      </p:cBhvr>
                                      <p:to>
                                        <p:strVal val="visible"/>
                                      </p:to>
                                    </p:set>
                                    <p:animEffect transition="in" filter="dissolve">
                                      <p:cBhvr>
                                        <p:cTn id="51" dur="500"/>
                                        <p:tgtEl>
                                          <p:spTgt spid="232"/>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231"/>
                                        </p:tgtEl>
                                        <p:attrNameLst>
                                          <p:attrName>style.visibility</p:attrName>
                                        </p:attrNameLst>
                                      </p:cBhvr>
                                      <p:to>
                                        <p:strVal val="visible"/>
                                      </p:to>
                                    </p:set>
                                    <p:animEffect transition="in" filter="dissolve">
                                      <p:cBhvr>
                                        <p:cTn id="56" dur="500"/>
                                        <p:tgtEl>
                                          <p:spTgt spid="231"/>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238"/>
                                        </p:tgtEl>
                                        <p:attrNameLst>
                                          <p:attrName>style.visibility</p:attrName>
                                        </p:attrNameLst>
                                      </p:cBhvr>
                                      <p:to>
                                        <p:strVal val="visible"/>
                                      </p:to>
                                    </p:set>
                                    <p:animEffect transition="in" filter="wipe(left)">
                                      <p:cBhvr>
                                        <p:cTn id="61" dur="500"/>
                                        <p:tgtEl>
                                          <p:spTgt spid="238"/>
                                        </p:tgtEl>
                                      </p:cBhvr>
                                    </p:animEffect>
                                  </p:childTnLst>
                                </p:cTn>
                              </p:par>
                            </p:childTnLst>
                          </p:cTn>
                        </p:par>
                        <p:par>
                          <p:cTn id="62" fill="hold">
                            <p:stCondLst>
                              <p:cond delay="500"/>
                            </p:stCondLst>
                            <p:childTnLst>
                              <p:par>
                                <p:cTn id="63" presetID="22" presetClass="entr" presetSubtype="8" fill="hold" nodeType="afterEffect">
                                  <p:stCondLst>
                                    <p:cond delay="0"/>
                                  </p:stCondLst>
                                  <p:childTnLst>
                                    <p:set>
                                      <p:cBhvr>
                                        <p:cTn id="64" dur="1" fill="hold">
                                          <p:stCondLst>
                                            <p:cond delay="0"/>
                                          </p:stCondLst>
                                        </p:cTn>
                                        <p:tgtEl>
                                          <p:spTgt spid="252"/>
                                        </p:tgtEl>
                                        <p:attrNameLst>
                                          <p:attrName>style.visibility</p:attrName>
                                        </p:attrNameLst>
                                      </p:cBhvr>
                                      <p:to>
                                        <p:strVal val="visible"/>
                                      </p:to>
                                    </p:set>
                                    <p:animEffect transition="in" filter="wipe(left)">
                                      <p:cBhvr>
                                        <p:cTn id="65" dur="500"/>
                                        <p:tgtEl>
                                          <p:spTgt spid="252"/>
                                        </p:tgtEl>
                                      </p:cBhvr>
                                    </p:animEffect>
                                  </p:childTnLst>
                                </p:cTn>
                              </p:par>
                            </p:childTnLst>
                          </p:cTn>
                        </p:par>
                      </p:childTnLst>
                    </p:cTn>
                  </p:par>
                  <p:par>
                    <p:cTn id="66" fill="hold">
                      <p:stCondLst>
                        <p:cond delay="indefinite"/>
                      </p:stCondLst>
                      <p:childTnLst>
                        <p:par>
                          <p:cTn id="67" fill="hold">
                            <p:stCondLst>
                              <p:cond delay="0"/>
                            </p:stCondLst>
                            <p:childTnLst>
                              <p:par>
                                <p:cTn id="68" presetID="0" presetClass="path" presetSubtype="0" accel="50000" decel="50000" fill="hold" nodeType="clickEffect">
                                  <p:stCondLst>
                                    <p:cond delay="0"/>
                                  </p:stCondLst>
                                  <p:childTnLst>
                                    <p:animMotion origin="layout" path="M 1.25E-6 -3.7037E-7 L 0.20417 -0.54653 " pathEditMode="relative" rAng="0" ptsTypes="AA">
                                      <p:cBhvr>
                                        <p:cTn id="69" dur="2000" fill="hold"/>
                                        <p:tgtEl>
                                          <p:spTgt spid="252"/>
                                        </p:tgtEl>
                                        <p:attrNameLst>
                                          <p:attrName>ppt_x</p:attrName>
                                          <p:attrName>ppt_y</p:attrName>
                                        </p:attrNameLst>
                                      </p:cBhvr>
                                      <p:rCtr x="10039" y="-2719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82" grpId="0" animBg="1"/>
      <p:bldP spid="214" grpId="0"/>
      <p:bldP spid="220" grpId="0"/>
      <p:bldP spid="227" grpId="0"/>
      <p:bldP spid="228" grpId="0"/>
      <p:bldP spid="229" grpId="0"/>
      <p:bldP spid="230" grpId="0"/>
      <p:bldP spid="231" grpId="0"/>
      <p:bldP spid="232" grpId="0"/>
      <p:bldP spid="238" grpId="0" animBg="1"/>
      <p:bldP spid="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64</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e receives DVs from b, d, f, h</a:t>
            </a: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183" name="Freeform 182">
            <a:extLst>
              <a:ext uri="{FF2B5EF4-FFF2-40B4-BE49-F238E27FC236}">
                <a16:creationId xmlns:a16="http://schemas.microsoft.com/office/drawing/2014/main" id="{2593EFCC-23E2-4043-94E6-A9E17FCC79C5}"/>
              </a:ext>
            </a:extLst>
          </p:cNvPr>
          <p:cNvSpPr/>
          <p:nvPr/>
        </p:nvSpPr>
        <p:spPr>
          <a:xfrm>
            <a:off x="6774755" y="1106458"/>
            <a:ext cx="2967758" cy="301457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991301"/>
              <a:gd name="connsiteY0" fmla="*/ 2319101 h 4056790"/>
              <a:gd name="connsiteX1" fmla="*/ 2991301 w 2991301"/>
              <a:gd name="connsiteY1" fmla="*/ 0 h 4056790"/>
              <a:gd name="connsiteX2" fmla="*/ 2889702 w 2991301"/>
              <a:gd name="connsiteY2" fmla="*/ 4056790 h 4056790"/>
              <a:gd name="connsiteX3" fmla="*/ 0 w 2991301"/>
              <a:gd name="connsiteY3" fmla="*/ 2516730 h 4056790"/>
              <a:gd name="connsiteX4" fmla="*/ 10817 w 2991301"/>
              <a:gd name="connsiteY4" fmla="*/ 2319101 h 4056790"/>
              <a:gd name="connsiteX0" fmla="*/ 10817 w 2991301"/>
              <a:gd name="connsiteY0" fmla="*/ 2319101 h 4056790"/>
              <a:gd name="connsiteX1" fmla="*/ 2991301 w 2991301"/>
              <a:gd name="connsiteY1" fmla="*/ 0 h 4056790"/>
              <a:gd name="connsiteX2" fmla="*/ 2889702 w 2991301"/>
              <a:gd name="connsiteY2" fmla="*/ 4056790 h 4056790"/>
              <a:gd name="connsiteX3" fmla="*/ 0 w 2991301"/>
              <a:gd name="connsiteY3" fmla="*/ 2516730 h 4056790"/>
              <a:gd name="connsiteX4" fmla="*/ 10817 w 2991301"/>
              <a:gd name="connsiteY4" fmla="*/ 2319101 h 4056790"/>
              <a:gd name="connsiteX0" fmla="*/ 10817 w 2991301"/>
              <a:gd name="connsiteY0" fmla="*/ 2319101 h 2614070"/>
              <a:gd name="connsiteX1" fmla="*/ 2991301 w 2991301"/>
              <a:gd name="connsiteY1" fmla="*/ 0 h 2614070"/>
              <a:gd name="connsiteX2" fmla="*/ 2930342 w 2991301"/>
              <a:gd name="connsiteY2" fmla="*/ 2614070 h 2614070"/>
              <a:gd name="connsiteX3" fmla="*/ 0 w 2991301"/>
              <a:gd name="connsiteY3" fmla="*/ 2516730 h 2614070"/>
              <a:gd name="connsiteX4" fmla="*/ 10817 w 2991301"/>
              <a:gd name="connsiteY4" fmla="*/ 2319101 h 2614070"/>
              <a:gd name="connsiteX0" fmla="*/ 10817 w 2991301"/>
              <a:gd name="connsiteY0" fmla="*/ 2319101 h 2614070"/>
              <a:gd name="connsiteX1" fmla="*/ 2991301 w 2991301"/>
              <a:gd name="connsiteY1" fmla="*/ 0 h 2614070"/>
              <a:gd name="connsiteX2" fmla="*/ 2930342 w 2991301"/>
              <a:gd name="connsiteY2" fmla="*/ 2614070 h 2614070"/>
              <a:gd name="connsiteX3" fmla="*/ 0 w 2991301"/>
              <a:gd name="connsiteY3" fmla="*/ 2516730 h 2614070"/>
              <a:gd name="connsiteX4" fmla="*/ 10817 w 2991301"/>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7119"/>
              <a:gd name="connsiteY0" fmla="*/ 2319101 h 2593750"/>
              <a:gd name="connsiteX1" fmla="*/ 2980484 w 2987119"/>
              <a:gd name="connsiteY1" fmla="*/ 0 h 2593750"/>
              <a:gd name="connsiteX2" fmla="*/ 2970325 w 2987119"/>
              <a:gd name="connsiteY2" fmla="*/ 2593750 h 2593750"/>
              <a:gd name="connsiteX3" fmla="*/ 50143 w 2987119"/>
              <a:gd name="connsiteY3" fmla="*/ 2506570 h 2593750"/>
              <a:gd name="connsiteX4" fmla="*/ 0 w 2987119"/>
              <a:gd name="connsiteY4" fmla="*/ 2319101 h 2593750"/>
              <a:gd name="connsiteX0" fmla="*/ 0 w 2987119"/>
              <a:gd name="connsiteY0" fmla="*/ 2319101 h 2593750"/>
              <a:gd name="connsiteX1" fmla="*/ 2980484 w 2987119"/>
              <a:gd name="connsiteY1" fmla="*/ 0 h 2593750"/>
              <a:gd name="connsiteX2" fmla="*/ 2970325 w 2987119"/>
              <a:gd name="connsiteY2" fmla="*/ 2593750 h 2593750"/>
              <a:gd name="connsiteX3" fmla="*/ 50143 w 2987119"/>
              <a:gd name="connsiteY3" fmla="*/ 2506570 h 2593750"/>
              <a:gd name="connsiteX4" fmla="*/ 0 w 2987119"/>
              <a:gd name="connsiteY4" fmla="*/ 2319101 h 2593750"/>
              <a:gd name="connsiteX0" fmla="*/ 0 w 2987119"/>
              <a:gd name="connsiteY0" fmla="*/ 2319101 h 2593750"/>
              <a:gd name="connsiteX1" fmla="*/ 2980484 w 2987119"/>
              <a:gd name="connsiteY1" fmla="*/ 0 h 2593750"/>
              <a:gd name="connsiteX2" fmla="*/ 2970325 w 2987119"/>
              <a:gd name="connsiteY2" fmla="*/ 2593750 h 2593750"/>
              <a:gd name="connsiteX3" fmla="*/ 19663 w 2987119"/>
              <a:gd name="connsiteY3" fmla="*/ 2526890 h 2593750"/>
              <a:gd name="connsiteX4" fmla="*/ 0 w 2987119"/>
              <a:gd name="connsiteY4" fmla="*/ 2319101 h 2593750"/>
              <a:gd name="connsiteX0" fmla="*/ 0 w 3017599"/>
              <a:gd name="connsiteY0" fmla="*/ 2390221 h 2593750"/>
              <a:gd name="connsiteX1" fmla="*/ 3010964 w 3017599"/>
              <a:gd name="connsiteY1" fmla="*/ 0 h 2593750"/>
              <a:gd name="connsiteX2" fmla="*/ 3000805 w 3017599"/>
              <a:gd name="connsiteY2" fmla="*/ 2593750 h 2593750"/>
              <a:gd name="connsiteX3" fmla="*/ 50143 w 3017599"/>
              <a:gd name="connsiteY3" fmla="*/ 2526890 h 2593750"/>
              <a:gd name="connsiteX4" fmla="*/ 0 w 3017599"/>
              <a:gd name="connsiteY4" fmla="*/ 2390221 h 259375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2967758"/>
              <a:gd name="connsiteY0" fmla="*/ 2877901 h 3014570"/>
              <a:gd name="connsiteX1" fmla="*/ 2919524 w 2967758"/>
              <a:gd name="connsiteY1" fmla="*/ 0 h 3014570"/>
              <a:gd name="connsiteX2" fmla="*/ 2960165 w 2967758"/>
              <a:gd name="connsiteY2" fmla="*/ 2583590 h 3014570"/>
              <a:gd name="connsiteX3" fmla="*/ 50143 w 2967758"/>
              <a:gd name="connsiteY3" fmla="*/ 3014570 h 3014570"/>
              <a:gd name="connsiteX4" fmla="*/ 0 w 2967758"/>
              <a:gd name="connsiteY4" fmla="*/ 2877901 h 3014570"/>
              <a:gd name="connsiteX0" fmla="*/ 0 w 2967758"/>
              <a:gd name="connsiteY0" fmla="*/ 2877901 h 3014570"/>
              <a:gd name="connsiteX1" fmla="*/ 2919524 w 2967758"/>
              <a:gd name="connsiteY1" fmla="*/ 0 h 3014570"/>
              <a:gd name="connsiteX2" fmla="*/ 2960165 w 2967758"/>
              <a:gd name="connsiteY2" fmla="*/ 2583590 h 3014570"/>
              <a:gd name="connsiteX3" fmla="*/ 50143 w 2967758"/>
              <a:gd name="connsiteY3" fmla="*/ 3014570 h 3014570"/>
              <a:gd name="connsiteX4" fmla="*/ 0 w 2967758"/>
              <a:gd name="connsiteY4" fmla="*/ 2877901 h 301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7758" h="3014570">
                <a:moveTo>
                  <a:pt x="0" y="2877901"/>
                </a:moveTo>
                <a:cubicBezTo>
                  <a:pt x="1740309" y="2497721"/>
                  <a:pt x="2305008" y="1488604"/>
                  <a:pt x="2919524" y="0"/>
                </a:cubicBezTo>
                <a:cubicBezTo>
                  <a:pt x="2919524" y="783303"/>
                  <a:pt x="2990645" y="1719007"/>
                  <a:pt x="2960165" y="2583590"/>
                </a:cubicBezTo>
                <a:cubicBezTo>
                  <a:pt x="2152608" y="2386944"/>
                  <a:pt x="1676726" y="2623574"/>
                  <a:pt x="50143" y="3014570"/>
                </a:cubicBezTo>
                <a:lnTo>
                  <a:pt x="0" y="28779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8" name="Freeform 177">
            <a:extLst>
              <a:ext uri="{FF2B5EF4-FFF2-40B4-BE49-F238E27FC236}">
                <a16:creationId xmlns:a16="http://schemas.microsoft.com/office/drawing/2014/main" id="{871D2208-E245-1F4C-95E8-E69A25614938}"/>
              </a:ext>
            </a:extLst>
          </p:cNvPr>
          <p:cNvSpPr/>
          <p:nvPr/>
        </p:nvSpPr>
        <p:spPr>
          <a:xfrm>
            <a:off x="8446236" y="3874156"/>
            <a:ext cx="123919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360141 w 1568765"/>
              <a:gd name="connsiteY0" fmla="*/ 224175 h 2428567"/>
              <a:gd name="connsiteX1" fmla="*/ 1558933 w 1568765"/>
              <a:gd name="connsiteY1" fmla="*/ 0 h 2428567"/>
              <a:gd name="connsiteX2" fmla="*/ 1568765 w 1568765"/>
              <a:gd name="connsiteY2" fmla="*/ 2428567 h 2428567"/>
              <a:gd name="connsiteX3" fmla="*/ 0 w 1568765"/>
              <a:gd name="connsiteY3" fmla="*/ 341506 h 2428567"/>
              <a:gd name="connsiteX4" fmla="*/ 360141 w 1568765"/>
              <a:gd name="connsiteY4" fmla="*/ 224175 h 2428567"/>
              <a:gd name="connsiteX0" fmla="*/ 360141 w 1568765"/>
              <a:gd name="connsiteY0" fmla="*/ 224175 h 2428567"/>
              <a:gd name="connsiteX1" fmla="*/ 1558933 w 1568765"/>
              <a:gd name="connsiteY1" fmla="*/ 0 h 2428567"/>
              <a:gd name="connsiteX2" fmla="*/ 1568765 w 1568765"/>
              <a:gd name="connsiteY2" fmla="*/ 2428567 h 2428567"/>
              <a:gd name="connsiteX3" fmla="*/ 0 w 1568765"/>
              <a:gd name="connsiteY3" fmla="*/ 341506 h 2428567"/>
              <a:gd name="connsiteX4" fmla="*/ 360141 w 1568765"/>
              <a:gd name="connsiteY4" fmla="*/ 22417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8765" h="2428567">
                <a:moveTo>
                  <a:pt x="360141" y="224175"/>
                </a:moveTo>
                <a:cubicBezTo>
                  <a:pt x="978394" y="281530"/>
                  <a:pt x="1236509" y="288085"/>
                  <a:pt x="1558933" y="0"/>
                </a:cubicBezTo>
                <a:cubicBezTo>
                  <a:pt x="1562210" y="809522"/>
                  <a:pt x="1565488" y="1619045"/>
                  <a:pt x="1568765" y="2428567"/>
                </a:cubicBezTo>
                <a:cubicBezTo>
                  <a:pt x="1218082" y="2058219"/>
                  <a:pt x="714478" y="485712"/>
                  <a:pt x="0" y="341506"/>
                </a:cubicBezTo>
                <a:cubicBezTo>
                  <a:pt x="0" y="295622"/>
                  <a:pt x="360141" y="270059"/>
                  <a:pt x="360141" y="22417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79" name="Group 178">
            <a:extLst>
              <a:ext uri="{FF2B5EF4-FFF2-40B4-BE49-F238E27FC236}">
                <a16:creationId xmlns:a16="http://schemas.microsoft.com/office/drawing/2014/main" id="{10DDEBD4-7353-9541-B72F-43E36357B966}"/>
              </a:ext>
            </a:extLst>
          </p:cNvPr>
          <p:cNvGrpSpPr/>
          <p:nvPr/>
        </p:nvGrpSpPr>
        <p:grpSpPr>
          <a:xfrm>
            <a:off x="9656848" y="3847117"/>
            <a:ext cx="1149458" cy="2667397"/>
            <a:chOff x="9764348" y="1447800"/>
            <a:chExt cx="1149458" cy="2667397"/>
          </a:xfrm>
        </p:grpSpPr>
        <p:sp>
          <p:nvSpPr>
            <p:cNvPr id="180" name="Rectangle 179">
              <a:extLst>
                <a:ext uri="{FF2B5EF4-FFF2-40B4-BE49-F238E27FC236}">
                  <a16:creationId xmlns:a16="http://schemas.microsoft.com/office/drawing/2014/main" id="{E0ED8B3F-2D0A-3B4F-8597-6D523A519ACE}"/>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81" name="Group 180">
              <a:extLst>
                <a:ext uri="{FF2B5EF4-FFF2-40B4-BE49-F238E27FC236}">
                  <a16:creationId xmlns:a16="http://schemas.microsoft.com/office/drawing/2014/main" id="{FCC75114-1E36-B840-9A29-0C23BD09F41B}"/>
                </a:ext>
              </a:extLst>
            </p:cNvPr>
            <p:cNvGrpSpPr/>
            <p:nvPr/>
          </p:nvGrpSpPr>
          <p:grpSpPr>
            <a:xfrm>
              <a:off x="9764348" y="1447800"/>
              <a:ext cx="1130291" cy="2667397"/>
              <a:chOff x="9472119" y="702026"/>
              <a:chExt cx="1130291" cy="2667397"/>
            </a:xfrm>
          </p:grpSpPr>
          <p:sp>
            <p:nvSpPr>
              <p:cNvPr id="182" name="Rectangle 181">
                <a:extLst>
                  <a:ext uri="{FF2B5EF4-FFF2-40B4-BE49-F238E27FC236}">
                    <a16:creationId xmlns:a16="http://schemas.microsoft.com/office/drawing/2014/main" id="{263C8C73-22EE-D041-BE86-2A0A330003BA}"/>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1D4B225B-56A4-C54E-B06D-75AF9FB2D768}"/>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f:</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1</a:t>
                </a:r>
                <a:endParaRPr lang="en-US" sz="1600" dirty="0">
                  <a:solidFill>
                    <a:prstClr val="black"/>
                  </a:solidFill>
                </a:endParaRPr>
              </a:p>
            </p:txBody>
          </p:sp>
          <p:cxnSp>
            <p:nvCxnSpPr>
              <p:cNvPr id="220" name="Straight Connector 219">
                <a:extLst>
                  <a:ext uri="{FF2B5EF4-FFF2-40B4-BE49-F238E27FC236}">
                    <a16:creationId xmlns:a16="http://schemas.microsoft.com/office/drawing/2014/main" id="{E590C634-B576-E54C-94F8-7B2EAD859BC3}"/>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7" name="Rectangle 226">
                <a:extLst>
                  <a:ext uri="{FF2B5EF4-FFF2-40B4-BE49-F238E27FC236}">
                    <a16:creationId xmlns:a16="http://schemas.microsoft.com/office/drawing/2014/main" id="{03080151-68AE-D642-A727-713A5B002CA3}"/>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8" name="Group 7">
            <a:extLst>
              <a:ext uri="{FF2B5EF4-FFF2-40B4-BE49-F238E27FC236}">
                <a16:creationId xmlns:a16="http://schemas.microsoft.com/office/drawing/2014/main" id="{06A226F5-E1A0-0745-A702-A2A97BFBFCD7}"/>
              </a:ext>
            </a:extLst>
          </p:cNvPr>
          <p:cNvGrpSpPr/>
          <p:nvPr/>
        </p:nvGrpSpPr>
        <p:grpSpPr>
          <a:xfrm>
            <a:off x="9685117" y="1067456"/>
            <a:ext cx="1155603" cy="2672477"/>
            <a:chOff x="10325197" y="813456"/>
            <a:chExt cx="1155603" cy="2672477"/>
          </a:xfrm>
        </p:grpSpPr>
        <p:sp>
          <p:nvSpPr>
            <p:cNvPr id="366" name="Rectangle 365">
              <a:extLst>
                <a:ext uri="{FF2B5EF4-FFF2-40B4-BE49-F238E27FC236}">
                  <a16:creationId xmlns:a16="http://schemas.microsoft.com/office/drawing/2014/main" id="{E11C6EC6-4F28-CD44-B5B6-0143F1CD0CD3}"/>
                </a:ext>
              </a:extLst>
            </p:cNvPr>
            <p:cNvSpPr/>
            <p:nvPr/>
          </p:nvSpPr>
          <p:spPr>
            <a:xfrm>
              <a:off x="10355334" y="813456"/>
              <a:ext cx="1125466" cy="26307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8" name="Rectangle 367">
              <a:extLst>
                <a:ext uri="{FF2B5EF4-FFF2-40B4-BE49-F238E27FC236}">
                  <a16:creationId xmlns:a16="http://schemas.microsoft.com/office/drawing/2014/main" id="{F6C3876C-103E-634C-8619-285D4D96A9C8}"/>
                </a:ext>
              </a:extLst>
            </p:cNvPr>
            <p:cNvSpPr/>
            <p:nvPr/>
          </p:nvSpPr>
          <p:spPr>
            <a:xfrm>
              <a:off x="10338507" y="825123"/>
              <a:ext cx="1141582" cy="407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9" name="TextBox 368">
              <a:extLst>
                <a:ext uri="{FF2B5EF4-FFF2-40B4-BE49-F238E27FC236}">
                  <a16:creationId xmlns:a16="http://schemas.microsoft.com/office/drawing/2014/main" id="{7C7420E3-75DE-FB4C-B805-F6E92683D068}"/>
                </a:ext>
              </a:extLst>
            </p:cNvPr>
            <p:cNvSpPr txBox="1"/>
            <p:nvPr/>
          </p:nvSpPr>
          <p:spPr>
            <a:xfrm>
              <a:off x="10325197" y="821098"/>
              <a:ext cx="1117197" cy="2664835"/>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0" name="Straight Connector 369">
              <a:extLst>
                <a:ext uri="{FF2B5EF4-FFF2-40B4-BE49-F238E27FC236}">
                  <a16:creationId xmlns:a16="http://schemas.microsoft.com/office/drawing/2014/main" id="{1DC7A48D-E2F6-C84C-A00F-2E0AAD581115}"/>
                </a:ext>
              </a:extLst>
            </p:cNvPr>
            <p:cNvCxnSpPr>
              <a:cxnSpLocks/>
            </p:cNvCxnSpPr>
            <p:nvPr/>
          </p:nvCxnSpPr>
          <p:spPr>
            <a:xfrm>
              <a:off x="10330450" y="1225636"/>
              <a:ext cx="114861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1" name="Rectangle 370">
              <a:extLst>
                <a:ext uri="{FF2B5EF4-FFF2-40B4-BE49-F238E27FC236}">
                  <a16:creationId xmlns:a16="http://schemas.microsoft.com/office/drawing/2014/main" id="{D7FCACB9-7EBD-6042-B148-4018CD65A0BC}"/>
                </a:ext>
              </a:extLst>
            </p:cNvPr>
            <p:cNvSpPr/>
            <p:nvPr/>
          </p:nvSpPr>
          <p:spPr>
            <a:xfrm>
              <a:off x="10332745" y="825123"/>
              <a:ext cx="1122744" cy="26165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228" name="Group 227">
            <a:extLst>
              <a:ext uri="{FF2B5EF4-FFF2-40B4-BE49-F238E27FC236}">
                <a16:creationId xmlns:a16="http://schemas.microsoft.com/office/drawing/2014/main" id="{9413BF4D-A39A-5642-A43D-A3C2CE1A0D9F}"/>
              </a:ext>
            </a:extLst>
          </p:cNvPr>
          <p:cNvGrpSpPr/>
          <p:nvPr/>
        </p:nvGrpSpPr>
        <p:grpSpPr>
          <a:xfrm>
            <a:off x="2595648" y="4070637"/>
            <a:ext cx="1149458" cy="2667397"/>
            <a:chOff x="9764348" y="1447800"/>
            <a:chExt cx="1149458" cy="2667397"/>
          </a:xfrm>
        </p:grpSpPr>
        <p:sp>
          <p:nvSpPr>
            <p:cNvPr id="229" name="Rectangle 228">
              <a:extLst>
                <a:ext uri="{FF2B5EF4-FFF2-40B4-BE49-F238E27FC236}">
                  <a16:creationId xmlns:a16="http://schemas.microsoft.com/office/drawing/2014/main" id="{9ADF260B-6661-034F-A0B1-9434C10CB6E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0" name="Group 229">
              <a:extLst>
                <a:ext uri="{FF2B5EF4-FFF2-40B4-BE49-F238E27FC236}">
                  <a16:creationId xmlns:a16="http://schemas.microsoft.com/office/drawing/2014/main" id="{A0F6E678-018D-9043-9B9E-520CE9425B4F}"/>
                </a:ext>
              </a:extLst>
            </p:cNvPr>
            <p:cNvGrpSpPr/>
            <p:nvPr/>
          </p:nvGrpSpPr>
          <p:grpSpPr>
            <a:xfrm>
              <a:off x="9764348" y="1447800"/>
              <a:ext cx="1130291" cy="2667397"/>
              <a:chOff x="9472119" y="702026"/>
              <a:chExt cx="1130291" cy="2667397"/>
            </a:xfrm>
          </p:grpSpPr>
          <p:sp>
            <p:nvSpPr>
              <p:cNvPr id="231" name="Rectangle 230">
                <a:extLst>
                  <a:ext uri="{FF2B5EF4-FFF2-40B4-BE49-F238E27FC236}">
                    <a16:creationId xmlns:a16="http://schemas.microsoft.com/office/drawing/2014/main" id="{3C54479A-6447-6C41-A65D-8CDF02997F4D}"/>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2" name="TextBox 231">
                <a:extLst>
                  <a:ext uri="{FF2B5EF4-FFF2-40B4-BE49-F238E27FC236}">
                    <a16:creationId xmlns:a16="http://schemas.microsoft.com/office/drawing/2014/main" id="{EAB40A06-F7FC-E544-9A35-C1EB6AB93171}"/>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h:</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0</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1</a:t>
                </a:r>
                <a:endParaRPr lang="en-US" sz="1600" dirty="0">
                  <a:solidFill>
                    <a:prstClr val="black"/>
                  </a:solidFill>
                </a:endParaRPr>
              </a:p>
            </p:txBody>
          </p:sp>
          <p:cxnSp>
            <p:nvCxnSpPr>
              <p:cNvPr id="233" name="Straight Connector 232">
                <a:extLst>
                  <a:ext uri="{FF2B5EF4-FFF2-40B4-BE49-F238E27FC236}">
                    <a16:creationId xmlns:a16="http://schemas.microsoft.com/office/drawing/2014/main" id="{4EE88B9D-48AE-3C41-ACEF-AB953A3DC369}"/>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B0D4837F-C7E1-464E-AE20-E7BA24E30BAB}"/>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236" name="Group 235">
            <a:extLst>
              <a:ext uri="{FF2B5EF4-FFF2-40B4-BE49-F238E27FC236}">
                <a16:creationId xmlns:a16="http://schemas.microsoft.com/office/drawing/2014/main" id="{E5D1DC4A-8FFB-BC47-A0A1-C5FDF0C7BB15}"/>
              </a:ext>
            </a:extLst>
          </p:cNvPr>
          <p:cNvGrpSpPr/>
          <p:nvPr/>
        </p:nvGrpSpPr>
        <p:grpSpPr>
          <a:xfrm>
            <a:off x="2544848" y="1246157"/>
            <a:ext cx="1149458" cy="2667397"/>
            <a:chOff x="9764348" y="1447800"/>
            <a:chExt cx="1149458" cy="2667397"/>
          </a:xfrm>
        </p:grpSpPr>
        <p:sp>
          <p:nvSpPr>
            <p:cNvPr id="237" name="Rectangle 236">
              <a:extLst>
                <a:ext uri="{FF2B5EF4-FFF2-40B4-BE49-F238E27FC236}">
                  <a16:creationId xmlns:a16="http://schemas.microsoft.com/office/drawing/2014/main" id="{C5D97005-6275-0E40-AC90-33504E6F88D3}"/>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8" name="Group 237">
              <a:extLst>
                <a:ext uri="{FF2B5EF4-FFF2-40B4-BE49-F238E27FC236}">
                  <a16:creationId xmlns:a16="http://schemas.microsoft.com/office/drawing/2014/main" id="{F0F5EFAC-DD71-6445-A54E-E854D4BF79CB}"/>
                </a:ext>
              </a:extLst>
            </p:cNvPr>
            <p:cNvGrpSpPr/>
            <p:nvPr/>
          </p:nvGrpSpPr>
          <p:grpSpPr>
            <a:xfrm>
              <a:off x="9764348" y="1447800"/>
              <a:ext cx="1130291" cy="2667397"/>
              <a:chOff x="9472119" y="702026"/>
              <a:chExt cx="1130291" cy="2667397"/>
            </a:xfrm>
          </p:grpSpPr>
          <p:sp>
            <p:nvSpPr>
              <p:cNvPr id="239" name="Rectangle 238">
                <a:extLst>
                  <a:ext uri="{FF2B5EF4-FFF2-40B4-BE49-F238E27FC236}">
                    <a16:creationId xmlns:a16="http://schemas.microsoft.com/office/drawing/2014/main" id="{96962042-8A2E-A64D-8876-1FD7A84833E5}"/>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0" name="TextBox 239">
                <a:extLst>
                  <a:ext uri="{FF2B5EF4-FFF2-40B4-BE49-F238E27FC236}">
                    <a16:creationId xmlns:a16="http://schemas.microsoft.com/office/drawing/2014/main" id="{940904E2-A3C0-D842-9DA2-FE7E9C839DC9}"/>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d:</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1</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 </a:t>
                </a:r>
                <a:r>
                  <a:rPr lang="en-US" sz="1600" dirty="0">
                    <a:solidFill>
                      <a:prstClr val="black"/>
                    </a:solidFill>
                  </a:rPr>
                  <a:t>D</a:t>
                </a:r>
                <a:r>
                  <a:rPr lang="en-US" sz="1600" baseline="-25000" dirty="0">
                    <a:solidFill>
                      <a:prstClr val="black"/>
                    </a:solidFill>
                  </a:rPr>
                  <a:t>c</a:t>
                </a:r>
                <a:r>
                  <a:rPr lang="en-US" sz="1600" dirty="0">
                    <a:solidFill>
                      <a:prstClr val="black"/>
                    </a:solidFill>
                  </a:rPr>
                  <a:t>(g) = 1</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252" name="Straight Connector 251">
                <a:extLst>
                  <a:ext uri="{FF2B5EF4-FFF2-40B4-BE49-F238E27FC236}">
                    <a16:creationId xmlns:a16="http://schemas.microsoft.com/office/drawing/2014/main" id="{A4C13240-3690-274C-B6C9-0173DDE85699}"/>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8546D7D6-52BC-7B4C-A56A-8A4EB693C647}"/>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9" name="Freeform 8">
            <a:extLst>
              <a:ext uri="{FF2B5EF4-FFF2-40B4-BE49-F238E27FC236}">
                <a16:creationId xmlns:a16="http://schemas.microsoft.com/office/drawing/2014/main" id="{FE2F627E-78F3-5D44-9884-C049E1334721}"/>
              </a:ext>
            </a:extLst>
          </p:cNvPr>
          <p:cNvSpPr/>
          <p:nvPr/>
        </p:nvSpPr>
        <p:spPr>
          <a:xfrm>
            <a:off x="3677920" y="1280160"/>
            <a:ext cx="853440" cy="2824480"/>
          </a:xfrm>
          <a:custGeom>
            <a:avLst/>
            <a:gdLst>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2824480">
                <a:moveTo>
                  <a:pt x="680720" y="2824480"/>
                </a:moveTo>
                <a:cubicBezTo>
                  <a:pt x="443653" y="2705947"/>
                  <a:pt x="328507" y="2658533"/>
                  <a:pt x="0" y="2590800"/>
                </a:cubicBezTo>
                <a:lnTo>
                  <a:pt x="0" y="0"/>
                </a:lnTo>
                <a:cubicBezTo>
                  <a:pt x="254000" y="1222587"/>
                  <a:pt x="447040" y="1835573"/>
                  <a:pt x="853440" y="2631440"/>
                </a:cubicBezTo>
                <a:lnTo>
                  <a:pt x="680720" y="2824480"/>
                </a:lnTo>
                <a:close/>
              </a:path>
            </a:pathLst>
          </a:custGeom>
          <a:gradFill>
            <a:gsLst>
              <a:gs pos="0">
                <a:schemeClr val="bg1">
                  <a:lumMod val="95000"/>
                </a:schemeClr>
              </a:gs>
              <a:gs pos="100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sp>
        <p:nvSpPr>
          <p:cNvPr id="254" name="Freeform 253">
            <a:extLst>
              <a:ext uri="{FF2B5EF4-FFF2-40B4-BE49-F238E27FC236}">
                <a16:creationId xmlns:a16="http://schemas.microsoft.com/office/drawing/2014/main" id="{5E971120-97A0-A04E-98CB-2AE07466929F}"/>
              </a:ext>
            </a:extLst>
          </p:cNvPr>
          <p:cNvSpPr/>
          <p:nvPr/>
        </p:nvSpPr>
        <p:spPr>
          <a:xfrm>
            <a:off x="3728720" y="4114800"/>
            <a:ext cx="2722880" cy="2560320"/>
          </a:xfrm>
          <a:custGeom>
            <a:avLst/>
            <a:gdLst>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2529840 w 2702560"/>
              <a:gd name="connsiteY0" fmla="*/ 2824480 h 3438178"/>
              <a:gd name="connsiteX1" fmla="*/ 0 w 2702560"/>
              <a:gd name="connsiteY1" fmla="*/ 3434080 h 3438178"/>
              <a:gd name="connsiteX2" fmla="*/ 1849120 w 2702560"/>
              <a:gd name="connsiteY2" fmla="*/ 0 h 3438178"/>
              <a:gd name="connsiteX3" fmla="*/ 2702560 w 2702560"/>
              <a:gd name="connsiteY3" fmla="*/ 2631440 h 3438178"/>
              <a:gd name="connsiteX4" fmla="*/ 2529840 w 2702560"/>
              <a:gd name="connsiteY4" fmla="*/ 2824480 h 3438178"/>
              <a:gd name="connsiteX0" fmla="*/ 2529840 w 2702560"/>
              <a:gd name="connsiteY0" fmla="*/ 2824480 h 3434080"/>
              <a:gd name="connsiteX1" fmla="*/ 0 w 2702560"/>
              <a:gd name="connsiteY1" fmla="*/ 3434080 h 3434080"/>
              <a:gd name="connsiteX2" fmla="*/ 1849120 w 2702560"/>
              <a:gd name="connsiteY2" fmla="*/ 0 h 3434080"/>
              <a:gd name="connsiteX3" fmla="*/ 2702560 w 2702560"/>
              <a:gd name="connsiteY3" fmla="*/ 2631440 h 3434080"/>
              <a:gd name="connsiteX4" fmla="*/ 2529840 w 2702560"/>
              <a:gd name="connsiteY4" fmla="*/ 2824480 h 3434080"/>
              <a:gd name="connsiteX0" fmla="*/ 2529840 w 2702560"/>
              <a:gd name="connsiteY0" fmla="*/ 1981200 h 2590800"/>
              <a:gd name="connsiteX1" fmla="*/ 0 w 2702560"/>
              <a:gd name="connsiteY1" fmla="*/ 2590800 h 2590800"/>
              <a:gd name="connsiteX2" fmla="*/ 50800 w 2702560"/>
              <a:gd name="connsiteY2" fmla="*/ 0 h 2590800"/>
              <a:gd name="connsiteX3" fmla="*/ 2702560 w 2702560"/>
              <a:gd name="connsiteY3" fmla="*/ 1788160 h 2590800"/>
              <a:gd name="connsiteX4" fmla="*/ 2529840 w 2702560"/>
              <a:gd name="connsiteY4" fmla="*/ 1981200 h 2590800"/>
              <a:gd name="connsiteX0" fmla="*/ 2529840 w 2702560"/>
              <a:gd name="connsiteY0" fmla="*/ 1981200 h 2590800"/>
              <a:gd name="connsiteX1" fmla="*/ 0 w 2702560"/>
              <a:gd name="connsiteY1" fmla="*/ 2590800 h 2590800"/>
              <a:gd name="connsiteX2" fmla="*/ 50800 w 2702560"/>
              <a:gd name="connsiteY2" fmla="*/ 0 h 2590800"/>
              <a:gd name="connsiteX3" fmla="*/ 2702560 w 2702560"/>
              <a:gd name="connsiteY3" fmla="*/ 1788160 h 2590800"/>
              <a:gd name="connsiteX4" fmla="*/ 2529840 w 2702560"/>
              <a:gd name="connsiteY4" fmla="*/ 1981200 h 259080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2880" h="2560320">
                <a:moveTo>
                  <a:pt x="2550160" y="1950720"/>
                </a:moveTo>
                <a:cubicBezTo>
                  <a:pt x="931333" y="1507067"/>
                  <a:pt x="399627" y="1347893"/>
                  <a:pt x="20320" y="2560320"/>
                </a:cubicBezTo>
                <a:lnTo>
                  <a:pt x="0" y="0"/>
                </a:lnTo>
                <a:cubicBezTo>
                  <a:pt x="1148080" y="887307"/>
                  <a:pt x="1513840" y="1297093"/>
                  <a:pt x="2722880" y="1757680"/>
                </a:cubicBezTo>
                <a:lnTo>
                  <a:pt x="2550160" y="1950720"/>
                </a:lnTo>
                <a:close/>
              </a:path>
            </a:pathLst>
          </a:custGeom>
          <a:gradFill>
            <a:gsLst>
              <a:gs pos="0">
                <a:schemeClr val="bg1">
                  <a:lumMod val="95000"/>
                </a:schemeClr>
              </a:gs>
              <a:gs pos="100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55" name="Rectangle 254">
            <a:extLst>
              <a:ext uri="{FF2B5EF4-FFF2-40B4-BE49-F238E27FC236}">
                <a16:creationId xmlns:a16="http://schemas.microsoft.com/office/drawing/2014/main" id="{F5690667-A0AD-3441-901C-58ACD8DB9CB9}"/>
              </a:ext>
            </a:extLst>
          </p:cNvPr>
          <p:cNvSpPr/>
          <p:nvPr/>
        </p:nvSpPr>
        <p:spPr>
          <a:xfrm>
            <a:off x="4765040" y="2611120"/>
            <a:ext cx="3535680" cy="64008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prstClr val="black"/>
                </a:solidFill>
              </a:rPr>
              <a:t>Q: what is new DV computed in e at </a:t>
            </a:r>
            <a:r>
              <a:rPr lang="en-US" i="1" dirty="0">
                <a:solidFill>
                  <a:prstClr val="black"/>
                </a:solidFill>
              </a:rPr>
              <a:t>t=1</a:t>
            </a:r>
            <a:r>
              <a:rPr lang="en-US" dirty="0">
                <a:solidFill>
                  <a:prstClr val="black"/>
                </a:solidFill>
              </a:rPr>
              <a:t>?</a:t>
            </a:r>
          </a:p>
        </p:txBody>
      </p:sp>
      <p:sp>
        <p:nvSpPr>
          <p:cNvPr id="256" name="Right Arrow 255">
            <a:extLst>
              <a:ext uri="{FF2B5EF4-FFF2-40B4-BE49-F238E27FC236}">
                <a16:creationId xmlns:a16="http://schemas.microsoft.com/office/drawing/2014/main" id="{3F3727DD-64E4-8E44-A860-1B6F3AAFA945}"/>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7" name="Right Arrow 256">
            <a:extLst>
              <a:ext uri="{FF2B5EF4-FFF2-40B4-BE49-F238E27FC236}">
                <a16:creationId xmlns:a16="http://schemas.microsoft.com/office/drawing/2014/main" id="{243C704B-7CF3-234F-BE06-49455A56103D}"/>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8" name="Right Arrow 257">
            <a:extLst>
              <a:ext uri="{FF2B5EF4-FFF2-40B4-BE49-F238E27FC236}">
                <a16:creationId xmlns:a16="http://schemas.microsoft.com/office/drawing/2014/main" id="{10D66682-A305-4140-B8C3-5D5379725A71}"/>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9" name="Right Arrow 258">
            <a:extLst>
              <a:ext uri="{FF2B5EF4-FFF2-40B4-BE49-F238E27FC236}">
                <a16:creationId xmlns:a16="http://schemas.microsoft.com/office/drawing/2014/main" id="{5082A0A8-497B-E44C-BB21-E8FA27FE24FB}"/>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60" name="Group 259">
            <a:extLst>
              <a:ext uri="{FF2B5EF4-FFF2-40B4-BE49-F238E27FC236}">
                <a16:creationId xmlns:a16="http://schemas.microsoft.com/office/drawing/2014/main" id="{C27D4E3A-D1FC-A141-84A4-309423E9F3B8}"/>
              </a:ext>
            </a:extLst>
          </p:cNvPr>
          <p:cNvGrpSpPr/>
          <p:nvPr/>
        </p:nvGrpSpPr>
        <p:grpSpPr>
          <a:xfrm>
            <a:off x="6039628" y="3567469"/>
            <a:ext cx="1196054" cy="1022555"/>
            <a:chOff x="9655277" y="2349909"/>
            <a:chExt cx="1196054" cy="1022555"/>
          </a:xfrm>
        </p:grpSpPr>
        <p:sp>
          <p:nvSpPr>
            <p:cNvPr id="261" name="Freeform 260">
              <a:extLst>
                <a:ext uri="{FF2B5EF4-FFF2-40B4-BE49-F238E27FC236}">
                  <a16:creationId xmlns:a16="http://schemas.microsoft.com/office/drawing/2014/main" id="{5F0B966E-6247-6947-B318-2BE50246EA22}"/>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2" name="TextBox 261">
              <a:extLst>
                <a:ext uri="{FF2B5EF4-FFF2-40B4-BE49-F238E27FC236}">
                  <a16:creationId xmlns:a16="http://schemas.microsoft.com/office/drawing/2014/main" id="{6012C683-6837-1240-8EA8-A8A29041E15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Tree>
    <p:extLst>
      <p:ext uri="{BB962C8B-B14F-4D97-AF65-F5344CB8AC3E}">
        <p14:creationId xmlns:p14="http://schemas.microsoft.com/office/powerpoint/2010/main" val="646440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81"/>
                                        </p:tgtEl>
                                        <p:attrNameLst>
                                          <p:attrName>style.visibility</p:attrName>
                                        </p:attrNameLst>
                                      </p:cBhvr>
                                      <p:to>
                                        <p:strVal val="visible"/>
                                      </p:to>
                                    </p:set>
                                    <p:animEffect transition="in" filter="dissolve">
                                      <p:cBhvr>
                                        <p:cTn id="7" dur="500"/>
                                        <p:tgtEl>
                                          <p:spTgt spid="28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58"/>
                                        </p:tgtEl>
                                        <p:attrNameLst>
                                          <p:attrName>style.visibility</p:attrName>
                                        </p:attrNameLst>
                                      </p:cBhvr>
                                      <p:to>
                                        <p:strVal val="visible"/>
                                      </p:to>
                                    </p:set>
                                    <p:animEffect transition="in" filter="wipe(left)">
                                      <p:cBhvr>
                                        <p:cTn id="10" dur="1000"/>
                                        <p:tgtEl>
                                          <p:spTgt spid="258"/>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256"/>
                                        </p:tgtEl>
                                        <p:attrNameLst>
                                          <p:attrName>style.visibility</p:attrName>
                                        </p:attrNameLst>
                                      </p:cBhvr>
                                      <p:to>
                                        <p:strVal val="visible"/>
                                      </p:to>
                                    </p:set>
                                    <p:animEffect transition="in" filter="wipe(up)">
                                      <p:cBhvr>
                                        <p:cTn id="13" dur="1000"/>
                                        <p:tgtEl>
                                          <p:spTgt spid="256"/>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wipe(right)">
                                      <p:cBhvr>
                                        <p:cTn id="16" dur="1000"/>
                                        <p:tgtEl>
                                          <p:spTgt spid="259"/>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257"/>
                                        </p:tgtEl>
                                        <p:attrNameLst>
                                          <p:attrName>style.visibility</p:attrName>
                                        </p:attrNameLst>
                                      </p:cBhvr>
                                      <p:to>
                                        <p:strVal val="visible"/>
                                      </p:to>
                                    </p:set>
                                    <p:animEffect transition="in" filter="wipe(down)">
                                      <p:cBhvr>
                                        <p:cTn id="19" dur="1000"/>
                                        <p:tgtEl>
                                          <p:spTgt spid="257"/>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260"/>
                                        </p:tgtEl>
                                        <p:attrNameLst>
                                          <p:attrName>style.visibility</p:attrName>
                                        </p:attrNameLst>
                                      </p:cBhvr>
                                      <p:to>
                                        <p:strVal val="visible"/>
                                      </p:to>
                                    </p:set>
                                    <p:animEffect transition="in" filter="dissolve">
                                      <p:cBhvr>
                                        <p:cTn id="23" dur="500"/>
                                        <p:tgtEl>
                                          <p:spTgt spid="26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255"/>
                                        </p:tgtEl>
                                        <p:attrNameLst>
                                          <p:attrName>style.visibility</p:attrName>
                                        </p:attrNameLst>
                                      </p:cBhvr>
                                      <p:to>
                                        <p:strVal val="visible"/>
                                      </p:to>
                                    </p:set>
                                    <p:animEffect transition="in" filter="wipe(up)">
                                      <p:cBhvr>
                                        <p:cTn id="28" dur="500"/>
                                        <p:tgtEl>
                                          <p:spTgt spid="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55" grpId="0" animBg="1"/>
      <p:bldP spid="256" grpId="0" animBg="1"/>
      <p:bldP spid="257" grpId="0" animBg="1"/>
      <p:bldP spid="258" grpId="0" animBg="1"/>
      <p:bldP spid="25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DE803E-6759-9045-824E-EB665BC5AFC2}"/>
              </a:ext>
            </a:extLst>
          </p:cNvPr>
          <p:cNvSpPr>
            <a:spLocks noGrp="1"/>
          </p:cNvSpPr>
          <p:nvPr>
            <p:ph type="title"/>
          </p:nvPr>
        </p:nvSpPr>
        <p:spPr/>
        <p:txBody>
          <a:bodyPr/>
          <a:lstStyle/>
          <a:p>
            <a:r>
              <a:rPr lang="en-US" dirty="0"/>
              <a:t>Comparison of LS and DV algorithms</a:t>
            </a:r>
          </a:p>
        </p:txBody>
      </p:sp>
      <p:sp>
        <p:nvSpPr>
          <p:cNvPr id="5" name="Slide Number Placeholder 4">
            <a:extLst>
              <a:ext uri="{FF2B5EF4-FFF2-40B4-BE49-F238E27FC236}">
                <a16:creationId xmlns:a16="http://schemas.microsoft.com/office/drawing/2014/main" id="{AAC033F3-690E-4449-BE11-90A97F90B4D9}"/>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65</a:t>
            </a:fld>
            <a:endParaRPr lang="en-US" dirty="0">
              <a:solidFill>
                <a:prstClr val="white">
                  <a:lumMod val="50000"/>
                </a:prstClr>
              </a:solidFill>
            </a:endParaRPr>
          </a:p>
        </p:txBody>
      </p:sp>
      <p:sp>
        <p:nvSpPr>
          <p:cNvPr id="80" name="Rectangle 3">
            <a:extLst>
              <a:ext uri="{FF2B5EF4-FFF2-40B4-BE49-F238E27FC236}">
                <a16:creationId xmlns:a16="http://schemas.microsoft.com/office/drawing/2014/main" id="{E69A0B3F-EBFC-164A-821B-5A70757FB250}"/>
              </a:ext>
            </a:extLst>
          </p:cNvPr>
          <p:cNvSpPr txBox="1">
            <a:spLocks noChangeArrowheads="1"/>
          </p:cNvSpPr>
          <p:nvPr/>
        </p:nvSpPr>
        <p:spPr>
          <a:xfrm>
            <a:off x="749342" y="1478070"/>
            <a:ext cx="5162943" cy="161585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0000A8"/>
                </a:solidFill>
              </a:rPr>
              <a:t>message complexity</a:t>
            </a:r>
          </a:p>
          <a:p>
            <a:pPr marL="696913" lvl="1" indent="-349250">
              <a:buFont typeface="Arial" panose="020B0604020202020204" pitchFamily="34" charset="0"/>
              <a:buNone/>
            </a:pPr>
            <a:r>
              <a:rPr lang="en-US" dirty="0">
                <a:solidFill>
                  <a:srgbClr val="0000A8"/>
                </a:solidFill>
              </a:rPr>
              <a:t>LS: </a:t>
            </a:r>
            <a:r>
              <a:rPr lang="en-US" i="1" dirty="0">
                <a:solidFill>
                  <a:srgbClr val="0000A8"/>
                </a:solidFill>
              </a:rPr>
              <a:t>n</a:t>
            </a:r>
            <a:r>
              <a:rPr lang="en-US" dirty="0">
                <a:solidFill>
                  <a:srgbClr val="0000A8"/>
                </a:solidFill>
              </a:rPr>
              <a:t> </a:t>
            </a:r>
            <a:r>
              <a:rPr lang="en-US" dirty="0">
                <a:solidFill>
                  <a:prstClr val="black"/>
                </a:solidFill>
              </a:rPr>
              <a:t>routers, O(</a:t>
            </a:r>
            <a:r>
              <a:rPr lang="en-US" i="1" dirty="0">
                <a:solidFill>
                  <a:prstClr val="black"/>
                </a:solidFill>
              </a:rPr>
              <a:t>n</a:t>
            </a:r>
            <a:r>
              <a:rPr lang="en-US" i="1" baseline="30000" dirty="0">
                <a:solidFill>
                  <a:prstClr val="black"/>
                </a:solidFill>
              </a:rPr>
              <a:t>2</a:t>
            </a:r>
            <a:r>
              <a:rPr lang="en-US" dirty="0">
                <a:solidFill>
                  <a:prstClr val="black"/>
                </a:solidFill>
              </a:rPr>
              <a:t>) messages sent  </a:t>
            </a:r>
          </a:p>
          <a:p>
            <a:pPr marL="696913" lvl="1" indent="-349250">
              <a:buFont typeface="Arial" panose="020B0604020202020204" pitchFamily="34" charset="0"/>
              <a:buNone/>
            </a:pPr>
            <a:r>
              <a:rPr lang="en-US" dirty="0">
                <a:solidFill>
                  <a:srgbClr val="0000A8"/>
                </a:solidFill>
              </a:rPr>
              <a:t>DV: </a:t>
            </a:r>
            <a:r>
              <a:rPr lang="en-US" dirty="0">
                <a:solidFill>
                  <a:prstClr val="black"/>
                </a:solidFill>
              </a:rPr>
              <a:t>exchange between neighbors; convergence time varies</a:t>
            </a:r>
          </a:p>
        </p:txBody>
      </p:sp>
      <p:sp>
        <p:nvSpPr>
          <p:cNvPr id="81" name="Rectangle 3">
            <a:extLst>
              <a:ext uri="{FF2B5EF4-FFF2-40B4-BE49-F238E27FC236}">
                <a16:creationId xmlns:a16="http://schemas.microsoft.com/office/drawing/2014/main" id="{88AB766F-5F85-0D4D-90A7-D36ED49CD024}"/>
              </a:ext>
            </a:extLst>
          </p:cNvPr>
          <p:cNvSpPr txBox="1">
            <a:spLocks noChangeArrowheads="1"/>
          </p:cNvSpPr>
          <p:nvPr/>
        </p:nvSpPr>
        <p:spPr>
          <a:xfrm>
            <a:off x="738904" y="3382027"/>
            <a:ext cx="5060647" cy="23674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pPr>
            <a:r>
              <a:rPr lang="en-US" dirty="0">
                <a:solidFill>
                  <a:srgbClr val="0000A8"/>
                </a:solidFill>
              </a:rPr>
              <a:t>speed of convergence</a:t>
            </a:r>
          </a:p>
          <a:p>
            <a:pPr marL="696913" indent="-349250">
              <a:spcBef>
                <a:spcPts val="600"/>
              </a:spcBef>
              <a:buFont typeface="Wingdings" pitchFamily="2" charset="2"/>
              <a:buNone/>
            </a:pPr>
            <a:r>
              <a:rPr lang="en-US" sz="2400" dirty="0">
                <a:solidFill>
                  <a:srgbClr val="0000A8"/>
                </a:solidFill>
              </a:rPr>
              <a:t>LS: </a:t>
            </a:r>
            <a:r>
              <a:rPr lang="en-US" sz="2400" dirty="0">
                <a:solidFill>
                  <a:prstClr val="black"/>
                </a:solidFill>
              </a:rPr>
              <a:t>O(</a:t>
            </a:r>
            <a:r>
              <a:rPr lang="en-US" sz="2400" i="1" dirty="0">
                <a:solidFill>
                  <a:prstClr val="black"/>
                </a:solidFill>
              </a:rPr>
              <a:t>n</a:t>
            </a:r>
            <a:r>
              <a:rPr lang="en-US" sz="2400" b="1" i="1" baseline="30000" dirty="0">
                <a:solidFill>
                  <a:prstClr val="black"/>
                </a:solidFill>
              </a:rPr>
              <a:t>2</a:t>
            </a:r>
            <a:r>
              <a:rPr lang="en-US" sz="2400" dirty="0">
                <a:solidFill>
                  <a:prstClr val="black"/>
                </a:solidFill>
              </a:rPr>
              <a:t>) algorithm, O(</a:t>
            </a:r>
            <a:r>
              <a:rPr lang="en-US" sz="2400" i="1" dirty="0">
                <a:solidFill>
                  <a:prstClr val="black"/>
                </a:solidFill>
              </a:rPr>
              <a:t>n</a:t>
            </a:r>
            <a:r>
              <a:rPr lang="en-US" sz="2400" i="1" baseline="30000" dirty="0">
                <a:solidFill>
                  <a:prstClr val="black"/>
                </a:solidFill>
              </a:rPr>
              <a:t>2</a:t>
            </a:r>
            <a:r>
              <a:rPr lang="en-US" sz="2400" dirty="0">
                <a:solidFill>
                  <a:prstClr val="black"/>
                </a:solidFill>
              </a:rPr>
              <a:t>) messages</a:t>
            </a:r>
          </a:p>
          <a:p>
            <a:pPr marL="696913" lvl="1" indent="-236538">
              <a:spcBef>
                <a:spcPts val="0"/>
              </a:spcBef>
            </a:pPr>
            <a:r>
              <a:rPr lang="en-US" dirty="0">
                <a:solidFill>
                  <a:prstClr val="black"/>
                </a:solidFill>
              </a:rPr>
              <a:t>may have oscillations</a:t>
            </a:r>
            <a:endParaRPr lang="en-US" sz="2000" dirty="0">
              <a:solidFill>
                <a:prstClr val="black"/>
              </a:solidFill>
            </a:endParaRPr>
          </a:p>
          <a:p>
            <a:pPr marL="696913" indent="-349250">
              <a:spcBef>
                <a:spcPts val="600"/>
              </a:spcBef>
              <a:buFont typeface="Wingdings" pitchFamily="2" charset="2"/>
              <a:buNone/>
            </a:pPr>
            <a:r>
              <a:rPr lang="en-US" sz="2400" dirty="0">
                <a:solidFill>
                  <a:srgbClr val="0000A8"/>
                </a:solidFill>
              </a:rPr>
              <a:t>DV: </a:t>
            </a:r>
            <a:r>
              <a:rPr lang="en-US" sz="2400" dirty="0">
                <a:solidFill>
                  <a:prstClr val="black"/>
                </a:solidFill>
              </a:rPr>
              <a:t>convergence time varies</a:t>
            </a:r>
          </a:p>
          <a:p>
            <a:pPr marL="696913" lvl="1" indent="-236538">
              <a:spcBef>
                <a:spcPts val="0"/>
              </a:spcBef>
            </a:pPr>
            <a:r>
              <a:rPr lang="en-US" dirty="0">
                <a:solidFill>
                  <a:prstClr val="black"/>
                </a:solidFill>
              </a:rPr>
              <a:t>may have routing loops</a:t>
            </a:r>
          </a:p>
          <a:p>
            <a:pPr marL="696913" lvl="1" indent="-236538">
              <a:spcBef>
                <a:spcPts val="0"/>
              </a:spcBef>
            </a:pPr>
            <a:r>
              <a:rPr lang="en-US" dirty="0">
                <a:solidFill>
                  <a:prstClr val="black"/>
                </a:solidFill>
              </a:rPr>
              <a:t>count-to-infinity problem</a:t>
            </a:r>
            <a:endParaRPr lang="en-US" sz="1800" dirty="0">
              <a:solidFill>
                <a:prstClr val="black"/>
              </a:solidFill>
            </a:endParaRPr>
          </a:p>
        </p:txBody>
      </p:sp>
      <p:sp>
        <p:nvSpPr>
          <p:cNvPr id="82" name="Rectangle 4">
            <a:extLst>
              <a:ext uri="{FF2B5EF4-FFF2-40B4-BE49-F238E27FC236}">
                <a16:creationId xmlns:a16="http://schemas.microsoft.com/office/drawing/2014/main" id="{DC033023-B5B6-A345-83EB-C080F9647406}"/>
              </a:ext>
            </a:extLst>
          </p:cNvPr>
          <p:cNvSpPr txBox="1">
            <a:spLocks noChangeArrowheads="1"/>
          </p:cNvSpPr>
          <p:nvPr/>
        </p:nvSpPr>
        <p:spPr>
          <a:xfrm>
            <a:off x="6087648" y="1498948"/>
            <a:ext cx="5574083" cy="49394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0000A8"/>
                </a:solidFill>
              </a:rPr>
              <a:t>robustness: </a:t>
            </a:r>
            <a:r>
              <a:rPr lang="en-US" dirty="0">
                <a:solidFill>
                  <a:prstClr val="black"/>
                </a:solidFill>
              </a:rPr>
              <a:t>what happens if router malfunctions, or is compromised?</a:t>
            </a:r>
          </a:p>
          <a:p>
            <a:pPr>
              <a:buFont typeface="Wingdings" charset="0"/>
              <a:buNone/>
            </a:pPr>
            <a:r>
              <a:rPr lang="en-US" sz="2400" dirty="0">
                <a:solidFill>
                  <a:srgbClr val="0000A8"/>
                </a:solidFill>
              </a:rPr>
              <a:t>LS: </a:t>
            </a:r>
          </a:p>
          <a:p>
            <a:pPr marL="522288" lvl="1" indent="-236538"/>
            <a:r>
              <a:rPr lang="en-US" dirty="0">
                <a:solidFill>
                  <a:prstClr val="black"/>
                </a:solidFill>
              </a:rPr>
              <a:t>router can advertise incorrect </a:t>
            </a:r>
            <a:r>
              <a:rPr lang="en-US" i="1" dirty="0">
                <a:solidFill>
                  <a:srgbClr val="000099"/>
                </a:solidFill>
              </a:rPr>
              <a:t>link</a:t>
            </a:r>
            <a:r>
              <a:rPr lang="en-US" dirty="0">
                <a:solidFill>
                  <a:prstClr val="black"/>
                </a:solidFill>
              </a:rPr>
              <a:t> cost</a:t>
            </a:r>
          </a:p>
          <a:p>
            <a:pPr marL="522288" lvl="1" indent="-236538"/>
            <a:r>
              <a:rPr lang="en-US" dirty="0">
                <a:solidFill>
                  <a:prstClr val="black"/>
                </a:solidFill>
              </a:rPr>
              <a:t>each router computes only its </a:t>
            </a:r>
            <a:r>
              <a:rPr lang="en-US" i="1" dirty="0">
                <a:solidFill>
                  <a:prstClr val="black"/>
                </a:solidFill>
              </a:rPr>
              <a:t>own</a:t>
            </a:r>
            <a:r>
              <a:rPr lang="en-US" dirty="0">
                <a:solidFill>
                  <a:prstClr val="black"/>
                </a:solidFill>
              </a:rPr>
              <a:t> table</a:t>
            </a:r>
          </a:p>
          <a:p>
            <a:pPr>
              <a:buFont typeface="Wingdings" charset="0"/>
              <a:buNone/>
            </a:pPr>
            <a:r>
              <a:rPr lang="en-US" sz="2400" dirty="0">
                <a:solidFill>
                  <a:srgbClr val="0000A8"/>
                </a:solidFill>
              </a:rPr>
              <a:t>DV:</a:t>
            </a:r>
          </a:p>
          <a:p>
            <a:pPr marL="460375" lvl="1" indent="-223838"/>
            <a:r>
              <a:rPr lang="en-US" dirty="0">
                <a:solidFill>
                  <a:prstClr val="black"/>
                </a:solidFill>
              </a:rPr>
              <a:t>DV router can advertise incorrect </a:t>
            </a:r>
            <a:r>
              <a:rPr lang="en-US" i="1" dirty="0">
                <a:solidFill>
                  <a:srgbClr val="000099"/>
                </a:solidFill>
              </a:rPr>
              <a:t>path</a:t>
            </a:r>
            <a:r>
              <a:rPr lang="en-US" dirty="0">
                <a:solidFill>
                  <a:prstClr val="black"/>
                </a:solidFill>
              </a:rPr>
              <a:t> cost (“I have a </a:t>
            </a:r>
            <a:r>
              <a:rPr lang="en-US" i="1" dirty="0">
                <a:solidFill>
                  <a:prstClr val="black"/>
                </a:solidFill>
              </a:rPr>
              <a:t>really</a:t>
            </a:r>
            <a:r>
              <a:rPr lang="en-US" dirty="0">
                <a:solidFill>
                  <a:prstClr val="black"/>
                </a:solidFill>
              </a:rPr>
              <a:t> low cost path to everywhere”): black-holing</a:t>
            </a:r>
          </a:p>
          <a:p>
            <a:pPr marL="460375" lvl="1" indent="-223838"/>
            <a:r>
              <a:rPr lang="en-US" dirty="0">
                <a:solidFill>
                  <a:prstClr val="black"/>
                </a:solidFill>
              </a:rPr>
              <a:t>each router’</a:t>
            </a:r>
            <a:r>
              <a:rPr lang="en-US" altLang="ja-JP" dirty="0">
                <a:solidFill>
                  <a:prstClr val="black"/>
                </a:solidFill>
              </a:rPr>
              <a:t>s table used by others: </a:t>
            </a:r>
            <a:r>
              <a:rPr lang="en-US" dirty="0">
                <a:solidFill>
                  <a:prstClr val="black"/>
                </a:solidFill>
              </a:rPr>
              <a:t>error propagate through network</a:t>
            </a:r>
          </a:p>
        </p:txBody>
      </p:sp>
    </p:spTree>
    <p:extLst>
      <p:ext uri="{BB962C8B-B14F-4D97-AF65-F5344CB8AC3E}">
        <p14:creationId xmlns:p14="http://schemas.microsoft.com/office/powerpoint/2010/main" val="6553004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dissolve">
                                      <p:cBhvr>
                                        <p:cTn id="12"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E7BA213B-068E-DC4B-B1E8-7B6FBA112986}"/>
              </a:ext>
            </a:extLst>
          </p:cNvPr>
          <p:cNvSpPr>
            <a:spLocks noGrp="1"/>
          </p:cNvSpPr>
          <p:nvPr>
            <p:ph idx="1"/>
          </p:nvPr>
        </p:nvSpPr>
        <p:spPr>
          <a:xfrm>
            <a:off x="788096" y="1561188"/>
            <a:ext cx="10515600" cy="4351338"/>
          </a:xfrm>
        </p:spPr>
        <p:txBody>
          <a:bodyPr/>
          <a:lstStyle/>
          <a:p>
            <a:pPr marL="130175" indent="0">
              <a:buNone/>
            </a:pPr>
            <a:r>
              <a:rPr lang="en-US" sz="3200" dirty="0"/>
              <a:t>our routing study thus far - idealized </a:t>
            </a:r>
          </a:p>
          <a:p>
            <a:pPr marL="522288" indent="-285750">
              <a:spcBef>
                <a:spcPts val="400"/>
              </a:spcBef>
            </a:pPr>
            <a:r>
              <a:rPr lang="en-US" dirty="0"/>
              <a:t>all routers identical</a:t>
            </a:r>
          </a:p>
          <a:p>
            <a:pPr marL="522288" indent="-285750">
              <a:spcBef>
                <a:spcPts val="400"/>
              </a:spcBef>
            </a:pPr>
            <a:r>
              <a:rPr lang="en-US" dirty="0"/>
              <a:t>network “flat”</a:t>
            </a:r>
          </a:p>
          <a:p>
            <a:pPr marL="130175" indent="0">
              <a:buNone/>
            </a:pPr>
            <a:r>
              <a:rPr lang="en-US" dirty="0"/>
              <a:t>… not true in practice</a:t>
            </a:r>
          </a:p>
          <a:p>
            <a:endParaRPr lang="en-US" dirty="0"/>
          </a:p>
        </p:txBody>
      </p:sp>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b="0" kern="0" dirty="0">
                <a:solidFill>
                  <a:srgbClr val="000099"/>
                </a:solidFill>
                <a:latin typeface="+mn-lt"/>
                <a:ea typeface="ＭＳ Ｐゴシック" charset="0"/>
              </a:rPr>
              <a:t>Making routing scalable</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66</a:t>
            </a:fld>
            <a:endParaRPr lang="en-US" dirty="0">
              <a:solidFill>
                <a:prstClr val="white">
                  <a:lumMod val="50000"/>
                </a:prstClr>
              </a:solidFill>
            </a:endParaRPr>
          </a:p>
        </p:txBody>
      </p:sp>
      <p:sp>
        <p:nvSpPr>
          <p:cNvPr id="11" name="Rectangle 3">
            <a:extLst>
              <a:ext uri="{FF2B5EF4-FFF2-40B4-BE49-F238E27FC236}">
                <a16:creationId xmlns:a16="http://schemas.microsoft.com/office/drawing/2014/main" id="{F9B3A519-428E-254A-A0D8-474D6ECEC54E}"/>
              </a:ext>
            </a:extLst>
          </p:cNvPr>
          <p:cNvSpPr txBox="1">
            <a:spLocks noChangeArrowheads="1"/>
          </p:cNvSpPr>
          <p:nvPr/>
        </p:nvSpPr>
        <p:spPr bwMode="auto">
          <a:xfrm>
            <a:off x="990600" y="3666994"/>
            <a:ext cx="4984315"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0"/>
              <a:buNone/>
            </a:pPr>
            <a:r>
              <a:rPr lang="en-US" kern="0" dirty="0">
                <a:solidFill>
                  <a:srgbClr val="C00000"/>
                </a:solidFill>
              </a:rPr>
              <a:t>scale: </a:t>
            </a:r>
            <a:r>
              <a:rPr lang="en-US" kern="0" dirty="0">
                <a:solidFill>
                  <a:prstClr val="black"/>
                </a:solidFill>
              </a:rPr>
              <a:t>billions of destinations:</a:t>
            </a:r>
          </a:p>
          <a:p>
            <a:r>
              <a:rPr lang="en-US" sz="2400" kern="0" dirty="0">
                <a:solidFill>
                  <a:prstClr val="black"/>
                </a:solidFill>
              </a:rPr>
              <a:t>can’</a:t>
            </a:r>
            <a:r>
              <a:rPr lang="en-US" altLang="ja-JP" sz="2400" kern="0" dirty="0">
                <a:solidFill>
                  <a:prstClr val="black"/>
                </a:solidFill>
              </a:rPr>
              <a:t>t store all destinations in routing tables!</a:t>
            </a:r>
          </a:p>
          <a:p>
            <a:r>
              <a:rPr lang="en-US" sz="2400" kern="0" dirty="0">
                <a:solidFill>
                  <a:prstClr val="black"/>
                </a:solidFill>
              </a:rPr>
              <a:t>routing table exchange would swamp links!</a:t>
            </a:r>
            <a:r>
              <a:rPr lang="en-US" kern="0" dirty="0">
                <a:solidFill>
                  <a:prstClr val="black"/>
                </a:solidFill>
              </a:rPr>
              <a:t> </a:t>
            </a:r>
          </a:p>
          <a:p>
            <a:endParaRPr lang="en-US" kern="0" dirty="0">
              <a:solidFill>
                <a:prstClr val="black"/>
              </a:solidFill>
              <a:latin typeface="Gill Sans MT" charset="0"/>
            </a:endParaRPr>
          </a:p>
          <a:p>
            <a:endParaRPr lang="en-US" kern="0" dirty="0">
              <a:solidFill>
                <a:prstClr val="black"/>
              </a:solidFill>
              <a:latin typeface="Gill Sans MT" charset="0"/>
            </a:endParaRPr>
          </a:p>
        </p:txBody>
      </p:sp>
      <p:sp>
        <p:nvSpPr>
          <p:cNvPr id="12" name="Rectangle 4">
            <a:extLst>
              <a:ext uri="{FF2B5EF4-FFF2-40B4-BE49-F238E27FC236}">
                <a16:creationId xmlns:a16="http://schemas.microsoft.com/office/drawing/2014/main" id="{F4EA3DB5-195F-1A49-92C3-E48E324A5BA4}"/>
              </a:ext>
            </a:extLst>
          </p:cNvPr>
          <p:cNvSpPr txBox="1">
            <a:spLocks noChangeArrowheads="1"/>
          </p:cNvSpPr>
          <p:nvPr/>
        </p:nvSpPr>
        <p:spPr bwMode="auto">
          <a:xfrm>
            <a:off x="6413326" y="3654991"/>
            <a:ext cx="536127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0"/>
              <a:buNone/>
              <a:defRPr/>
            </a:pPr>
            <a:r>
              <a:rPr lang="en-US" kern="0" dirty="0">
                <a:solidFill>
                  <a:srgbClr val="C00000"/>
                </a:solidFill>
                <a:cs typeface="+mn-cs"/>
              </a:rPr>
              <a:t>administrative autonomy:</a:t>
            </a:r>
          </a:p>
          <a:p>
            <a:pPr indent="-219075">
              <a:defRPr/>
            </a:pPr>
            <a:r>
              <a:rPr lang="en-US" sz="2400" kern="0" dirty="0">
                <a:solidFill>
                  <a:srgbClr val="000000"/>
                </a:solidFill>
                <a:cs typeface="+mn-cs"/>
              </a:rPr>
              <a:t>Internet: a network of networks</a:t>
            </a:r>
          </a:p>
          <a:p>
            <a:pPr indent="-219075">
              <a:defRPr/>
            </a:pPr>
            <a:r>
              <a:rPr lang="en-US" sz="2400" kern="0" dirty="0">
                <a:solidFill>
                  <a:srgbClr val="000000"/>
                </a:solidFill>
                <a:cs typeface="+mn-cs"/>
              </a:rPr>
              <a:t>each network admin may want to control routing in its own network</a:t>
            </a:r>
          </a:p>
        </p:txBody>
      </p:sp>
    </p:spTree>
    <p:extLst>
      <p:ext uri="{BB962C8B-B14F-4D97-AF65-F5344CB8AC3E}">
        <p14:creationId xmlns:p14="http://schemas.microsoft.com/office/powerpoint/2010/main" val="76052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E7BA213B-068E-DC4B-B1E8-7B6FBA112986}"/>
              </a:ext>
            </a:extLst>
          </p:cNvPr>
          <p:cNvSpPr>
            <a:spLocks noGrp="1"/>
          </p:cNvSpPr>
          <p:nvPr>
            <p:ph idx="1"/>
          </p:nvPr>
        </p:nvSpPr>
        <p:spPr>
          <a:xfrm>
            <a:off x="788096" y="1561188"/>
            <a:ext cx="10515600" cy="4351338"/>
          </a:xfrm>
        </p:spPr>
        <p:txBody>
          <a:bodyPr/>
          <a:lstStyle/>
          <a:p>
            <a:pPr marL="130175" indent="0">
              <a:buNone/>
            </a:pPr>
            <a:r>
              <a:rPr lang="en-US" sz="3200" dirty="0"/>
              <a:t>aggregate routers into regions known as </a:t>
            </a:r>
            <a:r>
              <a:rPr lang="en-US" sz="3200" dirty="0">
                <a:solidFill>
                  <a:srgbClr val="0000A8"/>
                </a:solidFill>
              </a:rPr>
              <a:t>“autonomous systems”</a:t>
            </a:r>
            <a:r>
              <a:rPr lang="en-US" sz="3200" dirty="0"/>
              <a:t> (AS) (a.k.a. “</a:t>
            </a:r>
            <a:r>
              <a:rPr lang="en-US" sz="3200" dirty="0">
                <a:solidFill>
                  <a:srgbClr val="0000A8"/>
                </a:solidFill>
              </a:rPr>
              <a:t>domains</a:t>
            </a:r>
            <a:r>
              <a:rPr lang="en-US" sz="3200" dirty="0"/>
              <a:t>”)</a:t>
            </a:r>
          </a:p>
        </p:txBody>
      </p:sp>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dirty="0"/>
              <a:t>Internet approach to scalable routing</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67</a:t>
            </a:fld>
            <a:endParaRPr lang="en-US" dirty="0">
              <a:solidFill>
                <a:prstClr val="white">
                  <a:lumMod val="50000"/>
                </a:prstClr>
              </a:solidFill>
            </a:endParaRPr>
          </a:p>
        </p:txBody>
      </p:sp>
      <p:sp>
        <p:nvSpPr>
          <p:cNvPr id="11" name="Rectangle 3">
            <a:extLst>
              <a:ext uri="{FF2B5EF4-FFF2-40B4-BE49-F238E27FC236}">
                <a16:creationId xmlns:a16="http://schemas.microsoft.com/office/drawing/2014/main" id="{F9B3A519-428E-254A-A0D8-474D6ECEC54E}"/>
              </a:ext>
            </a:extLst>
          </p:cNvPr>
          <p:cNvSpPr txBox="1">
            <a:spLocks noChangeArrowheads="1"/>
          </p:cNvSpPr>
          <p:nvPr/>
        </p:nvSpPr>
        <p:spPr bwMode="auto">
          <a:xfrm>
            <a:off x="952500" y="2904546"/>
            <a:ext cx="5635668" cy="365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indent="0">
              <a:buFont typeface="Wingdings" charset="2"/>
              <a:buNone/>
            </a:pPr>
            <a:r>
              <a:rPr lang="en-US" sz="3200" kern="0" dirty="0">
                <a:solidFill>
                  <a:srgbClr val="C00000"/>
                </a:solidFill>
              </a:rPr>
              <a:t>intra-AS (aka “intra-domain”): </a:t>
            </a:r>
            <a:r>
              <a:rPr lang="en-US" kern="0" dirty="0">
                <a:solidFill>
                  <a:prstClr val="black"/>
                </a:solidFill>
              </a:rPr>
              <a:t>routing among </a:t>
            </a:r>
            <a:r>
              <a:rPr lang="en-US" i="1" kern="0" dirty="0">
                <a:solidFill>
                  <a:prstClr val="black"/>
                </a:solidFill>
              </a:rPr>
              <a:t>within same AS (“network”)</a:t>
            </a:r>
          </a:p>
          <a:p>
            <a:pPr>
              <a:lnSpc>
                <a:spcPct val="90000"/>
              </a:lnSpc>
              <a:spcBef>
                <a:spcPts val="400"/>
              </a:spcBef>
            </a:pPr>
            <a:r>
              <a:rPr lang="en-US" sz="2400" kern="0" dirty="0">
                <a:solidFill>
                  <a:prstClr val="black"/>
                </a:solidFill>
              </a:rPr>
              <a:t>all routers in AS must run same intra-domain protocol</a:t>
            </a:r>
          </a:p>
          <a:p>
            <a:pPr>
              <a:lnSpc>
                <a:spcPct val="90000"/>
              </a:lnSpc>
              <a:spcBef>
                <a:spcPts val="400"/>
              </a:spcBef>
            </a:pPr>
            <a:r>
              <a:rPr lang="en-US" sz="2400" kern="0" dirty="0">
                <a:solidFill>
                  <a:prstClr val="black"/>
                </a:solidFill>
              </a:rPr>
              <a:t>routers in different AS can run different intra-domain routing protocols</a:t>
            </a:r>
          </a:p>
          <a:p>
            <a:pPr>
              <a:lnSpc>
                <a:spcPct val="90000"/>
              </a:lnSpc>
              <a:spcBef>
                <a:spcPts val="400"/>
              </a:spcBef>
            </a:pPr>
            <a:r>
              <a:rPr lang="en-US" sz="2400" kern="0" dirty="0">
                <a:solidFill>
                  <a:srgbClr val="0000A8"/>
                </a:solidFill>
              </a:rPr>
              <a:t>gateway router: </a:t>
            </a:r>
            <a:r>
              <a:rPr lang="en-US" sz="2400" kern="0" dirty="0">
                <a:solidFill>
                  <a:prstClr val="black"/>
                </a:solidFill>
              </a:rPr>
              <a:t>at “edge” of its own AS, has link(s) to router(s) in other ASs</a:t>
            </a:r>
          </a:p>
          <a:p>
            <a:endParaRPr lang="en-US" kern="0" dirty="0">
              <a:solidFill>
                <a:prstClr val="black"/>
              </a:solidFill>
              <a:latin typeface="Gill Sans MT" charset="0"/>
            </a:endParaRPr>
          </a:p>
          <a:p>
            <a:endParaRPr lang="en-US" kern="0" dirty="0">
              <a:solidFill>
                <a:prstClr val="black"/>
              </a:solidFill>
              <a:latin typeface="Gill Sans MT" charset="0"/>
            </a:endParaRPr>
          </a:p>
        </p:txBody>
      </p:sp>
      <p:sp>
        <p:nvSpPr>
          <p:cNvPr id="12" name="Rectangle 4">
            <a:extLst>
              <a:ext uri="{FF2B5EF4-FFF2-40B4-BE49-F238E27FC236}">
                <a16:creationId xmlns:a16="http://schemas.microsoft.com/office/drawing/2014/main" id="{F4EA3DB5-195F-1A49-92C3-E48E324A5BA4}"/>
              </a:ext>
            </a:extLst>
          </p:cNvPr>
          <p:cNvSpPr txBox="1">
            <a:spLocks noChangeArrowheads="1"/>
          </p:cNvSpPr>
          <p:nvPr/>
        </p:nvSpPr>
        <p:spPr bwMode="auto">
          <a:xfrm>
            <a:off x="6864096" y="2928482"/>
            <a:ext cx="516089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2"/>
              <a:buNone/>
              <a:defRPr/>
            </a:pPr>
            <a:r>
              <a:rPr lang="en-US" sz="3200" kern="0" dirty="0">
                <a:solidFill>
                  <a:srgbClr val="CC0000"/>
                </a:solidFill>
                <a:cs typeface="+mn-cs"/>
              </a:rPr>
              <a:t>inter-AS (aka “inter-domain”): </a:t>
            </a:r>
            <a:r>
              <a:rPr lang="en-US" kern="0" dirty="0">
                <a:solidFill>
                  <a:prstClr val="black"/>
                </a:solidFill>
                <a:cs typeface="+mn-cs"/>
              </a:rPr>
              <a:t>routing </a:t>
            </a:r>
            <a:r>
              <a:rPr lang="en-US" i="1" kern="0" dirty="0">
                <a:solidFill>
                  <a:srgbClr val="0000A8"/>
                </a:solidFill>
                <a:cs typeface="+mn-cs"/>
              </a:rPr>
              <a:t>among</a:t>
            </a:r>
            <a:r>
              <a:rPr lang="en-US" kern="0" dirty="0">
                <a:solidFill>
                  <a:prstClr val="black"/>
                </a:solidFill>
                <a:cs typeface="+mn-cs"/>
              </a:rPr>
              <a:t> ASs</a:t>
            </a:r>
          </a:p>
          <a:p>
            <a:pPr marL="409575" indent="-285750">
              <a:buFont typeface="Wingdings" pitchFamily="2" charset="2"/>
              <a:buChar char="§"/>
              <a:defRPr/>
            </a:pPr>
            <a:r>
              <a:rPr lang="en-US" sz="2400" kern="0" dirty="0">
                <a:solidFill>
                  <a:prstClr val="black"/>
                </a:solidFill>
                <a:cs typeface="+mn-cs"/>
              </a:rPr>
              <a:t>gateways perform inter-domain routing (as well as intra-domain routing)</a:t>
            </a:r>
          </a:p>
        </p:txBody>
      </p:sp>
    </p:spTree>
    <p:extLst>
      <p:ext uri="{BB962C8B-B14F-4D97-AF65-F5344CB8AC3E}">
        <p14:creationId xmlns:p14="http://schemas.microsoft.com/office/powerpoint/2010/main" val="482974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b="0" kern="0" dirty="0">
                <a:solidFill>
                  <a:srgbClr val="000099"/>
                </a:solidFill>
                <a:latin typeface="+mn-lt"/>
                <a:ea typeface="ＭＳ Ｐゴシック" charset="0"/>
              </a:rPr>
              <a:t>Interconnected ASes</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68</a:t>
            </a:fld>
            <a:endParaRPr lang="en-US" dirty="0">
              <a:solidFill>
                <a:prstClr val="white">
                  <a:lumMod val="50000"/>
                </a:prstClr>
              </a:solidFill>
            </a:endParaRPr>
          </a:p>
        </p:txBody>
      </p:sp>
      <p:sp>
        <p:nvSpPr>
          <p:cNvPr id="133" name="Freeform 3">
            <a:extLst>
              <a:ext uri="{FF2B5EF4-FFF2-40B4-BE49-F238E27FC236}">
                <a16:creationId xmlns:a16="http://schemas.microsoft.com/office/drawing/2014/main" id="{E9C365D2-5973-C342-80CF-5D128AC2921C}"/>
              </a:ext>
            </a:extLst>
          </p:cNvPr>
          <p:cNvSpPr>
            <a:spLocks/>
          </p:cNvSpPr>
          <p:nvPr/>
        </p:nvSpPr>
        <p:spPr bwMode="auto">
          <a:xfrm>
            <a:off x="54467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4" name="Freeform 4">
            <a:extLst>
              <a:ext uri="{FF2B5EF4-FFF2-40B4-BE49-F238E27FC236}">
                <a16:creationId xmlns:a16="http://schemas.microsoft.com/office/drawing/2014/main" id="{4090092D-F797-484C-B1D2-AD83E59BF3EE}"/>
              </a:ext>
            </a:extLst>
          </p:cNvPr>
          <p:cNvSpPr>
            <a:spLocks/>
          </p:cNvSpPr>
          <p:nvPr/>
        </p:nvSpPr>
        <p:spPr bwMode="auto">
          <a:xfrm>
            <a:off x="16202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5" name="Freeform 5">
            <a:extLst>
              <a:ext uri="{FF2B5EF4-FFF2-40B4-BE49-F238E27FC236}">
                <a16:creationId xmlns:a16="http://schemas.microsoft.com/office/drawing/2014/main" id="{D3A2AF50-CEA9-924C-8C29-0549AF5748DF}"/>
              </a:ext>
            </a:extLst>
          </p:cNvPr>
          <p:cNvSpPr>
            <a:spLocks/>
          </p:cNvSpPr>
          <p:nvPr/>
        </p:nvSpPr>
        <p:spPr bwMode="auto">
          <a:xfrm>
            <a:off x="28027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6" name="Oval 6">
            <a:extLst>
              <a:ext uri="{FF2B5EF4-FFF2-40B4-BE49-F238E27FC236}">
                <a16:creationId xmlns:a16="http://schemas.microsoft.com/office/drawing/2014/main" id="{D886B232-293A-5347-8A9F-D005603A3D64}"/>
              </a:ext>
            </a:extLst>
          </p:cNvPr>
          <p:cNvSpPr>
            <a:spLocks noChangeArrowheads="1"/>
          </p:cNvSpPr>
          <p:nvPr/>
        </p:nvSpPr>
        <p:spPr bwMode="auto">
          <a:xfrm>
            <a:off x="2001278" y="492645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7" name="Line 7">
            <a:extLst>
              <a:ext uri="{FF2B5EF4-FFF2-40B4-BE49-F238E27FC236}">
                <a16:creationId xmlns:a16="http://schemas.microsoft.com/office/drawing/2014/main" id="{48D605CF-ABE3-1B4F-A232-D527090F964F}"/>
              </a:ext>
            </a:extLst>
          </p:cNvPr>
          <p:cNvSpPr>
            <a:spLocks noChangeShapeType="1"/>
          </p:cNvSpPr>
          <p:nvPr/>
        </p:nvSpPr>
        <p:spPr bwMode="auto">
          <a:xfrm>
            <a:off x="2001278"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8" name="Line 8">
            <a:extLst>
              <a:ext uri="{FF2B5EF4-FFF2-40B4-BE49-F238E27FC236}">
                <a16:creationId xmlns:a16="http://schemas.microsoft.com/office/drawing/2014/main" id="{6E612E8D-CA6C-F94A-8F5F-7BEED5AE7E82}"/>
              </a:ext>
            </a:extLst>
          </p:cNvPr>
          <p:cNvSpPr>
            <a:spLocks noChangeShapeType="1"/>
          </p:cNvSpPr>
          <p:nvPr/>
        </p:nvSpPr>
        <p:spPr bwMode="auto">
          <a:xfrm>
            <a:off x="2458245"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9" name="Rectangle 9">
            <a:extLst>
              <a:ext uri="{FF2B5EF4-FFF2-40B4-BE49-F238E27FC236}">
                <a16:creationId xmlns:a16="http://schemas.microsoft.com/office/drawing/2014/main" id="{0E2B504C-B9E0-FC47-9368-53C623397F64}"/>
              </a:ext>
            </a:extLst>
          </p:cNvPr>
          <p:cNvSpPr>
            <a:spLocks noChangeArrowheads="1"/>
          </p:cNvSpPr>
          <p:nvPr/>
        </p:nvSpPr>
        <p:spPr bwMode="auto">
          <a:xfrm>
            <a:off x="2001278" y="4916128"/>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0" name="Oval 10">
            <a:extLst>
              <a:ext uri="{FF2B5EF4-FFF2-40B4-BE49-F238E27FC236}">
                <a16:creationId xmlns:a16="http://schemas.microsoft.com/office/drawing/2014/main" id="{9EFBE396-B625-0344-8E23-5BBAD57A09A7}"/>
              </a:ext>
            </a:extLst>
          </p:cNvPr>
          <p:cNvSpPr>
            <a:spLocks noChangeArrowheads="1"/>
          </p:cNvSpPr>
          <p:nvPr/>
        </p:nvSpPr>
        <p:spPr bwMode="auto">
          <a:xfrm>
            <a:off x="1996898" y="4829124"/>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1" name="Rectangle 11">
            <a:extLst>
              <a:ext uri="{FF2B5EF4-FFF2-40B4-BE49-F238E27FC236}">
                <a16:creationId xmlns:a16="http://schemas.microsoft.com/office/drawing/2014/main" id="{F0DBD69C-A5DB-DC4A-AE43-093463BEFD9F}"/>
              </a:ext>
            </a:extLst>
          </p:cNvPr>
          <p:cNvSpPr>
            <a:spLocks noChangeArrowheads="1"/>
          </p:cNvSpPr>
          <p:nvPr/>
        </p:nvSpPr>
        <p:spPr bwMode="auto">
          <a:xfrm>
            <a:off x="2123914" y="4848294"/>
            <a:ext cx="205854" cy="18285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2" name="Text Box 12">
            <a:extLst>
              <a:ext uri="{FF2B5EF4-FFF2-40B4-BE49-F238E27FC236}">
                <a16:creationId xmlns:a16="http://schemas.microsoft.com/office/drawing/2014/main" id="{9C707F26-D218-B941-ACA7-2537E8CEE743}"/>
              </a:ext>
            </a:extLst>
          </p:cNvPr>
          <p:cNvSpPr txBox="1">
            <a:spLocks noChangeArrowheads="1"/>
          </p:cNvSpPr>
          <p:nvPr/>
        </p:nvSpPr>
        <p:spPr bwMode="auto">
          <a:xfrm>
            <a:off x="1998358" y="4752442"/>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3b</a:t>
            </a:r>
            <a:endParaRPr lang="en-US" kern="0" dirty="0">
              <a:solidFill>
                <a:srgbClr val="000000"/>
              </a:solidFill>
            </a:endParaRPr>
          </a:p>
        </p:txBody>
      </p:sp>
      <p:sp>
        <p:nvSpPr>
          <p:cNvPr id="143" name="Oval 13">
            <a:extLst>
              <a:ext uri="{FF2B5EF4-FFF2-40B4-BE49-F238E27FC236}">
                <a16:creationId xmlns:a16="http://schemas.microsoft.com/office/drawing/2014/main" id="{F5CAF371-FE17-244E-B591-ECED8083E85E}"/>
              </a:ext>
            </a:extLst>
          </p:cNvPr>
          <p:cNvSpPr>
            <a:spLocks noChangeArrowheads="1"/>
          </p:cNvSpPr>
          <p:nvPr/>
        </p:nvSpPr>
        <p:spPr bwMode="auto">
          <a:xfrm>
            <a:off x="3779509" y="5820083"/>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4" name="Line 14">
            <a:extLst>
              <a:ext uri="{FF2B5EF4-FFF2-40B4-BE49-F238E27FC236}">
                <a16:creationId xmlns:a16="http://schemas.microsoft.com/office/drawing/2014/main" id="{21854A4C-DB2D-E340-B5A9-97C52C8C104F}"/>
              </a:ext>
            </a:extLst>
          </p:cNvPr>
          <p:cNvSpPr>
            <a:spLocks noChangeShapeType="1"/>
          </p:cNvSpPr>
          <p:nvPr/>
        </p:nvSpPr>
        <p:spPr bwMode="auto">
          <a:xfrm>
            <a:off x="3779509"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5" name="Line 15">
            <a:extLst>
              <a:ext uri="{FF2B5EF4-FFF2-40B4-BE49-F238E27FC236}">
                <a16:creationId xmlns:a16="http://schemas.microsoft.com/office/drawing/2014/main" id="{E1CB0695-60DD-C243-A589-4B84D9A97D8C}"/>
              </a:ext>
            </a:extLst>
          </p:cNvPr>
          <p:cNvSpPr>
            <a:spLocks noChangeShapeType="1"/>
          </p:cNvSpPr>
          <p:nvPr/>
        </p:nvSpPr>
        <p:spPr bwMode="auto">
          <a:xfrm>
            <a:off x="4236476"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6" name="Rectangle 16">
            <a:extLst>
              <a:ext uri="{FF2B5EF4-FFF2-40B4-BE49-F238E27FC236}">
                <a16:creationId xmlns:a16="http://schemas.microsoft.com/office/drawing/2014/main" id="{5BD440AE-D73F-7F45-9AA6-838A5A161111}"/>
              </a:ext>
            </a:extLst>
          </p:cNvPr>
          <p:cNvSpPr>
            <a:spLocks noChangeArrowheads="1"/>
          </p:cNvSpPr>
          <p:nvPr/>
        </p:nvSpPr>
        <p:spPr bwMode="auto">
          <a:xfrm>
            <a:off x="3779509" y="5809761"/>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7" name="Oval 17">
            <a:extLst>
              <a:ext uri="{FF2B5EF4-FFF2-40B4-BE49-F238E27FC236}">
                <a16:creationId xmlns:a16="http://schemas.microsoft.com/office/drawing/2014/main" id="{E5795699-8636-AB42-9278-8D9E1A42842D}"/>
              </a:ext>
            </a:extLst>
          </p:cNvPr>
          <p:cNvSpPr>
            <a:spLocks noChangeArrowheads="1"/>
          </p:cNvSpPr>
          <p:nvPr/>
        </p:nvSpPr>
        <p:spPr bwMode="auto">
          <a:xfrm>
            <a:off x="3775129" y="5722757"/>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8" name="Group 18">
            <a:extLst>
              <a:ext uri="{FF2B5EF4-FFF2-40B4-BE49-F238E27FC236}">
                <a16:creationId xmlns:a16="http://schemas.microsoft.com/office/drawing/2014/main" id="{6B8409BD-7477-6747-91EB-78CFC8F8BA47}"/>
              </a:ext>
            </a:extLst>
          </p:cNvPr>
          <p:cNvGrpSpPr>
            <a:grpSpLocks/>
          </p:cNvGrpSpPr>
          <p:nvPr/>
        </p:nvGrpSpPr>
        <p:grpSpPr bwMode="auto">
          <a:xfrm>
            <a:off x="3778049" y="5637228"/>
            <a:ext cx="468647" cy="396679"/>
            <a:chOff x="2897" y="2425"/>
            <a:chExt cx="323" cy="269"/>
          </a:xfrm>
        </p:grpSpPr>
        <p:sp>
          <p:nvSpPr>
            <p:cNvPr id="251" name="Rectangle 19">
              <a:extLst>
                <a:ext uri="{FF2B5EF4-FFF2-40B4-BE49-F238E27FC236}">
                  <a16:creationId xmlns:a16="http://schemas.microsoft.com/office/drawing/2014/main" id="{7D7609E8-756E-1B41-AE93-5463D8AF72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2" name="Text Box 20">
              <a:extLst>
                <a:ext uri="{FF2B5EF4-FFF2-40B4-BE49-F238E27FC236}">
                  <a16:creationId xmlns:a16="http://schemas.microsoft.com/office/drawing/2014/main" id="{7B4233D3-81BD-B448-80FE-0C01096615A5}"/>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1d</a:t>
              </a:r>
            </a:p>
          </p:txBody>
        </p:sp>
      </p:grpSp>
      <p:sp>
        <p:nvSpPr>
          <p:cNvPr id="149" name="Oval 21">
            <a:extLst>
              <a:ext uri="{FF2B5EF4-FFF2-40B4-BE49-F238E27FC236}">
                <a16:creationId xmlns:a16="http://schemas.microsoft.com/office/drawing/2014/main" id="{7AA5B5C8-99AF-D744-91DD-4758CEDCAEAA}"/>
              </a:ext>
            </a:extLst>
          </p:cNvPr>
          <p:cNvSpPr>
            <a:spLocks noChangeArrowheads="1"/>
          </p:cNvSpPr>
          <p:nvPr/>
        </p:nvSpPr>
        <p:spPr bwMode="auto">
          <a:xfrm>
            <a:off x="2820315" y="4731797"/>
            <a:ext cx="456967" cy="1223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0" name="Line 22">
            <a:extLst>
              <a:ext uri="{FF2B5EF4-FFF2-40B4-BE49-F238E27FC236}">
                <a16:creationId xmlns:a16="http://schemas.microsoft.com/office/drawing/2014/main" id="{3F1A6000-25C3-6A47-897A-6B2052E82150}"/>
              </a:ext>
            </a:extLst>
          </p:cNvPr>
          <p:cNvSpPr>
            <a:spLocks noChangeShapeType="1"/>
          </p:cNvSpPr>
          <p:nvPr/>
        </p:nvSpPr>
        <p:spPr bwMode="auto">
          <a:xfrm>
            <a:off x="2820315"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1" name="Line 23">
            <a:extLst>
              <a:ext uri="{FF2B5EF4-FFF2-40B4-BE49-F238E27FC236}">
                <a16:creationId xmlns:a16="http://schemas.microsoft.com/office/drawing/2014/main" id="{2C6C2593-75EB-9041-B98E-049BD334D460}"/>
              </a:ext>
            </a:extLst>
          </p:cNvPr>
          <p:cNvSpPr>
            <a:spLocks noChangeShapeType="1"/>
          </p:cNvSpPr>
          <p:nvPr/>
        </p:nvSpPr>
        <p:spPr bwMode="auto">
          <a:xfrm>
            <a:off x="3277282"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2" name="Rectangle 24">
            <a:extLst>
              <a:ext uri="{FF2B5EF4-FFF2-40B4-BE49-F238E27FC236}">
                <a16:creationId xmlns:a16="http://schemas.microsoft.com/office/drawing/2014/main" id="{503F2144-C006-BA4A-A54C-154D6C9ABA2E}"/>
              </a:ext>
            </a:extLst>
          </p:cNvPr>
          <p:cNvSpPr>
            <a:spLocks noChangeArrowheads="1"/>
          </p:cNvSpPr>
          <p:nvPr/>
        </p:nvSpPr>
        <p:spPr bwMode="auto">
          <a:xfrm>
            <a:off x="2820315" y="4721475"/>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53" name="Oval 25">
            <a:extLst>
              <a:ext uri="{FF2B5EF4-FFF2-40B4-BE49-F238E27FC236}">
                <a16:creationId xmlns:a16="http://schemas.microsoft.com/office/drawing/2014/main" id="{D492E009-7760-4343-874C-AD3B41835873}"/>
              </a:ext>
            </a:extLst>
          </p:cNvPr>
          <p:cNvSpPr>
            <a:spLocks noChangeArrowheads="1"/>
          </p:cNvSpPr>
          <p:nvPr/>
        </p:nvSpPr>
        <p:spPr bwMode="auto">
          <a:xfrm>
            <a:off x="2815935" y="4634471"/>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4" name="Rectangle 26">
            <a:extLst>
              <a:ext uri="{FF2B5EF4-FFF2-40B4-BE49-F238E27FC236}">
                <a16:creationId xmlns:a16="http://schemas.microsoft.com/office/drawing/2014/main" id="{F8BDB031-7C07-264D-B086-6DC72DC78BDE}"/>
              </a:ext>
            </a:extLst>
          </p:cNvPr>
          <p:cNvSpPr>
            <a:spLocks noChangeArrowheads="1"/>
          </p:cNvSpPr>
          <p:nvPr/>
        </p:nvSpPr>
        <p:spPr bwMode="auto">
          <a:xfrm>
            <a:off x="2942952" y="4653641"/>
            <a:ext cx="207314" cy="16221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5" name="Text Box 27">
            <a:extLst>
              <a:ext uri="{FF2B5EF4-FFF2-40B4-BE49-F238E27FC236}">
                <a16:creationId xmlns:a16="http://schemas.microsoft.com/office/drawing/2014/main" id="{B087AFAB-7C65-874C-8F8F-3012C906099F}"/>
              </a:ext>
            </a:extLst>
          </p:cNvPr>
          <p:cNvSpPr txBox="1">
            <a:spLocks noChangeArrowheads="1"/>
          </p:cNvSpPr>
          <p:nvPr/>
        </p:nvSpPr>
        <p:spPr bwMode="auto">
          <a:xfrm>
            <a:off x="2818855" y="4556315"/>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3a</a:t>
            </a:r>
            <a:endParaRPr lang="en-US" kern="0" dirty="0">
              <a:solidFill>
                <a:srgbClr val="000000"/>
              </a:solidFill>
            </a:endParaRPr>
          </a:p>
        </p:txBody>
      </p:sp>
      <p:sp>
        <p:nvSpPr>
          <p:cNvPr id="156" name="Oval 28">
            <a:extLst>
              <a:ext uri="{FF2B5EF4-FFF2-40B4-BE49-F238E27FC236}">
                <a16:creationId xmlns:a16="http://schemas.microsoft.com/office/drawing/2014/main" id="{87CEC350-ADF1-E24F-A235-1A9B645EFA00}"/>
              </a:ext>
            </a:extLst>
          </p:cNvPr>
          <p:cNvSpPr>
            <a:spLocks noChangeArrowheads="1"/>
          </p:cNvSpPr>
          <p:nvPr/>
        </p:nvSpPr>
        <p:spPr bwMode="auto">
          <a:xfrm>
            <a:off x="3726950" y="5236125"/>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7" name="Line 29">
            <a:extLst>
              <a:ext uri="{FF2B5EF4-FFF2-40B4-BE49-F238E27FC236}">
                <a16:creationId xmlns:a16="http://schemas.microsoft.com/office/drawing/2014/main" id="{5782FBF4-093E-9947-AAA6-533CA371CD3F}"/>
              </a:ext>
            </a:extLst>
          </p:cNvPr>
          <p:cNvSpPr>
            <a:spLocks noChangeShapeType="1"/>
          </p:cNvSpPr>
          <p:nvPr/>
        </p:nvSpPr>
        <p:spPr bwMode="auto">
          <a:xfrm>
            <a:off x="3726950"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8" name="Line 30">
            <a:extLst>
              <a:ext uri="{FF2B5EF4-FFF2-40B4-BE49-F238E27FC236}">
                <a16:creationId xmlns:a16="http://schemas.microsoft.com/office/drawing/2014/main" id="{FA0971A2-9137-1943-A6F3-BD3716BCCBB6}"/>
              </a:ext>
            </a:extLst>
          </p:cNvPr>
          <p:cNvSpPr>
            <a:spLocks noChangeShapeType="1"/>
          </p:cNvSpPr>
          <p:nvPr/>
        </p:nvSpPr>
        <p:spPr bwMode="auto">
          <a:xfrm>
            <a:off x="4183917"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9" name="Rectangle 31">
            <a:extLst>
              <a:ext uri="{FF2B5EF4-FFF2-40B4-BE49-F238E27FC236}">
                <a16:creationId xmlns:a16="http://schemas.microsoft.com/office/drawing/2014/main" id="{FBE8FDDA-4B2E-BE4C-95BF-585222778ECA}"/>
              </a:ext>
            </a:extLst>
          </p:cNvPr>
          <p:cNvSpPr>
            <a:spLocks noChangeArrowheads="1"/>
          </p:cNvSpPr>
          <p:nvPr/>
        </p:nvSpPr>
        <p:spPr bwMode="auto">
          <a:xfrm>
            <a:off x="3726950" y="5227277"/>
            <a:ext cx="452588" cy="7078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60" name="Oval 32">
            <a:extLst>
              <a:ext uri="{FF2B5EF4-FFF2-40B4-BE49-F238E27FC236}">
                <a16:creationId xmlns:a16="http://schemas.microsoft.com/office/drawing/2014/main" id="{6DE39B5B-BD23-3044-9274-CFE1A3DFE64E}"/>
              </a:ext>
            </a:extLst>
          </p:cNvPr>
          <p:cNvSpPr>
            <a:spLocks noChangeArrowheads="1"/>
          </p:cNvSpPr>
          <p:nvPr/>
        </p:nvSpPr>
        <p:spPr bwMode="auto">
          <a:xfrm>
            <a:off x="3722570" y="5138799"/>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61" name="Group 33">
            <a:extLst>
              <a:ext uri="{FF2B5EF4-FFF2-40B4-BE49-F238E27FC236}">
                <a16:creationId xmlns:a16="http://schemas.microsoft.com/office/drawing/2014/main" id="{D6CD68FD-658B-EA4A-AFA2-F4EE9AE43DCA}"/>
              </a:ext>
            </a:extLst>
          </p:cNvPr>
          <p:cNvGrpSpPr>
            <a:grpSpLocks/>
          </p:cNvGrpSpPr>
          <p:nvPr/>
        </p:nvGrpSpPr>
        <p:grpSpPr bwMode="auto">
          <a:xfrm>
            <a:off x="3729870" y="5053269"/>
            <a:ext cx="452588" cy="398153"/>
            <a:chOff x="2899" y="2425"/>
            <a:chExt cx="319" cy="270"/>
          </a:xfrm>
        </p:grpSpPr>
        <p:sp>
          <p:nvSpPr>
            <p:cNvPr id="249" name="Rectangle 34">
              <a:extLst>
                <a:ext uri="{FF2B5EF4-FFF2-40B4-BE49-F238E27FC236}">
                  <a16:creationId xmlns:a16="http://schemas.microsoft.com/office/drawing/2014/main" id="{C85F8938-221C-6441-94A5-77506E21CEF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0" name="Text Box 35">
              <a:extLst>
                <a:ext uri="{FF2B5EF4-FFF2-40B4-BE49-F238E27FC236}">
                  <a16:creationId xmlns:a16="http://schemas.microsoft.com/office/drawing/2014/main" id="{430475AC-A5D0-EF4C-9180-A3E96828AD84}"/>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1c</a:t>
              </a:r>
            </a:p>
          </p:txBody>
        </p:sp>
      </p:grpSp>
      <p:sp>
        <p:nvSpPr>
          <p:cNvPr id="162" name="Line 36">
            <a:extLst>
              <a:ext uri="{FF2B5EF4-FFF2-40B4-BE49-F238E27FC236}">
                <a16:creationId xmlns:a16="http://schemas.microsoft.com/office/drawing/2014/main" id="{AF16B8FF-7450-3B46-865A-EC0F92A90E8F}"/>
              </a:ext>
            </a:extLst>
          </p:cNvPr>
          <p:cNvSpPr>
            <a:spLocks noChangeShapeType="1"/>
          </p:cNvSpPr>
          <p:nvPr/>
        </p:nvSpPr>
        <p:spPr bwMode="auto">
          <a:xfrm>
            <a:off x="6347578" y="4971418"/>
            <a:ext cx="449668" cy="1445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3" name="Line 37">
            <a:extLst>
              <a:ext uri="{FF2B5EF4-FFF2-40B4-BE49-F238E27FC236}">
                <a16:creationId xmlns:a16="http://schemas.microsoft.com/office/drawing/2014/main" id="{B705DAC1-A436-FC47-B3A5-64086AE0207E}"/>
              </a:ext>
            </a:extLst>
          </p:cNvPr>
          <p:cNvSpPr>
            <a:spLocks noChangeShapeType="1"/>
          </p:cNvSpPr>
          <p:nvPr/>
        </p:nvSpPr>
        <p:spPr bwMode="auto">
          <a:xfrm>
            <a:off x="6820605" y="4846819"/>
            <a:ext cx="132856" cy="17105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4" name="Line 38">
            <a:extLst>
              <a:ext uri="{FF2B5EF4-FFF2-40B4-BE49-F238E27FC236}">
                <a16:creationId xmlns:a16="http://schemas.microsoft.com/office/drawing/2014/main" id="{B646BCF5-2213-9142-8477-66C7DFEE38E7}"/>
              </a:ext>
            </a:extLst>
          </p:cNvPr>
          <p:cNvSpPr>
            <a:spLocks noChangeShapeType="1"/>
          </p:cNvSpPr>
          <p:nvPr/>
        </p:nvSpPr>
        <p:spPr bwMode="auto">
          <a:xfrm flipV="1">
            <a:off x="6248301" y="4781935"/>
            <a:ext cx="166435" cy="11207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5" name="Freeform 39">
            <a:extLst>
              <a:ext uri="{FF2B5EF4-FFF2-40B4-BE49-F238E27FC236}">
                <a16:creationId xmlns:a16="http://schemas.microsoft.com/office/drawing/2014/main" id="{1A359E4A-1EBE-234F-9DE9-E4FB43E18A2D}"/>
              </a:ext>
            </a:extLst>
          </p:cNvPr>
          <p:cNvSpPr>
            <a:spLocks/>
          </p:cNvSpPr>
          <p:nvPr/>
        </p:nvSpPr>
        <p:spPr bwMode="auto">
          <a:xfrm>
            <a:off x="42335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6" name="Freeform 40">
            <a:extLst>
              <a:ext uri="{FF2B5EF4-FFF2-40B4-BE49-F238E27FC236}">
                <a16:creationId xmlns:a16="http://schemas.microsoft.com/office/drawing/2014/main" id="{097126F1-D995-444D-8642-03F5F5E0DBAA}"/>
              </a:ext>
            </a:extLst>
          </p:cNvPr>
          <p:cNvSpPr>
            <a:spLocks/>
          </p:cNvSpPr>
          <p:nvPr/>
        </p:nvSpPr>
        <p:spPr bwMode="auto">
          <a:xfrm>
            <a:off x="35619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7" name="Freeform 41">
            <a:extLst>
              <a:ext uri="{FF2B5EF4-FFF2-40B4-BE49-F238E27FC236}">
                <a16:creationId xmlns:a16="http://schemas.microsoft.com/office/drawing/2014/main" id="{8FA74CA7-BEE7-3E46-BAFF-EC2177B4B95C}"/>
              </a:ext>
            </a:extLst>
          </p:cNvPr>
          <p:cNvSpPr>
            <a:spLocks/>
          </p:cNvSpPr>
          <p:nvPr/>
        </p:nvSpPr>
        <p:spPr bwMode="auto">
          <a:xfrm>
            <a:off x="37430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8" name="Freeform 42">
            <a:extLst>
              <a:ext uri="{FF2B5EF4-FFF2-40B4-BE49-F238E27FC236}">
                <a16:creationId xmlns:a16="http://schemas.microsoft.com/office/drawing/2014/main" id="{A5B0DFEC-B8A9-C34F-94A0-A4E2936DD8A8}"/>
              </a:ext>
            </a:extLst>
          </p:cNvPr>
          <p:cNvSpPr>
            <a:spLocks/>
          </p:cNvSpPr>
          <p:nvPr/>
        </p:nvSpPr>
        <p:spPr bwMode="auto">
          <a:xfrm>
            <a:off x="36524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9" name="Freeform 43">
            <a:extLst>
              <a:ext uri="{FF2B5EF4-FFF2-40B4-BE49-F238E27FC236}">
                <a16:creationId xmlns:a16="http://schemas.microsoft.com/office/drawing/2014/main" id="{698BCEC3-16FB-314C-831F-6D55ED13B108}"/>
              </a:ext>
            </a:extLst>
          </p:cNvPr>
          <p:cNvSpPr>
            <a:spLocks/>
          </p:cNvSpPr>
          <p:nvPr/>
        </p:nvSpPr>
        <p:spPr bwMode="auto">
          <a:xfrm>
            <a:off x="24465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0" name="Freeform 44">
            <a:extLst>
              <a:ext uri="{FF2B5EF4-FFF2-40B4-BE49-F238E27FC236}">
                <a16:creationId xmlns:a16="http://schemas.microsoft.com/office/drawing/2014/main" id="{8CB7EA9B-46A2-DA43-BD84-E5E548E767A3}"/>
              </a:ext>
            </a:extLst>
          </p:cNvPr>
          <p:cNvSpPr>
            <a:spLocks/>
          </p:cNvSpPr>
          <p:nvPr/>
        </p:nvSpPr>
        <p:spPr bwMode="auto">
          <a:xfrm>
            <a:off x="30831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1" name="Freeform 45">
            <a:extLst>
              <a:ext uri="{FF2B5EF4-FFF2-40B4-BE49-F238E27FC236}">
                <a16:creationId xmlns:a16="http://schemas.microsoft.com/office/drawing/2014/main" id="{7D4FB268-A169-0F4B-9C84-1ACD0524121A}"/>
              </a:ext>
            </a:extLst>
          </p:cNvPr>
          <p:cNvSpPr>
            <a:spLocks/>
          </p:cNvSpPr>
          <p:nvPr/>
        </p:nvSpPr>
        <p:spPr bwMode="auto">
          <a:xfrm>
            <a:off x="50160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2" name="Oval 46">
            <a:extLst>
              <a:ext uri="{FF2B5EF4-FFF2-40B4-BE49-F238E27FC236}">
                <a16:creationId xmlns:a16="http://schemas.microsoft.com/office/drawing/2014/main" id="{77EAE8E4-EF1C-944D-B5DF-947BBACAF6BC}"/>
              </a:ext>
            </a:extLst>
          </p:cNvPr>
          <p:cNvSpPr>
            <a:spLocks noChangeArrowheads="1"/>
          </p:cNvSpPr>
          <p:nvPr/>
        </p:nvSpPr>
        <p:spPr bwMode="auto">
          <a:xfrm>
            <a:off x="5890611" y="4936773"/>
            <a:ext cx="456967" cy="12092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3" name="Line 47">
            <a:extLst>
              <a:ext uri="{FF2B5EF4-FFF2-40B4-BE49-F238E27FC236}">
                <a16:creationId xmlns:a16="http://schemas.microsoft.com/office/drawing/2014/main" id="{7605033D-73A1-924E-99FE-EDD6125246F5}"/>
              </a:ext>
            </a:extLst>
          </p:cNvPr>
          <p:cNvSpPr>
            <a:spLocks noChangeShapeType="1"/>
          </p:cNvSpPr>
          <p:nvPr/>
        </p:nvSpPr>
        <p:spPr bwMode="auto">
          <a:xfrm>
            <a:off x="5890611"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4" name="Line 48">
            <a:extLst>
              <a:ext uri="{FF2B5EF4-FFF2-40B4-BE49-F238E27FC236}">
                <a16:creationId xmlns:a16="http://schemas.microsoft.com/office/drawing/2014/main" id="{DBC0B4AB-D0E3-C74F-9785-E25E20C244C4}"/>
              </a:ext>
            </a:extLst>
          </p:cNvPr>
          <p:cNvSpPr>
            <a:spLocks noChangeShapeType="1"/>
          </p:cNvSpPr>
          <p:nvPr/>
        </p:nvSpPr>
        <p:spPr bwMode="auto">
          <a:xfrm>
            <a:off x="6347578"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5" name="Rectangle 49">
            <a:extLst>
              <a:ext uri="{FF2B5EF4-FFF2-40B4-BE49-F238E27FC236}">
                <a16:creationId xmlns:a16="http://schemas.microsoft.com/office/drawing/2014/main" id="{592A5C53-BD83-384A-9C2D-08CEEB785BC8}"/>
              </a:ext>
            </a:extLst>
          </p:cNvPr>
          <p:cNvSpPr>
            <a:spLocks noChangeArrowheads="1"/>
          </p:cNvSpPr>
          <p:nvPr/>
        </p:nvSpPr>
        <p:spPr bwMode="auto">
          <a:xfrm>
            <a:off x="5890611" y="4924975"/>
            <a:ext cx="452588" cy="737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76" name="Oval 50">
            <a:extLst>
              <a:ext uri="{FF2B5EF4-FFF2-40B4-BE49-F238E27FC236}">
                <a16:creationId xmlns:a16="http://schemas.microsoft.com/office/drawing/2014/main" id="{5D02A58E-4F5A-EC40-B29A-0D5700D169BA}"/>
              </a:ext>
            </a:extLst>
          </p:cNvPr>
          <p:cNvSpPr>
            <a:spLocks noChangeArrowheads="1"/>
          </p:cNvSpPr>
          <p:nvPr/>
        </p:nvSpPr>
        <p:spPr bwMode="auto">
          <a:xfrm>
            <a:off x="5886231" y="4837972"/>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7" name="Rectangle 51">
            <a:extLst>
              <a:ext uri="{FF2B5EF4-FFF2-40B4-BE49-F238E27FC236}">
                <a16:creationId xmlns:a16="http://schemas.microsoft.com/office/drawing/2014/main" id="{A8B4ED51-5EBD-7A42-A070-7C85A13AFB2E}"/>
              </a:ext>
            </a:extLst>
          </p:cNvPr>
          <p:cNvSpPr>
            <a:spLocks noChangeArrowheads="1"/>
          </p:cNvSpPr>
          <p:nvPr/>
        </p:nvSpPr>
        <p:spPr bwMode="auto">
          <a:xfrm>
            <a:off x="6013247" y="4857142"/>
            <a:ext cx="205854" cy="17990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8" name="Text Box 52">
            <a:extLst>
              <a:ext uri="{FF2B5EF4-FFF2-40B4-BE49-F238E27FC236}">
                <a16:creationId xmlns:a16="http://schemas.microsoft.com/office/drawing/2014/main" id="{6864AE40-C653-554F-B5F5-7FCE890517DF}"/>
              </a:ext>
            </a:extLst>
          </p:cNvPr>
          <p:cNvSpPr txBox="1">
            <a:spLocks noChangeArrowheads="1"/>
          </p:cNvSpPr>
          <p:nvPr/>
        </p:nvSpPr>
        <p:spPr bwMode="auto">
          <a:xfrm>
            <a:off x="5887691" y="4761290"/>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2a</a:t>
            </a:r>
            <a:endParaRPr lang="en-US" kern="0" dirty="0">
              <a:solidFill>
                <a:srgbClr val="000000"/>
              </a:solidFill>
            </a:endParaRPr>
          </a:p>
        </p:txBody>
      </p:sp>
      <p:sp>
        <p:nvSpPr>
          <p:cNvPr id="179" name="Text Box 53">
            <a:extLst>
              <a:ext uri="{FF2B5EF4-FFF2-40B4-BE49-F238E27FC236}">
                <a16:creationId xmlns:a16="http://schemas.microsoft.com/office/drawing/2014/main" id="{9674ED05-1E44-A445-B61A-D179B03704BB}"/>
              </a:ext>
            </a:extLst>
          </p:cNvPr>
          <p:cNvSpPr txBox="1">
            <a:spLocks noChangeArrowheads="1"/>
          </p:cNvSpPr>
          <p:nvPr/>
        </p:nvSpPr>
        <p:spPr bwMode="auto">
          <a:xfrm>
            <a:off x="1840470" y="5215261"/>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AS3</a:t>
            </a:r>
            <a:endParaRPr lang="en-US" sz="1800" kern="0" dirty="0">
              <a:solidFill>
                <a:srgbClr val="000000"/>
              </a:solidFill>
            </a:endParaRPr>
          </a:p>
        </p:txBody>
      </p:sp>
      <p:sp>
        <p:nvSpPr>
          <p:cNvPr id="180" name="Text Box 54">
            <a:extLst>
              <a:ext uri="{FF2B5EF4-FFF2-40B4-BE49-F238E27FC236}">
                <a16:creationId xmlns:a16="http://schemas.microsoft.com/office/drawing/2014/main" id="{005A3212-FAC4-D446-8E0A-533A16ECE775}"/>
              </a:ext>
            </a:extLst>
          </p:cNvPr>
          <p:cNvSpPr txBox="1">
            <a:spLocks noChangeArrowheads="1"/>
          </p:cNvSpPr>
          <p:nvPr/>
        </p:nvSpPr>
        <p:spPr bwMode="auto">
          <a:xfrm>
            <a:off x="5345452" y="5839068"/>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AS1</a:t>
            </a:r>
            <a:endParaRPr lang="en-US" sz="1800" kern="0" dirty="0">
              <a:solidFill>
                <a:srgbClr val="000000"/>
              </a:solidFill>
            </a:endParaRPr>
          </a:p>
        </p:txBody>
      </p:sp>
      <p:sp>
        <p:nvSpPr>
          <p:cNvPr id="181" name="Text Box 55">
            <a:extLst>
              <a:ext uri="{FF2B5EF4-FFF2-40B4-BE49-F238E27FC236}">
                <a16:creationId xmlns:a16="http://schemas.microsoft.com/office/drawing/2014/main" id="{7DE50C34-9B18-1849-8D31-CE3E7E2F0717}"/>
              </a:ext>
            </a:extLst>
          </p:cNvPr>
          <p:cNvSpPr txBox="1">
            <a:spLocks noChangeArrowheads="1"/>
          </p:cNvSpPr>
          <p:nvPr/>
        </p:nvSpPr>
        <p:spPr bwMode="auto">
          <a:xfrm>
            <a:off x="7116511" y="5463035"/>
            <a:ext cx="616103"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1800" kern="0" dirty="0">
                <a:solidFill>
                  <a:srgbClr val="000000"/>
                </a:solidFill>
              </a:rPr>
              <a:t>AS2</a:t>
            </a:r>
          </a:p>
        </p:txBody>
      </p:sp>
      <p:sp>
        <p:nvSpPr>
          <p:cNvPr id="182" name="Oval 56">
            <a:extLst>
              <a:ext uri="{FF2B5EF4-FFF2-40B4-BE49-F238E27FC236}">
                <a16:creationId xmlns:a16="http://schemas.microsoft.com/office/drawing/2014/main" id="{4CAC6F24-F619-7E4B-9E0A-AF6FB0ECB08F}"/>
              </a:ext>
            </a:extLst>
          </p:cNvPr>
          <p:cNvSpPr>
            <a:spLocks noChangeArrowheads="1"/>
          </p:cNvSpPr>
          <p:nvPr/>
        </p:nvSpPr>
        <p:spPr bwMode="auto">
          <a:xfrm>
            <a:off x="3280202" y="554580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3" name="Line 57">
            <a:extLst>
              <a:ext uri="{FF2B5EF4-FFF2-40B4-BE49-F238E27FC236}">
                <a16:creationId xmlns:a16="http://schemas.microsoft.com/office/drawing/2014/main" id="{37706C00-5AFA-4E4F-AEE2-E86CBA64F507}"/>
              </a:ext>
            </a:extLst>
          </p:cNvPr>
          <p:cNvSpPr>
            <a:spLocks noChangeShapeType="1"/>
          </p:cNvSpPr>
          <p:nvPr/>
        </p:nvSpPr>
        <p:spPr bwMode="auto">
          <a:xfrm>
            <a:off x="3280202"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4" name="Line 58">
            <a:extLst>
              <a:ext uri="{FF2B5EF4-FFF2-40B4-BE49-F238E27FC236}">
                <a16:creationId xmlns:a16="http://schemas.microsoft.com/office/drawing/2014/main" id="{F53BFE68-5413-9042-B5B8-E870B9DF06EF}"/>
              </a:ext>
            </a:extLst>
          </p:cNvPr>
          <p:cNvSpPr>
            <a:spLocks noChangeShapeType="1"/>
          </p:cNvSpPr>
          <p:nvPr/>
        </p:nvSpPr>
        <p:spPr bwMode="auto">
          <a:xfrm>
            <a:off x="3738630"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5" name="Rectangle 59">
            <a:extLst>
              <a:ext uri="{FF2B5EF4-FFF2-40B4-BE49-F238E27FC236}">
                <a16:creationId xmlns:a16="http://schemas.microsoft.com/office/drawing/2014/main" id="{E66B86FC-0EE6-A646-BA10-BADF35B023EA}"/>
              </a:ext>
            </a:extLst>
          </p:cNvPr>
          <p:cNvSpPr>
            <a:spLocks noChangeArrowheads="1"/>
          </p:cNvSpPr>
          <p:nvPr/>
        </p:nvSpPr>
        <p:spPr bwMode="auto">
          <a:xfrm>
            <a:off x="3280202" y="5535477"/>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86" name="Oval 60">
            <a:extLst>
              <a:ext uri="{FF2B5EF4-FFF2-40B4-BE49-F238E27FC236}">
                <a16:creationId xmlns:a16="http://schemas.microsoft.com/office/drawing/2014/main" id="{E2C4F48E-C2B7-F040-A479-AD3AA9552BB4}"/>
              </a:ext>
            </a:extLst>
          </p:cNvPr>
          <p:cNvSpPr>
            <a:spLocks noChangeArrowheads="1"/>
          </p:cNvSpPr>
          <p:nvPr/>
        </p:nvSpPr>
        <p:spPr bwMode="auto">
          <a:xfrm>
            <a:off x="3275822" y="5455847"/>
            <a:ext cx="456967" cy="14156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7" name="Rectangle 61">
            <a:extLst>
              <a:ext uri="{FF2B5EF4-FFF2-40B4-BE49-F238E27FC236}">
                <a16:creationId xmlns:a16="http://schemas.microsoft.com/office/drawing/2014/main" id="{782B4D58-3187-1646-B67F-4472AD6DF18D}"/>
              </a:ext>
            </a:extLst>
          </p:cNvPr>
          <p:cNvSpPr>
            <a:spLocks noChangeArrowheads="1"/>
          </p:cNvSpPr>
          <p:nvPr/>
        </p:nvSpPr>
        <p:spPr bwMode="auto">
          <a:xfrm>
            <a:off x="3399919" y="5494187"/>
            <a:ext cx="207314" cy="14156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8" name="Text Box 62">
            <a:extLst>
              <a:ext uri="{FF2B5EF4-FFF2-40B4-BE49-F238E27FC236}">
                <a16:creationId xmlns:a16="http://schemas.microsoft.com/office/drawing/2014/main" id="{CEC455E8-C4B8-6444-936D-9F9CEE323826}"/>
              </a:ext>
            </a:extLst>
          </p:cNvPr>
          <p:cNvSpPr txBox="1">
            <a:spLocks noChangeArrowheads="1"/>
          </p:cNvSpPr>
          <p:nvPr/>
        </p:nvSpPr>
        <p:spPr bwMode="auto">
          <a:xfrm>
            <a:off x="3280202" y="5367368"/>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1a</a:t>
            </a:r>
            <a:endParaRPr lang="en-US" kern="0" dirty="0">
              <a:solidFill>
                <a:srgbClr val="000000"/>
              </a:solidFill>
            </a:endParaRPr>
          </a:p>
        </p:txBody>
      </p:sp>
      <p:grpSp>
        <p:nvGrpSpPr>
          <p:cNvPr id="189" name="Group 63">
            <a:extLst>
              <a:ext uri="{FF2B5EF4-FFF2-40B4-BE49-F238E27FC236}">
                <a16:creationId xmlns:a16="http://schemas.microsoft.com/office/drawing/2014/main" id="{8B168416-DE6F-9546-A33D-5DC186D755BF}"/>
              </a:ext>
            </a:extLst>
          </p:cNvPr>
          <p:cNvGrpSpPr>
            <a:grpSpLocks/>
          </p:cNvGrpSpPr>
          <p:nvPr/>
        </p:nvGrpSpPr>
        <p:grpSpPr bwMode="auto">
          <a:xfrm>
            <a:off x="6394297" y="4593181"/>
            <a:ext cx="461347" cy="396679"/>
            <a:chOff x="4320" y="1936"/>
            <a:chExt cx="316" cy="269"/>
          </a:xfrm>
        </p:grpSpPr>
        <p:sp>
          <p:nvSpPr>
            <p:cNvPr id="242" name="Oval 64">
              <a:extLst>
                <a:ext uri="{FF2B5EF4-FFF2-40B4-BE49-F238E27FC236}">
                  <a16:creationId xmlns:a16="http://schemas.microsoft.com/office/drawing/2014/main" id="{17477FF4-6D5F-744F-A7C6-65D539FF25C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3" name="Line 65">
              <a:extLst>
                <a:ext uri="{FF2B5EF4-FFF2-40B4-BE49-F238E27FC236}">
                  <a16:creationId xmlns:a16="http://schemas.microsoft.com/office/drawing/2014/main" id="{7681775B-D11F-204C-B161-6FEDD638731C}"/>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4" name="Line 66">
              <a:extLst>
                <a:ext uri="{FF2B5EF4-FFF2-40B4-BE49-F238E27FC236}">
                  <a16:creationId xmlns:a16="http://schemas.microsoft.com/office/drawing/2014/main" id="{C9C1462B-D75D-9043-BD36-C8666A0E3E76}"/>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5" name="Rectangle 67">
              <a:extLst>
                <a:ext uri="{FF2B5EF4-FFF2-40B4-BE49-F238E27FC236}">
                  <a16:creationId xmlns:a16="http://schemas.microsoft.com/office/drawing/2014/main" id="{D2A31C20-F821-2245-A13A-E48BBF035C90}"/>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6" name="Oval 68">
              <a:extLst>
                <a:ext uri="{FF2B5EF4-FFF2-40B4-BE49-F238E27FC236}">
                  <a16:creationId xmlns:a16="http://schemas.microsoft.com/office/drawing/2014/main" id="{E3B56467-2A6B-814A-A9D2-32B39DA9E2D8}"/>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7" name="Rectangle 69">
              <a:extLst>
                <a:ext uri="{FF2B5EF4-FFF2-40B4-BE49-F238E27FC236}">
                  <a16:creationId xmlns:a16="http://schemas.microsoft.com/office/drawing/2014/main" id="{4CCA8E7D-2AA0-DB42-8739-0E698AF3EF16}"/>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8" name="Text Box 70">
              <a:extLst>
                <a:ext uri="{FF2B5EF4-FFF2-40B4-BE49-F238E27FC236}">
                  <a16:creationId xmlns:a16="http://schemas.microsoft.com/office/drawing/2014/main" id="{B0E12A9A-8AC6-2C4B-B109-A569883BDF8B}"/>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2c</a:t>
              </a:r>
              <a:endParaRPr lang="en-US" kern="0" dirty="0">
                <a:solidFill>
                  <a:srgbClr val="000000"/>
                </a:solidFill>
              </a:endParaRPr>
            </a:p>
          </p:txBody>
        </p:sp>
      </p:grpSp>
      <p:grpSp>
        <p:nvGrpSpPr>
          <p:cNvPr id="190" name="Group 71">
            <a:extLst>
              <a:ext uri="{FF2B5EF4-FFF2-40B4-BE49-F238E27FC236}">
                <a16:creationId xmlns:a16="http://schemas.microsoft.com/office/drawing/2014/main" id="{21E7E3D0-5FA0-9646-84AD-FC33AA41FD3A}"/>
              </a:ext>
            </a:extLst>
          </p:cNvPr>
          <p:cNvGrpSpPr>
            <a:grpSpLocks/>
          </p:cNvGrpSpPr>
          <p:nvPr/>
        </p:nvGrpSpPr>
        <p:grpSpPr bwMode="auto">
          <a:xfrm>
            <a:off x="6797246" y="4920552"/>
            <a:ext cx="468647" cy="396679"/>
            <a:chOff x="4596" y="2158"/>
            <a:chExt cx="321" cy="269"/>
          </a:xfrm>
        </p:grpSpPr>
        <p:sp>
          <p:nvSpPr>
            <p:cNvPr id="235" name="Oval 72">
              <a:extLst>
                <a:ext uri="{FF2B5EF4-FFF2-40B4-BE49-F238E27FC236}">
                  <a16:creationId xmlns:a16="http://schemas.microsoft.com/office/drawing/2014/main" id="{5608D056-551C-0B44-A60B-A3E90AFB7DFB}"/>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6" name="Line 73">
              <a:extLst>
                <a:ext uri="{FF2B5EF4-FFF2-40B4-BE49-F238E27FC236}">
                  <a16:creationId xmlns:a16="http://schemas.microsoft.com/office/drawing/2014/main" id="{FA977711-B8B6-4247-BDAB-A3001746C4D4}"/>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7" name="Line 74">
              <a:extLst>
                <a:ext uri="{FF2B5EF4-FFF2-40B4-BE49-F238E27FC236}">
                  <a16:creationId xmlns:a16="http://schemas.microsoft.com/office/drawing/2014/main" id="{6CA75CE1-2E8D-0F48-8641-8C18C90BD88D}"/>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8" name="Rectangle 75">
              <a:extLst>
                <a:ext uri="{FF2B5EF4-FFF2-40B4-BE49-F238E27FC236}">
                  <a16:creationId xmlns:a16="http://schemas.microsoft.com/office/drawing/2014/main" id="{4ED73E8C-48F2-3A4F-B322-2CCB3CBA0862}"/>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9" name="Oval 76">
              <a:extLst>
                <a:ext uri="{FF2B5EF4-FFF2-40B4-BE49-F238E27FC236}">
                  <a16:creationId xmlns:a16="http://schemas.microsoft.com/office/drawing/2014/main" id="{6345CAD2-BEAC-0E49-9C80-9EB68603FE17}"/>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0" name="Rectangle 77">
              <a:extLst>
                <a:ext uri="{FF2B5EF4-FFF2-40B4-BE49-F238E27FC236}">
                  <a16:creationId xmlns:a16="http://schemas.microsoft.com/office/drawing/2014/main" id="{E1F2376F-3613-4042-A35F-DEE5F89C6C4C}"/>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1" name="Text Box 78">
              <a:extLst>
                <a:ext uri="{FF2B5EF4-FFF2-40B4-BE49-F238E27FC236}">
                  <a16:creationId xmlns:a16="http://schemas.microsoft.com/office/drawing/2014/main" id="{7C2657A7-4F00-3C45-AD0D-9FB7A649BB45}"/>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2b</a:t>
              </a:r>
              <a:endParaRPr lang="en-US" kern="0" dirty="0">
                <a:solidFill>
                  <a:srgbClr val="000000"/>
                </a:solidFill>
              </a:endParaRPr>
            </a:p>
          </p:txBody>
        </p:sp>
      </p:grpSp>
      <p:grpSp>
        <p:nvGrpSpPr>
          <p:cNvPr id="191" name="Group 79">
            <a:extLst>
              <a:ext uri="{FF2B5EF4-FFF2-40B4-BE49-F238E27FC236}">
                <a16:creationId xmlns:a16="http://schemas.microsoft.com/office/drawing/2014/main" id="{46AC6AA7-B51A-F140-B460-7AA4784A8771}"/>
              </a:ext>
            </a:extLst>
          </p:cNvPr>
          <p:cNvGrpSpPr>
            <a:grpSpLocks/>
          </p:cNvGrpSpPr>
          <p:nvPr/>
        </p:nvGrpSpPr>
        <p:grpSpPr bwMode="auto">
          <a:xfrm>
            <a:off x="4562047" y="5466169"/>
            <a:ext cx="468647" cy="396679"/>
            <a:chOff x="2015" y="1976"/>
            <a:chExt cx="321" cy="269"/>
          </a:xfrm>
        </p:grpSpPr>
        <p:sp>
          <p:nvSpPr>
            <p:cNvPr id="227" name="Oval 80">
              <a:extLst>
                <a:ext uri="{FF2B5EF4-FFF2-40B4-BE49-F238E27FC236}">
                  <a16:creationId xmlns:a16="http://schemas.microsoft.com/office/drawing/2014/main" id="{F0AF513D-168E-BC43-A87F-98530A7A7340}"/>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8" name="Line 81">
              <a:extLst>
                <a:ext uri="{FF2B5EF4-FFF2-40B4-BE49-F238E27FC236}">
                  <a16:creationId xmlns:a16="http://schemas.microsoft.com/office/drawing/2014/main" id="{98E003C3-39B5-AD4E-B694-FF067F96F0C8}"/>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9" name="Line 82">
              <a:extLst>
                <a:ext uri="{FF2B5EF4-FFF2-40B4-BE49-F238E27FC236}">
                  <a16:creationId xmlns:a16="http://schemas.microsoft.com/office/drawing/2014/main" id="{FD35A7A2-366B-1C41-BFC6-E12754C8019D}"/>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0" name="Rectangle 83">
              <a:extLst>
                <a:ext uri="{FF2B5EF4-FFF2-40B4-BE49-F238E27FC236}">
                  <a16:creationId xmlns:a16="http://schemas.microsoft.com/office/drawing/2014/main" id="{5442F6D1-04E0-A44F-8910-B76948571B99}"/>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1" name="Oval 84">
              <a:extLst>
                <a:ext uri="{FF2B5EF4-FFF2-40B4-BE49-F238E27FC236}">
                  <a16:creationId xmlns:a16="http://schemas.microsoft.com/office/drawing/2014/main" id="{7CE682FE-3948-5143-B692-07DEF21A92CD}"/>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32" name="Group 85">
              <a:extLst>
                <a:ext uri="{FF2B5EF4-FFF2-40B4-BE49-F238E27FC236}">
                  <a16:creationId xmlns:a16="http://schemas.microsoft.com/office/drawing/2014/main" id="{ACD8E934-A29C-E940-B27E-262F5DE7DCDF}"/>
                </a:ext>
              </a:extLst>
            </p:cNvPr>
            <p:cNvGrpSpPr>
              <a:grpSpLocks/>
            </p:cNvGrpSpPr>
            <p:nvPr/>
          </p:nvGrpSpPr>
          <p:grpSpPr bwMode="auto">
            <a:xfrm>
              <a:off x="2015" y="1976"/>
              <a:ext cx="321" cy="269"/>
              <a:chOff x="2894" y="2425"/>
              <a:chExt cx="328" cy="269"/>
            </a:xfrm>
          </p:grpSpPr>
          <p:sp>
            <p:nvSpPr>
              <p:cNvPr id="233" name="Rectangle 86">
                <a:extLst>
                  <a:ext uri="{FF2B5EF4-FFF2-40B4-BE49-F238E27FC236}">
                    <a16:creationId xmlns:a16="http://schemas.microsoft.com/office/drawing/2014/main" id="{6556355B-9BE3-D746-A820-E89A58911EF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4" name="Text Box 87">
                <a:extLst>
                  <a:ext uri="{FF2B5EF4-FFF2-40B4-BE49-F238E27FC236}">
                    <a16:creationId xmlns:a16="http://schemas.microsoft.com/office/drawing/2014/main" id="{87A983D3-02A0-4A4B-A676-14BB88EA3128}"/>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1b</a:t>
                </a:r>
                <a:endParaRPr lang="en-US" kern="0" dirty="0">
                  <a:solidFill>
                    <a:srgbClr val="000000"/>
                  </a:solidFill>
                </a:endParaRPr>
              </a:p>
            </p:txBody>
          </p:sp>
        </p:grpSp>
      </p:grpSp>
      <p:grpSp>
        <p:nvGrpSpPr>
          <p:cNvPr id="199" name="Group 99">
            <a:extLst>
              <a:ext uri="{FF2B5EF4-FFF2-40B4-BE49-F238E27FC236}">
                <a16:creationId xmlns:a16="http://schemas.microsoft.com/office/drawing/2014/main" id="{4C6CCD3C-47D1-7847-84AE-9A444B7FD9F9}"/>
              </a:ext>
            </a:extLst>
          </p:cNvPr>
          <p:cNvGrpSpPr>
            <a:grpSpLocks/>
          </p:cNvGrpSpPr>
          <p:nvPr/>
        </p:nvGrpSpPr>
        <p:grpSpPr bwMode="auto">
          <a:xfrm>
            <a:off x="2231951" y="4354289"/>
            <a:ext cx="461347" cy="396679"/>
            <a:chOff x="2016" y="1976"/>
            <a:chExt cx="316" cy="269"/>
          </a:xfrm>
        </p:grpSpPr>
        <p:sp>
          <p:nvSpPr>
            <p:cNvPr id="215" name="Oval 100">
              <a:extLst>
                <a:ext uri="{FF2B5EF4-FFF2-40B4-BE49-F238E27FC236}">
                  <a16:creationId xmlns:a16="http://schemas.microsoft.com/office/drawing/2014/main" id="{9CFFD192-2352-574C-A1F6-73C764467286}"/>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6" name="Line 101">
              <a:extLst>
                <a:ext uri="{FF2B5EF4-FFF2-40B4-BE49-F238E27FC236}">
                  <a16:creationId xmlns:a16="http://schemas.microsoft.com/office/drawing/2014/main" id="{AA179453-C4E3-E244-B9A9-11831D82618D}"/>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7" name="Line 102">
              <a:extLst>
                <a:ext uri="{FF2B5EF4-FFF2-40B4-BE49-F238E27FC236}">
                  <a16:creationId xmlns:a16="http://schemas.microsoft.com/office/drawing/2014/main" id="{1CE386C9-63A7-F044-A083-5284BFD15472}"/>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8" name="Rectangle 103">
              <a:extLst>
                <a:ext uri="{FF2B5EF4-FFF2-40B4-BE49-F238E27FC236}">
                  <a16:creationId xmlns:a16="http://schemas.microsoft.com/office/drawing/2014/main" id="{50227DAD-D708-784A-BD13-83429F1C25BE}"/>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19" name="Oval 104">
              <a:extLst>
                <a:ext uri="{FF2B5EF4-FFF2-40B4-BE49-F238E27FC236}">
                  <a16:creationId xmlns:a16="http://schemas.microsoft.com/office/drawing/2014/main" id="{6DA156B1-5FE9-414A-BB48-46A4A52B9073}"/>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20" name="Group 105">
              <a:extLst>
                <a:ext uri="{FF2B5EF4-FFF2-40B4-BE49-F238E27FC236}">
                  <a16:creationId xmlns:a16="http://schemas.microsoft.com/office/drawing/2014/main" id="{80512439-7B6B-C54B-82D0-66D0AB25D2A7}"/>
                </a:ext>
              </a:extLst>
            </p:cNvPr>
            <p:cNvGrpSpPr>
              <a:grpSpLocks/>
            </p:cNvGrpSpPr>
            <p:nvPr/>
          </p:nvGrpSpPr>
          <p:grpSpPr bwMode="auto">
            <a:xfrm>
              <a:off x="2020" y="1976"/>
              <a:ext cx="308" cy="269"/>
              <a:chOff x="2899" y="2425"/>
              <a:chExt cx="315" cy="269"/>
            </a:xfrm>
          </p:grpSpPr>
          <p:sp>
            <p:nvSpPr>
              <p:cNvPr id="221" name="Rectangle 106">
                <a:extLst>
                  <a:ext uri="{FF2B5EF4-FFF2-40B4-BE49-F238E27FC236}">
                    <a16:creationId xmlns:a16="http://schemas.microsoft.com/office/drawing/2014/main" id="{91098A50-7FC0-CB4E-9B97-2D7AE96D06C6}"/>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2" name="Text Box 107">
                <a:extLst>
                  <a:ext uri="{FF2B5EF4-FFF2-40B4-BE49-F238E27FC236}">
                    <a16:creationId xmlns:a16="http://schemas.microsoft.com/office/drawing/2014/main" id="{FBCF2ABD-1064-2947-85B9-C0D4E2616D8E}"/>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3c</a:t>
                </a:r>
                <a:endParaRPr lang="en-US" kern="0" dirty="0">
                  <a:solidFill>
                    <a:srgbClr val="000000"/>
                  </a:solidFill>
                </a:endParaRPr>
              </a:p>
            </p:txBody>
          </p:sp>
        </p:grpSp>
      </p:grpSp>
      <p:sp>
        <p:nvSpPr>
          <p:cNvPr id="200" name="Line 108">
            <a:extLst>
              <a:ext uri="{FF2B5EF4-FFF2-40B4-BE49-F238E27FC236}">
                <a16:creationId xmlns:a16="http://schemas.microsoft.com/office/drawing/2014/main" id="{47A25237-349D-A842-8706-F347B2434568}"/>
              </a:ext>
            </a:extLst>
          </p:cNvPr>
          <p:cNvSpPr>
            <a:spLocks noChangeShapeType="1"/>
          </p:cNvSpPr>
          <p:nvPr/>
        </p:nvSpPr>
        <p:spPr bwMode="auto">
          <a:xfrm flipH="1">
            <a:off x="2266990" y="4669862"/>
            <a:ext cx="90518" cy="1592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1" name="Line 109">
            <a:extLst>
              <a:ext uri="{FF2B5EF4-FFF2-40B4-BE49-F238E27FC236}">
                <a16:creationId xmlns:a16="http://schemas.microsoft.com/office/drawing/2014/main" id="{6A3F47BD-80C7-0747-85CB-F22F1B792701}"/>
              </a:ext>
            </a:extLst>
          </p:cNvPr>
          <p:cNvSpPr>
            <a:spLocks noChangeShapeType="1"/>
          </p:cNvSpPr>
          <p:nvPr/>
        </p:nvSpPr>
        <p:spPr bwMode="auto">
          <a:xfrm>
            <a:off x="1818783" y="4737696"/>
            <a:ext cx="211694"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2" name="Line 110">
            <a:extLst>
              <a:ext uri="{FF2B5EF4-FFF2-40B4-BE49-F238E27FC236}">
                <a16:creationId xmlns:a16="http://schemas.microsoft.com/office/drawing/2014/main" id="{6CB9126B-13F6-7D4E-B1DD-C7EB25541B07}"/>
              </a:ext>
            </a:extLst>
          </p:cNvPr>
          <p:cNvSpPr>
            <a:spLocks noChangeShapeType="1"/>
          </p:cNvSpPr>
          <p:nvPr/>
        </p:nvSpPr>
        <p:spPr bwMode="auto">
          <a:xfrm flipH="1">
            <a:off x="2547302" y="4214198"/>
            <a:ext cx="198555" cy="2241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3" name="Line 111">
            <a:extLst>
              <a:ext uri="{FF2B5EF4-FFF2-40B4-BE49-F238E27FC236}">
                <a16:creationId xmlns:a16="http://schemas.microsoft.com/office/drawing/2014/main" id="{22C33C4C-9469-EC40-8CEF-2C586DEC66C3}"/>
              </a:ext>
            </a:extLst>
          </p:cNvPr>
          <p:cNvSpPr>
            <a:spLocks noChangeShapeType="1"/>
          </p:cNvSpPr>
          <p:nvPr/>
        </p:nvSpPr>
        <p:spPr bwMode="auto">
          <a:xfrm>
            <a:off x="2139974" y="4200926"/>
            <a:ext cx="175195" cy="2624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4" name="Line 112">
            <a:extLst>
              <a:ext uri="{FF2B5EF4-FFF2-40B4-BE49-F238E27FC236}">
                <a16:creationId xmlns:a16="http://schemas.microsoft.com/office/drawing/2014/main" id="{4C48EF93-B210-4F4B-9854-165045A32FD0}"/>
              </a:ext>
            </a:extLst>
          </p:cNvPr>
          <p:cNvSpPr>
            <a:spLocks noChangeShapeType="1"/>
          </p:cNvSpPr>
          <p:nvPr/>
        </p:nvSpPr>
        <p:spPr bwMode="auto">
          <a:xfrm flipH="1">
            <a:off x="3103547" y="4338068"/>
            <a:ext cx="102197" cy="3037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5" name="Line 113">
            <a:extLst>
              <a:ext uri="{FF2B5EF4-FFF2-40B4-BE49-F238E27FC236}">
                <a16:creationId xmlns:a16="http://schemas.microsoft.com/office/drawing/2014/main" id="{EBEA8126-4CF3-3A41-ABAC-D142E166341E}"/>
              </a:ext>
            </a:extLst>
          </p:cNvPr>
          <p:cNvSpPr>
            <a:spLocks noChangeShapeType="1"/>
          </p:cNvSpPr>
          <p:nvPr/>
        </p:nvSpPr>
        <p:spPr bwMode="auto">
          <a:xfrm>
            <a:off x="7246913" y="5100458"/>
            <a:ext cx="32411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6" name="Line 114">
            <a:extLst>
              <a:ext uri="{FF2B5EF4-FFF2-40B4-BE49-F238E27FC236}">
                <a16:creationId xmlns:a16="http://schemas.microsoft.com/office/drawing/2014/main" id="{9F42B725-C1EB-5648-AA83-55F576D99A64}"/>
              </a:ext>
            </a:extLst>
          </p:cNvPr>
          <p:cNvSpPr>
            <a:spLocks noChangeShapeType="1"/>
          </p:cNvSpPr>
          <p:nvPr/>
        </p:nvSpPr>
        <p:spPr bwMode="auto">
          <a:xfrm flipV="1">
            <a:off x="7160776" y="4638895"/>
            <a:ext cx="382509" cy="3745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7" name="Line 115">
            <a:extLst>
              <a:ext uri="{FF2B5EF4-FFF2-40B4-BE49-F238E27FC236}">
                <a16:creationId xmlns:a16="http://schemas.microsoft.com/office/drawing/2014/main" id="{257DE23D-92D6-6B48-8933-BB087A4B7F3B}"/>
              </a:ext>
            </a:extLst>
          </p:cNvPr>
          <p:cNvSpPr>
            <a:spLocks noChangeShapeType="1"/>
          </p:cNvSpPr>
          <p:nvPr/>
        </p:nvSpPr>
        <p:spPr bwMode="auto">
          <a:xfrm flipH="1" flipV="1">
            <a:off x="6356338" y="4388206"/>
            <a:ext cx="185415" cy="2978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8" name="Line 116">
            <a:extLst>
              <a:ext uri="{FF2B5EF4-FFF2-40B4-BE49-F238E27FC236}">
                <a16:creationId xmlns:a16="http://schemas.microsoft.com/office/drawing/2014/main" id="{3008FEDF-B989-AD47-B8DC-811C63A78E62}"/>
              </a:ext>
            </a:extLst>
          </p:cNvPr>
          <p:cNvSpPr>
            <a:spLocks noChangeShapeType="1"/>
          </p:cNvSpPr>
          <p:nvPr/>
        </p:nvSpPr>
        <p:spPr bwMode="auto">
          <a:xfrm flipH="1" flipV="1">
            <a:off x="5900830" y="4538619"/>
            <a:ext cx="198555" cy="2728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9" name="Line 117">
            <a:extLst>
              <a:ext uri="{FF2B5EF4-FFF2-40B4-BE49-F238E27FC236}">
                <a16:creationId xmlns:a16="http://schemas.microsoft.com/office/drawing/2014/main" id="{7072AB1C-E687-5F42-AD97-F842F241CC4D}"/>
              </a:ext>
            </a:extLst>
          </p:cNvPr>
          <p:cNvSpPr>
            <a:spLocks noChangeShapeType="1"/>
          </p:cNvSpPr>
          <p:nvPr/>
        </p:nvSpPr>
        <p:spPr bwMode="auto">
          <a:xfrm flipH="1">
            <a:off x="3141506" y="5637228"/>
            <a:ext cx="197095" cy="1725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0" name="Line 118">
            <a:extLst>
              <a:ext uri="{FF2B5EF4-FFF2-40B4-BE49-F238E27FC236}">
                <a16:creationId xmlns:a16="http://schemas.microsoft.com/office/drawing/2014/main" id="{368439BD-38EC-0F4F-AB79-71712E1AE097}"/>
              </a:ext>
            </a:extLst>
          </p:cNvPr>
          <p:cNvSpPr>
            <a:spLocks noChangeShapeType="1"/>
          </p:cNvSpPr>
          <p:nvPr/>
        </p:nvSpPr>
        <p:spPr bwMode="auto">
          <a:xfrm flipH="1" flipV="1">
            <a:off x="3091868" y="5488289"/>
            <a:ext cx="185415" cy="117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1" name="Line 119">
            <a:extLst>
              <a:ext uri="{FF2B5EF4-FFF2-40B4-BE49-F238E27FC236}">
                <a16:creationId xmlns:a16="http://schemas.microsoft.com/office/drawing/2014/main" id="{05F4047A-FA71-B345-8F4D-7557CE9C3159}"/>
              </a:ext>
            </a:extLst>
          </p:cNvPr>
          <p:cNvSpPr>
            <a:spLocks noChangeShapeType="1"/>
          </p:cNvSpPr>
          <p:nvPr/>
        </p:nvSpPr>
        <p:spPr bwMode="auto">
          <a:xfrm flipH="1">
            <a:off x="3487517" y="5887917"/>
            <a:ext cx="309511" cy="22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2" name="Line 120">
            <a:extLst>
              <a:ext uri="{FF2B5EF4-FFF2-40B4-BE49-F238E27FC236}">
                <a16:creationId xmlns:a16="http://schemas.microsoft.com/office/drawing/2014/main" id="{00691E04-3135-5045-8A22-A3445401A5C1}"/>
              </a:ext>
            </a:extLst>
          </p:cNvPr>
          <p:cNvSpPr>
            <a:spLocks noChangeShapeType="1"/>
          </p:cNvSpPr>
          <p:nvPr/>
        </p:nvSpPr>
        <p:spPr bwMode="auto">
          <a:xfrm flipV="1">
            <a:off x="4192677" y="5212531"/>
            <a:ext cx="334331" cy="147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3" name="Line 121">
            <a:extLst>
              <a:ext uri="{FF2B5EF4-FFF2-40B4-BE49-F238E27FC236}">
                <a16:creationId xmlns:a16="http://schemas.microsoft.com/office/drawing/2014/main" id="{C2D8B9BD-B900-B448-8B0A-9B6A048DBB86}"/>
              </a:ext>
            </a:extLst>
          </p:cNvPr>
          <p:cNvSpPr>
            <a:spLocks noChangeShapeType="1"/>
          </p:cNvSpPr>
          <p:nvPr/>
        </p:nvSpPr>
        <p:spPr bwMode="auto">
          <a:xfrm>
            <a:off x="4859879" y="5762572"/>
            <a:ext cx="173735"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4" name="Line 122">
            <a:extLst>
              <a:ext uri="{FF2B5EF4-FFF2-40B4-BE49-F238E27FC236}">
                <a16:creationId xmlns:a16="http://schemas.microsoft.com/office/drawing/2014/main" id="{EA45D5A9-0BF3-874E-B10C-996FD8308B65}"/>
              </a:ext>
            </a:extLst>
          </p:cNvPr>
          <p:cNvSpPr>
            <a:spLocks noChangeShapeType="1"/>
          </p:cNvSpPr>
          <p:nvPr/>
        </p:nvSpPr>
        <p:spPr bwMode="auto">
          <a:xfrm>
            <a:off x="4156178" y="5324603"/>
            <a:ext cx="211694" cy="1105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82" name="Group 281">
            <a:extLst>
              <a:ext uri="{FF2B5EF4-FFF2-40B4-BE49-F238E27FC236}">
                <a16:creationId xmlns:a16="http://schemas.microsoft.com/office/drawing/2014/main" id="{AA6A0761-EFD0-B448-950E-18DB9794940F}"/>
              </a:ext>
            </a:extLst>
          </p:cNvPr>
          <p:cNvGrpSpPr/>
          <p:nvPr/>
        </p:nvGrpSpPr>
        <p:grpSpPr>
          <a:xfrm>
            <a:off x="1778696" y="3924256"/>
            <a:ext cx="5968456" cy="2124592"/>
            <a:chOff x="3175544" y="3748892"/>
            <a:chExt cx="5968456" cy="2124592"/>
          </a:xfrm>
        </p:grpSpPr>
        <p:grpSp>
          <p:nvGrpSpPr>
            <p:cNvPr id="264" name="Group 263">
              <a:extLst>
                <a:ext uri="{FF2B5EF4-FFF2-40B4-BE49-F238E27FC236}">
                  <a16:creationId xmlns:a16="http://schemas.microsoft.com/office/drawing/2014/main" id="{759DD332-1646-744E-B0B3-D290BCF0ED64}"/>
                </a:ext>
              </a:extLst>
            </p:cNvPr>
            <p:cNvGrpSpPr/>
            <p:nvPr/>
          </p:nvGrpSpPr>
          <p:grpSpPr>
            <a:xfrm>
              <a:off x="3175544" y="3748892"/>
              <a:ext cx="1609399" cy="1316010"/>
              <a:chOff x="3188070" y="3748892"/>
              <a:chExt cx="1609399" cy="1316010"/>
            </a:xfrm>
          </p:grpSpPr>
          <p:sp>
            <p:nvSpPr>
              <p:cNvPr id="253" name="Freeform 4">
                <a:extLst>
                  <a:ext uri="{FF2B5EF4-FFF2-40B4-BE49-F238E27FC236}">
                    <a16:creationId xmlns:a16="http://schemas.microsoft.com/office/drawing/2014/main" id="{B1786030-A05C-3C4B-90A8-A5DA8E673523}"/>
                  </a:ext>
                </a:extLst>
              </p:cNvPr>
              <p:cNvSpPr>
                <a:spLocks/>
              </p:cNvSpPr>
              <p:nvPr/>
            </p:nvSpPr>
            <p:spPr bwMode="auto">
              <a:xfrm>
                <a:off x="3188070" y="3748892"/>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63" name="Group 262">
                <a:extLst>
                  <a:ext uri="{FF2B5EF4-FFF2-40B4-BE49-F238E27FC236}">
                    <a16:creationId xmlns:a16="http://schemas.microsoft.com/office/drawing/2014/main" id="{2A2171EC-FE7C-D541-B23A-F748C585D569}"/>
                  </a:ext>
                </a:extLst>
              </p:cNvPr>
              <p:cNvGrpSpPr/>
              <p:nvPr/>
            </p:nvGrpSpPr>
            <p:grpSpPr>
              <a:xfrm>
                <a:off x="3323010" y="3984960"/>
                <a:ext cx="1290181" cy="895439"/>
                <a:chOff x="2145563" y="2093530"/>
                <a:chExt cx="1290181" cy="895439"/>
              </a:xfrm>
            </p:grpSpPr>
            <p:sp>
              <p:nvSpPr>
                <p:cNvPr id="4" name="TextBox 3">
                  <a:extLst>
                    <a:ext uri="{FF2B5EF4-FFF2-40B4-BE49-F238E27FC236}">
                      <a16:creationId xmlns:a16="http://schemas.microsoft.com/office/drawing/2014/main" id="{6723594D-379C-E642-A5A9-5C895D3CFBCB}"/>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8" name="Oval 7">
                  <a:extLst>
                    <a:ext uri="{FF2B5EF4-FFF2-40B4-BE49-F238E27FC236}">
                      <a16:creationId xmlns:a16="http://schemas.microsoft.com/office/drawing/2014/main" id="{2472BBF8-088B-A449-9470-EBB3D14828B2}"/>
                    </a:ext>
                  </a:extLst>
                </p:cNvPr>
                <p:cNvSpPr/>
                <p:nvPr/>
              </p:nvSpPr>
              <p:spPr>
                <a:xfrm>
                  <a:off x="2145563"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6" name="Rectangle 255">
                  <a:extLst>
                    <a:ext uri="{FF2B5EF4-FFF2-40B4-BE49-F238E27FC236}">
                      <a16:creationId xmlns:a16="http://schemas.microsoft.com/office/drawing/2014/main" id="{0100B31F-13F0-1E46-B425-81FB4EF4CED2}"/>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58" name="Straight Arrow Connector 257">
                  <a:extLst>
                    <a:ext uri="{FF2B5EF4-FFF2-40B4-BE49-F238E27FC236}">
                      <a16:creationId xmlns:a16="http://schemas.microsoft.com/office/drawing/2014/main" id="{E47A0939-C51B-A042-A7CC-F4275B61338E}"/>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73" name="Group 272">
              <a:extLst>
                <a:ext uri="{FF2B5EF4-FFF2-40B4-BE49-F238E27FC236}">
                  <a16:creationId xmlns:a16="http://schemas.microsoft.com/office/drawing/2014/main" id="{F59F95CB-2AFB-954F-A034-BBA60D5D4EF0}"/>
                </a:ext>
              </a:extLst>
            </p:cNvPr>
            <p:cNvGrpSpPr/>
            <p:nvPr/>
          </p:nvGrpSpPr>
          <p:grpSpPr>
            <a:xfrm>
              <a:off x="4345585" y="4779701"/>
              <a:ext cx="2744147" cy="1093783"/>
              <a:chOff x="4345585" y="4779701"/>
              <a:chExt cx="2744147" cy="1093783"/>
            </a:xfrm>
          </p:grpSpPr>
          <p:sp>
            <p:nvSpPr>
              <p:cNvPr id="254" name="Freeform 5">
                <a:extLst>
                  <a:ext uri="{FF2B5EF4-FFF2-40B4-BE49-F238E27FC236}">
                    <a16:creationId xmlns:a16="http://schemas.microsoft.com/office/drawing/2014/main" id="{0F89B688-4E67-2344-8F6E-D25D73FDDC05}"/>
                  </a:ext>
                </a:extLst>
              </p:cNvPr>
              <p:cNvSpPr>
                <a:spLocks/>
              </p:cNvSpPr>
              <p:nvPr/>
            </p:nvSpPr>
            <p:spPr bwMode="auto">
              <a:xfrm>
                <a:off x="4345585" y="4779701"/>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67" name="Group 266">
                <a:extLst>
                  <a:ext uri="{FF2B5EF4-FFF2-40B4-BE49-F238E27FC236}">
                    <a16:creationId xmlns:a16="http://schemas.microsoft.com/office/drawing/2014/main" id="{48016CA7-C957-1C4D-A120-A23AF9524D91}"/>
                  </a:ext>
                </a:extLst>
              </p:cNvPr>
              <p:cNvGrpSpPr/>
              <p:nvPr/>
            </p:nvGrpSpPr>
            <p:grpSpPr>
              <a:xfrm>
                <a:off x="4915903" y="4888922"/>
                <a:ext cx="1290181" cy="895439"/>
                <a:chOff x="2158089" y="2093530"/>
                <a:chExt cx="1290181" cy="895439"/>
              </a:xfrm>
            </p:grpSpPr>
            <p:sp>
              <p:nvSpPr>
                <p:cNvPr id="268" name="TextBox 267">
                  <a:extLst>
                    <a:ext uri="{FF2B5EF4-FFF2-40B4-BE49-F238E27FC236}">
                      <a16:creationId xmlns:a16="http://schemas.microsoft.com/office/drawing/2014/main" id="{3AB46CFF-D2D9-204B-8D26-6EBD60AC189A}"/>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269" name="Oval 268">
                  <a:extLst>
                    <a:ext uri="{FF2B5EF4-FFF2-40B4-BE49-F238E27FC236}">
                      <a16:creationId xmlns:a16="http://schemas.microsoft.com/office/drawing/2014/main" id="{62F828E9-D5D5-A845-92F1-06245C1556E7}"/>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ectangle 269">
                  <a:extLst>
                    <a:ext uri="{FF2B5EF4-FFF2-40B4-BE49-F238E27FC236}">
                      <a16:creationId xmlns:a16="http://schemas.microsoft.com/office/drawing/2014/main" id="{DF703CA7-434F-3941-821C-59863FBA7287}"/>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71" name="Straight Arrow Connector 270">
                  <a:extLst>
                    <a:ext uri="{FF2B5EF4-FFF2-40B4-BE49-F238E27FC236}">
                      <a16:creationId xmlns:a16="http://schemas.microsoft.com/office/drawing/2014/main" id="{4E454930-4E41-434B-860E-CAB25B708B4C}"/>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81" name="Group 280">
              <a:extLst>
                <a:ext uri="{FF2B5EF4-FFF2-40B4-BE49-F238E27FC236}">
                  <a16:creationId xmlns:a16="http://schemas.microsoft.com/office/drawing/2014/main" id="{E2F34647-CA92-A545-AFCE-B82A0FF135E5}"/>
                </a:ext>
              </a:extLst>
            </p:cNvPr>
            <p:cNvGrpSpPr/>
            <p:nvPr/>
          </p:nvGrpSpPr>
          <p:grpSpPr>
            <a:xfrm>
              <a:off x="6989573" y="3977477"/>
              <a:ext cx="2154427" cy="1384541"/>
              <a:chOff x="6989573" y="3977477"/>
              <a:chExt cx="2154427" cy="1384541"/>
            </a:xfrm>
          </p:grpSpPr>
          <p:sp>
            <p:nvSpPr>
              <p:cNvPr id="255" name="Freeform 3">
                <a:extLst>
                  <a:ext uri="{FF2B5EF4-FFF2-40B4-BE49-F238E27FC236}">
                    <a16:creationId xmlns:a16="http://schemas.microsoft.com/office/drawing/2014/main" id="{1536733F-1420-C242-99F9-B2C1A846C638}"/>
                  </a:ext>
                </a:extLst>
              </p:cNvPr>
              <p:cNvSpPr>
                <a:spLocks/>
              </p:cNvSpPr>
              <p:nvPr/>
            </p:nvSpPr>
            <p:spPr bwMode="auto">
              <a:xfrm>
                <a:off x="6989573" y="3977477"/>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76" name="Group 275">
                <a:extLst>
                  <a:ext uri="{FF2B5EF4-FFF2-40B4-BE49-F238E27FC236}">
                    <a16:creationId xmlns:a16="http://schemas.microsoft.com/office/drawing/2014/main" id="{92ED2415-587F-4B43-864E-2DFBFD8318B6}"/>
                  </a:ext>
                </a:extLst>
              </p:cNvPr>
              <p:cNvGrpSpPr/>
              <p:nvPr/>
            </p:nvGrpSpPr>
            <p:grpSpPr>
              <a:xfrm>
                <a:off x="7396057" y="4300199"/>
                <a:ext cx="1290181" cy="895439"/>
                <a:chOff x="2158089" y="2093530"/>
                <a:chExt cx="1290181" cy="895439"/>
              </a:xfrm>
            </p:grpSpPr>
            <p:sp>
              <p:nvSpPr>
                <p:cNvPr id="277" name="TextBox 276">
                  <a:extLst>
                    <a:ext uri="{FF2B5EF4-FFF2-40B4-BE49-F238E27FC236}">
                      <a16:creationId xmlns:a16="http://schemas.microsoft.com/office/drawing/2014/main" id="{5E266E0C-04F2-274C-A906-0CE2714D9E26}"/>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278" name="Oval 277">
                  <a:extLst>
                    <a:ext uri="{FF2B5EF4-FFF2-40B4-BE49-F238E27FC236}">
                      <a16:creationId xmlns:a16="http://schemas.microsoft.com/office/drawing/2014/main" id="{AF109F00-AEAA-434C-BBF7-9540A765DEAD}"/>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ectangle 278">
                  <a:extLst>
                    <a:ext uri="{FF2B5EF4-FFF2-40B4-BE49-F238E27FC236}">
                      <a16:creationId xmlns:a16="http://schemas.microsoft.com/office/drawing/2014/main" id="{BC93F16D-2C1A-E249-87B4-695F781B3787}"/>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80" name="Straight Arrow Connector 279">
                  <a:extLst>
                    <a:ext uri="{FF2B5EF4-FFF2-40B4-BE49-F238E27FC236}">
                      <a16:creationId xmlns:a16="http://schemas.microsoft.com/office/drawing/2014/main" id="{BF12078B-FFCB-5B4D-96D9-6482BC5DACC1}"/>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grpSp>
        <p:nvGrpSpPr>
          <p:cNvPr id="312" name="Group 311">
            <a:extLst>
              <a:ext uri="{FF2B5EF4-FFF2-40B4-BE49-F238E27FC236}">
                <a16:creationId xmlns:a16="http://schemas.microsoft.com/office/drawing/2014/main" id="{78E22769-1D43-5840-8394-0FE0463D5740}"/>
              </a:ext>
            </a:extLst>
          </p:cNvPr>
          <p:cNvGrpSpPr/>
          <p:nvPr/>
        </p:nvGrpSpPr>
        <p:grpSpPr>
          <a:xfrm>
            <a:off x="1812296" y="3939436"/>
            <a:ext cx="5968456" cy="2124592"/>
            <a:chOff x="3202684" y="3763506"/>
            <a:chExt cx="5968456" cy="2124592"/>
          </a:xfrm>
        </p:grpSpPr>
        <p:grpSp>
          <p:nvGrpSpPr>
            <p:cNvPr id="310" name="Group 309">
              <a:extLst>
                <a:ext uri="{FF2B5EF4-FFF2-40B4-BE49-F238E27FC236}">
                  <a16:creationId xmlns:a16="http://schemas.microsoft.com/office/drawing/2014/main" id="{744E07CE-3F29-2C44-A38C-A63250BD37CA}"/>
                </a:ext>
              </a:extLst>
            </p:cNvPr>
            <p:cNvGrpSpPr/>
            <p:nvPr/>
          </p:nvGrpSpPr>
          <p:grpSpPr>
            <a:xfrm>
              <a:off x="3202684" y="3763506"/>
              <a:ext cx="5968456" cy="2124592"/>
              <a:chOff x="2563856" y="-1509951"/>
              <a:chExt cx="5968456" cy="2124592"/>
            </a:xfrm>
          </p:grpSpPr>
          <p:sp>
            <p:nvSpPr>
              <p:cNvPr id="304" name="Freeform 4">
                <a:extLst>
                  <a:ext uri="{FF2B5EF4-FFF2-40B4-BE49-F238E27FC236}">
                    <a16:creationId xmlns:a16="http://schemas.microsoft.com/office/drawing/2014/main" id="{D30911A6-6911-094B-927D-A42ABA72DF40}"/>
                  </a:ext>
                </a:extLst>
              </p:cNvPr>
              <p:cNvSpPr>
                <a:spLocks/>
              </p:cNvSpPr>
              <p:nvPr/>
            </p:nvSpPr>
            <p:spPr bwMode="auto">
              <a:xfrm>
                <a:off x="2563856" y="-1509951"/>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8" name="Freeform 5">
                <a:extLst>
                  <a:ext uri="{FF2B5EF4-FFF2-40B4-BE49-F238E27FC236}">
                    <a16:creationId xmlns:a16="http://schemas.microsoft.com/office/drawing/2014/main" id="{5CB4E5C1-2135-4947-936C-2E606AB35C41}"/>
                  </a:ext>
                </a:extLst>
              </p:cNvPr>
              <p:cNvSpPr>
                <a:spLocks/>
              </p:cNvSpPr>
              <p:nvPr/>
            </p:nvSpPr>
            <p:spPr bwMode="auto">
              <a:xfrm>
                <a:off x="3733897" y="-479142"/>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2" name="Freeform 3">
                <a:extLst>
                  <a:ext uri="{FF2B5EF4-FFF2-40B4-BE49-F238E27FC236}">
                    <a16:creationId xmlns:a16="http://schemas.microsoft.com/office/drawing/2014/main" id="{17419CA7-50EA-4644-BAD8-E64BA60CCA3E}"/>
                  </a:ext>
                </a:extLst>
              </p:cNvPr>
              <p:cNvSpPr>
                <a:spLocks/>
              </p:cNvSpPr>
              <p:nvPr/>
            </p:nvSpPr>
            <p:spPr bwMode="auto">
              <a:xfrm>
                <a:off x="6377885" y="-1281366"/>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cxnSp>
            <p:nvCxnSpPr>
              <p:cNvPr id="284" name="Straight Arrow Connector 283">
                <a:extLst>
                  <a:ext uri="{FF2B5EF4-FFF2-40B4-BE49-F238E27FC236}">
                    <a16:creationId xmlns:a16="http://schemas.microsoft.com/office/drawing/2014/main" id="{D9F899E2-41E6-F644-9D09-629032DFBB9F}"/>
                  </a:ext>
                </a:extLst>
              </p:cNvPr>
              <p:cNvCxnSpPr>
                <a:cxnSpLocks/>
              </p:cNvCxnSpPr>
              <p:nvPr/>
            </p:nvCxnSpPr>
            <p:spPr>
              <a:xfrm flipV="1">
                <a:off x="5824603" y="-501042"/>
                <a:ext cx="814192" cy="501042"/>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86" name="Straight Arrow Connector 285">
                <a:extLst>
                  <a:ext uri="{FF2B5EF4-FFF2-40B4-BE49-F238E27FC236}">
                    <a16:creationId xmlns:a16="http://schemas.microsoft.com/office/drawing/2014/main" id="{498B5083-E95A-D548-919E-B088084EACD8}"/>
                  </a:ext>
                </a:extLst>
              </p:cNvPr>
              <p:cNvCxnSpPr>
                <a:cxnSpLocks/>
              </p:cNvCxnSpPr>
              <p:nvPr/>
            </p:nvCxnSpPr>
            <p:spPr>
              <a:xfrm>
                <a:off x="4010416" y="-711896"/>
                <a:ext cx="724423" cy="436323"/>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311" name="TextBox 310">
              <a:extLst>
                <a:ext uri="{FF2B5EF4-FFF2-40B4-BE49-F238E27FC236}">
                  <a16:creationId xmlns:a16="http://schemas.microsoft.com/office/drawing/2014/main" id="{B03A980E-CDF4-394B-8ACB-E178989326AD}"/>
                </a:ext>
              </a:extLst>
            </p:cNvPr>
            <p:cNvSpPr txBox="1"/>
            <p:nvPr/>
          </p:nvSpPr>
          <p:spPr>
            <a:xfrm>
              <a:off x="4935255" y="4346532"/>
              <a:ext cx="2217106" cy="461665"/>
            </a:xfrm>
            <a:prstGeom prst="rect">
              <a:avLst/>
            </a:prstGeom>
            <a:noFill/>
          </p:spPr>
          <p:txBody>
            <a:bodyPr wrap="square" rtlCol="0">
              <a:spAutoFit/>
            </a:bodyPr>
            <a:lstStyle/>
            <a:p>
              <a:r>
                <a:rPr lang="en-US" sz="2400" dirty="0">
                  <a:solidFill>
                    <a:srgbClr val="C00000"/>
                  </a:solidFill>
                </a:rPr>
                <a:t>inter-AS routing</a:t>
              </a:r>
            </a:p>
          </p:txBody>
        </p:sp>
      </p:grpSp>
      <p:grpSp>
        <p:nvGrpSpPr>
          <p:cNvPr id="313" name="Group 312">
            <a:extLst>
              <a:ext uri="{FF2B5EF4-FFF2-40B4-BE49-F238E27FC236}">
                <a16:creationId xmlns:a16="http://schemas.microsoft.com/office/drawing/2014/main" id="{AFDBFFAE-83D8-D74E-B3C9-F3CDF234CDF3}"/>
              </a:ext>
            </a:extLst>
          </p:cNvPr>
          <p:cNvGrpSpPr/>
          <p:nvPr/>
        </p:nvGrpSpPr>
        <p:grpSpPr>
          <a:xfrm>
            <a:off x="3723768" y="1866380"/>
            <a:ext cx="2334629" cy="3331019"/>
            <a:chOff x="5176788" y="1691016"/>
            <a:chExt cx="2334629" cy="3331019"/>
          </a:xfrm>
        </p:grpSpPr>
        <p:sp>
          <p:nvSpPr>
            <p:cNvPr id="314" name="Freeform 313">
              <a:extLst>
                <a:ext uri="{FF2B5EF4-FFF2-40B4-BE49-F238E27FC236}">
                  <a16:creationId xmlns:a16="http://schemas.microsoft.com/office/drawing/2014/main" id="{DA2EECEA-6E2F-594A-A168-0AF941E524C3}"/>
                </a:ext>
              </a:extLst>
            </p:cNvPr>
            <p:cNvSpPr/>
            <p:nvPr/>
          </p:nvSpPr>
          <p:spPr bwMode="auto">
            <a:xfrm flipH="1">
              <a:off x="5219204" y="3674178"/>
              <a:ext cx="2255450" cy="134785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2217181 w 2532501"/>
                <a:gd name="connsiteY0" fmla="*/ 747595 h 747595"/>
                <a:gd name="connsiteX1" fmla="*/ 0 w 2532501"/>
                <a:gd name="connsiteY1" fmla="*/ 310 h 747595"/>
                <a:gd name="connsiteX2" fmla="*/ 2251233 w 2532501"/>
                <a:gd name="connsiteY2" fmla="*/ 1468 h 747595"/>
                <a:gd name="connsiteX3" fmla="*/ 2532501 w 2532501"/>
                <a:gd name="connsiteY3" fmla="*/ 710902 h 747595"/>
                <a:gd name="connsiteX4" fmla="*/ 2217181 w 2532501"/>
                <a:gd name="connsiteY4" fmla="*/ 747595 h 747595"/>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274923"/>
                <a:gd name="connsiteY0" fmla="*/ 1349639 h 1349639"/>
                <a:gd name="connsiteX1" fmla="*/ 0 w 2274923"/>
                <a:gd name="connsiteY1" fmla="*/ 310 h 1349639"/>
                <a:gd name="connsiteX2" fmla="*/ 2251233 w 2274923"/>
                <a:gd name="connsiteY2" fmla="*/ 1468 h 1349639"/>
                <a:gd name="connsiteX3" fmla="*/ 2244541 w 2274923"/>
                <a:gd name="connsiteY3" fmla="*/ 1338031 h 1349639"/>
                <a:gd name="connsiteX4" fmla="*/ 1904181 w 2274923"/>
                <a:gd name="connsiteY4" fmla="*/ 1349639 h 1349639"/>
                <a:gd name="connsiteX0" fmla="*/ 1904181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904181 w 2251233"/>
                <a:gd name="connsiteY4" fmla="*/ 1349639 h 1349639"/>
                <a:gd name="connsiteX0" fmla="*/ 1855043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855043 w 2251233"/>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4368" h="1349639">
                  <a:moveTo>
                    <a:pt x="1855043" y="1349639"/>
                  </a:moveTo>
                  <a:cubicBezTo>
                    <a:pt x="1304110" y="746280"/>
                    <a:pt x="628999" y="499249"/>
                    <a:pt x="0" y="310"/>
                  </a:cubicBezTo>
                  <a:cubicBezTo>
                    <a:pt x="333077" y="4877"/>
                    <a:pt x="1918156" y="-3099"/>
                    <a:pt x="2251233" y="1468"/>
                  </a:cubicBezTo>
                  <a:cubicBezTo>
                    <a:pt x="2089546" y="493074"/>
                    <a:pt x="2029736" y="828030"/>
                    <a:pt x="2254368" y="1315058"/>
                  </a:cubicBezTo>
                  <a:cubicBezTo>
                    <a:pt x="2028914" y="1268083"/>
                    <a:pt x="1915520" y="1271535"/>
                    <a:pt x="1855043" y="1349639"/>
                  </a:cubicBezTo>
                  <a:close/>
                </a:path>
              </a:pathLst>
            </a:custGeom>
            <a:gradFill rotWithShape="1">
              <a:gsLst>
                <a:gs pos="0">
                  <a:srgbClr val="FFFFFF">
                    <a:lumMod val="95000"/>
                  </a:srgbClr>
                </a:gs>
                <a:gs pos="100000">
                  <a:srgbClr val="FFFFFF">
                    <a:lumMod val="75000"/>
                  </a:srgbClr>
                </a:gs>
              </a:gsLst>
              <a:lin ang="16200000" scaled="0"/>
            </a:gra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grpSp>
          <p:nvGrpSpPr>
            <p:cNvPr id="315" name="Group 314">
              <a:extLst>
                <a:ext uri="{FF2B5EF4-FFF2-40B4-BE49-F238E27FC236}">
                  <a16:creationId xmlns:a16="http://schemas.microsoft.com/office/drawing/2014/main" id="{600673E8-B325-EB44-9A2A-C4636D3BA1D7}"/>
                </a:ext>
              </a:extLst>
            </p:cNvPr>
            <p:cNvGrpSpPr/>
            <p:nvPr/>
          </p:nvGrpSpPr>
          <p:grpSpPr>
            <a:xfrm>
              <a:off x="5176788" y="1691016"/>
              <a:ext cx="2334629" cy="2102794"/>
              <a:chOff x="5176788" y="1691016"/>
              <a:chExt cx="2334629" cy="2102794"/>
            </a:xfrm>
          </p:grpSpPr>
          <p:grpSp>
            <p:nvGrpSpPr>
              <p:cNvPr id="316" name="Group 28">
                <a:extLst>
                  <a:ext uri="{FF2B5EF4-FFF2-40B4-BE49-F238E27FC236}">
                    <a16:creationId xmlns:a16="http://schemas.microsoft.com/office/drawing/2014/main" id="{66AF714D-93D9-7849-A0E5-53CA64E792D4}"/>
                  </a:ext>
                </a:extLst>
              </p:cNvPr>
              <p:cNvGrpSpPr>
                <a:grpSpLocks/>
              </p:cNvGrpSpPr>
              <p:nvPr/>
            </p:nvGrpSpPr>
            <p:grpSpPr bwMode="auto">
              <a:xfrm>
                <a:off x="5176788" y="1691016"/>
                <a:ext cx="2334629" cy="2102794"/>
                <a:chOff x="1858002" y="3709936"/>
                <a:chExt cx="1045872" cy="1739899"/>
              </a:xfrm>
            </p:grpSpPr>
            <p:sp>
              <p:nvSpPr>
                <p:cNvPr id="330" name="Rectangle 329">
                  <a:extLst>
                    <a:ext uri="{FF2B5EF4-FFF2-40B4-BE49-F238E27FC236}">
                      <a16:creationId xmlns:a16="http://schemas.microsoft.com/office/drawing/2014/main" id="{4500FA73-0BCC-C84B-A5CA-CA01BB6F74E4}"/>
                    </a:ext>
                  </a:extLst>
                </p:cNvPr>
                <p:cNvSpPr/>
                <p:nvPr/>
              </p:nvSpPr>
              <p:spPr bwMode="auto">
                <a:xfrm rot="10800000">
                  <a:off x="1867527" y="3957547"/>
                  <a:ext cx="1033544"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grpSp>
              <p:nvGrpSpPr>
                <p:cNvPr id="331" name="Group 498">
                  <a:extLst>
                    <a:ext uri="{FF2B5EF4-FFF2-40B4-BE49-F238E27FC236}">
                      <a16:creationId xmlns:a16="http://schemas.microsoft.com/office/drawing/2014/main" id="{C0D2A279-F942-0D48-8005-63696D9EA9B2}"/>
                    </a:ext>
                  </a:extLst>
                </p:cNvPr>
                <p:cNvGrpSpPr>
                  <a:grpSpLocks/>
                </p:cNvGrpSpPr>
                <p:nvPr/>
              </p:nvGrpSpPr>
              <p:grpSpPr bwMode="auto">
                <a:xfrm>
                  <a:off x="1858805" y="5088863"/>
                  <a:ext cx="1035373" cy="360972"/>
                  <a:chOff x="4128636" y="3606589"/>
                  <a:chExt cx="568145" cy="338667"/>
                </a:xfrm>
              </p:grpSpPr>
              <p:sp>
                <p:nvSpPr>
                  <p:cNvPr id="345" name="Oval 344">
                    <a:extLst>
                      <a:ext uri="{FF2B5EF4-FFF2-40B4-BE49-F238E27FC236}">
                        <a16:creationId xmlns:a16="http://schemas.microsoft.com/office/drawing/2014/main" id="{588FE4E7-26AC-4943-A3F8-4D8DBC528B55}"/>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46" name="Rectangle 345">
                    <a:extLst>
                      <a:ext uri="{FF2B5EF4-FFF2-40B4-BE49-F238E27FC236}">
                        <a16:creationId xmlns:a16="http://schemas.microsoft.com/office/drawing/2014/main" id="{3806B90C-D448-5046-B33D-F8620D8693A3}"/>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47" name="Oval 346">
                    <a:extLst>
                      <a:ext uri="{FF2B5EF4-FFF2-40B4-BE49-F238E27FC236}">
                        <a16:creationId xmlns:a16="http://schemas.microsoft.com/office/drawing/2014/main" id="{77D5E21E-12EC-7C4E-A4FD-F87EB3559FC3}"/>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cxnSp>
                <p:nvCxnSpPr>
                  <p:cNvPr id="348" name="Straight Connector 347">
                    <a:extLst>
                      <a:ext uri="{FF2B5EF4-FFF2-40B4-BE49-F238E27FC236}">
                        <a16:creationId xmlns:a16="http://schemas.microsoft.com/office/drawing/2014/main" id="{EB1D307E-35F6-7B4D-9ECA-535608E8FF64}"/>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349" name="Straight Connector 348">
                    <a:extLst>
                      <a:ext uri="{FF2B5EF4-FFF2-40B4-BE49-F238E27FC236}">
                        <a16:creationId xmlns:a16="http://schemas.microsoft.com/office/drawing/2014/main" id="{9890F937-B02F-3941-AA75-F2A6C60ADB6E}"/>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332" name="Rectangle 331">
                  <a:extLst>
                    <a:ext uri="{FF2B5EF4-FFF2-40B4-BE49-F238E27FC236}">
                      <a16:creationId xmlns:a16="http://schemas.microsoft.com/office/drawing/2014/main" id="{C1A7B8C0-653F-D043-A5D6-8D8D02496547}"/>
                    </a:ext>
                  </a:extLst>
                </p:cNvPr>
                <p:cNvSpPr/>
                <p:nvPr/>
              </p:nvSpPr>
              <p:spPr bwMode="auto">
                <a:xfrm>
                  <a:off x="1859676" y="4691826"/>
                  <a:ext cx="103742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cxnSp>
              <p:nvCxnSpPr>
                <p:cNvPr id="333" name="Straight Connector 332">
                  <a:extLst>
                    <a:ext uri="{FF2B5EF4-FFF2-40B4-BE49-F238E27FC236}">
                      <a16:creationId xmlns:a16="http://schemas.microsoft.com/office/drawing/2014/main" id="{441ECEE8-5F06-204E-BCD7-77C25E8AF081}"/>
                    </a:ext>
                  </a:extLst>
                </p:cNvPr>
                <p:cNvCxnSpPr>
                  <a:cxnSpLocks/>
                  <a:stCxn id="337" idx="1"/>
                </p:cNvCxnSpPr>
                <p:nvPr/>
              </p:nvCxnSpPr>
              <p:spPr bwMode="auto">
                <a:xfrm flipH="1">
                  <a:off x="1861178" y="3924839"/>
                  <a:ext cx="1007" cy="1295073"/>
                </a:xfrm>
                <a:prstGeom prst="line">
                  <a:avLst/>
                </a:prstGeom>
                <a:noFill/>
                <a:ln w="3175" cap="flat" cmpd="sng" algn="ctr">
                  <a:solidFill>
                    <a:srgbClr val="000000"/>
                  </a:solidFill>
                  <a:prstDash val="sysDash"/>
                </a:ln>
                <a:effectLst/>
              </p:spPr>
            </p:cxnSp>
            <p:cxnSp>
              <p:nvCxnSpPr>
                <p:cNvPr id="334" name="Straight Connector 333">
                  <a:extLst>
                    <a:ext uri="{FF2B5EF4-FFF2-40B4-BE49-F238E27FC236}">
                      <a16:creationId xmlns:a16="http://schemas.microsoft.com/office/drawing/2014/main" id="{D714DFB4-74AF-AA45-805C-53E5CDD7DB02}"/>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335" name="Group 504">
                  <a:extLst>
                    <a:ext uri="{FF2B5EF4-FFF2-40B4-BE49-F238E27FC236}">
                      <a16:creationId xmlns:a16="http://schemas.microsoft.com/office/drawing/2014/main" id="{2A0950AE-6556-8E45-8D36-C13C7443E2BF}"/>
                    </a:ext>
                  </a:extLst>
                </p:cNvPr>
                <p:cNvGrpSpPr>
                  <a:grpSpLocks/>
                </p:cNvGrpSpPr>
                <p:nvPr/>
              </p:nvGrpSpPr>
              <p:grpSpPr bwMode="auto">
                <a:xfrm>
                  <a:off x="1858002" y="3709936"/>
                  <a:ext cx="1045872" cy="398402"/>
                  <a:chOff x="2185125" y="1574638"/>
                  <a:chExt cx="1201487" cy="429505"/>
                </a:xfrm>
              </p:grpSpPr>
              <p:sp>
                <p:nvSpPr>
                  <p:cNvPr id="336" name="Oval 335">
                    <a:extLst>
                      <a:ext uri="{FF2B5EF4-FFF2-40B4-BE49-F238E27FC236}">
                        <a16:creationId xmlns:a16="http://schemas.microsoft.com/office/drawing/2014/main" id="{26F4269B-B9E1-DD40-BD3F-9AD462CC181B}"/>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algn="ctr" eaLnBrk="0" fontAlgn="base" hangingPunct="0">
                      <a:spcBef>
                        <a:spcPct val="0"/>
                      </a:spcBef>
                      <a:spcAft>
                        <a:spcPct val="0"/>
                      </a:spcAft>
                      <a:defRPr/>
                    </a:pPr>
                    <a:endParaRPr lang="en-US" kern="0" dirty="0">
                      <a:ln>
                        <a:solidFill>
                          <a:srgbClr val="000000"/>
                        </a:solidFill>
                      </a:ln>
                      <a:solidFill>
                        <a:srgbClr val="FFFFFF"/>
                      </a:solidFill>
                      <a:latin typeface="Gill Sans MT"/>
                    </a:endParaRPr>
                  </a:p>
                </p:txBody>
              </p:sp>
              <p:sp>
                <p:nvSpPr>
                  <p:cNvPr id="337" name="Rectangle 336">
                    <a:extLst>
                      <a:ext uri="{FF2B5EF4-FFF2-40B4-BE49-F238E27FC236}">
                        <a16:creationId xmlns:a16="http://schemas.microsoft.com/office/drawing/2014/main" id="{D6F97DEA-39E6-7943-9504-B9FD46A24726}"/>
                      </a:ext>
                    </a:extLst>
                  </p:cNvPr>
                  <p:cNvSpPr/>
                  <p:nvPr/>
                </p:nvSpPr>
                <p:spPr bwMode="auto">
                  <a:xfrm>
                    <a:off x="2189930" y="1749849"/>
                    <a:ext cx="1195120"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38" name="Oval 337">
                    <a:extLst>
                      <a:ext uri="{FF2B5EF4-FFF2-40B4-BE49-F238E27FC236}">
                        <a16:creationId xmlns:a16="http://schemas.microsoft.com/office/drawing/2014/main" id="{CC4C5A26-4306-EB49-843F-3B0B4CF63CF3}"/>
                      </a:ext>
                    </a:extLst>
                  </p:cNvPr>
                  <p:cNvSpPr>
                    <a:spLocks noChangeArrowheads="1"/>
                  </p:cNvSpPr>
                  <p:nvPr/>
                </p:nvSpPr>
                <p:spPr bwMode="auto">
                  <a:xfrm flipV="1">
                    <a:off x="2189930"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algn="ctr" eaLnBrk="0" fontAlgn="base" hangingPunct="0">
                      <a:spcBef>
                        <a:spcPct val="0"/>
                      </a:spcBef>
                      <a:spcAft>
                        <a:spcPct val="0"/>
                      </a:spcAft>
                      <a:defRPr/>
                    </a:pPr>
                    <a:endParaRPr lang="en-US" kern="0" dirty="0">
                      <a:ln>
                        <a:solidFill>
                          <a:srgbClr val="000000"/>
                        </a:solidFill>
                      </a:ln>
                      <a:solidFill>
                        <a:srgbClr val="FFFFFF"/>
                      </a:solidFill>
                      <a:latin typeface="Gill Sans MT"/>
                      <a:ea typeface="ＭＳ Ｐゴシック" panose="020B0600070205080204" pitchFamily="34" charset="-128"/>
                    </a:endParaRPr>
                  </a:p>
                </p:txBody>
              </p:sp>
              <p:sp>
                <p:nvSpPr>
                  <p:cNvPr id="339" name="Freeform 338">
                    <a:extLst>
                      <a:ext uri="{FF2B5EF4-FFF2-40B4-BE49-F238E27FC236}">
                        <a16:creationId xmlns:a16="http://schemas.microsoft.com/office/drawing/2014/main" id="{01521615-126F-9F48-B7B9-BC8FDF45A504}"/>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40" name="Freeform 339">
                    <a:extLst>
                      <a:ext uri="{FF2B5EF4-FFF2-40B4-BE49-F238E27FC236}">
                        <a16:creationId xmlns:a16="http://schemas.microsoft.com/office/drawing/2014/main" id="{682F4762-B963-474F-AB4B-BD6A92DA5D21}"/>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eaLnBrk="0" fontAlgn="base" hangingPunct="0">
                      <a:spcBef>
                        <a:spcPct val="0"/>
                      </a:spcBef>
                      <a:spcAft>
                        <a:spcPct val="0"/>
                      </a:spcAft>
                      <a:defRPr/>
                    </a:pPr>
                    <a:endParaRPr lang="en-US" kern="0" dirty="0">
                      <a:solidFill>
                        <a:srgbClr val="000000"/>
                      </a:solidFill>
                      <a:latin typeface="Arial" panose="020B0604020202020204" pitchFamily="34" charset="0"/>
                      <a:ea typeface="ＭＳ Ｐゴシック" panose="020B0600070205080204" pitchFamily="34" charset="-128"/>
                    </a:endParaRPr>
                  </a:p>
                </p:txBody>
              </p:sp>
              <p:sp>
                <p:nvSpPr>
                  <p:cNvPr id="341" name="Freeform 340">
                    <a:extLst>
                      <a:ext uri="{FF2B5EF4-FFF2-40B4-BE49-F238E27FC236}">
                        <a16:creationId xmlns:a16="http://schemas.microsoft.com/office/drawing/2014/main" id="{78975C37-66B2-6A46-9D38-D07296BACE37}"/>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eaLnBrk="0" fontAlgn="base" hangingPunct="0">
                      <a:spcBef>
                        <a:spcPct val="0"/>
                      </a:spcBef>
                      <a:spcAft>
                        <a:spcPct val="0"/>
                      </a:spcAft>
                      <a:defRPr/>
                    </a:pPr>
                    <a:endParaRPr lang="en-US" kern="0" dirty="0">
                      <a:solidFill>
                        <a:srgbClr val="000000"/>
                      </a:solidFill>
                      <a:latin typeface="Arial" panose="020B0604020202020204" pitchFamily="34" charset="0"/>
                      <a:ea typeface="ＭＳ Ｐゴシック" panose="020B0600070205080204" pitchFamily="34" charset="-128"/>
                    </a:endParaRPr>
                  </a:p>
                </p:txBody>
              </p:sp>
              <p:sp>
                <p:nvSpPr>
                  <p:cNvPr id="342" name="Freeform 341">
                    <a:extLst>
                      <a:ext uri="{FF2B5EF4-FFF2-40B4-BE49-F238E27FC236}">
                        <a16:creationId xmlns:a16="http://schemas.microsoft.com/office/drawing/2014/main" id="{B027AD38-44DC-4749-ABE8-13603800E487}"/>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eaLnBrk="0" fontAlgn="base" hangingPunct="0">
                      <a:spcBef>
                        <a:spcPct val="0"/>
                      </a:spcBef>
                      <a:spcAft>
                        <a:spcPct val="0"/>
                      </a:spcAft>
                      <a:defRPr/>
                    </a:pPr>
                    <a:endParaRPr lang="en-US" kern="0" dirty="0">
                      <a:solidFill>
                        <a:srgbClr val="000000"/>
                      </a:solidFill>
                      <a:latin typeface="Arial" panose="020B0604020202020204" pitchFamily="34" charset="0"/>
                      <a:ea typeface="ＭＳ Ｐゴシック" panose="020B0600070205080204" pitchFamily="34" charset="-128"/>
                    </a:endParaRPr>
                  </a:p>
                </p:txBody>
              </p:sp>
              <p:cxnSp>
                <p:nvCxnSpPr>
                  <p:cNvPr id="343" name="Straight Connector 342">
                    <a:extLst>
                      <a:ext uri="{FF2B5EF4-FFF2-40B4-BE49-F238E27FC236}">
                        <a16:creationId xmlns:a16="http://schemas.microsoft.com/office/drawing/2014/main" id="{673C16FC-B30B-D341-BF16-BD40997429AA}"/>
                      </a:ext>
                    </a:extLst>
                  </p:cNvPr>
                  <p:cNvCxnSpPr>
                    <a:cxnSpLocks noChangeShapeType="1"/>
                    <a:endCxn id="338" idx="2"/>
                  </p:cNvCxnSpPr>
                  <p:nvPr/>
                </p:nvCxnSpPr>
                <p:spPr bwMode="auto">
                  <a:xfrm flipH="1" flipV="1">
                    <a:off x="2189930"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44" name="Straight Connector 343">
                    <a:extLst>
                      <a:ext uri="{FF2B5EF4-FFF2-40B4-BE49-F238E27FC236}">
                        <a16:creationId xmlns:a16="http://schemas.microsoft.com/office/drawing/2014/main" id="{5A3BCC1F-E36B-CC49-9618-2077B91F993F}"/>
                      </a:ext>
                    </a:extLst>
                  </p:cNvPr>
                  <p:cNvCxnSpPr>
                    <a:cxnSpLocks noChangeShapeType="1"/>
                  </p:cNvCxnSpPr>
                  <p:nvPr/>
                </p:nvCxnSpPr>
                <p:spPr bwMode="auto">
                  <a:xfrm flipH="1" flipV="1">
                    <a:off x="3384788"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317" name="Group 316">
                <a:extLst>
                  <a:ext uri="{FF2B5EF4-FFF2-40B4-BE49-F238E27FC236}">
                    <a16:creationId xmlns:a16="http://schemas.microsoft.com/office/drawing/2014/main" id="{920E80F8-831C-F447-978D-EA9239497E52}"/>
                  </a:ext>
                </a:extLst>
              </p:cNvPr>
              <p:cNvGrpSpPr/>
              <p:nvPr/>
            </p:nvGrpSpPr>
            <p:grpSpPr>
              <a:xfrm>
                <a:off x="5741299" y="2747246"/>
                <a:ext cx="1221860" cy="1008038"/>
                <a:chOff x="1992768" y="2310128"/>
                <a:chExt cx="1136650" cy="928372"/>
              </a:xfrm>
            </p:grpSpPr>
            <p:sp>
              <p:nvSpPr>
                <p:cNvPr id="326" name="Rectangle 325">
                  <a:extLst>
                    <a:ext uri="{FF2B5EF4-FFF2-40B4-BE49-F238E27FC236}">
                      <a16:creationId xmlns:a16="http://schemas.microsoft.com/office/drawing/2014/main" id="{6900D1B6-2E57-BA49-B3A0-822412AEDB17}"/>
                    </a:ext>
                  </a:extLst>
                </p:cNvPr>
                <p:cNvSpPr/>
                <p:nvPr/>
              </p:nvSpPr>
              <p:spPr>
                <a:xfrm>
                  <a:off x="1992768" y="2337583"/>
                  <a:ext cx="1136650" cy="900917"/>
                </a:xfrm>
                <a:prstGeom prst="rect">
                  <a:avLst/>
                </a:prstGeom>
                <a:solidFill>
                  <a:schemeClr val="bg1"/>
                </a:solidFill>
                <a:ln w="19050">
                  <a:solidFill>
                    <a:srgbClr val="C0000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327" name="Straight Connector 326">
                  <a:extLst>
                    <a:ext uri="{FF2B5EF4-FFF2-40B4-BE49-F238E27FC236}">
                      <a16:creationId xmlns:a16="http://schemas.microsoft.com/office/drawing/2014/main" id="{8763EADC-6E94-F24D-B1CA-7347697DEEA6}"/>
                    </a:ext>
                  </a:extLst>
                </p:cNvPr>
                <p:cNvCxnSpPr>
                  <a:cxnSpLocks/>
                </p:cNvCxnSpPr>
                <p:nvPr/>
              </p:nvCxnSpPr>
              <p:spPr>
                <a:xfrm>
                  <a:off x="1992768" y="2735763"/>
                  <a:ext cx="1136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F9577E6-692B-3740-9F2B-DD6835189CDE}"/>
                    </a:ext>
                  </a:extLst>
                </p:cNvPr>
                <p:cNvCxnSpPr>
                  <a:cxnSpLocks/>
                </p:cNvCxnSpPr>
                <p:nvPr/>
              </p:nvCxnSpPr>
              <p:spPr>
                <a:xfrm flipV="1">
                  <a:off x="2543809" y="2758130"/>
                  <a:ext cx="0" cy="45210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78F7BED9-504A-A643-AF52-F41992DB5B48}"/>
                    </a:ext>
                  </a:extLst>
                </p:cNvPr>
                <p:cNvSpPr txBox="1"/>
                <p:nvPr/>
              </p:nvSpPr>
              <p:spPr>
                <a:xfrm>
                  <a:off x="2011312" y="2310128"/>
                  <a:ext cx="1094850" cy="391536"/>
                </a:xfrm>
                <a:prstGeom prst="rect">
                  <a:avLst/>
                </a:prstGeom>
                <a:noFill/>
              </p:spPr>
              <p:txBody>
                <a:bodyPr wrap="none" rtlCol="0">
                  <a:spAutoFit/>
                </a:bodyPr>
                <a:lstStyle/>
                <a:p>
                  <a:pPr algn="ctr">
                    <a:lnSpc>
                      <a:spcPct val="80000"/>
                    </a:lnSpc>
                  </a:pPr>
                  <a:r>
                    <a:rPr lang="en-US" sz="1600" dirty="0">
                      <a:solidFill>
                        <a:prstClr val="black"/>
                      </a:solidFill>
                    </a:rPr>
                    <a:t>forwarding</a:t>
                  </a:r>
                </a:p>
                <a:p>
                  <a:pPr algn="ctr">
                    <a:lnSpc>
                      <a:spcPct val="80000"/>
                    </a:lnSpc>
                  </a:pPr>
                  <a:r>
                    <a:rPr lang="en-US" sz="1600" dirty="0">
                      <a:solidFill>
                        <a:prstClr val="black"/>
                      </a:solidFill>
                    </a:rPr>
                    <a:t>table</a:t>
                  </a:r>
                </a:p>
              </p:txBody>
            </p:sp>
          </p:grpSp>
        </p:grpSp>
      </p:grpSp>
      <p:sp>
        <p:nvSpPr>
          <p:cNvPr id="350" name="Rectangle 124">
            <a:extLst>
              <a:ext uri="{FF2B5EF4-FFF2-40B4-BE49-F238E27FC236}">
                <a16:creationId xmlns:a16="http://schemas.microsoft.com/office/drawing/2014/main" id="{95E0DFFE-7997-234A-8A51-545E71EE1AA5}"/>
              </a:ext>
            </a:extLst>
          </p:cNvPr>
          <p:cNvSpPr txBox="1">
            <a:spLocks noChangeArrowheads="1"/>
          </p:cNvSpPr>
          <p:nvPr/>
        </p:nvSpPr>
        <p:spPr>
          <a:xfrm>
            <a:off x="6300592" y="1641655"/>
            <a:ext cx="5711869" cy="8455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Font typeface="Wingdings" pitchFamily="2" charset="2"/>
              <a:buNone/>
              <a:defRPr/>
            </a:pPr>
            <a:r>
              <a:rPr lang="en-US" dirty="0">
                <a:solidFill>
                  <a:prstClr val="black"/>
                </a:solidFill>
              </a:rPr>
              <a:t>forwarding table  configured by intra- and inter-AS routing algorithms</a:t>
            </a:r>
          </a:p>
        </p:txBody>
      </p:sp>
      <p:grpSp>
        <p:nvGrpSpPr>
          <p:cNvPr id="3" name="Group 2">
            <a:extLst>
              <a:ext uri="{FF2B5EF4-FFF2-40B4-BE49-F238E27FC236}">
                <a16:creationId xmlns:a16="http://schemas.microsoft.com/office/drawing/2014/main" id="{D62FEDEC-3FA5-1F45-A814-2033B8639820}"/>
              </a:ext>
            </a:extLst>
          </p:cNvPr>
          <p:cNvGrpSpPr/>
          <p:nvPr/>
        </p:nvGrpSpPr>
        <p:grpSpPr>
          <a:xfrm>
            <a:off x="3770936" y="2327478"/>
            <a:ext cx="989852" cy="1051967"/>
            <a:chOff x="-167080" y="2120214"/>
            <a:chExt cx="989852" cy="1051967"/>
          </a:xfrm>
        </p:grpSpPr>
        <p:grpSp>
          <p:nvGrpSpPr>
            <p:cNvPr id="197" name="Group 90">
              <a:extLst>
                <a:ext uri="{FF2B5EF4-FFF2-40B4-BE49-F238E27FC236}">
                  <a16:creationId xmlns:a16="http://schemas.microsoft.com/office/drawing/2014/main" id="{21522C5A-8A50-B941-AC04-C41FAA3C8996}"/>
                </a:ext>
              </a:extLst>
            </p:cNvPr>
            <p:cNvGrpSpPr>
              <a:grpSpLocks/>
            </p:cNvGrpSpPr>
            <p:nvPr/>
          </p:nvGrpSpPr>
          <p:grpSpPr bwMode="auto">
            <a:xfrm>
              <a:off x="-167080" y="2120214"/>
              <a:ext cx="989852" cy="697506"/>
              <a:chOff x="1653" y="2898"/>
              <a:chExt cx="678" cy="473"/>
            </a:xfrm>
            <a:effectLst>
              <a:outerShdw blurRad="50800" dist="38100" dir="18900000" algn="bl" rotWithShape="0">
                <a:prstClr val="black">
                  <a:alpha val="40000"/>
                </a:prstClr>
              </a:outerShdw>
            </a:effectLst>
          </p:grpSpPr>
          <p:sp>
            <p:nvSpPr>
              <p:cNvPr id="257" name="Oval 91">
                <a:extLst>
                  <a:ext uri="{FF2B5EF4-FFF2-40B4-BE49-F238E27FC236}">
                    <a16:creationId xmlns:a16="http://schemas.microsoft.com/office/drawing/2014/main" id="{78DAB5F6-AD90-0740-9E2E-4701E6DC64B5}"/>
                  </a:ext>
                </a:extLst>
              </p:cNvPr>
              <p:cNvSpPr>
                <a:spLocks noChangeArrowheads="1"/>
              </p:cNvSpPr>
              <p:nvPr/>
            </p:nvSpPr>
            <p:spPr bwMode="auto">
              <a:xfrm>
                <a:off x="1653" y="2898"/>
                <a:ext cx="678" cy="378"/>
              </a:xfrm>
              <a:prstGeom prst="ellipse">
                <a:avLst/>
              </a:prstGeom>
              <a:solidFill>
                <a:schemeClr val="bg1"/>
              </a:solidFill>
              <a:ln w="9525">
                <a:solidFill>
                  <a:srgbClr val="3333CC"/>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9" name="Text Box 92">
                <a:extLst>
                  <a:ext uri="{FF2B5EF4-FFF2-40B4-BE49-F238E27FC236}">
                    <a16:creationId xmlns:a16="http://schemas.microsoft.com/office/drawing/2014/main" id="{E7EEC607-F92F-6844-AD84-7DF57F2A731D}"/>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fontAlgn="base">
                  <a:spcBef>
                    <a:spcPct val="0"/>
                  </a:spcBef>
                  <a:spcAft>
                    <a:spcPct val="0"/>
                  </a:spcAft>
                  <a:defRPr/>
                </a:pPr>
                <a:r>
                  <a:rPr lang="en-US" sz="1200" kern="0" dirty="0">
                    <a:solidFill>
                      <a:srgbClr val="000099"/>
                    </a:solidFill>
                  </a:rPr>
                  <a:t>Intra-AS</a:t>
                </a:r>
              </a:p>
              <a:p>
                <a:pPr fontAlgn="base">
                  <a:spcBef>
                    <a:spcPct val="0"/>
                  </a:spcBef>
                  <a:spcAft>
                    <a:spcPct val="0"/>
                  </a:spcAft>
                  <a:defRPr/>
                </a:pPr>
                <a:r>
                  <a:rPr lang="en-US" sz="1200" kern="0" dirty="0">
                    <a:solidFill>
                      <a:srgbClr val="000099"/>
                    </a:solidFill>
                  </a:rPr>
                  <a:t>Routing </a:t>
                </a:r>
              </a:p>
              <a:p>
                <a:pPr fontAlgn="base">
                  <a:spcBef>
                    <a:spcPct val="0"/>
                  </a:spcBef>
                  <a:spcAft>
                    <a:spcPct val="0"/>
                  </a:spcAft>
                  <a:defRPr/>
                </a:pPr>
                <a:endParaRPr lang="en-US" sz="1200" kern="0" dirty="0">
                  <a:solidFill>
                    <a:srgbClr val="000099"/>
                  </a:solidFill>
                </a:endParaRPr>
              </a:p>
            </p:txBody>
          </p:sp>
        </p:grpSp>
        <p:sp>
          <p:nvSpPr>
            <p:cNvPr id="223" name="Bent-Up Arrow 222">
              <a:extLst>
                <a:ext uri="{FF2B5EF4-FFF2-40B4-BE49-F238E27FC236}">
                  <a16:creationId xmlns:a16="http://schemas.microsoft.com/office/drawing/2014/main" id="{C7996A1F-F62A-AB45-8B0A-AA38AB6CC92F}"/>
                </a:ext>
              </a:extLst>
            </p:cNvPr>
            <p:cNvSpPr/>
            <p:nvPr/>
          </p:nvSpPr>
          <p:spPr>
            <a:xfrm rot="5400000">
              <a:off x="-37103" y="2815767"/>
              <a:ext cx="524728" cy="188100"/>
            </a:xfrm>
            <a:prstGeom prst="bentUpArrow">
              <a:avLst>
                <a:gd name="adj1" fmla="val 16723"/>
                <a:gd name="adj2" fmla="val 25000"/>
                <a:gd name="adj3" fmla="val 25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2" name="Group 1">
            <a:extLst>
              <a:ext uri="{FF2B5EF4-FFF2-40B4-BE49-F238E27FC236}">
                <a16:creationId xmlns:a16="http://schemas.microsoft.com/office/drawing/2014/main" id="{7D016E9A-DBBF-0D44-95FF-82C9E6AB7794}"/>
              </a:ext>
            </a:extLst>
          </p:cNvPr>
          <p:cNvGrpSpPr/>
          <p:nvPr/>
        </p:nvGrpSpPr>
        <p:grpSpPr>
          <a:xfrm>
            <a:off x="5032107" y="2338321"/>
            <a:ext cx="989852" cy="1047923"/>
            <a:chOff x="1057515" y="2118865"/>
            <a:chExt cx="989852" cy="1047923"/>
          </a:xfrm>
        </p:grpSpPr>
        <p:grpSp>
          <p:nvGrpSpPr>
            <p:cNvPr id="198" name="Group 90">
              <a:extLst>
                <a:ext uri="{FF2B5EF4-FFF2-40B4-BE49-F238E27FC236}">
                  <a16:creationId xmlns:a16="http://schemas.microsoft.com/office/drawing/2014/main" id="{4C733312-8EE4-8141-86B8-69843921312F}"/>
                </a:ext>
              </a:extLst>
            </p:cNvPr>
            <p:cNvGrpSpPr>
              <a:grpSpLocks/>
            </p:cNvGrpSpPr>
            <p:nvPr/>
          </p:nvGrpSpPr>
          <p:grpSpPr bwMode="auto">
            <a:xfrm>
              <a:off x="1057515" y="2118865"/>
              <a:ext cx="989852" cy="697506"/>
              <a:chOff x="1653" y="2898"/>
              <a:chExt cx="678" cy="473"/>
            </a:xfrm>
            <a:effectLst>
              <a:outerShdw blurRad="50800" dist="38100" dir="18900000" algn="bl" rotWithShape="0">
                <a:prstClr val="black">
                  <a:alpha val="40000"/>
                </a:prstClr>
              </a:outerShdw>
            </a:effectLst>
          </p:grpSpPr>
          <p:sp>
            <p:nvSpPr>
              <p:cNvPr id="225" name="Oval 91">
                <a:extLst>
                  <a:ext uri="{FF2B5EF4-FFF2-40B4-BE49-F238E27FC236}">
                    <a16:creationId xmlns:a16="http://schemas.microsoft.com/office/drawing/2014/main" id="{923EF0B8-E767-1C4C-9DF0-0A6B906BE6E4}"/>
                  </a:ext>
                </a:extLst>
              </p:cNvPr>
              <p:cNvSpPr>
                <a:spLocks noChangeArrowheads="1"/>
              </p:cNvSpPr>
              <p:nvPr/>
            </p:nvSpPr>
            <p:spPr bwMode="auto">
              <a:xfrm>
                <a:off x="1653" y="2898"/>
                <a:ext cx="678" cy="378"/>
              </a:xfrm>
              <a:prstGeom prst="ellipse">
                <a:avLst/>
              </a:prstGeom>
              <a:solidFill>
                <a:schemeClr val="bg1"/>
              </a:solidFill>
              <a:ln w="9525">
                <a:solidFill>
                  <a:srgbClr val="C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6" name="Text Box 92">
                <a:extLst>
                  <a:ext uri="{FF2B5EF4-FFF2-40B4-BE49-F238E27FC236}">
                    <a16:creationId xmlns:a16="http://schemas.microsoft.com/office/drawing/2014/main" id="{2744196D-C4EA-B148-BCCE-65DCAF41A3F0}"/>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fontAlgn="base">
                  <a:spcBef>
                    <a:spcPct val="0"/>
                  </a:spcBef>
                  <a:spcAft>
                    <a:spcPct val="0"/>
                  </a:spcAft>
                  <a:defRPr/>
                </a:pPr>
                <a:r>
                  <a:rPr lang="en-US" sz="1200" kern="0" dirty="0">
                    <a:solidFill>
                      <a:srgbClr val="C00000"/>
                    </a:solidFill>
                  </a:rPr>
                  <a:t>Inter-AS</a:t>
                </a:r>
              </a:p>
              <a:p>
                <a:pPr fontAlgn="base">
                  <a:spcBef>
                    <a:spcPct val="0"/>
                  </a:spcBef>
                  <a:spcAft>
                    <a:spcPct val="0"/>
                  </a:spcAft>
                  <a:defRPr/>
                </a:pPr>
                <a:r>
                  <a:rPr lang="en-US" sz="1200" kern="0" dirty="0">
                    <a:solidFill>
                      <a:srgbClr val="C00000"/>
                    </a:solidFill>
                  </a:rPr>
                  <a:t>Routing </a:t>
                </a:r>
              </a:p>
              <a:p>
                <a:pPr fontAlgn="base">
                  <a:spcBef>
                    <a:spcPct val="0"/>
                  </a:spcBef>
                  <a:spcAft>
                    <a:spcPct val="0"/>
                  </a:spcAft>
                  <a:defRPr/>
                </a:pPr>
                <a:endParaRPr lang="en-US" sz="1200" kern="0" dirty="0">
                  <a:solidFill>
                    <a:srgbClr val="000099"/>
                  </a:solidFill>
                </a:endParaRPr>
              </a:p>
            </p:txBody>
          </p:sp>
        </p:grpSp>
        <p:sp>
          <p:nvSpPr>
            <p:cNvPr id="224" name="Bent-Up Arrow 223">
              <a:extLst>
                <a:ext uri="{FF2B5EF4-FFF2-40B4-BE49-F238E27FC236}">
                  <a16:creationId xmlns:a16="http://schemas.microsoft.com/office/drawing/2014/main" id="{E6589BCE-3634-A944-B320-BEDCD95A1431}"/>
                </a:ext>
              </a:extLst>
            </p:cNvPr>
            <p:cNvSpPr/>
            <p:nvPr/>
          </p:nvSpPr>
          <p:spPr>
            <a:xfrm rot="16200000" flipH="1">
              <a:off x="1454529" y="2810374"/>
              <a:ext cx="524728" cy="188100"/>
            </a:xfrm>
            <a:prstGeom prst="bentUpArrow">
              <a:avLst>
                <a:gd name="adj1" fmla="val 16723"/>
                <a:gd name="adj2" fmla="val 25000"/>
                <a:gd name="adj3" fmla="val 25000"/>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303" name="Rectangle 124">
            <a:extLst>
              <a:ext uri="{FF2B5EF4-FFF2-40B4-BE49-F238E27FC236}">
                <a16:creationId xmlns:a16="http://schemas.microsoft.com/office/drawing/2014/main" id="{3C7AC551-226D-8E4E-ABA0-62752C629EE6}"/>
              </a:ext>
            </a:extLst>
          </p:cNvPr>
          <p:cNvSpPr txBox="1">
            <a:spLocks noChangeArrowheads="1"/>
          </p:cNvSpPr>
          <p:nvPr/>
        </p:nvSpPr>
        <p:spPr>
          <a:xfrm>
            <a:off x="6392032" y="2464615"/>
            <a:ext cx="5711869" cy="6809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2288" lvl="1" indent="-236538">
              <a:buFont typeface="Wingdings" pitchFamily="2" charset="2"/>
              <a:buChar char="§"/>
              <a:defRPr/>
            </a:pPr>
            <a:r>
              <a:rPr lang="en-US" dirty="0">
                <a:solidFill>
                  <a:prstClr val="black"/>
                </a:solidFill>
              </a:rPr>
              <a:t>intra-AS routing determine entries for destinations within AS</a:t>
            </a:r>
          </a:p>
        </p:txBody>
      </p:sp>
      <p:sp>
        <p:nvSpPr>
          <p:cNvPr id="305" name="Rectangle 124">
            <a:extLst>
              <a:ext uri="{FF2B5EF4-FFF2-40B4-BE49-F238E27FC236}">
                <a16:creationId xmlns:a16="http://schemas.microsoft.com/office/drawing/2014/main" id="{3ADE1EDF-5A87-0F4C-B6A9-5C485661FF09}"/>
              </a:ext>
            </a:extLst>
          </p:cNvPr>
          <p:cNvSpPr txBox="1">
            <a:spLocks noChangeArrowheads="1"/>
          </p:cNvSpPr>
          <p:nvPr/>
        </p:nvSpPr>
        <p:spPr>
          <a:xfrm>
            <a:off x="6385936" y="3165655"/>
            <a:ext cx="5711869" cy="76016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2288" lvl="1" indent="-236538">
              <a:buFont typeface="Wingdings" pitchFamily="2" charset="2"/>
              <a:buChar char="§"/>
              <a:defRPr/>
            </a:pPr>
            <a:r>
              <a:rPr lang="en-US" dirty="0">
                <a:solidFill>
                  <a:prstClr val="black"/>
                </a:solidFill>
              </a:rPr>
              <a:t>inter-AS &amp; intra-AS determine entries for external destinations</a:t>
            </a:r>
          </a:p>
        </p:txBody>
      </p:sp>
    </p:spTree>
    <p:extLst>
      <p:ext uri="{BB962C8B-B14F-4D97-AF65-F5344CB8AC3E}">
        <p14:creationId xmlns:p14="http://schemas.microsoft.com/office/powerpoint/2010/main" val="25385198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82"/>
                                        </p:tgtEl>
                                        <p:attrNameLst>
                                          <p:attrName>style.visibility</p:attrName>
                                        </p:attrNameLst>
                                      </p:cBhvr>
                                      <p:to>
                                        <p:strVal val="visible"/>
                                      </p:to>
                                    </p:set>
                                    <p:animEffect transition="in" filter="dissolve">
                                      <p:cBhvr>
                                        <p:cTn id="7" dur="500"/>
                                        <p:tgtEl>
                                          <p:spTgt spid="2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82"/>
                                        </p:tgtEl>
                                      </p:cBhvr>
                                    </p:animEffect>
                                    <p:set>
                                      <p:cBhvr>
                                        <p:cTn id="12" dur="1" fill="hold">
                                          <p:stCondLst>
                                            <p:cond delay="499"/>
                                          </p:stCondLst>
                                        </p:cTn>
                                        <p:tgtEl>
                                          <p:spTgt spid="28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312"/>
                                        </p:tgtEl>
                                        <p:attrNameLst>
                                          <p:attrName>style.visibility</p:attrName>
                                        </p:attrNameLst>
                                      </p:cBhvr>
                                      <p:to>
                                        <p:strVal val="visible"/>
                                      </p:to>
                                    </p:set>
                                    <p:animEffect transition="in" filter="dissolve">
                                      <p:cBhvr>
                                        <p:cTn id="15" dur="500"/>
                                        <p:tgtEl>
                                          <p:spTgt spid="3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312"/>
                                        </p:tgtEl>
                                      </p:cBhvr>
                                    </p:animEffect>
                                    <p:set>
                                      <p:cBhvr>
                                        <p:cTn id="20" dur="1" fill="hold">
                                          <p:stCondLst>
                                            <p:cond delay="499"/>
                                          </p:stCondLst>
                                        </p:cTn>
                                        <p:tgtEl>
                                          <p:spTgt spid="312"/>
                                        </p:tgtEl>
                                        <p:attrNameLst>
                                          <p:attrName>style.visibility</p:attrName>
                                        </p:attrNameLst>
                                      </p:cBhvr>
                                      <p:to>
                                        <p:strVal val="hidden"/>
                                      </p:to>
                                    </p:set>
                                  </p:childTnLst>
                                </p:cTn>
                              </p:par>
                              <p:par>
                                <p:cTn id="21" presetID="9" presetClass="entr" presetSubtype="0" fill="hold" grpId="0" nodeType="withEffect">
                                  <p:stCondLst>
                                    <p:cond delay="0"/>
                                  </p:stCondLst>
                                  <p:childTnLst>
                                    <p:set>
                                      <p:cBhvr>
                                        <p:cTn id="22" dur="1" fill="hold">
                                          <p:stCondLst>
                                            <p:cond delay="0"/>
                                          </p:stCondLst>
                                        </p:cTn>
                                        <p:tgtEl>
                                          <p:spTgt spid="350"/>
                                        </p:tgtEl>
                                        <p:attrNameLst>
                                          <p:attrName>style.visibility</p:attrName>
                                        </p:attrNameLst>
                                      </p:cBhvr>
                                      <p:to>
                                        <p:strVal val="visible"/>
                                      </p:to>
                                    </p:set>
                                    <p:animEffect transition="in" filter="dissolve">
                                      <p:cBhvr>
                                        <p:cTn id="23" dur="500"/>
                                        <p:tgtEl>
                                          <p:spTgt spid="350"/>
                                        </p:tgtEl>
                                      </p:cBhvr>
                                    </p:animEffect>
                                  </p:childTnLst>
                                </p:cTn>
                              </p:par>
                              <p:par>
                                <p:cTn id="24" presetID="22" presetClass="entr" presetSubtype="4" fill="hold" nodeType="withEffect">
                                  <p:stCondLst>
                                    <p:cond delay="0"/>
                                  </p:stCondLst>
                                  <p:childTnLst>
                                    <p:set>
                                      <p:cBhvr>
                                        <p:cTn id="25" dur="1" fill="hold">
                                          <p:stCondLst>
                                            <p:cond delay="0"/>
                                          </p:stCondLst>
                                        </p:cTn>
                                        <p:tgtEl>
                                          <p:spTgt spid="313"/>
                                        </p:tgtEl>
                                        <p:attrNameLst>
                                          <p:attrName>style.visibility</p:attrName>
                                        </p:attrNameLst>
                                      </p:cBhvr>
                                      <p:to>
                                        <p:strVal val="visible"/>
                                      </p:to>
                                    </p:set>
                                    <p:animEffect transition="in" filter="wipe(down)">
                                      <p:cBhvr>
                                        <p:cTn id="26" dur="500"/>
                                        <p:tgtEl>
                                          <p:spTgt spid="313"/>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03"/>
                                        </p:tgtEl>
                                        <p:attrNameLst>
                                          <p:attrName>style.visibility</p:attrName>
                                        </p:attrNameLst>
                                      </p:cBhvr>
                                      <p:to>
                                        <p:strVal val="visible"/>
                                      </p:to>
                                    </p:set>
                                    <p:animEffect transition="in" filter="dissolve">
                                      <p:cBhvr>
                                        <p:cTn id="31" dur="500"/>
                                        <p:tgtEl>
                                          <p:spTgt spid="303"/>
                                        </p:tgtEl>
                                      </p:cBhvr>
                                    </p:animEffect>
                                  </p:childTnLst>
                                </p:cTn>
                              </p:par>
                              <p:par>
                                <p:cTn id="32" presetID="9" presetClass="entr" presetSubtype="0" fill="hold"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dissolve">
                                      <p:cBhvr>
                                        <p:cTn id="34" dur="500"/>
                                        <p:tgtEl>
                                          <p:spTgt spid="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305"/>
                                        </p:tgtEl>
                                        <p:attrNameLst>
                                          <p:attrName>style.visibility</p:attrName>
                                        </p:attrNameLst>
                                      </p:cBhvr>
                                      <p:to>
                                        <p:strVal val="visible"/>
                                      </p:to>
                                    </p:set>
                                    <p:animEffect transition="in" filter="dissolve">
                                      <p:cBhvr>
                                        <p:cTn id="39" dur="500"/>
                                        <p:tgtEl>
                                          <p:spTgt spid="305"/>
                                        </p:tgtEl>
                                      </p:cBhvr>
                                    </p:animEffect>
                                  </p:childTnLst>
                                </p:cTn>
                              </p:par>
                              <p:par>
                                <p:cTn id="40" presetID="9" presetClass="entr" presetSubtype="0" fill="hold" nodeType="with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dissolve">
                                      <p:cBhvr>
                                        <p:cTn id="4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0" grpId="0"/>
      <p:bldP spid="303" grpId="0"/>
      <p:bldP spid="30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b="0" kern="0" dirty="0">
                <a:solidFill>
                  <a:srgbClr val="000099"/>
                </a:solidFill>
                <a:latin typeface="+mn-lt"/>
                <a:ea typeface="ＭＳ Ｐゴシック" charset="0"/>
              </a:rPr>
              <a:t>Inter-AS routing:  a role in intradomain forwarding</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69</a:t>
            </a:fld>
            <a:endParaRPr lang="en-US" dirty="0">
              <a:solidFill>
                <a:prstClr val="white">
                  <a:lumMod val="50000"/>
                </a:prstClr>
              </a:solidFill>
            </a:endParaRPr>
          </a:p>
        </p:txBody>
      </p:sp>
      <p:sp>
        <p:nvSpPr>
          <p:cNvPr id="133" name="Freeform 3">
            <a:extLst>
              <a:ext uri="{FF2B5EF4-FFF2-40B4-BE49-F238E27FC236}">
                <a16:creationId xmlns:a16="http://schemas.microsoft.com/office/drawing/2014/main" id="{E9C365D2-5973-C342-80CF-5D128AC2921C}"/>
              </a:ext>
            </a:extLst>
          </p:cNvPr>
          <p:cNvSpPr>
            <a:spLocks/>
          </p:cNvSpPr>
          <p:nvPr/>
        </p:nvSpPr>
        <p:spPr bwMode="auto">
          <a:xfrm>
            <a:off x="54467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4" name="Freeform 4">
            <a:extLst>
              <a:ext uri="{FF2B5EF4-FFF2-40B4-BE49-F238E27FC236}">
                <a16:creationId xmlns:a16="http://schemas.microsoft.com/office/drawing/2014/main" id="{4090092D-F797-484C-B1D2-AD83E59BF3EE}"/>
              </a:ext>
            </a:extLst>
          </p:cNvPr>
          <p:cNvSpPr>
            <a:spLocks/>
          </p:cNvSpPr>
          <p:nvPr/>
        </p:nvSpPr>
        <p:spPr bwMode="auto">
          <a:xfrm>
            <a:off x="16202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5" name="Freeform 5">
            <a:extLst>
              <a:ext uri="{FF2B5EF4-FFF2-40B4-BE49-F238E27FC236}">
                <a16:creationId xmlns:a16="http://schemas.microsoft.com/office/drawing/2014/main" id="{D3A2AF50-CEA9-924C-8C29-0549AF5748DF}"/>
              </a:ext>
            </a:extLst>
          </p:cNvPr>
          <p:cNvSpPr>
            <a:spLocks/>
          </p:cNvSpPr>
          <p:nvPr/>
        </p:nvSpPr>
        <p:spPr bwMode="auto">
          <a:xfrm>
            <a:off x="28027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6" name="Oval 6">
            <a:extLst>
              <a:ext uri="{FF2B5EF4-FFF2-40B4-BE49-F238E27FC236}">
                <a16:creationId xmlns:a16="http://schemas.microsoft.com/office/drawing/2014/main" id="{D886B232-293A-5347-8A9F-D005603A3D64}"/>
              </a:ext>
            </a:extLst>
          </p:cNvPr>
          <p:cNvSpPr>
            <a:spLocks noChangeArrowheads="1"/>
          </p:cNvSpPr>
          <p:nvPr/>
        </p:nvSpPr>
        <p:spPr bwMode="auto">
          <a:xfrm>
            <a:off x="2001278" y="492645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7" name="Line 7">
            <a:extLst>
              <a:ext uri="{FF2B5EF4-FFF2-40B4-BE49-F238E27FC236}">
                <a16:creationId xmlns:a16="http://schemas.microsoft.com/office/drawing/2014/main" id="{48D605CF-ABE3-1B4F-A232-D527090F964F}"/>
              </a:ext>
            </a:extLst>
          </p:cNvPr>
          <p:cNvSpPr>
            <a:spLocks noChangeShapeType="1"/>
          </p:cNvSpPr>
          <p:nvPr/>
        </p:nvSpPr>
        <p:spPr bwMode="auto">
          <a:xfrm>
            <a:off x="2001278"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8" name="Line 8">
            <a:extLst>
              <a:ext uri="{FF2B5EF4-FFF2-40B4-BE49-F238E27FC236}">
                <a16:creationId xmlns:a16="http://schemas.microsoft.com/office/drawing/2014/main" id="{6E612E8D-CA6C-F94A-8F5F-7BEED5AE7E82}"/>
              </a:ext>
            </a:extLst>
          </p:cNvPr>
          <p:cNvSpPr>
            <a:spLocks noChangeShapeType="1"/>
          </p:cNvSpPr>
          <p:nvPr/>
        </p:nvSpPr>
        <p:spPr bwMode="auto">
          <a:xfrm>
            <a:off x="2458245"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9" name="Rectangle 9">
            <a:extLst>
              <a:ext uri="{FF2B5EF4-FFF2-40B4-BE49-F238E27FC236}">
                <a16:creationId xmlns:a16="http://schemas.microsoft.com/office/drawing/2014/main" id="{0E2B504C-B9E0-FC47-9368-53C623397F64}"/>
              </a:ext>
            </a:extLst>
          </p:cNvPr>
          <p:cNvSpPr>
            <a:spLocks noChangeArrowheads="1"/>
          </p:cNvSpPr>
          <p:nvPr/>
        </p:nvSpPr>
        <p:spPr bwMode="auto">
          <a:xfrm>
            <a:off x="2001278" y="4916128"/>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0" name="Oval 10">
            <a:extLst>
              <a:ext uri="{FF2B5EF4-FFF2-40B4-BE49-F238E27FC236}">
                <a16:creationId xmlns:a16="http://schemas.microsoft.com/office/drawing/2014/main" id="{9EFBE396-B625-0344-8E23-5BBAD57A09A7}"/>
              </a:ext>
            </a:extLst>
          </p:cNvPr>
          <p:cNvSpPr>
            <a:spLocks noChangeArrowheads="1"/>
          </p:cNvSpPr>
          <p:nvPr/>
        </p:nvSpPr>
        <p:spPr bwMode="auto">
          <a:xfrm>
            <a:off x="1996898" y="4829124"/>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1" name="Rectangle 11">
            <a:extLst>
              <a:ext uri="{FF2B5EF4-FFF2-40B4-BE49-F238E27FC236}">
                <a16:creationId xmlns:a16="http://schemas.microsoft.com/office/drawing/2014/main" id="{F0DBD69C-A5DB-DC4A-AE43-093463BEFD9F}"/>
              </a:ext>
            </a:extLst>
          </p:cNvPr>
          <p:cNvSpPr>
            <a:spLocks noChangeArrowheads="1"/>
          </p:cNvSpPr>
          <p:nvPr/>
        </p:nvSpPr>
        <p:spPr bwMode="auto">
          <a:xfrm>
            <a:off x="2123914" y="4848294"/>
            <a:ext cx="205854" cy="18285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2" name="Text Box 12">
            <a:extLst>
              <a:ext uri="{FF2B5EF4-FFF2-40B4-BE49-F238E27FC236}">
                <a16:creationId xmlns:a16="http://schemas.microsoft.com/office/drawing/2014/main" id="{9C707F26-D218-B941-ACA7-2537E8CEE743}"/>
              </a:ext>
            </a:extLst>
          </p:cNvPr>
          <p:cNvSpPr txBox="1">
            <a:spLocks noChangeArrowheads="1"/>
          </p:cNvSpPr>
          <p:nvPr/>
        </p:nvSpPr>
        <p:spPr bwMode="auto">
          <a:xfrm>
            <a:off x="1998358" y="4752442"/>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3b</a:t>
            </a:r>
            <a:endParaRPr lang="en-US" kern="0" dirty="0">
              <a:solidFill>
                <a:srgbClr val="000000"/>
              </a:solidFill>
            </a:endParaRPr>
          </a:p>
        </p:txBody>
      </p:sp>
      <p:sp>
        <p:nvSpPr>
          <p:cNvPr id="143" name="Oval 13">
            <a:extLst>
              <a:ext uri="{FF2B5EF4-FFF2-40B4-BE49-F238E27FC236}">
                <a16:creationId xmlns:a16="http://schemas.microsoft.com/office/drawing/2014/main" id="{F5CAF371-FE17-244E-B591-ECED8083E85E}"/>
              </a:ext>
            </a:extLst>
          </p:cNvPr>
          <p:cNvSpPr>
            <a:spLocks noChangeArrowheads="1"/>
          </p:cNvSpPr>
          <p:nvPr/>
        </p:nvSpPr>
        <p:spPr bwMode="auto">
          <a:xfrm>
            <a:off x="3779509" y="5820083"/>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4" name="Line 14">
            <a:extLst>
              <a:ext uri="{FF2B5EF4-FFF2-40B4-BE49-F238E27FC236}">
                <a16:creationId xmlns:a16="http://schemas.microsoft.com/office/drawing/2014/main" id="{21854A4C-DB2D-E340-B5A9-97C52C8C104F}"/>
              </a:ext>
            </a:extLst>
          </p:cNvPr>
          <p:cNvSpPr>
            <a:spLocks noChangeShapeType="1"/>
          </p:cNvSpPr>
          <p:nvPr/>
        </p:nvSpPr>
        <p:spPr bwMode="auto">
          <a:xfrm>
            <a:off x="3779509"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5" name="Line 15">
            <a:extLst>
              <a:ext uri="{FF2B5EF4-FFF2-40B4-BE49-F238E27FC236}">
                <a16:creationId xmlns:a16="http://schemas.microsoft.com/office/drawing/2014/main" id="{E1CB0695-60DD-C243-A589-4B84D9A97D8C}"/>
              </a:ext>
            </a:extLst>
          </p:cNvPr>
          <p:cNvSpPr>
            <a:spLocks noChangeShapeType="1"/>
          </p:cNvSpPr>
          <p:nvPr/>
        </p:nvSpPr>
        <p:spPr bwMode="auto">
          <a:xfrm>
            <a:off x="4236476"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6" name="Rectangle 16">
            <a:extLst>
              <a:ext uri="{FF2B5EF4-FFF2-40B4-BE49-F238E27FC236}">
                <a16:creationId xmlns:a16="http://schemas.microsoft.com/office/drawing/2014/main" id="{5BD440AE-D73F-7F45-9AA6-838A5A161111}"/>
              </a:ext>
            </a:extLst>
          </p:cNvPr>
          <p:cNvSpPr>
            <a:spLocks noChangeArrowheads="1"/>
          </p:cNvSpPr>
          <p:nvPr/>
        </p:nvSpPr>
        <p:spPr bwMode="auto">
          <a:xfrm>
            <a:off x="3779509" y="5809761"/>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7" name="Oval 17">
            <a:extLst>
              <a:ext uri="{FF2B5EF4-FFF2-40B4-BE49-F238E27FC236}">
                <a16:creationId xmlns:a16="http://schemas.microsoft.com/office/drawing/2014/main" id="{E5795699-8636-AB42-9278-8D9E1A42842D}"/>
              </a:ext>
            </a:extLst>
          </p:cNvPr>
          <p:cNvSpPr>
            <a:spLocks noChangeArrowheads="1"/>
          </p:cNvSpPr>
          <p:nvPr/>
        </p:nvSpPr>
        <p:spPr bwMode="auto">
          <a:xfrm>
            <a:off x="3775129" y="5722757"/>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8" name="Group 18">
            <a:extLst>
              <a:ext uri="{FF2B5EF4-FFF2-40B4-BE49-F238E27FC236}">
                <a16:creationId xmlns:a16="http://schemas.microsoft.com/office/drawing/2014/main" id="{6B8409BD-7477-6747-91EB-78CFC8F8BA47}"/>
              </a:ext>
            </a:extLst>
          </p:cNvPr>
          <p:cNvGrpSpPr>
            <a:grpSpLocks/>
          </p:cNvGrpSpPr>
          <p:nvPr/>
        </p:nvGrpSpPr>
        <p:grpSpPr bwMode="auto">
          <a:xfrm>
            <a:off x="3778049" y="5637228"/>
            <a:ext cx="468647" cy="396679"/>
            <a:chOff x="2897" y="2425"/>
            <a:chExt cx="323" cy="269"/>
          </a:xfrm>
        </p:grpSpPr>
        <p:sp>
          <p:nvSpPr>
            <p:cNvPr id="251" name="Rectangle 19">
              <a:extLst>
                <a:ext uri="{FF2B5EF4-FFF2-40B4-BE49-F238E27FC236}">
                  <a16:creationId xmlns:a16="http://schemas.microsoft.com/office/drawing/2014/main" id="{7D7609E8-756E-1B41-AE93-5463D8AF72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2" name="Text Box 20">
              <a:extLst>
                <a:ext uri="{FF2B5EF4-FFF2-40B4-BE49-F238E27FC236}">
                  <a16:creationId xmlns:a16="http://schemas.microsoft.com/office/drawing/2014/main" id="{7B4233D3-81BD-B448-80FE-0C01096615A5}"/>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1d</a:t>
              </a:r>
            </a:p>
          </p:txBody>
        </p:sp>
      </p:grpSp>
      <p:sp>
        <p:nvSpPr>
          <p:cNvPr id="149" name="Oval 21">
            <a:extLst>
              <a:ext uri="{FF2B5EF4-FFF2-40B4-BE49-F238E27FC236}">
                <a16:creationId xmlns:a16="http://schemas.microsoft.com/office/drawing/2014/main" id="{7AA5B5C8-99AF-D744-91DD-4758CEDCAEAA}"/>
              </a:ext>
            </a:extLst>
          </p:cNvPr>
          <p:cNvSpPr>
            <a:spLocks noChangeArrowheads="1"/>
          </p:cNvSpPr>
          <p:nvPr/>
        </p:nvSpPr>
        <p:spPr bwMode="auto">
          <a:xfrm>
            <a:off x="2820315" y="4731797"/>
            <a:ext cx="456967" cy="1223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0" name="Line 22">
            <a:extLst>
              <a:ext uri="{FF2B5EF4-FFF2-40B4-BE49-F238E27FC236}">
                <a16:creationId xmlns:a16="http://schemas.microsoft.com/office/drawing/2014/main" id="{3F1A6000-25C3-6A47-897A-6B2052E82150}"/>
              </a:ext>
            </a:extLst>
          </p:cNvPr>
          <p:cNvSpPr>
            <a:spLocks noChangeShapeType="1"/>
          </p:cNvSpPr>
          <p:nvPr/>
        </p:nvSpPr>
        <p:spPr bwMode="auto">
          <a:xfrm>
            <a:off x="2820315"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1" name="Line 23">
            <a:extLst>
              <a:ext uri="{FF2B5EF4-FFF2-40B4-BE49-F238E27FC236}">
                <a16:creationId xmlns:a16="http://schemas.microsoft.com/office/drawing/2014/main" id="{2C6C2593-75EB-9041-B98E-049BD334D460}"/>
              </a:ext>
            </a:extLst>
          </p:cNvPr>
          <p:cNvSpPr>
            <a:spLocks noChangeShapeType="1"/>
          </p:cNvSpPr>
          <p:nvPr/>
        </p:nvSpPr>
        <p:spPr bwMode="auto">
          <a:xfrm>
            <a:off x="3277282"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2" name="Rectangle 24">
            <a:extLst>
              <a:ext uri="{FF2B5EF4-FFF2-40B4-BE49-F238E27FC236}">
                <a16:creationId xmlns:a16="http://schemas.microsoft.com/office/drawing/2014/main" id="{503F2144-C006-BA4A-A54C-154D6C9ABA2E}"/>
              </a:ext>
            </a:extLst>
          </p:cNvPr>
          <p:cNvSpPr>
            <a:spLocks noChangeArrowheads="1"/>
          </p:cNvSpPr>
          <p:nvPr/>
        </p:nvSpPr>
        <p:spPr bwMode="auto">
          <a:xfrm>
            <a:off x="2820315" y="4721475"/>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53" name="Oval 25">
            <a:extLst>
              <a:ext uri="{FF2B5EF4-FFF2-40B4-BE49-F238E27FC236}">
                <a16:creationId xmlns:a16="http://schemas.microsoft.com/office/drawing/2014/main" id="{D492E009-7760-4343-874C-AD3B41835873}"/>
              </a:ext>
            </a:extLst>
          </p:cNvPr>
          <p:cNvSpPr>
            <a:spLocks noChangeArrowheads="1"/>
          </p:cNvSpPr>
          <p:nvPr/>
        </p:nvSpPr>
        <p:spPr bwMode="auto">
          <a:xfrm>
            <a:off x="2815935" y="4634471"/>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4" name="Rectangle 26">
            <a:extLst>
              <a:ext uri="{FF2B5EF4-FFF2-40B4-BE49-F238E27FC236}">
                <a16:creationId xmlns:a16="http://schemas.microsoft.com/office/drawing/2014/main" id="{F8BDB031-7C07-264D-B086-6DC72DC78BDE}"/>
              </a:ext>
            </a:extLst>
          </p:cNvPr>
          <p:cNvSpPr>
            <a:spLocks noChangeArrowheads="1"/>
          </p:cNvSpPr>
          <p:nvPr/>
        </p:nvSpPr>
        <p:spPr bwMode="auto">
          <a:xfrm>
            <a:off x="2942952" y="4653641"/>
            <a:ext cx="207314" cy="16221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5" name="Text Box 27">
            <a:extLst>
              <a:ext uri="{FF2B5EF4-FFF2-40B4-BE49-F238E27FC236}">
                <a16:creationId xmlns:a16="http://schemas.microsoft.com/office/drawing/2014/main" id="{B087AFAB-7C65-874C-8F8F-3012C906099F}"/>
              </a:ext>
            </a:extLst>
          </p:cNvPr>
          <p:cNvSpPr txBox="1">
            <a:spLocks noChangeArrowheads="1"/>
          </p:cNvSpPr>
          <p:nvPr/>
        </p:nvSpPr>
        <p:spPr bwMode="auto">
          <a:xfrm>
            <a:off x="2818855" y="4556315"/>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3a</a:t>
            </a:r>
            <a:endParaRPr lang="en-US" kern="0" dirty="0">
              <a:solidFill>
                <a:srgbClr val="000000"/>
              </a:solidFill>
            </a:endParaRPr>
          </a:p>
        </p:txBody>
      </p:sp>
      <p:sp>
        <p:nvSpPr>
          <p:cNvPr id="156" name="Oval 28">
            <a:extLst>
              <a:ext uri="{FF2B5EF4-FFF2-40B4-BE49-F238E27FC236}">
                <a16:creationId xmlns:a16="http://schemas.microsoft.com/office/drawing/2014/main" id="{87CEC350-ADF1-E24F-A235-1A9B645EFA00}"/>
              </a:ext>
            </a:extLst>
          </p:cNvPr>
          <p:cNvSpPr>
            <a:spLocks noChangeArrowheads="1"/>
          </p:cNvSpPr>
          <p:nvPr/>
        </p:nvSpPr>
        <p:spPr bwMode="auto">
          <a:xfrm>
            <a:off x="3726950" y="5236125"/>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7" name="Line 29">
            <a:extLst>
              <a:ext uri="{FF2B5EF4-FFF2-40B4-BE49-F238E27FC236}">
                <a16:creationId xmlns:a16="http://schemas.microsoft.com/office/drawing/2014/main" id="{5782FBF4-093E-9947-AAA6-533CA371CD3F}"/>
              </a:ext>
            </a:extLst>
          </p:cNvPr>
          <p:cNvSpPr>
            <a:spLocks noChangeShapeType="1"/>
          </p:cNvSpPr>
          <p:nvPr/>
        </p:nvSpPr>
        <p:spPr bwMode="auto">
          <a:xfrm>
            <a:off x="3726950"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8" name="Line 30">
            <a:extLst>
              <a:ext uri="{FF2B5EF4-FFF2-40B4-BE49-F238E27FC236}">
                <a16:creationId xmlns:a16="http://schemas.microsoft.com/office/drawing/2014/main" id="{FA0971A2-9137-1943-A6F3-BD3716BCCBB6}"/>
              </a:ext>
            </a:extLst>
          </p:cNvPr>
          <p:cNvSpPr>
            <a:spLocks noChangeShapeType="1"/>
          </p:cNvSpPr>
          <p:nvPr/>
        </p:nvSpPr>
        <p:spPr bwMode="auto">
          <a:xfrm>
            <a:off x="4183917"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9" name="Rectangle 31">
            <a:extLst>
              <a:ext uri="{FF2B5EF4-FFF2-40B4-BE49-F238E27FC236}">
                <a16:creationId xmlns:a16="http://schemas.microsoft.com/office/drawing/2014/main" id="{FBE8FDDA-4B2E-BE4C-95BF-585222778ECA}"/>
              </a:ext>
            </a:extLst>
          </p:cNvPr>
          <p:cNvSpPr>
            <a:spLocks noChangeArrowheads="1"/>
          </p:cNvSpPr>
          <p:nvPr/>
        </p:nvSpPr>
        <p:spPr bwMode="auto">
          <a:xfrm>
            <a:off x="3726950" y="5227277"/>
            <a:ext cx="452588" cy="7078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60" name="Oval 32">
            <a:extLst>
              <a:ext uri="{FF2B5EF4-FFF2-40B4-BE49-F238E27FC236}">
                <a16:creationId xmlns:a16="http://schemas.microsoft.com/office/drawing/2014/main" id="{6DE39B5B-BD23-3044-9274-CFE1A3DFE64E}"/>
              </a:ext>
            </a:extLst>
          </p:cNvPr>
          <p:cNvSpPr>
            <a:spLocks noChangeArrowheads="1"/>
          </p:cNvSpPr>
          <p:nvPr/>
        </p:nvSpPr>
        <p:spPr bwMode="auto">
          <a:xfrm>
            <a:off x="3722570" y="5138799"/>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61" name="Group 33">
            <a:extLst>
              <a:ext uri="{FF2B5EF4-FFF2-40B4-BE49-F238E27FC236}">
                <a16:creationId xmlns:a16="http://schemas.microsoft.com/office/drawing/2014/main" id="{D6CD68FD-658B-EA4A-AFA2-F4EE9AE43DCA}"/>
              </a:ext>
            </a:extLst>
          </p:cNvPr>
          <p:cNvGrpSpPr>
            <a:grpSpLocks/>
          </p:cNvGrpSpPr>
          <p:nvPr/>
        </p:nvGrpSpPr>
        <p:grpSpPr bwMode="auto">
          <a:xfrm>
            <a:off x="3729870" y="5053269"/>
            <a:ext cx="452588" cy="398153"/>
            <a:chOff x="2899" y="2425"/>
            <a:chExt cx="319" cy="270"/>
          </a:xfrm>
        </p:grpSpPr>
        <p:sp>
          <p:nvSpPr>
            <p:cNvPr id="249" name="Rectangle 34">
              <a:extLst>
                <a:ext uri="{FF2B5EF4-FFF2-40B4-BE49-F238E27FC236}">
                  <a16:creationId xmlns:a16="http://schemas.microsoft.com/office/drawing/2014/main" id="{C85F8938-221C-6441-94A5-77506E21CEF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0" name="Text Box 35">
              <a:extLst>
                <a:ext uri="{FF2B5EF4-FFF2-40B4-BE49-F238E27FC236}">
                  <a16:creationId xmlns:a16="http://schemas.microsoft.com/office/drawing/2014/main" id="{430475AC-A5D0-EF4C-9180-A3E96828AD84}"/>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1c</a:t>
              </a:r>
            </a:p>
          </p:txBody>
        </p:sp>
      </p:grpSp>
      <p:sp>
        <p:nvSpPr>
          <p:cNvPr id="162" name="Line 36">
            <a:extLst>
              <a:ext uri="{FF2B5EF4-FFF2-40B4-BE49-F238E27FC236}">
                <a16:creationId xmlns:a16="http://schemas.microsoft.com/office/drawing/2014/main" id="{AF16B8FF-7450-3B46-865A-EC0F92A90E8F}"/>
              </a:ext>
            </a:extLst>
          </p:cNvPr>
          <p:cNvSpPr>
            <a:spLocks noChangeShapeType="1"/>
          </p:cNvSpPr>
          <p:nvPr/>
        </p:nvSpPr>
        <p:spPr bwMode="auto">
          <a:xfrm>
            <a:off x="6347578" y="4971418"/>
            <a:ext cx="449668" cy="1445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3" name="Line 37">
            <a:extLst>
              <a:ext uri="{FF2B5EF4-FFF2-40B4-BE49-F238E27FC236}">
                <a16:creationId xmlns:a16="http://schemas.microsoft.com/office/drawing/2014/main" id="{B705DAC1-A436-FC47-B3A5-64086AE0207E}"/>
              </a:ext>
            </a:extLst>
          </p:cNvPr>
          <p:cNvSpPr>
            <a:spLocks noChangeShapeType="1"/>
          </p:cNvSpPr>
          <p:nvPr/>
        </p:nvSpPr>
        <p:spPr bwMode="auto">
          <a:xfrm>
            <a:off x="6820605" y="4846819"/>
            <a:ext cx="132856" cy="17105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4" name="Line 38">
            <a:extLst>
              <a:ext uri="{FF2B5EF4-FFF2-40B4-BE49-F238E27FC236}">
                <a16:creationId xmlns:a16="http://schemas.microsoft.com/office/drawing/2014/main" id="{B646BCF5-2213-9142-8477-66C7DFEE38E7}"/>
              </a:ext>
            </a:extLst>
          </p:cNvPr>
          <p:cNvSpPr>
            <a:spLocks noChangeShapeType="1"/>
          </p:cNvSpPr>
          <p:nvPr/>
        </p:nvSpPr>
        <p:spPr bwMode="auto">
          <a:xfrm flipV="1">
            <a:off x="6248301" y="4781935"/>
            <a:ext cx="166435" cy="11207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5" name="Freeform 39">
            <a:extLst>
              <a:ext uri="{FF2B5EF4-FFF2-40B4-BE49-F238E27FC236}">
                <a16:creationId xmlns:a16="http://schemas.microsoft.com/office/drawing/2014/main" id="{1A359E4A-1EBE-234F-9DE9-E4FB43E18A2D}"/>
              </a:ext>
            </a:extLst>
          </p:cNvPr>
          <p:cNvSpPr>
            <a:spLocks/>
          </p:cNvSpPr>
          <p:nvPr/>
        </p:nvSpPr>
        <p:spPr bwMode="auto">
          <a:xfrm>
            <a:off x="42335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6" name="Freeform 40">
            <a:extLst>
              <a:ext uri="{FF2B5EF4-FFF2-40B4-BE49-F238E27FC236}">
                <a16:creationId xmlns:a16="http://schemas.microsoft.com/office/drawing/2014/main" id="{097126F1-D995-444D-8642-03F5F5E0DBAA}"/>
              </a:ext>
            </a:extLst>
          </p:cNvPr>
          <p:cNvSpPr>
            <a:spLocks/>
          </p:cNvSpPr>
          <p:nvPr/>
        </p:nvSpPr>
        <p:spPr bwMode="auto">
          <a:xfrm>
            <a:off x="35619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7" name="Freeform 41">
            <a:extLst>
              <a:ext uri="{FF2B5EF4-FFF2-40B4-BE49-F238E27FC236}">
                <a16:creationId xmlns:a16="http://schemas.microsoft.com/office/drawing/2014/main" id="{8FA74CA7-BEE7-3E46-BAFF-EC2177B4B95C}"/>
              </a:ext>
            </a:extLst>
          </p:cNvPr>
          <p:cNvSpPr>
            <a:spLocks/>
          </p:cNvSpPr>
          <p:nvPr/>
        </p:nvSpPr>
        <p:spPr bwMode="auto">
          <a:xfrm>
            <a:off x="37430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8" name="Freeform 42">
            <a:extLst>
              <a:ext uri="{FF2B5EF4-FFF2-40B4-BE49-F238E27FC236}">
                <a16:creationId xmlns:a16="http://schemas.microsoft.com/office/drawing/2014/main" id="{A5B0DFEC-B8A9-C34F-94A0-A4E2936DD8A8}"/>
              </a:ext>
            </a:extLst>
          </p:cNvPr>
          <p:cNvSpPr>
            <a:spLocks/>
          </p:cNvSpPr>
          <p:nvPr/>
        </p:nvSpPr>
        <p:spPr bwMode="auto">
          <a:xfrm>
            <a:off x="36524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9" name="Freeform 43">
            <a:extLst>
              <a:ext uri="{FF2B5EF4-FFF2-40B4-BE49-F238E27FC236}">
                <a16:creationId xmlns:a16="http://schemas.microsoft.com/office/drawing/2014/main" id="{698BCEC3-16FB-314C-831F-6D55ED13B108}"/>
              </a:ext>
            </a:extLst>
          </p:cNvPr>
          <p:cNvSpPr>
            <a:spLocks/>
          </p:cNvSpPr>
          <p:nvPr/>
        </p:nvSpPr>
        <p:spPr bwMode="auto">
          <a:xfrm>
            <a:off x="24465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0" name="Freeform 44">
            <a:extLst>
              <a:ext uri="{FF2B5EF4-FFF2-40B4-BE49-F238E27FC236}">
                <a16:creationId xmlns:a16="http://schemas.microsoft.com/office/drawing/2014/main" id="{8CB7EA9B-46A2-DA43-BD84-E5E548E767A3}"/>
              </a:ext>
            </a:extLst>
          </p:cNvPr>
          <p:cNvSpPr>
            <a:spLocks/>
          </p:cNvSpPr>
          <p:nvPr/>
        </p:nvSpPr>
        <p:spPr bwMode="auto">
          <a:xfrm>
            <a:off x="30831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1" name="Freeform 45">
            <a:extLst>
              <a:ext uri="{FF2B5EF4-FFF2-40B4-BE49-F238E27FC236}">
                <a16:creationId xmlns:a16="http://schemas.microsoft.com/office/drawing/2014/main" id="{7D4FB268-A169-0F4B-9C84-1ACD0524121A}"/>
              </a:ext>
            </a:extLst>
          </p:cNvPr>
          <p:cNvSpPr>
            <a:spLocks/>
          </p:cNvSpPr>
          <p:nvPr/>
        </p:nvSpPr>
        <p:spPr bwMode="auto">
          <a:xfrm>
            <a:off x="50160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2" name="Oval 46">
            <a:extLst>
              <a:ext uri="{FF2B5EF4-FFF2-40B4-BE49-F238E27FC236}">
                <a16:creationId xmlns:a16="http://schemas.microsoft.com/office/drawing/2014/main" id="{77EAE8E4-EF1C-944D-B5DF-947BBACAF6BC}"/>
              </a:ext>
            </a:extLst>
          </p:cNvPr>
          <p:cNvSpPr>
            <a:spLocks noChangeArrowheads="1"/>
          </p:cNvSpPr>
          <p:nvPr/>
        </p:nvSpPr>
        <p:spPr bwMode="auto">
          <a:xfrm>
            <a:off x="5890611" y="4936773"/>
            <a:ext cx="456967" cy="12092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3" name="Line 47">
            <a:extLst>
              <a:ext uri="{FF2B5EF4-FFF2-40B4-BE49-F238E27FC236}">
                <a16:creationId xmlns:a16="http://schemas.microsoft.com/office/drawing/2014/main" id="{7605033D-73A1-924E-99FE-EDD6125246F5}"/>
              </a:ext>
            </a:extLst>
          </p:cNvPr>
          <p:cNvSpPr>
            <a:spLocks noChangeShapeType="1"/>
          </p:cNvSpPr>
          <p:nvPr/>
        </p:nvSpPr>
        <p:spPr bwMode="auto">
          <a:xfrm>
            <a:off x="5890611"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4" name="Line 48">
            <a:extLst>
              <a:ext uri="{FF2B5EF4-FFF2-40B4-BE49-F238E27FC236}">
                <a16:creationId xmlns:a16="http://schemas.microsoft.com/office/drawing/2014/main" id="{DBC0B4AB-D0E3-C74F-9785-E25E20C244C4}"/>
              </a:ext>
            </a:extLst>
          </p:cNvPr>
          <p:cNvSpPr>
            <a:spLocks noChangeShapeType="1"/>
          </p:cNvSpPr>
          <p:nvPr/>
        </p:nvSpPr>
        <p:spPr bwMode="auto">
          <a:xfrm>
            <a:off x="6347578"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5" name="Rectangle 49">
            <a:extLst>
              <a:ext uri="{FF2B5EF4-FFF2-40B4-BE49-F238E27FC236}">
                <a16:creationId xmlns:a16="http://schemas.microsoft.com/office/drawing/2014/main" id="{592A5C53-BD83-384A-9C2D-08CEEB785BC8}"/>
              </a:ext>
            </a:extLst>
          </p:cNvPr>
          <p:cNvSpPr>
            <a:spLocks noChangeArrowheads="1"/>
          </p:cNvSpPr>
          <p:nvPr/>
        </p:nvSpPr>
        <p:spPr bwMode="auto">
          <a:xfrm>
            <a:off x="5890611" y="4924975"/>
            <a:ext cx="452588" cy="737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76" name="Oval 50">
            <a:extLst>
              <a:ext uri="{FF2B5EF4-FFF2-40B4-BE49-F238E27FC236}">
                <a16:creationId xmlns:a16="http://schemas.microsoft.com/office/drawing/2014/main" id="{5D02A58E-4F5A-EC40-B29A-0D5700D169BA}"/>
              </a:ext>
            </a:extLst>
          </p:cNvPr>
          <p:cNvSpPr>
            <a:spLocks noChangeArrowheads="1"/>
          </p:cNvSpPr>
          <p:nvPr/>
        </p:nvSpPr>
        <p:spPr bwMode="auto">
          <a:xfrm>
            <a:off x="5886231" y="4837972"/>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7" name="Rectangle 51">
            <a:extLst>
              <a:ext uri="{FF2B5EF4-FFF2-40B4-BE49-F238E27FC236}">
                <a16:creationId xmlns:a16="http://schemas.microsoft.com/office/drawing/2014/main" id="{A8B4ED51-5EBD-7A42-A070-7C85A13AFB2E}"/>
              </a:ext>
            </a:extLst>
          </p:cNvPr>
          <p:cNvSpPr>
            <a:spLocks noChangeArrowheads="1"/>
          </p:cNvSpPr>
          <p:nvPr/>
        </p:nvSpPr>
        <p:spPr bwMode="auto">
          <a:xfrm>
            <a:off x="6013247" y="4857142"/>
            <a:ext cx="205854" cy="17990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8" name="Text Box 52">
            <a:extLst>
              <a:ext uri="{FF2B5EF4-FFF2-40B4-BE49-F238E27FC236}">
                <a16:creationId xmlns:a16="http://schemas.microsoft.com/office/drawing/2014/main" id="{6864AE40-C653-554F-B5F5-7FCE890517DF}"/>
              </a:ext>
            </a:extLst>
          </p:cNvPr>
          <p:cNvSpPr txBox="1">
            <a:spLocks noChangeArrowheads="1"/>
          </p:cNvSpPr>
          <p:nvPr/>
        </p:nvSpPr>
        <p:spPr bwMode="auto">
          <a:xfrm>
            <a:off x="5887691" y="4761290"/>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2a</a:t>
            </a:r>
            <a:endParaRPr lang="en-US" kern="0" dirty="0">
              <a:solidFill>
                <a:srgbClr val="000000"/>
              </a:solidFill>
            </a:endParaRPr>
          </a:p>
        </p:txBody>
      </p:sp>
      <p:sp>
        <p:nvSpPr>
          <p:cNvPr id="179" name="Text Box 53">
            <a:extLst>
              <a:ext uri="{FF2B5EF4-FFF2-40B4-BE49-F238E27FC236}">
                <a16:creationId xmlns:a16="http://schemas.microsoft.com/office/drawing/2014/main" id="{9674ED05-1E44-A445-B61A-D179B03704BB}"/>
              </a:ext>
            </a:extLst>
          </p:cNvPr>
          <p:cNvSpPr txBox="1">
            <a:spLocks noChangeArrowheads="1"/>
          </p:cNvSpPr>
          <p:nvPr/>
        </p:nvSpPr>
        <p:spPr bwMode="auto">
          <a:xfrm>
            <a:off x="1840470" y="5215261"/>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AS3</a:t>
            </a:r>
            <a:endParaRPr lang="en-US" sz="1800" kern="0" dirty="0">
              <a:solidFill>
                <a:srgbClr val="000000"/>
              </a:solidFill>
            </a:endParaRPr>
          </a:p>
        </p:txBody>
      </p:sp>
      <p:sp>
        <p:nvSpPr>
          <p:cNvPr id="180" name="Text Box 54">
            <a:extLst>
              <a:ext uri="{FF2B5EF4-FFF2-40B4-BE49-F238E27FC236}">
                <a16:creationId xmlns:a16="http://schemas.microsoft.com/office/drawing/2014/main" id="{005A3212-FAC4-D446-8E0A-533A16ECE775}"/>
              </a:ext>
            </a:extLst>
          </p:cNvPr>
          <p:cNvSpPr txBox="1">
            <a:spLocks noChangeArrowheads="1"/>
          </p:cNvSpPr>
          <p:nvPr/>
        </p:nvSpPr>
        <p:spPr bwMode="auto">
          <a:xfrm>
            <a:off x="5345452" y="5839068"/>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AS1</a:t>
            </a:r>
            <a:endParaRPr lang="en-US" sz="1800" kern="0" dirty="0">
              <a:solidFill>
                <a:srgbClr val="000000"/>
              </a:solidFill>
            </a:endParaRPr>
          </a:p>
        </p:txBody>
      </p:sp>
      <p:sp>
        <p:nvSpPr>
          <p:cNvPr id="181" name="Text Box 55">
            <a:extLst>
              <a:ext uri="{FF2B5EF4-FFF2-40B4-BE49-F238E27FC236}">
                <a16:creationId xmlns:a16="http://schemas.microsoft.com/office/drawing/2014/main" id="{7DE50C34-9B18-1849-8D31-CE3E7E2F0717}"/>
              </a:ext>
            </a:extLst>
          </p:cNvPr>
          <p:cNvSpPr txBox="1">
            <a:spLocks noChangeArrowheads="1"/>
          </p:cNvSpPr>
          <p:nvPr/>
        </p:nvSpPr>
        <p:spPr bwMode="auto">
          <a:xfrm>
            <a:off x="7116511" y="5463035"/>
            <a:ext cx="616103"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1800" kern="0" dirty="0">
                <a:solidFill>
                  <a:srgbClr val="000000"/>
                </a:solidFill>
              </a:rPr>
              <a:t>AS2</a:t>
            </a:r>
          </a:p>
        </p:txBody>
      </p:sp>
      <p:sp>
        <p:nvSpPr>
          <p:cNvPr id="182" name="Oval 56">
            <a:extLst>
              <a:ext uri="{FF2B5EF4-FFF2-40B4-BE49-F238E27FC236}">
                <a16:creationId xmlns:a16="http://schemas.microsoft.com/office/drawing/2014/main" id="{4CAC6F24-F619-7E4B-9E0A-AF6FB0ECB08F}"/>
              </a:ext>
            </a:extLst>
          </p:cNvPr>
          <p:cNvSpPr>
            <a:spLocks noChangeArrowheads="1"/>
          </p:cNvSpPr>
          <p:nvPr/>
        </p:nvSpPr>
        <p:spPr bwMode="auto">
          <a:xfrm>
            <a:off x="3280202" y="554580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3" name="Line 57">
            <a:extLst>
              <a:ext uri="{FF2B5EF4-FFF2-40B4-BE49-F238E27FC236}">
                <a16:creationId xmlns:a16="http://schemas.microsoft.com/office/drawing/2014/main" id="{37706C00-5AFA-4E4F-AEE2-E86CBA64F507}"/>
              </a:ext>
            </a:extLst>
          </p:cNvPr>
          <p:cNvSpPr>
            <a:spLocks noChangeShapeType="1"/>
          </p:cNvSpPr>
          <p:nvPr/>
        </p:nvSpPr>
        <p:spPr bwMode="auto">
          <a:xfrm>
            <a:off x="3280202"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4" name="Line 58">
            <a:extLst>
              <a:ext uri="{FF2B5EF4-FFF2-40B4-BE49-F238E27FC236}">
                <a16:creationId xmlns:a16="http://schemas.microsoft.com/office/drawing/2014/main" id="{F53BFE68-5413-9042-B5B8-E870B9DF06EF}"/>
              </a:ext>
            </a:extLst>
          </p:cNvPr>
          <p:cNvSpPr>
            <a:spLocks noChangeShapeType="1"/>
          </p:cNvSpPr>
          <p:nvPr/>
        </p:nvSpPr>
        <p:spPr bwMode="auto">
          <a:xfrm>
            <a:off x="3738630"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5" name="Rectangle 59">
            <a:extLst>
              <a:ext uri="{FF2B5EF4-FFF2-40B4-BE49-F238E27FC236}">
                <a16:creationId xmlns:a16="http://schemas.microsoft.com/office/drawing/2014/main" id="{E66B86FC-0EE6-A646-BA10-BADF35B023EA}"/>
              </a:ext>
            </a:extLst>
          </p:cNvPr>
          <p:cNvSpPr>
            <a:spLocks noChangeArrowheads="1"/>
          </p:cNvSpPr>
          <p:nvPr/>
        </p:nvSpPr>
        <p:spPr bwMode="auto">
          <a:xfrm>
            <a:off x="3280202" y="5535477"/>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86" name="Oval 60">
            <a:extLst>
              <a:ext uri="{FF2B5EF4-FFF2-40B4-BE49-F238E27FC236}">
                <a16:creationId xmlns:a16="http://schemas.microsoft.com/office/drawing/2014/main" id="{E2C4F48E-C2B7-F040-A479-AD3AA9552BB4}"/>
              </a:ext>
            </a:extLst>
          </p:cNvPr>
          <p:cNvSpPr>
            <a:spLocks noChangeArrowheads="1"/>
          </p:cNvSpPr>
          <p:nvPr/>
        </p:nvSpPr>
        <p:spPr bwMode="auto">
          <a:xfrm>
            <a:off x="3275822" y="5455847"/>
            <a:ext cx="456967" cy="14156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7" name="Rectangle 61">
            <a:extLst>
              <a:ext uri="{FF2B5EF4-FFF2-40B4-BE49-F238E27FC236}">
                <a16:creationId xmlns:a16="http://schemas.microsoft.com/office/drawing/2014/main" id="{782B4D58-3187-1646-B67F-4472AD6DF18D}"/>
              </a:ext>
            </a:extLst>
          </p:cNvPr>
          <p:cNvSpPr>
            <a:spLocks noChangeArrowheads="1"/>
          </p:cNvSpPr>
          <p:nvPr/>
        </p:nvSpPr>
        <p:spPr bwMode="auto">
          <a:xfrm>
            <a:off x="3399919" y="5494187"/>
            <a:ext cx="207314" cy="14156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8" name="Text Box 62">
            <a:extLst>
              <a:ext uri="{FF2B5EF4-FFF2-40B4-BE49-F238E27FC236}">
                <a16:creationId xmlns:a16="http://schemas.microsoft.com/office/drawing/2014/main" id="{CEC455E8-C4B8-6444-936D-9F9CEE323826}"/>
              </a:ext>
            </a:extLst>
          </p:cNvPr>
          <p:cNvSpPr txBox="1">
            <a:spLocks noChangeArrowheads="1"/>
          </p:cNvSpPr>
          <p:nvPr/>
        </p:nvSpPr>
        <p:spPr bwMode="auto">
          <a:xfrm>
            <a:off x="3280202" y="5367368"/>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1a</a:t>
            </a:r>
            <a:endParaRPr lang="en-US" kern="0" dirty="0">
              <a:solidFill>
                <a:srgbClr val="000000"/>
              </a:solidFill>
            </a:endParaRPr>
          </a:p>
        </p:txBody>
      </p:sp>
      <p:grpSp>
        <p:nvGrpSpPr>
          <p:cNvPr id="189" name="Group 63">
            <a:extLst>
              <a:ext uri="{FF2B5EF4-FFF2-40B4-BE49-F238E27FC236}">
                <a16:creationId xmlns:a16="http://schemas.microsoft.com/office/drawing/2014/main" id="{8B168416-DE6F-9546-A33D-5DC186D755BF}"/>
              </a:ext>
            </a:extLst>
          </p:cNvPr>
          <p:cNvGrpSpPr>
            <a:grpSpLocks/>
          </p:cNvGrpSpPr>
          <p:nvPr/>
        </p:nvGrpSpPr>
        <p:grpSpPr bwMode="auto">
          <a:xfrm>
            <a:off x="6394297" y="4593181"/>
            <a:ext cx="461347" cy="396679"/>
            <a:chOff x="4320" y="1936"/>
            <a:chExt cx="316" cy="269"/>
          </a:xfrm>
        </p:grpSpPr>
        <p:sp>
          <p:nvSpPr>
            <p:cNvPr id="242" name="Oval 64">
              <a:extLst>
                <a:ext uri="{FF2B5EF4-FFF2-40B4-BE49-F238E27FC236}">
                  <a16:creationId xmlns:a16="http://schemas.microsoft.com/office/drawing/2014/main" id="{17477FF4-6D5F-744F-A7C6-65D539FF25C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3" name="Line 65">
              <a:extLst>
                <a:ext uri="{FF2B5EF4-FFF2-40B4-BE49-F238E27FC236}">
                  <a16:creationId xmlns:a16="http://schemas.microsoft.com/office/drawing/2014/main" id="{7681775B-D11F-204C-B161-6FEDD638731C}"/>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4" name="Line 66">
              <a:extLst>
                <a:ext uri="{FF2B5EF4-FFF2-40B4-BE49-F238E27FC236}">
                  <a16:creationId xmlns:a16="http://schemas.microsoft.com/office/drawing/2014/main" id="{C9C1462B-D75D-9043-BD36-C8666A0E3E76}"/>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5" name="Rectangle 67">
              <a:extLst>
                <a:ext uri="{FF2B5EF4-FFF2-40B4-BE49-F238E27FC236}">
                  <a16:creationId xmlns:a16="http://schemas.microsoft.com/office/drawing/2014/main" id="{D2A31C20-F821-2245-A13A-E48BBF035C90}"/>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6" name="Oval 68">
              <a:extLst>
                <a:ext uri="{FF2B5EF4-FFF2-40B4-BE49-F238E27FC236}">
                  <a16:creationId xmlns:a16="http://schemas.microsoft.com/office/drawing/2014/main" id="{E3B56467-2A6B-814A-A9D2-32B39DA9E2D8}"/>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7" name="Rectangle 69">
              <a:extLst>
                <a:ext uri="{FF2B5EF4-FFF2-40B4-BE49-F238E27FC236}">
                  <a16:creationId xmlns:a16="http://schemas.microsoft.com/office/drawing/2014/main" id="{4CCA8E7D-2AA0-DB42-8739-0E698AF3EF16}"/>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8" name="Text Box 70">
              <a:extLst>
                <a:ext uri="{FF2B5EF4-FFF2-40B4-BE49-F238E27FC236}">
                  <a16:creationId xmlns:a16="http://schemas.microsoft.com/office/drawing/2014/main" id="{B0E12A9A-8AC6-2C4B-B109-A569883BDF8B}"/>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2c</a:t>
              </a:r>
              <a:endParaRPr lang="en-US" kern="0" dirty="0">
                <a:solidFill>
                  <a:srgbClr val="000000"/>
                </a:solidFill>
              </a:endParaRPr>
            </a:p>
          </p:txBody>
        </p:sp>
      </p:grpSp>
      <p:grpSp>
        <p:nvGrpSpPr>
          <p:cNvPr id="190" name="Group 71">
            <a:extLst>
              <a:ext uri="{FF2B5EF4-FFF2-40B4-BE49-F238E27FC236}">
                <a16:creationId xmlns:a16="http://schemas.microsoft.com/office/drawing/2014/main" id="{21E7E3D0-5FA0-9646-84AD-FC33AA41FD3A}"/>
              </a:ext>
            </a:extLst>
          </p:cNvPr>
          <p:cNvGrpSpPr>
            <a:grpSpLocks/>
          </p:cNvGrpSpPr>
          <p:nvPr/>
        </p:nvGrpSpPr>
        <p:grpSpPr bwMode="auto">
          <a:xfrm>
            <a:off x="6797246" y="4920552"/>
            <a:ext cx="468647" cy="396679"/>
            <a:chOff x="4596" y="2158"/>
            <a:chExt cx="321" cy="269"/>
          </a:xfrm>
        </p:grpSpPr>
        <p:sp>
          <p:nvSpPr>
            <p:cNvPr id="235" name="Oval 72">
              <a:extLst>
                <a:ext uri="{FF2B5EF4-FFF2-40B4-BE49-F238E27FC236}">
                  <a16:creationId xmlns:a16="http://schemas.microsoft.com/office/drawing/2014/main" id="{5608D056-551C-0B44-A60B-A3E90AFB7DFB}"/>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6" name="Line 73">
              <a:extLst>
                <a:ext uri="{FF2B5EF4-FFF2-40B4-BE49-F238E27FC236}">
                  <a16:creationId xmlns:a16="http://schemas.microsoft.com/office/drawing/2014/main" id="{FA977711-B8B6-4247-BDAB-A3001746C4D4}"/>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7" name="Line 74">
              <a:extLst>
                <a:ext uri="{FF2B5EF4-FFF2-40B4-BE49-F238E27FC236}">
                  <a16:creationId xmlns:a16="http://schemas.microsoft.com/office/drawing/2014/main" id="{6CA75CE1-2E8D-0F48-8641-8C18C90BD88D}"/>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8" name="Rectangle 75">
              <a:extLst>
                <a:ext uri="{FF2B5EF4-FFF2-40B4-BE49-F238E27FC236}">
                  <a16:creationId xmlns:a16="http://schemas.microsoft.com/office/drawing/2014/main" id="{4ED73E8C-48F2-3A4F-B322-2CCB3CBA0862}"/>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9" name="Oval 76">
              <a:extLst>
                <a:ext uri="{FF2B5EF4-FFF2-40B4-BE49-F238E27FC236}">
                  <a16:creationId xmlns:a16="http://schemas.microsoft.com/office/drawing/2014/main" id="{6345CAD2-BEAC-0E49-9C80-9EB68603FE17}"/>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0" name="Rectangle 77">
              <a:extLst>
                <a:ext uri="{FF2B5EF4-FFF2-40B4-BE49-F238E27FC236}">
                  <a16:creationId xmlns:a16="http://schemas.microsoft.com/office/drawing/2014/main" id="{E1F2376F-3613-4042-A35F-DEE5F89C6C4C}"/>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1" name="Text Box 78">
              <a:extLst>
                <a:ext uri="{FF2B5EF4-FFF2-40B4-BE49-F238E27FC236}">
                  <a16:creationId xmlns:a16="http://schemas.microsoft.com/office/drawing/2014/main" id="{7C2657A7-4F00-3C45-AD0D-9FB7A649BB45}"/>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2b</a:t>
              </a:r>
              <a:endParaRPr lang="en-US" kern="0" dirty="0">
                <a:solidFill>
                  <a:srgbClr val="000000"/>
                </a:solidFill>
              </a:endParaRPr>
            </a:p>
          </p:txBody>
        </p:sp>
      </p:grpSp>
      <p:grpSp>
        <p:nvGrpSpPr>
          <p:cNvPr id="191" name="Group 79">
            <a:extLst>
              <a:ext uri="{FF2B5EF4-FFF2-40B4-BE49-F238E27FC236}">
                <a16:creationId xmlns:a16="http://schemas.microsoft.com/office/drawing/2014/main" id="{46AC6AA7-B51A-F140-B460-7AA4784A8771}"/>
              </a:ext>
            </a:extLst>
          </p:cNvPr>
          <p:cNvGrpSpPr>
            <a:grpSpLocks/>
          </p:cNvGrpSpPr>
          <p:nvPr/>
        </p:nvGrpSpPr>
        <p:grpSpPr bwMode="auto">
          <a:xfrm>
            <a:off x="4562047" y="5466169"/>
            <a:ext cx="468647" cy="396679"/>
            <a:chOff x="2015" y="1976"/>
            <a:chExt cx="321" cy="269"/>
          </a:xfrm>
        </p:grpSpPr>
        <p:sp>
          <p:nvSpPr>
            <p:cNvPr id="227" name="Oval 80">
              <a:extLst>
                <a:ext uri="{FF2B5EF4-FFF2-40B4-BE49-F238E27FC236}">
                  <a16:creationId xmlns:a16="http://schemas.microsoft.com/office/drawing/2014/main" id="{F0AF513D-168E-BC43-A87F-98530A7A7340}"/>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8" name="Line 81">
              <a:extLst>
                <a:ext uri="{FF2B5EF4-FFF2-40B4-BE49-F238E27FC236}">
                  <a16:creationId xmlns:a16="http://schemas.microsoft.com/office/drawing/2014/main" id="{98E003C3-39B5-AD4E-B694-FF067F96F0C8}"/>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9" name="Line 82">
              <a:extLst>
                <a:ext uri="{FF2B5EF4-FFF2-40B4-BE49-F238E27FC236}">
                  <a16:creationId xmlns:a16="http://schemas.microsoft.com/office/drawing/2014/main" id="{FD35A7A2-366B-1C41-BFC6-E12754C8019D}"/>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0" name="Rectangle 83">
              <a:extLst>
                <a:ext uri="{FF2B5EF4-FFF2-40B4-BE49-F238E27FC236}">
                  <a16:creationId xmlns:a16="http://schemas.microsoft.com/office/drawing/2014/main" id="{5442F6D1-04E0-A44F-8910-B76948571B99}"/>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1" name="Oval 84">
              <a:extLst>
                <a:ext uri="{FF2B5EF4-FFF2-40B4-BE49-F238E27FC236}">
                  <a16:creationId xmlns:a16="http://schemas.microsoft.com/office/drawing/2014/main" id="{7CE682FE-3948-5143-B692-07DEF21A92CD}"/>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32" name="Group 85">
              <a:extLst>
                <a:ext uri="{FF2B5EF4-FFF2-40B4-BE49-F238E27FC236}">
                  <a16:creationId xmlns:a16="http://schemas.microsoft.com/office/drawing/2014/main" id="{ACD8E934-A29C-E940-B27E-262F5DE7DCDF}"/>
                </a:ext>
              </a:extLst>
            </p:cNvPr>
            <p:cNvGrpSpPr>
              <a:grpSpLocks/>
            </p:cNvGrpSpPr>
            <p:nvPr/>
          </p:nvGrpSpPr>
          <p:grpSpPr bwMode="auto">
            <a:xfrm>
              <a:off x="2015" y="1976"/>
              <a:ext cx="321" cy="269"/>
              <a:chOff x="2894" y="2425"/>
              <a:chExt cx="328" cy="269"/>
            </a:xfrm>
          </p:grpSpPr>
          <p:sp>
            <p:nvSpPr>
              <p:cNvPr id="233" name="Rectangle 86">
                <a:extLst>
                  <a:ext uri="{FF2B5EF4-FFF2-40B4-BE49-F238E27FC236}">
                    <a16:creationId xmlns:a16="http://schemas.microsoft.com/office/drawing/2014/main" id="{6556355B-9BE3-D746-A820-E89A58911EF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4" name="Text Box 87">
                <a:extLst>
                  <a:ext uri="{FF2B5EF4-FFF2-40B4-BE49-F238E27FC236}">
                    <a16:creationId xmlns:a16="http://schemas.microsoft.com/office/drawing/2014/main" id="{87A983D3-02A0-4A4B-A676-14BB88EA3128}"/>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1b</a:t>
                </a:r>
                <a:endParaRPr lang="en-US" kern="0" dirty="0">
                  <a:solidFill>
                    <a:srgbClr val="000000"/>
                  </a:solidFill>
                </a:endParaRPr>
              </a:p>
            </p:txBody>
          </p:sp>
        </p:grpSp>
      </p:grpSp>
      <p:grpSp>
        <p:nvGrpSpPr>
          <p:cNvPr id="199" name="Group 99">
            <a:extLst>
              <a:ext uri="{FF2B5EF4-FFF2-40B4-BE49-F238E27FC236}">
                <a16:creationId xmlns:a16="http://schemas.microsoft.com/office/drawing/2014/main" id="{4C6CCD3C-47D1-7847-84AE-9A444B7FD9F9}"/>
              </a:ext>
            </a:extLst>
          </p:cNvPr>
          <p:cNvGrpSpPr>
            <a:grpSpLocks/>
          </p:cNvGrpSpPr>
          <p:nvPr/>
        </p:nvGrpSpPr>
        <p:grpSpPr bwMode="auto">
          <a:xfrm>
            <a:off x="2231951" y="4354289"/>
            <a:ext cx="461347" cy="396679"/>
            <a:chOff x="2016" y="1976"/>
            <a:chExt cx="316" cy="269"/>
          </a:xfrm>
        </p:grpSpPr>
        <p:sp>
          <p:nvSpPr>
            <p:cNvPr id="215" name="Oval 100">
              <a:extLst>
                <a:ext uri="{FF2B5EF4-FFF2-40B4-BE49-F238E27FC236}">
                  <a16:creationId xmlns:a16="http://schemas.microsoft.com/office/drawing/2014/main" id="{9CFFD192-2352-574C-A1F6-73C764467286}"/>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6" name="Line 101">
              <a:extLst>
                <a:ext uri="{FF2B5EF4-FFF2-40B4-BE49-F238E27FC236}">
                  <a16:creationId xmlns:a16="http://schemas.microsoft.com/office/drawing/2014/main" id="{AA179453-C4E3-E244-B9A9-11831D82618D}"/>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7" name="Line 102">
              <a:extLst>
                <a:ext uri="{FF2B5EF4-FFF2-40B4-BE49-F238E27FC236}">
                  <a16:creationId xmlns:a16="http://schemas.microsoft.com/office/drawing/2014/main" id="{1CE386C9-63A7-F044-A083-5284BFD15472}"/>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8" name="Rectangle 103">
              <a:extLst>
                <a:ext uri="{FF2B5EF4-FFF2-40B4-BE49-F238E27FC236}">
                  <a16:creationId xmlns:a16="http://schemas.microsoft.com/office/drawing/2014/main" id="{50227DAD-D708-784A-BD13-83429F1C25BE}"/>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19" name="Oval 104">
              <a:extLst>
                <a:ext uri="{FF2B5EF4-FFF2-40B4-BE49-F238E27FC236}">
                  <a16:creationId xmlns:a16="http://schemas.microsoft.com/office/drawing/2014/main" id="{6DA156B1-5FE9-414A-BB48-46A4A52B9073}"/>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20" name="Group 105">
              <a:extLst>
                <a:ext uri="{FF2B5EF4-FFF2-40B4-BE49-F238E27FC236}">
                  <a16:creationId xmlns:a16="http://schemas.microsoft.com/office/drawing/2014/main" id="{80512439-7B6B-C54B-82D0-66D0AB25D2A7}"/>
                </a:ext>
              </a:extLst>
            </p:cNvPr>
            <p:cNvGrpSpPr>
              <a:grpSpLocks/>
            </p:cNvGrpSpPr>
            <p:nvPr/>
          </p:nvGrpSpPr>
          <p:grpSpPr bwMode="auto">
            <a:xfrm>
              <a:off x="2020" y="1976"/>
              <a:ext cx="308" cy="269"/>
              <a:chOff x="2899" y="2425"/>
              <a:chExt cx="315" cy="269"/>
            </a:xfrm>
          </p:grpSpPr>
          <p:sp>
            <p:nvSpPr>
              <p:cNvPr id="221" name="Rectangle 106">
                <a:extLst>
                  <a:ext uri="{FF2B5EF4-FFF2-40B4-BE49-F238E27FC236}">
                    <a16:creationId xmlns:a16="http://schemas.microsoft.com/office/drawing/2014/main" id="{91098A50-7FC0-CB4E-9B97-2D7AE96D06C6}"/>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2" name="Text Box 107">
                <a:extLst>
                  <a:ext uri="{FF2B5EF4-FFF2-40B4-BE49-F238E27FC236}">
                    <a16:creationId xmlns:a16="http://schemas.microsoft.com/office/drawing/2014/main" id="{FBCF2ABD-1064-2947-85B9-C0D4E2616D8E}"/>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3c</a:t>
                </a:r>
                <a:endParaRPr lang="en-US" kern="0" dirty="0">
                  <a:solidFill>
                    <a:srgbClr val="000000"/>
                  </a:solidFill>
                </a:endParaRPr>
              </a:p>
            </p:txBody>
          </p:sp>
        </p:grpSp>
      </p:grpSp>
      <p:sp>
        <p:nvSpPr>
          <p:cNvPr id="200" name="Line 108">
            <a:extLst>
              <a:ext uri="{FF2B5EF4-FFF2-40B4-BE49-F238E27FC236}">
                <a16:creationId xmlns:a16="http://schemas.microsoft.com/office/drawing/2014/main" id="{47A25237-349D-A842-8706-F347B2434568}"/>
              </a:ext>
            </a:extLst>
          </p:cNvPr>
          <p:cNvSpPr>
            <a:spLocks noChangeShapeType="1"/>
          </p:cNvSpPr>
          <p:nvPr/>
        </p:nvSpPr>
        <p:spPr bwMode="auto">
          <a:xfrm flipH="1">
            <a:off x="2266990" y="4669862"/>
            <a:ext cx="90518" cy="1592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1" name="Line 109">
            <a:extLst>
              <a:ext uri="{FF2B5EF4-FFF2-40B4-BE49-F238E27FC236}">
                <a16:creationId xmlns:a16="http://schemas.microsoft.com/office/drawing/2014/main" id="{6A3F47BD-80C7-0747-85CB-F22F1B792701}"/>
              </a:ext>
            </a:extLst>
          </p:cNvPr>
          <p:cNvSpPr>
            <a:spLocks noChangeShapeType="1"/>
          </p:cNvSpPr>
          <p:nvPr/>
        </p:nvSpPr>
        <p:spPr bwMode="auto">
          <a:xfrm>
            <a:off x="1818783" y="4737696"/>
            <a:ext cx="211694"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2" name="Line 110">
            <a:extLst>
              <a:ext uri="{FF2B5EF4-FFF2-40B4-BE49-F238E27FC236}">
                <a16:creationId xmlns:a16="http://schemas.microsoft.com/office/drawing/2014/main" id="{6CB9126B-13F6-7D4E-B1DD-C7EB25541B07}"/>
              </a:ext>
            </a:extLst>
          </p:cNvPr>
          <p:cNvSpPr>
            <a:spLocks noChangeShapeType="1"/>
          </p:cNvSpPr>
          <p:nvPr/>
        </p:nvSpPr>
        <p:spPr bwMode="auto">
          <a:xfrm flipH="1">
            <a:off x="2547302" y="4214198"/>
            <a:ext cx="198555" cy="2241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3" name="Line 111">
            <a:extLst>
              <a:ext uri="{FF2B5EF4-FFF2-40B4-BE49-F238E27FC236}">
                <a16:creationId xmlns:a16="http://schemas.microsoft.com/office/drawing/2014/main" id="{22C33C4C-9469-EC40-8CEF-2C586DEC66C3}"/>
              </a:ext>
            </a:extLst>
          </p:cNvPr>
          <p:cNvSpPr>
            <a:spLocks noChangeShapeType="1"/>
          </p:cNvSpPr>
          <p:nvPr/>
        </p:nvSpPr>
        <p:spPr bwMode="auto">
          <a:xfrm>
            <a:off x="2139974" y="4200926"/>
            <a:ext cx="175195" cy="2624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4" name="Line 112">
            <a:extLst>
              <a:ext uri="{FF2B5EF4-FFF2-40B4-BE49-F238E27FC236}">
                <a16:creationId xmlns:a16="http://schemas.microsoft.com/office/drawing/2014/main" id="{4C48EF93-B210-4F4B-9854-165045A32FD0}"/>
              </a:ext>
            </a:extLst>
          </p:cNvPr>
          <p:cNvSpPr>
            <a:spLocks noChangeShapeType="1"/>
          </p:cNvSpPr>
          <p:nvPr/>
        </p:nvSpPr>
        <p:spPr bwMode="auto">
          <a:xfrm flipH="1">
            <a:off x="3103547" y="4338068"/>
            <a:ext cx="102197" cy="3037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7" name="Line 115">
            <a:extLst>
              <a:ext uri="{FF2B5EF4-FFF2-40B4-BE49-F238E27FC236}">
                <a16:creationId xmlns:a16="http://schemas.microsoft.com/office/drawing/2014/main" id="{257DE23D-92D6-6B48-8933-BB087A4B7F3B}"/>
              </a:ext>
            </a:extLst>
          </p:cNvPr>
          <p:cNvSpPr>
            <a:spLocks noChangeShapeType="1"/>
          </p:cNvSpPr>
          <p:nvPr/>
        </p:nvSpPr>
        <p:spPr bwMode="auto">
          <a:xfrm flipH="1" flipV="1">
            <a:off x="6356338" y="4388206"/>
            <a:ext cx="185415" cy="2978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8" name="Line 116">
            <a:extLst>
              <a:ext uri="{FF2B5EF4-FFF2-40B4-BE49-F238E27FC236}">
                <a16:creationId xmlns:a16="http://schemas.microsoft.com/office/drawing/2014/main" id="{3008FEDF-B989-AD47-B8DC-811C63A78E62}"/>
              </a:ext>
            </a:extLst>
          </p:cNvPr>
          <p:cNvSpPr>
            <a:spLocks noChangeShapeType="1"/>
          </p:cNvSpPr>
          <p:nvPr/>
        </p:nvSpPr>
        <p:spPr bwMode="auto">
          <a:xfrm flipH="1" flipV="1">
            <a:off x="5900830" y="4538619"/>
            <a:ext cx="198555" cy="2728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9" name="Line 117">
            <a:extLst>
              <a:ext uri="{FF2B5EF4-FFF2-40B4-BE49-F238E27FC236}">
                <a16:creationId xmlns:a16="http://schemas.microsoft.com/office/drawing/2014/main" id="{7072AB1C-E687-5F42-AD97-F842F241CC4D}"/>
              </a:ext>
            </a:extLst>
          </p:cNvPr>
          <p:cNvSpPr>
            <a:spLocks noChangeShapeType="1"/>
          </p:cNvSpPr>
          <p:nvPr/>
        </p:nvSpPr>
        <p:spPr bwMode="auto">
          <a:xfrm flipH="1">
            <a:off x="3141506" y="5637228"/>
            <a:ext cx="197095" cy="1725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0" name="Line 118">
            <a:extLst>
              <a:ext uri="{FF2B5EF4-FFF2-40B4-BE49-F238E27FC236}">
                <a16:creationId xmlns:a16="http://schemas.microsoft.com/office/drawing/2014/main" id="{368439BD-38EC-0F4F-AB79-71712E1AE097}"/>
              </a:ext>
            </a:extLst>
          </p:cNvPr>
          <p:cNvSpPr>
            <a:spLocks noChangeShapeType="1"/>
          </p:cNvSpPr>
          <p:nvPr/>
        </p:nvSpPr>
        <p:spPr bwMode="auto">
          <a:xfrm flipH="1" flipV="1">
            <a:off x="3091868" y="5488289"/>
            <a:ext cx="185415" cy="117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1" name="Line 119">
            <a:extLst>
              <a:ext uri="{FF2B5EF4-FFF2-40B4-BE49-F238E27FC236}">
                <a16:creationId xmlns:a16="http://schemas.microsoft.com/office/drawing/2014/main" id="{05F4047A-FA71-B345-8F4D-7557CE9C3159}"/>
              </a:ext>
            </a:extLst>
          </p:cNvPr>
          <p:cNvSpPr>
            <a:spLocks noChangeShapeType="1"/>
          </p:cNvSpPr>
          <p:nvPr/>
        </p:nvSpPr>
        <p:spPr bwMode="auto">
          <a:xfrm flipH="1">
            <a:off x="3487517" y="5887917"/>
            <a:ext cx="309511" cy="22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2" name="Line 120">
            <a:extLst>
              <a:ext uri="{FF2B5EF4-FFF2-40B4-BE49-F238E27FC236}">
                <a16:creationId xmlns:a16="http://schemas.microsoft.com/office/drawing/2014/main" id="{00691E04-3135-5045-8A22-A3445401A5C1}"/>
              </a:ext>
            </a:extLst>
          </p:cNvPr>
          <p:cNvSpPr>
            <a:spLocks noChangeShapeType="1"/>
          </p:cNvSpPr>
          <p:nvPr/>
        </p:nvSpPr>
        <p:spPr bwMode="auto">
          <a:xfrm flipV="1">
            <a:off x="4192677" y="5212531"/>
            <a:ext cx="334331" cy="147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3" name="Line 121">
            <a:extLst>
              <a:ext uri="{FF2B5EF4-FFF2-40B4-BE49-F238E27FC236}">
                <a16:creationId xmlns:a16="http://schemas.microsoft.com/office/drawing/2014/main" id="{C2D8B9BD-B900-B448-8B0A-9B6A048DBB86}"/>
              </a:ext>
            </a:extLst>
          </p:cNvPr>
          <p:cNvSpPr>
            <a:spLocks noChangeShapeType="1"/>
          </p:cNvSpPr>
          <p:nvPr/>
        </p:nvSpPr>
        <p:spPr bwMode="auto">
          <a:xfrm>
            <a:off x="4859879" y="5762572"/>
            <a:ext cx="173735"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4" name="Line 122">
            <a:extLst>
              <a:ext uri="{FF2B5EF4-FFF2-40B4-BE49-F238E27FC236}">
                <a16:creationId xmlns:a16="http://schemas.microsoft.com/office/drawing/2014/main" id="{EA45D5A9-0BF3-874E-B10C-996FD8308B65}"/>
              </a:ext>
            </a:extLst>
          </p:cNvPr>
          <p:cNvSpPr>
            <a:spLocks noChangeShapeType="1"/>
          </p:cNvSpPr>
          <p:nvPr/>
        </p:nvSpPr>
        <p:spPr bwMode="auto">
          <a:xfrm>
            <a:off x="4156178" y="5324603"/>
            <a:ext cx="211694" cy="1105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92" name="Freeform 113">
            <a:extLst>
              <a:ext uri="{FF2B5EF4-FFF2-40B4-BE49-F238E27FC236}">
                <a16:creationId xmlns:a16="http://schemas.microsoft.com/office/drawing/2014/main" id="{DE260962-6C23-A34F-81F9-3BDEB6DE3340}"/>
              </a:ext>
            </a:extLst>
          </p:cNvPr>
          <p:cNvSpPr>
            <a:spLocks/>
          </p:cNvSpPr>
          <p:nvPr/>
        </p:nvSpPr>
        <p:spPr bwMode="auto">
          <a:xfrm flipH="1">
            <a:off x="642829" y="460918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dirty="0">
              <a:solidFill>
                <a:prstClr val="black"/>
              </a:solidFill>
            </a:endParaRPr>
          </a:p>
        </p:txBody>
      </p:sp>
      <p:sp>
        <p:nvSpPr>
          <p:cNvPr id="193" name="Text Box 114">
            <a:extLst>
              <a:ext uri="{FF2B5EF4-FFF2-40B4-BE49-F238E27FC236}">
                <a16:creationId xmlns:a16="http://schemas.microsoft.com/office/drawing/2014/main" id="{A4A13EDE-492A-BE49-A65F-4D86BD672C46}"/>
              </a:ext>
            </a:extLst>
          </p:cNvPr>
          <p:cNvSpPr txBox="1">
            <a:spLocks noChangeArrowheads="1"/>
          </p:cNvSpPr>
          <p:nvPr/>
        </p:nvSpPr>
        <p:spPr bwMode="auto">
          <a:xfrm>
            <a:off x="699979" y="5393411"/>
            <a:ext cx="893763"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solidFill>
                  <a:prstClr val="black"/>
                </a:solidFill>
              </a:rPr>
              <a:t>other</a:t>
            </a:r>
          </a:p>
          <a:p>
            <a:r>
              <a:rPr lang="en-US" sz="1400" dirty="0">
                <a:solidFill>
                  <a:prstClr val="black"/>
                </a:solidFill>
              </a:rPr>
              <a:t>networks</a:t>
            </a:r>
          </a:p>
        </p:txBody>
      </p:sp>
      <p:sp>
        <p:nvSpPr>
          <p:cNvPr id="194" name="Line 115">
            <a:extLst>
              <a:ext uri="{FF2B5EF4-FFF2-40B4-BE49-F238E27FC236}">
                <a16:creationId xmlns:a16="http://schemas.microsoft.com/office/drawing/2014/main" id="{C8C2397B-C8B2-224A-BCB5-A3C329D27E90}"/>
              </a:ext>
            </a:extLst>
          </p:cNvPr>
          <p:cNvSpPr>
            <a:spLocks noChangeShapeType="1"/>
          </p:cNvSpPr>
          <p:nvPr/>
        </p:nvSpPr>
        <p:spPr bwMode="auto">
          <a:xfrm flipH="1">
            <a:off x="1500079" y="4955261"/>
            <a:ext cx="468313" cy="2682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solidFill>
                <a:prstClr val="black"/>
              </a:solidFill>
            </a:endParaRPr>
          </a:p>
        </p:txBody>
      </p:sp>
      <p:sp>
        <p:nvSpPr>
          <p:cNvPr id="195" name="Freeform 5">
            <a:extLst>
              <a:ext uri="{FF2B5EF4-FFF2-40B4-BE49-F238E27FC236}">
                <a16:creationId xmlns:a16="http://schemas.microsoft.com/office/drawing/2014/main" id="{8885E14F-4041-E249-995C-43DC3D2D8B1C}"/>
              </a:ext>
            </a:extLst>
          </p:cNvPr>
          <p:cNvSpPr>
            <a:spLocks/>
          </p:cNvSpPr>
          <p:nvPr/>
        </p:nvSpPr>
        <p:spPr bwMode="auto">
          <a:xfrm>
            <a:off x="8053714" y="396122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dirty="0">
              <a:solidFill>
                <a:prstClr val="black"/>
              </a:solidFill>
            </a:endParaRPr>
          </a:p>
        </p:txBody>
      </p:sp>
      <p:sp>
        <p:nvSpPr>
          <p:cNvPr id="196" name="Line 92">
            <a:extLst>
              <a:ext uri="{FF2B5EF4-FFF2-40B4-BE49-F238E27FC236}">
                <a16:creationId xmlns:a16="http://schemas.microsoft.com/office/drawing/2014/main" id="{F329414D-E5C4-DA4F-A3DD-7175FB210C97}"/>
              </a:ext>
            </a:extLst>
          </p:cNvPr>
          <p:cNvSpPr>
            <a:spLocks noChangeShapeType="1"/>
          </p:cNvSpPr>
          <p:nvPr/>
        </p:nvSpPr>
        <p:spPr bwMode="auto">
          <a:xfrm>
            <a:off x="6848694" y="4790989"/>
            <a:ext cx="131827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r>
              <a:rPr lang="en-US" dirty="0">
                <a:solidFill>
                  <a:prstClr val="black"/>
                </a:solidFill>
              </a:rPr>
              <a:t>        </a:t>
            </a:r>
          </a:p>
        </p:txBody>
      </p:sp>
      <p:sp>
        <p:nvSpPr>
          <p:cNvPr id="197" name="Line 93">
            <a:extLst>
              <a:ext uri="{FF2B5EF4-FFF2-40B4-BE49-F238E27FC236}">
                <a16:creationId xmlns:a16="http://schemas.microsoft.com/office/drawing/2014/main" id="{BFA90A4C-DC4C-B649-B9F1-BBC4626B9420}"/>
              </a:ext>
            </a:extLst>
          </p:cNvPr>
          <p:cNvSpPr>
            <a:spLocks noChangeShapeType="1"/>
          </p:cNvSpPr>
          <p:nvPr/>
        </p:nvSpPr>
        <p:spPr bwMode="auto">
          <a:xfrm>
            <a:off x="7290584" y="5105814"/>
            <a:ext cx="133984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r>
              <a:rPr lang="en-US" dirty="0">
                <a:solidFill>
                  <a:prstClr val="black"/>
                </a:solidFill>
              </a:rPr>
              <a:t>                </a:t>
            </a:r>
          </a:p>
        </p:txBody>
      </p:sp>
      <p:sp>
        <p:nvSpPr>
          <p:cNvPr id="198" name="Text Box 112">
            <a:extLst>
              <a:ext uri="{FF2B5EF4-FFF2-40B4-BE49-F238E27FC236}">
                <a16:creationId xmlns:a16="http://schemas.microsoft.com/office/drawing/2014/main" id="{840A7965-8696-C241-A087-39B4E4084143}"/>
              </a:ext>
            </a:extLst>
          </p:cNvPr>
          <p:cNvSpPr txBox="1">
            <a:spLocks noChangeArrowheads="1"/>
          </p:cNvSpPr>
          <p:nvPr/>
        </p:nvSpPr>
        <p:spPr bwMode="auto">
          <a:xfrm>
            <a:off x="8433127" y="4558126"/>
            <a:ext cx="893762"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solidFill>
                  <a:prstClr val="black"/>
                </a:solidFill>
              </a:rPr>
              <a:t>other</a:t>
            </a:r>
          </a:p>
          <a:p>
            <a:r>
              <a:rPr lang="en-US" sz="1400" dirty="0">
                <a:solidFill>
                  <a:prstClr val="black"/>
                </a:solidFill>
              </a:rPr>
              <a:t>networks</a:t>
            </a:r>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657073" y="1558642"/>
            <a:ext cx="5004692" cy="72126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2400" dirty="0">
                <a:solidFill>
                  <a:prstClr val="black"/>
                </a:solidFill>
              </a:rPr>
              <a:t>suppose router in AS</a:t>
            </a:r>
            <a:r>
              <a:rPr lang="en-US" sz="2400" dirty="0">
                <a:solidFill>
                  <a:prstClr val="black"/>
                </a:solidFill>
                <a:latin typeface="Arial"/>
                <a:cs typeface="Arial"/>
              </a:rPr>
              <a:t>1</a:t>
            </a:r>
            <a:r>
              <a:rPr lang="en-US" sz="2400" dirty="0">
                <a:solidFill>
                  <a:prstClr val="black"/>
                </a:solidFill>
              </a:rPr>
              <a:t> receives datagram destined outside of AS</a:t>
            </a:r>
            <a:r>
              <a:rPr lang="en-US" sz="2400" dirty="0">
                <a:solidFill>
                  <a:prstClr val="black"/>
                </a:solidFill>
                <a:latin typeface="Arial"/>
                <a:cs typeface="Arial"/>
              </a:rPr>
              <a:t>1</a:t>
            </a:r>
            <a:r>
              <a:rPr lang="en-US" sz="2400" dirty="0">
                <a:solidFill>
                  <a:prstClr val="black"/>
                </a:solidFill>
              </a:rPr>
              <a:t>:</a:t>
            </a:r>
          </a:p>
          <a:p>
            <a:pPr lvl="1">
              <a:defRPr/>
            </a:pPr>
            <a:endParaRPr lang="en-US" dirty="0">
              <a:solidFill>
                <a:prstClr val="black"/>
              </a:solidFill>
            </a:endParaRPr>
          </a:p>
        </p:txBody>
      </p:sp>
      <p:sp>
        <p:nvSpPr>
          <p:cNvPr id="2" name="Rectangle 1">
            <a:extLst>
              <a:ext uri="{FF2B5EF4-FFF2-40B4-BE49-F238E27FC236}">
                <a16:creationId xmlns:a16="http://schemas.microsoft.com/office/drawing/2014/main" id="{A7C7CFEE-647F-FD4B-8F1F-D357C9361183}"/>
              </a:ext>
            </a:extLst>
          </p:cNvPr>
          <p:cNvSpPr/>
          <p:nvPr/>
        </p:nvSpPr>
        <p:spPr>
          <a:xfrm>
            <a:off x="6108525" y="1488552"/>
            <a:ext cx="5490576" cy="2000548"/>
          </a:xfrm>
          <a:prstGeom prst="rect">
            <a:avLst/>
          </a:prstGeom>
        </p:spPr>
        <p:txBody>
          <a:bodyPr wrap="square">
            <a:spAutoFit/>
          </a:bodyPr>
          <a:lstStyle/>
          <a:p>
            <a:pPr marL="457200" indent="-457200">
              <a:buFont typeface="Wingdings" charset="0"/>
              <a:buNone/>
              <a:defRPr/>
            </a:pPr>
            <a:r>
              <a:rPr lang="en-US" sz="2800" dirty="0">
                <a:solidFill>
                  <a:srgbClr val="CC0000"/>
                </a:solidFill>
              </a:rPr>
              <a:t>AS</a:t>
            </a:r>
            <a:r>
              <a:rPr lang="en-US" sz="2800" dirty="0">
                <a:solidFill>
                  <a:srgbClr val="CC0000"/>
                </a:solidFill>
                <a:cs typeface="Arial"/>
              </a:rPr>
              <a:t>1</a:t>
            </a:r>
            <a:r>
              <a:rPr lang="en-US" sz="2800" dirty="0">
                <a:solidFill>
                  <a:srgbClr val="CC0000"/>
                </a:solidFill>
              </a:rPr>
              <a:t> inter-domain routing must:</a:t>
            </a:r>
          </a:p>
          <a:p>
            <a:pPr marL="457200" indent="-333375">
              <a:buFont typeface="ZapfDingbats" charset="0"/>
              <a:buAutoNum type="arabicPeriod"/>
              <a:defRPr/>
            </a:pPr>
            <a:r>
              <a:rPr lang="en-US" sz="2400" dirty="0">
                <a:solidFill>
                  <a:prstClr val="black"/>
                </a:solidFill>
              </a:rPr>
              <a:t>learn which destinations reachable through AS2, which through AS3</a:t>
            </a:r>
          </a:p>
          <a:p>
            <a:pPr marL="457200" indent="-333375">
              <a:buFont typeface="ZapfDingbats" charset="0"/>
              <a:buAutoNum type="arabicPeriod"/>
              <a:defRPr/>
            </a:pPr>
            <a:r>
              <a:rPr lang="en-US" sz="2400" dirty="0">
                <a:solidFill>
                  <a:prstClr val="black"/>
                </a:solidFill>
              </a:rPr>
              <a:t>propagate this reachability info to all routers in AS</a:t>
            </a:r>
            <a:r>
              <a:rPr lang="en-US" sz="2400" dirty="0">
                <a:solidFill>
                  <a:prstClr val="black"/>
                </a:solidFill>
                <a:cs typeface="Arial"/>
              </a:rPr>
              <a:t>1</a:t>
            </a:r>
          </a:p>
        </p:txBody>
      </p:sp>
      <p:grpSp>
        <p:nvGrpSpPr>
          <p:cNvPr id="3" name="Group 2">
            <a:extLst>
              <a:ext uri="{FF2B5EF4-FFF2-40B4-BE49-F238E27FC236}">
                <a16:creationId xmlns:a16="http://schemas.microsoft.com/office/drawing/2014/main" id="{7AF74606-0A42-EC43-8837-07801EF753FD}"/>
              </a:ext>
            </a:extLst>
          </p:cNvPr>
          <p:cNvGrpSpPr/>
          <p:nvPr/>
        </p:nvGrpSpPr>
        <p:grpSpPr>
          <a:xfrm>
            <a:off x="2670048" y="5701792"/>
            <a:ext cx="763742" cy="443198"/>
            <a:chOff x="2670048" y="5701792"/>
            <a:chExt cx="763742" cy="443198"/>
          </a:xfrm>
        </p:grpSpPr>
        <p:sp>
          <p:nvSpPr>
            <p:cNvPr id="124" name="Right Arrow 123">
              <a:extLst>
                <a:ext uri="{FF2B5EF4-FFF2-40B4-BE49-F238E27FC236}">
                  <a16:creationId xmlns:a16="http://schemas.microsoft.com/office/drawing/2014/main" id="{28ACB7EC-F781-384A-AD08-E17B83DAE67A}"/>
                </a:ext>
              </a:extLst>
            </p:cNvPr>
            <p:cNvSpPr/>
            <p:nvPr/>
          </p:nvSpPr>
          <p:spPr>
            <a:xfrm rot="19174881">
              <a:off x="2896614" y="5786744"/>
              <a:ext cx="537176" cy="202520"/>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0" name="Group 201">
              <a:extLst>
                <a:ext uri="{FF2B5EF4-FFF2-40B4-BE49-F238E27FC236}">
                  <a16:creationId xmlns:a16="http://schemas.microsoft.com/office/drawing/2014/main" id="{E20C8ADF-2589-C646-B6EA-D4B0EBC7A0E8}"/>
                </a:ext>
              </a:extLst>
            </p:cNvPr>
            <p:cNvGrpSpPr>
              <a:grpSpLocks/>
            </p:cNvGrpSpPr>
            <p:nvPr/>
          </p:nvGrpSpPr>
          <p:grpSpPr bwMode="auto">
            <a:xfrm>
              <a:off x="2670048" y="5701792"/>
              <a:ext cx="245122" cy="443198"/>
              <a:chOff x="375561" y="297711"/>
              <a:chExt cx="1252683" cy="2138362"/>
            </a:xfrm>
          </p:grpSpPr>
          <p:sp>
            <p:nvSpPr>
              <p:cNvPr id="121" name="Freeform 120">
                <a:extLst>
                  <a:ext uri="{FF2B5EF4-FFF2-40B4-BE49-F238E27FC236}">
                    <a16:creationId xmlns:a16="http://schemas.microsoft.com/office/drawing/2014/main" id="{7DDF526C-1102-2F48-8FE7-A7023586C9F7}"/>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122" name="Freeform 121">
                <a:extLst>
                  <a:ext uri="{FF2B5EF4-FFF2-40B4-BE49-F238E27FC236}">
                    <a16:creationId xmlns:a16="http://schemas.microsoft.com/office/drawing/2014/main" id="{D87569FE-AD98-464C-82C6-8AF331C6E022}"/>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123" name="Rectangle 122">
                <a:extLst>
                  <a:ext uri="{FF2B5EF4-FFF2-40B4-BE49-F238E27FC236}">
                    <a16:creationId xmlns:a16="http://schemas.microsoft.com/office/drawing/2014/main" id="{1DD79E3A-D063-E04C-BF26-4BCE30BD1540}"/>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sp>
        <p:nvSpPr>
          <p:cNvPr id="126" name="Rectangle 3">
            <a:extLst>
              <a:ext uri="{FF2B5EF4-FFF2-40B4-BE49-F238E27FC236}">
                <a16:creationId xmlns:a16="http://schemas.microsoft.com/office/drawing/2014/main" id="{2805B67C-421E-F747-ADEA-BA4F2FA77522}"/>
              </a:ext>
            </a:extLst>
          </p:cNvPr>
          <p:cNvSpPr txBox="1">
            <a:spLocks noChangeArrowheads="1"/>
          </p:cNvSpPr>
          <p:nvPr/>
        </p:nvSpPr>
        <p:spPr>
          <a:xfrm>
            <a:off x="602209" y="2259682"/>
            <a:ext cx="5004692" cy="1998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defRPr/>
            </a:pPr>
            <a:r>
              <a:rPr lang="en-US" dirty="0">
                <a:solidFill>
                  <a:prstClr val="black"/>
                </a:solidFill>
              </a:rPr>
              <a:t>router should forward packet to gateway router in AS1, but which one?</a:t>
            </a:r>
          </a:p>
          <a:p>
            <a:pPr lvl="1">
              <a:defRPr/>
            </a:pPr>
            <a:endParaRPr lang="en-US" dirty="0">
              <a:solidFill>
                <a:prstClr val="black"/>
              </a:solidFill>
            </a:endParaRPr>
          </a:p>
        </p:txBody>
      </p:sp>
      <p:grpSp>
        <p:nvGrpSpPr>
          <p:cNvPr id="8" name="Group 7">
            <a:extLst>
              <a:ext uri="{FF2B5EF4-FFF2-40B4-BE49-F238E27FC236}">
                <a16:creationId xmlns:a16="http://schemas.microsoft.com/office/drawing/2014/main" id="{11C63B2F-6BBA-B44E-97F7-4159A78FD0F4}"/>
              </a:ext>
            </a:extLst>
          </p:cNvPr>
          <p:cNvGrpSpPr/>
          <p:nvPr/>
        </p:nvGrpSpPr>
        <p:grpSpPr>
          <a:xfrm>
            <a:off x="528828" y="2261616"/>
            <a:ext cx="3400044" cy="3791712"/>
            <a:chOff x="528828" y="2261616"/>
            <a:chExt cx="3400044" cy="3791712"/>
          </a:xfrm>
        </p:grpSpPr>
        <p:pic>
          <p:nvPicPr>
            <p:cNvPr id="7" name="Picture 6" descr="A close up of a sign&#10;&#10;Description automatically generated">
              <a:extLst>
                <a:ext uri="{FF2B5EF4-FFF2-40B4-BE49-F238E27FC236}">
                  <a16:creationId xmlns:a16="http://schemas.microsoft.com/office/drawing/2014/main" id="{0AD2C625-9B0A-A742-966B-89B7C34CA760}"/>
                </a:ext>
              </a:extLst>
            </p:cNvPr>
            <p:cNvPicPr>
              <a:picLocks noChangeAspect="1"/>
            </p:cNvPicPr>
            <p:nvPr/>
          </p:nvPicPr>
          <p:blipFill>
            <a:blip r:embed="rId2"/>
            <a:stretch>
              <a:fillRect/>
            </a:stretch>
          </p:blipFill>
          <p:spPr>
            <a:xfrm>
              <a:off x="3081528" y="5205984"/>
              <a:ext cx="847344" cy="847344"/>
            </a:xfrm>
            <a:prstGeom prst="rect">
              <a:avLst/>
            </a:prstGeom>
          </p:spPr>
        </p:pic>
        <p:pic>
          <p:nvPicPr>
            <p:cNvPr id="129" name="Picture 128" descr="A close up of a sign&#10;&#10;Description automatically generated">
              <a:extLst>
                <a:ext uri="{FF2B5EF4-FFF2-40B4-BE49-F238E27FC236}">
                  <a16:creationId xmlns:a16="http://schemas.microsoft.com/office/drawing/2014/main" id="{9F88A575-F276-AF48-A7CD-00AEA286AE13}"/>
                </a:ext>
              </a:extLst>
            </p:cNvPr>
            <p:cNvPicPr>
              <a:picLocks noChangeAspect="1"/>
            </p:cNvPicPr>
            <p:nvPr/>
          </p:nvPicPr>
          <p:blipFill>
            <a:blip r:embed="rId2"/>
            <a:stretch>
              <a:fillRect/>
            </a:stretch>
          </p:blipFill>
          <p:spPr>
            <a:xfrm>
              <a:off x="528828" y="2261616"/>
              <a:ext cx="847344" cy="847344"/>
            </a:xfrm>
            <a:prstGeom prst="rect">
              <a:avLst/>
            </a:prstGeom>
          </p:spPr>
        </p:pic>
      </p:grpSp>
    </p:spTree>
    <p:extLst>
      <p:ext uri="{BB962C8B-B14F-4D97-AF65-F5344CB8AC3E}">
        <p14:creationId xmlns:p14="http://schemas.microsoft.com/office/powerpoint/2010/main" val="1091581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dissolve">
                                      <p:cBhvr>
                                        <p:cTn id="12" dur="500"/>
                                        <p:tgtEl>
                                          <p:spTgt spid="126"/>
                                        </p:tgtEl>
                                      </p:cBhvr>
                                    </p:animEffect>
                                  </p:childTnLst>
                                </p:cTn>
                              </p:par>
                              <p:par>
                                <p:cTn id="13" presetID="9"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xit" presetSubtype="0" fill="hold" nodeType="withEffect">
                                  <p:stCondLst>
                                    <p:cond delay="0"/>
                                  </p:stCondLst>
                                  <p:childTnLst>
                                    <p:animEffect transition="out" filter="dissolve">
                                      <p:cBhvr>
                                        <p:cTn id="22" dur="500"/>
                                        <p:tgtEl>
                                          <p:spTgt spid="8"/>
                                        </p:tgtEl>
                                      </p:cBhvr>
                                    </p:animEffect>
                                    <p:set>
                                      <p:cBhvr>
                                        <p:cTn id="23" dur="1" fill="hold">
                                          <p:stCondLst>
                                            <p:cond delay="49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b="0" kern="0" dirty="0">
                <a:solidFill>
                  <a:srgbClr val="000099"/>
                </a:solidFill>
                <a:latin typeface="+mn-lt"/>
                <a:ea typeface="ＭＳ Ｐゴシック" charset="0"/>
              </a:rPr>
              <a:t>Intra-AS routing: Interior Gateway Protocol</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70</a:t>
            </a:fld>
            <a:endParaRPr lang="en-US" dirty="0">
              <a:solidFill>
                <a:prstClr val="white">
                  <a:lumMod val="50000"/>
                </a:prstClr>
              </a:solidFill>
            </a:endParaRPr>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857488" y="1128986"/>
            <a:ext cx="10942029" cy="4767002"/>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indent="0">
              <a:buFont typeface="Wingdings" pitchFamily="2" charset="2"/>
              <a:buNone/>
              <a:defRPr/>
            </a:pPr>
            <a:r>
              <a:rPr lang="en-US" sz="3200" dirty="0">
                <a:solidFill>
                  <a:prstClr val="black"/>
                </a:solidFill>
              </a:rPr>
              <a:t>Most common intra-AS routing protocols:</a:t>
            </a:r>
          </a:p>
          <a:p>
            <a:pPr>
              <a:defRPr/>
            </a:pPr>
            <a:r>
              <a:rPr lang="en-US" dirty="0">
                <a:solidFill>
                  <a:srgbClr val="C00000"/>
                </a:solidFill>
              </a:rPr>
              <a:t>RIP: Routing Information Protocol</a:t>
            </a:r>
            <a:r>
              <a:rPr lang="en-US" dirty="0">
                <a:solidFill>
                  <a:prstClr val="black"/>
                </a:solidFill>
              </a:rPr>
              <a:t> </a:t>
            </a:r>
            <a:r>
              <a:rPr lang="en-US" sz="2400" dirty="0">
                <a:solidFill>
                  <a:prstClr val="black"/>
                </a:solidFill>
              </a:rPr>
              <a:t>[RFC 1723]</a:t>
            </a:r>
          </a:p>
          <a:p>
            <a:pPr lvl="1">
              <a:defRPr/>
            </a:pPr>
            <a:r>
              <a:rPr lang="en-US" dirty="0">
                <a:solidFill>
                  <a:prstClr val="black"/>
                </a:solidFill>
              </a:rPr>
              <a:t>classic DV: DVs exchanged every 30 secs</a:t>
            </a:r>
          </a:p>
          <a:p>
            <a:pPr lvl="1">
              <a:defRPr/>
            </a:pPr>
            <a:r>
              <a:rPr lang="en-US" dirty="0">
                <a:solidFill>
                  <a:prstClr val="black"/>
                </a:solidFill>
              </a:rPr>
              <a:t>no longer widely used</a:t>
            </a:r>
          </a:p>
          <a:p>
            <a:pPr>
              <a:defRPr/>
            </a:pPr>
            <a:r>
              <a:rPr lang="en-US" dirty="0">
                <a:solidFill>
                  <a:srgbClr val="C00000"/>
                </a:solidFill>
              </a:rPr>
              <a:t>EIGRP: Enhanced Interior Gateway Routing Protocol</a:t>
            </a:r>
          </a:p>
          <a:p>
            <a:pPr lvl="1">
              <a:defRPr/>
            </a:pPr>
            <a:r>
              <a:rPr lang="en-US" dirty="0">
                <a:solidFill>
                  <a:prstClr val="black"/>
                </a:solidFill>
              </a:rPr>
              <a:t>DV based</a:t>
            </a:r>
          </a:p>
          <a:p>
            <a:pPr lvl="1">
              <a:defRPr/>
            </a:pPr>
            <a:r>
              <a:rPr lang="en-US" dirty="0">
                <a:solidFill>
                  <a:prstClr val="black"/>
                </a:solidFill>
              </a:rPr>
              <a:t>formerly Cisco-proprietary for decades (became open in 2013 [RFC 7868])</a:t>
            </a:r>
          </a:p>
          <a:p>
            <a:pPr>
              <a:defRPr/>
            </a:pPr>
            <a:r>
              <a:rPr lang="en-US" dirty="0">
                <a:solidFill>
                  <a:prstClr val="black"/>
                </a:solidFill>
              </a:rPr>
              <a:t> </a:t>
            </a:r>
            <a:r>
              <a:rPr lang="en-US" dirty="0">
                <a:solidFill>
                  <a:srgbClr val="C00000"/>
                </a:solidFill>
              </a:rPr>
              <a:t>OSPF: Open Shortest Path First  </a:t>
            </a:r>
            <a:r>
              <a:rPr lang="en-US" sz="2000" dirty="0">
                <a:solidFill>
                  <a:srgbClr val="C00000"/>
                </a:solidFill>
              </a:rPr>
              <a:t>[RFC 2328]</a:t>
            </a:r>
          </a:p>
          <a:p>
            <a:pPr lvl="1">
              <a:defRPr/>
            </a:pPr>
            <a:r>
              <a:rPr lang="en-US" dirty="0">
                <a:solidFill>
                  <a:prstClr val="black"/>
                </a:solidFill>
              </a:rPr>
              <a:t>link-state routing</a:t>
            </a:r>
          </a:p>
          <a:p>
            <a:pPr lvl="1">
              <a:defRPr/>
            </a:pPr>
            <a:r>
              <a:rPr lang="en-US" dirty="0">
                <a:solidFill>
                  <a:prstClr val="black"/>
                </a:solidFill>
              </a:rPr>
              <a:t>IS-IS (Intermediate System - Intermediate System) protocol (ISO standard, not RFC standard) essentially same as OSPF</a:t>
            </a:r>
          </a:p>
          <a:p>
            <a:pPr lvl="1">
              <a:defRPr/>
            </a:pPr>
            <a:endParaRPr lang="en-US" dirty="0">
              <a:solidFill>
                <a:prstClr val="black"/>
              </a:solidFill>
            </a:endParaRPr>
          </a:p>
          <a:p>
            <a:pPr marL="0" lvl="1" indent="0">
              <a:buNone/>
              <a:defRPr/>
            </a:pPr>
            <a:r>
              <a:rPr lang="en-US" sz="3300" b="1" dirty="0">
                <a:solidFill>
                  <a:srgbClr val="7030A0"/>
                </a:solidFill>
              </a:rPr>
              <a:t>What about inter-AS (between or among ASs) routing?</a:t>
            </a:r>
          </a:p>
          <a:p>
            <a:pPr marL="0" lvl="1" indent="0">
              <a:buNone/>
              <a:defRPr/>
            </a:pPr>
            <a:r>
              <a:rPr lang="en-US" sz="3300" b="1" dirty="0">
                <a:solidFill>
                  <a:srgbClr val="FF0000"/>
                </a:solidFill>
              </a:rPr>
              <a:t>Border Gateway Protocol (BGP) </a:t>
            </a:r>
            <a:r>
              <a:rPr lang="en-US" sz="3300" dirty="0">
                <a:solidFill>
                  <a:prstClr val="black"/>
                </a:solidFill>
              </a:rPr>
              <a:t>is a standardized exterior gateway protocol designed to exchange routing and reachability information among autonomous systems (AS) on the Internet.</a:t>
            </a:r>
          </a:p>
          <a:p>
            <a:pPr marL="0" lvl="1" indent="0">
              <a:defRPr/>
            </a:pPr>
            <a:endParaRPr lang="en-US" dirty="0">
              <a:solidFill>
                <a:prstClr val="black"/>
              </a:solidFill>
            </a:endParaRPr>
          </a:p>
        </p:txBody>
      </p:sp>
    </p:spTree>
    <p:extLst>
      <p:ext uri="{BB962C8B-B14F-4D97-AF65-F5344CB8AC3E}">
        <p14:creationId xmlns:p14="http://schemas.microsoft.com/office/powerpoint/2010/main" val="2742063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
                                            <p:txEl>
                                              <p:pRg st="1" end="1"/>
                                            </p:txEl>
                                          </p:spTgt>
                                        </p:tgtEl>
                                        <p:attrNameLst>
                                          <p:attrName>style.visibility</p:attrName>
                                        </p:attrNameLst>
                                      </p:cBhvr>
                                      <p:to>
                                        <p:strVal val="visible"/>
                                      </p:to>
                                    </p:set>
                                    <p:animEffect transition="in" filter="dissolve">
                                      <p:cBhvr>
                                        <p:cTn id="7" dur="500"/>
                                        <p:tgtEl>
                                          <p:spTgt spid="223">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3">
                                            <p:txEl>
                                              <p:pRg st="2" end="2"/>
                                            </p:txEl>
                                          </p:spTgt>
                                        </p:tgtEl>
                                        <p:attrNameLst>
                                          <p:attrName>style.visibility</p:attrName>
                                        </p:attrNameLst>
                                      </p:cBhvr>
                                      <p:to>
                                        <p:strVal val="visible"/>
                                      </p:to>
                                    </p:set>
                                    <p:animEffect transition="in" filter="dissolve">
                                      <p:cBhvr>
                                        <p:cTn id="10" dur="500"/>
                                        <p:tgtEl>
                                          <p:spTgt spid="223">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23">
                                            <p:txEl>
                                              <p:pRg st="3" end="3"/>
                                            </p:txEl>
                                          </p:spTgt>
                                        </p:tgtEl>
                                        <p:attrNameLst>
                                          <p:attrName>style.visibility</p:attrName>
                                        </p:attrNameLst>
                                      </p:cBhvr>
                                      <p:to>
                                        <p:strVal val="visible"/>
                                      </p:to>
                                    </p:set>
                                    <p:animEffect transition="in" filter="dissolve">
                                      <p:cBhvr>
                                        <p:cTn id="13" dur="500"/>
                                        <p:tgtEl>
                                          <p:spTgt spid="22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23">
                                            <p:txEl>
                                              <p:pRg st="4" end="4"/>
                                            </p:txEl>
                                          </p:spTgt>
                                        </p:tgtEl>
                                        <p:attrNameLst>
                                          <p:attrName>style.visibility</p:attrName>
                                        </p:attrNameLst>
                                      </p:cBhvr>
                                      <p:to>
                                        <p:strVal val="visible"/>
                                      </p:to>
                                    </p:set>
                                    <p:animEffect transition="in" filter="dissolve">
                                      <p:cBhvr>
                                        <p:cTn id="18" dur="500"/>
                                        <p:tgtEl>
                                          <p:spTgt spid="223">
                                            <p:txEl>
                                              <p:pRg st="4" end="4"/>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23">
                                            <p:txEl>
                                              <p:pRg st="5" end="5"/>
                                            </p:txEl>
                                          </p:spTgt>
                                        </p:tgtEl>
                                        <p:attrNameLst>
                                          <p:attrName>style.visibility</p:attrName>
                                        </p:attrNameLst>
                                      </p:cBhvr>
                                      <p:to>
                                        <p:strVal val="visible"/>
                                      </p:to>
                                    </p:set>
                                    <p:animEffect transition="in" filter="dissolve">
                                      <p:cBhvr>
                                        <p:cTn id="21" dur="500"/>
                                        <p:tgtEl>
                                          <p:spTgt spid="223">
                                            <p:txEl>
                                              <p:pRg st="5" end="5"/>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23">
                                            <p:txEl>
                                              <p:pRg st="6" end="6"/>
                                            </p:txEl>
                                          </p:spTgt>
                                        </p:tgtEl>
                                        <p:attrNameLst>
                                          <p:attrName>style.visibility</p:attrName>
                                        </p:attrNameLst>
                                      </p:cBhvr>
                                      <p:to>
                                        <p:strVal val="visible"/>
                                      </p:to>
                                    </p:set>
                                    <p:animEffect transition="in" filter="dissolve">
                                      <p:cBhvr>
                                        <p:cTn id="24" dur="500"/>
                                        <p:tgtEl>
                                          <p:spTgt spid="223">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23">
                                            <p:txEl>
                                              <p:pRg st="7" end="7"/>
                                            </p:txEl>
                                          </p:spTgt>
                                        </p:tgtEl>
                                        <p:attrNameLst>
                                          <p:attrName>style.visibility</p:attrName>
                                        </p:attrNameLst>
                                      </p:cBhvr>
                                      <p:to>
                                        <p:strVal val="visible"/>
                                      </p:to>
                                    </p:set>
                                    <p:animEffect transition="in" filter="dissolve">
                                      <p:cBhvr>
                                        <p:cTn id="29" dur="500"/>
                                        <p:tgtEl>
                                          <p:spTgt spid="223">
                                            <p:txEl>
                                              <p:pRg st="7" end="7"/>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223">
                                            <p:txEl>
                                              <p:pRg st="8" end="8"/>
                                            </p:txEl>
                                          </p:spTgt>
                                        </p:tgtEl>
                                        <p:attrNameLst>
                                          <p:attrName>style.visibility</p:attrName>
                                        </p:attrNameLst>
                                      </p:cBhvr>
                                      <p:to>
                                        <p:strVal val="visible"/>
                                      </p:to>
                                    </p:set>
                                    <p:animEffect transition="in" filter="dissolve">
                                      <p:cBhvr>
                                        <p:cTn id="32" dur="500"/>
                                        <p:tgtEl>
                                          <p:spTgt spid="223">
                                            <p:txEl>
                                              <p:pRg st="8" end="8"/>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23">
                                            <p:txEl>
                                              <p:pRg st="9" end="9"/>
                                            </p:txEl>
                                          </p:spTgt>
                                        </p:tgtEl>
                                        <p:attrNameLst>
                                          <p:attrName>style.visibility</p:attrName>
                                        </p:attrNameLst>
                                      </p:cBhvr>
                                      <p:to>
                                        <p:strVal val="visible"/>
                                      </p:to>
                                    </p:set>
                                    <p:animEffect transition="in" filter="dissolve">
                                      <p:cBhvr>
                                        <p:cTn id="35" dur="500"/>
                                        <p:tgtEl>
                                          <p:spTgt spid="223">
                                            <p:txEl>
                                              <p:pRg st="9" end="9"/>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23">
                                            <p:txEl>
                                              <p:pRg st="11" end="11"/>
                                            </p:txEl>
                                          </p:spTgt>
                                        </p:tgtEl>
                                        <p:attrNameLst>
                                          <p:attrName>style.visibility</p:attrName>
                                        </p:attrNameLst>
                                      </p:cBhvr>
                                      <p:to>
                                        <p:strVal val="visible"/>
                                      </p:to>
                                    </p:set>
                                    <p:animEffect transition="in" filter="dissolve">
                                      <p:cBhvr>
                                        <p:cTn id="38" dur="500"/>
                                        <p:tgtEl>
                                          <p:spTgt spid="22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build="p"/>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2_Default Design">
  <a:themeElements>
    <a:clrScheme name="12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2_Default Design">
      <a:majorFont>
        <a:latin typeface="Gill Sans MT"/>
        <a:ea typeface=""/>
        <a:cs typeface="Arial"/>
      </a:majorFont>
      <a:minorFont>
        <a:latin typeface="Gill Sans MT"/>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spDef>
    <a:lnDef>
      <a:spPr bwMode="auto">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a:lstStyle/>
    </a:lnDef>
  </a:objectDefaults>
  <a:extraClrSchemeLst>
    <a:extraClrScheme>
      <a:clrScheme name="12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2_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2_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2_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2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2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2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13318</TotalTime>
  <Words>8193</Words>
  <Application>Microsoft Office PowerPoint</Application>
  <PresentationFormat>Widescreen</PresentationFormat>
  <Paragraphs>1979</Paragraphs>
  <Slides>70</Slides>
  <Notes>58</Notes>
  <HiddenSlides>0</HiddenSlides>
  <MMClips>0</MMClips>
  <ScaleCrop>false</ScaleCrop>
  <HeadingPairs>
    <vt:vector size="6" baseType="variant">
      <vt:variant>
        <vt:lpstr>Fonts Used</vt:lpstr>
      </vt:variant>
      <vt:variant>
        <vt:i4>11</vt:i4>
      </vt:variant>
      <vt:variant>
        <vt:lpstr>Theme</vt:lpstr>
      </vt:variant>
      <vt:variant>
        <vt:i4>4</vt:i4>
      </vt:variant>
      <vt:variant>
        <vt:lpstr>Slide Titles</vt:lpstr>
      </vt:variant>
      <vt:variant>
        <vt:i4>70</vt:i4>
      </vt:variant>
    </vt:vector>
  </HeadingPairs>
  <TitlesOfParts>
    <vt:vector size="85" baseType="lpstr">
      <vt:lpstr>Arial</vt:lpstr>
      <vt:lpstr>Calibri</vt:lpstr>
      <vt:lpstr>Calibri Light</vt:lpstr>
      <vt:lpstr>Comic Sans MS</vt:lpstr>
      <vt:lpstr>Courier New</vt:lpstr>
      <vt:lpstr>Gill Sans MT</vt:lpstr>
      <vt:lpstr>Tahoma</vt:lpstr>
      <vt:lpstr>Times</vt:lpstr>
      <vt:lpstr>Times New Roman</vt:lpstr>
      <vt:lpstr>Wingdings</vt:lpstr>
      <vt:lpstr>ZapfDingbats</vt:lpstr>
      <vt:lpstr>Office Theme</vt:lpstr>
      <vt:lpstr>12_Default Design</vt:lpstr>
      <vt:lpstr>1_Office Theme</vt:lpstr>
      <vt:lpstr>2_Office Theme</vt:lpstr>
      <vt:lpstr>PowerPoint Presentation</vt:lpstr>
      <vt:lpstr>Network layer: our goals</vt:lpstr>
      <vt:lpstr>Network-layer  services and protocols</vt:lpstr>
      <vt:lpstr>Two key network-layer functions</vt:lpstr>
      <vt:lpstr>Network layer: data plane, control plane</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Network Layer: Internet</vt:lpstr>
      <vt:lpstr>IP Datagram format</vt:lpstr>
      <vt:lpstr>NAT: network address translation</vt:lpstr>
      <vt:lpstr>NAT: network address translation</vt:lpstr>
      <vt:lpstr>NAT: network address translation</vt:lpstr>
      <vt:lpstr>NAT: network address translation</vt:lpstr>
      <vt:lpstr>NAT: network address translation</vt:lpstr>
      <vt:lpstr>IP fragmentation/reassembly</vt:lpstr>
      <vt:lpstr>IP fragmentation/reassembly</vt:lpstr>
      <vt:lpstr>IP fragments</vt:lpstr>
      <vt:lpstr>IPv6 Packets Limitations of IPv4</vt:lpstr>
      <vt:lpstr>IPv6: motivation</vt:lpstr>
      <vt:lpstr>IPv4 Issues Need for IPv6</vt:lpstr>
      <vt:lpstr>IPv6 datagram format</vt:lpstr>
      <vt:lpstr>IPv6 Packets IPv6 Packet Header</vt:lpstr>
      <vt:lpstr>IPv6 Address Representation IPv6 Addressing Formats</vt:lpstr>
      <vt:lpstr>IPv6 Address Representation Rule 1 – Omit Leading Zero</vt:lpstr>
      <vt:lpstr>IPv6 Address Representation Rule 2 – Double Colon</vt:lpstr>
      <vt:lpstr>IPv4 Issues IPv4 and IPv6 Coexistence</vt:lpstr>
      <vt:lpstr>Transition from IPv4 to IPv6</vt:lpstr>
      <vt:lpstr>Tunneling and encapsulation</vt:lpstr>
      <vt:lpstr>Tunneling and encapsulation</vt:lpstr>
      <vt:lpstr>Tunneling</vt:lpstr>
      <vt:lpstr>IPv6: adoption</vt:lpstr>
      <vt:lpstr>IPv6: adoption</vt:lpstr>
      <vt:lpstr>Network-layer functions</vt:lpstr>
      <vt:lpstr>Routing protocols</vt:lpstr>
      <vt:lpstr>Graph abstraction: link costs</vt:lpstr>
      <vt:lpstr>Routing algorithm classification</vt:lpstr>
      <vt:lpstr>Network layer: “control plane” roadmap</vt:lpstr>
      <vt:lpstr>Dijkstra’s link-state routing algorithm</vt:lpstr>
      <vt:lpstr>Dijkstra’s link-state routing algorithm</vt:lpstr>
      <vt:lpstr>Dijkstra’s algorithm: an example</vt:lpstr>
      <vt:lpstr>Dijkstra’s algorithm: an example</vt:lpstr>
      <vt:lpstr>Dijkstra’s algorithm: another example</vt:lpstr>
      <vt:lpstr>Distance vector algorithm </vt:lpstr>
      <vt:lpstr>Bellman-Ford Example</vt:lpstr>
      <vt:lpstr>Distance vector algorithm </vt:lpstr>
      <vt:lpstr>Distance vector algorithm:  </vt:lpstr>
      <vt:lpstr>Distance vector: example</vt:lpstr>
      <vt:lpstr>Distance vector example: iteration</vt:lpstr>
      <vt:lpstr>Distance vector example: iteration</vt:lpstr>
      <vt:lpstr>Distance vector example: iteration</vt:lpstr>
      <vt:lpstr>Distance vector example: iteration</vt:lpstr>
      <vt:lpstr>Distance vector example: iteration</vt:lpstr>
      <vt:lpstr>Distance vector example: iteration</vt:lpstr>
      <vt:lpstr>Distance vector example: iteration</vt:lpstr>
      <vt:lpstr>Distance vector example: computation</vt:lpstr>
      <vt:lpstr>Distance vector example: computation</vt:lpstr>
      <vt:lpstr>Distance vector example: computation</vt:lpstr>
      <vt:lpstr>Distance vector example: computation</vt:lpstr>
      <vt:lpstr>Distance vector example: computation</vt:lpstr>
      <vt:lpstr>Comparison of LS and DV algorithms</vt:lpstr>
      <vt:lpstr>Making routing scalable</vt:lpstr>
      <vt:lpstr>Internet approach to scalable routing</vt:lpstr>
      <vt:lpstr>Interconnected ASes</vt:lpstr>
      <vt:lpstr>Inter-AS routing:  a role in intradomain forwarding</vt:lpstr>
      <vt:lpstr>Intra-AS routing: Interior Gateway Protocol</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Mahadi Hasan</cp:lastModifiedBy>
  <cp:revision>570</cp:revision>
  <dcterms:created xsi:type="dcterms:W3CDTF">2020-01-18T07:24:59Z</dcterms:created>
  <dcterms:modified xsi:type="dcterms:W3CDTF">2026-09-17T11:15:42Z</dcterms:modified>
</cp:coreProperties>
</file>