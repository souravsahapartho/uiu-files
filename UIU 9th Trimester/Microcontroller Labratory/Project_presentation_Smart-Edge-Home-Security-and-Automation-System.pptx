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1675"/>
  <p:notesSz cx="6858000" cy="12191675"/>
  <p:embeddedFontLst>
    <p:embeddedFont>
      <p:font typeface="MuseoModerno Medium"/>
      <p:regular r:id="rId18"/>
      <p:bold r:id="rId19"/>
      <p:italic r:id="rId20"/>
      <p:boldItalic r:id="rId21"/>
    </p:embeddedFont>
    <p:embeddedFont>
      <p:font typeface="Source Sans 3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useoModernoMedium-italic.fntdata"/><Relationship Id="rId22" Type="http://schemas.openxmlformats.org/officeDocument/2006/relationships/font" Target="fonts/SourceSans3-regular.fntdata"/><Relationship Id="rId21" Type="http://schemas.openxmlformats.org/officeDocument/2006/relationships/font" Target="fonts/MuseoModernoMedium-boldItalic.fntdata"/><Relationship Id="rId24" Type="http://schemas.openxmlformats.org/officeDocument/2006/relationships/font" Target="fonts/SourceSans3-italic.fntdata"/><Relationship Id="rId23" Type="http://schemas.openxmlformats.org/officeDocument/2006/relationships/font" Target="fonts/SourceSans3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SourceSans3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MuseoModernoMedium-bold.fntdata"/><Relationship Id="rId18" Type="http://schemas.openxmlformats.org/officeDocument/2006/relationships/font" Target="fonts/MuseoModerno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74633183f_8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f74633183f_8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f74633183f_8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073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png"/><Relationship Id="rId4" Type="http://schemas.openxmlformats.org/officeDocument/2006/relationships/image" Target="../media/image10.png"/><Relationship Id="rId5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454" y="506909"/>
            <a:ext cx="4382879" cy="584408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/>
          <p:nvPr/>
        </p:nvSpPr>
        <p:spPr>
          <a:xfrm>
            <a:off x="5233360" y="799505"/>
            <a:ext cx="6296860" cy="118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3700"/>
              <a:buFont typeface="MuseoModerno Medium"/>
              <a:buNone/>
            </a:pPr>
            <a:r>
              <a:rPr b="0" i="0" lang="en-US" sz="370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Smart Edge Home Security and Automation System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5233360" y="2056408"/>
            <a:ext cx="629686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1850"/>
              <a:buFont typeface="MuseoModerno Medium"/>
              <a:buNone/>
            </a:pPr>
            <a:r>
              <a:rPr b="0" i="0" lang="en-US" sz="18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Project Proposal Presentation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" name="Google Shape;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3360" y="2847777"/>
            <a:ext cx="2917851" cy="1517948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5549364" y="3062188"/>
            <a:ext cx="238744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850"/>
              <a:buFont typeface="MuseoModerno Medium"/>
              <a:buNone/>
            </a:pPr>
            <a:r>
              <a:rPr b="0" i="0" lang="en-US" sz="18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Course Name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549364" y="3546475"/>
            <a:ext cx="2387441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None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Microprocessors and Microcontrollers Laboratory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" name="Google Shape;2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3360" y="4554736"/>
            <a:ext cx="2917851" cy="129103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/>
          <p:nvPr/>
        </p:nvSpPr>
        <p:spPr>
          <a:xfrm>
            <a:off x="5549364" y="4769148"/>
            <a:ext cx="238744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850"/>
              <a:buFont typeface="MuseoModerno Medium"/>
              <a:buNone/>
            </a:pPr>
            <a:r>
              <a:rPr b="0" i="0" lang="en-US" sz="18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Group No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549364" y="5253434"/>
            <a:ext cx="2387441" cy="377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01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" name="Google Shape;3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18719" y="2847777"/>
            <a:ext cx="2917851" cy="268952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8934723" y="3062188"/>
            <a:ext cx="238744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850"/>
              <a:buFont typeface="MuseoModerno Medium"/>
              <a:buNone/>
            </a:pPr>
            <a:r>
              <a:rPr b="0" i="0" lang="en-US" sz="18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Members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8934723" y="3546475"/>
            <a:ext cx="2387441" cy="177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60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Ratul -	0112330697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Mashurul - 0112330547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Supty - 0112330221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Sourav - 0112330638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Sadat - 0112330543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0714071" y="6490600"/>
            <a:ext cx="1463700" cy="295200"/>
          </a:xfrm>
          <a:prstGeom prst="rect">
            <a:avLst/>
          </a:prstGeom>
          <a:solidFill>
            <a:srgbClr val="FFFCF5"/>
          </a:solidFill>
          <a:ln cap="flat" cmpd="sng" w="9525">
            <a:solidFill>
              <a:srgbClr val="FFF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4838" y="494407"/>
            <a:ext cx="4401730" cy="5869186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/>
          <p:nvPr/>
        </p:nvSpPr>
        <p:spPr>
          <a:xfrm>
            <a:off x="661475" y="860028"/>
            <a:ext cx="6296860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3300"/>
              <a:buFont typeface="MuseoModerno Medium"/>
              <a:buNone/>
            </a:pPr>
            <a:r>
              <a:rPr b="0" i="0" lang="en-US" sz="330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Why This Project?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" name="Google Shape;4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475" y="1621234"/>
            <a:ext cx="6296860" cy="130641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/>
          <p:nvPr/>
        </p:nvSpPr>
        <p:spPr>
          <a:xfrm>
            <a:off x="926779" y="1810345"/>
            <a:ext cx="5842449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650"/>
              <a:buFont typeface="MuseoModerno Medium"/>
              <a:buNone/>
            </a:pPr>
            <a:r>
              <a:rPr b="0" i="0" lang="en-US" sz="16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The Problem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926779" y="2167830"/>
            <a:ext cx="5842449" cy="570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8025">
            <a:noAutofit/>
          </a:bodyPr>
          <a:lstStyle/>
          <a:p>
            <a:pPr indent="-2641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00"/>
              <a:buFont typeface="Source Sans 3"/>
              <a:buChar char="•"/>
            </a:pPr>
            <a:r>
              <a:rPr b="0" i="0" lang="en-US" sz="13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Growing need for safety, convenience, and energy efficiency in modern homes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00"/>
              <a:buFont typeface="Source Sans 3"/>
              <a:buChar char="•"/>
            </a:pPr>
            <a:r>
              <a:rPr b="0" i="0" lang="en-US" sz="13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Traditional systems rely on simple thresholds and lack intelligent monitoring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475" y="3080742"/>
            <a:ext cx="6296860" cy="1382018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926779" y="3269853"/>
            <a:ext cx="5842449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650"/>
              <a:buFont typeface="MuseoModerno Medium"/>
              <a:buNone/>
            </a:pPr>
            <a:r>
              <a:rPr b="0" i="0" lang="en-US" sz="16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Our Solution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926779" y="3627338"/>
            <a:ext cx="5842449" cy="646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650"/>
              <a:buFont typeface="Source Sans 3"/>
              <a:buNone/>
            </a:pPr>
            <a:r>
              <a:rPr b="0" i="0" lang="en-US" sz="16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Combining embedded systems, edge AI, sensors, and wireless communication via </a:t>
            </a:r>
            <a:r>
              <a:rPr b="1" i="0" lang="en-US" sz="16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Raspberry Pi 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" name="Google Shape;4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475" y="4615855"/>
            <a:ext cx="6296860" cy="1382018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/>
          <p:nvPr/>
        </p:nvSpPr>
        <p:spPr>
          <a:xfrm>
            <a:off x="926779" y="4804966"/>
            <a:ext cx="5842449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650"/>
              <a:buFont typeface="MuseoModerno Medium"/>
              <a:buNone/>
            </a:pPr>
            <a:r>
              <a:rPr b="0" i="0" lang="en-US" sz="16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Societal Benefit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926779" y="5162451"/>
            <a:ext cx="5842449" cy="646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650"/>
              <a:buFont typeface="Source Sans 3"/>
              <a:buNone/>
            </a:pPr>
            <a:r>
              <a:rPr b="0" i="0" lang="en-US" sz="16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Cost-effective system for environmental safety, intelligent security, and centralized smart monitoring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"/>
          <p:cNvSpPr/>
          <p:nvPr/>
        </p:nvSpPr>
        <p:spPr>
          <a:xfrm>
            <a:off x="661475" y="1050330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3700"/>
              <a:buFont typeface="MuseoModerno Medium"/>
              <a:buNone/>
            </a:pPr>
            <a:r>
              <a:rPr b="0" i="0" lang="en-US" sz="370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Introduction to the System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" name="Google Shape;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019002"/>
            <a:ext cx="2009923" cy="2009973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6"/>
          <p:cNvSpPr/>
          <p:nvPr/>
        </p:nvSpPr>
        <p:spPr>
          <a:xfrm>
            <a:off x="661475" y="4265216"/>
            <a:ext cx="34654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850"/>
              <a:buFont typeface="MuseoModerno Medium"/>
              <a:buNone/>
            </a:pPr>
            <a:r>
              <a:rPr b="0" i="0" lang="en-US" sz="18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Embedded Core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661475" y="4673898"/>
            <a:ext cx="3465426" cy="1133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Raspberry Pi 5-based system designed to automate and secure a small home environment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" name="Google Shape;6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3135" y="2019002"/>
            <a:ext cx="2009923" cy="2009973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"/>
          <p:cNvSpPr/>
          <p:nvPr/>
        </p:nvSpPr>
        <p:spPr>
          <a:xfrm>
            <a:off x="4363135" y="4265216"/>
            <a:ext cx="34654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850"/>
              <a:buFont typeface="MuseoModerno Medium"/>
              <a:buNone/>
            </a:pPr>
            <a:r>
              <a:rPr b="0" i="0" lang="en-US" sz="18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Edge AI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4363135" y="4673898"/>
            <a:ext cx="3465426" cy="1133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Local AI for person detection — no cloud dependency, real-time on-device inference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" name="Google Shape;6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794" y="2019002"/>
            <a:ext cx="2009923" cy="2009973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6"/>
          <p:cNvSpPr/>
          <p:nvPr/>
        </p:nvSpPr>
        <p:spPr>
          <a:xfrm>
            <a:off x="8064794" y="4265216"/>
            <a:ext cx="34654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850"/>
              <a:buFont typeface="MuseoModerno Medium"/>
              <a:buNone/>
            </a:pPr>
            <a:r>
              <a:rPr b="0" i="0" lang="en-US" sz="18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Remote Monitoring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8064794" y="4673898"/>
            <a:ext cx="3465426" cy="1133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Real-time wireless dashboard for live data, alerts, and system control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10727875" y="6490600"/>
            <a:ext cx="1463700" cy="295200"/>
          </a:xfrm>
          <a:prstGeom prst="rect">
            <a:avLst/>
          </a:prstGeom>
          <a:solidFill>
            <a:srgbClr val="FFFCF5"/>
          </a:solidFill>
          <a:ln cap="flat" cmpd="sng" w="9525">
            <a:solidFill>
              <a:srgbClr val="FFF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10730114" y="6282000"/>
            <a:ext cx="1398000" cy="576000"/>
          </a:xfrm>
          <a:prstGeom prst="rect">
            <a:avLst/>
          </a:prstGeom>
          <a:solidFill>
            <a:srgbClr val="FFFCF5"/>
          </a:solidFill>
          <a:ln cap="flat" cmpd="sng" w="9525">
            <a:solidFill>
              <a:srgbClr val="FFF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3" name="Google Shape;7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208088"/>
            <a:ext cx="4750574" cy="44418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7"/>
          <p:cNvSpPr/>
          <p:nvPr/>
        </p:nvSpPr>
        <p:spPr>
          <a:xfrm>
            <a:off x="5879556" y="1184473"/>
            <a:ext cx="5656915" cy="118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3700"/>
              <a:buFont typeface="MuseoModerno Medium"/>
              <a:buNone/>
            </a:pPr>
            <a:r>
              <a:rPr b="0" i="0" lang="en-US" sz="370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Feature 1: AI Person Detection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5879556" y="2554784"/>
            <a:ext cx="5656915" cy="755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This feature leverages local AI to identify individuals, enhancing security without reliance on cloud processing.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5879556" y="3499644"/>
            <a:ext cx="565691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1850"/>
              <a:buFont typeface="MuseoModerno Medium"/>
              <a:buNone/>
            </a:pPr>
            <a:r>
              <a:rPr b="0" i="0" lang="en-US" sz="18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Components: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5879556" y="3983930"/>
            <a:ext cx="5656915" cy="1407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60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Raspberry Pi 5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Pi Camera Module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TensorFlow Lite (software)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Local AI inference engine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10719056" y="6490600"/>
            <a:ext cx="1463700" cy="295200"/>
          </a:xfrm>
          <a:prstGeom prst="rect">
            <a:avLst/>
          </a:prstGeom>
          <a:solidFill>
            <a:srgbClr val="FFFCF5"/>
          </a:solidFill>
          <a:ln cap="flat" cmpd="sng" w="9525">
            <a:solidFill>
              <a:srgbClr val="FFF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4" name="Google Shape;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709613"/>
            <a:ext cx="2501738" cy="54386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8"/>
          <p:cNvSpPr/>
          <p:nvPr/>
        </p:nvSpPr>
        <p:spPr>
          <a:xfrm>
            <a:off x="5057053" y="693043"/>
            <a:ext cx="6479418" cy="988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3100"/>
              <a:buFont typeface="MuseoModerno Medium"/>
              <a:buNone/>
            </a:pPr>
            <a:r>
              <a:rPr b="0" i="0" lang="en-US" sz="310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Feature 2: PIR Intrusion Detection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5057053" y="1813719"/>
            <a:ext cx="6479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PIR Intrusion Detection uses a motion sensor to detect movement and alert the Raspberry Pi. It provides a simple, reliable way to trigger security responses when someone enters the area.</a:t>
            </a:r>
            <a:endParaRPr sz="1550">
              <a:solidFill>
                <a:srgbClr val="2B415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5057053" y="2817515"/>
            <a:ext cx="6479418" cy="247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1550"/>
              <a:buFont typeface="MuseoModerno Medium"/>
              <a:buNone/>
            </a:pPr>
            <a:r>
              <a:rPr b="0" i="0" lang="en-US" sz="15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Components: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5057053" y="3196927"/>
            <a:ext cx="6479418" cy="1068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250">
            <a:noAutofit/>
          </a:bodyPr>
          <a:lstStyle/>
          <a:p>
            <a:pPr indent="-243840" lvl="0" marL="24384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200"/>
              <a:buFont typeface="Source Sans 3"/>
              <a:buChar char="•"/>
            </a:pPr>
            <a:r>
              <a:rPr b="0" i="0" lang="en-US" sz="12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PIR Motion Sensor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3840" lvl="0" marL="24384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200"/>
              <a:buFont typeface="Source Sans 3"/>
              <a:buChar char="•"/>
            </a:pPr>
            <a:r>
              <a:rPr b="0" i="0" lang="en-US" sz="12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Raspberry Pi 5 (GPIO pins)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3840" lvl="0" marL="24384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200"/>
              <a:buFont typeface="Source Sans 3"/>
              <a:buChar char="•"/>
            </a:pPr>
            <a:r>
              <a:rPr b="0" i="0" lang="en-US" sz="12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Jumper wires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3840" lvl="0" marL="24384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200"/>
              <a:buFont typeface="Source Sans 3"/>
              <a:buChar char="•"/>
            </a:pPr>
            <a:r>
              <a:rPr b="0" i="0" lang="en-US" sz="12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Pull-up resistor (10kΩ)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707391" y="6490600"/>
            <a:ext cx="1463700" cy="295200"/>
          </a:xfrm>
          <a:prstGeom prst="rect">
            <a:avLst/>
          </a:prstGeom>
          <a:solidFill>
            <a:srgbClr val="FFFCF5"/>
          </a:solidFill>
          <a:ln cap="flat" cmpd="sng" w="9525">
            <a:solidFill>
              <a:srgbClr val="FFF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5" name="Google Shape;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1275" y="879225"/>
            <a:ext cx="3636975" cy="52998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"/>
          <p:cNvSpPr/>
          <p:nvPr/>
        </p:nvSpPr>
        <p:spPr>
          <a:xfrm>
            <a:off x="5190499" y="998958"/>
            <a:ext cx="63459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3500"/>
              <a:buFont typeface="MuseoModerno Medium"/>
              <a:buNone/>
            </a:pPr>
            <a:r>
              <a:rPr b="0" i="0" lang="en-US" sz="350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Feature 3: Smart Lighting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5190499" y="1633003"/>
            <a:ext cx="63459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750"/>
              <a:buFont typeface="Source Sans 3"/>
              <a:buNone/>
            </a:pPr>
            <a:r>
              <a:rPr b="0" i="0" lang="en-US" sz="17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Smart Lighting automatically adjusts LED lights based on ambient light and occupancy to improve comfort and energy efficiency.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5190499" y="2821147"/>
            <a:ext cx="63459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100"/>
              <a:buFont typeface="MuseoModerno Medium"/>
              <a:buNone/>
            </a:pPr>
            <a:r>
              <a:rPr b="0" i="0" lang="en-US" sz="210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Components: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5190499" y="3230662"/>
            <a:ext cx="6345900" cy="19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825">
            <a:noAutofit/>
          </a:bodyPr>
          <a:lstStyle/>
          <a:p>
            <a:pPr indent="-284480" lvl="0" marL="2844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00"/>
              <a:buFont typeface="Source Sans 3"/>
              <a:buChar char="•"/>
            </a:pPr>
            <a:r>
              <a:rPr b="0" i="0" lang="en-US" sz="14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LDR (Light Dependent Resistor)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4480" lvl="0" marL="2844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00"/>
              <a:buFont typeface="Source Sans 3"/>
              <a:buChar char="•"/>
            </a:pPr>
            <a:r>
              <a:rPr b="0" i="0" lang="en-US" sz="14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ADC Module (ADS1115)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4480" lvl="0" marL="2844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00"/>
              <a:buFont typeface="Source Sans 3"/>
              <a:buChar char="•"/>
            </a:pPr>
            <a:r>
              <a:rPr b="0" i="0" lang="en-US" sz="14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LED Lights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4480" lvl="0" marL="2844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00"/>
              <a:buFont typeface="Source Sans 3"/>
              <a:buChar char="•"/>
            </a:pPr>
            <a:r>
              <a:rPr b="0" i="0" lang="en-US" sz="14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Resistor (10kΩ)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4480" lvl="0" marL="2844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00"/>
              <a:buFont typeface="Source Sans 3"/>
              <a:buChar char="•"/>
            </a:pPr>
            <a:r>
              <a:rPr b="0" i="0" lang="en-US" sz="14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Raspberry Pi 5 (I2C pins)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4480" lvl="0" marL="2844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00"/>
              <a:buFont typeface="Source Sans 3"/>
              <a:buChar char="•"/>
            </a:pPr>
            <a:r>
              <a:rPr b="0" i="0" lang="en-US" sz="14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Jumper wires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10762949" y="6271758"/>
            <a:ext cx="1398000" cy="576000"/>
          </a:xfrm>
          <a:prstGeom prst="rect">
            <a:avLst/>
          </a:prstGeom>
          <a:solidFill>
            <a:srgbClr val="FFFCF5"/>
          </a:solidFill>
          <a:ln cap="flat" cmpd="sng" w="9525">
            <a:solidFill>
              <a:srgbClr val="FFF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6" name="Google Shape;10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269" y="852884"/>
            <a:ext cx="4069058" cy="45085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0"/>
          <p:cNvSpPr/>
          <p:nvPr/>
        </p:nvSpPr>
        <p:spPr>
          <a:xfrm>
            <a:off x="5199726" y="829270"/>
            <a:ext cx="6336745" cy="118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3700"/>
              <a:buFont typeface="MuseoModerno Medium"/>
              <a:buNone/>
            </a:pPr>
            <a:r>
              <a:rPr b="0" i="0" lang="en-US" sz="370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Feature 4: Gas/Smoke Emergency Detection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0"/>
          <p:cNvSpPr/>
          <p:nvPr/>
        </p:nvSpPr>
        <p:spPr>
          <a:xfrm>
            <a:off x="5199726" y="2199580"/>
            <a:ext cx="6336745" cy="1133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Detects hazardous gas or smoke levels and triggers an immediate buzzer alert, while notifying the dashboard so action can be taken quickly.</a:t>
            </a:r>
            <a:endParaRPr sz="1850">
              <a:solidFill>
                <a:srgbClr val="2B415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200"/>
              </a:spcBef>
              <a:spcAft>
                <a:spcPts val="0"/>
              </a:spcAft>
              <a:buClr>
                <a:srgbClr val="2B4150"/>
              </a:buClr>
              <a:buSzPts val="1850"/>
              <a:buFont typeface="Source Sans 3"/>
              <a:buNone/>
            </a:pPr>
            <a:r>
              <a:t/>
            </a:r>
            <a:endParaRPr sz="1850">
              <a:solidFill>
                <a:srgbClr val="2B415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5199726" y="3522365"/>
            <a:ext cx="633674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1850"/>
              <a:buFont typeface="MuseoModerno Medium"/>
              <a:buNone/>
            </a:pPr>
            <a:r>
              <a:rPr b="0" i="0" lang="en-US" sz="18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Components: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5199726" y="4006652"/>
            <a:ext cx="6336745" cy="2144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60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MQ-2 Gas/Smoke Sensor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ADC Module (ADS1115)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Buzzer (5V)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Relay Module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Raspberry Pi 5 (I2C and GPIO pins)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Jumper wires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10727875" y="6490600"/>
            <a:ext cx="1463700" cy="295200"/>
          </a:xfrm>
          <a:prstGeom prst="rect">
            <a:avLst/>
          </a:prstGeom>
          <a:solidFill>
            <a:srgbClr val="FFFCF5"/>
          </a:solidFill>
          <a:ln cap="flat" cmpd="sng" w="9525">
            <a:solidFill>
              <a:srgbClr val="FFF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7" name="Google Shape;11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275" y="1037124"/>
            <a:ext cx="4069049" cy="355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1"/>
          <p:cNvSpPr/>
          <p:nvPr/>
        </p:nvSpPr>
        <p:spPr>
          <a:xfrm>
            <a:off x="661475" y="4452144"/>
            <a:ext cx="468032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5199726" y="1013520"/>
            <a:ext cx="6336745" cy="118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3700"/>
              <a:buFont typeface="MuseoModerno Medium"/>
              <a:buNone/>
            </a:pPr>
            <a:r>
              <a:rPr b="0" i="0" lang="en-US" sz="370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Sub-feature 5: Wireless Dashboard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5199726" y="2383830"/>
            <a:ext cx="6336745" cy="1133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Wireless Dashboard sends sensor data from the Raspberry Pi to a web-based interface for real-time monitoring and control.</a:t>
            </a:r>
            <a:endParaRPr sz="1850">
              <a:solidFill>
                <a:srgbClr val="2B415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200"/>
              </a:spcBef>
              <a:spcAft>
                <a:spcPts val="0"/>
              </a:spcAft>
              <a:buClr>
                <a:srgbClr val="2B4150"/>
              </a:buClr>
              <a:buSzPts val="1850"/>
              <a:buFont typeface="Source Sans 3"/>
              <a:buNone/>
            </a:pPr>
            <a:r>
              <a:t/>
            </a:r>
            <a:endParaRPr sz="1850">
              <a:solidFill>
                <a:srgbClr val="2B415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5199726" y="3706614"/>
            <a:ext cx="633674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1850"/>
              <a:buFont typeface="MuseoModerno Medium"/>
              <a:buNone/>
            </a:pPr>
            <a:r>
              <a:rPr b="0" i="0" lang="en-US" sz="18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Components: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5199726" y="4190901"/>
            <a:ext cx="6336745" cy="177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60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Raspberry Pi 5 (built-in Wi-Fi)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Web Server (Flask/Django)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Database (SQLite/PostgreSQL)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Network Router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Client devices (computer, smartphone, tablet)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10793675" y="6282000"/>
            <a:ext cx="1398000" cy="576000"/>
          </a:xfrm>
          <a:prstGeom prst="rect">
            <a:avLst/>
          </a:prstGeom>
          <a:solidFill>
            <a:srgbClr val="FFFCF5"/>
          </a:solidFill>
          <a:ln cap="flat" cmpd="sng" w="9525">
            <a:solidFill>
              <a:srgbClr val="FFF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9" name="Google Shape;12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7760" y="727968"/>
            <a:ext cx="1764661" cy="540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2"/>
          <p:cNvSpPr/>
          <p:nvPr/>
        </p:nvSpPr>
        <p:spPr>
          <a:xfrm>
            <a:off x="3940076" y="708819"/>
            <a:ext cx="7596394" cy="1063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3300"/>
              <a:buFont typeface="MuseoModerno Medium"/>
              <a:buNone/>
            </a:pPr>
            <a:r>
              <a:rPr b="0" i="0" lang="en-US" sz="330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Sub-feature 6: Data Logging &amp; Analytics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3940076" y="1925141"/>
            <a:ext cx="7596394" cy="1430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Logs sensor data over time and stores it for historical analysis and trend tracking</a:t>
            </a:r>
            <a:r>
              <a:rPr lang="en-US" sz="16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provid</a:t>
            </a:r>
            <a:r>
              <a:rPr lang="en-US" sz="1650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ing</a:t>
            </a:r>
            <a:r>
              <a:rPr b="0" i="0" lang="en-US" sz="16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 a comprehensive overview of environmental data, allowing for informed decision-making and proactive adjustments.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2"/>
          <p:cNvSpPr/>
          <p:nvPr/>
        </p:nvSpPr>
        <p:spPr>
          <a:xfrm>
            <a:off x="3940076" y="3508573"/>
            <a:ext cx="7596394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1650"/>
              <a:buFont typeface="MuseoModerno Medium"/>
              <a:buNone/>
            </a:pPr>
            <a:r>
              <a:rPr b="0" i="0" lang="en-US" sz="16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Components: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2"/>
          <p:cNvSpPr/>
          <p:nvPr/>
        </p:nvSpPr>
        <p:spPr>
          <a:xfrm>
            <a:off x="3940076" y="3927376"/>
            <a:ext cx="7596394" cy="1819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8025">
            <a:noAutofit/>
          </a:bodyPr>
          <a:lstStyle/>
          <a:p>
            <a:pPr indent="-2641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00"/>
              <a:buFont typeface="Source Sans 3"/>
              <a:buChar char="•"/>
            </a:pPr>
            <a:r>
              <a:rPr b="0" i="0" lang="en-US" sz="13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Raspberry Pi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00"/>
              <a:buFont typeface="Source Sans 3"/>
              <a:buChar char="•"/>
            </a:pPr>
            <a:r>
              <a:rPr b="0" i="0" lang="en-US" sz="13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Database (SQLite/PostgreSQL)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00"/>
              <a:buFont typeface="Source Sans 3"/>
              <a:buChar char="•"/>
            </a:pPr>
            <a:r>
              <a:rPr b="0" i="0" lang="en-US" sz="13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 logging software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00"/>
              <a:buFont typeface="Source Sans 3"/>
              <a:buChar char="•"/>
            </a:pPr>
            <a:r>
              <a:rPr b="0" i="0" lang="en-US" sz="13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Analytics 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00"/>
              <a:buFont typeface="Source Sans 3"/>
              <a:buChar char="•"/>
            </a:pPr>
            <a:r>
              <a:rPr b="0" i="0" lang="en-US" sz="13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Historical data storage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00"/>
              <a:buFont typeface="Source Sans 3"/>
              <a:buChar char="•"/>
            </a:pPr>
            <a:r>
              <a:rPr b="0" i="0" lang="en-US" sz="13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Trend visualization tools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2"/>
          <p:cNvSpPr/>
          <p:nvPr/>
        </p:nvSpPr>
        <p:spPr>
          <a:xfrm>
            <a:off x="10727875" y="6490600"/>
            <a:ext cx="1463700" cy="295200"/>
          </a:xfrm>
          <a:prstGeom prst="rect">
            <a:avLst/>
          </a:prstGeom>
          <a:solidFill>
            <a:srgbClr val="FFFCF5"/>
          </a:solidFill>
          <a:ln cap="flat" cmpd="sng" w="9525">
            <a:solidFill>
              <a:srgbClr val="FFF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2"/>
          <p:cNvSpPr/>
          <p:nvPr/>
        </p:nvSpPr>
        <p:spPr>
          <a:xfrm>
            <a:off x="10793675" y="6282000"/>
            <a:ext cx="1398000" cy="576000"/>
          </a:xfrm>
          <a:prstGeom prst="rect">
            <a:avLst/>
          </a:prstGeom>
          <a:solidFill>
            <a:srgbClr val="FFFCF5"/>
          </a:solidFill>
          <a:ln cap="flat" cmpd="sng" w="9525">
            <a:solidFill>
              <a:srgbClr val="FFF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650" y="1472307"/>
            <a:ext cx="4430106" cy="391338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3"/>
          <p:cNvSpPr/>
          <p:nvPr/>
        </p:nvSpPr>
        <p:spPr>
          <a:xfrm>
            <a:off x="661475" y="663377"/>
            <a:ext cx="6296860" cy="886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2750"/>
              <a:buFont typeface="MuseoModerno Medium"/>
              <a:buNone/>
            </a:pPr>
            <a:r>
              <a:rPr b="0" i="0" lang="en-US" sz="27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Sub Feature 7: System Modes &amp; Data Analytics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" name="Google Shape;14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475" y="1708845"/>
            <a:ext cx="708801" cy="85060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3"/>
          <p:cNvSpPr/>
          <p:nvPr/>
        </p:nvSpPr>
        <p:spPr>
          <a:xfrm>
            <a:off x="1476536" y="1850529"/>
            <a:ext cx="548179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HOME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1476536" y="2135684"/>
            <a:ext cx="5481798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Full automation active, all sensors monitoring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" name="Google Shape;14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475" y="2559447"/>
            <a:ext cx="708801" cy="85060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3"/>
          <p:cNvSpPr/>
          <p:nvPr/>
        </p:nvSpPr>
        <p:spPr>
          <a:xfrm>
            <a:off x="1476536" y="2701131"/>
            <a:ext cx="548179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AWAY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1476536" y="2986286"/>
            <a:ext cx="5481798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Enhanced security, intrusion detection priority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475" y="3410049"/>
            <a:ext cx="708801" cy="85060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3"/>
          <p:cNvSpPr/>
          <p:nvPr/>
        </p:nvSpPr>
        <p:spPr>
          <a:xfrm>
            <a:off x="1476536" y="3551734"/>
            <a:ext cx="548179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NIGHT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1476536" y="3836888"/>
            <a:ext cx="5481798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Reduced lighting, quiet alerts, perimeter active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3" name="Google Shape;15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1475" y="4260652"/>
            <a:ext cx="708801" cy="85060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3"/>
          <p:cNvSpPr/>
          <p:nvPr/>
        </p:nvSpPr>
        <p:spPr>
          <a:xfrm>
            <a:off x="1476536" y="4402336"/>
            <a:ext cx="548179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EMERGENCY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1476536" y="4687491"/>
            <a:ext cx="5481798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Full alert: buzzer, dashboard notification, ventilation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6" name="Google Shape;156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2425" y="5331321"/>
            <a:ext cx="2994545" cy="76269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3"/>
          <p:cNvSpPr/>
          <p:nvPr/>
        </p:nvSpPr>
        <p:spPr>
          <a:xfrm>
            <a:off x="841255" y="5350371"/>
            <a:ext cx="2795716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Wireless Dashboard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841255" y="5678091"/>
            <a:ext cx="2795716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Web-based Wi-Fi interface for real-time data, control, and alerts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9" name="Google Shape;15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70139" y="5331321"/>
            <a:ext cx="2994545" cy="76269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3"/>
          <p:cNvSpPr/>
          <p:nvPr/>
        </p:nvSpPr>
        <p:spPr>
          <a:xfrm>
            <a:off x="4168968" y="5350371"/>
            <a:ext cx="2795716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350"/>
              <a:buFont typeface="MuseoModerno Medium"/>
              <a:buNone/>
            </a:pPr>
            <a:r>
              <a:rPr b="0" i="0" lang="en-US" sz="13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Local Display &amp; Logs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4168968" y="5678091"/>
            <a:ext cx="2795716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100"/>
              <a:buFont typeface="Source Sans 3"/>
              <a:buNone/>
            </a:pPr>
            <a:r>
              <a:rPr b="0" i="0" lang="en-US" sz="110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I2C OLED for local readout; database for historical environmental and security analytics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/>
          <p:nvPr/>
        </p:nvSpPr>
        <p:spPr>
          <a:xfrm>
            <a:off x="661475" y="639763"/>
            <a:ext cx="10868745" cy="502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3150"/>
              <a:buFont typeface="MuseoModerno Medium"/>
              <a:buNone/>
            </a:pPr>
            <a:r>
              <a:rPr b="0" i="0" lang="en-US" sz="315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System Architecture Diagram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14" title="wKA5U7JF9hSakHhU.png"/>
          <p:cNvPicPr preferRelativeResize="0"/>
          <p:nvPr/>
        </p:nvPicPr>
        <p:blipFill rotWithShape="1">
          <a:blip r:embed="rId3">
            <a:alphaModFix/>
          </a:blip>
          <a:srcRect b="1012" l="0" r="1449" t="756"/>
          <a:stretch/>
        </p:blipFill>
        <p:spPr>
          <a:xfrm>
            <a:off x="661475" y="1061650"/>
            <a:ext cx="5331349" cy="54272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9" name="Google Shape;16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5105" y="2017514"/>
            <a:ext cx="4131365" cy="101996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4"/>
          <p:cNvSpPr/>
          <p:nvPr/>
        </p:nvSpPr>
        <p:spPr>
          <a:xfrm>
            <a:off x="7622885" y="2036564"/>
            <a:ext cx="3913586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550"/>
              <a:buFont typeface="MuseoModerno Medium"/>
              <a:buNone/>
            </a:pPr>
            <a:r>
              <a:rPr b="0" i="0" lang="en-US" sz="15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Inputs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7622885" y="2424112"/>
            <a:ext cx="3913586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550"/>
              <a:buFont typeface="Source Sans 3"/>
              <a:buNone/>
            </a:pPr>
            <a:r>
              <a:rPr b="0" i="0" lang="en-US" sz="15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Sensors: PIR, DHT22, LDR, MQ-2, Pi Camera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5105" y="3272433"/>
            <a:ext cx="4131365" cy="101996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4"/>
          <p:cNvSpPr/>
          <p:nvPr/>
        </p:nvSpPr>
        <p:spPr>
          <a:xfrm>
            <a:off x="7622885" y="3291483"/>
            <a:ext cx="3913586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550"/>
              <a:buFont typeface="MuseoModerno Medium"/>
              <a:buNone/>
            </a:pPr>
            <a:r>
              <a:rPr b="0" i="0" lang="en-US" sz="15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Processing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4"/>
          <p:cNvSpPr/>
          <p:nvPr/>
        </p:nvSpPr>
        <p:spPr>
          <a:xfrm>
            <a:off x="7622885" y="3679031"/>
            <a:ext cx="3913586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550"/>
              <a:buFont typeface="Source Sans 3"/>
              <a:buNone/>
            </a:pPr>
            <a:r>
              <a:rPr b="0" i="0" lang="en-US" sz="15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Raspberry Pi 5 — edge AI inference, logic, and data logging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5105" y="4527352"/>
            <a:ext cx="4131365" cy="101996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4"/>
          <p:cNvSpPr/>
          <p:nvPr/>
        </p:nvSpPr>
        <p:spPr>
          <a:xfrm>
            <a:off x="7622885" y="4546402"/>
            <a:ext cx="3913586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550"/>
              <a:buFont typeface="MuseoModerno Medium"/>
              <a:buNone/>
            </a:pPr>
            <a:r>
              <a:rPr b="0" i="0" lang="en-US" sz="15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Outputs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7622885" y="4933950"/>
            <a:ext cx="3913586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550"/>
              <a:buFont typeface="Source Sans 3"/>
              <a:buNone/>
            </a:pPr>
            <a:r>
              <a:rPr b="0" i="0" lang="en-US" sz="15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Servo, DC Fan, LEDs, Buzzer, OLED, Web Dashboard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10776850" y="6441625"/>
            <a:ext cx="1414800" cy="416400"/>
          </a:xfrm>
          <a:prstGeom prst="rect">
            <a:avLst/>
          </a:prstGeom>
          <a:solidFill>
            <a:srgbClr val="FFFCF5"/>
          </a:solidFill>
          <a:ln cap="flat" cmpd="sng" w="9525">
            <a:solidFill>
              <a:srgbClr val="FFF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"/>
          <p:cNvSpPr/>
          <p:nvPr/>
        </p:nvSpPr>
        <p:spPr>
          <a:xfrm>
            <a:off x="661475" y="689868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3700"/>
              <a:buFont typeface="MuseoModerno Medium"/>
              <a:buNone/>
            </a:pPr>
            <a:r>
              <a:rPr b="0" i="0" lang="en-US" sz="370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Required Components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5" name="Google Shape;1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658541"/>
            <a:ext cx="378014" cy="37802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5"/>
          <p:cNvSpPr/>
          <p:nvPr/>
        </p:nvSpPr>
        <p:spPr>
          <a:xfrm>
            <a:off x="1275723" y="1723430"/>
            <a:ext cx="470195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850"/>
              <a:buFont typeface="MuseoModerno Medium"/>
              <a:buNone/>
            </a:pPr>
            <a:r>
              <a:rPr b="0" i="0" lang="en-US" sz="18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Core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1275723" y="2132112"/>
            <a:ext cx="4701958" cy="670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60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Raspberry Pi 5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Pi Camera Module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8" name="Google Shape;18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3915" y="1658541"/>
            <a:ext cx="378014" cy="37802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5"/>
          <p:cNvSpPr/>
          <p:nvPr/>
        </p:nvSpPr>
        <p:spPr>
          <a:xfrm>
            <a:off x="6828163" y="1723430"/>
            <a:ext cx="470205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850"/>
              <a:buFont typeface="MuseoModerno Medium"/>
              <a:buNone/>
            </a:pPr>
            <a:r>
              <a:rPr b="0" i="0" lang="en-US" sz="18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Sensors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6828163" y="2132112"/>
            <a:ext cx="4702057" cy="1776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60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PIR — Motion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DHT22 — Temp/Humidity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LDR — Light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MQ-2 — Gas/Smoke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1" name="Google Shape;19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475" y="4286548"/>
            <a:ext cx="378014" cy="378023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5"/>
          <p:cNvSpPr/>
          <p:nvPr/>
        </p:nvSpPr>
        <p:spPr>
          <a:xfrm>
            <a:off x="1275723" y="4351437"/>
            <a:ext cx="470195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850"/>
              <a:buFont typeface="MuseoModerno Medium"/>
              <a:buNone/>
            </a:pPr>
            <a:r>
              <a:rPr b="0" i="0" lang="en-US" sz="18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Actuators &amp; Outputs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1275723" y="4760119"/>
            <a:ext cx="4701958" cy="1407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60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SG90 Servo motor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5V DC Fan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LEDs &amp; Buzzer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0.96" I2C OLED Display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4" name="Google Shape;19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3915" y="4286548"/>
            <a:ext cx="378014" cy="37802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5"/>
          <p:cNvSpPr/>
          <p:nvPr/>
        </p:nvSpPr>
        <p:spPr>
          <a:xfrm>
            <a:off x="6828163" y="4351437"/>
            <a:ext cx="470205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850"/>
              <a:buFont typeface="MuseoModerno Medium"/>
              <a:buNone/>
            </a:pPr>
            <a:r>
              <a:rPr b="0" i="0" lang="en-US" sz="18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Supporting Hardware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6828163" y="4760119"/>
            <a:ext cx="4702057" cy="1407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60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Breadboard &amp; jumper wires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Resistors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External power supply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450"/>
              <a:buFont typeface="Source Sans 3"/>
              <a:buChar char="•"/>
            </a:pPr>
            <a:r>
              <a:rPr b="0" i="0" lang="en-US" sz="14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Prototype enclosure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10727875" y="6441625"/>
            <a:ext cx="1463700" cy="416400"/>
          </a:xfrm>
          <a:prstGeom prst="rect">
            <a:avLst/>
          </a:prstGeom>
          <a:solidFill>
            <a:srgbClr val="FFFCF5"/>
          </a:solidFill>
          <a:ln cap="flat" cmpd="sng" w="9525">
            <a:solidFill>
              <a:srgbClr val="FFF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4" name="Google Shape;2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454" y="506909"/>
            <a:ext cx="4382879" cy="5844084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6"/>
          <p:cNvSpPr/>
          <p:nvPr/>
        </p:nvSpPr>
        <p:spPr>
          <a:xfrm>
            <a:off x="5233360" y="2031702"/>
            <a:ext cx="6296860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4E73"/>
              </a:buClr>
              <a:buSzPts val="3700"/>
              <a:buFont typeface="MuseoModerno Medium"/>
              <a:buNone/>
            </a:pPr>
            <a:r>
              <a:rPr b="0" i="0" lang="en-US" sz="3700" u="none" cap="none" strike="noStrike">
                <a:solidFill>
                  <a:srgbClr val="124E73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Conclusion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5233360" y="2905820"/>
            <a:ext cx="3053877" cy="1920478"/>
          </a:xfrm>
          <a:prstGeom prst="roundRect">
            <a:avLst>
              <a:gd fmla="val 1476" name="adj"/>
            </a:avLst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6"/>
          <p:cNvSpPr/>
          <p:nvPr/>
        </p:nvSpPr>
        <p:spPr>
          <a:xfrm>
            <a:off x="5422367" y="3094831"/>
            <a:ext cx="267586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850"/>
              <a:buFont typeface="MuseoModerno Medium"/>
              <a:buNone/>
            </a:pPr>
            <a:r>
              <a:rPr b="0" i="0" lang="en-US" sz="18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Thank You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5422367" y="3503513"/>
            <a:ext cx="2675863" cy="1133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We appreciate your time and attention throughout this proposal presentation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8476244" y="2905820"/>
            <a:ext cx="3053976" cy="1920478"/>
          </a:xfrm>
          <a:prstGeom prst="roundRect">
            <a:avLst>
              <a:gd fmla="val 1476" name="adj"/>
            </a:avLst>
          </a:prstGeom>
          <a:solidFill>
            <a:srgbClr val="F3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6"/>
          <p:cNvSpPr/>
          <p:nvPr/>
        </p:nvSpPr>
        <p:spPr>
          <a:xfrm>
            <a:off x="8665251" y="3094831"/>
            <a:ext cx="267596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850"/>
              <a:buFont typeface="MuseoModerno Medium"/>
              <a:buNone/>
            </a:pPr>
            <a:r>
              <a:rPr b="0" i="0" lang="en-US" sz="1850" u="none" cap="none" strike="noStrike">
                <a:solidFill>
                  <a:srgbClr val="2B4150"/>
                </a:solidFill>
                <a:latin typeface="MuseoModerno Medium"/>
                <a:ea typeface="MuseoModerno Medium"/>
                <a:cs typeface="MuseoModerno Medium"/>
                <a:sym typeface="MuseoModerno Medium"/>
              </a:rPr>
              <a:t>Questions?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6"/>
          <p:cNvSpPr/>
          <p:nvPr/>
        </p:nvSpPr>
        <p:spPr>
          <a:xfrm>
            <a:off x="8665251" y="3503513"/>
            <a:ext cx="2675962" cy="1133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850"/>
              <a:buFont typeface="Source Sans 3"/>
              <a:buNone/>
            </a:pPr>
            <a:r>
              <a:rPr b="0" i="0" lang="en-US" sz="1850" u="none" cap="none" strike="noStrike">
                <a:solidFill>
                  <a:srgbClr val="2B4150"/>
                </a:solidFill>
                <a:latin typeface="Source Sans 3"/>
                <a:ea typeface="Source Sans 3"/>
                <a:cs typeface="Source Sans 3"/>
                <a:sym typeface="Source Sans 3"/>
              </a:rPr>
              <a:t>We welcome your feedback, suggestions, and academic guidance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10727875" y="6490600"/>
            <a:ext cx="1463700" cy="295200"/>
          </a:xfrm>
          <a:prstGeom prst="rect">
            <a:avLst/>
          </a:prstGeom>
          <a:solidFill>
            <a:srgbClr val="FFFCF5"/>
          </a:solidFill>
          <a:ln cap="flat" cmpd="sng" w="9525">
            <a:solidFill>
              <a:srgbClr val="FFF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