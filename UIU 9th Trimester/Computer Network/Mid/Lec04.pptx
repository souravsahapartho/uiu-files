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0" r:id="rId2"/>
    <p:sldMasterId id="2147483726" r:id="rId3"/>
  </p:sldMasterIdLst>
  <p:notesMasterIdLst>
    <p:notesMasterId r:id="rId60"/>
  </p:notesMasterIdLst>
  <p:handoutMasterIdLst>
    <p:handoutMasterId r:id="rId61"/>
  </p:handoutMasterIdLst>
  <p:sldIdLst>
    <p:sldId id="500" r:id="rId4"/>
    <p:sldId id="325" r:id="rId5"/>
    <p:sldId id="402" r:id="rId6"/>
    <p:sldId id="379" r:id="rId7"/>
    <p:sldId id="450" r:id="rId8"/>
    <p:sldId id="380" r:id="rId9"/>
    <p:sldId id="381" r:id="rId10"/>
    <p:sldId id="382" r:id="rId11"/>
    <p:sldId id="291" r:id="rId12"/>
    <p:sldId id="327" r:id="rId13"/>
    <p:sldId id="413" r:id="rId14"/>
    <p:sldId id="326" r:id="rId15"/>
    <p:sldId id="260" r:id="rId16"/>
    <p:sldId id="261" r:id="rId17"/>
    <p:sldId id="262" r:id="rId18"/>
    <p:sldId id="277" r:id="rId19"/>
    <p:sldId id="452" r:id="rId20"/>
    <p:sldId id="329" r:id="rId21"/>
    <p:sldId id="263" r:id="rId22"/>
    <p:sldId id="264" r:id="rId23"/>
    <p:sldId id="331" r:id="rId24"/>
    <p:sldId id="265" r:id="rId25"/>
    <p:sldId id="266" r:id="rId26"/>
    <p:sldId id="330" r:id="rId27"/>
    <p:sldId id="293" r:id="rId28"/>
    <p:sldId id="334" r:id="rId29"/>
    <p:sldId id="273" r:id="rId30"/>
    <p:sldId id="335" r:id="rId31"/>
    <p:sldId id="374" r:id="rId32"/>
    <p:sldId id="375" r:id="rId33"/>
    <p:sldId id="456" r:id="rId34"/>
    <p:sldId id="399" r:id="rId35"/>
    <p:sldId id="400" r:id="rId36"/>
    <p:sldId id="401" r:id="rId37"/>
    <p:sldId id="457" r:id="rId38"/>
    <p:sldId id="281" r:id="rId39"/>
    <p:sldId id="282" r:id="rId40"/>
    <p:sldId id="283" r:id="rId41"/>
    <p:sldId id="338" r:id="rId42"/>
    <p:sldId id="284" r:id="rId43"/>
    <p:sldId id="294" r:id="rId44"/>
    <p:sldId id="289" r:id="rId45"/>
    <p:sldId id="290" r:id="rId46"/>
    <p:sldId id="339" r:id="rId47"/>
    <p:sldId id="458" r:id="rId48"/>
    <p:sldId id="296" r:id="rId49"/>
    <p:sldId id="297" r:id="rId50"/>
    <p:sldId id="389" r:id="rId51"/>
    <p:sldId id="298" r:id="rId52"/>
    <p:sldId id="405" r:id="rId53"/>
    <p:sldId id="406" r:id="rId54"/>
    <p:sldId id="390" r:id="rId55"/>
    <p:sldId id="391" r:id="rId56"/>
    <p:sldId id="475" r:id="rId57"/>
    <p:sldId id="498" r:id="rId58"/>
    <p:sldId id="508" r:id="rId5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FFFF00"/>
    <a:srgbClr val="DDDDDD"/>
    <a:srgbClr val="FFCCFF"/>
    <a:srgbClr val="FF99CC"/>
    <a:srgbClr val="CC00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fld id="{477EB294-51B1-408C-9381-DEA961C735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944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fld id="{E5286080-7EBC-45A4-961C-A456811B51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EBF6FC-4A9B-42E8-9831-75EB82C377D8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51474D-F021-40B4-A3D9-427198BD5B23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CEAF03-D4FF-4D32-9DF4-B290B4EAA786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35EE44-A93B-4932-8DBB-187ECF1C5FFC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C297D1-BDE1-429F-8949-76DF6D779A3C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6F45AF-C78B-4B79-B01A-68867D7B9C7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DA27B8-745D-4872-9AB8-2B3639285DB7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766A78-7C23-4FCE-B984-212373E1D250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3C8AEA-B2FA-4D32-9BE3-0AFFFE50121E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51F091-102C-4337-AC27-34AE7B631233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6DA024-83AF-4EF2-9963-90EF892DDA34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47D86B-1120-4372-BABF-5297CEE2F85B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112931-41AC-4F84-87C9-05C0E1071BA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469B2B-3AE3-4078-87A1-EB07C1388F70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E179F8-45FA-489A-BDC6-4560F9EC6288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B8D654-37D7-4203-8156-DDCC02C33347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EB82F7-1FFB-4D04-ADB3-868ECE31A92B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DD0620-BE55-412E-A892-2573133AAA6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58A80E-34CF-4AC3-A06C-B0E5852204C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AAFC1C-1FEC-4D0A-AD84-273F33D1442A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5760DA-800B-416D-A48F-E9C3B4DE8187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DF566A-4679-4596-9228-6DF813DAA5C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9A8564-6C35-4CB4-B728-FB83F10CA48B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9D6ABD-252A-4B6D-9CCE-D58CC63176C2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4C7F9F-EE85-447A-B07A-6D81F49555C6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B9E858-8689-4344-B7FA-8379D7078A77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69E893-E65A-44A4-8094-DC1F9B86AD30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1E9EA5-A6CE-44D6-9231-FC24F3E17E56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757313-45DB-4DCE-846F-B09E8B3D27FA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4D771C-7445-4974-88D7-110832A34BAF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0A8B22-2B1B-46C5-93E3-76E75449244A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A4E91C-A251-4946-A33F-3CEEA6886806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7D837F-6CC8-4A39-BE7D-02CD74E1C09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D9281B-7CBF-4274-8F4B-92CBD551546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02BFF1-5A9A-4A06-8F59-F5762CA19CCC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DDCB03-217E-4B67-AD3D-2711C09F2035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1D141-C456-4EA5-94EC-C698BD8E3AA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D722AC-558A-43EA-A039-6F72F63BDF63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43A4F9-9488-4E64-B96D-EC0F251782FF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B3C061-1B9F-461B-9D94-B48DB2D6D0FE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A8524F-F82B-4FD4-8BDA-1A2107325F1E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C885D0-53CA-4489-8659-1B397924D02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0E3827-C717-4FC3-888B-CD91B721300C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F8C123-4FAD-44FF-92FA-0952CE4F772D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7754BD-CD06-454D-921F-901D18932DF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575E8F-DF33-43B9-8680-0BE4251B4112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F5ECDF-495C-45A3-B249-56D99D4EC8E5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6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72A27E-53D5-4F26-806D-3748E285F986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E51EED-DA72-4068-9191-8791E4E7664E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4131FD-96E8-48A2-A91A-076524724792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1168AA-DB62-49BB-A253-E1329EEF68C8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54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FB070B-BEC1-4995-B095-D42821B4C039}" type="slidenum">
              <a:rPr lang="en-US" altLang="en-US" sz="130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3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A11CB-C126-423B-8645-79B803C163D6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D6C2EB52-72D5-45DB-AB76-1BFDDA513D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85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81FA9-783A-4AF5-A602-8E6E5B419BDB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C612455D-E200-42CC-A1D9-06F4CB0F28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17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23419-F9CF-4755-B84A-A1CC3413C76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EA3F4BEA-0F24-4F70-8EF8-7FAC022654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88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03C5C9-0943-47A6-985D-BFB0A11A396A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73B7E48B-9799-4B24-B7FD-8E864A2B84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24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DE633-A04B-4CE0-A007-A8F0612174F0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A4882D1A-57BA-46DE-8CCF-E6F59FFB70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71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A2934-0517-4FEE-B1E7-BA0045A24566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1B7CC3ED-44C1-4660-A44A-E7831FE5A0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68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E5183-BF65-4931-8739-A58637367DB3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6673BB53-84EE-4C13-A6CB-904EA40B5E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63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DB090-F845-44E1-BD4A-46E69198D197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A1EE8CB9-0943-4ED7-8B00-8C332CAFB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74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EC5DE-DBF6-4B58-AADF-DDCFCB7BE85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223F2AB6-7391-4B81-B3D8-D8A5B38739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19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E3544-E5CE-4F67-BB92-9AF095F16A37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32FAF9D4-7071-4265-AFD2-984ADF2D3B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94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DDB04-F3F2-44FC-A3D5-E04AA8509614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05D21D0F-636A-4915-B852-6843220892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03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F72AF-7479-4B43-97C0-11828FE9CCC6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3B3704A8-818B-470A-9E16-1881329A34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810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451EC-AD12-4900-9995-5945C918294C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56CF863C-7A12-4270-80B6-143DB59CDD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140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E250D-6C16-4EBC-ADAD-FD42C88B564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880FB53C-6469-4A40-96B9-614C60BC34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8622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ECF453-EA78-492B-9085-1DB024EDFA99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684970B2-2A49-4F02-8827-48B546D2FB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357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A9C52-BDA7-4D71-9B13-1819BD78189E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78A1DABD-E401-4032-BCE6-209FD69835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462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9AFA5-4A4E-407D-8B90-6B1F0FB92716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0A8A56F3-F082-4831-86B6-EE8B5D1399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40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532AF-6FD9-47B6-BDE0-50B143320EB9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D304A597-08F2-4D41-BDA5-846AE27E2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76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7BC5E-E51F-4342-821E-D42881DDCF90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BEEBB80A-A27B-4A32-8CE8-4230826D07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463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27E3C-9F97-4C6F-88BD-9855E51DD4AA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CBC213B1-71F0-465B-A2A5-0D3A66C6BC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6601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A32D5-6AC9-4897-8098-872CAC27F6F9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DD42D597-BB85-4452-95DE-18824BC619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6396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7BE70-9560-4F36-8CC2-81EA6978E4AE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F6B53753-77DF-49A9-836B-221730C851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812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39454-4E17-4196-BAD8-9FE66917D09E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3A077E49-0B0C-42C7-B836-B2D9B085F7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173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B61A4-811B-4C59-92A4-1AC0EAA062B0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74B63EEC-28A6-4642-AE0A-66CCD719C1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43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CC26B-D547-443B-9F96-9D95FD2CD544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520CC983-B101-422C-B17A-798E6ABEF2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931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F302D-5E22-406D-B4E2-7CF3FF04F1DE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A07F8FBC-8153-4284-BF40-D56D224AE3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0258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C4036-B55A-4475-84D4-BD9E2114EBEC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9626A852-03E9-44B9-ACED-9120D59391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9230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36DDE-6D74-450A-BE6B-1F25F9126CF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A195DE0F-F650-437B-AB95-36D8CF1145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7626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0D619-E01C-4EB4-A203-C7334B2EDEB9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97F675F9-3431-4BD2-92EC-71B3CA7EA1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5980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5E5E47-A83F-4A64-83C8-15703F0E0878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43CF383D-100D-4C8B-9526-919EF3894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731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889B6A9A-BD8C-4352-8411-2A99FB253DE1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48103E0A-41A7-4525-B3BE-A3B431D60B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1891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2AC36E96-B88E-4D9D-BDCF-D5C74426EA7B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1D939536-7DA2-4CE7-B62B-33A7D3AD04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7062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A7C15D85-3C13-4651-B562-CC37987AE8F8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41917453-EB60-4C20-9EE5-0AB085DC70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232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895B45CC-AB4D-4799-992D-0E77E9BA5A92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43F9E7C9-BD58-4E02-B89D-C36847F2B9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5058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8B593DF5-F19E-4800-B3E2-74CD24DF3567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4D80CE33-274E-4D18-BBD3-5F8EE427E9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5938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4589D4D1-1FBD-4789-AA73-C510BEE7A257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69049CD6-2555-4256-8D69-4F17342D76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59221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7EC206A4-CB7E-40AA-9B92-9C2567D957F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1-</a:t>
            </a:r>
            <a:fld id="{D9285A19-F8CA-432A-B532-DD56427B5C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6226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A5647E22-05C4-4641-89D5-7B828F0DD28D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1-</a:t>
            </a:r>
            <a:fld id="{B307E445-41D5-41F2-A259-22504ED140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180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BA66BC32-5F75-4549-8201-F927FAD32C73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2-</a:t>
            </a:r>
            <a:fld id="{FA02216F-305B-461B-A10C-86D107EDDA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661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C1D6C86F-7C7A-4443-A07A-3CC114CEA187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1-</a:t>
            </a:r>
            <a:fld id="{C0D36C56-C7EF-4679-A74F-E18FDC9511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7837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D46687A9-09BF-43DA-A128-3A121ECFB35C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1-</a:t>
            </a:r>
            <a:fld id="{3CA3FAA6-7FBF-4F07-A6F4-32DF2ED69E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9931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 smtClean="0"/>
            </a:lvl1pPr>
          </a:lstStyle>
          <a:p>
            <a:pPr>
              <a:defRPr/>
            </a:pPr>
            <a:fld id="{FB50CA22-0E88-43EF-8F71-67D6B2BD9785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r>
              <a:rPr lang="en-US" altLang="en-US"/>
              <a:t>1</a:t>
            </a:r>
            <a:fld id="{4F4928B3-F756-433A-9210-E2B857E5BD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43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286D26A-9DBD-41FE-9CF9-1BEB70E6DC76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r>
              <a:rPr lang="en-US" altLang="en-US"/>
              <a:t>2-</a:t>
            </a:r>
            <a:fld id="{B0D6E6C2-C11B-499C-B028-7A8B01FF833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Gill Sans MT" pitchFamily="34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6909DFB-BBDC-4856-BB03-D7879E47305C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r>
              <a:rPr lang="en-US" altLang="en-US"/>
              <a:t>2-</a:t>
            </a:r>
            <a:fld id="{8B8A67C4-2254-44AD-A009-D92960E7AB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30" r:id="rId4"/>
    <p:sldLayoutId id="2147484331" r:id="rId5"/>
    <p:sldLayoutId id="2147484332" r:id="rId6"/>
    <p:sldLayoutId id="2147484333" r:id="rId7"/>
    <p:sldLayoutId id="2147484334" r:id="rId8"/>
    <p:sldLayoutId id="2147484335" r:id="rId9"/>
    <p:sldLayoutId id="2147484336" r:id="rId10"/>
    <p:sldLayoutId id="2147484337" r:id="rId11"/>
    <p:sldLayoutId id="2147484338" r:id="rId12"/>
    <p:sldLayoutId id="2147484339" r:id="rId13"/>
    <p:sldLayoutId id="2147484340" r:id="rId14"/>
    <p:sldLayoutId id="2147484341" r:id="rId15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Gill Sans MT" pitchFamily="34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D5BE0AC-FDCF-45D7-BAFA-181578A6A708}" type="datetime1">
              <a:rPr lang="en-US" altLang="en-US"/>
              <a:pPr>
                <a:defRPr/>
              </a:pPr>
              <a:t>11/13/2024</a:t>
            </a:fld>
            <a:endParaRPr lang="en-US" altLang="en-US"/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r>
              <a:rPr lang="en-US" altLang="en-US"/>
              <a:t>2-</a:t>
            </a:r>
            <a:fld id="{7C2C975A-0691-46A5-8613-17845B27FD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  <p:sldLayoutId id="214748435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62600" y="6453188"/>
            <a:ext cx="289560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  <a:cs typeface="Arial" charset="0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Arial" charset="0"/>
                <a:cs typeface="Arial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t>Application Layer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  <a:cs typeface="Arial" charset="0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Arial" charset="0"/>
                <a:cs typeface="Arial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2-</a:t>
            </a:r>
            <a:fld id="{4E511C67-F592-4BAD-93D9-51A9BCC0A132}" type="slidenum"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pPr/>
              <a:t>1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altLang="en-US" sz="4400">
                <a:solidFill>
                  <a:srgbClr val="000099"/>
                </a:solidFill>
                <a:latin typeface="Gill Sans MT" pitchFamily="34" charset="0"/>
              </a:rPr>
              <a:t>Chapter 2</a:t>
            </a:r>
            <a:r>
              <a:rPr lang="en-US" altLang="en-US" sz="4800">
                <a:solidFill>
                  <a:srgbClr val="000099"/>
                </a:solidFill>
                <a:latin typeface="Gill Sans MT" pitchFamily="34" charset="0"/>
              </a:rPr>
              <a:t/>
            </a:r>
            <a:br>
              <a:rPr lang="en-US" altLang="en-US" sz="4800">
                <a:solidFill>
                  <a:srgbClr val="000099"/>
                </a:solidFill>
                <a:latin typeface="Gill Sans MT" pitchFamily="34" charset="0"/>
              </a:rPr>
            </a:br>
            <a:r>
              <a:rPr lang="en-US" altLang="en-US" sz="4400">
                <a:solidFill>
                  <a:srgbClr val="000099"/>
                </a:solidFill>
                <a:latin typeface="Gill Sans MT" pitchFamily="34" charset="0"/>
              </a:rPr>
              <a:t>Application Layer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6184900" y="3078163"/>
            <a:ext cx="2881313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altLang="en-US" sz="2800" i="1">
                <a:solidFill>
                  <a:srgbClr val="008000"/>
                </a:solidFill>
                <a:latin typeface="Gill Sans MT" pitchFamily="34" charset="0"/>
              </a:rPr>
              <a:t>Computer Networking: A Top Down Approach </a:t>
            </a:r>
            <a:r>
              <a:rPr lang="en-US" altLang="en-US" sz="2800">
                <a:solidFill>
                  <a:srgbClr val="008000"/>
                </a:solidFill>
                <a:latin typeface="Gill Sans MT" pitchFamily="34" charset="0"/>
              </a:rPr>
              <a:t/>
            </a:r>
            <a:br>
              <a:rPr lang="en-US" altLang="en-US" sz="28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>
                <a:solidFill>
                  <a:srgbClr val="008000"/>
                </a:solidFill>
                <a:latin typeface="Gill Sans MT" pitchFamily="34" charset="0"/>
              </a:rPr>
              <a:t>6</a:t>
            </a:r>
            <a:r>
              <a:rPr lang="en-US" altLang="en-US" baseline="30000">
                <a:solidFill>
                  <a:srgbClr val="008000"/>
                </a:solidFill>
                <a:latin typeface="Gill Sans MT" pitchFamily="34" charset="0"/>
              </a:rPr>
              <a:t>th</a:t>
            </a:r>
            <a:r>
              <a:rPr lang="en-US" altLang="en-US">
                <a:solidFill>
                  <a:srgbClr val="008000"/>
                </a:solidFill>
                <a:latin typeface="Gill Sans MT" pitchFamily="34" charset="0"/>
              </a:rPr>
              <a:t> edition </a:t>
            </a:r>
            <a:br>
              <a:rPr lang="en-US" altLang="en-US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>
                <a:solidFill>
                  <a:srgbClr val="008000"/>
                </a:solidFill>
                <a:latin typeface="Gill Sans MT" pitchFamily="34" charset="0"/>
              </a:rPr>
              <a:t>Jim Kurose, Keith Ross</a:t>
            </a:r>
            <a:br>
              <a:rPr lang="en-US" altLang="en-US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>
                <a:solidFill>
                  <a:srgbClr val="008000"/>
                </a:solidFill>
                <a:latin typeface="Gill Sans MT" pitchFamily="34" charset="0"/>
              </a:rPr>
              <a:t>Addison-Wesley</a:t>
            </a:r>
            <a:br>
              <a:rPr lang="en-US" altLang="en-US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>
                <a:solidFill>
                  <a:srgbClr val="008000"/>
                </a:solidFill>
                <a:latin typeface="Gill Sans MT" pitchFamily="34" charset="0"/>
              </a:rPr>
              <a:t>March 2012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69888" y="3268663"/>
            <a:ext cx="53784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  <a:cs typeface="Arial" charset="0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Arial" charset="0"/>
                <a:cs typeface="Arial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  <a:latin typeface="Arial" charset="0"/>
              </a:rPr>
              <a:t>A note on the use of these ppt slides:</a:t>
            </a:r>
          </a:p>
          <a:p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We</a:t>
            </a:r>
            <a:r>
              <a:rPr lang="ja-JP" altLang="en-US" sz="120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200">
                <a:solidFill>
                  <a:srgbClr val="000000"/>
                </a:solidFill>
                <a:latin typeface="Arial" charset="0"/>
              </a:rPr>
              <a:t>re making these slides freely available to all (faculty, students, readers). They</a:t>
            </a:r>
            <a:r>
              <a:rPr lang="ja-JP" altLang="en-US" sz="120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200">
                <a:solidFill>
                  <a:srgbClr val="000000"/>
                </a:solidFill>
                <a:latin typeface="Arial" charset="0"/>
              </a:rPr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>
                <a:solidFill>
                  <a:srgbClr val="000000"/>
                </a:solidFill>
                <a:latin typeface="Arial" charset="0"/>
              </a:rPr>
              <a:t>lot</a:t>
            </a:r>
            <a:r>
              <a:rPr lang="en-US" altLang="ja-JP" sz="1200">
                <a:solidFill>
                  <a:srgbClr val="000000"/>
                </a:solidFill>
                <a:latin typeface="Arial" charset="0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  <a:cs typeface="Arial" charset="0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Arial" charset="0"/>
                <a:cs typeface="Arial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Arial" charset="0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>
              <a:solidFill>
                <a:srgbClr val="000000"/>
              </a:solidFill>
            </a:endParaRP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If you use these slides (e.g., in a class) that you mention their source (after all, we</a:t>
            </a:r>
            <a:r>
              <a:rPr lang="ja-JP" altLang="en-US" sz="120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200">
                <a:solidFill>
                  <a:srgbClr val="000000"/>
                </a:solidFill>
                <a:latin typeface="Arial" charset="0"/>
              </a:rPr>
              <a:t>d like people to use our book!)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rgbClr val="3333CC"/>
              </a:buClr>
              <a:buFont typeface="Wingdings" pitchFamily="2" charset="2"/>
              <a:buChar char="q"/>
            </a:pPr>
            <a:endParaRPr lang="en-US" altLang="en-US" sz="120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85000"/>
              </a:lnSpc>
              <a:buClr>
                <a:srgbClr val="3333CC"/>
              </a:buClr>
              <a:buFont typeface="Wingdings" pitchFamily="2" charset="2"/>
              <a:buNone/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20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     All material copyright 1996-2012</a:t>
            </a:r>
          </a:p>
          <a:p>
            <a:pPr>
              <a:lnSpc>
                <a:spcPct val="85000"/>
              </a:lnSpc>
            </a:pPr>
            <a:r>
              <a:rPr lang="en-US" altLang="en-US" sz="1200">
                <a:solidFill>
                  <a:srgbClr val="000000"/>
                </a:solidFill>
                <a:latin typeface="Arial" charset="0"/>
              </a:rPr>
              <a:t>     J.F Kurose and K.W. Ross, All Rights Reserved</a:t>
            </a:r>
          </a:p>
        </p:txBody>
      </p:sp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" descr="6e_cov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511175"/>
            <a:ext cx="2306638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945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CB0B3D26-199F-45F8-917C-6CBEE9CD1923}" type="slidenum">
              <a:rPr lang="en-US" altLang="en-US" sz="1200">
                <a:latin typeface="Tahoma" pitchFamily="34" charset="0"/>
              </a:rPr>
              <a:pPr/>
              <a:t>2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2.1 principles of network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2.4 electronic mail</a:t>
            </a:r>
          </a:p>
          <a:p>
            <a:pPr marL="912813" lvl="1"/>
            <a:r>
              <a:rPr lang="en-US" altLang="en-US" smtClean="0"/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2.5 DNS</a:t>
            </a:r>
          </a:p>
          <a:p>
            <a:pPr marL="457200" indent="-457200"/>
            <a:endParaRPr lang="en-US" altLang="en-US" sz="2400" smtClean="0"/>
          </a:p>
        </p:txBody>
      </p:sp>
      <p:sp>
        <p:nvSpPr>
          <p:cNvPr id="194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2.7 socket programming with UDP and TCP</a:t>
            </a:r>
          </a:p>
        </p:txBody>
      </p:sp>
      <p:pic>
        <p:nvPicPr>
          <p:cNvPr id="19463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2150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DC1CC997-044F-4B6A-B306-8AC13D3768D5}" type="slidenum">
              <a:rPr lang="en-US" altLang="en-US" sz="1200">
                <a:latin typeface="Tahoma" pitchFamily="34" charset="0"/>
              </a:rPr>
              <a:pPr/>
              <a:t>3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21508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8207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0"/>
            <a:ext cx="7772400" cy="1143000"/>
          </a:xfrm>
        </p:spPr>
        <p:txBody>
          <a:bodyPr/>
          <a:lstStyle/>
          <a:p>
            <a:r>
              <a:rPr lang="en-US" altLang="en-US" smtClean="0"/>
              <a:t>Chapter 2: application layer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u="sng" smtClean="0">
                <a:solidFill>
                  <a:srgbClr val="CC0000"/>
                </a:solidFill>
              </a:rPr>
              <a:t>our goals:</a:t>
            </a:r>
            <a:r>
              <a:rPr lang="en-US" altLang="en-US" sz="2400" smtClean="0">
                <a:solidFill>
                  <a:srgbClr val="CC0000"/>
                </a:solidFill>
              </a:rPr>
              <a:t> </a:t>
            </a:r>
          </a:p>
          <a:p>
            <a:r>
              <a:rPr lang="en-US" altLang="en-US" sz="2400" smtClean="0"/>
              <a:t>conceptual, implementation aspects of network application protocols</a:t>
            </a:r>
          </a:p>
          <a:p>
            <a:pPr lvl="1"/>
            <a:r>
              <a:rPr lang="en-US" altLang="en-US" smtClean="0"/>
              <a:t>transport-layer service models</a:t>
            </a:r>
          </a:p>
          <a:p>
            <a:pPr lvl="1"/>
            <a:r>
              <a:rPr lang="en-US" altLang="en-US" smtClean="0"/>
              <a:t>client-server paradigm</a:t>
            </a:r>
          </a:p>
          <a:p>
            <a:pPr lvl="1"/>
            <a:r>
              <a:rPr lang="en-US" altLang="en-US" smtClean="0"/>
              <a:t>peer-to-peer paradigm</a:t>
            </a:r>
            <a:endParaRPr lang="en-US" altLang="en-US" sz="2000" smtClean="0"/>
          </a:p>
        </p:txBody>
      </p:sp>
      <p:sp>
        <p:nvSpPr>
          <p:cNvPr id="2151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19600" y="1441450"/>
            <a:ext cx="3667125" cy="4648200"/>
          </a:xfrm>
        </p:spPr>
        <p:txBody>
          <a:bodyPr/>
          <a:lstStyle/>
          <a:p>
            <a:r>
              <a:rPr lang="en-US" altLang="en-US" sz="2400" smtClean="0"/>
              <a:t>learn about protocols by examining popular application-level protocols</a:t>
            </a:r>
          </a:p>
          <a:p>
            <a:pPr lvl="1"/>
            <a:r>
              <a:rPr lang="en-US" altLang="en-US" sz="2000" smtClean="0"/>
              <a:t>HTTP</a:t>
            </a:r>
          </a:p>
          <a:p>
            <a:pPr lvl="1"/>
            <a:r>
              <a:rPr lang="en-US" altLang="en-US" sz="2000" smtClean="0"/>
              <a:t>FTP</a:t>
            </a:r>
          </a:p>
          <a:p>
            <a:pPr lvl="1"/>
            <a:r>
              <a:rPr lang="en-US" altLang="en-US" sz="2000" smtClean="0"/>
              <a:t>SMTP / POP3 / IMAP</a:t>
            </a:r>
          </a:p>
          <a:p>
            <a:pPr lvl="1"/>
            <a:r>
              <a:rPr lang="en-US" altLang="en-US" sz="2000" smtClean="0"/>
              <a:t>DNS</a:t>
            </a:r>
          </a:p>
          <a:p>
            <a:r>
              <a:rPr lang="en-US" altLang="en-US" sz="2400" smtClean="0"/>
              <a:t>creating network applications</a:t>
            </a:r>
          </a:p>
          <a:p>
            <a:pPr lvl="1"/>
            <a:r>
              <a:rPr lang="en-US" altLang="en-US" smtClean="0"/>
              <a:t>socket API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2355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A42E9AB5-DDA0-41BD-BB76-52F82EB396D8}" type="slidenum">
              <a:rPr lang="en-US" altLang="en-US" sz="1200">
                <a:latin typeface="Tahoma" pitchFamily="34" charset="0"/>
              </a:rPr>
              <a:pPr/>
              <a:t>4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23556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25525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Some network apps</a:t>
            </a: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r>
              <a:rPr lang="en-US" altLang="en-US" sz="2400" smtClean="0"/>
              <a:t>e-mail</a:t>
            </a:r>
          </a:p>
          <a:p>
            <a:r>
              <a:rPr lang="en-US" altLang="en-US" sz="2400" smtClean="0"/>
              <a:t>web</a:t>
            </a:r>
          </a:p>
          <a:p>
            <a:r>
              <a:rPr lang="en-US" altLang="en-US" sz="2400" smtClean="0"/>
              <a:t>text messaging</a:t>
            </a:r>
          </a:p>
          <a:p>
            <a:r>
              <a:rPr lang="en-US" altLang="en-US" sz="2400" smtClean="0"/>
              <a:t>remote login</a:t>
            </a:r>
          </a:p>
          <a:p>
            <a:r>
              <a:rPr lang="en-US" altLang="en-US" sz="2400" smtClean="0"/>
              <a:t>P2P file sharing</a:t>
            </a:r>
          </a:p>
          <a:p>
            <a:r>
              <a:rPr lang="en-US" altLang="en-US" sz="2400" smtClean="0"/>
              <a:t>multi-user network games</a:t>
            </a:r>
          </a:p>
          <a:p>
            <a:r>
              <a:rPr lang="en-US" altLang="en-US" sz="2400" smtClean="0"/>
              <a:t>streaming stored video (YouTube, Hulu, Netflix) </a:t>
            </a:r>
          </a:p>
          <a:p>
            <a:endParaRPr lang="en-US" altLang="en-US" sz="2400" smtClean="0"/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sp>
        <p:nvSpPr>
          <p:cNvPr id="23559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/>
          <a:p>
            <a:r>
              <a:rPr lang="en-US" altLang="en-US" sz="2400" smtClean="0"/>
              <a:t>voice over IP (e.g., Skype)</a:t>
            </a:r>
          </a:p>
          <a:p>
            <a:r>
              <a:rPr lang="en-US" altLang="en-US" sz="2400" smtClean="0"/>
              <a:t>real-time video conferencing</a:t>
            </a:r>
          </a:p>
          <a:p>
            <a:r>
              <a:rPr lang="en-US" altLang="en-US" sz="2400" smtClean="0"/>
              <a:t>social networking</a:t>
            </a:r>
          </a:p>
          <a:p>
            <a:r>
              <a:rPr lang="en-US" altLang="en-US" sz="2400" smtClean="0"/>
              <a:t>search</a:t>
            </a:r>
          </a:p>
          <a:p>
            <a:r>
              <a:rPr lang="en-US" altLang="en-US" sz="2400" smtClean="0"/>
              <a:t>…</a:t>
            </a:r>
          </a:p>
          <a:p>
            <a:r>
              <a:rPr lang="en-US" altLang="en-US" sz="240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3939F467-C2DA-4AAD-BD7A-A6921EBE01DA}" type="slidenum">
              <a:rPr lang="en-US" altLang="en-US" sz="1200">
                <a:latin typeface="Tahoma" pitchFamily="34" charset="0"/>
              </a:rPr>
              <a:pPr/>
              <a:t>5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25604" name="Group 1037"/>
          <p:cNvGrpSpPr>
            <a:grpSpLocks/>
          </p:cNvGrpSpPr>
          <p:nvPr/>
        </p:nvGrpSpPr>
        <p:grpSpPr bwMode="auto">
          <a:xfrm>
            <a:off x="5124450" y="1257300"/>
            <a:ext cx="3540125" cy="4545013"/>
            <a:chOff x="3277" y="974"/>
            <a:chExt cx="2230" cy="2863"/>
          </a:xfrm>
        </p:grpSpPr>
        <p:sp>
          <p:nvSpPr>
            <p:cNvPr id="25637" name="Freeform 1038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88 w 1036"/>
                <a:gd name="T1" fmla="*/ 11 h 675"/>
                <a:gd name="T2" fmla="*/ 837 w 1036"/>
                <a:gd name="T3" fmla="*/ 53 h 675"/>
                <a:gd name="T4" fmla="*/ 442 w 1036"/>
                <a:gd name="T5" fmla="*/ 129 h 675"/>
                <a:gd name="T6" fmla="*/ 329 w 1036"/>
                <a:gd name="T7" fmla="*/ 229 h 675"/>
                <a:gd name="T8" fmla="*/ 45 w 1036"/>
                <a:gd name="T9" fmla="*/ 297 h 675"/>
                <a:gd name="T10" fmla="*/ 37 w 1036"/>
                <a:gd name="T11" fmla="*/ 459 h 675"/>
                <a:gd name="T12" fmla="*/ 282 w 1036"/>
                <a:gd name="T13" fmla="*/ 489 h 675"/>
                <a:gd name="T14" fmla="*/ 984 w 1036"/>
                <a:gd name="T15" fmla="*/ 489 h 675"/>
                <a:gd name="T16" fmla="*/ 1281 w 1036"/>
                <a:gd name="T17" fmla="*/ 555 h 675"/>
                <a:gd name="T18" fmla="*/ 1612 w 1036"/>
                <a:gd name="T19" fmla="*/ 657 h 675"/>
                <a:gd name="T20" fmla="*/ 1865 w 1036"/>
                <a:gd name="T21" fmla="*/ 661 h 675"/>
                <a:gd name="T22" fmla="*/ 2039 w 1036"/>
                <a:gd name="T23" fmla="*/ 603 h 675"/>
                <a:gd name="T24" fmla="*/ 2128 w 1036"/>
                <a:gd name="T25" fmla="*/ 445 h 675"/>
                <a:gd name="T26" fmla="*/ 2183 w 1036"/>
                <a:gd name="T27" fmla="*/ 291 h 675"/>
                <a:gd name="T28" fmla="*/ 2189 w 1036"/>
                <a:gd name="T29" fmla="*/ 107 h 675"/>
                <a:gd name="T30" fmla="*/ 2001 w 1036"/>
                <a:gd name="T31" fmla="*/ 17 h 675"/>
                <a:gd name="T32" fmla="*/ 1662 w 1036"/>
                <a:gd name="T33" fmla="*/ 3 h 675"/>
                <a:gd name="T34" fmla="*/ 138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38" name="Group 1039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26013" name="Rectangle 1040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6014" name="AutoShape 1041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25639" name="Freeform 1042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0" name="Line 1043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1044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Line 1045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Line 1047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4" name="Line 1048"/>
            <p:cNvSpPr>
              <a:spLocks noChangeShapeType="1"/>
            </p:cNvSpPr>
            <p:nvPr/>
          </p:nvSpPr>
          <p:spPr bwMode="auto">
            <a:xfrm flipV="1">
              <a:off x="3680" y="3155"/>
              <a:ext cx="248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5" name="Line 1051"/>
            <p:cNvSpPr>
              <a:spLocks noChangeShapeType="1"/>
            </p:cNvSpPr>
            <p:nvPr/>
          </p:nvSpPr>
          <p:spPr bwMode="auto">
            <a:xfrm flipH="1">
              <a:off x="3948" y="3208"/>
              <a:ext cx="96" cy="1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6" name="Line 1052"/>
            <p:cNvSpPr>
              <a:spLocks noChangeShapeType="1"/>
            </p:cNvSpPr>
            <p:nvPr/>
          </p:nvSpPr>
          <p:spPr bwMode="auto">
            <a:xfrm flipH="1" flipV="1">
              <a:off x="4144" y="3212"/>
              <a:ext cx="53" cy="11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7" name="Line 1053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8" name="Line 1054"/>
            <p:cNvSpPr>
              <a:spLocks noChangeShapeType="1"/>
            </p:cNvSpPr>
            <p:nvPr/>
          </p:nvSpPr>
          <p:spPr bwMode="auto">
            <a:xfrm>
              <a:off x="3898" y="3025"/>
              <a:ext cx="56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9" name="Line 1055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0" name="Line 1056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51" name="Group 1057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26011" name="Picture 1058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12" name="Picture 1059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52" name="Freeform 1060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3" name="Freeform 1061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60286 w 765"/>
                <a:gd name="T1" fmla="*/ 4345 h 459"/>
                <a:gd name="T2" fmla="*/ 40854 w 765"/>
                <a:gd name="T3" fmla="*/ 30856 h 459"/>
                <a:gd name="T4" fmla="*/ 13667 w 765"/>
                <a:gd name="T5" fmla="*/ 43916 h 459"/>
                <a:gd name="T6" fmla="*/ 1953 w 765"/>
                <a:gd name="T7" fmla="*/ 147986 h 459"/>
                <a:gd name="T8" fmla="*/ 25562 w 765"/>
                <a:gd name="T9" fmla="*/ 195530 h 459"/>
                <a:gd name="T10" fmla="*/ 49138 w 765"/>
                <a:gd name="T11" fmla="*/ 187417 h 459"/>
                <a:gd name="T12" fmla="*/ 82940 w 765"/>
                <a:gd name="T13" fmla="*/ 195530 h 459"/>
                <a:gd name="T14" fmla="*/ 99250 w 765"/>
                <a:gd name="T15" fmla="*/ 190991 h 459"/>
                <a:gd name="T16" fmla="*/ 106833 w 765"/>
                <a:gd name="T17" fmla="*/ 163869 h 459"/>
                <a:gd name="T18" fmla="*/ 106646 w 765"/>
                <a:gd name="T19" fmla="*/ 69556 h 459"/>
                <a:gd name="T20" fmla="*/ 94120 w 765"/>
                <a:gd name="T21" fmla="*/ 15173 h 459"/>
                <a:gd name="T22" fmla="*/ 60286 w 765"/>
                <a:gd name="T23" fmla="*/ 434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4" name="Line 1062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5" name="Line 1063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6" name="Line 1064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7" name="Line 1065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8" name="Line 1066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9" name="Line 1067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0" name="Line 1068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1" name="Line 1069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2" name="Line 1070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3" name="Line 1071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4" name="Line 1072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5" name="Line 1073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6" name="Line 1074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7" name="Line 1075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8" name="Line 1076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9" name="Line 1077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0" name="Line 1078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71" name="Group 1079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25994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995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996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997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998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999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0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1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2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3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4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5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6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7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8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009" name="Oval 1095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pic>
            <p:nvPicPr>
              <p:cNvPr id="26010" name="Picture 1096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72" name="Group 1097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25985" name="Line 1098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86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87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88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89" name="Group 1102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25992" name="Freeform 11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93" name="Freeform 11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90" name="Line 1105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91" name="Line 1106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73" name="Group 1107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2597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7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7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80" name="Group 11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83" name="Freeform 11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84" name="Freeform 11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81" name="Line 11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82" name="Line 11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74" name="Group 1116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2596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7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7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72" name="Group 112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75" name="Freeform 112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76" name="Freeform 112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73" name="Line 112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4" name="Line 112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75" name="Group 1125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2596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6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6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64" name="Group 11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67" name="Freeform 11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68" name="Freeform 11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65" name="Line 11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6" name="Line 11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76" name="Group 1134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2595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5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5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56" name="Group 113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59" name="Freeform 113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60" name="Freeform 114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57" name="Line 114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8" name="Line 114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77" name="Group 1143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2594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4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4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48" name="Group 114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51" name="Freeform 11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52" name="Freeform 11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49" name="Line 115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0" name="Line 115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78" name="Line 1152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79" name="Group 1153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2593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3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3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40" name="Group 115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43" name="Freeform 115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44" name="Freeform 115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41" name="Line 116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42" name="Line 116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0" name="Group 1162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2592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3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3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32" name="Group 116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35" name="Freeform 116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36" name="Freeform 116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33" name="Line 116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34" name="Line 117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1" name="Group 1171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2592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2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2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24" name="Group 117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27" name="Freeform 117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28" name="Freeform 117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25" name="Line 117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6" name="Line 117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2" name="Group 1180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2591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1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1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16" name="Group 118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19" name="Freeform 118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20" name="Freeform 118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17" name="Line 118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8" name="Line 118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3" name="Group 1189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2590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0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90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08" name="Group 119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11" name="Freeform 119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12" name="Freeform 119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09" name="Line 119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0" name="Line 119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4" name="Group 1198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2589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89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589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5900" name="Group 120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5903" name="Freeform 12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04" name="Freeform 12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901" name="Line 120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2" name="Line 120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85" name="Group 1207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25883" name="Group 1208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5885" name="Freeform 1209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6" name="Freeform 1210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7" name="Freeform 1211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8" name="Freeform 1212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9" name="Freeform 1213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0" name="Freeform 1214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1" name="Freeform 1215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2" name="Freeform 1216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3" name="Freeform 1217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4" name="Freeform 1218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5" name="Freeform 1219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96" name="Freeform 1220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5884" name="Picture 1221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86" name="Group 1222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25869" name="Group 1223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5871" name="Freeform 1224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2" name="Freeform 1225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3" name="Freeform 1226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4" name="Freeform 1227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5" name="Freeform 1228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6" name="Freeform 1229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7" name="Freeform 1230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8" name="Freeform 1231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79" name="Freeform 1232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0" name="Freeform 1233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1" name="Freeform 1234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82" name="Freeform 1235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5870" name="Picture 1236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87" name="Line 1237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88" name="Group 1238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25867" name="Picture 12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868" name="Freeform 1240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5689" name="Group 1241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25865" name="Picture 12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866" name="Freeform 124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5690" name="Group 1244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25863" name="Picture 12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864" name="Freeform 124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5691" name="Group 1247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25861" name="Picture 12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862" name="Freeform 124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25692" name="Picture 1250" descr="car_icon_small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93" name="Group 1251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25859" name="Picture 1252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860" name="Picture 1253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94" name="Group 1254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25827" name="Freeform 1255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8" name="Rectangle 1256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29" name="Freeform 1257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0" name="Freeform 1258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1" name="Rectangle 1259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32" name="Group 1260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857" name="AutoShape 126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58" name="AutoShape 1262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33" name="Rectangle 1263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34" name="Group 1264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855" name="AutoShape 1265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56" name="AutoShape 1266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35" name="Rectangle 1267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36" name="Rectangle 1268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37" name="Group 1269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5853" name="AutoShape 1270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54" name="AutoShape 1271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38" name="Freeform 1272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839" name="Group 1273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851" name="AutoShape 1274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52" name="AutoShape 1275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40" name="Rectangle 1276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41" name="Freeform 1277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2" name="Freeform 1278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3" name="Oval 1279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44" name="Freeform 1280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5" name="AutoShape 1281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46" name="AutoShape 1282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47" name="Oval 1283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48" name="Oval 1284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5849" name="Oval 1285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50" name="Rectangle 1286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25695" name="Group 1287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25795" name="Freeform 128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6" name="Rectangle 128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797" name="Freeform 129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8" name="Freeform 129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9" name="Rectangle 129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00" name="Group 129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825" name="AutoShape 129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26" name="AutoShape 129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01" name="Rectangle 129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02" name="Group 129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823" name="AutoShape 129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24" name="AutoShape 129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03" name="Rectangle 130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04" name="Rectangle 130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5805" name="Group 130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5821" name="AutoShape 1303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22" name="AutoShape 130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06" name="Freeform 130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807" name="Group 130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819" name="AutoShape 130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5820" name="AutoShape 130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5808" name="Rectangle 130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09" name="Freeform 131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0" name="Freeform 131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1" name="Oval 131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12" name="Freeform 131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3" name="AutoShape 131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14" name="AutoShape 131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15" name="Oval 131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16" name="Oval 131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5817" name="Oval 131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5818" name="Rectangle 131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25696" name="Group 1320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25772" name="Picture 1321" descr="antenna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73" name="Picture 1322" descr="laptop_keyboar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74" name="Freeform 1323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775" name="Picture 1324" descr="screen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76" name="Freeform 1325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7" name="Freeform 1326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8" name="Freeform 1327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9" name="Freeform 1328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0" name="Freeform 1329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1" name="Freeform 1330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782" name="Group 1331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789" name="Freeform 1332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90" name="Freeform 1333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91" name="Freeform 1334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92" name="Freeform 1335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93" name="Freeform 1336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94" name="Freeform 1337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783" name="Freeform 1338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4" name="Freeform 1339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5" name="Freeform 1340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6" name="Freeform 1341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7" name="Freeform 1342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8" name="Freeform 1343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97" name="Group 1344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25749" name="Picture 1345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50" name="Picture 1346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51" name="Freeform 134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752" name="Picture 1348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53" name="Freeform 134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4" name="Freeform 135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5" name="Freeform 135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6" name="Freeform 135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7" name="Freeform 135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8" name="Freeform 135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759" name="Group 135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766" name="Freeform 135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67" name="Freeform 135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68" name="Freeform 135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69" name="Freeform 135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70" name="Freeform 136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71" name="Freeform 136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760" name="Freeform 136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1" name="Freeform 136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2" name="Freeform 136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3" name="Freeform 136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4" name="Freeform 136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5" name="Freeform 136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98" name="Group 1368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25726" name="Picture 1369" descr="antenna_stylized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27" name="Picture 1370" descr="laptop_keyboard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28" name="Freeform 137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729" name="Picture 1372" descr="screen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30" name="Freeform 137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1" name="Freeform 137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2" name="Freeform 137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3" name="Freeform 137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4" name="Freeform 137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5" name="Freeform 137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736" name="Group 137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743" name="Freeform 138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44" name="Freeform 138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45" name="Freeform 138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46" name="Freeform 138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47" name="Freeform 138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48" name="Freeform 138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737" name="Freeform 138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8" name="Freeform 138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9" name="Freeform 138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0" name="Freeform 138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1" name="Freeform 139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2" name="Freeform 139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99" name="Group 1392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25724" name="Picture 139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25" name="Freeform 139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5700" name="Group 1395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25701" name="Picture 1396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02" name="Picture 1397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3" name="Freeform 1398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704" name="Picture 1399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5" name="Freeform 1400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6" name="Freeform 1401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7" name="Freeform 1402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8" name="Freeform 1403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9" name="Freeform 1404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0" name="Freeform 1405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711" name="Group 1406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718" name="Freeform 1407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19" name="Freeform 1408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20" name="Freeform 1409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21" name="Freeform 1410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22" name="Freeform 1411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23" name="Freeform 1412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712" name="Freeform 1413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3" name="Freeform 1414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4" name="Freeform 1415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5" name="Freeform 1416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6" name="Freeform 1417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7" name="Freeform 1418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729" name="Line 913"/>
          <p:cNvSpPr>
            <a:spLocks noChangeShapeType="1"/>
          </p:cNvSpPr>
          <p:nvPr/>
        </p:nvSpPr>
        <p:spPr bwMode="auto">
          <a:xfrm>
            <a:off x="6850063" y="3786188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606" name="Picture 616" descr="underline_base"/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5090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727" name="Line 911"/>
          <p:cNvSpPr>
            <a:spLocks noChangeShapeType="1"/>
          </p:cNvSpPr>
          <p:nvPr/>
        </p:nvSpPr>
        <p:spPr bwMode="auto">
          <a:xfrm>
            <a:off x="6945313" y="660400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5275" y="0"/>
            <a:ext cx="8382000" cy="1041400"/>
          </a:xfrm>
        </p:spPr>
        <p:txBody>
          <a:bodyPr/>
          <a:lstStyle/>
          <a:p>
            <a:r>
              <a:rPr lang="en-US" altLang="en-US" sz="4000" smtClean="0"/>
              <a:t>Creating a network app</a:t>
            </a:r>
          </a:p>
        </p:txBody>
      </p:sp>
      <p:sp>
        <p:nvSpPr>
          <p:cNvPr id="2560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3875" y="1116013"/>
            <a:ext cx="4191000" cy="5114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write programs that:</a:t>
            </a:r>
          </a:p>
          <a:p>
            <a:r>
              <a:rPr lang="en-US" altLang="en-US" sz="2400" smtClean="0"/>
              <a:t>run on (different) </a:t>
            </a:r>
            <a:r>
              <a:rPr lang="en-US" altLang="en-US" sz="2400" i="1" smtClean="0"/>
              <a:t>end systems</a:t>
            </a:r>
          </a:p>
          <a:p>
            <a:r>
              <a:rPr lang="en-US" altLang="en-US" sz="2400" smtClean="0"/>
              <a:t>communicate over network</a:t>
            </a:r>
          </a:p>
          <a:p>
            <a:r>
              <a:rPr lang="en-US" altLang="en-US" sz="2400" smtClean="0"/>
              <a:t>e.g., web server software communicates with browser software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no need to write software for network-core devices</a:t>
            </a:r>
          </a:p>
          <a:p>
            <a:r>
              <a:rPr lang="en-US" altLang="en-US" sz="2400" smtClean="0"/>
              <a:t>network-core devices do not run user applications </a:t>
            </a:r>
          </a:p>
          <a:p>
            <a:r>
              <a:rPr lang="en-US" altLang="en-US" sz="2400" smtClean="0"/>
              <a:t>applications on end systems  allows for rapid app development, propagation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>
              <a:solidFill>
                <a:srgbClr val="FF0000"/>
              </a:solidFill>
            </a:endParaRPr>
          </a:p>
        </p:txBody>
      </p:sp>
      <p:grpSp>
        <p:nvGrpSpPr>
          <p:cNvPr id="35725" name="Group 618"/>
          <p:cNvGrpSpPr>
            <a:grpSpLocks/>
          </p:cNvGrpSpPr>
          <p:nvPr/>
        </p:nvGrpSpPr>
        <p:grpSpPr bwMode="auto">
          <a:xfrm>
            <a:off x="5857875" y="503238"/>
            <a:ext cx="1044575" cy="965200"/>
            <a:chOff x="4047" y="420"/>
            <a:chExt cx="658" cy="608"/>
          </a:xfrm>
        </p:grpSpPr>
        <p:sp>
          <p:nvSpPr>
            <p:cNvPr id="25629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30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31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32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chemeClr val="bg1"/>
                  </a:solidFill>
                  <a:latin typeface="Arial" charset="0"/>
                </a:rPr>
                <a:t>application</a:t>
              </a:r>
              <a:endParaRPr lang="en-US" altLang="en-US" sz="1000">
                <a:latin typeface="Arial" charset="0"/>
              </a:endParaRPr>
            </a:p>
            <a:p>
              <a:pPr algn="ctr"/>
              <a:r>
                <a:rPr lang="en-US" altLang="en-US" sz="1000">
                  <a:latin typeface="Arial" charset="0"/>
                </a:rPr>
                <a:t>transport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network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data link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physical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25633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4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5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6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726" name="Group 619"/>
          <p:cNvGrpSpPr>
            <a:grpSpLocks/>
          </p:cNvGrpSpPr>
          <p:nvPr/>
        </p:nvGrpSpPr>
        <p:grpSpPr bwMode="auto">
          <a:xfrm>
            <a:off x="7956550" y="4087813"/>
            <a:ext cx="1044575" cy="965200"/>
            <a:chOff x="4047" y="420"/>
            <a:chExt cx="658" cy="608"/>
          </a:xfrm>
        </p:grpSpPr>
        <p:sp>
          <p:nvSpPr>
            <p:cNvPr id="25621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22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23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24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chemeClr val="bg1"/>
                  </a:solidFill>
                  <a:latin typeface="Arial" charset="0"/>
                </a:rPr>
                <a:t>application</a:t>
              </a:r>
              <a:endParaRPr lang="en-US" altLang="en-US" sz="1000">
                <a:latin typeface="Arial" charset="0"/>
              </a:endParaRPr>
            </a:p>
            <a:p>
              <a:pPr algn="ctr"/>
              <a:r>
                <a:rPr lang="en-US" altLang="en-US" sz="1000">
                  <a:latin typeface="Arial" charset="0"/>
                </a:rPr>
                <a:t>transport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network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data link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physical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25625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7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728" name="Group 628"/>
          <p:cNvGrpSpPr>
            <a:grpSpLocks/>
          </p:cNvGrpSpPr>
          <p:nvPr/>
        </p:nvGrpSpPr>
        <p:grpSpPr bwMode="auto">
          <a:xfrm>
            <a:off x="5815013" y="3651250"/>
            <a:ext cx="1044575" cy="965200"/>
            <a:chOff x="4047" y="420"/>
            <a:chExt cx="658" cy="608"/>
          </a:xfrm>
        </p:grpSpPr>
        <p:sp>
          <p:nvSpPr>
            <p:cNvPr id="25613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14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15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25616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chemeClr val="bg1"/>
                  </a:solidFill>
                  <a:latin typeface="Arial" charset="0"/>
                </a:rPr>
                <a:t>application</a:t>
              </a:r>
              <a:endParaRPr lang="en-US" altLang="en-US" sz="1000">
                <a:latin typeface="Arial" charset="0"/>
              </a:endParaRPr>
            </a:p>
            <a:p>
              <a:pPr algn="ctr"/>
              <a:r>
                <a:rPr lang="en-US" altLang="en-US" sz="1000">
                  <a:latin typeface="Arial" charset="0"/>
                </a:rPr>
                <a:t>transport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network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data link</a:t>
              </a:r>
            </a:p>
            <a:p>
              <a:pPr algn="ctr"/>
              <a:r>
                <a:rPr lang="en-US" altLang="en-US" sz="1000">
                  <a:latin typeface="Arial" charset="0"/>
                </a:rPr>
                <a:t>physical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25617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0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29" grpId="0" animBg="1"/>
      <p:bldP spid="357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2765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E6E8C1B7-461E-475F-B0AF-BCB818D755F5}" type="slidenum">
              <a:rPr lang="en-US" altLang="en-US" sz="1200">
                <a:latin typeface="Tahoma" pitchFamily="34" charset="0"/>
              </a:rPr>
              <a:pPr/>
              <a:t>6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27652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96043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1030287"/>
          </a:xfrm>
        </p:spPr>
        <p:txBody>
          <a:bodyPr/>
          <a:lstStyle/>
          <a:p>
            <a:r>
              <a:rPr lang="en-US" altLang="en-US" smtClean="0"/>
              <a:t>Application architectures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000099"/>
                </a:solidFill>
              </a:rPr>
              <a:t>possible structure of applications:</a:t>
            </a:r>
          </a:p>
          <a:p>
            <a:r>
              <a:rPr lang="en-US" altLang="en-US" smtClean="0"/>
              <a:t>client-server</a:t>
            </a:r>
          </a:p>
          <a:p>
            <a:r>
              <a:rPr lang="en-US" altLang="en-US" smtClean="0"/>
              <a:t>peer-to-peer (P2P)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2969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BE652BE6-8E97-4487-B75A-6943655A4E1C}" type="slidenum">
              <a:rPr lang="en-US" altLang="en-US" sz="1200">
                <a:latin typeface="Tahoma" pitchFamily="34" charset="0"/>
              </a:rPr>
              <a:pPr/>
              <a:t>7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29700" name="Group 582"/>
          <p:cNvGrpSpPr>
            <a:grpSpLocks/>
          </p:cNvGrpSpPr>
          <p:nvPr/>
        </p:nvGrpSpPr>
        <p:grpSpPr bwMode="auto">
          <a:xfrm>
            <a:off x="542925" y="1492250"/>
            <a:ext cx="3540125" cy="4545013"/>
            <a:chOff x="3277" y="974"/>
            <a:chExt cx="2230" cy="2863"/>
          </a:xfrm>
        </p:grpSpPr>
        <p:sp>
          <p:nvSpPr>
            <p:cNvPr id="29707" name="Freeform 583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88 w 1036"/>
                <a:gd name="T1" fmla="*/ 11 h 675"/>
                <a:gd name="T2" fmla="*/ 837 w 1036"/>
                <a:gd name="T3" fmla="*/ 53 h 675"/>
                <a:gd name="T4" fmla="*/ 442 w 1036"/>
                <a:gd name="T5" fmla="*/ 129 h 675"/>
                <a:gd name="T6" fmla="*/ 329 w 1036"/>
                <a:gd name="T7" fmla="*/ 229 h 675"/>
                <a:gd name="T8" fmla="*/ 45 w 1036"/>
                <a:gd name="T9" fmla="*/ 297 h 675"/>
                <a:gd name="T10" fmla="*/ 37 w 1036"/>
                <a:gd name="T11" fmla="*/ 459 h 675"/>
                <a:gd name="T12" fmla="*/ 282 w 1036"/>
                <a:gd name="T13" fmla="*/ 489 h 675"/>
                <a:gd name="T14" fmla="*/ 984 w 1036"/>
                <a:gd name="T15" fmla="*/ 489 h 675"/>
                <a:gd name="T16" fmla="*/ 1281 w 1036"/>
                <a:gd name="T17" fmla="*/ 555 h 675"/>
                <a:gd name="T18" fmla="*/ 1612 w 1036"/>
                <a:gd name="T19" fmla="*/ 657 h 675"/>
                <a:gd name="T20" fmla="*/ 1865 w 1036"/>
                <a:gd name="T21" fmla="*/ 661 h 675"/>
                <a:gd name="T22" fmla="*/ 2039 w 1036"/>
                <a:gd name="T23" fmla="*/ 603 h 675"/>
                <a:gd name="T24" fmla="*/ 2128 w 1036"/>
                <a:gd name="T25" fmla="*/ 445 h 675"/>
                <a:gd name="T26" fmla="*/ 2183 w 1036"/>
                <a:gd name="T27" fmla="*/ 291 h 675"/>
                <a:gd name="T28" fmla="*/ 2189 w 1036"/>
                <a:gd name="T29" fmla="*/ 107 h 675"/>
                <a:gd name="T30" fmla="*/ 2001 w 1036"/>
                <a:gd name="T31" fmla="*/ 17 h 675"/>
                <a:gd name="T32" fmla="*/ 1662 w 1036"/>
                <a:gd name="T33" fmla="*/ 3 h 675"/>
                <a:gd name="T34" fmla="*/ 138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08" name="Group 584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30082" name="Rectangle 585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0083" name="AutoShape 586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29709" name="Freeform 587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588"/>
            <p:cNvSpPr>
              <a:spLocks noChangeShapeType="1"/>
            </p:cNvSpPr>
            <p:nvPr/>
          </p:nvSpPr>
          <p:spPr bwMode="auto">
            <a:xfrm rot="16200000" flipV="1">
              <a:off x="4915" y="3313"/>
              <a:ext cx="285" cy="1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589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Line 590"/>
            <p:cNvSpPr>
              <a:spLocks noChangeShapeType="1"/>
            </p:cNvSpPr>
            <p:nvPr/>
          </p:nvSpPr>
          <p:spPr bwMode="auto">
            <a:xfrm rot="16200000" flipH="1">
              <a:off x="5116" y="3190"/>
              <a:ext cx="96" cy="4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3" name="Line 592"/>
            <p:cNvSpPr>
              <a:spLocks noChangeShapeType="1"/>
            </p:cNvSpPr>
            <p:nvPr/>
          </p:nvSpPr>
          <p:spPr bwMode="auto">
            <a:xfrm>
              <a:off x="3843" y="3009"/>
              <a:ext cx="94" cy="10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593"/>
            <p:cNvSpPr>
              <a:spLocks noChangeShapeType="1"/>
            </p:cNvSpPr>
            <p:nvPr/>
          </p:nvSpPr>
          <p:spPr bwMode="auto">
            <a:xfrm flipV="1">
              <a:off x="3680" y="3150"/>
              <a:ext cx="261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596"/>
            <p:cNvSpPr>
              <a:spLocks noChangeShapeType="1"/>
            </p:cNvSpPr>
            <p:nvPr/>
          </p:nvSpPr>
          <p:spPr bwMode="auto">
            <a:xfrm flipH="1">
              <a:off x="3948" y="3209"/>
              <a:ext cx="98" cy="1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Line 597"/>
            <p:cNvSpPr>
              <a:spLocks noChangeShapeType="1"/>
            </p:cNvSpPr>
            <p:nvPr/>
          </p:nvSpPr>
          <p:spPr bwMode="auto">
            <a:xfrm flipH="1" flipV="1">
              <a:off x="4132" y="3213"/>
              <a:ext cx="65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598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Line 600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Line 601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20" name="Group 602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30080" name="Picture 603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081" name="Picture 604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9721" name="Freeform 605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606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60286 w 765"/>
                <a:gd name="T1" fmla="*/ 4345 h 459"/>
                <a:gd name="T2" fmla="*/ 40854 w 765"/>
                <a:gd name="T3" fmla="*/ 30856 h 459"/>
                <a:gd name="T4" fmla="*/ 13667 w 765"/>
                <a:gd name="T5" fmla="*/ 43916 h 459"/>
                <a:gd name="T6" fmla="*/ 1953 w 765"/>
                <a:gd name="T7" fmla="*/ 147986 h 459"/>
                <a:gd name="T8" fmla="*/ 25562 w 765"/>
                <a:gd name="T9" fmla="*/ 195530 h 459"/>
                <a:gd name="T10" fmla="*/ 49138 w 765"/>
                <a:gd name="T11" fmla="*/ 187417 h 459"/>
                <a:gd name="T12" fmla="*/ 82940 w 765"/>
                <a:gd name="T13" fmla="*/ 195530 h 459"/>
                <a:gd name="T14" fmla="*/ 99250 w 765"/>
                <a:gd name="T15" fmla="*/ 190991 h 459"/>
                <a:gd name="T16" fmla="*/ 106833 w 765"/>
                <a:gd name="T17" fmla="*/ 163869 h 459"/>
                <a:gd name="T18" fmla="*/ 106646 w 765"/>
                <a:gd name="T19" fmla="*/ 69556 h 459"/>
                <a:gd name="T20" fmla="*/ 94120 w 765"/>
                <a:gd name="T21" fmla="*/ 15173 h 459"/>
                <a:gd name="T22" fmla="*/ 60286 w 765"/>
                <a:gd name="T23" fmla="*/ 434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607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608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609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610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611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Line 612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Line 613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Line 614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615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Line 616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Line 617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Line 618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619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Line 620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Line 621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8" name="Line 622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9" name="Line 623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40" name="Group 624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30063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4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5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6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7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8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69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0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1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2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3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4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5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6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7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078" name="Oval 640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pic>
            <p:nvPicPr>
              <p:cNvPr id="30079" name="Picture 641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41" name="Group 642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30054" name="Line 643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5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56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57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58" name="Group 647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30061" name="Freeform 6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62" name="Freeform 6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59" name="Line 650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0" name="Line 651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2" name="Group 652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3004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4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4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49" name="Group 65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52" name="Freeform 65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53" name="Freeform 65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50" name="Line 65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1" name="Line 66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3" name="Group 661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3003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3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4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41" name="Group 66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44" name="Freeform 66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45" name="Freeform 66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42" name="Line 66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3" name="Line 66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4" name="Group 670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3003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3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3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33" name="Group 67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36" name="Freeform 67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37" name="Freeform 67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34" name="Line 67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35" name="Line 67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5" name="Group 679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3002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2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2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25" name="Group 68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28" name="Freeform 68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29" name="Freeform 68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26" name="Line 68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7" name="Line 68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6" name="Group 688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3001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1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1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17" name="Group 69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20" name="Freeform 69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21" name="Freeform 69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18" name="Line 69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9" name="Line 69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47" name="Line 697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48" name="Group 698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3000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0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0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09" name="Group 70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12" name="Freeform 7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13" name="Freeform 7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10" name="Line 70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1" name="Line 70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9" name="Group 70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2999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9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000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0001" name="Group 7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0004" name="Freeform 7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05" name="Freeform 7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02" name="Line 7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3" name="Line 7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0" name="Group 716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2999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9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9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9993" name="Group 72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9996" name="Freeform 72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97" name="Freeform 72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94" name="Line 72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95" name="Line 72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1" name="Group 725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2998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8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8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9985" name="Group 7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9988" name="Freeform 7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89" name="Freeform 7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86" name="Line 7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87" name="Line 7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2" name="Group 734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2997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7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7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9977" name="Group 73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9980" name="Freeform 73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81" name="Freeform 74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78" name="Line 74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79" name="Line 74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3" name="Group 743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2996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6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2996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29969" name="Group 74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9972" name="Freeform 7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73" name="Freeform 7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70" name="Line 75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71" name="Line 75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4" name="Group 752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29952" name="Group 753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9954" name="Freeform 754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5" name="Freeform 755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6" name="Freeform 756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7" name="Freeform 757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8" name="Freeform 758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9" name="Freeform 759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0" name="Freeform 760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1" name="Freeform 761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2" name="Freeform 762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3" name="Freeform 763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4" name="Freeform 764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5" name="Freeform 765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9953" name="Picture 766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55" name="Group 767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29938" name="Group 768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9940" name="Freeform 769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1" name="Freeform 770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2" name="Freeform 771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3" name="Freeform 772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4" name="Freeform 773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5" name="Freeform 774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6" name="Freeform 775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7" name="Freeform 776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8" name="Freeform 777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49" name="Freeform 778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0" name="Freeform 779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1" name="Freeform 780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9939" name="Picture 781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9756" name="Line 782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757" name="Group 783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29936" name="Picture 78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7" name="Freeform 78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58" name="Group 786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29934" name="Picture 78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5" name="Freeform 78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59" name="Group 789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29932" name="Picture 79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3" name="Freeform 79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60" name="Group 792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29930" name="Picture 79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1" name="Freeform 79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29761" name="Picture 795" descr="car_icon_small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62" name="Group 796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29928" name="Picture 797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929" name="Picture 798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63" name="Group 799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29896" name="Freeform 80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7" name="Rectangle 801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98" name="Freeform 80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9" name="Freeform 80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0" name="Rectangle 804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901" name="Group 80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926" name="AutoShape 806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927" name="AutoShape 807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902" name="Rectangle 808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903" name="Group 80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24" name="AutoShape 810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925" name="AutoShape 811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904" name="Rectangle 812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05" name="Rectangle 813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906" name="Group 81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922" name="AutoShape 815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923" name="AutoShape 816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907" name="Freeform 81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8" name="Group 81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920" name="AutoShape 819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921" name="AutoShape 820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909" name="Rectangle 821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0" name="Freeform 82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1" name="Freeform 82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2" name="Oval 824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3" name="Freeform 82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4" name="AutoShape 826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5" name="AutoShape 827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6" name="Oval 828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7" name="Oval 829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918" name="Oval 830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919" name="Rectangle 831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29764" name="Group 832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29864" name="Freeform 833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5" name="Rectangle 834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66" name="Freeform 835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7" name="Freeform 836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8" name="Rectangle 837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869" name="Group 838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894" name="AutoShape 839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895" name="AutoShape 840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870" name="Rectangle 841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871" name="Group 842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892" name="AutoShape 843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893" name="AutoShape 844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872" name="Rectangle 845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73" name="Rectangle 846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29874" name="Group 847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890" name="AutoShape 848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891" name="AutoShape 849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875" name="Freeform 850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76" name="Group 851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88" name="AutoShape 852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29889" name="AutoShape 853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29877" name="Rectangle 854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78" name="Freeform 855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79" name="Freeform 856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0" name="Oval 857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81" name="Freeform 858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2" name="AutoShape 859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83" name="AutoShape 860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84" name="Oval 861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85" name="Oval 862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886" name="Oval 863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29887" name="Rectangle 864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29765" name="Group 865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29841" name="Picture 866" descr="antenna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42" name="Picture 867" descr="laptop_keyboar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3" name="Freeform 868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844" name="Picture 869" descr="screen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5" name="Freeform 870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6" name="Freeform 871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7" name="Freeform 872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8" name="Freeform 873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9" name="Freeform 874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0" name="Freeform 875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51" name="Group 876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58" name="Freeform 877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59" name="Freeform 878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0" name="Freeform 879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1" name="Freeform 880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2" name="Freeform 881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3" name="Freeform 882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52" name="Freeform 883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3" name="Freeform 884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4" name="Freeform 885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5" name="Freeform 886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6" name="Freeform 887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7" name="Freeform 888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6" name="Group 889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29818" name="Picture 890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19" name="Picture 891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0" name="Freeform 892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821" name="Picture 893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2" name="Freeform 894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3" name="Freeform 895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4" name="Freeform 896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5" name="Freeform 897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6" name="Freeform 898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7" name="Freeform 899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28" name="Group 900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35" name="Freeform 90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6" name="Freeform 90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7" name="Freeform 90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8" name="Freeform 90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9" name="Freeform 90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40" name="Freeform 90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29" name="Freeform 907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0" name="Freeform 908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1" name="Freeform 909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2" name="Freeform 910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3" name="Freeform 911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4" name="Freeform 912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7" name="Group 913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29795" name="Picture 914" descr="antenna_stylized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96" name="Picture 915" descr="laptop_keyboard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7" name="Freeform 916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798" name="Picture 917" descr="screen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9" name="Freeform 918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0" name="Freeform 919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1" name="Freeform 920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2" name="Freeform 921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3" name="Freeform 922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4" name="Freeform 923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05" name="Group 924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12" name="Freeform 925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3" name="Freeform 926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4" name="Freeform 927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5" name="Freeform 928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6" name="Freeform 929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7" name="Freeform 930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06" name="Freeform 931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7" name="Freeform 932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8" name="Freeform 933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9" name="Freeform 934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0" name="Freeform 935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1" name="Freeform 936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8" name="Group 937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29793" name="Picture 9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4" name="Freeform 93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69" name="Group 940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29770" name="Picture 941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71" name="Picture 942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2" name="Freeform 943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773" name="Picture 944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4" name="Freeform 945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5" name="Freeform 946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6" name="Freeform 947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7" name="Freeform 948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8" name="Freeform 949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9" name="Freeform 950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780" name="Group 951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787" name="Freeform 952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88" name="Freeform 953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89" name="Freeform 954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0" name="Freeform 955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1" name="Freeform 956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2" name="Freeform 957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781" name="Freeform 958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2" name="Freeform 959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3" name="Freeform 960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4" name="Freeform 961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5" name="Freeform 962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6" name="Freeform 963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9701" name="Rectangle 4"/>
          <p:cNvSpPr>
            <a:spLocks noGrp="1" noChangeArrowheads="1"/>
          </p:cNvSpPr>
          <p:nvPr>
            <p:ph type="title"/>
          </p:nvPr>
        </p:nvSpPr>
        <p:spPr>
          <a:xfrm>
            <a:off x="366713" y="184150"/>
            <a:ext cx="7772400" cy="852488"/>
          </a:xfrm>
        </p:spPr>
        <p:txBody>
          <a:bodyPr/>
          <a:lstStyle/>
          <a:p>
            <a:r>
              <a:rPr lang="en-US" altLang="en-US" smtClean="0"/>
              <a:t>Client-server architecture</a:t>
            </a:r>
          </a:p>
        </p:txBody>
      </p:sp>
      <p:sp>
        <p:nvSpPr>
          <p:cNvPr id="29702" name="Rectangle 460"/>
          <p:cNvSpPr>
            <a:spLocks noGrp="1" noChangeArrowheads="1"/>
          </p:cNvSpPr>
          <p:nvPr>
            <p:ph type="body" sz="half" idx="2"/>
          </p:nvPr>
        </p:nvSpPr>
        <p:spPr>
          <a:xfrm>
            <a:off x="4752975" y="1416050"/>
            <a:ext cx="414337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server: </a:t>
            </a:r>
          </a:p>
          <a:p>
            <a:r>
              <a:rPr lang="en-US" altLang="en-US" sz="2400" smtClean="0"/>
              <a:t>always-on host</a:t>
            </a:r>
          </a:p>
          <a:p>
            <a:r>
              <a:rPr lang="en-US" altLang="en-US" sz="2400" smtClean="0"/>
              <a:t>permanent IP address</a:t>
            </a:r>
          </a:p>
          <a:p>
            <a:r>
              <a:rPr lang="en-US" altLang="en-US" sz="2400" smtClean="0"/>
              <a:t>data centers for scaling</a:t>
            </a:r>
          </a:p>
          <a:p>
            <a:pPr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clients:</a:t>
            </a:r>
          </a:p>
          <a:p>
            <a:r>
              <a:rPr lang="en-US" altLang="en-US" sz="2400" smtClean="0"/>
              <a:t>communicate with server</a:t>
            </a:r>
          </a:p>
          <a:p>
            <a:r>
              <a:rPr lang="en-US" altLang="en-US" sz="2400" smtClean="0"/>
              <a:t>may be intermittently connected</a:t>
            </a:r>
          </a:p>
          <a:p>
            <a:r>
              <a:rPr lang="en-US" altLang="en-US" sz="2400" smtClean="0"/>
              <a:t>may have dynamic IP addresses</a:t>
            </a:r>
          </a:p>
          <a:p>
            <a:r>
              <a:rPr lang="en-US" altLang="en-US" sz="2400" smtClean="0"/>
              <a:t>do not communicate directly with each other</a:t>
            </a:r>
          </a:p>
        </p:txBody>
      </p:sp>
      <p:pic>
        <p:nvPicPr>
          <p:cNvPr id="29703" name="Picture 351" descr="underline_base"/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84296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Line 913"/>
          <p:cNvSpPr>
            <a:spLocks noChangeShapeType="1"/>
          </p:cNvSpPr>
          <p:nvPr/>
        </p:nvSpPr>
        <p:spPr bwMode="auto">
          <a:xfrm>
            <a:off x="1249363" y="3235325"/>
            <a:ext cx="2006600" cy="197802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Line 800"/>
          <p:cNvSpPr>
            <a:spLocks noChangeShapeType="1"/>
          </p:cNvSpPr>
          <p:nvPr/>
        </p:nvSpPr>
        <p:spPr bwMode="auto">
          <a:xfrm>
            <a:off x="2211388" y="1844675"/>
            <a:ext cx="1481137" cy="3109913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Text Box 803"/>
          <p:cNvSpPr txBox="1">
            <a:spLocks noChangeArrowheads="1"/>
          </p:cNvSpPr>
          <p:nvPr/>
        </p:nvSpPr>
        <p:spPr bwMode="auto">
          <a:xfrm>
            <a:off x="254000" y="4067175"/>
            <a:ext cx="155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client/server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3174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DBBAADE5-FBDF-4D2F-9D33-69429C626049}" type="slidenum">
              <a:rPr lang="en-US" altLang="en-US" sz="1200">
                <a:latin typeface="Tahoma" pitchFamily="34" charset="0"/>
              </a:rPr>
              <a:pPr/>
              <a:t>8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31748" name="Group 566"/>
          <p:cNvGrpSpPr>
            <a:grpSpLocks/>
          </p:cNvGrpSpPr>
          <p:nvPr/>
        </p:nvGrpSpPr>
        <p:grpSpPr bwMode="auto">
          <a:xfrm>
            <a:off x="5202238" y="1546225"/>
            <a:ext cx="3540125" cy="4545013"/>
            <a:chOff x="3277" y="974"/>
            <a:chExt cx="2230" cy="2863"/>
          </a:xfrm>
        </p:grpSpPr>
        <p:sp>
          <p:nvSpPr>
            <p:cNvPr id="31756" name="Freeform 567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88 w 1036"/>
                <a:gd name="T1" fmla="*/ 11 h 675"/>
                <a:gd name="T2" fmla="*/ 837 w 1036"/>
                <a:gd name="T3" fmla="*/ 53 h 675"/>
                <a:gd name="T4" fmla="*/ 442 w 1036"/>
                <a:gd name="T5" fmla="*/ 129 h 675"/>
                <a:gd name="T6" fmla="*/ 329 w 1036"/>
                <a:gd name="T7" fmla="*/ 229 h 675"/>
                <a:gd name="T8" fmla="*/ 45 w 1036"/>
                <a:gd name="T9" fmla="*/ 297 h 675"/>
                <a:gd name="T10" fmla="*/ 37 w 1036"/>
                <a:gd name="T11" fmla="*/ 459 h 675"/>
                <a:gd name="T12" fmla="*/ 282 w 1036"/>
                <a:gd name="T13" fmla="*/ 489 h 675"/>
                <a:gd name="T14" fmla="*/ 984 w 1036"/>
                <a:gd name="T15" fmla="*/ 489 h 675"/>
                <a:gd name="T16" fmla="*/ 1281 w 1036"/>
                <a:gd name="T17" fmla="*/ 555 h 675"/>
                <a:gd name="T18" fmla="*/ 1612 w 1036"/>
                <a:gd name="T19" fmla="*/ 657 h 675"/>
                <a:gd name="T20" fmla="*/ 1865 w 1036"/>
                <a:gd name="T21" fmla="*/ 661 h 675"/>
                <a:gd name="T22" fmla="*/ 2039 w 1036"/>
                <a:gd name="T23" fmla="*/ 603 h 675"/>
                <a:gd name="T24" fmla="*/ 2128 w 1036"/>
                <a:gd name="T25" fmla="*/ 445 h 675"/>
                <a:gd name="T26" fmla="*/ 2183 w 1036"/>
                <a:gd name="T27" fmla="*/ 291 h 675"/>
                <a:gd name="T28" fmla="*/ 2189 w 1036"/>
                <a:gd name="T29" fmla="*/ 107 h 675"/>
                <a:gd name="T30" fmla="*/ 2001 w 1036"/>
                <a:gd name="T31" fmla="*/ 17 h 675"/>
                <a:gd name="T32" fmla="*/ 1662 w 1036"/>
                <a:gd name="T33" fmla="*/ 3 h 675"/>
                <a:gd name="T34" fmla="*/ 138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57" name="Group 568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32131" name="Rectangle 56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2132" name="AutoShape 57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31758" name="Freeform 571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Line 572"/>
            <p:cNvSpPr>
              <a:spLocks noChangeShapeType="1"/>
            </p:cNvSpPr>
            <p:nvPr/>
          </p:nvSpPr>
          <p:spPr bwMode="auto">
            <a:xfrm rot="-5400000">
              <a:off x="4924" y="3316"/>
              <a:ext cx="284" cy="7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Line 573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1" name="Line 574"/>
            <p:cNvSpPr>
              <a:spLocks noChangeShapeType="1"/>
            </p:cNvSpPr>
            <p:nvPr/>
          </p:nvSpPr>
          <p:spPr bwMode="auto">
            <a:xfrm rot="16200000" flipH="1">
              <a:off x="5113" y="3192"/>
              <a:ext cx="90" cy="5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Line 576"/>
            <p:cNvSpPr>
              <a:spLocks noChangeShapeType="1"/>
            </p:cNvSpPr>
            <p:nvPr/>
          </p:nvSpPr>
          <p:spPr bwMode="auto">
            <a:xfrm>
              <a:off x="3843" y="3009"/>
              <a:ext cx="99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Line 577"/>
            <p:cNvSpPr>
              <a:spLocks noChangeShapeType="1"/>
            </p:cNvSpPr>
            <p:nvPr/>
          </p:nvSpPr>
          <p:spPr bwMode="auto">
            <a:xfrm flipV="1">
              <a:off x="3680" y="3159"/>
              <a:ext cx="256" cy="6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Line 580"/>
            <p:cNvSpPr>
              <a:spLocks noChangeShapeType="1"/>
            </p:cNvSpPr>
            <p:nvPr/>
          </p:nvSpPr>
          <p:spPr bwMode="auto">
            <a:xfrm flipH="1">
              <a:off x="3948" y="3204"/>
              <a:ext cx="90" cy="1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5" name="Line 581"/>
            <p:cNvSpPr>
              <a:spLocks noChangeShapeType="1"/>
            </p:cNvSpPr>
            <p:nvPr/>
          </p:nvSpPr>
          <p:spPr bwMode="auto">
            <a:xfrm flipH="1" flipV="1">
              <a:off x="4146" y="3213"/>
              <a:ext cx="51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6" name="Line 582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Line 584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585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69" name="Group 586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32129" name="Picture 587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130" name="Picture 588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770" name="Freeform 589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1" name="Freeform 590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60286 w 765"/>
                <a:gd name="T1" fmla="*/ 4345 h 459"/>
                <a:gd name="T2" fmla="*/ 40854 w 765"/>
                <a:gd name="T3" fmla="*/ 30856 h 459"/>
                <a:gd name="T4" fmla="*/ 13667 w 765"/>
                <a:gd name="T5" fmla="*/ 43916 h 459"/>
                <a:gd name="T6" fmla="*/ 1953 w 765"/>
                <a:gd name="T7" fmla="*/ 147986 h 459"/>
                <a:gd name="T8" fmla="*/ 25562 w 765"/>
                <a:gd name="T9" fmla="*/ 195530 h 459"/>
                <a:gd name="T10" fmla="*/ 49138 w 765"/>
                <a:gd name="T11" fmla="*/ 187417 h 459"/>
                <a:gd name="T12" fmla="*/ 82940 w 765"/>
                <a:gd name="T13" fmla="*/ 195530 h 459"/>
                <a:gd name="T14" fmla="*/ 99250 w 765"/>
                <a:gd name="T15" fmla="*/ 190991 h 459"/>
                <a:gd name="T16" fmla="*/ 106833 w 765"/>
                <a:gd name="T17" fmla="*/ 163869 h 459"/>
                <a:gd name="T18" fmla="*/ 106646 w 765"/>
                <a:gd name="T19" fmla="*/ 69556 h 459"/>
                <a:gd name="T20" fmla="*/ 94120 w 765"/>
                <a:gd name="T21" fmla="*/ 15173 h 459"/>
                <a:gd name="T22" fmla="*/ 60286 w 765"/>
                <a:gd name="T23" fmla="*/ 434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Line 591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Line 592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Line 593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Line 594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Line 595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Line 596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8" name="Line 597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598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599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1" name="Line 600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Line 601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3" name="Line 602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4" name="Line 603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5" name="Line 604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6" name="Line 605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7" name="Line 606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8" name="Line 607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89" name="Group 608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32112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3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4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5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6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7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8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19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0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1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2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3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4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5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6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127" name="Oval 624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pic>
            <p:nvPicPr>
              <p:cNvPr id="32128" name="Picture 625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790" name="Group 626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32103" name="Line 627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04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105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106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107" name="Group 631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32110" name="Freeform 63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11" name="Freeform 63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108" name="Line 634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09" name="Line 635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1" name="Group 636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3209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9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9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98" name="Group 64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101" name="Freeform 6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02" name="Freeform 6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99" name="Line 64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00" name="Line 64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2" name="Group 645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3208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8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8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90" name="Group 64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93" name="Freeform 6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94" name="Freeform 6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91" name="Line 65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92" name="Line 65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3" name="Group 654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3207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8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8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82" name="Group 65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85" name="Freeform 6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86" name="Freeform 6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83" name="Line 66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84" name="Line 66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4" name="Group 663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3207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7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7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74" name="Group 66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77" name="Freeform 6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78" name="Freeform 6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75" name="Line 67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76" name="Line 67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5" name="Group 672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3206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6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6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66" name="Group 67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69" name="Freeform 67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70" name="Freeform 67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67" name="Line 67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68" name="Line 68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96" name="Line 681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97" name="Group 682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3205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5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5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58" name="Group 68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61" name="Freeform 68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62" name="Freeform 68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59" name="Line 68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60" name="Line 69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8" name="Group 691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204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4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4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50" name="Group 69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53" name="Freeform 69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54" name="Freeform 69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51" name="Line 69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52" name="Line 69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9" name="Group 700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3203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4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4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42" name="Group 70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45" name="Freeform 70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46" name="Freeform 70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43" name="Line 70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44" name="Line 70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0" name="Group 709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3203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3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3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34" name="Group 71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37" name="Freeform 71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38" name="Freeform 71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35" name="Line 71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6" name="Line 71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1" name="Group 718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3202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2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2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26" name="Group 72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29" name="Freeform 72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30" name="Freeform 72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27" name="Line 72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28" name="Line 72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2" name="Group 727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3201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1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sp>
            <p:nvSpPr>
              <p:cNvPr id="3201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 sz="2400">
                  <a:latin typeface="Times New Roman" pitchFamily="18" charset="0"/>
                  <a:cs typeface="Arial" charset="0"/>
                </a:endParaRPr>
              </a:p>
            </p:txBody>
          </p:sp>
          <p:grpSp>
            <p:nvGrpSpPr>
              <p:cNvPr id="32018" name="Group 73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21" name="Freeform 73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22" name="Freeform 73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19" name="Line 73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20" name="Line 73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3" name="Group 736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32001" name="Group 737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2003" name="Freeform 738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4" name="Freeform 739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5" name="Freeform 740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6" name="Freeform 741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7" name="Freeform 742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8" name="Freeform 743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9" name="Freeform 744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0" name="Freeform 745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1" name="Freeform 746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2" name="Freeform 747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3" name="Freeform 748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4" name="Freeform 749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32002" name="Picture 750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04" name="Group 751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31987" name="Group 752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1989" name="Freeform 753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0" name="Freeform 754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1" name="Freeform 755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2" name="Freeform 756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3" name="Freeform 757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4" name="Freeform 758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5" name="Freeform 759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6" name="Freeform 760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7" name="Freeform 761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8" name="Freeform 762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99" name="Freeform 763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0" name="Freeform 764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31988" name="Picture 765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805" name="Line 766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806" name="Group 767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31985" name="Picture 7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86" name="Freeform 7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807" name="Group 770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31983" name="Picture 7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84" name="Freeform 7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808" name="Group 773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31981" name="Picture 7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82" name="Freeform 7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809" name="Group 776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31979" name="Picture 7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80" name="Freeform 7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31810" name="Picture 779" descr="car_icon_small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1811" name="Group 780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31977" name="Picture 781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78" name="Picture 782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12" name="Group 783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31945" name="Freeform 7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6" name="Rectangle 7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47" name="Freeform 7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8" name="Freeform 7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9" name="Rectangle 7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50" name="Group 7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75" name="AutoShape 7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76" name="AutoShape 7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51" name="Rectangle 7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52" name="Group 7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73" name="AutoShape 7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74" name="AutoShape 7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53" name="Rectangle 7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54" name="Rectangle 7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55" name="Group 7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71" name="AutoShape 7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72" name="AutoShape 8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56" name="Freeform 8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57" name="Group 8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69" name="AutoShape 8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70" name="AutoShape 8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58" name="Rectangle 8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59" name="Freeform 8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0" name="Freeform 8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1" name="Oval 8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62" name="Freeform 8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3" name="AutoShape 8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64" name="AutoShape 8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65" name="Oval 8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66" name="Oval 8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1967" name="Oval 8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68" name="Rectangle 8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31813" name="Group 816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31913" name="Freeform 81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4" name="Rectangle 818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15" name="Freeform 81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6" name="Freeform 82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7" name="Rectangle 821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18" name="Group 82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43" name="AutoShape 823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44" name="AutoShape 824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19" name="Rectangle 825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20" name="Group 82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41" name="AutoShape 827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42" name="AutoShape 828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21" name="Rectangle 829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22" name="Rectangle 830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31923" name="Group 83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39" name="AutoShape 832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40" name="AutoShape 833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24" name="Freeform 83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25" name="Group 83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37" name="AutoShape 836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31938" name="AutoShape 837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31926" name="Rectangle 838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27" name="Freeform 83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8" name="Freeform 84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9" name="Oval 841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30" name="Freeform 84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31" name="AutoShape 843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32" name="AutoShape 844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33" name="Oval 845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34" name="Oval 846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31935" name="Oval 847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31936" name="Rectangle 848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31814" name="Group 849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31890" name="Picture 850" descr="antenna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91" name="Picture 851" descr="laptop_keyboar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2" name="Freeform 852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93" name="Picture 853" descr="screen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4" name="Freeform 854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5" name="Freeform 855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6" name="Freeform 856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7" name="Freeform 857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8" name="Freeform 858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9" name="Freeform 859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00" name="Group 860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907" name="Freeform 86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8" name="Freeform 86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9" name="Freeform 86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0" name="Freeform 86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1" name="Freeform 86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2" name="Freeform 86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01" name="Freeform 867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2" name="Freeform 868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3" name="Freeform 869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4" name="Freeform 870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5" name="Freeform 871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6" name="Freeform 872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5" name="Group 873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31867" name="Picture 874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68" name="Picture 875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69" name="Freeform 876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70" name="Picture 877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71" name="Freeform 878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2" name="Freeform 879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3" name="Freeform 880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4" name="Freeform 881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5" name="Freeform 882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6" name="Freeform 883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77" name="Group 884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84" name="Freeform 885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5" name="Freeform 886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6" name="Freeform 887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7" name="Freeform 888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8" name="Freeform 889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9" name="Freeform 890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78" name="Freeform 891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9" name="Freeform 892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0" name="Freeform 893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1" name="Freeform 894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2" name="Freeform 895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3" name="Freeform 896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6" name="Group 897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31844" name="Picture 898" descr="antenna_stylized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45" name="Picture 899" descr="laptop_keyboard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6" name="Freeform 900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47" name="Picture 901" descr="screen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8" name="Freeform 902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9" name="Freeform 903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0" name="Freeform 904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1" name="Freeform 905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2" name="Freeform 906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3" name="Freeform 907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54" name="Group 908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61" name="Freeform 909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2" name="Freeform 910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3" name="Freeform 911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4" name="Freeform 912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5" name="Freeform 913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6" name="Freeform 914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55" name="Freeform 915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6" name="Freeform 916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7" name="Freeform 917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8" name="Freeform 918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9" name="Freeform 919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0" name="Freeform 920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7" name="Group 921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31842" name="Picture 9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3" name="Freeform 92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818" name="Group 924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31819" name="Picture 925" descr="antenna_stylize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20" name="Picture 926" descr="laptop_keyboar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21" name="Freeform 92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22" name="Picture 928" descr="screen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23" name="Freeform 92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4" name="Freeform 93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5" name="Freeform 93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6" name="Freeform 93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Freeform 93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8" name="Freeform 93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29" name="Group 93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36" name="Freeform 93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7" name="Freeform 93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8" name="Freeform 93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9" name="Freeform 93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40" name="Freeform 94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41" name="Freeform 94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30" name="Freeform 94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1" name="Freeform 94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2" name="Freeform 94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Freeform 94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4" name="Freeform 94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5" name="Freeform 94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1749" name="Rectangle 4"/>
          <p:cNvSpPr>
            <a:spLocks noGrp="1" noChangeArrowheads="1"/>
          </p:cNvSpPr>
          <p:nvPr>
            <p:ph type="title"/>
          </p:nvPr>
        </p:nvSpPr>
        <p:spPr>
          <a:xfrm>
            <a:off x="309563" y="228600"/>
            <a:ext cx="7772400" cy="819150"/>
          </a:xfrm>
        </p:spPr>
        <p:txBody>
          <a:bodyPr/>
          <a:lstStyle/>
          <a:p>
            <a:r>
              <a:rPr lang="en-US" altLang="en-US" smtClean="0"/>
              <a:t>P2P architecture</a:t>
            </a:r>
          </a:p>
        </p:txBody>
      </p:sp>
      <p:sp>
        <p:nvSpPr>
          <p:cNvPr id="31750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300163"/>
            <a:ext cx="4049713" cy="5241925"/>
          </a:xfrm>
        </p:spPr>
        <p:txBody>
          <a:bodyPr/>
          <a:lstStyle/>
          <a:p>
            <a:r>
              <a:rPr lang="en-US" altLang="en-US" sz="2400" i="1" smtClean="0"/>
              <a:t>no</a:t>
            </a:r>
            <a:r>
              <a:rPr lang="en-US" altLang="en-US" sz="2400" smtClean="0"/>
              <a:t> always-on server</a:t>
            </a:r>
          </a:p>
          <a:p>
            <a:r>
              <a:rPr lang="en-US" altLang="en-US" sz="2400" smtClean="0"/>
              <a:t>arbitrary end systems directly communicate</a:t>
            </a:r>
          </a:p>
          <a:p>
            <a:r>
              <a:rPr lang="en-US" altLang="en-US" sz="2400" smtClean="0"/>
              <a:t>peers request service from other peers, provide service in return to other peers</a:t>
            </a:r>
          </a:p>
          <a:p>
            <a:pPr lvl="1"/>
            <a:r>
              <a:rPr lang="en-US" altLang="en-US" i="1" smtClean="0">
                <a:solidFill>
                  <a:srgbClr val="CC0000"/>
                </a:solidFill>
              </a:rPr>
              <a:t>self scalability</a:t>
            </a:r>
            <a:r>
              <a:rPr lang="en-US" altLang="en-US" smtClean="0">
                <a:solidFill>
                  <a:srgbClr val="CC0000"/>
                </a:solidFill>
              </a:rPr>
              <a:t> – new peers bring new service capacity, as well as new service demands</a:t>
            </a:r>
          </a:p>
          <a:p>
            <a:r>
              <a:rPr lang="en-US" altLang="en-US" sz="2400" smtClean="0"/>
              <a:t>peers are intermittently connected and change IP addresses</a:t>
            </a:r>
          </a:p>
          <a:p>
            <a:pPr lvl="1"/>
            <a:r>
              <a:rPr lang="en-US" altLang="en-US" smtClean="0"/>
              <a:t>complex management</a:t>
            </a:r>
          </a:p>
          <a:p>
            <a:endParaRPr lang="en-US" altLang="en-US" smtClean="0">
              <a:solidFill>
                <a:srgbClr val="CC0000"/>
              </a:solidFill>
            </a:endParaRPr>
          </a:p>
          <a:p>
            <a:endParaRPr lang="en-US" altLang="en-US" smtClean="0"/>
          </a:p>
        </p:txBody>
      </p:sp>
      <p:pic>
        <p:nvPicPr>
          <p:cNvPr id="31751" name="Picture 351" descr="underline_base"/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852488"/>
            <a:ext cx="401161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Line 1034"/>
          <p:cNvSpPr>
            <a:spLocks noChangeShapeType="1"/>
          </p:cNvSpPr>
          <p:nvPr/>
        </p:nvSpPr>
        <p:spPr bwMode="auto">
          <a:xfrm flipH="1">
            <a:off x="6221413" y="1852613"/>
            <a:ext cx="503237" cy="1389062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1035"/>
          <p:cNvSpPr>
            <a:spLocks noChangeShapeType="1"/>
          </p:cNvSpPr>
          <p:nvPr/>
        </p:nvSpPr>
        <p:spPr bwMode="auto">
          <a:xfrm>
            <a:off x="5565775" y="2438400"/>
            <a:ext cx="238125" cy="25685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1036"/>
          <p:cNvSpPr>
            <a:spLocks noChangeShapeType="1"/>
          </p:cNvSpPr>
          <p:nvPr/>
        </p:nvSpPr>
        <p:spPr bwMode="auto">
          <a:xfrm>
            <a:off x="6275388" y="3581400"/>
            <a:ext cx="1198562" cy="19970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Text Box 1037"/>
          <p:cNvSpPr txBox="1">
            <a:spLocks noChangeArrowheads="1"/>
          </p:cNvSpPr>
          <p:nvPr/>
        </p:nvSpPr>
        <p:spPr bwMode="auto">
          <a:xfrm>
            <a:off x="7239000" y="1373188"/>
            <a:ext cx="1284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peer-peer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3379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F1163EBC-BCF3-4197-871A-6E381CECB1B8}" type="slidenum">
              <a:rPr lang="en-US" altLang="en-US" sz="1200">
                <a:latin typeface="Tahoma" pitchFamily="34" charset="0"/>
              </a:rPr>
              <a:pPr/>
              <a:t>9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185738"/>
            <a:ext cx="7772400" cy="863600"/>
          </a:xfrm>
        </p:spPr>
        <p:txBody>
          <a:bodyPr/>
          <a:lstStyle/>
          <a:p>
            <a:r>
              <a:rPr lang="en-US" altLang="en-US" smtClean="0"/>
              <a:t>Processes communicating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44638"/>
            <a:ext cx="398938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process:</a:t>
            </a:r>
            <a:r>
              <a:rPr lang="en-US" altLang="en-US" smtClean="0"/>
              <a:t> program running within a host</a:t>
            </a:r>
          </a:p>
          <a:p>
            <a:r>
              <a:rPr lang="en-US" altLang="en-US" sz="2400" smtClean="0"/>
              <a:t>within same host, two processes communicate using  </a:t>
            </a:r>
            <a:r>
              <a:rPr lang="en-US" altLang="en-US" sz="2400" smtClean="0">
                <a:solidFill>
                  <a:srgbClr val="CC0000"/>
                </a:solidFill>
              </a:rPr>
              <a:t>inter-process communication</a:t>
            </a:r>
            <a:r>
              <a:rPr lang="en-US" altLang="en-US" sz="2400" smtClean="0"/>
              <a:t> (defined by OS)</a:t>
            </a:r>
          </a:p>
          <a:p>
            <a:r>
              <a:rPr lang="en-US" altLang="en-US" sz="2400" smtClean="0"/>
              <a:t>processes in different hosts communicate by exchanging </a:t>
            </a:r>
            <a:r>
              <a:rPr lang="en-US" altLang="en-US" sz="2400" smtClean="0">
                <a:solidFill>
                  <a:srgbClr val="CC0000"/>
                </a:solidFill>
              </a:rPr>
              <a:t>messages</a:t>
            </a:r>
          </a:p>
        </p:txBody>
      </p:sp>
      <p:sp>
        <p:nvSpPr>
          <p:cNvPr id="3379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03788" y="1979613"/>
            <a:ext cx="3810000" cy="203358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client process:</a:t>
            </a:r>
            <a:r>
              <a:rPr lang="en-US" altLang="en-US" smtClean="0"/>
              <a:t> </a:t>
            </a:r>
            <a:r>
              <a:rPr lang="en-US" altLang="en-US" sz="2400" smtClean="0"/>
              <a:t>process that initiates communication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server process:</a:t>
            </a:r>
            <a:r>
              <a:rPr lang="en-US" altLang="en-US" smtClean="0"/>
              <a:t> </a:t>
            </a:r>
            <a:r>
              <a:rPr lang="en-US" altLang="en-US" sz="2400" smtClean="0"/>
              <a:t>process that waits to be contacted</a:t>
            </a:r>
            <a:endParaRPr lang="en-US" altLang="en-US" smtClean="0"/>
          </a:p>
          <a:p>
            <a:pPr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691063" y="4238625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aside: applications with P2P architectures have client processes &amp; server processes</a:t>
            </a:r>
          </a:p>
        </p:txBody>
      </p:sp>
      <p:pic>
        <p:nvPicPr>
          <p:cNvPr id="33800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86677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Rectangle 13"/>
          <p:cNvSpPr>
            <a:spLocks noChangeArrowheads="1"/>
          </p:cNvSpPr>
          <p:nvPr/>
        </p:nvSpPr>
        <p:spPr bwMode="auto">
          <a:xfrm>
            <a:off x="4749800" y="1762125"/>
            <a:ext cx="4092575" cy="206216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/>
          </a:p>
        </p:txBody>
      </p:sp>
      <p:sp>
        <p:nvSpPr>
          <p:cNvPr id="33802" name="Text Box 14"/>
          <p:cNvSpPr txBox="1">
            <a:spLocks noChangeArrowheads="1"/>
          </p:cNvSpPr>
          <p:nvPr/>
        </p:nvSpPr>
        <p:spPr bwMode="auto">
          <a:xfrm>
            <a:off x="4870450" y="1463675"/>
            <a:ext cx="2325688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/>
              <a:t>clients, servers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A71E0214-ABE4-4769-8421-2D87F5847E4F}" type="slidenum">
              <a:rPr lang="en-US" altLang="en-US" sz="1200">
                <a:latin typeface="Tahoma" pitchFamily="34" charset="0"/>
              </a:rPr>
              <a:pPr/>
              <a:t>10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123825"/>
            <a:ext cx="8077200" cy="896938"/>
          </a:xfrm>
        </p:spPr>
        <p:txBody>
          <a:bodyPr/>
          <a:lstStyle/>
          <a:p>
            <a:r>
              <a:rPr lang="en-US" altLang="en-US" smtClean="0"/>
              <a:t>Sockets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9250" y="1208088"/>
            <a:ext cx="8232775" cy="2328862"/>
          </a:xfrm>
        </p:spPr>
        <p:txBody>
          <a:bodyPr/>
          <a:lstStyle/>
          <a:p>
            <a:r>
              <a:rPr lang="en-US" altLang="en-US" sz="2400" smtClean="0"/>
              <a:t>process sends/receives messages to/from its </a:t>
            </a:r>
            <a:r>
              <a:rPr lang="en-US" altLang="en-US" sz="2400" smtClean="0">
                <a:solidFill>
                  <a:srgbClr val="CC0000"/>
                </a:solidFill>
              </a:rPr>
              <a:t>socket</a:t>
            </a:r>
          </a:p>
          <a:p>
            <a:r>
              <a:rPr lang="en-US" altLang="en-US" sz="2400" smtClean="0"/>
              <a:t>socket analogous to door</a:t>
            </a:r>
          </a:p>
          <a:p>
            <a:pPr lvl="1"/>
            <a:r>
              <a:rPr lang="en-US" altLang="en-US" smtClean="0"/>
              <a:t>sending process shoves message out door</a:t>
            </a:r>
          </a:p>
          <a:p>
            <a:pPr lvl="1"/>
            <a:r>
              <a:rPr lang="en-US" altLang="en-US" smtClean="0"/>
              <a:t>sending process relies on transport infrastructure on other side of door to deliver message to socket at receiving process</a:t>
            </a:r>
          </a:p>
        </p:txBody>
      </p:sp>
      <p:pic>
        <p:nvPicPr>
          <p:cNvPr id="35846" name="Picture 43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800100"/>
            <a:ext cx="19161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Freeform 66"/>
          <p:cNvSpPr>
            <a:spLocks/>
          </p:cNvSpPr>
          <p:nvPr/>
        </p:nvSpPr>
        <p:spPr bwMode="auto">
          <a:xfrm>
            <a:off x="6948488" y="3751263"/>
            <a:ext cx="736600" cy="1998662"/>
          </a:xfrm>
          <a:custGeom>
            <a:avLst/>
            <a:gdLst>
              <a:gd name="T0" fmla="*/ 2147483646 w 464"/>
              <a:gd name="T1" fmla="*/ 2147483646 h 1259"/>
              <a:gd name="T2" fmla="*/ 0 w 464"/>
              <a:gd name="T3" fmla="*/ 0 h 1259"/>
              <a:gd name="T4" fmla="*/ 2147483646 w 464"/>
              <a:gd name="T5" fmla="*/ 2147483646 h 1259"/>
              <a:gd name="T6" fmla="*/ 2147483646 w 464"/>
              <a:gd name="T7" fmla="*/ 2147483646 h 1259"/>
              <a:gd name="T8" fmla="*/ 2147483646 w 464"/>
              <a:gd name="T9" fmla="*/ 2147483646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8" name="Freeform 7"/>
          <p:cNvSpPr>
            <a:spLocks/>
          </p:cNvSpPr>
          <p:nvPr/>
        </p:nvSpPr>
        <p:spPr bwMode="auto">
          <a:xfrm>
            <a:off x="3633788" y="5048250"/>
            <a:ext cx="1808162" cy="1031875"/>
          </a:xfrm>
          <a:custGeom>
            <a:avLst/>
            <a:gdLst>
              <a:gd name="T0" fmla="*/ 2147483646 w 2135"/>
              <a:gd name="T1" fmla="*/ 2147483646 h 1662"/>
              <a:gd name="T2" fmla="*/ 2147483646 w 2135"/>
              <a:gd name="T3" fmla="*/ 2147483646 h 1662"/>
              <a:gd name="T4" fmla="*/ 2147483646 w 2135"/>
              <a:gd name="T5" fmla="*/ 2147483646 h 1662"/>
              <a:gd name="T6" fmla="*/ 2147483646 w 2135"/>
              <a:gd name="T7" fmla="*/ 2147483646 h 1662"/>
              <a:gd name="T8" fmla="*/ 2147483646 w 2135"/>
              <a:gd name="T9" fmla="*/ 2147483646 h 1662"/>
              <a:gd name="T10" fmla="*/ 2147483646 w 2135"/>
              <a:gd name="T11" fmla="*/ 2147483646 h 1662"/>
              <a:gd name="T12" fmla="*/ 2147483646 w 2135"/>
              <a:gd name="T13" fmla="*/ 2147483646 h 1662"/>
              <a:gd name="T14" fmla="*/ 2147483646 w 2135"/>
              <a:gd name="T15" fmla="*/ 2147483646 h 1662"/>
              <a:gd name="T16" fmla="*/ 2147483646 w 2135"/>
              <a:gd name="T17" fmla="*/ 2147483646 h 1662"/>
              <a:gd name="T18" fmla="*/ 2147483646 w 2135"/>
              <a:gd name="T19" fmla="*/ 2147483646 h 1662"/>
              <a:gd name="T20" fmla="*/ 2147483646 w 2135"/>
              <a:gd name="T21" fmla="*/ 2147483646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Text Box 51"/>
          <p:cNvSpPr txBox="1">
            <a:spLocks noChangeArrowheads="1"/>
          </p:cNvSpPr>
          <p:nvPr/>
        </p:nvSpPr>
        <p:spPr bwMode="auto">
          <a:xfrm>
            <a:off x="4071938" y="518001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Internet</a:t>
            </a:r>
          </a:p>
        </p:txBody>
      </p:sp>
      <p:sp>
        <p:nvSpPr>
          <p:cNvPr id="35850" name="Line 52"/>
          <p:cNvSpPr>
            <a:spLocks noChangeShapeType="1"/>
          </p:cNvSpPr>
          <p:nvPr/>
        </p:nvSpPr>
        <p:spPr bwMode="auto">
          <a:xfrm>
            <a:off x="3392488" y="5591175"/>
            <a:ext cx="2211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Text Box 53"/>
          <p:cNvSpPr txBox="1">
            <a:spLocks noChangeArrowheads="1"/>
          </p:cNvSpPr>
          <p:nvPr/>
        </p:nvSpPr>
        <p:spPr bwMode="auto">
          <a:xfrm>
            <a:off x="7413625" y="481647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controlled</a:t>
            </a:r>
          </a:p>
          <a:p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by OS</a:t>
            </a:r>
          </a:p>
          <a:p>
            <a:endParaRPr lang="en-US" altLang="en-US" sz="16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35852" name="Text Box 56"/>
          <p:cNvSpPr txBox="1">
            <a:spLocks noChangeArrowheads="1"/>
          </p:cNvSpPr>
          <p:nvPr/>
        </p:nvSpPr>
        <p:spPr bwMode="auto">
          <a:xfrm>
            <a:off x="7391400" y="391636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controlled by</a:t>
            </a:r>
          </a:p>
          <a:p>
            <a:pPr>
              <a:lnSpc>
                <a:spcPct val="90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app developer</a:t>
            </a:r>
          </a:p>
        </p:txBody>
      </p:sp>
      <p:sp>
        <p:nvSpPr>
          <p:cNvPr id="35853" name="Freeform 45"/>
          <p:cNvSpPr>
            <a:spLocks/>
          </p:cNvSpPr>
          <p:nvPr/>
        </p:nvSpPr>
        <p:spPr bwMode="auto">
          <a:xfrm>
            <a:off x="1208088" y="3814763"/>
            <a:ext cx="758825" cy="1997075"/>
          </a:xfrm>
          <a:custGeom>
            <a:avLst/>
            <a:gdLst>
              <a:gd name="T0" fmla="*/ 0 w 478"/>
              <a:gd name="T1" fmla="*/ 2147483646 h 1258"/>
              <a:gd name="T2" fmla="*/ 2147483646 w 478"/>
              <a:gd name="T3" fmla="*/ 0 h 1258"/>
              <a:gd name="T4" fmla="*/ 2147483646 w 478"/>
              <a:gd name="T5" fmla="*/ 2147483646 h 1258"/>
              <a:gd name="T6" fmla="*/ 2147483646 w 478"/>
              <a:gd name="T7" fmla="*/ 2147483646 h 1258"/>
              <a:gd name="T8" fmla="*/ 0 w 478"/>
              <a:gd name="T9" fmla="*/ 2147483646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4" name="Rectangle 23"/>
          <p:cNvSpPr>
            <a:spLocks noChangeArrowheads="1"/>
          </p:cNvSpPr>
          <p:nvPr/>
        </p:nvSpPr>
        <p:spPr bwMode="auto">
          <a:xfrm>
            <a:off x="2011363" y="377031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35855" name="Rectangle 24"/>
          <p:cNvSpPr>
            <a:spLocks noChangeArrowheads="1"/>
          </p:cNvSpPr>
          <p:nvPr/>
        </p:nvSpPr>
        <p:spPr bwMode="auto">
          <a:xfrm>
            <a:off x="1973263" y="3824288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35856" name="Line 25"/>
          <p:cNvSpPr>
            <a:spLocks noChangeShapeType="1"/>
          </p:cNvSpPr>
          <p:nvPr/>
        </p:nvSpPr>
        <p:spPr bwMode="auto">
          <a:xfrm>
            <a:off x="1982788" y="45847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Text Box 26"/>
          <p:cNvSpPr txBox="1">
            <a:spLocks noChangeArrowheads="1"/>
          </p:cNvSpPr>
          <p:nvPr/>
        </p:nvSpPr>
        <p:spPr bwMode="auto">
          <a:xfrm>
            <a:off x="1939925" y="45672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transport</a:t>
            </a:r>
          </a:p>
        </p:txBody>
      </p:sp>
      <p:sp>
        <p:nvSpPr>
          <p:cNvPr id="35858" name="Line 27"/>
          <p:cNvSpPr>
            <a:spLocks noChangeShapeType="1"/>
          </p:cNvSpPr>
          <p:nvPr/>
        </p:nvSpPr>
        <p:spPr bwMode="auto">
          <a:xfrm>
            <a:off x="1990725" y="49053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Line 28"/>
          <p:cNvSpPr>
            <a:spLocks noChangeShapeType="1"/>
          </p:cNvSpPr>
          <p:nvPr/>
        </p:nvSpPr>
        <p:spPr bwMode="auto">
          <a:xfrm>
            <a:off x="1976438" y="52149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Line 29"/>
          <p:cNvSpPr>
            <a:spLocks noChangeShapeType="1"/>
          </p:cNvSpPr>
          <p:nvPr/>
        </p:nvSpPr>
        <p:spPr bwMode="auto">
          <a:xfrm>
            <a:off x="1976438" y="550068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Text Box 26"/>
          <p:cNvSpPr txBox="1">
            <a:spLocks noChangeArrowheads="1"/>
          </p:cNvSpPr>
          <p:nvPr/>
        </p:nvSpPr>
        <p:spPr bwMode="auto">
          <a:xfrm>
            <a:off x="1974850" y="38147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latin typeface="Tahoma" pitchFamily="34" charset="0"/>
              </a:rPr>
              <a:t>application</a:t>
            </a:r>
          </a:p>
        </p:txBody>
      </p:sp>
      <p:sp>
        <p:nvSpPr>
          <p:cNvPr id="35862" name="Text Box 26"/>
          <p:cNvSpPr txBox="1">
            <a:spLocks noChangeArrowheads="1"/>
          </p:cNvSpPr>
          <p:nvPr/>
        </p:nvSpPr>
        <p:spPr bwMode="auto">
          <a:xfrm>
            <a:off x="1930400" y="54721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physical</a:t>
            </a:r>
          </a:p>
        </p:txBody>
      </p:sp>
      <p:sp>
        <p:nvSpPr>
          <p:cNvPr id="35863" name="Text Box 26"/>
          <p:cNvSpPr txBox="1">
            <a:spLocks noChangeArrowheads="1"/>
          </p:cNvSpPr>
          <p:nvPr/>
        </p:nvSpPr>
        <p:spPr bwMode="auto">
          <a:xfrm>
            <a:off x="1949450" y="51863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link</a:t>
            </a:r>
          </a:p>
        </p:txBody>
      </p:sp>
      <p:sp>
        <p:nvSpPr>
          <p:cNvPr id="35864" name="Text Box 26"/>
          <p:cNvSpPr txBox="1">
            <a:spLocks noChangeArrowheads="1"/>
          </p:cNvSpPr>
          <p:nvPr/>
        </p:nvSpPr>
        <p:spPr bwMode="auto">
          <a:xfrm>
            <a:off x="1939925" y="48910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network</a:t>
            </a:r>
          </a:p>
        </p:txBody>
      </p:sp>
      <p:sp>
        <p:nvSpPr>
          <p:cNvPr id="35865" name="Oval 57"/>
          <p:cNvSpPr>
            <a:spLocks noChangeArrowheads="1"/>
          </p:cNvSpPr>
          <p:nvPr/>
        </p:nvSpPr>
        <p:spPr bwMode="auto">
          <a:xfrm>
            <a:off x="2108200" y="408940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600"/>
              <a:t>process</a:t>
            </a:r>
          </a:p>
        </p:txBody>
      </p:sp>
      <p:grpSp>
        <p:nvGrpSpPr>
          <p:cNvPr id="35866" name="Group 58"/>
          <p:cNvGrpSpPr>
            <a:grpSpLocks/>
          </p:cNvGrpSpPr>
          <p:nvPr/>
        </p:nvGrpSpPr>
        <p:grpSpPr bwMode="auto">
          <a:xfrm>
            <a:off x="2355850" y="4449763"/>
            <a:ext cx="546100" cy="225425"/>
            <a:chOff x="1287" y="2524"/>
            <a:chExt cx="260" cy="100"/>
          </a:xfrm>
        </p:grpSpPr>
        <p:sp>
          <p:nvSpPr>
            <p:cNvPr id="35896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7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8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9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sp>
        <p:nvSpPr>
          <p:cNvPr id="35867" name="Rectangle 23"/>
          <p:cNvSpPr>
            <a:spLocks noChangeArrowheads="1"/>
          </p:cNvSpPr>
          <p:nvPr/>
        </p:nvSpPr>
        <p:spPr bwMode="auto">
          <a:xfrm>
            <a:off x="5673725" y="374173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35868" name="Rectangle 24"/>
          <p:cNvSpPr>
            <a:spLocks noChangeArrowheads="1"/>
          </p:cNvSpPr>
          <p:nvPr/>
        </p:nvSpPr>
        <p:spPr bwMode="auto">
          <a:xfrm>
            <a:off x="5635625" y="3795713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35869" name="Line 25"/>
          <p:cNvSpPr>
            <a:spLocks noChangeShapeType="1"/>
          </p:cNvSpPr>
          <p:nvPr/>
        </p:nvSpPr>
        <p:spPr bwMode="auto">
          <a:xfrm>
            <a:off x="5645150" y="45561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Text Box 26"/>
          <p:cNvSpPr txBox="1">
            <a:spLocks noChangeArrowheads="1"/>
          </p:cNvSpPr>
          <p:nvPr/>
        </p:nvSpPr>
        <p:spPr bwMode="auto">
          <a:xfrm>
            <a:off x="5602288" y="45386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transport</a:t>
            </a:r>
          </a:p>
        </p:txBody>
      </p:sp>
      <p:sp>
        <p:nvSpPr>
          <p:cNvPr id="35871" name="Line 27"/>
          <p:cNvSpPr>
            <a:spLocks noChangeShapeType="1"/>
          </p:cNvSpPr>
          <p:nvPr/>
        </p:nvSpPr>
        <p:spPr bwMode="auto">
          <a:xfrm>
            <a:off x="5653088" y="48768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Line 28"/>
          <p:cNvSpPr>
            <a:spLocks noChangeShapeType="1"/>
          </p:cNvSpPr>
          <p:nvPr/>
        </p:nvSpPr>
        <p:spPr bwMode="auto">
          <a:xfrm>
            <a:off x="5638800" y="51863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Line 29"/>
          <p:cNvSpPr>
            <a:spLocks noChangeShapeType="1"/>
          </p:cNvSpPr>
          <p:nvPr/>
        </p:nvSpPr>
        <p:spPr bwMode="auto">
          <a:xfrm>
            <a:off x="5638800" y="54721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Text Box 26"/>
          <p:cNvSpPr txBox="1">
            <a:spLocks noChangeArrowheads="1"/>
          </p:cNvSpPr>
          <p:nvPr/>
        </p:nvSpPr>
        <p:spPr bwMode="auto">
          <a:xfrm>
            <a:off x="5637213" y="37861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latin typeface="Tahoma" pitchFamily="34" charset="0"/>
              </a:rPr>
              <a:t>application</a:t>
            </a:r>
          </a:p>
        </p:txBody>
      </p:sp>
      <p:sp>
        <p:nvSpPr>
          <p:cNvPr id="35875" name="Text Box 26"/>
          <p:cNvSpPr txBox="1">
            <a:spLocks noChangeArrowheads="1"/>
          </p:cNvSpPr>
          <p:nvPr/>
        </p:nvSpPr>
        <p:spPr bwMode="auto">
          <a:xfrm>
            <a:off x="5592763" y="54435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physical</a:t>
            </a:r>
          </a:p>
        </p:txBody>
      </p:sp>
      <p:sp>
        <p:nvSpPr>
          <p:cNvPr id="35876" name="Text Box 26"/>
          <p:cNvSpPr txBox="1">
            <a:spLocks noChangeArrowheads="1"/>
          </p:cNvSpPr>
          <p:nvPr/>
        </p:nvSpPr>
        <p:spPr bwMode="auto">
          <a:xfrm>
            <a:off x="5611813" y="51577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link</a:t>
            </a:r>
          </a:p>
        </p:txBody>
      </p:sp>
      <p:sp>
        <p:nvSpPr>
          <p:cNvPr id="35877" name="Text Box 26"/>
          <p:cNvSpPr txBox="1">
            <a:spLocks noChangeArrowheads="1"/>
          </p:cNvSpPr>
          <p:nvPr/>
        </p:nvSpPr>
        <p:spPr bwMode="auto">
          <a:xfrm>
            <a:off x="5602288" y="48625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400">
                <a:solidFill>
                  <a:srgbClr val="969696"/>
                </a:solidFill>
                <a:latin typeface="Tahoma" pitchFamily="34" charset="0"/>
              </a:rPr>
              <a:t>network</a:t>
            </a:r>
          </a:p>
        </p:txBody>
      </p:sp>
      <p:sp>
        <p:nvSpPr>
          <p:cNvPr id="35878" name="Oval 78"/>
          <p:cNvSpPr>
            <a:spLocks noChangeArrowheads="1"/>
          </p:cNvSpPr>
          <p:nvPr/>
        </p:nvSpPr>
        <p:spPr bwMode="auto">
          <a:xfrm>
            <a:off x="5770563" y="406082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600"/>
              <a:t>process</a:t>
            </a:r>
          </a:p>
        </p:txBody>
      </p:sp>
      <p:grpSp>
        <p:nvGrpSpPr>
          <p:cNvPr id="35879" name="Group 79"/>
          <p:cNvGrpSpPr>
            <a:grpSpLocks/>
          </p:cNvGrpSpPr>
          <p:nvPr/>
        </p:nvGrpSpPr>
        <p:grpSpPr bwMode="auto">
          <a:xfrm>
            <a:off x="6018213" y="4421188"/>
            <a:ext cx="546100" cy="225425"/>
            <a:chOff x="1287" y="2524"/>
            <a:chExt cx="260" cy="100"/>
          </a:xfrm>
        </p:grpSpPr>
        <p:sp>
          <p:nvSpPr>
            <p:cNvPr id="35892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3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4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35895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sp>
        <p:nvSpPr>
          <p:cNvPr id="35880" name="Line 88"/>
          <p:cNvSpPr>
            <a:spLocks noChangeShapeType="1"/>
          </p:cNvSpPr>
          <p:nvPr/>
        </p:nvSpPr>
        <p:spPr bwMode="auto">
          <a:xfrm flipH="1">
            <a:off x="6827838" y="419258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1" name="Line 89"/>
          <p:cNvSpPr>
            <a:spLocks noChangeShapeType="1"/>
          </p:cNvSpPr>
          <p:nvPr/>
        </p:nvSpPr>
        <p:spPr bwMode="auto">
          <a:xfrm>
            <a:off x="7053263" y="461803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2" name="Line 90"/>
          <p:cNvSpPr>
            <a:spLocks noChangeShapeType="1"/>
          </p:cNvSpPr>
          <p:nvPr/>
        </p:nvSpPr>
        <p:spPr bwMode="auto">
          <a:xfrm flipH="1">
            <a:off x="7077075" y="511810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3" name="Text Box 56"/>
          <p:cNvSpPr txBox="1">
            <a:spLocks noChangeArrowheads="1"/>
          </p:cNvSpPr>
          <p:nvPr/>
        </p:nvSpPr>
        <p:spPr bwMode="auto">
          <a:xfrm>
            <a:off x="3990975" y="3873500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i="1">
                <a:solidFill>
                  <a:srgbClr val="CC0000"/>
                </a:solidFill>
                <a:latin typeface="Arial" charset="0"/>
              </a:rPr>
              <a:t>socket</a:t>
            </a:r>
          </a:p>
        </p:txBody>
      </p:sp>
      <p:sp>
        <p:nvSpPr>
          <p:cNvPr id="35884" name="Line 92"/>
          <p:cNvSpPr>
            <a:spLocks noChangeShapeType="1"/>
          </p:cNvSpPr>
          <p:nvPr/>
        </p:nvSpPr>
        <p:spPr bwMode="auto">
          <a:xfrm flipV="1">
            <a:off x="2994025" y="4073525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5" name="Line 93"/>
          <p:cNvSpPr>
            <a:spLocks noChangeShapeType="1"/>
          </p:cNvSpPr>
          <p:nvPr/>
        </p:nvSpPr>
        <p:spPr bwMode="auto">
          <a:xfrm flipH="1" flipV="1">
            <a:off x="4929188" y="4062413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86" name="Group 96"/>
          <p:cNvGrpSpPr>
            <a:grpSpLocks/>
          </p:cNvGrpSpPr>
          <p:nvPr/>
        </p:nvGrpSpPr>
        <p:grpSpPr bwMode="auto">
          <a:xfrm>
            <a:off x="784225" y="5127625"/>
            <a:ext cx="719138" cy="773113"/>
            <a:chOff x="-44" y="1473"/>
            <a:chExt cx="981" cy="1105"/>
          </a:xfrm>
        </p:grpSpPr>
        <p:pic>
          <p:nvPicPr>
            <p:cNvPr id="35890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91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5887" name="Group 99"/>
          <p:cNvGrpSpPr>
            <a:grpSpLocks/>
          </p:cNvGrpSpPr>
          <p:nvPr/>
        </p:nvGrpSpPr>
        <p:grpSpPr bwMode="auto">
          <a:xfrm flipH="1">
            <a:off x="7480300" y="5322888"/>
            <a:ext cx="719138" cy="773112"/>
            <a:chOff x="-44" y="1473"/>
            <a:chExt cx="981" cy="1105"/>
          </a:xfrm>
        </p:grpSpPr>
        <p:pic>
          <p:nvPicPr>
            <p:cNvPr id="35888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89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3789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C506D0F9-17B9-4192-8A2D-0DF2F141620A}" type="slidenum">
              <a:rPr lang="en-US" altLang="en-US" sz="1200">
                <a:latin typeface="Tahoma" pitchFamily="34" charset="0"/>
              </a:rPr>
              <a:pPr/>
              <a:t>11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37892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871538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273050" y="238125"/>
            <a:ext cx="7772400" cy="871538"/>
          </a:xfrm>
        </p:spPr>
        <p:txBody>
          <a:bodyPr/>
          <a:lstStyle/>
          <a:p>
            <a:r>
              <a:rPr lang="en-US" altLang="en-US" sz="3600" smtClean="0"/>
              <a:t>Addressing processes</a:t>
            </a:r>
            <a:endParaRPr lang="en-US" altLang="en-US" smtClean="0"/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98475" y="1365250"/>
            <a:ext cx="4021138" cy="4648200"/>
          </a:xfrm>
        </p:spPr>
        <p:txBody>
          <a:bodyPr/>
          <a:lstStyle/>
          <a:p>
            <a:r>
              <a:rPr lang="en-US" altLang="en-US" sz="2400" smtClean="0"/>
              <a:t>to receive messages, process  must have </a:t>
            </a:r>
            <a:r>
              <a:rPr lang="en-US" altLang="en-US" sz="2400" i="1" smtClean="0">
                <a:solidFill>
                  <a:srgbClr val="CC0000"/>
                </a:solidFill>
              </a:rPr>
              <a:t>identifier</a:t>
            </a:r>
          </a:p>
          <a:p>
            <a:r>
              <a:rPr lang="en-US" altLang="en-US" sz="2400" smtClean="0"/>
              <a:t>host device has unique 32-bit IP address</a:t>
            </a:r>
          </a:p>
          <a:p>
            <a:r>
              <a:rPr lang="en-US" altLang="en-US" sz="2400" i="1" u="sng" smtClean="0">
                <a:solidFill>
                  <a:srgbClr val="CC0000"/>
                </a:solidFill>
              </a:rPr>
              <a:t>Q:</a:t>
            </a:r>
            <a:r>
              <a:rPr lang="en-US" altLang="en-US" sz="2400" smtClean="0"/>
              <a:t> does  IP address of host on which process runs suffice for identifying the process?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719638" y="1357313"/>
            <a:ext cx="4125912" cy="5218112"/>
          </a:xfrm>
          <a:noFill/>
        </p:spPr>
        <p:txBody>
          <a:bodyPr/>
          <a:lstStyle/>
          <a:p>
            <a:r>
              <a:rPr lang="en-US" altLang="en-US" sz="2400" i="1" smtClean="0">
                <a:solidFill>
                  <a:srgbClr val="CC0000"/>
                </a:solidFill>
              </a:rPr>
              <a:t>identifier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/>
              <a:t>includes both </a:t>
            </a:r>
            <a:r>
              <a:rPr lang="en-US" altLang="en-US" sz="2400" smtClean="0">
                <a:solidFill>
                  <a:srgbClr val="CC0000"/>
                </a:solidFill>
              </a:rPr>
              <a:t>IP address</a:t>
            </a:r>
            <a:r>
              <a:rPr lang="en-US" altLang="en-US" sz="2400" smtClean="0"/>
              <a:t> and </a:t>
            </a:r>
            <a:r>
              <a:rPr lang="en-US" altLang="en-US" sz="2400" smtClean="0">
                <a:solidFill>
                  <a:srgbClr val="CC0000"/>
                </a:solidFill>
              </a:rPr>
              <a:t>port numbers</a:t>
            </a:r>
            <a:r>
              <a:rPr lang="en-US" altLang="en-US" sz="2400" smtClean="0"/>
              <a:t> associated with process on host.</a:t>
            </a:r>
          </a:p>
          <a:p>
            <a:r>
              <a:rPr lang="en-US" altLang="en-US" sz="2400" smtClean="0"/>
              <a:t>example port numbers:</a:t>
            </a:r>
          </a:p>
          <a:p>
            <a:pPr lvl="1"/>
            <a:r>
              <a:rPr lang="en-US" altLang="en-US" sz="2000" smtClean="0"/>
              <a:t>HTTP server: 80</a:t>
            </a:r>
          </a:p>
          <a:p>
            <a:pPr lvl="1"/>
            <a:r>
              <a:rPr lang="en-US" altLang="en-US" sz="2000" smtClean="0"/>
              <a:t>mail server: 25</a:t>
            </a:r>
          </a:p>
          <a:p>
            <a:r>
              <a:rPr lang="en-US" altLang="en-US" sz="2400" smtClean="0"/>
              <a:t>to send HTTP message to gaia.cs.umass.edu web server:</a:t>
            </a:r>
          </a:p>
          <a:p>
            <a:pPr lvl="1"/>
            <a:r>
              <a:rPr lang="en-US" altLang="en-US" sz="2000" smtClean="0">
                <a:solidFill>
                  <a:srgbClr val="CC0000"/>
                </a:solidFill>
              </a:rPr>
              <a:t>IP address:</a:t>
            </a:r>
            <a:r>
              <a:rPr lang="en-US" altLang="en-US" sz="2000" smtClean="0">
                <a:solidFill>
                  <a:schemeClr val="accent2"/>
                </a:solidFill>
              </a:rPr>
              <a:t> </a:t>
            </a:r>
            <a:r>
              <a:rPr lang="en-US" altLang="en-US" sz="2000" smtClean="0"/>
              <a:t>128.119.245.12</a:t>
            </a:r>
          </a:p>
          <a:p>
            <a:pPr lvl="1"/>
            <a:r>
              <a:rPr lang="en-US" altLang="en-US" sz="2000" smtClean="0">
                <a:solidFill>
                  <a:srgbClr val="CC0000"/>
                </a:solidFill>
              </a:rPr>
              <a:t>port number:</a:t>
            </a:r>
            <a:r>
              <a:rPr lang="en-US" altLang="en-US" sz="2000" smtClean="0">
                <a:solidFill>
                  <a:schemeClr val="accent2"/>
                </a:solidFill>
              </a:rPr>
              <a:t> </a:t>
            </a:r>
            <a:r>
              <a:rPr lang="en-US" altLang="en-US" sz="2000" smtClean="0"/>
              <a:t>80</a:t>
            </a:r>
          </a:p>
          <a:p>
            <a:r>
              <a:rPr lang="en-US" altLang="en-US" sz="2400" smtClean="0"/>
              <a:t>more shortly…</a:t>
            </a:r>
          </a:p>
        </p:txBody>
      </p:sp>
      <p:sp>
        <p:nvSpPr>
          <p:cNvPr id="43020" name="Rectangle 3"/>
          <p:cNvSpPr>
            <a:spLocks noChangeArrowheads="1"/>
          </p:cNvSpPr>
          <p:nvPr/>
        </p:nvSpPr>
        <p:spPr bwMode="auto">
          <a:xfrm>
            <a:off x="549275" y="4021138"/>
            <a:ext cx="40211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altLang="en-US" sz="2400" i="1" u="sng">
                <a:solidFill>
                  <a:srgbClr val="CC0000"/>
                </a:solidFill>
                <a:latin typeface="Gill Sans MT" pitchFamily="34" charset="0"/>
              </a:rPr>
              <a:t>A:</a:t>
            </a:r>
            <a:r>
              <a:rPr lang="en-US" altLang="en-US" sz="2400">
                <a:latin typeface="Gill Sans MT" pitchFamily="34" charset="0"/>
              </a:rPr>
              <a:t> no, </a:t>
            </a:r>
            <a:r>
              <a:rPr lang="en-US" altLang="en-US" sz="2400" i="1">
                <a:latin typeface="Gill Sans MT" pitchFamily="34" charset="0"/>
              </a:rPr>
              <a:t>many</a:t>
            </a:r>
            <a:r>
              <a:rPr lang="en-US" altLang="en-US" sz="2400">
                <a:latin typeface="Gill Sans MT" pitchFamily="34" charset="0"/>
              </a:rPr>
              <a:t> processes can be running on same host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3993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78652343-10FF-4AB0-B1B7-D8E90A10C905}" type="slidenum">
              <a:rPr lang="en-US" altLang="en-US" sz="1200">
                <a:latin typeface="Tahoma" pitchFamily="34" charset="0"/>
              </a:rPr>
              <a:pPr/>
              <a:t>12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39940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91122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50" y="239713"/>
            <a:ext cx="7772400" cy="860425"/>
          </a:xfrm>
        </p:spPr>
        <p:txBody>
          <a:bodyPr/>
          <a:lstStyle/>
          <a:p>
            <a:r>
              <a:rPr lang="en-US" altLang="en-US" smtClean="0"/>
              <a:t>App-layer protocol defines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393825"/>
            <a:ext cx="3973513" cy="4648200"/>
          </a:xfrm>
        </p:spPr>
        <p:txBody>
          <a:bodyPr/>
          <a:lstStyle/>
          <a:p>
            <a:r>
              <a:rPr lang="en-US" altLang="en-US" sz="2400" smtClean="0">
                <a:solidFill>
                  <a:srgbClr val="CC0000"/>
                </a:solidFill>
              </a:rPr>
              <a:t>types of messages exchanged,</a:t>
            </a:r>
            <a:r>
              <a:rPr lang="en-US" altLang="en-US" sz="2400" smtClean="0"/>
              <a:t> </a:t>
            </a:r>
          </a:p>
          <a:p>
            <a:pPr lvl="1"/>
            <a:r>
              <a:rPr lang="en-US" altLang="en-US" smtClean="0"/>
              <a:t>e.g., request, response </a:t>
            </a:r>
          </a:p>
          <a:p>
            <a:r>
              <a:rPr lang="en-US" altLang="en-US" sz="2400" smtClean="0">
                <a:solidFill>
                  <a:srgbClr val="CC0000"/>
                </a:solidFill>
              </a:rPr>
              <a:t>message syntax:</a:t>
            </a:r>
          </a:p>
          <a:p>
            <a:pPr lvl="1"/>
            <a:r>
              <a:rPr lang="en-US" altLang="en-US" smtClean="0"/>
              <a:t>what fields in messages &amp; how fields are delineated</a:t>
            </a:r>
          </a:p>
          <a:p>
            <a:r>
              <a:rPr lang="en-US" altLang="en-US" sz="2400" smtClean="0">
                <a:solidFill>
                  <a:srgbClr val="CC0000"/>
                </a:solidFill>
              </a:rPr>
              <a:t>message semantics</a:t>
            </a:r>
            <a:r>
              <a:rPr lang="en-US" altLang="en-US" sz="2400" smtClean="0"/>
              <a:t> </a:t>
            </a:r>
          </a:p>
          <a:p>
            <a:pPr lvl="1"/>
            <a:r>
              <a:rPr lang="en-US" altLang="en-US" smtClean="0"/>
              <a:t>meaning of information in fields</a:t>
            </a:r>
          </a:p>
          <a:p>
            <a:r>
              <a:rPr lang="en-US" altLang="en-US" sz="2400" smtClean="0">
                <a:solidFill>
                  <a:srgbClr val="CC0000"/>
                </a:solidFill>
              </a:rPr>
              <a:t>rules</a:t>
            </a:r>
            <a:r>
              <a:rPr lang="en-US" altLang="en-US" sz="2400" smtClean="0"/>
              <a:t> for when and how processes send &amp; respond to messages</a:t>
            </a:r>
          </a:p>
        </p:txBody>
      </p:sp>
      <p:sp>
        <p:nvSpPr>
          <p:cNvPr id="4403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57750" y="14081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FF0000"/>
                </a:solidFill>
              </a:rPr>
              <a:t>open protocols:</a:t>
            </a:r>
          </a:p>
          <a:p>
            <a:r>
              <a:rPr lang="en-US" altLang="en-US" sz="2400" smtClean="0"/>
              <a:t>defined in RFCs</a:t>
            </a:r>
          </a:p>
          <a:p>
            <a:r>
              <a:rPr lang="en-US" altLang="en-US" sz="2400" smtClean="0"/>
              <a:t>allows for interoperability</a:t>
            </a:r>
          </a:p>
          <a:p>
            <a:r>
              <a:rPr lang="en-US" altLang="en-US" sz="2400" smtClean="0"/>
              <a:t>e.g., HTTP,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FF0000"/>
                </a:solidFill>
              </a:rPr>
              <a:t>proprietary protocols:</a:t>
            </a:r>
          </a:p>
          <a:p>
            <a:r>
              <a:rPr lang="en-US" altLang="en-US" sz="2400" smtClean="0"/>
              <a:t>e.g., Skype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14C51045-06CB-497B-81A0-0890644D0CD4}" type="slidenum">
              <a:rPr lang="en-US" altLang="en-US" sz="1200">
                <a:latin typeface="Tahoma" pitchFamily="34" charset="0"/>
              </a:rPr>
              <a:pPr/>
              <a:t>13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-11113"/>
            <a:ext cx="8305800" cy="1143001"/>
          </a:xfrm>
        </p:spPr>
        <p:txBody>
          <a:bodyPr/>
          <a:lstStyle/>
          <a:p>
            <a:r>
              <a:rPr lang="en-US" altLang="en-US" sz="3600" smtClean="0"/>
              <a:t>What transport service does an app need?</a:t>
            </a:r>
            <a:endParaRPr lang="en-US" altLang="en-US" smtClean="0"/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9413" y="1141413"/>
            <a:ext cx="4316412" cy="27971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data integrity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some apps (e.g., file transfer, web transactions) require 100% reliable data transfer</a:t>
            </a:r>
            <a:r>
              <a:rPr lang="en-US" altLang="en-US" smtClean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other apps (e.g., audio) can tolerate some loss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</p:txBody>
      </p:sp>
      <p:sp>
        <p:nvSpPr>
          <p:cNvPr id="450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04813" y="3724275"/>
            <a:ext cx="3810000" cy="24431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timing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some apps (e.g., Internet telephony, interactive games) require low delay to be </a:t>
            </a:r>
            <a:r>
              <a:rPr lang="ja-JP" altLang="en-US" sz="2400" smtClean="0"/>
              <a:t>“</a:t>
            </a:r>
            <a:r>
              <a:rPr lang="en-US" altLang="ja-JP" sz="2400" smtClean="0"/>
              <a:t>effective</a:t>
            </a:r>
            <a:r>
              <a:rPr lang="ja-JP" altLang="en-US" sz="2400" smtClean="0"/>
              <a:t>”</a:t>
            </a:r>
            <a:endParaRPr lang="en-US" altLang="en-US" sz="2400" smtClean="0"/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4905375" y="1101725"/>
            <a:ext cx="3935413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CC0000"/>
                </a:solidFill>
                <a:latin typeface="Gill Sans MT" pitchFamily="34" charset="0"/>
              </a:rPr>
              <a:t>throughput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some apps (e.g., multimedia) require minimum amount of throughput to be </a:t>
            </a:r>
            <a:r>
              <a:rPr lang="ja-JP" altLang="en-US" sz="2400">
                <a:latin typeface="Gill Sans MT" pitchFamily="34" charset="0"/>
              </a:rPr>
              <a:t>“</a:t>
            </a:r>
            <a:r>
              <a:rPr lang="en-US" altLang="ja-JP" sz="2400">
                <a:latin typeface="Gill Sans MT" pitchFamily="34" charset="0"/>
              </a:rPr>
              <a:t>effective</a:t>
            </a:r>
            <a:r>
              <a:rPr lang="ja-JP" altLang="en-US" sz="2400">
                <a:latin typeface="Gill Sans MT" pitchFamily="34" charset="0"/>
              </a:rPr>
              <a:t>”</a:t>
            </a:r>
            <a:endParaRPr lang="en-US" altLang="ja-JP" sz="2400">
              <a:latin typeface="Gill Sans MT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other apps (</a:t>
            </a:r>
            <a:r>
              <a:rPr lang="ja-JP" altLang="en-US" sz="2400">
                <a:latin typeface="Gill Sans MT" pitchFamily="34" charset="0"/>
              </a:rPr>
              <a:t>“</a:t>
            </a:r>
            <a:r>
              <a:rPr lang="en-US" altLang="ja-JP" sz="2400">
                <a:latin typeface="Gill Sans MT" pitchFamily="34" charset="0"/>
              </a:rPr>
              <a:t>elastic apps</a:t>
            </a:r>
            <a:r>
              <a:rPr lang="ja-JP" altLang="en-US" sz="2400">
                <a:latin typeface="Gill Sans MT" pitchFamily="34" charset="0"/>
              </a:rPr>
              <a:t>”</a:t>
            </a:r>
            <a:r>
              <a:rPr lang="en-US" altLang="ja-JP" sz="2400">
                <a:latin typeface="Gill Sans MT" pitchFamily="34" charset="0"/>
              </a:rPr>
              <a:t>) make use of whatever throughput they get </a:t>
            </a:r>
            <a:endParaRPr lang="en-US" altLang="en-US" sz="2400">
              <a:latin typeface="Gill Sans MT" pitchFamily="34" charset="0"/>
            </a:endParaRPr>
          </a:p>
        </p:txBody>
      </p:sp>
      <p:pic>
        <p:nvPicPr>
          <p:cNvPr id="41992" name="Picture 13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763588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70" name="Rectangle 5"/>
          <p:cNvSpPr>
            <a:spLocks noChangeArrowheads="1"/>
          </p:cNvSpPr>
          <p:nvPr/>
        </p:nvSpPr>
        <p:spPr bwMode="auto">
          <a:xfrm>
            <a:off x="4959350" y="4554538"/>
            <a:ext cx="393541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CC0000"/>
                </a:solidFill>
                <a:latin typeface="Gill Sans MT" pitchFamily="34" charset="0"/>
              </a:rPr>
              <a:t>security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encryption, data integrity,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4403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4F9FF589-1E97-461A-A71E-AEC43785DC6F}" type="slidenum">
              <a:rPr lang="en-US" altLang="en-US" sz="1200">
                <a:latin typeface="Tahoma" pitchFamily="34" charset="0"/>
              </a:rPr>
              <a:pPr/>
              <a:t>14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44036" name="Picture 2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8064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315913" y="227013"/>
            <a:ext cx="8201025" cy="815975"/>
          </a:xfrm>
        </p:spPr>
        <p:txBody>
          <a:bodyPr/>
          <a:lstStyle/>
          <a:p>
            <a:r>
              <a:rPr lang="en-US" altLang="en-US" sz="3200" smtClean="0"/>
              <a:t>Transport service requirements: common apps</a:t>
            </a:r>
            <a:endParaRPr lang="en-US" altLang="en-US" smtClean="0"/>
          </a:p>
        </p:txBody>
      </p:sp>
      <p:sp>
        <p:nvSpPr>
          <p:cNvPr id="44038" name="Text Box 3"/>
          <p:cNvSpPr txBox="1">
            <a:spLocks noChangeArrowheads="1"/>
          </p:cNvSpPr>
          <p:nvPr/>
        </p:nvSpPr>
        <p:spPr bwMode="auto">
          <a:xfrm>
            <a:off x="171450" y="1749425"/>
            <a:ext cx="2541588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r"/>
            <a:r>
              <a:rPr lang="en-US" altLang="en-US" sz="2000" b="1">
                <a:latin typeface="Arial" charset="0"/>
              </a:rPr>
              <a:t>application</a:t>
            </a:r>
            <a:endParaRPr lang="en-US" altLang="en-US" sz="2000">
              <a:latin typeface="Arial" charset="0"/>
            </a:endParaRPr>
          </a:p>
          <a:p>
            <a:pPr algn="r"/>
            <a:endParaRPr lang="en-US" altLang="en-US" sz="2000">
              <a:latin typeface="Arial" charset="0"/>
            </a:endParaRPr>
          </a:p>
          <a:p>
            <a:pPr algn="r"/>
            <a:r>
              <a:rPr lang="en-US" altLang="en-US" sz="2000">
                <a:latin typeface="Arial" charset="0"/>
              </a:rPr>
              <a:t>file transfer</a:t>
            </a:r>
          </a:p>
          <a:p>
            <a:pPr algn="r"/>
            <a:r>
              <a:rPr lang="en-US" altLang="en-US" sz="2000">
                <a:latin typeface="Arial" charset="0"/>
              </a:rPr>
              <a:t>e-mail</a:t>
            </a:r>
          </a:p>
          <a:p>
            <a:pPr algn="r"/>
            <a:r>
              <a:rPr lang="en-US" altLang="en-US" sz="2000">
                <a:latin typeface="Arial" charset="0"/>
              </a:rPr>
              <a:t>Web documents</a:t>
            </a:r>
          </a:p>
          <a:p>
            <a:pPr algn="r"/>
            <a:r>
              <a:rPr lang="en-US" altLang="en-US" sz="2000">
                <a:latin typeface="Arial" charset="0"/>
              </a:rPr>
              <a:t>real-time audio/video</a:t>
            </a:r>
          </a:p>
          <a:p>
            <a:pPr algn="r"/>
            <a:endParaRPr lang="en-US" altLang="en-US" sz="2000">
              <a:latin typeface="Arial" charset="0"/>
            </a:endParaRPr>
          </a:p>
          <a:p>
            <a:pPr algn="r"/>
            <a:r>
              <a:rPr lang="en-US" altLang="en-US" sz="2000">
                <a:latin typeface="Arial" charset="0"/>
              </a:rPr>
              <a:t>stored audio/video</a:t>
            </a:r>
          </a:p>
          <a:p>
            <a:pPr algn="r"/>
            <a:r>
              <a:rPr lang="en-US" altLang="en-US" sz="2000">
                <a:latin typeface="Arial" charset="0"/>
              </a:rPr>
              <a:t>interactive games</a:t>
            </a:r>
          </a:p>
          <a:p>
            <a:pPr algn="r"/>
            <a:r>
              <a:rPr lang="en-US" altLang="en-US" sz="2000">
                <a:latin typeface="Arial" charset="0"/>
              </a:rPr>
              <a:t>text messaging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44039" name="Text Box 4"/>
          <p:cNvSpPr txBox="1">
            <a:spLocks noChangeArrowheads="1"/>
          </p:cNvSpPr>
          <p:nvPr/>
        </p:nvSpPr>
        <p:spPr bwMode="auto">
          <a:xfrm>
            <a:off x="2816225" y="1752600"/>
            <a:ext cx="156686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 b="1">
                <a:latin typeface="Arial" charset="0"/>
              </a:rPr>
              <a:t>data loss</a:t>
            </a:r>
            <a:endParaRPr lang="en-US" altLang="en-US" sz="2000">
              <a:latin typeface="Arial" charset="0"/>
            </a:endParaRP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no loss</a:t>
            </a:r>
          </a:p>
          <a:p>
            <a:r>
              <a:rPr lang="en-US" altLang="en-US" sz="2000">
                <a:latin typeface="Arial" charset="0"/>
              </a:rPr>
              <a:t>no loss</a:t>
            </a:r>
          </a:p>
          <a:p>
            <a:r>
              <a:rPr lang="en-US" altLang="en-US" sz="2000">
                <a:latin typeface="Arial" charset="0"/>
              </a:rPr>
              <a:t>no loss</a:t>
            </a:r>
          </a:p>
          <a:p>
            <a:r>
              <a:rPr lang="en-US" altLang="en-US" sz="2000">
                <a:latin typeface="Arial" charset="0"/>
              </a:rPr>
              <a:t>loss-tolerant</a:t>
            </a: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loss-tolerant</a:t>
            </a:r>
          </a:p>
          <a:p>
            <a:r>
              <a:rPr lang="en-US" altLang="en-US" sz="2000">
                <a:latin typeface="Arial" charset="0"/>
              </a:rPr>
              <a:t>loss-tolerant</a:t>
            </a:r>
          </a:p>
          <a:p>
            <a:r>
              <a:rPr lang="en-US" altLang="en-US" sz="2000">
                <a:latin typeface="Arial" charset="0"/>
              </a:rPr>
              <a:t>no loss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44040" name="Text Box 5"/>
          <p:cNvSpPr txBox="1">
            <a:spLocks noChangeArrowheads="1"/>
          </p:cNvSpPr>
          <p:nvPr/>
        </p:nvSpPr>
        <p:spPr bwMode="auto">
          <a:xfrm>
            <a:off x="4535488" y="1751013"/>
            <a:ext cx="25749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 b="1">
                <a:latin typeface="Arial" charset="0"/>
              </a:rPr>
              <a:t>throughput</a:t>
            </a: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elastic</a:t>
            </a:r>
          </a:p>
          <a:p>
            <a:r>
              <a:rPr lang="en-US" altLang="en-US" sz="2000">
                <a:latin typeface="Arial" charset="0"/>
              </a:rPr>
              <a:t>elastic</a:t>
            </a:r>
          </a:p>
          <a:p>
            <a:r>
              <a:rPr lang="en-US" altLang="en-US" sz="2000">
                <a:latin typeface="Arial" charset="0"/>
              </a:rPr>
              <a:t>elastic</a:t>
            </a:r>
          </a:p>
          <a:p>
            <a:r>
              <a:rPr lang="en-US" altLang="en-US" sz="2000">
                <a:latin typeface="Arial" charset="0"/>
              </a:rPr>
              <a:t>audio: 5kbps-1Mbps</a:t>
            </a:r>
          </a:p>
          <a:p>
            <a:r>
              <a:rPr lang="en-US" altLang="en-US" sz="2000">
                <a:latin typeface="Arial" charset="0"/>
              </a:rPr>
              <a:t>video:10kbps-5Mbps</a:t>
            </a:r>
          </a:p>
          <a:p>
            <a:r>
              <a:rPr lang="en-US" altLang="en-US" sz="2000">
                <a:latin typeface="Arial" charset="0"/>
              </a:rPr>
              <a:t>same as above </a:t>
            </a:r>
          </a:p>
          <a:p>
            <a:r>
              <a:rPr lang="en-US" altLang="en-US" sz="2000">
                <a:latin typeface="Arial" charset="0"/>
              </a:rPr>
              <a:t>few kbps up</a:t>
            </a:r>
          </a:p>
          <a:p>
            <a:r>
              <a:rPr lang="en-US" altLang="en-US" sz="2000">
                <a:latin typeface="Arial" charset="0"/>
              </a:rPr>
              <a:t>elastic</a:t>
            </a:r>
          </a:p>
        </p:txBody>
      </p:sp>
      <p:sp>
        <p:nvSpPr>
          <p:cNvPr id="44041" name="Text Box 6"/>
          <p:cNvSpPr txBox="1">
            <a:spLocks noChangeArrowheads="1"/>
          </p:cNvSpPr>
          <p:nvPr/>
        </p:nvSpPr>
        <p:spPr bwMode="auto">
          <a:xfrm>
            <a:off x="6935788" y="1752600"/>
            <a:ext cx="206216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 b="1">
                <a:latin typeface="Arial" charset="0"/>
              </a:rPr>
              <a:t>time sensitive</a:t>
            </a:r>
            <a:endParaRPr lang="en-US" altLang="en-US" sz="2000">
              <a:latin typeface="Arial" charset="0"/>
            </a:endParaRP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no</a:t>
            </a:r>
          </a:p>
          <a:p>
            <a:r>
              <a:rPr lang="en-US" altLang="en-US" sz="2000">
                <a:latin typeface="Arial" charset="0"/>
              </a:rPr>
              <a:t>no</a:t>
            </a:r>
          </a:p>
          <a:p>
            <a:r>
              <a:rPr lang="en-US" altLang="en-US" sz="2000">
                <a:latin typeface="Arial" charset="0"/>
              </a:rPr>
              <a:t>no</a:t>
            </a:r>
          </a:p>
          <a:p>
            <a:r>
              <a:rPr lang="en-US" altLang="en-US" sz="2000">
                <a:latin typeface="Arial" charset="0"/>
              </a:rPr>
              <a:t>yes, 100</a:t>
            </a:r>
            <a:r>
              <a:rPr lang="ja-JP" altLang="en-US" sz="2000">
                <a:latin typeface="Arial" charset="0"/>
              </a:rPr>
              <a:t>’</a:t>
            </a:r>
            <a:r>
              <a:rPr lang="en-US" altLang="ja-JP" sz="2000">
                <a:latin typeface="Arial" charset="0"/>
              </a:rPr>
              <a:t>s msec</a:t>
            </a: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yes, few secs</a:t>
            </a:r>
          </a:p>
          <a:p>
            <a:r>
              <a:rPr lang="en-US" altLang="en-US" sz="2000">
                <a:latin typeface="Arial" charset="0"/>
              </a:rPr>
              <a:t>yes, 100</a:t>
            </a:r>
            <a:r>
              <a:rPr lang="ja-JP" altLang="en-US" sz="2000">
                <a:latin typeface="Arial" charset="0"/>
              </a:rPr>
              <a:t>’</a:t>
            </a:r>
            <a:r>
              <a:rPr lang="en-US" altLang="ja-JP" sz="2000">
                <a:latin typeface="Arial" charset="0"/>
              </a:rPr>
              <a:t>s msec</a:t>
            </a:r>
          </a:p>
          <a:p>
            <a:r>
              <a:rPr lang="en-US" altLang="en-US" sz="2000">
                <a:latin typeface="Arial" charset="0"/>
              </a:rPr>
              <a:t>yes and no</a:t>
            </a:r>
          </a:p>
        </p:txBody>
      </p:sp>
      <p:sp>
        <p:nvSpPr>
          <p:cNvPr id="44042" name="Line 7"/>
          <p:cNvSpPr>
            <a:spLocks noChangeShapeType="1"/>
          </p:cNvSpPr>
          <p:nvPr/>
        </p:nvSpPr>
        <p:spPr bwMode="auto">
          <a:xfrm flipV="1">
            <a:off x="884238" y="2133600"/>
            <a:ext cx="7562850" cy="95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Line 8"/>
          <p:cNvSpPr>
            <a:spLocks noChangeShapeType="1"/>
          </p:cNvSpPr>
          <p:nvPr/>
        </p:nvSpPr>
        <p:spPr bwMode="auto">
          <a:xfrm flipV="1">
            <a:off x="847725" y="273367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Line 9"/>
          <p:cNvSpPr>
            <a:spLocks noChangeShapeType="1"/>
          </p:cNvSpPr>
          <p:nvPr/>
        </p:nvSpPr>
        <p:spPr bwMode="auto">
          <a:xfrm flipV="1">
            <a:off x="857250" y="30289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10"/>
          <p:cNvSpPr>
            <a:spLocks noChangeShapeType="1"/>
          </p:cNvSpPr>
          <p:nvPr/>
        </p:nvSpPr>
        <p:spPr bwMode="auto">
          <a:xfrm flipV="1">
            <a:off x="866775" y="332422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Line 11"/>
          <p:cNvSpPr>
            <a:spLocks noChangeShapeType="1"/>
          </p:cNvSpPr>
          <p:nvPr/>
        </p:nvSpPr>
        <p:spPr bwMode="auto">
          <a:xfrm flipV="1">
            <a:off x="885825" y="393382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7" name="Line 12"/>
          <p:cNvSpPr>
            <a:spLocks noChangeShapeType="1"/>
          </p:cNvSpPr>
          <p:nvPr/>
        </p:nvSpPr>
        <p:spPr bwMode="auto">
          <a:xfrm flipV="1">
            <a:off x="838200" y="42481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8" name="Line 13"/>
          <p:cNvSpPr>
            <a:spLocks noChangeShapeType="1"/>
          </p:cNvSpPr>
          <p:nvPr/>
        </p:nvSpPr>
        <p:spPr bwMode="auto">
          <a:xfrm flipV="1">
            <a:off x="838200" y="457200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9" name="Line 14"/>
          <p:cNvSpPr>
            <a:spLocks noChangeShapeType="1"/>
          </p:cNvSpPr>
          <p:nvPr/>
        </p:nvSpPr>
        <p:spPr bwMode="auto">
          <a:xfrm flipV="1">
            <a:off x="800100" y="48831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4608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FFBA20F2-F736-4875-81DD-BC73A1885CBB}" type="slidenum">
              <a:rPr lang="en-US" altLang="en-US" sz="1200">
                <a:latin typeface="Tahoma" pitchFamily="34" charset="0"/>
              </a:rPr>
              <a:pPr/>
              <a:t>15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344488" y="268288"/>
            <a:ext cx="7772400" cy="858837"/>
          </a:xfrm>
        </p:spPr>
        <p:txBody>
          <a:bodyPr/>
          <a:lstStyle/>
          <a:p>
            <a:r>
              <a:rPr lang="en-US" altLang="en-US" sz="3600" smtClean="0"/>
              <a:t>Internet transport protocols services</a:t>
            </a:r>
            <a:endParaRPr lang="en-US" altLang="en-US" smtClean="0"/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33525"/>
            <a:ext cx="4095750" cy="46482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TCP service:</a:t>
            </a:r>
          </a:p>
          <a:p>
            <a:pPr>
              <a:lnSpc>
                <a:spcPct val="75000"/>
              </a:lnSpc>
            </a:pPr>
            <a:r>
              <a:rPr lang="en-US" altLang="en-US" sz="2400" i="1" smtClean="0">
                <a:solidFill>
                  <a:srgbClr val="CC0000"/>
                </a:solidFill>
              </a:rPr>
              <a:t>reliable transport</a:t>
            </a:r>
            <a:r>
              <a:rPr lang="en-US" altLang="en-US" sz="2400" i="1" smtClean="0">
                <a:solidFill>
                  <a:schemeClr val="accent2"/>
                </a:solidFill>
              </a:rPr>
              <a:t> </a:t>
            </a:r>
            <a:r>
              <a:rPr lang="en-US" altLang="en-US" sz="2400" smtClean="0"/>
              <a:t>between sending and receiving process</a:t>
            </a:r>
            <a:endParaRPr lang="en-US" altLang="en-US" sz="2400" smtClean="0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en-US" sz="2400" i="1" smtClean="0">
                <a:solidFill>
                  <a:srgbClr val="CC0000"/>
                </a:solidFill>
              </a:rPr>
              <a:t>flow control:</a:t>
            </a:r>
            <a:r>
              <a:rPr lang="en-US" altLang="en-US" sz="2400" smtClean="0"/>
              <a:t> sender won</a:t>
            </a:r>
            <a:r>
              <a:rPr lang="ja-JP" altLang="en-US" sz="2400" smtClean="0"/>
              <a:t>’</a:t>
            </a:r>
            <a:r>
              <a:rPr lang="en-US" altLang="ja-JP" sz="2400" smtClean="0"/>
              <a:t>t overwhelm receiver </a:t>
            </a:r>
          </a:p>
          <a:p>
            <a:pPr>
              <a:lnSpc>
                <a:spcPct val="75000"/>
              </a:lnSpc>
            </a:pPr>
            <a:r>
              <a:rPr lang="en-US" altLang="en-US" sz="2400" i="1" smtClean="0">
                <a:solidFill>
                  <a:srgbClr val="CC0000"/>
                </a:solidFill>
              </a:rPr>
              <a:t>congestion control:</a:t>
            </a:r>
            <a:r>
              <a:rPr lang="en-US" altLang="en-US" sz="2400" smtClean="0"/>
              <a:t> throttle sender when network overloaded</a:t>
            </a:r>
          </a:p>
          <a:p>
            <a:pPr>
              <a:lnSpc>
                <a:spcPct val="75000"/>
              </a:lnSpc>
            </a:pPr>
            <a:r>
              <a:rPr lang="en-US" altLang="en-US" sz="2400" i="1" smtClean="0">
                <a:solidFill>
                  <a:srgbClr val="CC0000"/>
                </a:solidFill>
              </a:rPr>
              <a:t>does not provide:</a:t>
            </a:r>
            <a:r>
              <a:rPr lang="en-US" altLang="en-US" sz="2400" smtClean="0"/>
              <a:t> timing, minimum throughput guarantee, security</a:t>
            </a:r>
          </a:p>
          <a:p>
            <a:pPr>
              <a:lnSpc>
                <a:spcPct val="75000"/>
              </a:lnSpc>
            </a:pPr>
            <a:r>
              <a:rPr lang="en-US" altLang="en-US" sz="2400" i="1" smtClean="0">
                <a:solidFill>
                  <a:srgbClr val="CC0000"/>
                </a:solidFill>
              </a:rPr>
              <a:t>connection-oriented:</a:t>
            </a:r>
            <a:r>
              <a:rPr lang="en-US" altLang="en-US" sz="2400" smtClean="0"/>
              <a:t> setup required between client and server processes</a:t>
            </a:r>
          </a:p>
          <a:p>
            <a:pPr>
              <a:lnSpc>
                <a:spcPct val="75000"/>
              </a:lnSpc>
            </a:pPr>
            <a:endParaRPr lang="en-US" altLang="en-US" smtClean="0"/>
          </a:p>
        </p:txBody>
      </p:sp>
      <p:sp>
        <p:nvSpPr>
          <p:cNvPr id="4608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484313"/>
            <a:ext cx="36671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UDP service:</a:t>
            </a:r>
          </a:p>
          <a:p>
            <a:r>
              <a:rPr lang="en-US" altLang="en-US" sz="2400" i="1" smtClean="0">
                <a:solidFill>
                  <a:srgbClr val="CC0000"/>
                </a:solidFill>
              </a:rPr>
              <a:t>unreliable data transfer</a:t>
            </a:r>
            <a:r>
              <a:rPr lang="en-US" altLang="en-US" sz="2400" smtClean="0"/>
              <a:t> between sending and receiving process</a:t>
            </a:r>
          </a:p>
          <a:p>
            <a:r>
              <a:rPr lang="en-US" altLang="en-US" sz="2400" i="1" smtClean="0">
                <a:solidFill>
                  <a:srgbClr val="CC0000"/>
                </a:solidFill>
              </a:rPr>
              <a:t>does not provide:</a:t>
            </a:r>
            <a:r>
              <a:rPr lang="en-US" altLang="en-US" sz="2400" smtClean="0"/>
              <a:t> reliability, flow control, congestion control, timing, throughput guarantee, security, orconnection setup, </a:t>
            </a:r>
          </a:p>
          <a:p>
            <a:endParaRPr lang="en-US" altLang="en-US" sz="240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u="sng" smtClean="0">
                <a:solidFill>
                  <a:srgbClr val="CC0000"/>
                </a:solidFill>
              </a:rPr>
              <a:t>Q:</a:t>
            </a:r>
            <a:r>
              <a:rPr lang="en-US" altLang="en-US" sz="2400" smtClean="0"/>
              <a:t> why bother?  Why is there a UDP?</a:t>
            </a:r>
          </a:p>
        </p:txBody>
      </p:sp>
      <p:pic>
        <p:nvPicPr>
          <p:cNvPr id="46087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9445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4813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0D53EC58-A7B7-4699-B419-AD57DB2D87D7}" type="slidenum">
              <a:rPr lang="en-US" altLang="en-US" sz="1200">
                <a:latin typeface="Tahoma" pitchFamily="34" charset="0"/>
              </a:rPr>
              <a:pPr/>
              <a:t>16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48132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8763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61938"/>
            <a:ext cx="8747125" cy="838200"/>
          </a:xfrm>
        </p:spPr>
        <p:txBody>
          <a:bodyPr/>
          <a:lstStyle/>
          <a:p>
            <a:r>
              <a:rPr lang="en-US" altLang="en-US" sz="3200" smtClean="0"/>
              <a:t>Internet apps:  application, transport protocols</a:t>
            </a:r>
            <a:endParaRPr lang="en-US" altLang="en-US" smtClean="0"/>
          </a:p>
        </p:txBody>
      </p:sp>
      <p:sp>
        <p:nvSpPr>
          <p:cNvPr id="48134" name="Text Box 3"/>
          <p:cNvSpPr txBox="1">
            <a:spLocks noChangeArrowheads="1"/>
          </p:cNvSpPr>
          <p:nvPr/>
        </p:nvSpPr>
        <p:spPr bwMode="auto">
          <a:xfrm>
            <a:off x="215900" y="1773238"/>
            <a:ext cx="28067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r"/>
            <a:r>
              <a:rPr lang="en-US" altLang="en-US" sz="2000" b="1">
                <a:latin typeface="Arial" charset="0"/>
              </a:rPr>
              <a:t>application</a:t>
            </a:r>
            <a:endParaRPr lang="en-US" altLang="en-US" sz="2000">
              <a:latin typeface="Arial" charset="0"/>
            </a:endParaRPr>
          </a:p>
          <a:p>
            <a:pPr algn="r"/>
            <a:endParaRPr lang="en-US" altLang="en-US" sz="2000">
              <a:latin typeface="Arial" charset="0"/>
            </a:endParaRPr>
          </a:p>
          <a:p>
            <a:pPr algn="r"/>
            <a:r>
              <a:rPr lang="en-US" altLang="en-US" sz="2000">
                <a:latin typeface="Arial" charset="0"/>
              </a:rPr>
              <a:t>e-mail</a:t>
            </a:r>
          </a:p>
          <a:p>
            <a:pPr algn="r"/>
            <a:r>
              <a:rPr lang="en-US" altLang="en-US" sz="2000">
                <a:latin typeface="Arial" charset="0"/>
              </a:rPr>
              <a:t>remote terminal access</a:t>
            </a:r>
          </a:p>
          <a:p>
            <a:pPr algn="r"/>
            <a:r>
              <a:rPr lang="en-US" altLang="en-US" sz="2000">
                <a:latin typeface="Arial" charset="0"/>
              </a:rPr>
              <a:t>Web </a:t>
            </a:r>
          </a:p>
          <a:p>
            <a:pPr algn="r"/>
            <a:r>
              <a:rPr lang="en-US" altLang="en-US" sz="2000">
                <a:latin typeface="Arial" charset="0"/>
              </a:rPr>
              <a:t>file transfer</a:t>
            </a:r>
          </a:p>
          <a:p>
            <a:pPr algn="r"/>
            <a:r>
              <a:rPr lang="en-US" altLang="en-US" sz="2000">
                <a:latin typeface="Arial" charset="0"/>
              </a:rPr>
              <a:t>streaming multimedia</a:t>
            </a:r>
          </a:p>
          <a:p>
            <a:pPr algn="r"/>
            <a:endParaRPr lang="en-US" altLang="en-US" sz="2000">
              <a:latin typeface="Arial" charset="0"/>
            </a:endParaRPr>
          </a:p>
          <a:p>
            <a:pPr algn="r"/>
            <a:r>
              <a:rPr lang="en-US" altLang="en-US" sz="2000">
                <a:latin typeface="Arial" charset="0"/>
              </a:rPr>
              <a:t>Internet telephony</a:t>
            </a:r>
          </a:p>
          <a:p>
            <a:pPr algn="r"/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48135" name="Text Box 4"/>
          <p:cNvSpPr txBox="1">
            <a:spLocks noChangeArrowheads="1"/>
          </p:cNvSpPr>
          <p:nvPr/>
        </p:nvSpPr>
        <p:spPr bwMode="auto">
          <a:xfrm>
            <a:off x="3201988" y="1458913"/>
            <a:ext cx="2820987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 b="1">
                <a:latin typeface="Arial" charset="0"/>
              </a:rPr>
              <a:t>application</a:t>
            </a:r>
          </a:p>
          <a:p>
            <a:r>
              <a:rPr lang="en-US" altLang="en-US" sz="2000" b="1">
                <a:latin typeface="Arial" charset="0"/>
              </a:rPr>
              <a:t>layer protocol</a:t>
            </a:r>
            <a:endParaRPr lang="en-US" altLang="en-US" sz="2000">
              <a:latin typeface="Arial" charset="0"/>
            </a:endParaRP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SMTP [RFC 2821]</a:t>
            </a:r>
          </a:p>
          <a:p>
            <a:r>
              <a:rPr lang="en-US" altLang="en-US" sz="2000">
                <a:latin typeface="Arial" charset="0"/>
              </a:rPr>
              <a:t>Telnet [RFC 854]</a:t>
            </a:r>
          </a:p>
          <a:p>
            <a:r>
              <a:rPr lang="en-US" altLang="en-US" sz="2000">
                <a:latin typeface="Arial" charset="0"/>
              </a:rPr>
              <a:t>HTTP [RFC 2616]</a:t>
            </a:r>
          </a:p>
          <a:p>
            <a:r>
              <a:rPr lang="en-US" altLang="en-US" sz="2000">
                <a:latin typeface="Arial" charset="0"/>
              </a:rPr>
              <a:t>FTP [RFC 959]</a:t>
            </a:r>
          </a:p>
          <a:p>
            <a:r>
              <a:rPr lang="en-US" altLang="en-US" sz="2000">
                <a:latin typeface="Arial" charset="0"/>
              </a:rPr>
              <a:t>HTTP (e.g., YouTube), </a:t>
            </a:r>
            <a:br>
              <a:rPr lang="en-US" altLang="en-US" sz="2000">
                <a:latin typeface="Arial" charset="0"/>
              </a:rPr>
            </a:br>
            <a:r>
              <a:rPr lang="en-US" altLang="en-US" sz="2000">
                <a:latin typeface="Arial" charset="0"/>
              </a:rPr>
              <a:t>RTP [RFC 1889]</a:t>
            </a:r>
          </a:p>
          <a:p>
            <a:r>
              <a:rPr lang="en-US" altLang="en-US" sz="2000">
                <a:latin typeface="Arial" charset="0"/>
              </a:rPr>
              <a:t>SIP, RTP, proprietary</a:t>
            </a:r>
          </a:p>
          <a:p>
            <a:r>
              <a:rPr lang="en-US" altLang="en-US" sz="2000">
                <a:latin typeface="Arial" charset="0"/>
              </a:rPr>
              <a:t>(e.g., Skype)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48136" name="Text Box 5"/>
          <p:cNvSpPr txBox="1">
            <a:spLocks noChangeArrowheads="1"/>
          </p:cNvSpPr>
          <p:nvPr/>
        </p:nvSpPr>
        <p:spPr bwMode="auto">
          <a:xfrm>
            <a:off x="6030913" y="1477963"/>
            <a:ext cx="2624137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000" b="1">
                <a:latin typeface="Arial" charset="0"/>
              </a:rPr>
              <a:t>underlying</a:t>
            </a:r>
          </a:p>
          <a:p>
            <a:r>
              <a:rPr lang="en-US" altLang="en-US" sz="2000" b="1">
                <a:latin typeface="Arial" charset="0"/>
              </a:rPr>
              <a:t>transport protocol</a:t>
            </a:r>
            <a:endParaRPr lang="en-US" altLang="en-US" sz="2000">
              <a:latin typeface="Arial" charset="0"/>
            </a:endParaRP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TCP</a:t>
            </a:r>
          </a:p>
          <a:p>
            <a:r>
              <a:rPr lang="en-US" altLang="en-US" sz="2000">
                <a:latin typeface="Arial" charset="0"/>
              </a:rPr>
              <a:t>TCP</a:t>
            </a:r>
          </a:p>
          <a:p>
            <a:r>
              <a:rPr lang="en-US" altLang="en-US" sz="2000">
                <a:latin typeface="Arial" charset="0"/>
              </a:rPr>
              <a:t>TCP</a:t>
            </a:r>
          </a:p>
          <a:p>
            <a:r>
              <a:rPr lang="en-US" altLang="en-US" sz="2000">
                <a:latin typeface="Arial" charset="0"/>
              </a:rPr>
              <a:t>TCP</a:t>
            </a:r>
          </a:p>
          <a:p>
            <a:r>
              <a:rPr lang="en-US" altLang="en-US" sz="2000">
                <a:latin typeface="Arial" charset="0"/>
              </a:rPr>
              <a:t>TCP or UDP</a:t>
            </a:r>
          </a:p>
          <a:p>
            <a:endParaRPr lang="en-US" altLang="en-US" sz="2000">
              <a:latin typeface="Arial" charset="0"/>
            </a:endParaRPr>
          </a:p>
          <a:p>
            <a:endParaRPr lang="en-US" altLang="en-US" sz="2000">
              <a:latin typeface="Arial" charset="0"/>
            </a:endParaRPr>
          </a:p>
          <a:p>
            <a:r>
              <a:rPr lang="en-US" altLang="en-US" sz="2000">
                <a:latin typeface="Arial" charset="0"/>
              </a:rPr>
              <a:t>TCP or UDP</a:t>
            </a:r>
          </a:p>
        </p:txBody>
      </p:sp>
      <p:sp>
        <p:nvSpPr>
          <p:cNvPr id="48137" name="Line 7"/>
          <p:cNvSpPr>
            <a:spLocks noChangeShapeType="1"/>
          </p:cNvSpPr>
          <p:nvPr/>
        </p:nvSpPr>
        <p:spPr bwMode="auto">
          <a:xfrm>
            <a:off x="1071563" y="2152650"/>
            <a:ext cx="7334250" cy="95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Line 8"/>
          <p:cNvSpPr>
            <a:spLocks noChangeShapeType="1"/>
          </p:cNvSpPr>
          <p:nvPr/>
        </p:nvSpPr>
        <p:spPr bwMode="auto">
          <a:xfrm flipV="1">
            <a:off x="1023938" y="2743200"/>
            <a:ext cx="73247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Line 9"/>
          <p:cNvSpPr>
            <a:spLocks noChangeShapeType="1"/>
          </p:cNvSpPr>
          <p:nvPr/>
        </p:nvSpPr>
        <p:spPr bwMode="auto">
          <a:xfrm flipV="1">
            <a:off x="1044575" y="3038475"/>
            <a:ext cx="729615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0" name="Line 10"/>
          <p:cNvSpPr>
            <a:spLocks noChangeShapeType="1"/>
          </p:cNvSpPr>
          <p:nvPr/>
        </p:nvSpPr>
        <p:spPr bwMode="auto">
          <a:xfrm flipV="1">
            <a:off x="1042988" y="3333750"/>
            <a:ext cx="72771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Line 11"/>
          <p:cNvSpPr>
            <a:spLocks noChangeShapeType="1"/>
          </p:cNvSpPr>
          <p:nvPr/>
        </p:nvSpPr>
        <p:spPr bwMode="auto">
          <a:xfrm flipV="1">
            <a:off x="1073150" y="3657600"/>
            <a:ext cx="7258050" cy="95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Line 12"/>
          <p:cNvSpPr>
            <a:spLocks noChangeShapeType="1"/>
          </p:cNvSpPr>
          <p:nvPr/>
        </p:nvSpPr>
        <p:spPr bwMode="auto">
          <a:xfrm flipV="1">
            <a:off x="1014413" y="4257675"/>
            <a:ext cx="73152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3" name="Line 14"/>
          <p:cNvSpPr>
            <a:spLocks noChangeShapeType="1"/>
          </p:cNvSpPr>
          <p:nvPr/>
        </p:nvSpPr>
        <p:spPr bwMode="auto">
          <a:xfrm flipV="1">
            <a:off x="839788" y="4881563"/>
            <a:ext cx="734377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512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7AA59901-9DBB-49E5-95EA-5FCA1EAE757A}" type="slidenum">
              <a:rPr lang="en-US" altLang="en-US" sz="1200">
                <a:latin typeface="Tahoma" pitchFamily="34" charset="0"/>
              </a:rPr>
              <a:pPr/>
              <a:t>17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2.1 principles of network applications</a:t>
            </a:r>
          </a:p>
          <a:p>
            <a:pPr marL="912813" lvl="1"/>
            <a:r>
              <a:rPr lang="en-US" altLang="en-US" smtClean="0"/>
              <a:t>app architectures</a:t>
            </a:r>
          </a:p>
          <a:p>
            <a:pPr marL="912813" lvl="1"/>
            <a:r>
              <a:rPr lang="en-US" altLang="en-US" smtClean="0"/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2.4 electronic mail</a:t>
            </a:r>
          </a:p>
          <a:p>
            <a:pPr marL="912813" lvl="1"/>
            <a:r>
              <a:rPr lang="en-US" altLang="en-US" smtClean="0"/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2.5 DNS</a:t>
            </a:r>
          </a:p>
          <a:p>
            <a:pPr marL="457200" indent="-457200"/>
            <a:endParaRPr lang="en-US" altLang="en-US" sz="2400" smtClean="0"/>
          </a:p>
        </p:txBody>
      </p:sp>
      <p:sp>
        <p:nvSpPr>
          <p:cNvPr id="5120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2.7 socket programming with UDP and TCP</a:t>
            </a:r>
          </a:p>
        </p:txBody>
      </p:sp>
      <p:pic>
        <p:nvPicPr>
          <p:cNvPr id="51207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5325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12B2E678-E202-4396-93B9-0DB741E01196}" type="slidenum">
              <a:rPr lang="en-US" altLang="en-US" sz="1200">
                <a:latin typeface="Tahoma" pitchFamily="34" charset="0"/>
              </a:rPr>
              <a:pPr/>
              <a:t>18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201613"/>
            <a:ext cx="7772400" cy="892175"/>
          </a:xfrm>
        </p:spPr>
        <p:txBody>
          <a:bodyPr/>
          <a:lstStyle/>
          <a:p>
            <a:r>
              <a:rPr lang="en-US" altLang="en-US" smtClean="0"/>
              <a:t>Web and HTTP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60488"/>
            <a:ext cx="7772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i="1" smtClean="0"/>
              <a:t>First, a review…</a:t>
            </a:r>
          </a:p>
          <a:p>
            <a:r>
              <a:rPr lang="en-US" altLang="en-US" i="1" smtClean="0">
                <a:solidFill>
                  <a:srgbClr val="CC0000"/>
                </a:solidFill>
              </a:rPr>
              <a:t>web page</a:t>
            </a:r>
            <a:r>
              <a:rPr lang="en-US" altLang="en-US" smtClean="0"/>
              <a:t> consists of </a:t>
            </a:r>
            <a:r>
              <a:rPr lang="en-US" altLang="en-US" i="1" smtClean="0">
                <a:solidFill>
                  <a:srgbClr val="CC0000"/>
                </a:solidFill>
              </a:rPr>
              <a:t>objects</a:t>
            </a:r>
          </a:p>
          <a:p>
            <a:r>
              <a:rPr lang="en-US" altLang="en-US" smtClean="0"/>
              <a:t>object can be HTML file, JPEG image, Java applet, audio file,…</a:t>
            </a:r>
          </a:p>
          <a:p>
            <a:r>
              <a:rPr lang="en-US" altLang="en-US" smtClean="0"/>
              <a:t>web page consists of </a:t>
            </a:r>
            <a:r>
              <a:rPr lang="en-US" altLang="en-US" i="1" smtClean="0">
                <a:solidFill>
                  <a:srgbClr val="CC0000"/>
                </a:solidFill>
              </a:rPr>
              <a:t>base HTML-file</a:t>
            </a:r>
            <a:r>
              <a:rPr lang="en-US" altLang="en-US" smtClean="0"/>
              <a:t> which includes </a:t>
            </a:r>
            <a:r>
              <a:rPr lang="en-US" altLang="en-US" i="1" smtClean="0">
                <a:solidFill>
                  <a:srgbClr val="CC0000"/>
                </a:solidFill>
              </a:rPr>
              <a:t>several referenced objects</a:t>
            </a:r>
          </a:p>
          <a:p>
            <a:r>
              <a:rPr lang="en-US" altLang="en-US" smtClean="0"/>
              <a:t>each object is addressable by a </a:t>
            </a:r>
            <a:r>
              <a:rPr lang="en-US" altLang="en-US" i="1" smtClean="0">
                <a:solidFill>
                  <a:srgbClr val="CC0000"/>
                </a:solidFill>
              </a:rPr>
              <a:t>URL, </a:t>
            </a:r>
            <a:r>
              <a:rPr lang="en-US" altLang="en-US" smtClean="0"/>
              <a:t>e.g.,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pSp>
        <p:nvGrpSpPr>
          <p:cNvPr id="53254" name="Group 10"/>
          <p:cNvGrpSpPr>
            <a:grpSpLocks/>
          </p:cNvGrpSpPr>
          <p:nvPr/>
        </p:nvGrpSpPr>
        <p:grpSpPr bwMode="auto">
          <a:xfrm>
            <a:off x="1201738" y="4486275"/>
            <a:ext cx="6835775" cy="1144588"/>
            <a:chOff x="788" y="2955"/>
            <a:chExt cx="4306" cy="721"/>
          </a:xfrm>
        </p:grpSpPr>
        <p:sp>
          <p:nvSpPr>
            <p:cNvPr id="53256" name="Text Box 5"/>
            <p:cNvSpPr txBox="1">
              <a:spLocks noChangeArrowheads="1"/>
            </p:cNvSpPr>
            <p:nvPr/>
          </p:nvSpPr>
          <p:spPr bwMode="auto">
            <a:xfrm>
              <a:off x="788" y="2955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2400">
                  <a:latin typeface="Courier New" pitchFamily="49" charset="0"/>
                </a:rPr>
                <a:t>www.someschool.edu/someDept/pic.gif</a:t>
              </a:r>
            </a:p>
          </p:txBody>
        </p:sp>
        <p:sp>
          <p:nvSpPr>
            <p:cNvPr id="53257" name="AutoShape 6"/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53258" name="AutoShape 7"/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53259" name="Text Box 8"/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2400">
                  <a:latin typeface="Arial" charset="0"/>
                </a:rPr>
                <a:t>host name</a:t>
              </a:r>
            </a:p>
          </p:txBody>
        </p:sp>
        <p:sp>
          <p:nvSpPr>
            <p:cNvPr id="53260" name="Text Box 9"/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2400">
                  <a:latin typeface="Arial" charset="0"/>
                </a:rPr>
                <a:t>path</a:t>
              </a:r>
              <a:r>
                <a:rPr lang="en-US" altLang="en-US" sz="2400">
                  <a:latin typeface="Comic Sans MS" pitchFamily="66" charset="0"/>
                </a:rPr>
                <a:t> </a:t>
              </a:r>
              <a:r>
                <a:rPr lang="en-US" altLang="en-US" sz="2400">
                  <a:latin typeface="Arial" charset="0"/>
                </a:rPr>
                <a:t>name</a:t>
              </a:r>
            </a:p>
          </p:txBody>
        </p:sp>
      </p:grpSp>
      <p:pic>
        <p:nvPicPr>
          <p:cNvPr id="53255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95350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5529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B97162DE-9F90-4FCD-BAAB-DB7D5979DA2F}" type="slidenum">
              <a:rPr lang="en-US" altLang="en-US" sz="1200">
                <a:latin typeface="Tahoma" pitchFamily="34" charset="0"/>
              </a:rPr>
              <a:pPr/>
              <a:t>19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9563"/>
            <a:ext cx="7772400" cy="795337"/>
          </a:xfrm>
        </p:spPr>
        <p:txBody>
          <a:bodyPr/>
          <a:lstStyle/>
          <a:p>
            <a:r>
              <a:rPr lang="en-US" altLang="en-US" sz="4000" smtClean="0"/>
              <a:t>HTTP overview</a:t>
            </a:r>
            <a:endParaRPr lang="en-US" altLang="en-US" smtClean="0"/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89075"/>
            <a:ext cx="3810000" cy="46482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HTTP: hypertext transfer protocol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Web</a:t>
            </a:r>
            <a:r>
              <a:rPr lang="ja-JP" altLang="en-US" sz="2400" smtClean="0"/>
              <a:t>’</a:t>
            </a:r>
            <a:r>
              <a:rPr lang="en-US" altLang="ja-JP" sz="2400" smtClean="0"/>
              <a:t>s application layer protocol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client/server model</a:t>
            </a:r>
          </a:p>
          <a:p>
            <a:pPr lvl="1">
              <a:lnSpc>
                <a:spcPct val="75000"/>
              </a:lnSpc>
            </a:pPr>
            <a:r>
              <a:rPr lang="en-US" altLang="en-US" i="1" smtClean="0">
                <a:solidFill>
                  <a:srgbClr val="CC0000"/>
                </a:solidFill>
              </a:rPr>
              <a:t>client</a:t>
            </a:r>
            <a:r>
              <a:rPr lang="en-US" altLang="en-US" i="1" smtClean="0">
                <a:solidFill>
                  <a:srgbClr val="FF0000"/>
                </a:solidFill>
              </a:rPr>
              <a:t>:</a:t>
            </a:r>
            <a:r>
              <a:rPr lang="en-US" altLang="en-US" smtClean="0"/>
              <a:t> browser that requests, receives, (using HTTP protocol) and </a:t>
            </a:r>
            <a:r>
              <a:rPr lang="ja-JP" altLang="en-US" smtClean="0"/>
              <a:t>“</a:t>
            </a:r>
            <a:r>
              <a:rPr lang="en-US" altLang="ja-JP" smtClean="0"/>
              <a:t>displays</a:t>
            </a:r>
            <a:r>
              <a:rPr lang="ja-JP" altLang="en-US" smtClean="0"/>
              <a:t>”</a:t>
            </a:r>
            <a:r>
              <a:rPr lang="en-US" altLang="ja-JP" smtClean="0"/>
              <a:t> Web objects </a:t>
            </a:r>
          </a:p>
          <a:p>
            <a:pPr lvl="1">
              <a:lnSpc>
                <a:spcPct val="75000"/>
              </a:lnSpc>
            </a:pPr>
            <a:r>
              <a:rPr lang="en-US" altLang="en-US" i="1" smtClean="0">
                <a:solidFill>
                  <a:srgbClr val="CC0000"/>
                </a:solidFill>
              </a:rPr>
              <a:t>server:</a:t>
            </a:r>
            <a:r>
              <a:rPr lang="en-US" altLang="en-US" smtClean="0"/>
              <a:t> Web server sends (using HTTP protocol) objects in response to requests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4565650" y="2455863"/>
            <a:ext cx="1584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PC running</a:t>
            </a:r>
          </a:p>
          <a:p>
            <a:pPr algn="ctr"/>
            <a:r>
              <a:rPr lang="en-US" altLang="en-US" sz="1600">
                <a:latin typeface="Arial" charset="0"/>
              </a:rPr>
              <a:t>Firefox browser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55303" name="Text Box 9"/>
          <p:cNvSpPr txBox="1">
            <a:spLocks noChangeArrowheads="1"/>
          </p:cNvSpPr>
          <p:nvPr/>
        </p:nvSpPr>
        <p:spPr bwMode="auto">
          <a:xfrm>
            <a:off x="7508875" y="3836988"/>
            <a:ext cx="13462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server </a:t>
            </a:r>
          </a:p>
          <a:p>
            <a:pPr algn="ctr"/>
            <a:r>
              <a:rPr lang="en-US" altLang="en-US" sz="1600">
                <a:latin typeface="Arial" charset="0"/>
              </a:rPr>
              <a:t>running</a:t>
            </a:r>
          </a:p>
          <a:p>
            <a:pPr algn="ctr"/>
            <a:r>
              <a:rPr lang="en-US" altLang="en-US" sz="1600">
                <a:latin typeface="Arial" charset="0"/>
              </a:rPr>
              <a:t>Apache Web</a:t>
            </a:r>
          </a:p>
          <a:p>
            <a:pPr algn="ctr"/>
            <a:r>
              <a:rPr lang="en-US" altLang="en-US" sz="1600">
                <a:latin typeface="Arial" charset="0"/>
              </a:rPr>
              <a:t>server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55304" name="Text Box 23"/>
          <p:cNvSpPr txBox="1">
            <a:spLocks noChangeArrowheads="1"/>
          </p:cNvSpPr>
          <p:nvPr/>
        </p:nvSpPr>
        <p:spPr bwMode="auto">
          <a:xfrm>
            <a:off x="4819650" y="5218113"/>
            <a:ext cx="1525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iphone running</a:t>
            </a:r>
          </a:p>
          <a:p>
            <a:pPr algn="ctr"/>
            <a:r>
              <a:rPr lang="en-US" altLang="en-US" sz="1600">
                <a:latin typeface="Arial" charset="0"/>
              </a:rPr>
              <a:t>Safari browser</a:t>
            </a:r>
            <a:endParaRPr lang="en-US" altLang="en-US" sz="2400">
              <a:latin typeface="Arial" charset="0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778500" y="2136775"/>
            <a:ext cx="2101850" cy="946150"/>
            <a:chOff x="3640" y="1346"/>
            <a:chExt cx="1324" cy="596"/>
          </a:xfrm>
        </p:grpSpPr>
        <p:sp>
          <p:nvSpPr>
            <p:cNvPr id="55353" name="Line 19"/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4" name="Text Box 24"/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5889625" y="2344738"/>
            <a:ext cx="1971675" cy="904875"/>
            <a:chOff x="4141" y="394"/>
            <a:chExt cx="1242" cy="570"/>
          </a:xfrm>
        </p:grpSpPr>
        <p:sp>
          <p:nvSpPr>
            <p:cNvPr id="55351" name="Line 20"/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2" name="Text Box 26"/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pic>
        <p:nvPicPr>
          <p:cNvPr id="55307" name="Picture 3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19163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7"/>
          <p:cNvGrpSpPr>
            <a:grpSpLocks/>
          </p:cNvGrpSpPr>
          <p:nvPr/>
        </p:nvGrpSpPr>
        <p:grpSpPr bwMode="auto">
          <a:xfrm rot="-3183056">
            <a:off x="5754688" y="3630613"/>
            <a:ext cx="2101850" cy="946150"/>
            <a:chOff x="3640" y="1346"/>
            <a:chExt cx="1324" cy="596"/>
          </a:xfrm>
        </p:grpSpPr>
        <p:sp>
          <p:nvSpPr>
            <p:cNvPr id="55349" name="Line 19"/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0" name="Text Box 24"/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 rot="-3264937">
            <a:off x="5800725" y="3870325"/>
            <a:ext cx="1971675" cy="904875"/>
            <a:chOff x="4141" y="394"/>
            <a:chExt cx="1242" cy="570"/>
          </a:xfrm>
        </p:grpSpPr>
        <p:sp>
          <p:nvSpPr>
            <p:cNvPr id="55347" name="Line 20"/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8" name="Text Box 26"/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pic>
        <p:nvPicPr>
          <p:cNvPr id="55310" name="Picture 43" descr="iphone_stylized_sma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286250"/>
            <a:ext cx="38258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311" name="Group 44"/>
          <p:cNvGrpSpPr>
            <a:grpSpLocks/>
          </p:cNvGrpSpPr>
          <p:nvPr/>
        </p:nvGrpSpPr>
        <p:grpSpPr bwMode="auto">
          <a:xfrm>
            <a:off x="4757738" y="1468438"/>
            <a:ext cx="1066800" cy="1079500"/>
            <a:chOff x="-44" y="1473"/>
            <a:chExt cx="981" cy="1105"/>
          </a:xfrm>
        </p:grpSpPr>
        <p:pic>
          <p:nvPicPr>
            <p:cNvPr id="553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5312" name="Group 47"/>
          <p:cNvGrpSpPr>
            <a:grpSpLocks/>
          </p:cNvGrpSpPr>
          <p:nvPr/>
        </p:nvGrpSpPr>
        <p:grpSpPr bwMode="auto">
          <a:xfrm>
            <a:off x="7878763" y="2633663"/>
            <a:ext cx="695325" cy="1282700"/>
            <a:chOff x="4140" y="429"/>
            <a:chExt cx="1425" cy="2396"/>
          </a:xfrm>
        </p:grpSpPr>
        <p:sp>
          <p:nvSpPr>
            <p:cNvPr id="55313" name="Freeform 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Rectangle 49"/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15" name="Freeform 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Freeform 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Rectangle 52"/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55318" name="Group 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343" name="AutoShape 54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55344" name="AutoShape 55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55319" name="Rectangle 56"/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55320" name="Group 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341" name="AutoShape 58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55342" name="AutoShape 59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55321" name="Rectangle 60"/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22" name="Rectangle 61"/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55323" name="Group 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5339" name="AutoShape 6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55340" name="AutoShape 64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55324" name="Freeform 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25" name="Group 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337" name="AutoShape 6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55338" name="AutoShape 68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55326" name="Rectangle 69"/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27" name="Freeform 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8" name="Freeform 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9" name="Oval 72"/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30" name="Freeform 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1" name="AutoShape 74"/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32" name="AutoShape 75"/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33" name="Oval 76"/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34" name="Oval 77"/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55335" name="Oval 78"/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55336" name="Rectangle 79"/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5734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0CC668A8-074B-4A46-9807-BF808448D19A}" type="slidenum">
              <a:rPr lang="en-US" altLang="en-US" sz="1200">
                <a:latin typeface="Tahoma" pitchFamily="34" charset="0"/>
              </a:rPr>
              <a:pPr/>
              <a:t>20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57348" name="Rectangle 7"/>
          <p:cNvSpPr>
            <a:spLocks noChangeArrowheads="1"/>
          </p:cNvSpPr>
          <p:nvPr/>
        </p:nvSpPr>
        <p:spPr bwMode="auto">
          <a:xfrm>
            <a:off x="4781550" y="3400425"/>
            <a:ext cx="3838575" cy="271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sp>
        <p:nvSpPr>
          <p:cNvPr id="57349" name="Rectangle 9"/>
          <p:cNvSpPr>
            <a:spLocks noChangeArrowheads="1"/>
          </p:cNvSpPr>
          <p:nvPr/>
        </p:nvSpPr>
        <p:spPr bwMode="auto">
          <a:xfrm>
            <a:off x="7667625" y="3238500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347663"/>
            <a:ext cx="7772400" cy="795337"/>
          </a:xfrm>
        </p:spPr>
        <p:txBody>
          <a:bodyPr/>
          <a:lstStyle/>
          <a:p>
            <a:r>
              <a:rPr lang="en-US" altLang="en-US" smtClean="0"/>
              <a:t>HTTP overview (continued)</a:t>
            </a:r>
          </a:p>
        </p:txBody>
      </p:sp>
      <p:sp>
        <p:nvSpPr>
          <p:cNvPr id="573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511300"/>
            <a:ext cx="39719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uses TCP:</a:t>
            </a:r>
          </a:p>
          <a:p>
            <a:r>
              <a:rPr lang="en-US" altLang="en-US" sz="2400" smtClean="0"/>
              <a:t>client initiates TCP connection (creates socket) to server,  port 80</a:t>
            </a:r>
          </a:p>
          <a:p>
            <a:r>
              <a:rPr lang="en-US" altLang="en-US" sz="2400" smtClean="0"/>
              <a:t>server accepts TCP connection from client</a:t>
            </a:r>
          </a:p>
          <a:p>
            <a:r>
              <a:rPr lang="en-US" altLang="en-US" sz="2400" smtClean="0"/>
              <a:t>HTTP messages (application-layer protocol messages) exchanged between browser (HTTP client) and Web server (HTTP server)</a:t>
            </a:r>
          </a:p>
          <a:p>
            <a:r>
              <a:rPr lang="en-US" altLang="en-US" sz="2400" smtClean="0"/>
              <a:t>TCP connection closed</a:t>
            </a:r>
            <a:endParaRPr lang="en-US" altLang="en-US" smtClean="0"/>
          </a:p>
        </p:txBody>
      </p:sp>
      <p:sp>
        <p:nvSpPr>
          <p:cNvPr id="5735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566863"/>
            <a:ext cx="3200400" cy="14478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HTTP is </a:t>
            </a:r>
            <a:r>
              <a:rPr lang="ja-JP" altLang="en-US" i="1" smtClean="0">
                <a:solidFill>
                  <a:srgbClr val="CC0000"/>
                </a:solidFill>
              </a:rPr>
              <a:t>“</a:t>
            </a:r>
            <a:r>
              <a:rPr lang="en-US" altLang="ja-JP" i="1" smtClean="0">
                <a:solidFill>
                  <a:srgbClr val="CC0000"/>
                </a:solidFill>
              </a:rPr>
              <a:t>stateless</a:t>
            </a:r>
            <a:r>
              <a:rPr lang="ja-JP" altLang="en-US" i="1" smtClean="0">
                <a:solidFill>
                  <a:srgbClr val="CC0000"/>
                </a:solidFill>
              </a:rPr>
              <a:t>”</a:t>
            </a:r>
            <a:endParaRPr lang="en-US" altLang="ja-JP" i="1" smtClean="0">
              <a:solidFill>
                <a:srgbClr val="CC000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en-US" sz="2400" smtClean="0"/>
              <a:t>server maintains no information about past client requests</a:t>
            </a:r>
          </a:p>
        </p:txBody>
      </p:sp>
      <p:sp>
        <p:nvSpPr>
          <p:cNvPr id="57353" name="Rectangle 6"/>
          <p:cNvSpPr>
            <a:spLocks noChangeArrowheads="1"/>
          </p:cNvSpPr>
          <p:nvPr/>
        </p:nvSpPr>
        <p:spPr bwMode="auto">
          <a:xfrm>
            <a:off x="4919663" y="3463925"/>
            <a:ext cx="37528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000099"/>
                </a:solidFill>
                <a:latin typeface="Gill Sans MT" pitchFamily="34" charset="0"/>
              </a:rPr>
              <a:t>protocols that maintain </a:t>
            </a:r>
            <a:r>
              <a:rPr lang="ja-JP" altLang="en-US" sz="2400">
                <a:solidFill>
                  <a:srgbClr val="000099"/>
                </a:solidFill>
                <a:latin typeface="Gill Sans MT" pitchFamily="34" charset="0"/>
              </a:rPr>
              <a:t>“</a:t>
            </a:r>
            <a:r>
              <a:rPr lang="en-US" altLang="ja-JP" sz="2400">
                <a:solidFill>
                  <a:srgbClr val="000099"/>
                </a:solidFill>
                <a:latin typeface="Gill Sans MT" pitchFamily="34" charset="0"/>
              </a:rPr>
              <a:t>state</a:t>
            </a:r>
            <a:r>
              <a:rPr lang="ja-JP" altLang="en-US" sz="2400">
                <a:solidFill>
                  <a:srgbClr val="000099"/>
                </a:solidFill>
                <a:latin typeface="Gill Sans MT" pitchFamily="34" charset="0"/>
              </a:rPr>
              <a:t>”</a:t>
            </a:r>
            <a:r>
              <a:rPr lang="en-US" altLang="ja-JP" sz="2400">
                <a:solidFill>
                  <a:srgbClr val="000099"/>
                </a:solidFill>
                <a:latin typeface="Gill Sans MT" pitchFamily="34" charset="0"/>
              </a:rPr>
              <a:t> are complex!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>
                <a:latin typeface="Gill Sans MT" pitchFamily="34" charset="0"/>
              </a:rPr>
              <a:t>past history (state) must be maintained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>
                <a:latin typeface="Gill Sans MT" pitchFamily="34" charset="0"/>
              </a:rPr>
              <a:t>if server/client crashes, their views of </a:t>
            </a:r>
            <a:r>
              <a:rPr lang="ja-JP" altLang="en-US">
                <a:latin typeface="Gill Sans MT" pitchFamily="34" charset="0"/>
              </a:rPr>
              <a:t>“</a:t>
            </a:r>
            <a:r>
              <a:rPr lang="en-US" altLang="ja-JP">
                <a:latin typeface="Gill Sans MT" pitchFamily="34" charset="0"/>
              </a:rPr>
              <a:t>state</a:t>
            </a:r>
            <a:r>
              <a:rPr lang="ja-JP" altLang="en-US">
                <a:latin typeface="Gill Sans MT" pitchFamily="34" charset="0"/>
              </a:rPr>
              <a:t>”</a:t>
            </a:r>
            <a:r>
              <a:rPr lang="en-US" altLang="ja-JP">
                <a:latin typeface="Gill Sans MT" pitchFamily="34" charset="0"/>
              </a:rPr>
              <a:t> may be inconsistent, must be reconciled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en-US">
              <a:latin typeface="Gill Sans MT" pitchFamily="34" charset="0"/>
            </a:endParaRPr>
          </a:p>
        </p:txBody>
      </p:sp>
      <p:sp>
        <p:nvSpPr>
          <p:cNvPr id="57354" name="Text Box 8"/>
          <p:cNvSpPr txBox="1">
            <a:spLocks noChangeArrowheads="1"/>
          </p:cNvSpPr>
          <p:nvPr/>
        </p:nvSpPr>
        <p:spPr bwMode="auto">
          <a:xfrm>
            <a:off x="7677150" y="3160713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400" i="1">
                <a:solidFill>
                  <a:srgbClr val="CC0000"/>
                </a:solidFill>
              </a:rPr>
              <a:t>aside</a:t>
            </a:r>
          </a:p>
        </p:txBody>
      </p:sp>
      <p:pic>
        <p:nvPicPr>
          <p:cNvPr id="57355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02076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5939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A2DEF384-AEB2-4F75-AE34-7F46B0DE858B}" type="slidenum">
              <a:rPr lang="en-US" altLang="en-US" sz="1200">
                <a:latin typeface="Tahoma" pitchFamily="34" charset="0"/>
              </a:rPr>
              <a:pPr/>
              <a:t>21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HTTP connections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non-persistent HTTP</a:t>
            </a:r>
          </a:p>
          <a:p>
            <a:r>
              <a:rPr lang="en-US" altLang="en-US" smtClean="0"/>
              <a:t>at most one object sent over TCP connection</a:t>
            </a:r>
          </a:p>
          <a:p>
            <a:pPr lvl="1"/>
            <a:r>
              <a:rPr lang="en-US" altLang="en-US" sz="2800" smtClean="0"/>
              <a:t>connection then closed</a:t>
            </a:r>
          </a:p>
          <a:p>
            <a:r>
              <a:rPr lang="en-US" altLang="en-US" smtClean="0"/>
              <a:t>downloading multiple objects requires multiple connections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sp>
        <p:nvSpPr>
          <p:cNvPr id="5939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persistent HTTP</a:t>
            </a:r>
          </a:p>
          <a:p>
            <a:r>
              <a:rPr lang="en-US" altLang="en-US" smtClean="0"/>
              <a:t>multiple objects can be sent over single TCP connection between client, server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pic>
        <p:nvPicPr>
          <p:cNvPr id="59399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0318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6144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6E7016B9-33C6-4362-B6D3-30AEDA1C7418}" type="slidenum">
              <a:rPr lang="en-US" altLang="en-US" sz="1200">
                <a:latin typeface="Tahoma" pitchFamily="34" charset="0"/>
              </a:rPr>
              <a:pPr/>
              <a:t>22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61444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4296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Line 11"/>
          <p:cNvSpPr>
            <a:spLocks noChangeShapeType="1"/>
          </p:cNvSpPr>
          <p:nvPr/>
        </p:nvSpPr>
        <p:spPr bwMode="auto">
          <a:xfrm>
            <a:off x="476250" y="2095500"/>
            <a:ext cx="0" cy="4495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Rectangle 13"/>
          <p:cNvSpPr>
            <a:spLocks noChangeArrowheads="1"/>
          </p:cNvSpPr>
          <p:nvPr/>
        </p:nvSpPr>
        <p:spPr bwMode="auto">
          <a:xfrm>
            <a:off x="238125" y="6019800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sp>
        <p:nvSpPr>
          <p:cNvPr id="61447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190500"/>
            <a:ext cx="7772400" cy="866775"/>
          </a:xfrm>
        </p:spPr>
        <p:txBody>
          <a:bodyPr/>
          <a:lstStyle/>
          <a:p>
            <a:r>
              <a:rPr lang="en-US" altLang="en-US" sz="4000" smtClean="0"/>
              <a:t>Non-persistent HTTP</a:t>
            </a:r>
            <a:endParaRPr lang="en-US" altLang="en-US" smtClean="0"/>
          </a:p>
        </p:txBody>
      </p:sp>
      <p:sp>
        <p:nvSpPr>
          <p:cNvPr id="614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1638" y="1114425"/>
            <a:ext cx="7942262" cy="46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/>
              <a:t>suppose user enters URL:</a:t>
            </a:r>
          </a:p>
        </p:txBody>
      </p:sp>
      <p:sp>
        <p:nvSpPr>
          <p:cNvPr id="532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57225" y="2106613"/>
            <a:ext cx="394335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smtClean="0">
                <a:solidFill>
                  <a:srgbClr val="CC0000"/>
                </a:solidFill>
              </a:rPr>
              <a:t>1a</a:t>
            </a:r>
            <a:r>
              <a:rPr lang="en-US" altLang="en-US" sz="2000" smtClean="0">
                <a:solidFill>
                  <a:srgbClr val="FF0000"/>
                </a:solidFill>
              </a:rPr>
              <a:t>.</a:t>
            </a:r>
            <a:r>
              <a:rPr lang="en-US" altLang="en-US" sz="2000" smtClean="0"/>
              <a:t> HTTP client initiates TCP connection to HTTP server (process) at www.someSchool.edu on port 80</a:t>
            </a:r>
          </a:p>
        </p:txBody>
      </p:sp>
      <p:sp>
        <p:nvSpPr>
          <p:cNvPr id="53257" name="Rectangle 5"/>
          <p:cNvSpPr>
            <a:spLocks noChangeArrowheads="1"/>
          </p:cNvSpPr>
          <p:nvPr/>
        </p:nvSpPr>
        <p:spPr bwMode="auto">
          <a:xfrm>
            <a:off x="704850" y="3829050"/>
            <a:ext cx="381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itchFamily="34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Gill Sans MT" pitchFamily="34" charset="0"/>
              </a:rPr>
              <a:t>.</a:t>
            </a:r>
            <a:r>
              <a:rPr lang="en-US" altLang="en-US">
                <a:latin typeface="Gill Sans MT" pitchFamily="34" charset="0"/>
              </a:rPr>
              <a:t> HTTP client sends HTTP </a:t>
            </a:r>
            <a:r>
              <a:rPr lang="en-US" altLang="en-US" i="1">
                <a:solidFill>
                  <a:srgbClr val="000099"/>
                </a:solidFill>
                <a:latin typeface="Gill Sans MT" pitchFamily="34" charset="0"/>
              </a:rPr>
              <a:t>request message</a:t>
            </a:r>
            <a:r>
              <a:rPr lang="en-US" altLang="en-US">
                <a:latin typeface="Gill Sans MT" pitchFamily="34" charset="0"/>
              </a:rPr>
              <a:t> (containing URL) into TCP connection socket. Message indicates that client wants object someDepartment/home.index</a:t>
            </a:r>
          </a:p>
        </p:txBody>
      </p:sp>
      <p:sp>
        <p:nvSpPr>
          <p:cNvPr id="53258" name="Rectangle 6"/>
          <p:cNvSpPr>
            <a:spLocks noChangeArrowheads="1"/>
          </p:cNvSpPr>
          <p:nvPr/>
        </p:nvSpPr>
        <p:spPr bwMode="auto">
          <a:xfrm>
            <a:off x="4781550" y="2524125"/>
            <a:ext cx="38100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itchFamily="34" charset="0"/>
              </a:rPr>
              <a:t>1b</a:t>
            </a:r>
            <a:r>
              <a:rPr lang="en-US" altLang="en-US">
                <a:solidFill>
                  <a:srgbClr val="FF0000"/>
                </a:solidFill>
                <a:latin typeface="Gill Sans MT" pitchFamily="34" charset="0"/>
              </a:rPr>
              <a:t>.</a:t>
            </a:r>
            <a:r>
              <a:rPr lang="en-US" altLang="en-US">
                <a:latin typeface="Gill Sans MT" pitchFamily="34" charset="0"/>
              </a:rPr>
              <a:t> HTTP server at host www.someSchool.edu waiting for TCP connection at port 80.  </a:t>
            </a:r>
            <a:r>
              <a:rPr lang="ja-JP" altLang="en-US">
                <a:latin typeface="Gill Sans MT" pitchFamily="34" charset="0"/>
              </a:rPr>
              <a:t>“</a:t>
            </a:r>
            <a:r>
              <a:rPr lang="en-US" altLang="ja-JP">
                <a:latin typeface="Gill Sans MT" pitchFamily="34" charset="0"/>
              </a:rPr>
              <a:t>accepts</a:t>
            </a:r>
            <a:r>
              <a:rPr lang="ja-JP" altLang="en-US">
                <a:latin typeface="Gill Sans MT" pitchFamily="34" charset="0"/>
              </a:rPr>
              <a:t>”</a:t>
            </a:r>
            <a:r>
              <a:rPr lang="en-US" altLang="ja-JP">
                <a:latin typeface="Gill Sans MT" pitchFamily="34" charset="0"/>
              </a:rPr>
              <a:t> connection, notifying client</a:t>
            </a:r>
            <a:endParaRPr lang="en-US" altLang="en-US">
              <a:latin typeface="Gill Sans MT" pitchFamily="34" charset="0"/>
            </a:endParaRPr>
          </a:p>
        </p:txBody>
      </p:sp>
      <p:sp>
        <p:nvSpPr>
          <p:cNvPr id="53259" name="Rectangle 7"/>
          <p:cNvSpPr>
            <a:spLocks noChangeArrowheads="1"/>
          </p:cNvSpPr>
          <p:nvPr/>
        </p:nvSpPr>
        <p:spPr bwMode="auto">
          <a:xfrm>
            <a:off x="4724400" y="4381500"/>
            <a:ext cx="3810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itchFamily="34" charset="0"/>
              </a:rPr>
              <a:t>3</a:t>
            </a:r>
            <a:r>
              <a:rPr lang="en-US" altLang="en-US">
                <a:solidFill>
                  <a:srgbClr val="FF0000"/>
                </a:solidFill>
                <a:latin typeface="Gill Sans MT" pitchFamily="34" charset="0"/>
              </a:rPr>
              <a:t>.</a:t>
            </a:r>
            <a:r>
              <a:rPr lang="en-US" altLang="en-US">
                <a:latin typeface="Gill Sans MT" pitchFamily="34" charset="0"/>
              </a:rPr>
              <a:t> HTTP server receives request message, forms </a:t>
            </a:r>
            <a:r>
              <a:rPr lang="en-US" altLang="en-US" i="1">
                <a:solidFill>
                  <a:srgbClr val="000099"/>
                </a:solidFill>
                <a:latin typeface="Gill Sans MT" pitchFamily="34" charset="0"/>
              </a:rPr>
              <a:t>response message</a:t>
            </a:r>
            <a:r>
              <a:rPr lang="en-US" altLang="en-US">
                <a:latin typeface="Gill Sans MT" pitchFamily="34" charset="0"/>
              </a:rPr>
              <a:t> containing requested object, and sends message into its socket</a:t>
            </a:r>
          </a:p>
        </p:txBody>
      </p:sp>
      <p:sp>
        <p:nvSpPr>
          <p:cNvPr id="53261" name="Line 9"/>
          <p:cNvSpPr>
            <a:spLocks noChangeShapeType="1"/>
          </p:cNvSpPr>
          <p:nvPr/>
        </p:nvSpPr>
        <p:spPr bwMode="auto">
          <a:xfrm>
            <a:off x="3895725" y="4591050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10"/>
          <p:cNvSpPr>
            <a:spLocks noChangeShapeType="1"/>
          </p:cNvSpPr>
          <p:nvPr/>
        </p:nvSpPr>
        <p:spPr bwMode="auto">
          <a:xfrm flipH="1">
            <a:off x="3943350" y="5200650"/>
            <a:ext cx="1008063" cy="1025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5" name="Text Box 12"/>
          <p:cNvSpPr txBox="1">
            <a:spLocks noChangeArrowheads="1"/>
          </p:cNvSpPr>
          <p:nvPr/>
        </p:nvSpPr>
        <p:spPr bwMode="auto">
          <a:xfrm>
            <a:off x="247650" y="5942013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chemeClr val="bg2"/>
                </a:solidFill>
                <a:latin typeface="Arial" charset="0"/>
              </a:rPr>
              <a:t>time</a:t>
            </a:r>
          </a:p>
        </p:txBody>
      </p:sp>
      <p:sp>
        <p:nvSpPr>
          <p:cNvPr id="53260" name="Line 8"/>
          <p:cNvSpPr>
            <a:spLocks noChangeShapeType="1"/>
          </p:cNvSpPr>
          <p:nvPr/>
        </p:nvSpPr>
        <p:spPr bwMode="auto">
          <a:xfrm>
            <a:off x="4048125" y="2647950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14"/>
          <p:cNvSpPr>
            <a:spLocks noChangeShapeType="1"/>
          </p:cNvSpPr>
          <p:nvPr/>
        </p:nvSpPr>
        <p:spPr bwMode="auto">
          <a:xfrm flipH="1">
            <a:off x="3954463" y="3259138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8" name="Text Box 15"/>
          <p:cNvSpPr txBox="1">
            <a:spLocks noChangeArrowheads="1"/>
          </p:cNvSpPr>
          <p:nvPr/>
        </p:nvSpPr>
        <p:spPr bwMode="auto">
          <a:xfrm>
            <a:off x="6680200" y="1123950"/>
            <a:ext cx="1898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(contains text, </a:t>
            </a:r>
          </a:p>
          <a:p>
            <a:pPr algn="ctr"/>
            <a:r>
              <a:rPr lang="en-US" altLang="en-US" sz="1800">
                <a:latin typeface="Arial" charset="0"/>
              </a:rPr>
              <a:t>references to 10 </a:t>
            </a:r>
          </a:p>
          <a:p>
            <a:pPr algn="ctr"/>
            <a:r>
              <a:rPr lang="en-US" altLang="en-US" sz="1800">
                <a:latin typeface="Arial" charset="0"/>
              </a:rPr>
              <a:t>jpeg images)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61459" name="Rectangle 3"/>
          <p:cNvSpPr>
            <a:spLocks noChangeArrowheads="1"/>
          </p:cNvSpPr>
          <p:nvPr/>
        </p:nvSpPr>
        <p:spPr bwMode="auto">
          <a:xfrm>
            <a:off x="409575" y="1450975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altLang="en-US" sz="1800" b="1">
                <a:latin typeface="Courier New" pitchFamily="49" charset="0"/>
              </a:rPr>
              <a:t>www.someSchool.edu/someDepartment/home.index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build="p"/>
      <p:bldP spid="53257" grpId="0"/>
      <p:bldP spid="53258" grpId="0"/>
      <p:bldP spid="53259" grpId="0"/>
      <p:bldP spid="53261" grpId="0" animBg="1"/>
      <p:bldP spid="53262" grpId="0" animBg="1"/>
      <p:bldP spid="53260" grpId="0" animBg="1"/>
      <p:bldP spid="5326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6349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6B611823-5B30-4884-8DEA-7963B5E4B8D1}" type="slidenum">
              <a:rPr lang="en-US" altLang="en-US" sz="1200">
                <a:latin typeface="Tahoma" pitchFamily="34" charset="0"/>
              </a:rPr>
              <a:pPr/>
              <a:t>23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63492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8890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Rectangle 4"/>
          <p:cNvSpPr>
            <a:spLocks noGrp="1" noChangeArrowheads="1"/>
          </p:cNvSpPr>
          <p:nvPr>
            <p:ph type="title"/>
          </p:nvPr>
        </p:nvSpPr>
        <p:spPr>
          <a:xfrm>
            <a:off x="542925" y="257175"/>
            <a:ext cx="7772400" cy="866775"/>
          </a:xfrm>
        </p:spPr>
        <p:txBody>
          <a:bodyPr/>
          <a:lstStyle/>
          <a:p>
            <a:r>
              <a:rPr lang="en-US" altLang="en-US" sz="4000" smtClean="0"/>
              <a:t>Non-persistent HTTP (cont.)</a:t>
            </a:r>
            <a:endParaRPr lang="en-US" altLang="en-US" smtClean="0"/>
          </a:p>
        </p:txBody>
      </p:sp>
      <p:sp>
        <p:nvSpPr>
          <p:cNvPr id="54277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1095375" y="2058988"/>
            <a:ext cx="3810000" cy="1533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smtClean="0">
                <a:solidFill>
                  <a:srgbClr val="CC0000"/>
                </a:solidFill>
              </a:rPr>
              <a:t>5</a:t>
            </a:r>
            <a:r>
              <a:rPr lang="en-US" altLang="en-US" sz="1800" smtClean="0">
                <a:solidFill>
                  <a:srgbClr val="CC0000"/>
                </a:solidFill>
              </a:rPr>
              <a:t>.</a:t>
            </a:r>
            <a:r>
              <a:rPr lang="en-US" altLang="en-US" sz="1800" smtClean="0"/>
              <a:t> HTTP client receives response message containing html file, displays html.  Parsing html file, finds 10 referenced jpeg  objects</a:t>
            </a:r>
            <a:endParaRPr lang="en-US" altLang="en-US" sz="2000" smtClean="0"/>
          </a:p>
        </p:txBody>
      </p:sp>
      <p:sp>
        <p:nvSpPr>
          <p:cNvPr id="54278" name="Rectangle 7"/>
          <p:cNvSpPr>
            <a:spLocks noChangeArrowheads="1"/>
          </p:cNvSpPr>
          <p:nvPr/>
        </p:nvSpPr>
        <p:spPr bwMode="auto">
          <a:xfrm>
            <a:off x="1085850" y="356870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itchFamily="34" charset="0"/>
              </a:rPr>
              <a:t>6.</a:t>
            </a:r>
            <a:r>
              <a:rPr lang="en-US" altLang="en-US">
                <a:latin typeface="Gill Sans MT" pitchFamily="34" charset="0"/>
              </a:rPr>
              <a:t> Steps 1-5 repeated for each of 10 jpeg objects</a:t>
            </a:r>
          </a:p>
        </p:txBody>
      </p:sp>
      <p:sp>
        <p:nvSpPr>
          <p:cNvPr id="54279" name="Rectangle 8"/>
          <p:cNvSpPr>
            <a:spLocks noChangeArrowheads="1"/>
          </p:cNvSpPr>
          <p:nvPr/>
        </p:nvSpPr>
        <p:spPr bwMode="auto">
          <a:xfrm>
            <a:off x="5032375" y="149225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itchFamily="34" charset="0"/>
              </a:rPr>
              <a:t>4.</a:t>
            </a:r>
            <a:r>
              <a:rPr lang="en-US" altLang="en-US">
                <a:latin typeface="Gill Sans MT" pitchFamily="34" charset="0"/>
              </a:rPr>
              <a:t> HTTP server closes TCP connection. </a:t>
            </a:r>
          </a:p>
        </p:txBody>
      </p:sp>
      <p:sp>
        <p:nvSpPr>
          <p:cNvPr id="63497" name="Line 2"/>
          <p:cNvSpPr>
            <a:spLocks noChangeShapeType="1"/>
          </p:cNvSpPr>
          <p:nvPr/>
        </p:nvSpPr>
        <p:spPr bwMode="auto">
          <a:xfrm>
            <a:off x="542925" y="1519238"/>
            <a:ext cx="0" cy="25717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8" name="Rectangle 3"/>
          <p:cNvSpPr>
            <a:spLocks noChangeArrowheads="1"/>
          </p:cNvSpPr>
          <p:nvPr/>
        </p:nvSpPr>
        <p:spPr bwMode="auto">
          <a:xfrm>
            <a:off x="304800" y="3519488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sp>
        <p:nvSpPr>
          <p:cNvPr id="63499" name="Text Box 13"/>
          <p:cNvSpPr txBox="1">
            <a:spLocks noChangeArrowheads="1"/>
          </p:cNvSpPr>
          <p:nvPr/>
        </p:nvSpPr>
        <p:spPr bwMode="auto">
          <a:xfrm>
            <a:off x="236538" y="3382963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chemeClr val="bg2"/>
                </a:solidFill>
              </a:rPr>
              <a:t>time</a:t>
            </a:r>
          </a:p>
        </p:txBody>
      </p:sp>
      <p:sp>
        <p:nvSpPr>
          <p:cNvPr id="54283" name="Line 17"/>
          <p:cNvSpPr>
            <a:spLocks noChangeShapeType="1"/>
          </p:cNvSpPr>
          <p:nvPr/>
        </p:nvSpPr>
        <p:spPr bwMode="auto">
          <a:xfrm flipH="1">
            <a:off x="3762375" y="1449388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build="p"/>
      <p:bldP spid="54279" grpId="0"/>
      <p:bldP spid="5428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6553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67329B4-E14D-4FDB-AF4C-7C84C5C77923}" type="slidenum">
              <a:rPr lang="en-US" altLang="en-US" sz="1200">
                <a:latin typeface="Tahoma" pitchFamily="34" charset="0"/>
              </a:rPr>
              <a:pPr/>
              <a:t>24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65540" name="Picture 4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668338"/>
            <a:ext cx="70072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8" y="0"/>
            <a:ext cx="8223250" cy="925513"/>
          </a:xfrm>
        </p:spPr>
        <p:txBody>
          <a:bodyPr/>
          <a:lstStyle/>
          <a:p>
            <a:r>
              <a:rPr lang="en-US" altLang="en-US" sz="3600" smtClean="0"/>
              <a:t>Non-persistent HTTP: response time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58888"/>
            <a:ext cx="409098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RTT (definition):</a:t>
            </a:r>
            <a:r>
              <a:rPr lang="en-US" altLang="en-US" sz="2400" smtClean="0"/>
              <a:t> time for a small packet to travel from client to server and back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HTTP response time:</a:t>
            </a:r>
          </a:p>
          <a:p>
            <a:r>
              <a:rPr lang="en-US" altLang="en-US" sz="2400" smtClean="0"/>
              <a:t>one RTT to initiate TCP connection</a:t>
            </a:r>
          </a:p>
          <a:p>
            <a:r>
              <a:rPr lang="en-US" altLang="en-US" sz="2400" smtClean="0"/>
              <a:t>one RTT for HTTP request and first few bytes of HTTP response to return</a:t>
            </a:r>
          </a:p>
          <a:p>
            <a:r>
              <a:rPr lang="en-US" altLang="en-US" sz="2400" smtClean="0"/>
              <a:t>file transmission time</a:t>
            </a:r>
          </a:p>
          <a:p>
            <a:r>
              <a:rPr lang="en-US" altLang="en-US" sz="2400" smtClean="0"/>
              <a:t>non-persistent HTTP response time =   	</a:t>
            </a:r>
          </a:p>
          <a:p>
            <a:pPr lvl="1">
              <a:buFont typeface="Wingdings" pitchFamily="2" charset="2"/>
              <a:buNone/>
            </a:pPr>
            <a:r>
              <a:rPr lang="en-US" altLang="en-US" smtClean="0"/>
              <a:t>   2RTT+ file transmission  time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sp>
        <p:nvSpPr>
          <p:cNvPr id="65543" name="Line 15"/>
          <p:cNvSpPr>
            <a:spLocks noChangeShapeType="1"/>
          </p:cNvSpPr>
          <p:nvPr/>
        </p:nvSpPr>
        <p:spPr bwMode="auto">
          <a:xfrm>
            <a:off x="6116638" y="2490788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4" name="Line 16"/>
          <p:cNvSpPr>
            <a:spLocks noChangeShapeType="1"/>
          </p:cNvSpPr>
          <p:nvPr/>
        </p:nvSpPr>
        <p:spPr bwMode="auto">
          <a:xfrm>
            <a:off x="7807325" y="2484438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5" name="Line 17"/>
          <p:cNvSpPr>
            <a:spLocks noChangeShapeType="1"/>
          </p:cNvSpPr>
          <p:nvPr/>
        </p:nvSpPr>
        <p:spPr bwMode="auto">
          <a:xfrm>
            <a:off x="6130925" y="272256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6" name="Line 18"/>
          <p:cNvSpPr>
            <a:spLocks noChangeShapeType="1"/>
          </p:cNvSpPr>
          <p:nvPr/>
        </p:nvSpPr>
        <p:spPr bwMode="auto">
          <a:xfrm flipH="1">
            <a:off x="6116638" y="3160713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7" name="Line 19"/>
          <p:cNvSpPr>
            <a:spLocks noChangeShapeType="1"/>
          </p:cNvSpPr>
          <p:nvPr/>
        </p:nvSpPr>
        <p:spPr bwMode="auto">
          <a:xfrm>
            <a:off x="6124575" y="366871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8" name="Line 20"/>
          <p:cNvSpPr>
            <a:spLocks noChangeShapeType="1"/>
          </p:cNvSpPr>
          <p:nvPr/>
        </p:nvSpPr>
        <p:spPr bwMode="auto">
          <a:xfrm flipH="1">
            <a:off x="6140450" y="4151313"/>
            <a:ext cx="1673225" cy="37941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9" name="AutoShape 21"/>
          <p:cNvSpPr>
            <a:spLocks/>
          </p:cNvSpPr>
          <p:nvPr/>
        </p:nvSpPr>
        <p:spPr bwMode="auto">
          <a:xfrm>
            <a:off x="7886700" y="4067175"/>
            <a:ext cx="74613" cy="182563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65550" name="Text Box 22"/>
          <p:cNvSpPr txBox="1">
            <a:spLocks noChangeArrowheads="1"/>
          </p:cNvSpPr>
          <p:nvPr/>
        </p:nvSpPr>
        <p:spPr bwMode="auto">
          <a:xfrm>
            <a:off x="7916863" y="3763963"/>
            <a:ext cx="9652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time to </a:t>
            </a:r>
          </a:p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transmit </a:t>
            </a:r>
          </a:p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file</a:t>
            </a:r>
          </a:p>
        </p:txBody>
      </p:sp>
      <p:sp>
        <p:nvSpPr>
          <p:cNvPr id="65551" name="Line 23"/>
          <p:cNvSpPr>
            <a:spLocks noChangeShapeType="1"/>
          </p:cNvSpPr>
          <p:nvPr/>
        </p:nvSpPr>
        <p:spPr bwMode="auto">
          <a:xfrm>
            <a:off x="5726113" y="2697163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2" name="Text Box 24"/>
          <p:cNvSpPr txBox="1">
            <a:spLocks noChangeArrowheads="1"/>
          </p:cNvSpPr>
          <p:nvPr/>
        </p:nvSpPr>
        <p:spPr bwMode="auto">
          <a:xfrm>
            <a:off x="4595813" y="2409825"/>
            <a:ext cx="12319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initiate TCP</a:t>
            </a:r>
          </a:p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connection</a:t>
            </a:r>
          </a:p>
        </p:txBody>
      </p:sp>
      <p:sp>
        <p:nvSpPr>
          <p:cNvPr id="65553" name="AutoShape 25"/>
          <p:cNvSpPr>
            <a:spLocks/>
          </p:cNvSpPr>
          <p:nvPr/>
        </p:nvSpPr>
        <p:spPr bwMode="auto">
          <a:xfrm>
            <a:off x="5861050" y="2747963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65554" name="Text Box 26"/>
          <p:cNvSpPr txBox="1">
            <a:spLocks noChangeArrowheads="1"/>
          </p:cNvSpPr>
          <p:nvPr/>
        </p:nvSpPr>
        <p:spPr bwMode="auto">
          <a:xfrm>
            <a:off x="5378450" y="2959100"/>
            <a:ext cx="577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latin typeface="Arial" charset="0"/>
              </a:rPr>
              <a:t>RTT</a:t>
            </a:r>
          </a:p>
        </p:txBody>
      </p:sp>
      <p:sp>
        <p:nvSpPr>
          <p:cNvPr id="65555" name="Line 27"/>
          <p:cNvSpPr>
            <a:spLocks noChangeShapeType="1"/>
          </p:cNvSpPr>
          <p:nvPr/>
        </p:nvSpPr>
        <p:spPr bwMode="auto">
          <a:xfrm>
            <a:off x="5775325" y="3602038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6" name="Text Box 28"/>
          <p:cNvSpPr txBox="1">
            <a:spLocks noChangeArrowheads="1"/>
          </p:cNvSpPr>
          <p:nvPr/>
        </p:nvSpPr>
        <p:spPr bwMode="auto">
          <a:xfrm>
            <a:off x="5024438" y="3302000"/>
            <a:ext cx="8620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request</a:t>
            </a:r>
          </a:p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file</a:t>
            </a:r>
          </a:p>
        </p:txBody>
      </p:sp>
      <p:sp>
        <p:nvSpPr>
          <p:cNvPr id="65557" name="AutoShape 29"/>
          <p:cNvSpPr>
            <a:spLocks/>
          </p:cNvSpPr>
          <p:nvPr/>
        </p:nvSpPr>
        <p:spPr bwMode="auto">
          <a:xfrm>
            <a:off x="5867400" y="3657600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65558" name="Text Box 30"/>
          <p:cNvSpPr txBox="1">
            <a:spLocks noChangeArrowheads="1"/>
          </p:cNvSpPr>
          <p:nvPr/>
        </p:nvSpPr>
        <p:spPr bwMode="auto">
          <a:xfrm>
            <a:off x="5397500" y="3881438"/>
            <a:ext cx="57785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latin typeface="Arial" charset="0"/>
              </a:rPr>
              <a:t>RTT</a:t>
            </a:r>
          </a:p>
        </p:txBody>
      </p:sp>
      <p:sp>
        <p:nvSpPr>
          <p:cNvPr id="65559" name="Line 35"/>
          <p:cNvSpPr>
            <a:spLocks noChangeShapeType="1"/>
          </p:cNvSpPr>
          <p:nvPr/>
        </p:nvSpPr>
        <p:spPr bwMode="auto">
          <a:xfrm flipH="1">
            <a:off x="5786438" y="4591050"/>
            <a:ext cx="342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60" name="Text Box 36"/>
          <p:cNvSpPr txBox="1">
            <a:spLocks noChangeArrowheads="1"/>
          </p:cNvSpPr>
          <p:nvPr/>
        </p:nvSpPr>
        <p:spPr bwMode="auto">
          <a:xfrm>
            <a:off x="5243513" y="4438650"/>
            <a:ext cx="9509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file</a:t>
            </a:r>
          </a:p>
          <a:p>
            <a:pPr>
              <a:lnSpc>
                <a:spcPct val="85000"/>
              </a:lnSpc>
            </a:pPr>
            <a:r>
              <a:rPr lang="en-US" altLang="en-US" sz="1600">
                <a:solidFill>
                  <a:srgbClr val="CC0000"/>
                </a:solidFill>
                <a:latin typeface="Arial" charset="0"/>
              </a:rPr>
              <a:t>received</a:t>
            </a:r>
          </a:p>
        </p:txBody>
      </p:sp>
      <p:sp>
        <p:nvSpPr>
          <p:cNvPr id="65561" name="Text Box 37"/>
          <p:cNvSpPr txBox="1">
            <a:spLocks noChangeArrowheads="1"/>
          </p:cNvSpPr>
          <p:nvPr/>
        </p:nvSpPr>
        <p:spPr bwMode="auto">
          <a:xfrm>
            <a:off x="5891213" y="5337175"/>
            <a:ext cx="5683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>
                <a:latin typeface="Arial" charset="0"/>
              </a:rPr>
              <a:t>time</a:t>
            </a:r>
          </a:p>
        </p:txBody>
      </p:sp>
      <p:sp>
        <p:nvSpPr>
          <p:cNvPr id="65562" name="Text Box 38"/>
          <p:cNvSpPr txBox="1">
            <a:spLocks noChangeArrowheads="1"/>
          </p:cNvSpPr>
          <p:nvPr/>
        </p:nvSpPr>
        <p:spPr bwMode="auto">
          <a:xfrm>
            <a:off x="7569200" y="5319713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600">
                <a:latin typeface="Arial" charset="0"/>
              </a:rPr>
              <a:t>time</a:t>
            </a:r>
          </a:p>
        </p:txBody>
      </p:sp>
      <p:grpSp>
        <p:nvGrpSpPr>
          <p:cNvPr id="65563" name="Group 43"/>
          <p:cNvGrpSpPr>
            <a:grpSpLocks/>
          </p:cNvGrpSpPr>
          <p:nvPr/>
        </p:nvGrpSpPr>
        <p:grpSpPr bwMode="auto">
          <a:xfrm>
            <a:off x="7607300" y="1717675"/>
            <a:ext cx="423863" cy="684213"/>
            <a:chOff x="4140" y="429"/>
            <a:chExt cx="1425" cy="2396"/>
          </a:xfrm>
        </p:grpSpPr>
        <p:sp>
          <p:nvSpPr>
            <p:cNvPr id="65567" name="Freeform 4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68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69" name="Freeform 4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70" name="Freeform 4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71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65572" name="Group 4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597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65598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65573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65574" name="Group 5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595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65596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65575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76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65577" name="Group 5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5593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65594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65578" name="Freeform 6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579" name="Group 6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5591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65592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65580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81" name="Freeform 6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82" name="Freeform 6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83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84" name="Freeform 6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85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86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87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88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65589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65590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65564" name="Group 76"/>
          <p:cNvGrpSpPr>
            <a:grpSpLocks/>
          </p:cNvGrpSpPr>
          <p:nvPr/>
        </p:nvGrpSpPr>
        <p:grpSpPr bwMode="auto">
          <a:xfrm>
            <a:off x="5605463" y="1739900"/>
            <a:ext cx="698500" cy="709613"/>
            <a:chOff x="-44" y="1473"/>
            <a:chExt cx="981" cy="1105"/>
          </a:xfrm>
        </p:grpSpPr>
        <p:pic>
          <p:nvPicPr>
            <p:cNvPr id="65565" name="Picture 7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66" name="Freeform 7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6758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1EF9727B-3784-4D88-A99D-69045CBDF5C3}" type="slidenum">
              <a:rPr lang="en-US" altLang="en-US" sz="1200">
                <a:latin typeface="Tahoma" pitchFamily="34" charset="0"/>
              </a:rPr>
              <a:pPr/>
              <a:t>25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173038"/>
            <a:ext cx="7772400" cy="838200"/>
          </a:xfrm>
        </p:spPr>
        <p:txBody>
          <a:bodyPr/>
          <a:lstStyle/>
          <a:p>
            <a:r>
              <a:rPr lang="en-US" altLang="en-US" sz="3600" smtClean="0"/>
              <a:t>Persistent HTTP</a:t>
            </a:r>
            <a:endParaRPr lang="en-US" altLang="en-US" smtClean="0"/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4975" y="1414463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non-persistent HTTP issues:</a:t>
            </a:r>
          </a:p>
          <a:p>
            <a:r>
              <a:rPr lang="en-US" altLang="en-US" sz="2400" smtClean="0"/>
              <a:t>requires 2 RTTs per object</a:t>
            </a:r>
          </a:p>
          <a:p>
            <a:r>
              <a:rPr lang="en-US" altLang="en-US" sz="2400" smtClean="0"/>
              <a:t>OS overhead for </a:t>
            </a:r>
            <a:r>
              <a:rPr lang="en-US" altLang="en-US" sz="2400" i="1" smtClean="0"/>
              <a:t>each</a:t>
            </a:r>
            <a:r>
              <a:rPr lang="en-US" altLang="en-US" sz="2400" smtClean="0"/>
              <a:t> TCP connection</a:t>
            </a:r>
          </a:p>
          <a:p>
            <a:r>
              <a:rPr lang="en-US" altLang="en-US" sz="2400" smtClean="0"/>
              <a:t>browsers often open parallel TCP connections to fetch referenced objects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endParaRPr lang="en-US" altLang="en-US" sz="2000" smtClean="0"/>
          </a:p>
          <a:p>
            <a:endParaRPr lang="en-US" altLang="en-US" sz="2000" smtClean="0"/>
          </a:p>
        </p:txBody>
      </p:sp>
      <p:sp>
        <p:nvSpPr>
          <p:cNvPr id="67590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4703763" y="143827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persistent  HTTP:</a:t>
            </a:r>
          </a:p>
          <a:p>
            <a:r>
              <a:rPr lang="en-US" altLang="en-US" sz="2400" smtClean="0"/>
              <a:t>server leaves connection open after sending response</a:t>
            </a:r>
          </a:p>
          <a:p>
            <a:r>
              <a:rPr lang="en-US" altLang="en-US" sz="2400" smtClean="0"/>
              <a:t>subsequent HTTP messages  between same client/server sent over open connection</a:t>
            </a:r>
          </a:p>
          <a:p>
            <a:r>
              <a:rPr lang="en-US" altLang="en-US" sz="2400" smtClean="0"/>
              <a:t>client sends requests as soon as it encounters a referenced object</a:t>
            </a:r>
          </a:p>
          <a:p>
            <a:r>
              <a:rPr lang="en-US" altLang="en-US" sz="2400" smtClean="0"/>
              <a:t>as little as one RTT for all the referenced objects</a:t>
            </a:r>
          </a:p>
        </p:txBody>
      </p:sp>
      <p:pic>
        <p:nvPicPr>
          <p:cNvPr id="67591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796925"/>
            <a:ext cx="330358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8397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3C6C92E-2F80-4E95-A811-FB9991BEEC90}" type="slidenum">
              <a:rPr lang="en-US" altLang="en-US" sz="1200">
                <a:latin typeface="Tahoma" pitchFamily="34" charset="0"/>
              </a:rPr>
              <a:pPr/>
              <a:t>26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User-server state: cookies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8879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smtClean="0"/>
              <a:t>many Web sites use cookies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i="1" smtClean="0">
                <a:solidFill>
                  <a:srgbClr val="CC0000"/>
                </a:solidFill>
              </a:rPr>
              <a:t>four components: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smtClean="0"/>
              <a:t>1) </a:t>
            </a:r>
            <a:r>
              <a:rPr lang="en-US" altLang="en-US" smtClean="0"/>
              <a:t>cookie header line of HTTP </a:t>
            </a:r>
            <a:r>
              <a:rPr lang="en-US" altLang="en-US" i="1" smtClean="0"/>
              <a:t>response</a:t>
            </a:r>
            <a:r>
              <a:rPr lang="en-US" altLang="en-US" smtClean="0"/>
              <a:t> message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/>
              <a:t>2) cookie header line in next HTTP </a:t>
            </a:r>
            <a:r>
              <a:rPr lang="en-US" altLang="en-US" i="1" smtClean="0"/>
              <a:t>request</a:t>
            </a:r>
            <a:r>
              <a:rPr lang="en-US" altLang="en-US" smtClean="0"/>
              <a:t> message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/>
              <a:t>3) cookie file kept on user</a:t>
            </a:r>
            <a:r>
              <a:rPr lang="ja-JP" altLang="en-US" smtClean="0"/>
              <a:t>’</a:t>
            </a:r>
            <a:r>
              <a:rPr lang="en-US" altLang="ja-JP" smtClean="0"/>
              <a:t>s host, managed by user</a:t>
            </a:r>
            <a:r>
              <a:rPr lang="ja-JP" altLang="en-US" smtClean="0"/>
              <a:t>’</a:t>
            </a:r>
            <a:r>
              <a:rPr lang="en-US" altLang="ja-JP" smtClean="0"/>
              <a:t>s browser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/>
              <a:t>4) back-end database at Web site</a:t>
            </a:r>
          </a:p>
        </p:txBody>
      </p:sp>
      <p:sp>
        <p:nvSpPr>
          <p:cNvPr id="8397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25950" y="1392238"/>
            <a:ext cx="405923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rgbClr val="CC0000"/>
                </a:solidFill>
              </a:rPr>
              <a:t>example:</a:t>
            </a:r>
          </a:p>
          <a:p>
            <a:r>
              <a:rPr lang="en-US" altLang="en-US" sz="2400" smtClean="0"/>
              <a:t>Susan always accesses Internet from PC</a:t>
            </a:r>
          </a:p>
          <a:p>
            <a:r>
              <a:rPr lang="en-US" altLang="en-US" sz="2400" smtClean="0"/>
              <a:t>visits specific e-commerce site for first time</a:t>
            </a:r>
          </a:p>
          <a:p>
            <a:r>
              <a:rPr lang="en-US" altLang="en-US" sz="2400" smtClean="0"/>
              <a:t>when initial HTTP requests arrives at site, site creates: </a:t>
            </a:r>
          </a:p>
          <a:p>
            <a:pPr lvl="1"/>
            <a:r>
              <a:rPr lang="en-US" altLang="en-US" smtClean="0"/>
              <a:t>unique ID</a:t>
            </a:r>
          </a:p>
          <a:p>
            <a:pPr lvl="1"/>
            <a:r>
              <a:rPr lang="en-US" altLang="en-US" smtClean="0"/>
              <a:t>entry in backend database for ID</a:t>
            </a:r>
          </a:p>
        </p:txBody>
      </p:sp>
      <p:pic>
        <p:nvPicPr>
          <p:cNvPr id="83975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46163"/>
            <a:ext cx="61261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8601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DD8513F8-E13C-4008-BE21-D8F40B91A5DF}" type="slidenum">
              <a:rPr lang="en-US" altLang="en-US" sz="1200">
                <a:latin typeface="Tahoma" pitchFamily="34" charset="0"/>
              </a:rPr>
              <a:pPr/>
              <a:t>27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86020" name="Picture 5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788988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153988"/>
            <a:ext cx="7772400" cy="773112"/>
          </a:xfrm>
        </p:spPr>
        <p:txBody>
          <a:bodyPr/>
          <a:lstStyle/>
          <a:p>
            <a:r>
              <a:rPr lang="en-US" altLang="en-US" sz="3600" smtClean="0"/>
              <a:t>Cookies: keeping </a:t>
            </a:r>
            <a:r>
              <a:rPr lang="ja-JP" altLang="en-US" sz="3600" smtClean="0"/>
              <a:t>“</a:t>
            </a:r>
            <a:r>
              <a:rPr lang="en-US" altLang="ja-JP" sz="3600" smtClean="0"/>
              <a:t>state</a:t>
            </a:r>
            <a:r>
              <a:rPr lang="ja-JP" altLang="en-US" sz="3600" smtClean="0"/>
              <a:t>”</a:t>
            </a:r>
            <a:r>
              <a:rPr lang="en-US" altLang="ja-JP" sz="3600" smtClean="0"/>
              <a:t> (cont.)</a:t>
            </a:r>
            <a:endParaRPr lang="en-US" altLang="en-US" smtClean="0"/>
          </a:p>
        </p:txBody>
      </p:sp>
      <p:sp>
        <p:nvSpPr>
          <p:cNvPr id="86022" name="Text Box 5"/>
          <p:cNvSpPr txBox="1">
            <a:spLocks noChangeArrowheads="1"/>
          </p:cNvSpPr>
          <p:nvPr/>
        </p:nvSpPr>
        <p:spPr bwMode="auto">
          <a:xfrm>
            <a:off x="1052513" y="122713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client</a:t>
            </a:r>
          </a:p>
        </p:txBody>
      </p:sp>
      <p:sp>
        <p:nvSpPr>
          <p:cNvPr id="86023" name="Text Box 6"/>
          <p:cNvSpPr txBox="1">
            <a:spLocks noChangeArrowheads="1"/>
          </p:cNvSpPr>
          <p:nvPr/>
        </p:nvSpPr>
        <p:spPr bwMode="auto">
          <a:xfrm>
            <a:off x="5973763" y="1273175"/>
            <a:ext cx="88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server</a:t>
            </a:r>
          </a:p>
        </p:txBody>
      </p:sp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2200275" y="4227513"/>
            <a:ext cx="3305175" cy="425450"/>
            <a:chOff x="1386" y="2663"/>
            <a:chExt cx="2082" cy="268"/>
          </a:xfrm>
        </p:grpSpPr>
        <p:sp>
          <p:nvSpPr>
            <p:cNvPr id="86104" name="Line 16"/>
            <p:cNvSpPr>
              <a:spLocks noChangeShapeType="1"/>
            </p:cNvSpPr>
            <p:nvPr/>
          </p:nvSpPr>
          <p:spPr bwMode="auto">
            <a:xfrm flipH="1">
              <a:off x="1386" y="2663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6105" name="Group 17"/>
            <p:cNvGrpSpPr>
              <a:grpSpLocks/>
            </p:cNvGrpSpPr>
            <p:nvPr/>
          </p:nvGrpSpPr>
          <p:grpSpPr bwMode="auto">
            <a:xfrm>
              <a:off x="1553" y="2694"/>
              <a:ext cx="1743" cy="237"/>
              <a:chOff x="3268" y="2846"/>
              <a:chExt cx="1743" cy="237"/>
            </a:xfrm>
          </p:grpSpPr>
          <p:sp>
            <p:nvSpPr>
              <p:cNvPr id="86106" name="Rectangle 18"/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86107" name="Text Box 19"/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743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Arial" charset="0"/>
                  </a:rPr>
                  <a:t>usual http response msg</a:t>
                </a:r>
                <a:endParaRPr lang="en-US" altLang="en-US" sz="2400">
                  <a:latin typeface="Arial" charset="0"/>
                </a:endParaRPr>
              </a:p>
            </p:txBody>
          </p:sp>
        </p:grp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2209800" y="6145213"/>
            <a:ext cx="3305175" cy="407987"/>
            <a:chOff x="1392" y="3605"/>
            <a:chExt cx="2082" cy="257"/>
          </a:xfrm>
        </p:grpSpPr>
        <p:sp>
          <p:nvSpPr>
            <p:cNvPr id="86100" name="Line 24"/>
            <p:cNvSpPr>
              <a:spLocks noChangeShapeType="1"/>
            </p:cNvSpPr>
            <p:nvPr/>
          </p:nvSpPr>
          <p:spPr bwMode="auto">
            <a:xfrm flipH="1">
              <a:off x="1392" y="3605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6101" name="Group 25"/>
            <p:cNvGrpSpPr>
              <a:grpSpLocks/>
            </p:cNvGrpSpPr>
            <p:nvPr/>
          </p:nvGrpSpPr>
          <p:grpSpPr bwMode="auto">
            <a:xfrm>
              <a:off x="1552" y="3625"/>
              <a:ext cx="1743" cy="237"/>
              <a:chOff x="3268" y="2846"/>
              <a:chExt cx="1743" cy="237"/>
            </a:xfrm>
          </p:grpSpPr>
          <p:sp>
            <p:nvSpPr>
              <p:cNvPr id="86102" name="Rectangle 26"/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86103" name="Text Box 27"/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743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Arial" charset="0"/>
                  </a:rPr>
                  <a:t>usual http response msg</a:t>
                </a:r>
                <a:endParaRPr lang="en-US" altLang="en-US" sz="2400">
                  <a:latin typeface="Arial" charset="0"/>
                </a:endParaRPr>
              </a:p>
            </p:txBody>
          </p:sp>
        </p:grpSp>
      </p:grpSp>
      <p:sp>
        <p:nvSpPr>
          <p:cNvPr id="50235" name="Text Box 59"/>
          <p:cNvSpPr txBox="1">
            <a:spLocks noChangeArrowheads="1"/>
          </p:cNvSpPr>
          <p:nvPr/>
        </p:nvSpPr>
        <p:spPr bwMode="auto">
          <a:xfrm>
            <a:off x="981075" y="2454275"/>
            <a:ext cx="1787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600">
                <a:latin typeface="Arial" charset="0"/>
              </a:rPr>
              <a:t>cookie file</a:t>
            </a:r>
          </a:p>
        </p:txBody>
      </p:sp>
      <p:sp>
        <p:nvSpPr>
          <p:cNvPr id="50242" name="Text Box 66"/>
          <p:cNvSpPr txBox="1">
            <a:spLocks noChangeArrowheads="1"/>
          </p:cNvSpPr>
          <p:nvPr/>
        </p:nvSpPr>
        <p:spPr bwMode="auto">
          <a:xfrm>
            <a:off x="0" y="4878388"/>
            <a:ext cx="173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800">
                <a:latin typeface="Arial" charset="0"/>
              </a:rPr>
              <a:t>one week later:</a:t>
            </a:r>
          </a:p>
        </p:txBody>
      </p:sp>
      <p:grpSp>
        <p:nvGrpSpPr>
          <p:cNvPr id="6" name="Group 89"/>
          <p:cNvGrpSpPr>
            <a:grpSpLocks/>
          </p:cNvGrpSpPr>
          <p:nvPr/>
        </p:nvGrpSpPr>
        <p:grpSpPr bwMode="auto">
          <a:xfrm>
            <a:off x="2209800" y="3589338"/>
            <a:ext cx="5638800" cy="1028700"/>
            <a:chOff x="1392" y="2261"/>
            <a:chExt cx="3552" cy="648"/>
          </a:xfrm>
        </p:grpSpPr>
        <p:sp>
          <p:nvSpPr>
            <p:cNvPr id="86093" name="Line 12"/>
            <p:cNvSpPr>
              <a:spLocks noChangeShapeType="1"/>
            </p:cNvSpPr>
            <p:nvPr/>
          </p:nvSpPr>
          <p:spPr bwMode="auto">
            <a:xfrm>
              <a:off x="1392" y="2357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94" name="Text Box 15"/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3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800">
                  <a:latin typeface="Arial" charset="0"/>
                </a:rPr>
                <a:t>usual http request msg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en-US" sz="2000" b="1">
                  <a:latin typeface="Arial" charset="0"/>
                </a:rPr>
                <a:t>cookie: 1678</a:t>
              </a:r>
            </a:p>
          </p:txBody>
        </p:sp>
        <p:sp>
          <p:nvSpPr>
            <p:cNvPr id="86095" name="Text Box 28"/>
            <p:cNvSpPr txBox="1">
              <a:spLocks noChangeArrowheads="1"/>
            </p:cNvSpPr>
            <p:nvPr/>
          </p:nvSpPr>
          <p:spPr bwMode="auto">
            <a:xfrm>
              <a:off x="3554" y="2332"/>
              <a:ext cx="59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cookie-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specific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action</a:t>
              </a:r>
            </a:p>
          </p:txBody>
        </p:sp>
        <p:sp>
          <p:nvSpPr>
            <p:cNvPr id="86096" name="Line 42"/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6097" name="Group 83"/>
            <p:cNvGrpSpPr>
              <a:grpSpLocks/>
            </p:cNvGrpSpPr>
            <p:nvPr/>
          </p:nvGrpSpPr>
          <p:grpSpPr bwMode="auto">
            <a:xfrm>
              <a:off x="4306" y="2363"/>
              <a:ext cx="564" cy="231"/>
              <a:chOff x="4306" y="2273"/>
              <a:chExt cx="564" cy="231"/>
            </a:xfrm>
          </p:grpSpPr>
          <p:sp>
            <p:nvSpPr>
              <p:cNvPr id="86098" name="Rectangle 72"/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86099" name="Text Box 43"/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r>
                  <a:rPr lang="en-US" altLang="en-US" sz="1800">
                    <a:latin typeface="Arial" charset="0"/>
                  </a:rPr>
                  <a:t>access</a:t>
                </a:r>
              </a:p>
            </p:txBody>
          </p:sp>
        </p:grpSp>
      </p:grpSp>
      <p:grpSp>
        <p:nvGrpSpPr>
          <p:cNvPr id="86029" name="Group 81"/>
          <p:cNvGrpSpPr>
            <a:grpSpLocks/>
          </p:cNvGrpSpPr>
          <p:nvPr/>
        </p:nvGrpSpPr>
        <p:grpSpPr bwMode="auto">
          <a:xfrm>
            <a:off x="936625" y="1922463"/>
            <a:ext cx="1068388" cy="565150"/>
            <a:chOff x="476" y="1047"/>
            <a:chExt cx="906" cy="486"/>
          </a:xfrm>
        </p:grpSpPr>
        <p:sp>
          <p:nvSpPr>
            <p:cNvPr id="86091" name="AutoShape 67"/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86092" name="Text Box 60"/>
            <p:cNvSpPr txBox="1">
              <a:spLocks noChangeArrowheads="1"/>
            </p:cNvSpPr>
            <p:nvPr/>
          </p:nvSpPr>
          <p:spPr bwMode="auto">
            <a:xfrm>
              <a:off x="476" y="1134"/>
              <a:ext cx="87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chemeClr val="bg1"/>
                  </a:solidFill>
                  <a:latin typeface="Arial" charset="0"/>
                </a:rPr>
                <a:t>ebay 8734</a:t>
              </a:r>
            </a:p>
          </p:txBody>
        </p:sp>
      </p:grpSp>
      <p:grpSp>
        <p:nvGrpSpPr>
          <p:cNvPr id="9" name="Group 95"/>
          <p:cNvGrpSpPr>
            <a:grpSpLocks/>
          </p:cNvGrpSpPr>
          <p:nvPr/>
        </p:nvGrpSpPr>
        <p:grpSpPr bwMode="auto">
          <a:xfrm>
            <a:off x="2200275" y="2106613"/>
            <a:ext cx="5921375" cy="1296987"/>
            <a:chOff x="1386" y="1327"/>
            <a:chExt cx="3730" cy="817"/>
          </a:xfrm>
        </p:grpSpPr>
        <p:sp>
          <p:nvSpPr>
            <p:cNvPr id="86084" name="Line 4"/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85" name="Text Box 8"/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Arial" charset="0"/>
                </a:rPr>
                <a:t>usual http request msg</a:t>
              </a:r>
            </a:p>
          </p:txBody>
        </p:sp>
        <p:sp>
          <p:nvSpPr>
            <p:cNvPr id="86086" name="Text Box 31"/>
            <p:cNvSpPr txBox="1">
              <a:spLocks noChangeArrowheads="1"/>
            </p:cNvSpPr>
            <p:nvPr/>
          </p:nvSpPr>
          <p:spPr bwMode="auto">
            <a:xfrm>
              <a:off x="3341" y="1390"/>
              <a:ext cx="108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Amazon server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creates ID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1678 for user</a:t>
              </a:r>
            </a:p>
          </p:txBody>
        </p:sp>
        <p:grpSp>
          <p:nvGrpSpPr>
            <p:cNvPr id="86087" name="Group 82"/>
            <p:cNvGrpSpPr>
              <a:grpSpLocks/>
            </p:cNvGrpSpPr>
            <p:nvPr/>
          </p:nvGrpSpPr>
          <p:grpSpPr bwMode="auto">
            <a:xfrm>
              <a:off x="4377" y="1730"/>
              <a:ext cx="739" cy="414"/>
              <a:chOff x="4377" y="1640"/>
              <a:chExt cx="739" cy="414"/>
            </a:xfrm>
          </p:grpSpPr>
          <p:sp>
            <p:nvSpPr>
              <p:cNvPr id="86088" name="Line 40"/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89" name="Rectangle 73"/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86090" name="Text Box 41"/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</a:pPr>
                <a:r>
                  <a:rPr lang="en-US" altLang="en-US" sz="1800">
                    <a:latin typeface="Arial" charset="0"/>
                  </a:rPr>
                  <a:t>create</a:t>
                </a:r>
              </a:p>
              <a:p>
                <a:pPr>
                  <a:lnSpc>
                    <a:spcPct val="75000"/>
                  </a:lnSpc>
                </a:pPr>
                <a:r>
                  <a:rPr lang="en-US" altLang="en-US" sz="1800">
                    <a:latin typeface="Arial" charset="0"/>
                  </a:rPr>
                  <a:t>    entry</a:t>
                </a:r>
              </a:p>
            </p:txBody>
          </p:sp>
        </p:grpSp>
      </p:grpSp>
      <p:grpSp>
        <p:nvGrpSpPr>
          <p:cNvPr id="11" name="Group 88"/>
          <p:cNvGrpSpPr>
            <a:grpSpLocks/>
          </p:cNvGrpSpPr>
          <p:nvPr/>
        </p:nvGrpSpPr>
        <p:grpSpPr bwMode="auto">
          <a:xfrm>
            <a:off x="919163" y="2676525"/>
            <a:ext cx="4392612" cy="871538"/>
            <a:chOff x="459" y="1637"/>
            <a:chExt cx="3027" cy="704"/>
          </a:xfrm>
        </p:grpSpPr>
        <p:sp>
          <p:nvSpPr>
            <p:cNvPr id="86079" name="Line 9"/>
            <p:cNvSpPr>
              <a:spLocks noChangeShapeType="1"/>
            </p:cNvSpPr>
            <p:nvPr/>
          </p:nvSpPr>
          <p:spPr bwMode="auto">
            <a:xfrm flipH="1">
              <a:off x="1404" y="1637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80" name="Text Box 11"/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4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800">
                  <a:latin typeface="Arial" charset="0"/>
                </a:rPr>
                <a:t>usual http response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en-US" sz="2000" b="1">
                  <a:latin typeface="Arial" charset="0"/>
                </a:rPr>
                <a:t>set-cookie: 1678</a:t>
              </a:r>
              <a:r>
                <a:rPr lang="en-US" altLang="en-US" sz="2000" b="1">
                  <a:latin typeface="Courier New" pitchFamily="49" charset="0"/>
                </a:rPr>
                <a:t> </a:t>
              </a:r>
            </a:p>
          </p:txBody>
        </p:sp>
        <p:grpSp>
          <p:nvGrpSpPr>
            <p:cNvPr id="86081" name="Group 76"/>
            <p:cNvGrpSpPr>
              <a:grpSpLocks/>
            </p:cNvGrpSpPr>
            <p:nvPr/>
          </p:nvGrpSpPr>
          <p:grpSpPr bwMode="auto">
            <a:xfrm>
              <a:off x="459" y="1836"/>
              <a:ext cx="1004" cy="505"/>
              <a:chOff x="684" y="1746"/>
              <a:chExt cx="1004" cy="505"/>
            </a:xfrm>
          </p:grpSpPr>
          <p:sp>
            <p:nvSpPr>
              <p:cNvPr id="86082" name="AutoShape 74"/>
              <p:cNvSpPr>
                <a:spLocks noChangeArrowheads="1"/>
              </p:cNvSpPr>
              <p:nvPr/>
            </p:nvSpPr>
            <p:spPr bwMode="auto">
              <a:xfrm>
                <a:off x="735" y="1746"/>
                <a:ext cx="829" cy="486"/>
              </a:xfrm>
              <a:prstGeom prst="can">
                <a:avLst>
                  <a:gd name="adj" fmla="val 25000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86083" name="Text Box 75"/>
              <p:cNvSpPr txBox="1">
                <a:spLocks noChangeArrowheads="1"/>
              </p:cNvSpPr>
              <p:nvPr/>
            </p:nvSpPr>
            <p:spPr bwMode="auto">
              <a:xfrm>
                <a:off x="684" y="1833"/>
                <a:ext cx="1004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r>
                  <a:rPr lang="en-US" altLang="en-US" sz="1400" b="1">
                    <a:solidFill>
                      <a:schemeClr val="bg1"/>
                    </a:solidFill>
                    <a:latin typeface="Arial" charset="0"/>
                  </a:rPr>
                  <a:t>ebay 8734</a:t>
                </a:r>
              </a:p>
              <a:p>
                <a:r>
                  <a:rPr lang="en-US" altLang="en-US" sz="1400" b="1">
                    <a:solidFill>
                      <a:schemeClr val="bg1"/>
                    </a:solidFill>
                    <a:latin typeface="Arial" charset="0"/>
                  </a:rPr>
                  <a:t>amazon 1678</a:t>
                </a:r>
              </a:p>
            </p:txBody>
          </p:sp>
        </p:grpSp>
      </p:grpSp>
      <p:grpSp>
        <p:nvGrpSpPr>
          <p:cNvPr id="13" name="Group 93"/>
          <p:cNvGrpSpPr>
            <a:grpSpLocks/>
          </p:cNvGrpSpPr>
          <p:nvPr/>
        </p:nvGrpSpPr>
        <p:grpSpPr bwMode="auto">
          <a:xfrm>
            <a:off x="2181225" y="4603750"/>
            <a:ext cx="5705475" cy="1901825"/>
            <a:chOff x="1374" y="2641"/>
            <a:chExt cx="3594" cy="1198"/>
          </a:xfrm>
        </p:grpSpPr>
        <p:sp>
          <p:nvSpPr>
            <p:cNvPr id="86074" name="Line 20"/>
            <p:cNvSpPr>
              <a:spLocks noChangeShapeType="1"/>
            </p:cNvSpPr>
            <p:nvPr/>
          </p:nvSpPr>
          <p:spPr bwMode="auto">
            <a:xfrm>
              <a:off x="1374" y="3293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75" name="Text Box 23"/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3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800">
                  <a:latin typeface="Arial" charset="0"/>
                </a:rPr>
                <a:t>usual http request msg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en-US" sz="2000" b="1">
                  <a:latin typeface="Arial" charset="0"/>
                </a:rPr>
                <a:t>cookie: 1678</a:t>
              </a:r>
            </a:p>
          </p:txBody>
        </p:sp>
        <p:sp>
          <p:nvSpPr>
            <p:cNvPr id="86076" name="Text Box 29"/>
            <p:cNvSpPr txBox="1">
              <a:spLocks noChangeArrowheads="1"/>
            </p:cNvSpPr>
            <p:nvPr/>
          </p:nvSpPr>
          <p:spPr bwMode="auto">
            <a:xfrm>
              <a:off x="3584" y="3262"/>
              <a:ext cx="59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cookie-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specific</a:t>
              </a:r>
            </a:p>
            <a:p>
              <a:pPr algn="ctr"/>
              <a:r>
                <a:rPr lang="en-US" altLang="en-US" sz="1800">
                  <a:solidFill>
                    <a:srgbClr val="000099"/>
                  </a:solidFill>
                  <a:latin typeface="Arial" charset="0"/>
                </a:rPr>
                <a:t>action</a:t>
              </a:r>
            </a:p>
          </p:txBody>
        </p:sp>
        <p:sp>
          <p:nvSpPr>
            <p:cNvPr id="86077" name="Line 44"/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78" name="Text Box 71"/>
            <p:cNvSpPr txBox="1">
              <a:spLocks noChangeArrowheads="1"/>
            </p:cNvSpPr>
            <p:nvPr/>
          </p:nvSpPr>
          <p:spPr bwMode="auto">
            <a:xfrm>
              <a:off x="4287" y="2939"/>
              <a:ext cx="56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1800">
                  <a:latin typeface="Arial" charset="0"/>
                </a:rPr>
                <a:t>access</a:t>
              </a:r>
            </a:p>
          </p:txBody>
        </p:sp>
      </p:grpSp>
      <p:grpSp>
        <p:nvGrpSpPr>
          <p:cNvPr id="14" name="Group 77"/>
          <p:cNvGrpSpPr>
            <a:grpSpLocks/>
          </p:cNvGrpSpPr>
          <p:nvPr/>
        </p:nvGrpSpPr>
        <p:grpSpPr bwMode="auto">
          <a:xfrm>
            <a:off x="865188" y="5351463"/>
            <a:ext cx="1389062" cy="633412"/>
            <a:chOff x="684" y="1746"/>
            <a:chExt cx="1004" cy="486"/>
          </a:xfrm>
        </p:grpSpPr>
        <p:sp>
          <p:nvSpPr>
            <p:cNvPr id="86072" name="AutoShape 78"/>
            <p:cNvSpPr>
              <a:spLocks noChangeArrowheads="1"/>
            </p:cNvSpPr>
            <p:nvPr/>
          </p:nvSpPr>
          <p:spPr bwMode="auto">
            <a:xfrm>
              <a:off x="735" y="1746"/>
              <a:ext cx="829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86073" name="Text Box 79"/>
            <p:cNvSpPr txBox="1">
              <a:spLocks noChangeArrowheads="1"/>
            </p:cNvSpPr>
            <p:nvPr/>
          </p:nvSpPr>
          <p:spPr bwMode="auto">
            <a:xfrm>
              <a:off x="684" y="1833"/>
              <a:ext cx="1004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chemeClr val="bg1"/>
                  </a:solidFill>
                  <a:latin typeface="Arial" charset="0"/>
                </a:rPr>
                <a:t>ebay 8734</a:t>
              </a:r>
            </a:p>
            <a:p>
              <a:r>
                <a:rPr lang="en-US" altLang="en-US" sz="1400" b="1">
                  <a:solidFill>
                    <a:schemeClr val="bg1"/>
                  </a:solidFill>
                  <a:latin typeface="Arial" charset="0"/>
                </a:rPr>
                <a:t>amazon 1678</a:t>
              </a:r>
            </a:p>
          </p:txBody>
        </p:sp>
      </p:grpSp>
      <p:sp>
        <p:nvSpPr>
          <p:cNvPr id="86034" name="Text Box 80"/>
          <p:cNvSpPr txBox="1">
            <a:spLocks noChangeArrowheads="1"/>
          </p:cNvSpPr>
          <p:nvPr/>
        </p:nvSpPr>
        <p:spPr bwMode="auto">
          <a:xfrm>
            <a:off x="7842250" y="2692400"/>
            <a:ext cx="112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backend</a:t>
            </a:r>
          </a:p>
          <a:p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database</a:t>
            </a:r>
          </a:p>
        </p:txBody>
      </p:sp>
      <p:sp>
        <p:nvSpPr>
          <p:cNvPr id="86035" name="AutoShape 327"/>
          <p:cNvSpPr>
            <a:spLocks noChangeArrowheads="1"/>
          </p:cNvSpPr>
          <p:nvPr/>
        </p:nvSpPr>
        <p:spPr bwMode="auto">
          <a:xfrm>
            <a:off x="8112125" y="3313113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  <a:cs typeface="Arial" charset="0"/>
            </a:endParaRPr>
          </a:p>
        </p:txBody>
      </p:sp>
      <p:grpSp>
        <p:nvGrpSpPr>
          <p:cNvPr id="86036" name="Group 63"/>
          <p:cNvGrpSpPr>
            <a:grpSpLocks/>
          </p:cNvGrpSpPr>
          <p:nvPr/>
        </p:nvGrpSpPr>
        <p:grpSpPr bwMode="auto">
          <a:xfrm>
            <a:off x="5475288" y="1119188"/>
            <a:ext cx="411162" cy="771525"/>
            <a:chOff x="4140" y="429"/>
            <a:chExt cx="1425" cy="2396"/>
          </a:xfrm>
        </p:grpSpPr>
        <p:sp>
          <p:nvSpPr>
            <p:cNvPr id="86040" name="Freeform 6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1" name="Rectangle 65"/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42" name="Freeform 6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3" name="Freeform 6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4" name="Rectangle 68"/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86045" name="Group 6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6070" name="AutoShape 70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86071" name="AutoShape 71"/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86046" name="Rectangle 72"/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86047" name="Group 7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6068" name="AutoShape 74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86069" name="AutoShape 75"/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86048" name="Rectangle 76"/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49" name="Rectangle 77"/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86050" name="Group 7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6066" name="AutoShape 79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86067" name="AutoShape 80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86051" name="Freeform 8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6052" name="Group 8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6064" name="AutoShape 83"/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86065" name="AutoShape 84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86053" name="Rectangle 85"/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54" name="Freeform 8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5" name="Freeform 8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6" name="Oval 88"/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57" name="Freeform 8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8" name="AutoShape 9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59" name="AutoShape 91"/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60" name="Oval 92"/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61" name="Oval 93"/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86062" name="Oval 94"/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86063" name="Rectangle 95"/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86037" name="Group 96"/>
          <p:cNvGrpSpPr>
            <a:grpSpLocks/>
          </p:cNvGrpSpPr>
          <p:nvPr/>
        </p:nvGrpSpPr>
        <p:grpSpPr bwMode="auto">
          <a:xfrm>
            <a:off x="1806575" y="1117600"/>
            <a:ext cx="687388" cy="731838"/>
            <a:chOff x="-44" y="1473"/>
            <a:chExt cx="981" cy="1105"/>
          </a:xfrm>
        </p:grpSpPr>
        <p:pic>
          <p:nvPicPr>
            <p:cNvPr id="86038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39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35" grpId="0"/>
      <p:bldP spid="502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8806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DCB03BB5-2C5B-4224-9DDB-CBA45CCEA307}" type="slidenum">
              <a:rPr lang="en-US" altLang="en-US" sz="1200">
                <a:latin typeface="Tahoma" pitchFamily="34" charset="0"/>
              </a:rPr>
              <a:pPr/>
              <a:t>28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88068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207963"/>
            <a:ext cx="7772400" cy="925512"/>
          </a:xfrm>
        </p:spPr>
        <p:txBody>
          <a:bodyPr/>
          <a:lstStyle/>
          <a:p>
            <a:r>
              <a:rPr lang="en-US" altLang="en-US" smtClean="0"/>
              <a:t>Cookies (continued)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89063"/>
            <a:ext cx="3810000" cy="26416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what cookies can be used for: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authorization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shopping carts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recommendations</a:t>
            </a:r>
          </a:p>
          <a:p>
            <a:pPr>
              <a:lnSpc>
                <a:spcPct val="75000"/>
              </a:lnSpc>
            </a:pPr>
            <a:r>
              <a:rPr lang="en-US" altLang="en-US" sz="2400" smtClean="0"/>
              <a:t>user session state (Web e-mail)</a:t>
            </a:r>
          </a:p>
        </p:txBody>
      </p:sp>
      <p:sp>
        <p:nvSpPr>
          <p:cNvPr id="88071" name="Rectangle 13"/>
          <p:cNvSpPr>
            <a:spLocks noChangeArrowheads="1"/>
          </p:cNvSpPr>
          <p:nvPr/>
        </p:nvSpPr>
        <p:spPr bwMode="auto">
          <a:xfrm>
            <a:off x="4911725" y="1411288"/>
            <a:ext cx="3810000" cy="2233612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itchFamily="34" charset="0"/>
              </a:rPr>
              <a:t>cookies and privacy: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cookies permit sites to learn a lot about you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you may supply name and e-mail to sites</a:t>
            </a:r>
          </a:p>
        </p:txBody>
      </p:sp>
      <p:sp>
        <p:nvSpPr>
          <p:cNvPr id="88072" name="Text Box 14"/>
          <p:cNvSpPr txBox="1">
            <a:spLocks noChangeArrowheads="1"/>
          </p:cNvSpPr>
          <p:nvPr/>
        </p:nvSpPr>
        <p:spPr bwMode="auto">
          <a:xfrm>
            <a:off x="7321550" y="1177925"/>
            <a:ext cx="8001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400">
                <a:solidFill>
                  <a:srgbClr val="000099"/>
                </a:solidFill>
              </a:rPr>
              <a:t>aside</a:t>
            </a:r>
          </a:p>
        </p:txBody>
      </p:sp>
      <p:sp>
        <p:nvSpPr>
          <p:cNvPr id="88073" name="Rectangle 15"/>
          <p:cNvSpPr>
            <a:spLocks noChangeArrowheads="1"/>
          </p:cNvSpPr>
          <p:nvPr/>
        </p:nvSpPr>
        <p:spPr bwMode="auto">
          <a:xfrm>
            <a:off x="411163" y="3946525"/>
            <a:ext cx="57023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itchFamily="34" charset="0"/>
              </a:rPr>
              <a:t>how to keep </a:t>
            </a:r>
            <a:r>
              <a:rPr lang="ja-JP" altLang="en-US" sz="2800" i="1">
                <a:solidFill>
                  <a:srgbClr val="CC0000"/>
                </a:solidFill>
                <a:latin typeface="Gill Sans MT" pitchFamily="34" charset="0"/>
              </a:rPr>
              <a:t>“</a:t>
            </a:r>
            <a:r>
              <a:rPr lang="en-US" altLang="ja-JP" sz="2800" i="1">
                <a:solidFill>
                  <a:srgbClr val="CC0000"/>
                </a:solidFill>
                <a:latin typeface="Gill Sans MT" pitchFamily="34" charset="0"/>
              </a:rPr>
              <a:t>state</a:t>
            </a:r>
            <a:r>
              <a:rPr lang="ja-JP" altLang="en-US" sz="2800" i="1">
                <a:solidFill>
                  <a:srgbClr val="CC0000"/>
                </a:solidFill>
                <a:latin typeface="Gill Sans MT" pitchFamily="34" charset="0"/>
              </a:rPr>
              <a:t>”</a:t>
            </a:r>
            <a:r>
              <a:rPr lang="en-US" altLang="ja-JP" sz="2800" i="1">
                <a:solidFill>
                  <a:srgbClr val="CC0000"/>
                </a:solidFill>
                <a:latin typeface="Gill Sans MT" pitchFamily="34" charset="0"/>
              </a:rPr>
              <a:t>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protocol endpoints: maintain state at sender/receiver over multiple transactions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cookies: http messages carry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9011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900A30DF-6B1F-4233-9AC2-AC6AEB1FBDDE}" type="slidenum">
              <a:rPr lang="en-US" altLang="en-US" sz="1200">
                <a:latin typeface="Tahoma" pitchFamily="34" charset="0"/>
              </a:rPr>
              <a:pPr/>
              <a:t>29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90116" name="Group 171"/>
          <p:cNvGrpSpPr>
            <a:grpSpLocks/>
          </p:cNvGrpSpPr>
          <p:nvPr/>
        </p:nvGrpSpPr>
        <p:grpSpPr bwMode="auto">
          <a:xfrm>
            <a:off x="4027488" y="2695575"/>
            <a:ext cx="687387" cy="763588"/>
            <a:chOff x="-44" y="1473"/>
            <a:chExt cx="981" cy="1105"/>
          </a:xfrm>
        </p:grpSpPr>
        <p:pic>
          <p:nvPicPr>
            <p:cNvPr id="90247" name="Picture 17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248" name="Freeform 17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117" name="Group 102"/>
          <p:cNvGrpSpPr>
            <a:grpSpLocks/>
          </p:cNvGrpSpPr>
          <p:nvPr/>
        </p:nvGrpSpPr>
        <p:grpSpPr bwMode="auto">
          <a:xfrm>
            <a:off x="4092575" y="4568825"/>
            <a:ext cx="687388" cy="763588"/>
            <a:chOff x="-44" y="1473"/>
            <a:chExt cx="981" cy="1105"/>
          </a:xfrm>
        </p:grpSpPr>
        <p:pic>
          <p:nvPicPr>
            <p:cNvPr id="90245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246" name="Freeform 10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118" name="Group 138"/>
          <p:cNvGrpSpPr>
            <a:grpSpLocks/>
          </p:cNvGrpSpPr>
          <p:nvPr/>
        </p:nvGrpSpPr>
        <p:grpSpPr bwMode="auto">
          <a:xfrm>
            <a:off x="6230938" y="3457575"/>
            <a:ext cx="400050" cy="715963"/>
            <a:chOff x="4140" y="429"/>
            <a:chExt cx="1425" cy="2396"/>
          </a:xfrm>
        </p:grpSpPr>
        <p:sp>
          <p:nvSpPr>
            <p:cNvPr id="90213" name="Freeform 13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14" name="Rectangle 140"/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15" name="Freeform 14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16" name="Freeform 14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17" name="Rectangle 143"/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218" name="Group 14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243" name="AutoShape 14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44" name="AutoShape 14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219" name="Rectangle 147"/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220" name="Group 14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241" name="AutoShape 149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42" name="AutoShape 150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221" name="Rectangle 151"/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22" name="Rectangle 152"/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223" name="Group 15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239" name="AutoShape 154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40" name="AutoShape 155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224" name="Freeform 15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225" name="Group 15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237" name="AutoShape 158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38" name="AutoShape 159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226" name="Rectangle 160"/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27" name="Freeform 16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28" name="Freeform 16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29" name="Oval 163"/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30" name="Freeform 16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31" name="AutoShape 165"/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32" name="AutoShape 166"/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33" name="Oval 167"/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34" name="Oval 168"/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90235" name="Oval 169"/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36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90119" name="Group 105"/>
          <p:cNvGrpSpPr>
            <a:grpSpLocks/>
          </p:cNvGrpSpPr>
          <p:nvPr/>
        </p:nvGrpSpPr>
        <p:grpSpPr bwMode="auto">
          <a:xfrm>
            <a:off x="8178800" y="2836863"/>
            <a:ext cx="433388" cy="715962"/>
            <a:chOff x="4140" y="429"/>
            <a:chExt cx="1425" cy="2396"/>
          </a:xfrm>
        </p:grpSpPr>
        <p:sp>
          <p:nvSpPr>
            <p:cNvPr id="90181" name="Freeform 10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82" name="Rectangle 107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83" name="Freeform 10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84" name="Freeform 10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85" name="Rectangle 110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86" name="Group 11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211" name="AutoShape 11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12" name="AutoShape 113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87" name="Rectangle 114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88" name="Group 11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209" name="AutoShape 116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10" name="AutoShape 117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89" name="Rectangle 118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90" name="Rectangle 119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91" name="Group 12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207" name="AutoShape 121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08" name="AutoShape 122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92" name="Freeform 12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193" name="Group 12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205" name="AutoShape 12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206" name="AutoShape 12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94" name="Rectangle 127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95" name="Freeform 12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96" name="Freeform 12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97" name="Oval 130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98" name="Freeform 13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99" name="AutoShape 132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00" name="AutoShape 133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01" name="Oval 134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02" name="Oval 135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90203" name="Oval 136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204" name="Rectangle 137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pic>
        <p:nvPicPr>
          <p:cNvPr id="90120" name="Picture 6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9376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2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34950"/>
            <a:ext cx="7772400" cy="892175"/>
          </a:xfrm>
        </p:spPr>
        <p:txBody>
          <a:bodyPr/>
          <a:lstStyle/>
          <a:p>
            <a:r>
              <a:rPr lang="en-US" altLang="en-US" sz="4000" smtClean="0"/>
              <a:t>Web caches (proxy server)</a:t>
            </a:r>
            <a:endParaRPr lang="en-US" altLang="en-US" smtClean="0"/>
          </a:p>
        </p:txBody>
      </p:sp>
      <p:sp>
        <p:nvSpPr>
          <p:cNvPr id="901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9400" y="1957388"/>
            <a:ext cx="3767138" cy="3762375"/>
          </a:xfrm>
        </p:spPr>
        <p:txBody>
          <a:bodyPr/>
          <a:lstStyle/>
          <a:p>
            <a:r>
              <a:rPr lang="en-US" altLang="en-US" sz="2400" smtClean="0"/>
              <a:t>user sets browser: Web accesses via  cache</a:t>
            </a:r>
          </a:p>
          <a:p>
            <a:r>
              <a:rPr lang="en-US" altLang="en-US" sz="2400" smtClean="0"/>
              <a:t>browser sends all HTTP requests to cache</a:t>
            </a:r>
          </a:p>
          <a:p>
            <a:pPr lvl="1"/>
            <a:r>
              <a:rPr lang="en-US" altLang="en-US" smtClean="0"/>
              <a:t>object in cache: cache returns object </a:t>
            </a:r>
          </a:p>
          <a:p>
            <a:pPr lvl="1"/>
            <a:r>
              <a:rPr lang="en-US" altLang="en-US" smtClean="0"/>
              <a:t>else cache requests object from origin server, then returns object to client</a:t>
            </a:r>
          </a:p>
        </p:txBody>
      </p:sp>
      <p:sp>
        <p:nvSpPr>
          <p:cNvPr id="90123" name="Rectangle 4"/>
          <p:cNvSpPr>
            <a:spLocks noChangeArrowheads="1"/>
          </p:cNvSpPr>
          <p:nvPr/>
        </p:nvSpPr>
        <p:spPr bwMode="auto">
          <a:xfrm>
            <a:off x="393700" y="1265238"/>
            <a:ext cx="87503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itchFamily="34" charset="0"/>
              </a:rPr>
              <a:t>goal:</a:t>
            </a:r>
            <a:r>
              <a:rPr lang="en-US" altLang="en-US" sz="2800">
                <a:latin typeface="Gill Sans MT" pitchFamily="34" charset="0"/>
              </a:rPr>
              <a:t> satisfy client request without involving origin server</a:t>
            </a:r>
          </a:p>
        </p:txBody>
      </p:sp>
      <p:sp>
        <p:nvSpPr>
          <p:cNvPr id="90124" name="Text Box 6"/>
          <p:cNvSpPr txBox="1">
            <a:spLocks noChangeArrowheads="1"/>
          </p:cNvSpPr>
          <p:nvPr/>
        </p:nvSpPr>
        <p:spPr bwMode="auto">
          <a:xfrm>
            <a:off x="4171950" y="3368675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client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90125" name="Text Box 8"/>
          <p:cNvSpPr txBox="1">
            <a:spLocks noChangeArrowheads="1"/>
          </p:cNvSpPr>
          <p:nvPr/>
        </p:nvSpPr>
        <p:spPr bwMode="auto">
          <a:xfrm>
            <a:off x="5957888" y="2774950"/>
            <a:ext cx="88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latin typeface="Arial" charset="0"/>
              </a:rPr>
              <a:t>proxy</a:t>
            </a:r>
          </a:p>
          <a:p>
            <a:pPr algn="ctr"/>
            <a:r>
              <a:rPr lang="en-US" altLang="en-US" sz="2000">
                <a:latin typeface="Arial" charset="0"/>
              </a:rPr>
              <a:t>server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90126" name="Text Box 21"/>
          <p:cNvSpPr txBox="1">
            <a:spLocks noChangeArrowheads="1"/>
          </p:cNvSpPr>
          <p:nvPr/>
        </p:nvSpPr>
        <p:spPr bwMode="auto">
          <a:xfrm>
            <a:off x="4294188" y="5340350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client</a:t>
            </a:r>
            <a:endParaRPr lang="en-US" altLang="en-US" sz="2400">
              <a:latin typeface="Arial" charset="0"/>
            </a:endParaRPr>
          </a:p>
        </p:txBody>
      </p:sp>
      <p:grpSp>
        <p:nvGrpSpPr>
          <p:cNvPr id="14" name="Group 53"/>
          <p:cNvGrpSpPr>
            <a:grpSpLocks/>
          </p:cNvGrpSpPr>
          <p:nvPr/>
        </p:nvGrpSpPr>
        <p:grpSpPr bwMode="auto">
          <a:xfrm>
            <a:off x="4597400" y="4095750"/>
            <a:ext cx="1563688" cy="760413"/>
            <a:chOff x="2896" y="2580"/>
            <a:chExt cx="985" cy="479"/>
          </a:xfrm>
        </p:grpSpPr>
        <p:sp>
          <p:nvSpPr>
            <p:cNvPr id="90179" name="Line 19"/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80" name="Text Box 23"/>
            <p:cNvSpPr txBox="1">
              <a:spLocks noChangeArrowheads="1"/>
            </p:cNvSpPr>
            <p:nvPr/>
          </p:nvSpPr>
          <p:spPr bwMode="auto">
            <a:xfrm rot="-1692639">
              <a:off x="2896" y="264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grpSp>
        <p:nvGrpSpPr>
          <p:cNvPr id="15" name="Group 54"/>
          <p:cNvGrpSpPr>
            <a:grpSpLocks/>
          </p:cNvGrpSpPr>
          <p:nvPr/>
        </p:nvGrpSpPr>
        <p:grpSpPr bwMode="auto">
          <a:xfrm>
            <a:off x="4781550" y="4183063"/>
            <a:ext cx="1604963" cy="785812"/>
            <a:chOff x="3012" y="2635"/>
            <a:chExt cx="1011" cy="495"/>
          </a:xfrm>
        </p:grpSpPr>
        <p:sp>
          <p:nvSpPr>
            <p:cNvPr id="90177" name="Line 20"/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8" name="Text Box 25"/>
            <p:cNvSpPr txBox="1">
              <a:spLocks noChangeArrowheads="1"/>
            </p:cNvSpPr>
            <p:nvPr/>
          </p:nvSpPr>
          <p:spPr bwMode="auto">
            <a:xfrm rot="-1737783">
              <a:off x="3012" y="2847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grpSp>
        <p:nvGrpSpPr>
          <p:cNvPr id="16" name="Group 49"/>
          <p:cNvGrpSpPr>
            <a:grpSpLocks/>
          </p:cNvGrpSpPr>
          <p:nvPr/>
        </p:nvGrpSpPr>
        <p:grpSpPr bwMode="auto">
          <a:xfrm>
            <a:off x="4765675" y="3124200"/>
            <a:ext cx="3251200" cy="730250"/>
            <a:chOff x="3002" y="1979"/>
            <a:chExt cx="2048" cy="460"/>
          </a:xfrm>
        </p:grpSpPr>
        <p:sp>
          <p:nvSpPr>
            <p:cNvPr id="90174" name="Freeform 18"/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5" name="Text Box 22"/>
            <p:cNvSpPr txBox="1">
              <a:spLocks noChangeArrowheads="1"/>
            </p:cNvSpPr>
            <p:nvPr/>
          </p:nvSpPr>
          <p:spPr bwMode="auto">
            <a:xfrm rot="1422049">
              <a:off x="3083" y="200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  <p:sp>
          <p:nvSpPr>
            <p:cNvPr id="90176" name="Text Box 45"/>
            <p:cNvSpPr txBox="1">
              <a:spLocks noChangeArrowheads="1"/>
            </p:cNvSpPr>
            <p:nvPr/>
          </p:nvSpPr>
          <p:spPr bwMode="auto">
            <a:xfrm rot="-1419968">
              <a:off x="4114" y="201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</p:grpSp>
      <p:sp>
        <p:nvSpPr>
          <p:cNvPr id="90130" name="Text Box 47"/>
          <p:cNvSpPr txBox="1">
            <a:spLocks noChangeArrowheads="1"/>
          </p:cNvSpPr>
          <p:nvPr/>
        </p:nvSpPr>
        <p:spPr bwMode="auto">
          <a:xfrm>
            <a:off x="7999413" y="5421313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origin </a:t>
            </a:r>
          </a:p>
          <a:p>
            <a:pPr algn="ctr"/>
            <a:r>
              <a:rPr lang="en-US" altLang="en-US" sz="1600">
                <a:latin typeface="Arial" charset="0"/>
              </a:rPr>
              <a:t>server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90131" name="Text Box 48"/>
          <p:cNvSpPr txBox="1">
            <a:spLocks noChangeArrowheads="1"/>
          </p:cNvSpPr>
          <p:nvPr/>
        </p:nvSpPr>
        <p:spPr bwMode="auto">
          <a:xfrm>
            <a:off x="8016875" y="3484563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origin </a:t>
            </a:r>
          </a:p>
          <a:p>
            <a:pPr algn="ctr"/>
            <a:r>
              <a:rPr lang="en-US" altLang="en-US" sz="1600">
                <a:latin typeface="Arial" charset="0"/>
              </a:rPr>
              <a:t>server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90132" name="Rectangle 55"/>
          <p:cNvSpPr>
            <a:spLocks noChangeArrowheads="1"/>
          </p:cNvSpPr>
          <p:nvPr/>
        </p:nvSpPr>
        <p:spPr bwMode="auto">
          <a:xfrm>
            <a:off x="6946900" y="4349750"/>
            <a:ext cx="406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pic>
        <p:nvPicPr>
          <p:cNvPr id="90133" name="Picture 5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26320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60"/>
          <p:cNvGrpSpPr>
            <a:grpSpLocks/>
          </p:cNvGrpSpPr>
          <p:nvPr/>
        </p:nvGrpSpPr>
        <p:grpSpPr bwMode="auto">
          <a:xfrm>
            <a:off x="3992563" y="2671763"/>
            <a:ext cx="4178300" cy="1814512"/>
            <a:chOff x="2515" y="1687"/>
            <a:chExt cx="2632" cy="1143"/>
          </a:xfrm>
        </p:grpSpPr>
        <p:sp>
          <p:nvSpPr>
            <p:cNvPr id="90169" name="Freeform 44"/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0" name="Text Box 24"/>
            <p:cNvSpPr txBox="1">
              <a:spLocks noChangeArrowheads="1"/>
            </p:cNvSpPr>
            <p:nvPr/>
          </p:nvSpPr>
          <p:spPr bwMode="auto">
            <a:xfrm rot="1411598">
              <a:off x="2906" y="2244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  <p:sp>
          <p:nvSpPr>
            <p:cNvPr id="90171" name="Text Box 46"/>
            <p:cNvSpPr txBox="1">
              <a:spLocks noChangeArrowheads="1"/>
            </p:cNvSpPr>
            <p:nvPr/>
          </p:nvSpPr>
          <p:spPr bwMode="auto">
            <a:xfrm rot="-1415789">
              <a:off x="4136" y="2232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charset="0"/>
              </a:endParaRPr>
            </a:p>
          </p:txBody>
        </p:sp>
        <p:pic>
          <p:nvPicPr>
            <p:cNvPr id="90172" name="Picture 5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173" name="Picture 5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1069" name="Picture 6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88" y="46132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0136" name="Group 69"/>
          <p:cNvGrpSpPr>
            <a:grpSpLocks/>
          </p:cNvGrpSpPr>
          <p:nvPr/>
        </p:nvGrpSpPr>
        <p:grpSpPr bwMode="auto">
          <a:xfrm>
            <a:off x="8112125" y="4764088"/>
            <a:ext cx="433388" cy="715962"/>
            <a:chOff x="4140" y="429"/>
            <a:chExt cx="1425" cy="2396"/>
          </a:xfrm>
        </p:grpSpPr>
        <p:sp>
          <p:nvSpPr>
            <p:cNvPr id="90137" name="Freeform 7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8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39" name="Freeform 7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40" name="Freeform 7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41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42" name="Group 7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167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168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43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44" name="Group 7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65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166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45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46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90147" name="Group 8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163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164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48" name="Freeform 8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149" name="Group 8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161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90162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90150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51" name="Freeform 9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52" name="Freeform 9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53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54" name="Freeform 9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55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56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57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58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90159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90160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7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9216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1A5BFC4D-54F3-418A-967F-6D7C50C04AE5}" type="slidenum">
              <a:rPr lang="en-US" altLang="en-US" sz="1200">
                <a:latin typeface="Tahoma" pitchFamily="34" charset="0"/>
              </a:rPr>
              <a:pPr/>
              <a:t>30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92164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9366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>
          <a:xfrm>
            <a:off x="477838" y="234950"/>
            <a:ext cx="7772400" cy="947738"/>
          </a:xfrm>
        </p:spPr>
        <p:txBody>
          <a:bodyPr/>
          <a:lstStyle/>
          <a:p>
            <a:r>
              <a:rPr lang="en-US" altLang="en-US" smtClean="0"/>
              <a:t>More about Web caching</a:t>
            </a:r>
          </a:p>
        </p:txBody>
      </p:sp>
      <p:sp>
        <p:nvSpPr>
          <p:cNvPr id="921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r>
              <a:rPr lang="en-US" altLang="en-US" smtClean="0"/>
              <a:t>cache acts as both client and server</a:t>
            </a:r>
          </a:p>
          <a:p>
            <a:pPr lvl="1"/>
            <a:r>
              <a:rPr lang="en-US" altLang="en-US" sz="2000" smtClean="0"/>
              <a:t>server for original requesting client</a:t>
            </a:r>
          </a:p>
          <a:p>
            <a:pPr lvl="1"/>
            <a:r>
              <a:rPr lang="en-US" altLang="en-US" sz="2000" smtClean="0"/>
              <a:t>client to origin server</a:t>
            </a:r>
          </a:p>
          <a:p>
            <a:r>
              <a:rPr lang="en-US" altLang="en-US" smtClean="0"/>
              <a:t>typically cache is installed by ISP (university, company, residential ISP)</a:t>
            </a:r>
          </a:p>
        </p:txBody>
      </p:sp>
      <p:sp>
        <p:nvSpPr>
          <p:cNvPr id="921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11313"/>
            <a:ext cx="415925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why Web caching?</a:t>
            </a:r>
          </a:p>
          <a:p>
            <a:r>
              <a:rPr lang="en-US" altLang="en-US" smtClean="0"/>
              <a:t>reduce response time for client request</a:t>
            </a:r>
          </a:p>
          <a:p>
            <a:r>
              <a:rPr lang="en-US" altLang="en-US" smtClean="0"/>
              <a:t>reduce traffic on an institution</a:t>
            </a:r>
            <a:r>
              <a:rPr lang="ja-JP" altLang="en-US" smtClean="0"/>
              <a:t>’</a:t>
            </a:r>
            <a:r>
              <a:rPr lang="en-US" altLang="ja-JP" smtClean="0"/>
              <a:t>s access link</a:t>
            </a:r>
          </a:p>
          <a:p>
            <a:r>
              <a:rPr lang="en-US" altLang="en-US" smtClean="0"/>
              <a:t>Internet dense with caches: enables </a:t>
            </a:r>
            <a:r>
              <a:rPr lang="ja-JP" altLang="en-US" smtClean="0"/>
              <a:t>“</a:t>
            </a:r>
            <a:r>
              <a:rPr lang="en-US" altLang="ja-JP" smtClean="0"/>
              <a:t>poor</a:t>
            </a:r>
            <a:r>
              <a:rPr lang="ja-JP" altLang="en-US" smtClean="0"/>
              <a:t>”</a:t>
            </a:r>
            <a:r>
              <a:rPr lang="en-US" altLang="ja-JP" smtClean="0"/>
              <a:t> content providers to effectively deliver content (so too does P2P file sharing)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0445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1C2D7EE4-C3A3-4E86-924B-7623AE57E560}" type="slidenum">
              <a:rPr lang="en-US" altLang="en-US" sz="1200">
                <a:latin typeface="Tahoma" pitchFamily="34" charset="0"/>
              </a:rPr>
              <a:pPr/>
              <a:t>31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10445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2.1 principles of network applications</a:t>
            </a:r>
          </a:p>
          <a:p>
            <a:pPr marL="912813" lvl="1"/>
            <a:r>
              <a:rPr lang="en-US" altLang="en-US" smtClean="0"/>
              <a:t>app architectures</a:t>
            </a:r>
          </a:p>
          <a:p>
            <a:pPr marL="912813" lvl="1"/>
            <a:r>
              <a:rPr lang="en-US" altLang="en-US" smtClean="0"/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2.3 FTP</a:t>
            </a:r>
            <a:r>
              <a:rPr lang="en-US" altLang="en-US" smtClean="0"/>
              <a:t>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2.4 electronic mail</a:t>
            </a:r>
          </a:p>
          <a:p>
            <a:pPr marL="912813" lvl="1"/>
            <a:r>
              <a:rPr lang="en-US" altLang="en-US" smtClean="0"/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2.5 DNS</a:t>
            </a:r>
          </a:p>
          <a:p>
            <a:pPr marL="457200" indent="-457200"/>
            <a:endParaRPr lang="en-US" altLang="en-US" sz="2400" smtClean="0"/>
          </a:p>
        </p:txBody>
      </p:sp>
      <p:sp>
        <p:nvSpPr>
          <p:cNvPr id="10445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2.7 socket programming with UDP and TCP</a:t>
            </a:r>
          </a:p>
        </p:txBody>
      </p:sp>
      <p:pic>
        <p:nvPicPr>
          <p:cNvPr id="104455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0649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FB715FD9-0236-4903-8D85-8A65FAF619D3}" type="slidenum">
              <a:rPr lang="en-US" altLang="en-US" sz="1200">
                <a:latin typeface="Tahoma" pitchFamily="34" charset="0"/>
              </a:rPr>
              <a:pPr/>
              <a:t>32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06500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83502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1" name="Freeform 46"/>
          <p:cNvSpPr>
            <a:spLocks/>
          </p:cNvSpPr>
          <p:nvPr/>
        </p:nvSpPr>
        <p:spPr bwMode="auto">
          <a:xfrm>
            <a:off x="6161088" y="2220913"/>
            <a:ext cx="1100137" cy="282575"/>
          </a:xfrm>
          <a:custGeom>
            <a:avLst/>
            <a:gdLst>
              <a:gd name="T0" fmla="*/ 0 w 693"/>
              <a:gd name="T1" fmla="*/ 2147483646 h 178"/>
              <a:gd name="T2" fmla="*/ 2147483646 w 693"/>
              <a:gd name="T3" fmla="*/ 0 h 178"/>
              <a:gd name="T4" fmla="*/ 2147483646 w 693"/>
              <a:gd name="T5" fmla="*/ 0 h 178"/>
              <a:gd name="T6" fmla="*/ 2147483646 w 693"/>
              <a:gd name="T7" fmla="*/ 2147483646 h 178"/>
              <a:gd name="T8" fmla="*/ 0 w 693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3"/>
              <a:gd name="T16" fmla="*/ 0 h 178"/>
              <a:gd name="T17" fmla="*/ 693 w 693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3" h="178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Freeform 43"/>
          <p:cNvSpPr>
            <a:spLocks/>
          </p:cNvSpPr>
          <p:nvPr/>
        </p:nvSpPr>
        <p:spPr bwMode="auto">
          <a:xfrm>
            <a:off x="2601913" y="2220913"/>
            <a:ext cx="1784350" cy="282575"/>
          </a:xfrm>
          <a:custGeom>
            <a:avLst/>
            <a:gdLst>
              <a:gd name="T0" fmla="*/ 0 w 1124"/>
              <a:gd name="T1" fmla="*/ 2147483646 h 178"/>
              <a:gd name="T2" fmla="*/ 2147483646 w 1124"/>
              <a:gd name="T3" fmla="*/ 2147483646 h 178"/>
              <a:gd name="T4" fmla="*/ 2147483646 w 1124"/>
              <a:gd name="T5" fmla="*/ 0 h 178"/>
              <a:gd name="T6" fmla="*/ 2147483646 w 1124"/>
              <a:gd name="T7" fmla="*/ 2147483646 h 178"/>
              <a:gd name="T8" fmla="*/ 0 w 1124"/>
              <a:gd name="T9" fmla="*/ 2147483646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4"/>
              <a:gd name="T16" fmla="*/ 0 h 178"/>
              <a:gd name="T17" fmla="*/ 1124 w 1124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4" h="178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6375"/>
            <a:ext cx="7772400" cy="860425"/>
          </a:xfrm>
        </p:spPr>
        <p:txBody>
          <a:bodyPr/>
          <a:lstStyle/>
          <a:p>
            <a:r>
              <a:rPr lang="en-US" altLang="en-US" sz="4000" smtClean="0"/>
              <a:t>FTP: the file transfer protocol</a:t>
            </a:r>
            <a:endParaRPr lang="en-US" altLang="en-US" smtClean="0"/>
          </a:p>
        </p:txBody>
      </p:sp>
      <p:sp>
        <p:nvSpPr>
          <p:cNvPr id="106504" name="Text Box 16"/>
          <p:cNvSpPr txBox="1">
            <a:spLocks noChangeArrowheads="1"/>
          </p:cNvSpPr>
          <p:nvPr/>
        </p:nvSpPr>
        <p:spPr bwMode="auto">
          <a:xfrm>
            <a:off x="4645025" y="1255713"/>
            <a:ext cx="1712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file transfer</a:t>
            </a:r>
          </a:p>
        </p:txBody>
      </p:sp>
      <p:grpSp>
        <p:nvGrpSpPr>
          <p:cNvPr id="106505" name="Group 17"/>
          <p:cNvGrpSpPr>
            <a:grpSpLocks/>
          </p:cNvGrpSpPr>
          <p:nvPr/>
        </p:nvGrpSpPr>
        <p:grpSpPr bwMode="auto">
          <a:xfrm>
            <a:off x="6537325" y="1411288"/>
            <a:ext cx="749300" cy="828675"/>
            <a:chOff x="3914" y="1386"/>
            <a:chExt cx="472" cy="522"/>
          </a:xfrm>
        </p:grpSpPr>
        <p:sp>
          <p:nvSpPr>
            <p:cNvPr id="106559" name="Rectangle 1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06560" name="Text Box 19"/>
            <p:cNvSpPr txBox="1">
              <a:spLocks noChangeArrowheads="1"/>
            </p:cNvSpPr>
            <p:nvPr/>
          </p:nvSpPr>
          <p:spPr bwMode="auto">
            <a:xfrm>
              <a:off x="3914" y="1463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FTP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06506" name="Group 20"/>
          <p:cNvGrpSpPr>
            <a:grpSpLocks/>
          </p:cNvGrpSpPr>
          <p:nvPr/>
        </p:nvGrpSpPr>
        <p:grpSpPr bwMode="auto">
          <a:xfrm>
            <a:off x="2582863" y="1401763"/>
            <a:ext cx="1789112" cy="852487"/>
            <a:chOff x="1645" y="1326"/>
            <a:chExt cx="1127" cy="537"/>
          </a:xfrm>
        </p:grpSpPr>
        <p:sp>
          <p:nvSpPr>
            <p:cNvPr id="106555" name="Rectangle 2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06556" name="Rectangle 2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06557" name="Text Box 23"/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FTP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interface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06558" name="Text Box 24"/>
            <p:cNvSpPr txBox="1">
              <a:spLocks noChangeArrowheads="1"/>
            </p:cNvSpPr>
            <p:nvPr/>
          </p:nvSpPr>
          <p:spPr bwMode="auto">
            <a:xfrm>
              <a:off x="2341" y="1403"/>
              <a:ext cx="41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FTP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client</a:t>
              </a:r>
              <a:endParaRPr lang="en-US" altLang="en-US" sz="2400">
                <a:latin typeface="Arial" charset="0"/>
              </a:endParaRPr>
            </a:p>
          </p:txBody>
        </p:sp>
      </p:grpSp>
      <p:sp>
        <p:nvSpPr>
          <p:cNvPr id="106507" name="Text Box 32"/>
          <p:cNvSpPr txBox="1">
            <a:spLocks noChangeArrowheads="1"/>
          </p:cNvSpPr>
          <p:nvPr/>
        </p:nvSpPr>
        <p:spPr bwMode="auto">
          <a:xfrm>
            <a:off x="3881438" y="2522538"/>
            <a:ext cx="1076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600">
                <a:latin typeface="Arial" charset="0"/>
              </a:rPr>
              <a:t>local file</a:t>
            </a:r>
          </a:p>
          <a:p>
            <a:r>
              <a:rPr lang="en-US" altLang="en-US" sz="1600">
                <a:latin typeface="Arial" charset="0"/>
              </a:rPr>
              <a:t>system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106508" name="Line 33"/>
          <p:cNvSpPr>
            <a:spLocks noChangeShapeType="1"/>
          </p:cNvSpPr>
          <p:nvPr/>
        </p:nvSpPr>
        <p:spPr bwMode="auto">
          <a:xfrm>
            <a:off x="3219450" y="2239963"/>
            <a:ext cx="3238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09" name="Line 34"/>
          <p:cNvSpPr>
            <a:spLocks noChangeShapeType="1"/>
          </p:cNvSpPr>
          <p:nvPr/>
        </p:nvSpPr>
        <p:spPr bwMode="auto">
          <a:xfrm flipH="1">
            <a:off x="3714750" y="2230438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0" name="Text Box 41"/>
          <p:cNvSpPr txBox="1">
            <a:spLocks noChangeArrowheads="1"/>
          </p:cNvSpPr>
          <p:nvPr/>
        </p:nvSpPr>
        <p:spPr bwMode="auto">
          <a:xfrm>
            <a:off x="7161213" y="2333625"/>
            <a:ext cx="1457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600">
                <a:latin typeface="Arial" charset="0"/>
              </a:rPr>
              <a:t>remote file</a:t>
            </a:r>
          </a:p>
          <a:p>
            <a:r>
              <a:rPr lang="en-US" altLang="en-US" sz="1600">
                <a:latin typeface="Arial" charset="0"/>
              </a:rPr>
              <a:t>system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106511" name="Line 42"/>
          <p:cNvSpPr>
            <a:spLocks noChangeShapeType="1"/>
          </p:cNvSpPr>
          <p:nvPr/>
        </p:nvSpPr>
        <p:spPr bwMode="auto">
          <a:xfrm>
            <a:off x="6915150" y="2239963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6512" name="Picture 43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1454150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13" name="Text Box 44"/>
          <p:cNvSpPr txBox="1">
            <a:spLocks noChangeArrowheads="1"/>
          </p:cNvSpPr>
          <p:nvPr/>
        </p:nvSpPr>
        <p:spPr bwMode="auto">
          <a:xfrm>
            <a:off x="1379538" y="2162175"/>
            <a:ext cx="9715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user </a:t>
            </a:r>
          </a:p>
          <a:p>
            <a:pPr algn="ctr"/>
            <a:r>
              <a:rPr lang="en-US" altLang="en-US" sz="1600">
                <a:latin typeface="Arial" charset="0"/>
              </a:rPr>
              <a:t>at host</a:t>
            </a:r>
            <a:endParaRPr lang="en-US" altLang="en-US" sz="2400">
              <a:latin typeface="Arial" charset="0"/>
            </a:endParaRPr>
          </a:p>
        </p:txBody>
      </p:sp>
      <p:sp>
        <p:nvSpPr>
          <p:cNvPr id="106514" name="Line 45"/>
          <p:cNvSpPr>
            <a:spLocks noChangeShapeType="1"/>
          </p:cNvSpPr>
          <p:nvPr/>
        </p:nvSpPr>
        <p:spPr bwMode="auto">
          <a:xfrm>
            <a:off x="2028825" y="1849438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5" name="AutoShape 327"/>
          <p:cNvSpPr>
            <a:spLocks noChangeArrowheads="1"/>
          </p:cNvSpPr>
          <p:nvPr/>
        </p:nvSpPr>
        <p:spPr bwMode="auto">
          <a:xfrm>
            <a:off x="3333750" y="2673350"/>
            <a:ext cx="569913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  <a:cs typeface="Arial" charset="0"/>
            </a:endParaRPr>
          </a:p>
        </p:txBody>
      </p:sp>
      <p:sp>
        <p:nvSpPr>
          <p:cNvPr id="106516" name="AutoShape 327"/>
          <p:cNvSpPr>
            <a:spLocks noChangeArrowheads="1"/>
          </p:cNvSpPr>
          <p:nvPr/>
        </p:nvSpPr>
        <p:spPr bwMode="auto">
          <a:xfrm>
            <a:off x="6665913" y="2628900"/>
            <a:ext cx="569912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itchFamily="18" charset="0"/>
              <a:cs typeface="Arial" charset="0"/>
            </a:endParaRPr>
          </a:p>
        </p:txBody>
      </p:sp>
      <p:sp>
        <p:nvSpPr>
          <p:cNvPr id="106517" name="Rectangle 3"/>
          <p:cNvSpPr>
            <a:spLocks noChangeArrowheads="1"/>
          </p:cNvSpPr>
          <p:nvPr/>
        </p:nvSpPr>
        <p:spPr bwMode="auto">
          <a:xfrm>
            <a:off x="744538" y="3751263"/>
            <a:ext cx="80137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altLang="en-US" sz="2800">
                <a:latin typeface="Gill Sans MT" pitchFamily="34" charset="0"/>
              </a:rPr>
              <a:t>transfer file to/from remote host</a:t>
            </a:r>
          </a:p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altLang="en-US" sz="2800">
                <a:latin typeface="Gill Sans MT" pitchFamily="34" charset="0"/>
              </a:rPr>
              <a:t>client/server model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altLang="en-US" sz="2400" i="1">
                <a:solidFill>
                  <a:srgbClr val="CC0000"/>
                </a:solidFill>
                <a:latin typeface="Gill Sans MT" pitchFamily="34" charset="0"/>
              </a:rPr>
              <a:t>client:</a:t>
            </a:r>
            <a:r>
              <a:rPr lang="en-US" altLang="en-US" sz="2400">
                <a:latin typeface="Gill Sans MT" pitchFamily="34" charset="0"/>
              </a:rPr>
              <a:t> side that initiates transfer (either to/from remote)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altLang="en-US" sz="2400" i="1">
                <a:solidFill>
                  <a:srgbClr val="CC0000"/>
                </a:solidFill>
                <a:latin typeface="Gill Sans MT" pitchFamily="34" charset="0"/>
              </a:rPr>
              <a:t>server:</a:t>
            </a:r>
            <a:r>
              <a:rPr lang="en-US" altLang="en-US" sz="2400">
                <a:latin typeface="Gill Sans MT" pitchFamily="34" charset="0"/>
              </a:rPr>
              <a:t> remote host</a:t>
            </a:r>
          </a:p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altLang="en-US" sz="2800">
                <a:latin typeface="Gill Sans MT" pitchFamily="34" charset="0"/>
              </a:rPr>
              <a:t>ftp: RFC 959</a:t>
            </a:r>
          </a:p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altLang="en-US" sz="2800">
                <a:latin typeface="Gill Sans MT" pitchFamily="34" charset="0"/>
              </a:rPr>
              <a:t>ftp server: port 21</a:t>
            </a:r>
          </a:p>
        </p:txBody>
      </p:sp>
      <p:sp>
        <p:nvSpPr>
          <p:cNvPr id="106518" name="Line 49"/>
          <p:cNvSpPr>
            <a:spLocks noChangeShapeType="1"/>
          </p:cNvSpPr>
          <p:nvPr/>
        </p:nvSpPr>
        <p:spPr bwMode="auto">
          <a:xfrm>
            <a:off x="4365625" y="1714500"/>
            <a:ext cx="21875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19" name="Group 51"/>
          <p:cNvGrpSpPr>
            <a:grpSpLocks/>
          </p:cNvGrpSpPr>
          <p:nvPr/>
        </p:nvGrpSpPr>
        <p:grpSpPr bwMode="auto">
          <a:xfrm>
            <a:off x="6008688" y="2327275"/>
            <a:ext cx="476250" cy="749300"/>
            <a:chOff x="4140" y="429"/>
            <a:chExt cx="1425" cy="2396"/>
          </a:xfrm>
        </p:grpSpPr>
        <p:sp>
          <p:nvSpPr>
            <p:cNvPr id="106523" name="Freeform 5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4" name="Rectangle 53"/>
            <p:cNvSpPr>
              <a:spLocks noChangeArrowheads="1"/>
            </p:cNvSpPr>
            <p:nvPr/>
          </p:nvSpPr>
          <p:spPr bwMode="auto">
            <a:xfrm>
              <a:off x="4207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25" name="Freeform 5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6" name="Freeform 5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7" name="Rectangle 56"/>
            <p:cNvSpPr>
              <a:spLocks noChangeArrowheads="1"/>
            </p:cNvSpPr>
            <p:nvPr/>
          </p:nvSpPr>
          <p:spPr bwMode="auto">
            <a:xfrm>
              <a:off x="4211" y="693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6528" name="Group 5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6553" name="AutoShape 5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4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6554" name="AutoShape 5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6529" name="Rectangle 60"/>
            <p:cNvSpPr>
              <a:spLocks noChangeArrowheads="1"/>
            </p:cNvSpPr>
            <p:nvPr/>
          </p:nvSpPr>
          <p:spPr bwMode="auto">
            <a:xfrm>
              <a:off x="4226" y="101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6530" name="Group 6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6551" name="AutoShape 6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6552" name="AutoShape 6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88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6531" name="Rectangle 64"/>
            <p:cNvSpPr>
              <a:spLocks noChangeArrowheads="1"/>
            </p:cNvSpPr>
            <p:nvPr/>
          </p:nvSpPr>
          <p:spPr bwMode="auto">
            <a:xfrm>
              <a:off x="4216" y="1358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32" name="Rectangle 65"/>
            <p:cNvSpPr>
              <a:spLocks noChangeArrowheads="1"/>
            </p:cNvSpPr>
            <p:nvPr/>
          </p:nvSpPr>
          <p:spPr bwMode="auto">
            <a:xfrm>
              <a:off x="4230" y="1657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6533" name="Group 6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6549" name="AutoShape 6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6550" name="AutoShape 68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6534" name="Freeform 6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535" name="Group 7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6547" name="AutoShape 71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6548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6536" name="Rectangle 73"/>
            <p:cNvSpPr>
              <a:spLocks noChangeArrowheads="1"/>
            </p:cNvSpPr>
            <p:nvPr/>
          </p:nvSpPr>
          <p:spPr bwMode="auto">
            <a:xfrm>
              <a:off x="5252" y="429"/>
              <a:ext cx="67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37" name="Freeform 7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8" name="Freeform 7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9" name="Oval 76"/>
            <p:cNvSpPr>
              <a:spLocks noChangeArrowheads="1"/>
            </p:cNvSpPr>
            <p:nvPr/>
          </p:nvSpPr>
          <p:spPr bwMode="auto"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40" name="Freeform 7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41" name="AutoShape 78"/>
            <p:cNvSpPr>
              <a:spLocks noChangeArrowheads="1"/>
            </p:cNvSpPr>
            <p:nvPr/>
          </p:nvSpPr>
          <p:spPr bwMode="auto">
            <a:xfrm>
              <a:off x="4140" y="2678"/>
              <a:ext cx="1197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42" name="AutoShape 79"/>
            <p:cNvSpPr>
              <a:spLocks noChangeArrowheads="1"/>
            </p:cNvSpPr>
            <p:nvPr/>
          </p:nvSpPr>
          <p:spPr bwMode="auto">
            <a:xfrm>
              <a:off x="4207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43" name="Oval 80"/>
            <p:cNvSpPr>
              <a:spLocks noChangeArrowheads="1"/>
            </p:cNvSpPr>
            <p:nvPr/>
          </p:nvSpPr>
          <p:spPr bwMode="auto"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44" name="Oval 81"/>
            <p:cNvSpPr>
              <a:spLocks noChangeArrowheads="1"/>
            </p:cNvSpPr>
            <p:nvPr/>
          </p:nvSpPr>
          <p:spPr bwMode="auto"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06545" name="Oval 82"/>
            <p:cNvSpPr>
              <a:spLocks noChangeArrowheads="1"/>
            </p:cNvSpPr>
            <p:nvPr/>
          </p:nvSpPr>
          <p:spPr bwMode="auto"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6546" name="Rectangle 83"/>
            <p:cNvSpPr>
              <a:spLocks noChangeArrowheads="1"/>
            </p:cNvSpPr>
            <p:nvPr/>
          </p:nvSpPr>
          <p:spPr bwMode="auto"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06520" name="Group 84"/>
          <p:cNvGrpSpPr>
            <a:grpSpLocks/>
          </p:cNvGrpSpPr>
          <p:nvPr/>
        </p:nvGrpSpPr>
        <p:grpSpPr bwMode="auto">
          <a:xfrm>
            <a:off x="2220913" y="2352675"/>
            <a:ext cx="830262" cy="849313"/>
            <a:chOff x="-44" y="1473"/>
            <a:chExt cx="981" cy="1105"/>
          </a:xfrm>
        </p:grpSpPr>
        <p:pic>
          <p:nvPicPr>
            <p:cNvPr id="106521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22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0854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0026EFDC-0F20-418E-81BF-3A64BBCE008B}" type="slidenum">
              <a:rPr lang="en-US" altLang="en-US" sz="1200">
                <a:latin typeface="Tahoma" pitchFamily="34" charset="0"/>
              </a:rPr>
              <a:pPr/>
              <a:t>33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08548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50" y="163513"/>
            <a:ext cx="7772400" cy="925512"/>
          </a:xfrm>
        </p:spPr>
        <p:txBody>
          <a:bodyPr/>
          <a:lstStyle/>
          <a:p>
            <a:r>
              <a:rPr lang="en-US" altLang="en-US" sz="3600" smtClean="0"/>
              <a:t>FTP: separate control, data connections</a:t>
            </a:r>
            <a:endParaRPr lang="en-US" altLang="en-US" smtClean="0"/>
          </a:p>
        </p:txBody>
      </p:sp>
      <p:sp>
        <p:nvSpPr>
          <p:cNvPr id="1085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504950"/>
            <a:ext cx="4318000" cy="4964113"/>
          </a:xfrm>
        </p:spPr>
        <p:txBody>
          <a:bodyPr/>
          <a:lstStyle/>
          <a:p>
            <a:r>
              <a:rPr lang="en-US" altLang="en-US" sz="2400" smtClean="0"/>
              <a:t>FTP client contacts FTP server at port 21, using TCP </a:t>
            </a:r>
          </a:p>
          <a:p>
            <a:r>
              <a:rPr lang="en-US" altLang="en-US" sz="2400" smtClean="0"/>
              <a:t>client authorized over control connection</a:t>
            </a:r>
          </a:p>
          <a:p>
            <a:r>
              <a:rPr lang="en-US" altLang="en-US" sz="2400" smtClean="0"/>
              <a:t>client browses remote directory, sends commands over control connection</a:t>
            </a:r>
          </a:p>
          <a:p>
            <a:r>
              <a:rPr lang="en-US" altLang="en-US" sz="2400" smtClean="0"/>
              <a:t>when server receives file transfer command, </a:t>
            </a:r>
            <a:r>
              <a:rPr lang="en-US" altLang="en-US" sz="2400" i="1" smtClean="0">
                <a:solidFill>
                  <a:srgbClr val="CC0000"/>
                </a:solidFill>
              </a:rPr>
              <a:t>server</a:t>
            </a:r>
            <a:r>
              <a:rPr lang="en-US" altLang="en-US" sz="2400" smtClean="0"/>
              <a:t> opens </a:t>
            </a:r>
            <a:r>
              <a:rPr lang="en-US" altLang="en-US" sz="2400" i="1" smtClean="0"/>
              <a:t>2</a:t>
            </a:r>
            <a:r>
              <a:rPr lang="en-US" altLang="en-US" sz="2400" i="1" baseline="30000" smtClean="0"/>
              <a:t>nd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TCP data connection (for file) </a:t>
            </a:r>
            <a:r>
              <a:rPr lang="en-US" altLang="en-US" sz="2400" i="1" smtClean="0"/>
              <a:t>to </a:t>
            </a:r>
            <a:r>
              <a:rPr lang="en-US" altLang="en-US" sz="2400" smtClean="0"/>
              <a:t>client</a:t>
            </a:r>
          </a:p>
          <a:p>
            <a:r>
              <a:rPr lang="en-US" altLang="en-US" sz="2400" smtClean="0"/>
              <a:t>after transferring one file, server closes data connection</a:t>
            </a:r>
          </a:p>
        </p:txBody>
      </p:sp>
      <p:sp>
        <p:nvSpPr>
          <p:cNvPr id="108550" name="Text Box 15"/>
          <p:cNvSpPr txBox="1">
            <a:spLocks noChangeArrowheads="1"/>
          </p:cNvSpPr>
          <p:nvPr/>
        </p:nvSpPr>
        <p:spPr bwMode="auto">
          <a:xfrm>
            <a:off x="4838700" y="2533650"/>
            <a:ext cx="7175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>
                <a:latin typeface="Arial" charset="0"/>
              </a:rPr>
              <a:t>FTP</a:t>
            </a:r>
          </a:p>
          <a:p>
            <a:pPr algn="ctr">
              <a:lnSpc>
                <a:spcPct val="90000"/>
              </a:lnSpc>
            </a:pPr>
            <a:r>
              <a:rPr lang="en-US" altLang="en-US" sz="1800">
                <a:latin typeface="Arial" charset="0"/>
              </a:rPr>
              <a:t>client</a:t>
            </a:r>
          </a:p>
        </p:txBody>
      </p:sp>
      <p:sp>
        <p:nvSpPr>
          <p:cNvPr id="108551" name="Text Box 16"/>
          <p:cNvSpPr txBox="1">
            <a:spLocks noChangeArrowheads="1"/>
          </p:cNvSpPr>
          <p:nvPr/>
        </p:nvSpPr>
        <p:spPr bwMode="auto">
          <a:xfrm>
            <a:off x="7856538" y="2543175"/>
            <a:ext cx="8191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800">
                <a:latin typeface="Arial" charset="0"/>
              </a:rPr>
              <a:t>FTP</a:t>
            </a:r>
          </a:p>
          <a:p>
            <a:pPr algn="ctr">
              <a:lnSpc>
                <a:spcPct val="90000"/>
              </a:lnSpc>
            </a:pPr>
            <a:r>
              <a:rPr lang="en-US" altLang="en-US" sz="1800">
                <a:latin typeface="Arial" charset="0"/>
              </a:rPr>
              <a:t>server</a:t>
            </a:r>
          </a:p>
        </p:txBody>
      </p:sp>
      <p:sp>
        <p:nvSpPr>
          <p:cNvPr id="108552" name="Line 17"/>
          <p:cNvSpPr>
            <a:spLocks noChangeShapeType="1"/>
          </p:cNvSpPr>
          <p:nvPr/>
        </p:nvSpPr>
        <p:spPr bwMode="auto">
          <a:xfrm>
            <a:off x="5508625" y="2011363"/>
            <a:ext cx="2562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3" name="Line 18"/>
          <p:cNvSpPr>
            <a:spLocks noChangeShapeType="1"/>
          </p:cNvSpPr>
          <p:nvPr/>
        </p:nvSpPr>
        <p:spPr bwMode="auto">
          <a:xfrm flipV="1">
            <a:off x="5527675" y="2325688"/>
            <a:ext cx="2562225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4" name="Text Box 19"/>
          <p:cNvSpPr txBox="1">
            <a:spLocks noChangeArrowheads="1"/>
          </p:cNvSpPr>
          <p:nvPr/>
        </p:nvSpPr>
        <p:spPr bwMode="auto">
          <a:xfrm>
            <a:off x="5580063" y="1473200"/>
            <a:ext cx="24098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TCP control connection,</a:t>
            </a:r>
          </a:p>
          <a:p>
            <a:pPr algn="ctr">
              <a:lnSpc>
                <a:spcPct val="85000"/>
              </a:lnSpc>
            </a:pP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server port 21</a:t>
            </a:r>
            <a:endParaRPr lang="en-US" altLang="en-US" sz="2400" i="1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08555" name="Text Box 20"/>
          <p:cNvSpPr txBox="1">
            <a:spLocks noChangeArrowheads="1"/>
          </p:cNvSpPr>
          <p:nvPr/>
        </p:nvSpPr>
        <p:spPr bwMode="auto">
          <a:xfrm>
            <a:off x="5554663" y="2400300"/>
            <a:ext cx="24098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TCP data connection,</a:t>
            </a:r>
          </a:p>
          <a:p>
            <a:pPr algn="ctr">
              <a:lnSpc>
                <a:spcPct val="85000"/>
              </a:lnSpc>
            </a:pP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server port 20</a:t>
            </a:r>
            <a:endParaRPr lang="en-US" altLang="en-US" sz="2400" i="1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14037" name="Rectangle 21"/>
          <p:cNvSpPr>
            <a:spLocks noChangeArrowheads="1"/>
          </p:cNvSpPr>
          <p:nvPr/>
        </p:nvSpPr>
        <p:spPr bwMode="auto">
          <a:xfrm>
            <a:off x="4703763" y="3425825"/>
            <a:ext cx="4067175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server opens another TCP data connection to transfer another file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control connection: </a:t>
            </a:r>
            <a:r>
              <a:rPr lang="ja-JP" altLang="en-US" sz="2400" i="1">
                <a:solidFill>
                  <a:srgbClr val="CC0000"/>
                </a:solidFill>
                <a:latin typeface="Gill Sans MT" pitchFamily="34" charset="0"/>
              </a:rPr>
              <a:t>“</a:t>
            </a:r>
            <a:r>
              <a:rPr lang="en-US" altLang="ja-JP" sz="2400" i="1">
                <a:solidFill>
                  <a:srgbClr val="CC0000"/>
                </a:solidFill>
                <a:latin typeface="Gill Sans MT" pitchFamily="34" charset="0"/>
              </a:rPr>
              <a:t>out of band</a:t>
            </a:r>
            <a:r>
              <a:rPr lang="ja-JP" altLang="en-US" sz="2400" i="1">
                <a:solidFill>
                  <a:srgbClr val="CC0000"/>
                </a:solidFill>
                <a:latin typeface="Gill Sans MT" pitchFamily="34" charset="0"/>
              </a:rPr>
              <a:t>”</a:t>
            </a:r>
            <a:endParaRPr lang="en-US" altLang="ja-JP" sz="2400" i="1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FTP server maintains </a:t>
            </a:r>
            <a:r>
              <a:rPr lang="ja-JP" altLang="en-US" sz="2400">
                <a:latin typeface="Gill Sans MT" pitchFamily="34" charset="0"/>
              </a:rPr>
              <a:t>“</a:t>
            </a:r>
            <a:r>
              <a:rPr lang="en-US" altLang="ja-JP" sz="2400">
                <a:latin typeface="Gill Sans MT" pitchFamily="34" charset="0"/>
              </a:rPr>
              <a:t>state</a:t>
            </a:r>
            <a:r>
              <a:rPr lang="ja-JP" altLang="en-US" sz="2400">
                <a:latin typeface="Gill Sans MT" pitchFamily="34" charset="0"/>
              </a:rPr>
              <a:t>”</a:t>
            </a:r>
            <a:r>
              <a:rPr lang="en-US" altLang="ja-JP" sz="2400">
                <a:latin typeface="Gill Sans MT" pitchFamily="34" charset="0"/>
              </a:rPr>
              <a:t>: current directory, earlier authentication</a:t>
            </a:r>
            <a:endParaRPr lang="en-US" altLang="ja-JP" sz="2400">
              <a:solidFill>
                <a:srgbClr val="FF0000"/>
              </a:solidFill>
              <a:latin typeface="Gill Sans MT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endParaRPr lang="en-US" altLang="en-US" sz="2400">
              <a:solidFill>
                <a:srgbClr val="FF0000"/>
              </a:solidFill>
              <a:latin typeface="Gill Sans MT" pitchFamily="34" charset="0"/>
            </a:endParaRPr>
          </a:p>
        </p:txBody>
      </p:sp>
      <p:pic>
        <p:nvPicPr>
          <p:cNvPr id="108557" name="Picture 2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86836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8" name="Line 23"/>
          <p:cNvSpPr>
            <a:spLocks noChangeShapeType="1"/>
          </p:cNvSpPr>
          <p:nvPr/>
        </p:nvSpPr>
        <p:spPr bwMode="auto">
          <a:xfrm>
            <a:off x="5726113" y="2697163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8559" name="Group 32"/>
          <p:cNvGrpSpPr>
            <a:grpSpLocks/>
          </p:cNvGrpSpPr>
          <p:nvPr/>
        </p:nvGrpSpPr>
        <p:grpSpPr bwMode="auto">
          <a:xfrm>
            <a:off x="8129588" y="1674813"/>
            <a:ext cx="444500" cy="728662"/>
            <a:chOff x="4140" y="429"/>
            <a:chExt cx="1425" cy="2396"/>
          </a:xfrm>
        </p:grpSpPr>
        <p:sp>
          <p:nvSpPr>
            <p:cNvPr id="108563" name="Freeform 3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4" name="Rectangle 34"/>
            <p:cNvSpPr>
              <a:spLocks noChangeArrowheads="1"/>
            </p:cNvSpPr>
            <p:nvPr/>
          </p:nvSpPr>
          <p:spPr bwMode="auto">
            <a:xfrm>
              <a:off x="4206" y="429"/>
              <a:ext cx="1048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65" name="Freeform 3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6" name="Freeform 3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7" name="Rectangle 37"/>
            <p:cNvSpPr>
              <a:spLocks noChangeArrowheads="1"/>
            </p:cNvSpPr>
            <p:nvPr/>
          </p:nvSpPr>
          <p:spPr bwMode="auto">
            <a:xfrm>
              <a:off x="4211" y="695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8568" name="Group 3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8593" name="AutoShape 39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8594" name="AutoShape 40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6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8569" name="Rectangle 41"/>
            <p:cNvSpPr>
              <a:spLocks noChangeArrowheads="1"/>
            </p:cNvSpPr>
            <p:nvPr/>
          </p:nvSpPr>
          <p:spPr bwMode="auto">
            <a:xfrm>
              <a:off x="4227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8570" name="Group 4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8591" name="AutoShape 43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8592" name="AutoShape 44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8571" name="Rectangle 45"/>
            <p:cNvSpPr>
              <a:spLocks noChangeArrowheads="1"/>
            </p:cNvSpPr>
            <p:nvPr/>
          </p:nvSpPr>
          <p:spPr bwMode="auto">
            <a:xfrm>
              <a:off x="4216" y="1358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72" name="Rectangle 46"/>
            <p:cNvSpPr>
              <a:spLocks noChangeArrowheads="1"/>
            </p:cNvSpPr>
            <p:nvPr/>
          </p:nvSpPr>
          <p:spPr bwMode="auto">
            <a:xfrm>
              <a:off x="4227" y="1656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08573" name="Group 4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8589" name="AutoShape 48"/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3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8590" name="AutoShape 4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8574" name="Freeform 5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8575" name="Group 5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587" name="AutoShape 5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08588" name="AutoShape 53"/>
              <p:cNvSpPr>
                <a:spLocks noChangeArrowheads="1"/>
              </p:cNvSpPr>
              <p:nvPr/>
            </p:nvSpPr>
            <p:spPr bwMode="auto">
              <a:xfrm>
                <a:off x="635" y="2584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08576" name="Rectangle 54"/>
            <p:cNvSpPr>
              <a:spLocks noChangeArrowheads="1"/>
            </p:cNvSpPr>
            <p:nvPr/>
          </p:nvSpPr>
          <p:spPr bwMode="auto">
            <a:xfrm>
              <a:off x="5249" y="429"/>
              <a:ext cx="66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77" name="Freeform 5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8" name="Freeform 5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9" name="Oval 57"/>
            <p:cNvSpPr>
              <a:spLocks noChangeArrowheads="1"/>
            </p:cNvSpPr>
            <p:nvPr/>
          </p:nvSpPr>
          <p:spPr bwMode="auto">
            <a:xfrm>
              <a:off x="5519" y="2611"/>
              <a:ext cx="46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80" name="Freeform 5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1" name="AutoShape 59"/>
            <p:cNvSpPr>
              <a:spLocks noChangeArrowheads="1"/>
            </p:cNvSpPr>
            <p:nvPr/>
          </p:nvSpPr>
          <p:spPr bwMode="auto">
            <a:xfrm>
              <a:off x="4140" y="2679"/>
              <a:ext cx="1201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82" name="AutoShape 60"/>
            <p:cNvSpPr>
              <a:spLocks noChangeArrowheads="1"/>
            </p:cNvSpPr>
            <p:nvPr/>
          </p:nvSpPr>
          <p:spPr bwMode="auto">
            <a:xfrm>
              <a:off x="4206" y="2710"/>
              <a:ext cx="1069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83" name="Oval 61"/>
            <p:cNvSpPr>
              <a:spLocks noChangeArrowheads="1"/>
            </p:cNvSpPr>
            <p:nvPr/>
          </p:nvSpPr>
          <p:spPr bwMode="auto">
            <a:xfrm>
              <a:off x="4308" y="2381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84" name="Oval 62"/>
            <p:cNvSpPr>
              <a:spLocks noChangeArrowheads="1"/>
            </p:cNvSpPr>
            <p:nvPr/>
          </p:nvSpPr>
          <p:spPr bwMode="auto">
            <a:xfrm>
              <a:off x="4486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08585" name="Oval 63"/>
            <p:cNvSpPr>
              <a:spLocks noChangeArrowheads="1"/>
            </p:cNvSpPr>
            <p:nvPr/>
          </p:nvSpPr>
          <p:spPr bwMode="auto">
            <a:xfrm>
              <a:off x="4664" y="2381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08586" name="Rectangle 64"/>
            <p:cNvSpPr>
              <a:spLocks noChangeArrowheads="1"/>
            </p:cNvSpPr>
            <p:nvPr/>
          </p:nvSpPr>
          <p:spPr bwMode="auto">
            <a:xfrm>
              <a:off x="5061" y="1833"/>
              <a:ext cx="87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08560" name="Group 65"/>
          <p:cNvGrpSpPr>
            <a:grpSpLocks/>
          </p:cNvGrpSpPr>
          <p:nvPr/>
        </p:nvGrpSpPr>
        <p:grpSpPr bwMode="auto">
          <a:xfrm>
            <a:off x="4656138" y="1665288"/>
            <a:ext cx="873125" cy="893762"/>
            <a:chOff x="-44" y="1473"/>
            <a:chExt cx="981" cy="1105"/>
          </a:xfrm>
        </p:grpSpPr>
        <p:pic>
          <p:nvPicPr>
            <p:cNvPr id="108561" name="Picture 6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562" name="Freeform 6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1059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AB03DFA8-4C2C-4752-8207-C2F8ACCB3F93}" type="slidenum">
              <a:rPr lang="en-US" altLang="en-US" sz="1200">
                <a:latin typeface="Tahoma" pitchFamily="34" charset="0"/>
              </a:rPr>
              <a:pPr/>
              <a:t>34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10596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89217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7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50" y="271463"/>
            <a:ext cx="7772400" cy="817562"/>
          </a:xfrm>
        </p:spPr>
        <p:txBody>
          <a:bodyPr/>
          <a:lstStyle/>
          <a:p>
            <a:r>
              <a:rPr lang="en-US" altLang="en-US" sz="4000" smtClean="0"/>
              <a:t>FTP commands, responses</a:t>
            </a:r>
            <a:endParaRPr lang="en-US" altLang="en-US" smtClean="0"/>
          </a:p>
        </p:txBody>
      </p:sp>
      <p:sp>
        <p:nvSpPr>
          <p:cNvPr id="1105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sample commands:</a:t>
            </a:r>
            <a:endParaRPr lang="en-US" altLang="en-US" sz="2400" i="1" smtClean="0">
              <a:solidFill>
                <a:srgbClr val="CC0000"/>
              </a:solidFill>
            </a:endParaRPr>
          </a:p>
          <a:p>
            <a:r>
              <a:rPr lang="en-US" altLang="en-US" sz="2400" smtClean="0"/>
              <a:t>sent as ASCII text over control channel</a:t>
            </a:r>
            <a:endParaRPr lang="en-US" altLang="en-US" smtClean="0"/>
          </a:p>
          <a:p>
            <a:r>
              <a:rPr lang="en-US" altLang="en-US" sz="2400" b="1" smtClean="0">
                <a:latin typeface="Courier New" pitchFamily="49" charset="0"/>
              </a:rPr>
              <a:t>USER </a:t>
            </a:r>
            <a:r>
              <a:rPr lang="en-US" altLang="en-US" sz="2400" b="1" i="1" smtClean="0">
                <a:latin typeface="Courier New" pitchFamily="49" charset="0"/>
              </a:rPr>
              <a:t>username</a:t>
            </a:r>
            <a:endParaRPr lang="en-US" altLang="en-US" i="1" smtClean="0"/>
          </a:p>
          <a:p>
            <a:r>
              <a:rPr lang="en-US" altLang="en-US" sz="2400" b="1" smtClean="0">
                <a:latin typeface="Courier New" pitchFamily="49" charset="0"/>
              </a:rPr>
              <a:t>PASS </a:t>
            </a:r>
            <a:r>
              <a:rPr lang="en-US" altLang="en-US" sz="2400" b="1" i="1" smtClean="0">
                <a:latin typeface="Courier New" pitchFamily="49" charset="0"/>
              </a:rPr>
              <a:t>password</a:t>
            </a:r>
            <a:endParaRPr lang="en-US" altLang="en-US" i="1" smtClean="0"/>
          </a:p>
          <a:p>
            <a:r>
              <a:rPr lang="en-US" altLang="en-US" sz="2400" b="1" smtClean="0">
                <a:latin typeface="Courier New" pitchFamily="49" charset="0"/>
              </a:rPr>
              <a:t>LIST</a:t>
            </a:r>
            <a:r>
              <a:rPr lang="en-US" altLang="en-US" smtClean="0"/>
              <a:t> </a:t>
            </a:r>
            <a:r>
              <a:rPr lang="en-US" altLang="en-US" sz="2400" smtClean="0"/>
              <a:t>return list of file in current directory</a:t>
            </a:r>
            <a:endParaRPr lang="en-US" altLang="en-US" smtClean="0"/>
          </a:p>
          <a:p>
            <a:r>
              <a:rPr lang="en-US" altLang="en-US" sz="2400" b="1" smtClean="0">
                <a:latin typeface="Courier New" pitchFamily="49" charset="0"/>
              </a:rPr>
              <a:t>RETR filename</a:t>
            </a:r>
            <a:r>
              <a:rPr lang="en-US" altLang="en-US" smtClean="0"/>
              <a:t> </a:t>
            </a:r>
            <a:r>
              <a:rPr lang="en-US" altLang="en-US" sz="2400" smtClean="0"/>
              <a:t>retrieves (gets) file</a:t>
            </a:r>
            <a:endParaRPr lang="en-US" altLang="en-US" smtClean="0"/>
          </a:p>
          <a:p>
            <a:r>
              <a:rPr lang="en-US" altLang="en-US" sz="2400" b="1" smtClean="0">
                <a:latin typeface="Courier New" pitchFamily="49" charset="0"/>
              </a:rPr>
              <a:t>STOR filename</a:t>
            </a:r>
            <a:r>
              <a:rPr lang="en-US" altLang="en-US" smtClean="0"/>
              <a:t> </a:t>
            </a:r>
            <a:r>
              <a:rPr lang="en-US" altLang="en-US" sz="2400" smtClean="0"/>
              <a:t>stores (puts) file onto remote host</a:t>
            </a:r>
          </a:p>
        </p:txBody>
      </p:sp>
      <p:sp>
        <p:nvSpPr>
          <p:cNvPr id="11059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51400" y="13335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sample return codes</a:t>
            </a:r>
          </a:p>
          <a:p>
            <a:r>
              <a:rPr lang="en-US" altLang="en-US" sz="2400" smtClean="0"/>
              <a:t>status code and phrase (as in HTTP)</a:t>
            </a:r>
            <a:endParaRPr lang="en-US" altLang="en-US" smtClean="0"/>
          </a:p>
          <a:p>
            <a:r>
              <a:rPr lang="en-US" altLang="en-US" sz="2400" b="1" smtClean="0">
                <a:latin typeface="Courier New" pitchFamily="49" charset="0"/>
              </a:rPr>
              <a:t>331 Username OK, password required</a:t>
            </a:r>
          </a:p>
          <a:p>
            <a:r>
              <a:rPr lang="en-US" altLang="en-US" sz="2400" b="1" smtClean="0">
                <a:latin typeface="Courier New" pitchFamily="49" charset="0"/>
              </a:rPr>
              <a:t>125 data connection already open; transfer starting</a:t>
            </a:r>
          </a:p>
          <a:p>
            <a:r>
              <a:rPr lang="en-US" altLang="en-US" sz="2400" b="1" smtClean="0">
                <a:latin typeface="Courier New" pitchFamily="49" charset="0"/>
              </a:rPr>
              <a:t>425 Can</a:t>
            </a:r>
            <a:r>
              <a:rPr lang="ja-JP" altLang="en-US" sz="2400" b="1" smtClean="0">
                <a:latin typeface="Courier New" pitchFamily="49" charset="0"/>
              </a:rPr>
              <a:t>’</a:t>
            </a:r>
            <a:r>
              <a:rPr lang="en-US" altLang="ja-JP" sz="2400" b="1" smtClean="0">
                <a:latin typeface="Courier New" pitchFamily="49" charset="0"/>
              </a:rPr>
              <a:t>t open data connection</a:t>
            </a:r>
          </a:p>
          <a:p>
            <a:r>
              <a:rPr lang="en-US" altLang="en-US" sz="2400" b="1" smtClean="0">
                <a:latin typeface="Courier New" pitchFamily="49" charset="0"/>
              </a:rPr>
              <a:t>452 Error writing file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1264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0F446C5-15D7-4B71-B3C6-AD85BB2205EC}" type="slidenum">
              <a:rPr lang="en-US" altLang="en-US" sz="1200">
                <a:latin typeface="Tahoma" pitchFamily="34" charset="0"/>
              </a:rPr>
              <a:pPr/>
              <a:t>35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11264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2.1 principles of network applications</a:t>
            </a:r>
          </a:p>
          <a:p>
            <a:pPr marL="912813" lvl="1"/>
            <a:r>
              <a:rPr lang="en-US" altLang="en-US" smtClean="0"/>
              <a:t>app architectures</a:t>
            </a:r>
          </a:p>
          <a:p>
            <a:pPr marL="912813" lvl="1"/>
            <a:r>
              <a:rPr lang="en-US" altLang="en-US" smtClean="0"/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2.4 electronic mail</a:t>
            </a:r>
          </a:p>
          <a:p>
            <a:pPr marL="912813" lvl="1"/>
            <a:r>
              <a:rPr lang="en-US" altLang="en-US" smtClean="0">
                <a:solidFill>
                  <a:srgbClr val="CC0000"/>
                </a:solidFill>
              </a:rPr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2.5 DNS</a:t>
            </a:r>
          </a:p>
          <a:p>
            <a:pPr marL="457200" indent="-457200"/>
            <a:endParaRPr lang="en-US" altLang="en-US" sz="2400" smtClean="0"/>
          </a:p>
        </p:txBody>
      </p:sp>
      <p:sp>
        <p:nvSpPr>
          <p:cNvPr id="11264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2.7 socket programming with UDP and TCP</a:t>
            </a:r>
          </a:p>
        </p:txBody>
      </p:sp>
      <p:pic>
        <p:nvPicPr>
          <p:cNvPr id="112647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1469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23006EA2-0F33-42A6-A186-A2FAB61ED156}" type="slidenum">
              <a:rPr lang="en-US" altLang="en-US" sz="1200">
                <a:latin typeface="Tahoma" pitchFamily="34" charset="0"/>
              </a:rPr>
              <a:pPr/>
              <a:t>36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301625"/>
            <a:ext cx="7772400" cy="869950"/>
          </a:xfrm>
        </p:spPr>
        <p:txBody>
          <a:bodyPr/>
          <a:lstStyle/>
          <a:p>
            <a:r>
              <a:rPr lang="en-US" altLang="en-US" sz="4000" smtClean="0"/>
              <a:t>Electronic mail</a:t>
            </a:r>
            <a:endParaRPr lang="en-US" altLang="en-US" smtClean="0"/>
          </a:p>
        </p:txBody>
      </p:sp>
      <p:sp>
        <p:nvSpPr>
          <p:cNvPr id="1146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366838"/>
            <a:ext cx="3933825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Three major components:</a:t>
            </a:r>
            <a:r>
              <a:rPr lang="en-US" altLang="en-US" smtClean="0">
                <a:solidFill>
                  <a:srgbClr val="CC0000"/>
                </a:solidFill>
              </a:rPr>
              <a:t> </a:t>
            </a:r>
          </a:p>
          <a:p>
            <a:r>
              <a:rPr lang="en-US" altLang="en-US" sz="2400" smtClean="0"/>
              <a:t>user agents </a:t>
            </a:r>
          </a:p>
          <a:p>
            <a:r>
              <a:rPr lang="en-US" altLang="en-US" sz="2400" smtClean="0"/>
              <a:t>mail servers </a:t>
            </a:r>
          </a:p>
          <a:p>
            <a:pPr>
              <a:spcAft>
                <a:spcPct val="75000"/>
              </a:spcAft>
            </a:pPr>
            <a:r>
              <a:rPr lang="en-US" altLang="en-US" sz="2400" smtClean="0"/>
              <a:t>simple mail transfer protocol: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3200" i="1" smtClean="0">
                <a:solidFill>
                  <a:srgbClr val="CC0000"/>
                </a:solidFill>
              </a:rPr>
              <a:t>User Agent</a:t>
            </a:r>
          </a:p>
          <a:p>
            <a:r>
              <a:rPr lang="en-US" altLang="en-US" sz="2400" smtClean="0"/>
              <a:t>a.k.a. </a:t>
            </a:r>
            <a:r>
              <a:rPr lang="ja-JP" altLang="en-US" sz="2400" smtClean="0"/>
              <a:t>“</a:t>
            </a:r>
            <a:r>
              <a:rPr lang="en-US" altLang="ja-JP" sz="2400" smtClean="0"/>
              <a:t>mail reader</a:t>
            </a:r>
            <a:r>
              <a:rPr lang="ja-JP" altLang="en-US" sz="2400" smtClean="0"/>
              <a:t>”</a:t>
            </a:r>
            <a:endParaRPr lang="en-US" altLang="ja-JP" sz="2400" smtClean="0"/>
          </a:p>
          <a:p>
            <a:r>
              <a:rPr lang="en-US" altLang="en-US" sz="2400" smtClean="0"/>
              <a:t>composing, editing, reading mail messages</a:t>
            </a:r>
          </a:p>
          <a:p>
            <a:r>
              <a:rPr lang="en-US" altLang="en-US" sz="2400" smtClean="0"/>
              <a:t>e.g., Outlook, Thunderbird, iPhone mail client</a:t>
            </a:r>
          </a:p>
          <a:p>
            <a:r>
              <a:rPr lang="en-US" altLang="en-US" sz="2400" smtClean="0"/>
              <a:t>outgoing, incoming messages stored on server</a:t>
            </a:r>
          </a:p>
        </p:txBody>
      </p:sp>
      <p:sp>
        <p:nvSpPr>
          <p:cNvPr id="114694" name="Rectangle 280"/>
          <p:cNvSpPr>
            <a:spLocks noChangeArrowheads="1"/>
          </p:cNvSpPr>
          <p:nvPr/>
        </p:nvSpPr>
        <p:spPr bwMode="auto">
          <a:xfrm>
            <a:off x="6962775" y="628650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/>
          </a:p>
        </p:txBody>
      </p:sp>
      <p:grpSp>
        <p:nvGrpSpPr>
          <p:cNvPr id="114695" name="Group 279"/>
          <p:cNvGrpSpPr>
            <a:grpSpLocks/>
          </p:cNvGrpSpPr>
          <p:nvPr/>
        </p:nvGrpSpPr>
        <p:grpSpPr bwMode="auto">
          <a:xfrm>
            <a:off x="7059613" y="576263"/>
            <a:ext cx="1736725" cy="955675"/>
            <a:chOff x="4458" y="3335"/>
            <a:chExt cx="1094" cy="602"/>
          </a:xfrm>
        </p:grpSpPr>
        <p:sp>
          <p:nvSpPr>
            <p:cNvPr id="114893" name="Text Box 263"/>
            <p:cNvSpPr txBox="1">
              <a:spLocks noChangeArrowheads="1"/>
            </p:cNvSpPr>
            <p:nvPr/>
          </p:nvSpPr>
          <p:spPr bwMode="auto"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 mailbox</a:t>
              </a:r>
              <a:endParaRPr lang="en-US" altLang="en-US" sz="2400">
                <a:latin typeface="Arial" charset="0"/>
              </a:endParaRPr>
            </a:p>
          </p:txBody>
        </p:sp>
        <p:grpSp>
          <p:nvGrpSpPr>
            <p:cNvPr id="114894" name="Group 278"/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14897" name="Rectangle 264"/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898" name="Line 265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99" name="Line 266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00" name="Line 267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01" name="Line 268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02" name="Line 269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03" name="Line 270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904" name="Line 271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4895" name="Rectangle 272"/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4896" name="Text Box 277"/>
            <p:cNvSpPr txBox="1">
              <a:spLocks noChangeArrowheads="1"/>
            </p:cNvSpPr>
            <p:nvPr/>
          </p:nvSpPr>
          <p:spPr bwMode="auto"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r"/>
              <a:r>
                <a:rPr lang="en-US" altLang="en-US" sz="1600">
                  <a:latin typeface="Arial" charset="0"/>
                </a:rPr>
                <a:t>outgoing </a:t>
              </a:r>
            </a:p>
            <a:p>
              <a:pPr algn="r"/>
              <a:r>
                <a:rPr lang="en-US" altLang="en-US" sz="1600">
                  <a:latin typeface="Arial" charset="0"/>
                </a:rPr>
                <a:t>message queue</a:t>
              </a:r>
              <a:endParaRPr lang="en-US" altLang="en-US" sz="2400">
                <a:latin typeface="Arial" charset="0"/>
              </a:endParaRPr>
            </a:p>
          </p:txBody>
        </p:sp>
      </p:grpSp>
      <p:pic>
        <p:nvPicPr>
          <p:cNvPr id="114696" name="Picture 23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947738"/>
            <a:ext cx="3194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4697" name="Group 454"/>
          <p:cNvGrpSpPr>
            <a:grpSpLocks/>
          </p:cNvGrpSpPr>
          <p:nvPr/>
        </p:nvGrpSpPr>
        <p:grpSpPr bwMode="auto">
          <a:xfrm>
            <a:off x="4662488" y="1406525"/>
            <a:ext cx="4318000" cy="5118100"/>
            <a:chOff x="2937" y="886"/>
            <a:chExt cx="2720" cy="3224"/>
          </a:xfrm>
        </p:grpSpPr>
        <p:grpSp>
          <p:nvGrpSpPr>
            <p:cNvPr id="114698" name="Group 389"/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14861" name="Freeform 39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62" name="Rectangle 39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63" name="Freeform 39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64" name="Freeform 39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65" name="Rectangle 394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66" name="Group 39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4891" name="AutoShape 39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92" name="AutoShape 397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67" name="Rectangle 398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68" name="Group 39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4889" name="AutoShape 40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90" name="AutoShape 401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69" name="Rectangle 402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70" name="Rectangle 403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71" name="Group 40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4887" name="AutoShape 405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88" name="AutoShape 406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72" name="Freeform 40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873" name="Group 40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885" name="AutoShape 409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86" name="AutoShape 410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74" name="Rectangle 41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75" name="Freeform 41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6" name="Freeform 41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7" name="Oval 41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78" name="Freeform 41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9" name="AutoShape 41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80" name="AutoShape 41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81" name="Oval 418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82" name="Oval 419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14883" name="Oval 420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84" name="Rectangle 421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114699" name="Group 356"/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14829" name="Freeform 35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30" name="Rectangle 358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31" name="Freeform 35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32" name="Freeform 36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33" name="Rectangle 361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34" name="Group 36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4859" name="AutoShape 363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60" name="AutoShape 364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35" name="Rectangle 365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36" name="Group 36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4857" name="AutoShape 36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58" name="AutoShape 368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37" name="Rectangle 369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38" name="Rectangle 370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39" name="Group 37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4855" name="AutoShape 372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56" name="AutoShape 373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40" name="Freeform 37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841" name="Group 37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853" name="AutoShape 376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54" name="AutoShape 377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42" name="Rectangle 378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43" name="Freeform 37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44" name="Freeform 38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45" name="Oval 381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46" name="Freeform 38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47" name="AutoShape 383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48" name="AutoShape 384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49" name="Oval 385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50" name="Oval 386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14851" name="Oval 387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52" name="Rectangle 388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grpSp>
          <p:nvGrpSpPr>
            <p:cNvPr id="114700" name="Group 320"/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14797" name="Freeform 32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98" name="Rectangle 322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799" name="Freeform 32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00" name="Freeform 32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01" name="Rectangle 325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02" name="Group 32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4827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28" name="AutoShape 328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03" name="Rectangle 329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04" name="Group 33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4825" name="AutoShape 33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26" name="AutoShape 332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05" name="Rectangle 333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06" name="Rectangle 334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grpSp>
            <p:nvGrpSpPr>
              <p:cNvPr id="114807" name="Group 33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4823" name="AutoShape 336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24" name="AutoShape 337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08" name="Freeform 33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809" name="Group 33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821" name="AutoShape 340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  <p:sp>
              <p:nvSpPr>
                <p:cNvPr id="114822" name="AutoShape 341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en-US" altLang="en-US"/>
                </a:p>
              </p:txBody>
            </p:sp>
          </p:grpSp>
          <p:sp>
            <p:nvSpPr>
              <p:cNvPr id="114810" name="Rectangle 342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11" name="Freeform 34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2" name="Freeform 34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3" name="Oval 345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14" name="Freeform 34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5" name="AutoShape 347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16" name="AutoShape 348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17" name="Oval 349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18" name="Oval 350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14819" name="Oval 351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4820" name="Rectangle 352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4701" name="Line 9"/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4702" name="Group 19"/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14782" name="Rectangle 2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83" name="Text Box 21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mail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server</a:t>
                </a: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114784" name="Rectangle 2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85" name="Line 2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86" name="Line 2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87" name="Line 2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88" name="Line 2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89" name="Line 2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90" name="Line 2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91" name="Line 2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92" name="Rectangle 3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93" name="Rectangle 3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94" name="Rectangle 3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95" name="Rectangle 3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96" name="Rectangle 3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</p:grpSp>
        <p:grpSp>
          <p:nvGrpSpPr>
            <p:cNvPr id="114703" name="Group 60"/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14767" name="Rectangle 61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68" name="Text Box 62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mail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server</a:t>
                </a: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114769" name="Rectangle 63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70" name="Line 64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1" name="Line 65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2" name="Line 66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3" name="Line 67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4" name="Line 68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5" name="Line 69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6" name="Line 70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77" name="Rectangle 71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78" name="Rectangle 72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79" name="Rectangle 73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80" name="Rectangle 74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81" name="Rectangle 75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</p:grpSp>
        <p:grpSp>
          <p:nvGrpSpPr>
            <p:cNvPr id="114704" name="Group 96"/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14752" name="Rectangle 97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53" name="Text Box 98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mail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server</a:t>
                </a: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114754" name="Rectangle 99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55" name="Line 100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56" name="Line 101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57" name="Line 102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58" name="Line 103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59" name="Line 104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60" name="Line 105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61" name="Line 106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62" name="Rectangle 107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63" name="Rectangle 108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64" name="Rectangle 109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65" name="Rectangle 110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66" name="Rectangle 111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</p:grpSp>
        <p:sp>
          <p:nvSpPr>
            <p:cNvPr id="114705" name="Line 117"/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06" name="Line 118"/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4707" name="Group 119"/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114750" name="Rectangle 12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51" name="Text Box 121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114708" name="Group 122"/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114748" name="Rectangle 12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49" name="Text Box 124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114709" name="Group 125"/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114746" name="Rectangle 12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47" name="Text Box 127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rgbClr val="CC0000"/>
                    </a:solidFill>
                    <a:latin typeface="Arial" charset="0"/>
                  </a:rPr>
                  <a:t>SMTP</a:t>
                </a:r>
              </a:p>
            </p:txBody>
          </p:sp>
        </p:grpSp>
        <p:grpSp>
          <p:nvGrpSpPr>
            <p:cNvPr id="114710" name="Group 423"/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114741" name="Group 35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44" name="Picture 35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45" name="Freeform 35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42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43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  <p:grpSp>
          <p:nvGrpSpPr>
            <p:cNvPr id="114711" name="Group 424"/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114736" name="Group 425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39" name="Picture 42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40" name="Freeform 427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37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38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  <p:grpSp>
          <p:nvGrpSpPr>
            <p:cNvPr id="114712" name="Group 430"/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114731" name="Group 431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34" name="Picture 43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35" name="Freeform 433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32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33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  <p:grpSp>
          <p:nvGrpSpPr>
            <p:cNvPr id="114713" name="Group 436"/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114726" name="Group 437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29" name="Picture 43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30" name="Freeform 439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27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28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  <p:grpSp>
          <p:nvGrpSpPr>
            <p:cNvPr id="114714" name="Group 442"/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114721" name="Group 44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24" name="Picture 44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25" name="Freeform 44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22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23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  <p:grpSp>
          <p:nvGrpSpPr>
            <p:cNvPr id="114715" name="Group 448"/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114716" name="Group 449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14719" name="Picture 4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720" name="Freeform 4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8034 w 356"/>
                    <a:gd name="T3" fmla="*/ 1220 h 368"/>
                    <a:gd name="T4" fmla="*/ 21394 w 356"/>
                    <a:gd name="T5" fmla="*/ 25425 h 368"/>
                    <a:gd name="T6" fmla="*/ 4715 w 356"/>
                    <a:gd name="T7" fmla="*/ 3179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14717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114718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Gill Sans MT" pitchFamily="34" charset="0"/>
                    <a:ea typeface="MS PGothic" pitchFamily="34" charset="-128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pitchFamily="66" charset="0"/>
                    <a:ea typeface="MS PGothic" pitchFamily="34" charset="-128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/>
                <a:r>
                  <a:rPr lang="en-US" altLang="en-US" sz="1600">
                    <a:latin typeface="Arial" charset="0"/>
                  </a:rPr>
                  <a:t>user</a:t>
                </a:r>
              </a:p>
              <a:p>
                <a:pPr algn="ctr"/>
                <a:r>
                  <a:rPr lang="en-US" altLang="en-US" sz="1600">
                    <a:latin typeface="Arial" charset="0"/>
                  </a:rPr>
                  <a:t>agent</a:t>
                </a:r>
                <a:endParaRPr lang="en-US" altLang="en-US" sz="2400">
                  <a:latin typeface="Arial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1673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328EC9A5-A44A-4422-959A-B84FB42B2118}" type="slidenum">
              <a:rPr lang="en-US" altLang="en-US" sz="1200">
                <a:latin typeface="Tahoma" pitchFamily="34" charset="0"/>
              </a:rPr>
              <a:pPr/>
              <a:t>37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1674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222250"/>
            <a:ext cx="7772400" cy="882650"/>
          </a:xfrm>
        </p:spPr>
        <p:txBody>
          <a:bodyPr/>
          <a:lstStyle/>
          <a:p>
            <a:r>
              <a:rPr lang="en-US" altLang="en-US" sz="4000" smtClean="0"/>
              <a:t>Electronic mail: mail servers</a:t>
            </a:r>
            <a:endParaRPr lang="en-US" altLang="en-US" smtClean="0"/>
          </a:p>
        </p:txBody>
      </p:sp>
      <p:sp>
        <p:nvSpPr>
          <p:cNvPr id="1167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98588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mail servers:</a:t>
            </a:r>
          </a:p>
          <a:p>
            <a:r>
              <a:rPr lang="en-US" altLang="en-US" sz="2400" i="1" smtClean="0">
                <a:solidFill>
                  <a:srgbClr val="CC0000"/>
                </a:solidFill>
              </a:rPr>
              <a:t>mailbox</a:t>
            </a:r>
            <a:r>
              <a:rPr lang="en-US" altLang="en-US" sz="2400" smtClean="0"/>
              <a:t> contains incoming messages for user</a:t>
            </a:r>
          </a:p>
          <a:p>
            <a:r>
              <a:rPr lang="en-US" altLang="en-US" sz="2400" i="1" smtClean="0">
                <a:solidFill>
                  <a:srgbClr val="CC0000"/>
                </a:solidFill>
              </a:rPr>
              <a:t>message queue</a:t>
            </a:r>
            <a:r>
              <a:rPr lang="en-US" altLang="en-US" sz="2400" smtClean="0"/>
              <a:t> of outgoing (to be sent) mail messages</a:t>
            </a:r>
          </a:p>
          <a:p>
            <a:r>
              <a:rPr lang="en-US" altLang="en-US" sz="2400" i="1" smtClean="0">
                <a:solidFill>
                  <a:srgbClr val="CC0000"/>
                </a:solidFill>
              </a:rPr>
              <a:t>SMTP protocol</a:t>
            </a:r>
            <a:r>
              <a:rPr lang="en-US" altLang="en-US" sz="2400" smtClean="0"/>
              <a:t> between mail servers to send email messages</a:t>
            </a:r>
          </a:p>
          <a:p>
            <a:pPr lvl="1"/>
            <a:r>
              <a:rPr lang="en-US" altLang="en-US" smtClean="0"/>
              <a:t>client: sending mail server</a:t>
            </a:r>
          </a:p>
          <a:p>
            <a:pPr lvl="1"/>
            <a:r>
              <a:rPr lang="ja-JP" altLang="en-US" smtClean="0"/>
              <a:t>“</a:t>
            </a:r>
            <a:r>
              <a:rPr lang="en-US" altLang="ja-JP" smtClean="0"/>
              <a:t>server</a:t>
            </a:r>
            <a:r>
              <a:rPr lang="ja-JP" altLang="en-US" smtClean="0"/>
              <a:t>”</a:t>
            </a:r>
            <a:r>
              <a:rPr lang="en-US" altLang="ja-JP" smtClean="0"/>
              <a:t>: receiving mail server</a:t>
            </a:r>
            <a:endParaRPr lang="en-US" altLang="en-US" smtClean="0"/>
          </a:p>
        </p:txBody>
      </p:sp>
      <p:pic>
        <p:nvPicPr>
          <p:cNvPr id="116742" name="Picture 15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826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6743" name="Group 271"/>
          <p:cNvGrpSpPr>
            <a:grpSpLocks/>
          </p:cNvGrpSpPr>
          <p:nvPr/>
        </p:nvGrpSpPr>
        <p:grpSpPr bwMode="auto">
          <a:xfrm>
            <a:off x="6899275" y="2787650"/>
            <a:ext cx="477838" cy="715963"/>
            <a:chOff x="4140" y="429"/>
            <a:chExt cx="1425" cy="2396"/>
          </a:xfrm>
        </p:grpSpPr>
        <p:sp>
          <p:nvSpPr>
            <p:cNvPr id="116906" name="Freeform 2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07" name="Rectangle 273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08" name="Freeform 2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09" name="Freeform 2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10" name="Rectangle 276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911" name="Group 2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6936" name="AutoShape 27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37" name="AutoShape 279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912" name="Rectangle 280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913" name="Group 2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934" name="AutoShape 28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35" name="AutoShape 283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914" name="Rectangle 284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15" name="Rectangle 285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916" name="Group 2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6932" name="AutoShape 28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33" name="AutoShape 288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917" name="Freeform 2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6918" name="Group 2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6930" name="AutoShape 291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31" name="AutoShape 292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919" name="Rectangle 293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0" name="Freeform 2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21" name="Freeform 2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22" name="Oval 296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3" name="Freeform 2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24" name="AutoShape 298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5" name="AutoShape 299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6" name="Oval 300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7" name="Oval 301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16928" name="Oval 302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929" name="Rectangle 303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16744" name="Group 304"/>
          <p:cNvGrpSpPr>
            <a:grpSpLocks/>
          </p:cNvGrpSpPr>
          <p:nvPr/>
        </p:nvGrpSpPr>
        <p:grpSpPr bwMode="auto">
          <a:xfrm>
            <a:off x="4906963" y="4181475"/>
            <a:ext cx="477837" cy="715963"/>
            <a:chOff x="4140" y="429"/>
            <a:chExt cx="1425" cy="2396"/>
          </a:xfrm>
        </p:grpSpPr>
        <p:sp>
          <p:nvSpPr>
            <p:cNvPr id="116874" name="Freeform 30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75" name="Rectangle 306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76" name="Freeform 30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77" name="Freeform 30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78" name="Rectangle 309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79" name="Group 31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6904" name="AutoShape 31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05" name="AutoShape 312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80" name="Rectangle 313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81" name="Group 31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902" name="AutoShape 31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03" name="AutoShape 31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82" name="Rectangle 317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83" name="Rectangle 318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84" name="Group 31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6900" name="AutoShape 32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901" name="AutoShape 321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85" name="Freeform 32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6886" name="Group 32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6898" name="AutoShape 324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899" name="AutoShape 325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87" name="Rectangle 326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88" name="Freeform 32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89" name="Freeform 32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90" name="Oval 329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91" name="Freeform 33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92" name="AutoShape 331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93" name="AutoShape 332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94" name="Oval 333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95" name="Oval 334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16896" name="Oval 335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97" name="Rectangle 336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16745" name="Group 337"/>
          <p:cNvGrpSpPr>
            <a:grpSpLocks/>
          </p:cNvGrpSpPr>
          <p:nvPr/>
        </p:nvGrpSpPr>
        <p:grpSpPr bwMode="auto">
          <a:xfrm>
            <a:off x="4929188" y="1839913"/>
            <a:ext cx="477837" cy="715962"/>
            <a:chOff x="4140" y="429"/>
            <a:chExt cx="1425" cy="2396"/>
          </a:xfrm>
        </p:grpSpPr>
        <p:sp>
          <p:nvSpPr>
            <p:cNvPr id="116842" name="Freeform 33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3" name="Rectangle 339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44" name="Freeform 34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5" name="Freeform 34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46" name="Rectangle 342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47" name="Group 34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6872" name="AutoShape 34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873" name="AutoShape 345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48" name="Rectangle 346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49" name="Group 34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870" name="AutoShape 34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871" name="AutoShape 349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50" name="Rectangle 350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51" name="Rectangle 351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16852" name="Group 35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6868" name="AutoShape 353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869" name="AutoShape 354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53" name="Freeform 35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6854" name="Group 35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6866" name="AutoShape 357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16867" name="AutoShape 358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16855" name="Rectangle 359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56" name="Freeform 36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7" name="Freeform 36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8" name="Oval 362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59" name="Freeform 36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0" name="AutoShape 364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61" name="AutoShape 365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62" name="Oval 366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63" name="Oval 367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16864" name="Oval 368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16865" name="Rectangle 369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sp>
        <p:nvSpPr>
          <p:cNvPr id="116746" name="Line 9"/>
          <p:cNvSpPr>
            <a:spLocks noChangeShapeType="1"/>
          </p:cNvSpPr>
          <p:nvPr/>
        </p:nvSpPr>
        <p:spPr bwMode="auto">
          <a:xfrm>
            <a:off x="5927725" y="2606675"/>
            <a:ext cx="1123950" cy="7905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6747" name="Group 19"/>
          <p:cNvGrpSpPr>
            <a:grpSpLocks/>
          </p:cNvGrpSpPr>
          <p:nvPr/>
        </p:nvGrpSpPr>
        <p:grpSpPr bwMode="auto">
          <a:xfrm>
            <a:off x="7089775" y="2986088"/>
            <a:ext cx="809625" cy="1049337"/>
            <a:chOff x="4296" y="2627"/>
            <a:chExt cx="510" cy="661"/>
          </a:xfrm>
        </p:grpSpPr>
        <p:sp>
          <p:nvSpPr>
            <p:cNvPr id="116827" name="Rectangle 20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28" name="Text Box 21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mail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16829" name="Rectangle 22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30" name="Line 23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1" name="Line 24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2" name="Line 25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3" name="Line 26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4" name="Line 27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5" name="Line 28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6" name="Line 29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37" name="Rectangle 30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38" name="Rectangle 31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39" name="Rectangle 32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40" name="Rectangle 33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41" name="Rectangle 34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</p:grpSp>
      <p:grpSp>
        <p:nvGrpSpPr>
          <p:cNvPr id="116748" name="Group 60"/>
          <p:cNvGrpSpPr>
            <a:grpSpLocks/>
          </p:cNvGrpSpPr>
          <p:nvPr/>
        </p:nvGrpSpPr>
        <p:grpSpPr bwMode="auto">
          <a:xfrm>
            <a:off x="5089525" y="4386263"/>
            <a:ext cx="809625" cy="1049337"/>
            <a:chOff x="4296" y="2627"/>
            <a:chExt cx="510" cy="661"/>
          </a:xfrm>
        </p:grpSpPr>
        <p:sp>
          <p:nvSpPr>
            <p:cNvPr id="116812" name="Rectangle 6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13" name="Text Box 6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mail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16814" name="Rectangle 6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15" name="Line 6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16" name="Line 6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17" name="Line 6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18" name="Line 6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19" name="Line 6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20" name="Line 6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21" name="Line 7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22" name="Rectangle 7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23" name="Rectangle 7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24" name="Rectangle 7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25" name="Rectangle 7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26" name="Rectangle 7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</p:grpSp>
      <p:grpSp>
        <p:nvGrpSpPr>
          <p:cNvPr id="116749" name="Group 96"/>
          <p:cNvGrpSpPr>
            <a:grpSpLocks/>
          </p:cNvGrpSpPr>
          <p:nvPr/>
        </p:nvGrpSpPr>
        <p:grpSpPr bwMode="auto">
          <a:xfrm>
            <a:off x="5089525" y="2138363"/>
            <a:ext cx="809625" cy="1049337"/>
            <a:chOff x="4296" y="2627"/>
            <a:chExt cx="510" cy="661"/>
          </a:xfrm>
        </p:grpSpPr>
        <p:sp>
          <p:nvSpPr>
            <p:cNvPr id="116797" name="Rectangle 97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98" name="Text Box 98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mail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16799" name="Rectangle 99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00" name="Line 100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1" name="Line 101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2" name="Line 102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3" name="Line 103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4" name="Line 104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5" name="Line 105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6" name="Line 106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807" name="Rectangle 107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08" name="Rectangle 108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09" name="Rectangle 109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10" name="Rectangle 110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811" name="Rectangle 111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</p:grpSp>
      <p:sp>
        <p:nvSpPr>
          <p:cNvPr id="116750" name="Line 117"/>
          <p:cNvSpPr>
            <a:spLocks noChangeShapeType="1"/>
          </p:cNvSpPr>
          <p:nvPr/>
        </p:nvSpPr>
        <p:spPr bwMode="auto">
          <a:xfrm flipV="1">
            <a:off x="5927725" y="3730625"/>
            <a:ext cx="1123950" cy="1085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1" name="Line 118"/>
          <p:cNvSpPr>
            <a:spLocks noChangeShapeType="1"/>
          </p:cNvSpPr>
          <p:nvPr/>
        </p:nvSpPr>
        <p:spPr bwMode="auto">
          <a:xfrm flipH="1" flipV="1">
            <a:off x="5184775" y="3206750"/>
            <a:ext cx="0" cy="1247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6752" name="Group 119"/>
          <p:cNvGrpSpPr>
            <a:grpSpLocks/>
          </p:cNvGrpSpPr>
          <p:nvPr/>
        </p:nvGrpSpPr>
        <p:grpSpPr bwMode="auto">
          <a:xfrm>
            <a:off x="6024563" y="4024313"/>
            <a:ext cx="1031875" cy="457200"/>
            <a:chOff x="3745" y="2537"/>
            <a:chExt cx="650" cy="288"/>
          </a:xfrm>
        </p:grpSpPr>
        <p:sp>
          <p:nvSpPr>
            <p:cNvPr id="116795" name="Rectangle 120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96" name="Text Box 121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CC0000"/>
                  </a:solidFill>
                  <a:latin typeface="Arial" charset="0"/>
                </a:rPr>
                <a:t>SMTP</a:t>
              </a:r>
            </a:p>
          </p:txBody>
        </p:sp>
      </p:grpSp>
      <p:grpSp>
        <p:nvGrpSpPr>
          <p:cNvPr id="116753" name="Group 122"/>
          <p:cNvGrpSpPr>
            <a:grpSpLocks/>
          </p:cNvGrpSpPr>
          <p:nvPr/>
        </p:nvGrpSpPr>
        <p:grpSpPr bwMode="auto">
          <a:xfrm>
            <a:off x="5986463" y="2767013"/>
            <a:ext cx="1031875" cy="457200"/>
            <a:chOff x="3745" y="2537"/>
            <a:chExt cx="650" cy="288"/>
          </a:xfrm>
        </p:grpSpPr>
        <p:sp>
          <p:nvSpPr>
            <p:cNvPr id="116793" name="Rectangle 123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94" name="Text Box 124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CC0000"/>
                  </a:solidFill>
                  <a:latin typeface="Arial" charset="0"/>
                </a:rPr>
                <a:t>SMTP</a:t>
              </a:r>
            </a:p>
          </p:txBody>
        </p:sp>
      </p:grpSp>
      <p:grpSp>
        <p:nvGrpSpPr>
          <p:cNvPr id="116754" name="Group 125"/>
          <p:cNvGrpSpPr>
            <a:grpSpLocks/>
          </p:cNvGrpSpPr>
          <p:nvPr/>
        </p:nvGrpSpPr>
        <p:grpSpPr bwMode="auto">
          <a:xfrm>
            <a:off x="4662488" y="3481388"/>
            <a:ext cx="1031875" cy="457200"/>
            <a:chOff x="3745" y="2537"/>
            <a:chExt cx="650" cy="288"/>
          </a:xfrm>
        </p:grpSpPr>
        <p:sp>
          <p:nvSpPr>
            <p:cNvPr id="116791" name="Rectangle 126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92" name="Text Box 127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CC0000"/>
                  </a:solidFill>
                  <a:latin typeface="Arial" charset="0"/>
                </a:rPr>
                <a:t>SMTP</a:t>
              </a:r>
            </a:p>
          </p:txBody>
        </p:sp>
      </p:grpSp>
      <p:grpSp>
        <p:nvGrpSpPr>
          <p:cNvPr id="116755" name="Group 430"/>
          <p:cNvGrpSpPr>
            <a:grpSpLocks/>
          </p:cNvGrpSpPr>
          <p:nvPr/>
        </p:nvGrpSpPr>
        <p:grpSpPr bwMode="auto">
          <a:xfrm>
            <a:off x="5694363" y="1406525"/>
            <a:ext cx="912812" cy="1054100"/>
            <a:chOff x="3574" y="550"/>
            <a:chExt cx="575" cy="664"/>
          </a:xfrm>
        </p:grpSpPr>
        <p:grpSp>
          <p:nvGrpSpPr>
            <p:cNvPr id="116786" name="Group 43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89" name="Picture 43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90" name="Freeform 43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8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88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16756" name="Group 436"/>
          <p:cNvGrpSpPr>
            <a:grpSpLocks/>
          </p:cNvGrpSpPr>
          <p:nvPr/>
        </p:nvGrpSpPr>
        <p:grpSpPr bwMode="auto">
          <a:xfrm>
            <a:off x="7731125" y="2222500"/>
            <a:ext cx="912813" cy="1054100"/>
            <a:chOff x="3574" y="550"/>
            <a:chExt cx="575" cy="664"/>
          </a:xfrm>
        </p:grpSpPr>
        <p:grpSp>
          <p:nvGrpSpPr>
            <p:cNvPr id="116781" name="Group 43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84" name="Picture 4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85" name="Freeform 4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82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83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16757" name="Group 442"/>
          <p:cNvGrpSpPr>
            <a:grpSpLocks/>
          </p:cNvGrpSpPr>
          <p:nvPr/>
        </p:nvGrpSpPr>
        <p:grpSpPr bwMode="auto">
          <a:xfrm>
            <a:off x="8067675" y="2984500"/>
            <a:ext cx="912813" cy="1054100"/>
            <a:chOff x="3574" y="550"/>
            <a:chExt cx="575" cy="664"/>
          </a:xfrm>
        </p:grpSpPr>
        <p:grpSp>
          <p:nvGrpSpPr>
            <p:cNvPr id="116776" name="Group 44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79" name="Picture 4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80" name="Freeform 44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7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78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16758" name="Group 448"/>
          <p:cNvGrpSpPr>
            <a:grpSpLocks/>
          </p:cNvGrpSpPr>
          <p:nvPr/>
        </p:nvGrpSpPr>
        <p:grpSpPr bwMode="auto">
          <a:xfrm>
            <a:off x="7935913" y="4032250"/>
            <a:ext cx="912812" cy="1054100"/>
            <a:chOff x="3574" y="550"/>
            <a:chExt cx="575" cy="664"/>
          </a:xfrm>
        </p:grpSpPr>
        <p:grpSp>
          <p:nvGrpSpPr>
            <p:cNvPr id="116771" name="Group 449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74" name="Picture 4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75" name="Freeform 4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72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73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16759" name="Group 454"/>
          <p:cNvGrpSpPr>
            <a:grpSpLocks/>
          </p:cNvGrpSpPr>
          <p:nvPr/>
        </p:nvGrpSpPr>
        <p:grpSpPr bwMode="auto">
          <a:xfrm>
            <a:off x="5324475" y="5470525"/>
            <a:ext cx="912813" cy="1054100"/>
            <a:chOff x="3574" y="550"/>
            <a:chExt cx="575" cy="664"/>
          </a:xfrm>
        </p:grpSpPr>
        <p:grpSp>
          <p:nvGrpSpPr>
            <p:cNvPr id="116766" name="Group 455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69" name="Picture 45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70" name="Freeform 45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6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68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16760" name="Group 460"/>
          <p:cNvGrpSpPr>
            <a:grpSpLocks/>
          </p:cNvGrpSpPr>
          <p:nvPr/>
        </p:nvGrpSpPr>
        <p:grpSpPr bwMode="auto">
          <a:xfrm>
            <a:off x="6053138" y="4851400"/>
            <a:ext cx="912812" cy="1054100"/>
            <a:chOff x="3574" y="550"/>
            <a:chExt cx="575" cy="664"/>
          </a:xfrm>
        </p:grpSpPr>
        <p:grpSp>
          <p:nvGrpSpPr>
            <p:cNvPr id="116761" name="Group 46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6764" name="Picture 46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765" name="Freeform 46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6762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16763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1878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B629EBEE-730C-4374-A2DD-2D3627A22E8C}" type="slidenum">
              <a:rPr lang="en-US" altLang="en-US" sz="1200">
                <a:latin typeface="Tahoma" pitchFamily="34" charset="0"/>
              </a:rPr>
              <a:pPr/>
              <a:t>38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18788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34950"/>
            <a:ext cx="7772400" cy="958850"/>
          </a:xfrm>
        </p:spPr>
        <p:txBody>
          <a:bodyPr/>
          <a:lstStyle/>
          <a:p>
            <a:r>
              <a:rPr lang="en-US" altLang="en-US" sz="4000" smtClean="0"/>
              <a:t>Electronic Mail: SMTP </a:t>
            </a:r>
            <a:r>
              <a:rPr lang="en-US" altLang="en-US" sz="3600" smtClean="0"/>
              <a:t>[RFC 2821]</a:t>
            </a:r>
            <a:endParaRPr lang="en-US" altLang="en-US" smtClean="0"/>
          </a:p>
        </p:txBody>
      </p:sp>
      <p:sp>
        <p:nvSpPr>
          <p:cNvPr id="1187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422400"/>
            <a:ext cx="7629525" cy="4648200"/>
          </a:xfrm>
        </p:spPr>
        <p:txBody>
          <a:bodyPr/>
          <a:lstStyle/>
          <a:p>
            <a:r>
              <a:rPr lang="en-US" altLang="en-US" smtClean="0"/>
              <a:t>uses TCP to reliably transfer email message from client to server, port 25</a:t>
            </a:r>
          </a:p>
          <a:p>
            <a:r>
              <a:rPr lang="en-US" altLang="en-US" smtClean="0"/>
              <a:t>direct transfer: sending server to receiving server</a:t>
            </a:r>
          </a:p>
          <a:p>
            <a:r>
              <a:rPr lang="en-US" altLang="en-US" smtClean="0"/>
              <a:t>three phases of transfer</a:t>
            </a:r>
          </a:p>
          <a:p>
            <a:pPr lvl="1"/>
            <a:r>
              <a:rPr lang="en-US" altLang="en-US" smtClean="0"/>
              <a:t>handshaking (greeting)</a:t>
            </a:r>
          </a:p>
          <a:p>
            <a:pPr lvl="1"/>
            <a:r>
              <a:rPr lang="en-US" altLang="en-US" smtClean="0"/>
              <a:t>transfer of messages</a:t>
            </a:r>
          </a:p>
          <a:p>
            <a:pPr lvl="1"/>
            <a:r>
              <a:rPr lang="en-US" altLang="en-US" smtClean="0"/>
              <a:t>closure</a:t>
            </a:r>
          </a:p>
          <a:p>
            <a:r>
              <a:rPr lang="en-US" altLang="en-US" smtClean="0"/>
              <a:t>command/response interaction (like </a:t>
            </a:r>
            <a:r>
              <a:rPr lang="en-US" altLang="en-US" sz="2400" smtClean="0"/>
              <a:t>HTTP, FTP</a:t>
            </a:r>
            <a:r>
              <a:rPr lang="en-US" altLang="en-US" smtClean="0"/>
              <a:t>)</a:t>
            </a:r>
            <a:endParaRPr lang="en-US" altLang="en-US" smtClean="0">
              <a:solidFill>
                <a:schemeClr val="accent2"/>
              </a:solidFill>
            </a:endParaRPr>
          </a:p>
          <a:p>
            <a:pPr lvl="1"/>
            <a:r>
              <a:rPr lang="en-US" altLang="en-US" smtClean="0">
                <a:solidFill>
                  <a:srgbClr val="000099"/>
                </a:solidFill>
              </a:rPr>
              <a:t>commands:</a:t>
            </a:r>
            <a:r>
              <a:rPr lang="en-US" altLang="en-US" smtClean="0"/>
              <a:t> ASCII text</a:t>
            </a:r>
          </a:p>
          <a:p>
            <a:pPr lvl="1"/>
            <a:r>
              <a:rPr lang="en-US" altLang="en-US" smtClean="0">
                <a:solidFill>
                  <a:srgbClr val="000099"/>
                </a:solidFill>
              </a:rPr>
              <a:t>response:</a:t>
            </a:r>
            <a:r>
              <a:rPr lang="en-US" altLang="en-US" smtClean="0"/>
              <a:t> status code and phrase</a:t>
            </a:r>
          </a:p>
          <a:p>
            <a:r>
              <a:rPr lang="en-US" altLang="en-US" smtClean="0"/>
              <a:t>messages must be in 7-bit ASCI</a:t>
            </a:r>
            <a:endParaRPr lang="en-US" altLang="en-US" sz="3200" smtClean="0"/>
          </a:p>
          <a:p>
            <a:pPr lvl="1"/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2083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CA40E1F3-47F0-4701-A345-21EF1CE4CD83}" type="slidenum">
              <a:rPr lang="en-US" altLang="en-US" sz="1200">
                <a:latin typeface="Tahoma" pitchFamily="34" charset="0"/>
              </a:rPr>
              <a:pPr/>
              <a:t>39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120836" name="Group 163"/>
          <p:cNvGrpSpPr>
            <a:grpSpLocks/>
          </p:cNvGrpSpPr>
          <p:nvPr/>
        </p:nvGrpSpPr>
        <p:grpSpPr bwMode="auto">
          <a:xfrm>
            <a:off x="1143000" y="4881563"/>
            <a:ext cx="912813" cy="1054100"/>
            <a:chOff x="3574" y="550"/>
            <a:chExt cx="575" cy="664"/>
          </a:xfrm>
        </p:grpSpPr>
        <p:grpSp>
          <p:nvGrpSpPr>
            <p:cNvPr id="120958" name="Group 164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20961" name="Picture 16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0962" name="Freeform 16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20959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960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20837" name="Group 130"/>
          <p:cNvGrpSpPr>
            <a:grpSpLocks/>
          </p:cNvGrpSpPr>
          <p:nvPr/>
        </p:nvGrpSpPr>
        <p:grpSpPr bwMode="auto">
          <a:xfrm>
            <a:off x="4852988" y="4613275"/>
            <a:ext cx="511175" cy="693738"/>
            <a:chOff x="4140" y="429"/>
            <a:chExt cx="1425" cy="2396"/>
          </a:xfrm>
        </p:grpSpPr>
        <p:sp>
          <p:nvSpPr>
            <p:cNvPr id="120926" name="Freeform 1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27" name="Rectangle 13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28" name="Freeform 1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29" name="Freeform 1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0" name="Rectangle 13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931" name="Group 1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956" name="AutoShape 13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57" name="AutoShape 13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32" name="Rectangle 13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933" name="Group 1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954" name="AutoShape 14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55" name="AutoShape 14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34" name="Rectangle 14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35" name="Rectangle 14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936" name="Group 1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952" name="AutoShape 14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53" name="AutoShape 14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37" name="Freeform 1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938" name="Group 1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0950" name="AutoShape 15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51" name="AutoShape 15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39" name="Rectangle 15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0" name="Freeform 1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41" name="Freeform 1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42" name="Oval 15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3" name="Freeform 1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44" name="AutoShape 15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5" name="AutoShape 15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6" name="Oval 15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7" name="Oval 16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20948" name="Oval 16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49" name="Rectangle 16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20838" name="Group 97"/>
          <p:cNvGrpSpPr>
            <a:grpSpLocks/>
          </p:cNvGrpSpPr>
          <p:nvPr/>
        </p:nvGrpSpPr>
        <p:grpSpPr bwMode="auto">
          <a:xfrm>
            <a:off x="2674938" y="4668838"/>
            <a:ext cx="511175" cy="693737"/>
            <a:chOff x="4140" y="429"/>
            <a:chExt cx="1425" cy="2396"/>
          </a:xfrm>
        </p:grpSpPr>
        <p:sp>
          <p:nvSpPr>
            <p:cNvPr id="120894" name="Freeform 9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5" name="Rectangle 99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896" name="Freeform 10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7" name="Freeform 10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8" name="Rectangle 102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899" name="Group 10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924" name="AutoShape 10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25" name="AutoShape 105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00" name="Rectangle 106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901" name="Group 10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922" name="AutoShape 10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23" name="AutoShape 10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02" name="Rectangle 110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03" name="Rectangle 111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20904" name="Group 11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920" name="AutoShape 113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21" name="AutoShape 11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05" name="Freeform 11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906" name="Group 11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0918" name="AutoShape 11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20919" name="AutoShape 118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20907" name="Rectangle 119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08" name="Freeform 12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09" name="Freeform 12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10" name="Oval 122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11" name="Freeform 12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12" name="AutoShape 12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13" name="AutoShape 125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14" name="Oval 126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15" name="Oval 127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20916" name="Oval 128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20917" name="Rectangle 129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pic>
        <p:nvPicPr>
          <p:cNvPr id="120839" name="Picture 8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801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40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22225"/>
            <a:ext cx="8235950" cy="1143000"/>
          </a:xfrm>
        </p:spPr>
        <p:txBody>
          <a:bodyPr/>
          <a:lstStyle/>
          <a:p>
            <a:r>
              <a:rPr lang="en-US" altLang="en-US" sz="4000" smtClean="0"/>
              <a:t>Scenario: Alice sends message to Bob</a:t>
            </a:r>
            <a:endParaRPr lang="en-US" altLang="en-US" smtClean="0"/>
          </a:p>
        </p:txBody>
      </p:sp>
      <p:sp>
        <p:nvSpPr>
          <p:cNvPr id="1208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3810000" cy="3219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1) Alice uses UA to compose message </a:t>
            </a:r>
            <a:r>
              <a:rPr lang="ja-JP" altLang="en-US" sz="2200" smtClean="0"/>
              <a:t>“</a:t>
            </a:r>
            <a:r>
              <a:rPr lang="en-US" altLang="ja-JP" sz="2200" smtClean="0"/>
              <a:t>to</a:t>
            </a:r>
            <a:r>
              <a:rPr lang="ja-JP" altLang="en-US" sz="2200" smtClean="0"/>
              <a:t>”</a:t>
            </a:r>
            <a:r>
              <a:rPr lang="en-US" altLang="ja-JP" sz="2200" smtClean="0"/>
              <a:t> </a:t>
            </a:r>
            <a:r>
              <a:rPr lang="en-US" altLang="ja-JP" sz="2200" smtClean="0">
                <a:latin typeface="Courier New" pitchFamily="49" charset="0"/>
              </a:rPr>
              <a:t>bob@someschool.edu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2) Alice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UA sends message to her mail server; message placed in message queue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3) client side of SMTP opens TCP connection with Bob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mail server</a:t>
            </a:r>
            <a:endParaRPr lang="en-US" altLang="en-US" sz="2200" smtClean="0"/>
          </a:p>
        </p:txBody>
      </p:sp>
      <p:sp>
        <p:nvSpPr>
          <p:cNvPr id="1208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1335088"/>
            <a:ext cx="3810000" cy="3268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4) SMTP client sends Alice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message over the TCP connection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5) Bob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mail server places the message in Bob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mailbox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smtClean="0"/>
              <a:t>6) Bob invokes his user agent to read message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200" smtClean="0"/>
          </a:p>
        </p:txBody>
      </p:sp>
      <p:grpSp>
        <p:nvGrpSpPr>
          <p:cNvPr id="120843" name="Group 20"/>
          <p:cNvGrpSpPr>
            <a:grpSpLocks/>
          </p:cNvGrpSpPr>
          <p:nvPr/>
        </p:nvGrpSpPr>
        <p:grpSpPr bwMode="auto">
          <a:xfrm>
            <a:off x="2808288" y="4956175"/>
            <a:ext cx="809625" cy="1049338"/>
            <a:chOff x="4296" y="2627"/>
            <a:chExt cx="510" cy="661"/>
          </a:xfrm>
        </p:grpSpPr>
        <p:sp>
          <p:nvSpPr>
            <p:cNvPr id="120879" name="Rectangle 2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80" name="Text Box 2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mail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20881" name="Rectangle 2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82" name="Line 2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3" name="Line 2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4" name="Line 2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5" name="Line 2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6" name="Line 2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7" name="Line 2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8" name="Line 3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9" name="Rectangle 3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90" name="Rectangle 3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91" name="Rectangle 3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92" name="Rectangle 3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93" name="Rectangle 3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</p:grpSp>
      <p:pic>
        <p:nvPicPr>
          <p:cNvPr id="120844" name="Picture 36" descr="Ali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512127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845" name="Picture 37" descr="Bo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038" y="50260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0846" name="Group 48"/>
          <p:cNvGrpSpPr>
            <a:grpSpLocks/>
          </p:cNvGrpSpPr>
          <p:nvPr/>
        </p:nvGrpSpPr>
        <p:grpSpPr bwMode="auto">
          <a:xfrm>
            <a:off x="4999038" y="4902200"/>
            <a:ext cx="809625" cy="1049338"/>
            <a:chOff x="4296" y="2627"/>
            <a:chExt cx="510" cy="661"/>
          </a:xfrm>
        </p:grpSpPr>
        <p:sp>
          <p:nvSpPr>
            <p:cNvPr id="120864" name="Rectangle 49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65" name="Text Box 50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mail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20866" name="Rectangle 51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67" name="Line 52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8" name="Line 53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9" name="Line 54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0" name="Line 55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1" name="Line 56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2" name="Line 57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3" name="Line 58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4" name="Rectangle 59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75" name="Rectangle 60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76" name="Rectangle 61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77" name="Rectangle 62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78" name="Rectangle 63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</p:grpSp>
      <p:sp>
        <p:nvSpPr>
          <p:cNvPr id="120847" name="Line 69"/>
          <p:cNvSpPr>
            <a:spLocks noChangeShapeType="1"/>
          </p:cNvSpPr>
          <p:nvPr/>
        </p:nvSpPr>
        <p:spPr bwMode="auto">
          <a:xfrm>
            <a:off x="1928813" y="5494338"/>
            <a:ext cx="892175" cy="14605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8" name="Line 70"/>
          <p:cNvSpPr>
            <a:spLocks noChangeShapeType="1"/>
          </p:cNvSpPr>
          <p:nvPr/>
        </p:nvSpPr>
        <p:spPr bwMode="auto">
          <a:xfrm>
            <a:off x="3614738" y="5629275"/>
            <a:ext cx="1379537" cy="2190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9" name="Line 71"/>
          <p:cNvSpPr>
            <a:spLocks noChangeShapeType="1"/>
          </p:cNvSpPr>
          <p:nvPr/>
        </p:nvSpPr>
        <p:spPr bwMode="auto">
          <a:xfrm flipV="1">
            <a:off x="5845175" y="5408613"/>
            <a:ext cx="1027113" cy="42703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50" name="Oval 72"/>
          <p:cNvSpPr>
            <a:spLocks noChangeArrowheads="1"/>
          </p:cNvSpPr>
          <p:nvPr/>
        </p:nvSpPr>
        <p:spPr bwMode="auto">
          <a:xfrm>
            <a:off x="1058863" y="49434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1</a:t>
            </a:r>
            <a:endParaRPr lang="en-US" altLang="en-US" sz="2400"/>
          </a:p>
        </p:txBody>
      </p:sp>
      <p:sp>
        <p:nvSpPr>
          <p:cNvPr id="120851" name="Oval 74"/>
          <p:cNvSpPr>
            <a:spLocks noChangeArrowheads="1"/>
          </p:cNvSpPr>
          <p:nvPr/>
        </p:nvSpPr>
        <p:spPr bwMode="auto">
          <a:xfrm>
            <a:off x="2168525" y="54387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2</a:t>
            </a:r>
            <a:endParaRPr lang="en-US" altLang="en-US" sz="2400"/>
          </a:p>
        </p:txBody>
      </p:sp>
      <p:sp>
        <p:nvSpPr>
          <p:cNvPr id="120852" name="Oval 75"/>
          <p:cNvSpPr>
            <a:spLocks noChangeArrowheads="1"/>
          </p:cNvSpPr>
          <p:nvPr/>
        </p:nvSpPr>
        <p:spPr bwMode="auto">
          <a:xfrm>
            <a:off x="3040063" y="5518150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3</a:t>
            </a:r>
            <a:endParaRPr lang="en-US" altLang="en-US" sz="2400"/>
          </a:p>
        </p:txBody>
      </p:sp>
      <p:sp>
        <p:nvSpPr>
          <p:cNvPr id="120853" name="Oval 76"/>
          <p:cNvSpPr>
            <a:spLocks noChangeArrowheads="1"/>
          </p:cNvSpPr>
          <p:nvPr/>
        </p:nvSpPr>
        <p:spPr bwMode="auto">
          <a:xfrm>
            <a:off x="4151313" y="56038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4</a:t>
            </a:r>
            <a:endParaRPr lang="en-US" altLang="en-US" sz="2400"/>
          </a:p>
        </p:txBody>
      </p:sp>
      <p:sp>
        <p:nvSpPr>
          <p:cNvPr id="120854" name="Oval 77"/>
          <p:cNvSpPr>
            <a:spLocks noChangeArrowheads="1"/>
          </p:cNvSpPr>
          <p:nvPr/>
        </p:nvSpPr>
        <p:spPr bwMode="auto">
          <a:xfrm>
            <a:off x="5256213" y="5935663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5</a:t>
            </a:r>
            <a:endParaRPr lang="en-US" altLang="en-US" sz="2400"/>
          </a:p>
        </p:txBody>
      </p:sp>
      <p:sp>
        <p:nvSpPr>
          <p:cNvPr id="120855" name="Oval 78"/>
          <p:cNvSpPr>
            <a:spLocks noChangeArrowheads="1"/>
          </p:cNvSpPr>
          <p:nvPr/>
        </p:nvSpPr>
        <p:spPr bwMode="auto">
          <a:xfrm>
            <a:off x="6178550" y="5505450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/>
              <a:t>6</a:t>
            </a:r>
            <a:endParaRPr lang="en-US" altLang="en-US" sz="2400"/>
          </a:p>
        </p:txBody>
      </p:sp>
      <p:sp>
        <p:nvSpPr>
          <p:cNvPr id="120856" name="Text Box 95"/>
          <p:cNvSpPr txBox="1">
            <a:spLocks noChangeArrowheads="1"/>
          </p:cNvSpPr>
          <p:nvPr/>
        </p:nvSpPr>
        <p:spPr bwMode="auto">
          <a:xfrm>
            <a:off x="2324100" y="6069013"/>
            <a:ext cx="1819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charset="0"/>
              </a:rPr>
              <a:t>Alice</a:t>
            </a:r>
            <a:r>
              <a:rPr lang="ja-JP" altLang="en-US" sz="1600">
                <a:latin typeface="Arial" charset="0"/>
              </a:rPr>
              <a:t>’</a:t>
            </a:r>
            <a:r>
              <a:rPr lang="en-US" altLang="ja-JP" sz="1600">
                <a:latin typeface="Arial" charset="0"/>
              </a:rPr>
              <a:t>s mail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120857" name="Text Box 96"/>
          <p:cNvSpPr txBox="1">
            <a:spLocks noChangeArrowheads="1"/>
          </p:cNvSpPr>
          <p:nvPr/>
        </p:nvSpPr>
        <p:spPr bwMode="auto">
          <a:xfrm>
            <a:off x="4598988" y="6132513"/>
            <a:ext cx="174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charset="0"/>
              </a:rPr>
              <a:t>Bob</a:t>
            </a:r>
            <a:r>
              <a:rPr lang="ja-JP" altLang="en-US" sz="1600">
                <a:latin typeface="Arial" charset="0"/>
              </a:rPr>
              <a:t>’</a:t>
            </a:r>
            <a:r>
              <a:rPr lang="en-US" altLang="ja-JP" sz="1600">
                <a:latin typeface="Arial" charset="0"/>
              </a:rPr>
              <a:t>s mail server</a:t>
            </a:r>
            <a:endParaRPr lang="en-US" altLang="en-US" sz="1600">
              <a:latin typeface="Arial" charset="0"/>
            </a:endParaRPr>
          </a:p>
        </p:txBody>
      </p:sp>
      <p:grpSp>
        <p:nvGrpSpPr>
          <p:cNvPr id="120858" name="Group 169"/>
          <p:cNvGrpSpPr>
            <a:grpSpLocks/>
          </p:cNvGrpSpPr>
          <p:nvPr/>
        </p:nvGrpSpPr>
        <p:grpSpPr bwMode="auto">
          <a:xfrm>
            <a:off x="6672263" y="4808538"/>
            <a:ext cx="912812" cy="1054100"/>
            <a:chOff x="3574" y="550"/>
            <a:chExt cx="575" cy="664"/>
          </a:xfrm>
        </p:grpSpPr>
        <p:grpSp>
          <p:nvGrpSpPr>
            <p:cNvPr id="120859" name="Group 170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20862" name="Picture 1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0863" name="Freeform 17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20860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20861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2288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5A6E94F8-901A-4A2E-9CD6-2BC52BC78E9F}" type="slidenum">
              <a:rPr lang="en-US" altLang="en-US" sz="1200">
                <a:latin typeface="Tahoma" pitchFamily="34" charset="0"/>
              </a:rPr>
              <a:pPr/>
              <a:t>40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22884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540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1613"/>
            <a:ext cx="7772400" cy="903287"/>
          </a:xfrm>
        </p:spPr>
        <p:txBody>
          <a:bodyPr/>
          <a:lstStyle/>
          <a:p>
            <a:r>
              <a:rPr lang="en-US" altLang="en-US" sz="4000" smtClean="0"/>
              <a:t>Sample SMTP interaction</a:t>
            </a:r>
            <a:endParaRPr lang="en-US" altLang="en-US" smtClean="0"/>
          </a:p>
        </p:txBody>
      </p:sp>
      <p:sp>
        <p:nvSpPr>
          <p:cNvPr id="122886" name="Rectangle 3"/>
          <p:cNvSpPr>
            <a:spLocks noChangeArrowheads="1"/>
          </p:cNvSpPr>
          <p:nvPr/>
        </p:nvSpPr>
        <p:spPr bwMode="auto">
          <a:xfrm>
            <a:off x="0" y="1273175"/>
            <a:ext cx="88709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latin typeface="Courier New" pitchFamily="49" charset="0"/>
              </a:rPr>
              <a:t>     S: 220 hamburger.edu </a:t>
            </a:r>
          </a:p>
          <a:p>
            <a:r>
              <a:rPr lang="en-US" altLang="en-US" b="1">
                <a:latin typeface="Courier New" pitchFamily="49" charset="0"/>
              </a:rPr>
              <a:t>     C: HELO crepes.fr </a:t>
            </a:r>
          </a:p>
          <a:p>
            <a:r>
              <a:rPr lang="en-US" altLang="en-US" b="1">
                <a:latin typeface="Courier New" pitchFamily="49" charset="0"/>
              </a:rPr>
              <a:t>     S: 250  Hello crepes.fr, pleased to meet you </a:t>
            </a:r>
          </a:p>
          <a:p>
            <a:r>
              <a:rPr lang="en-US" altLang="en-US" b="1">
                <a:latin typeface="Courier New" pitchFamily="49" charset="0"/>
              </a:rPr>
              <a:t>     C: MAIL FROM: &lt;alice@crepes.fr&gt; </a:t>
            </a:r>
          </a:p>
          <a:p>
            <a:r>
              <a:rPr lang="en-US" altLang="en-US" b="1">
                <a:latin typeface="Courier New" pitchFamily="49" charset="0"/>
              </a:rPr>
              <a:t>     S: 250 alice@crepes.fr... Sender ok </a:t>
            </a:r>
          </a:p>
          <a:p>
            <a:r>
              <a:rPr lang="en-US" altLang="en-US" b="1">
                <a:latin typeface="Courier New" pitchFamily="49" charset="0"/>
              </a:rPr>
              <a:t>     C: RCPT TO: &lt;bob@hamburger.edu&gt; </a:t>
            </a:r>
          </a:p>
          <a:p>
            <a:r>
              <a:rPr lang="en-US" altLang="en-US" b="1">
                <a:latin typeface="Courier New" pitchFamily="49" charset="0"/>
              </a:rPr>
              <a:t>     S: 250 bob@hamburger.edu ... Recipient ok </a:t>
            </a:r>
          </a:p>
          <a:p>
            <a:r>
              <a:rPr lang="en-US" altLang="en-US" b="1">
                <a:latin typeface="Courier New" pitchFamily="49" charset="0"/>
              </a:rPr>
              <a:t>     C: DATA </a:t>
            </a:r>
          </a:p>
          <a:p>
            <a:r>
              <a:rPr lang="en-US" altLang="en-US" b="1">
                <a:latin typeface="Courier New" pitchFamily="49" charset="0"/>
              </a:rPr>
              <a:t>     S: 354 Enter mail, end with "." on a line by itself </a:t>
            </a:r>
          </a:p>
          <a:p>
            <a:r>
              <a:rPr lang="en-US" altLang="en-US" b="1">
                <a:latin typeface="Courier New" pitchFamily="49" charset="0"/>
              </a:rPr>
              <a:t>     C: Do you like ketchup? </a:t>
            </a:r>
          </a:p>
          <a:p>
            <a:r>
              <a:rPr lang="en-US" altLang="en-US" b="1">
                <a:latin typeface="Courier New" pitchFamily="49" charset="0"/>
              </a:rPr>
              <a:t>     C: How about pickles? </a:t>
            </a:r>
          </a:p>
          <a:p>
            <a:r>
              <a:rPr lang="en-US" altLang="en-US" b="1">
                <a:latin typeface="Courier New" pitchFamily="49" charset="0"/>
              </a:rPr>
              <a:t>     C: . </a:t>
            </a:r>
          </a:p>
          <a:p>
            <a:r>
              <a:rPr lang="en-US" altLang="en-US" b="1">
                <a:latin typeface="Courier New" pitchFamily="49" charset="0"/>
              </a:rPr>
              <a:t>     S: 250 Message accepted for delivery </a:t>
            </a:r>
          </a:p>
          <a:p>
            <a:r>
              <a:rPr lang="en-US" altLang="en-US" b="1">
                <a:latin typeface="Courier New" pitchFamily="49" charset="0"/>
              </a:rPr>
              <a:t>     C: QUIT </a:t>
            </a:r>
          </a:p>
          <a:p>
            <a:r>
              <a:rPr lang="en-US" altLang="en-US" b="1">
                <a:latin typeface="Courier New" pitchFamily="49" charset="0"/>
              </a:rPr>
              <a:t>     S: 221 hamburger.edu closing connection</a:t>
            </a:r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2493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7CFB0A60-51DC-4181-97E1-5EE81349EBE7}" type="slidenum">
              <a:rPr lang="en-US" altLang="en-US" sz="1200">
                <a:latin typeface="Tahoma" pitchFamily="34" charset="0"/>
              </a:rPr>
              <a:pPr/>
              <a:t>41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2493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03028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3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414338"/>
            <a:ext cx="7772400" cy="884237"/>
          </a:xfrm>
        </p:spPr>
        <p:txBody>
          <a:bodyPr/>
          <a:lstStyle/>
          <a:p>
            <a:r>
              <a:rPr lang="en-US" altLang="en-US" sz="3600" smtClean="0"/>
              <a:t>Try SMTP interaction for yourself:</a:t>
            </a:r>
            <a:endParaRPr lang="en-US" altLang="en-US" smtClean="0"/>
          </a:p>
        </p:txBody>
      </p:sp>
      <p:sp>
        <p:nvSpPr>
          <p:cNvPr id="1249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488" y="1579563"/>
            <a:ext cx="7772400" cy="4648200"/>
          </a:xfrm>
        </p:spPr>
        <p:txBody>
          <a:bodyPr/>
          <a:lstStyle/>
          <a:p>
            <a:r>
              <a:rPr lang="en-US" altLang="en-US" sz="2400" b="1" smtClean="0">
                <a:latin typeface="Courier New" pitchFamily="49" charset="0"/>
              </a:rPr>
              <a:t>telnet servername 25</a:t>
            </a:r>
            <a:endParaRPr lang="en-US" altLang="en-US" sz="2400" smtClean="0"/>
          </a:p>
          <a:p>
            <a:r>
              <a:rPr lang="en-US" altLang="en-US" sz="2400" smtClean="0"/>
              <a:t>see 220 reply from server</a:t>
            </a:r>
          </a:p>
          <a:p>
            <a:r>
              <a:rPr lang="en-US" altLang="en-US" sz="2400" smtClean="0"/>
              <a:t>enter HELO, MAIL FROM, RCPT TO, DATA, QUIT commands</a:t>
            </a:r>
            <a:r>
              <a:rPr lang="en-US" altLang="en-US" smtClean="0"/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/>
              <a:t>above lets you send email without using email client (reader)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3107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EEB191F6-09FE-458E-A0AE-528E292358F3}" type="slidenum">
              <a:rPr lang="en-US" altLang="en-US" sz="1200">
                <a:latin typeface="Tahoma" pitchFamily="34" charset="0"/>
              </a:rPr>
              <a:pPr/>
              <a:t>42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131076" name="Group 133"/>
          <p:cNvGrpSpPr>
            <a:grpSpLocks/>
          </p:cNvGrpSpPr>
          <p:nvPr/>
        </p:nvGrpSpPr>
        <p:grpSpPr bwMode="auto">
          <a:xfrm>
            <a:off x="2962275" y="1577975"/>
            <a:ext cx="511175" cy="693738"/>
            <a:chOff x="4140" y="429"/>
            <a:chExt cx="1425" cy="2396"/>
          </a:xfrm>
        </p:grpSpPr>
        <p:sp>
          <p:nvSpPr>
            <p:cNvPr id="131168" name="Freeform 13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69" name="Rectangle 135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70" name="Freeform 13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71" name="Freeform 13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72" name="Rectangle 138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73" name="Group 13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1198" name="AutoShape 14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99" name="AutoShape 141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74" name="Rectangle 142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75" name="Group 14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1196" name="AutoShape 144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97" name="AutoShape 145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76" name="Rectangle 146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77" name="Rectangle 147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78" name="Group 14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1194" name="AutoShape 149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95" name="AutoShape 150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79" name="Freeform 15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1180" name="Group 15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1192" name="AutoShape 153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93" name="AutoShape 154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81" name="Rectangle 155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82" name="Freeform 15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83" name="Freeform 15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84" name="Oval 158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85" name="Freeform 15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86" name="AutoShape 16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87" name="AutoShape 161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88" name="Oval 162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89" name="Oval 163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31190" name="Oval 164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91" name="Rectangle 165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31077" name="Group 100"/>
          <p:cNvGrpSpPr>
            <a:grpSpLocks/>
          </p:cNvGrpSpPr>
          <p:nvPr/>
        </p:nvGrpSpPr>
        <p:grpSpPr bwMode="auto">
          <a:xfrm>
            <a:off x="4648200" y="1587500"/>
            <a:ext cx="511175" cy="693738"/>
            <a:chOff x="4140" y="429"/>
            <a:chExt cx="1425" cy="2396"/>
          </a:xfrm>
        </p:grpSpPr>
        <p:sp>
          <p:nvSpPr>
            <p:cNvPr id="131136" name="Freeform 10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37" name="Rectangle 10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38" name="Freeform 10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39" name="Freeform 10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40" name="Rectangle 10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41" name="Group 10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1166" name="AutoShape 10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67" name="AutoShape 10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42" name="Rectangle 10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43" name="Group 11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1164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65" name="AutoShape 11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44" name="Rectangle 11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45" name="Rectangle 11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31146" name="Group 11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1162" name="AutoShape 11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63" name="AutoShape 11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47" name="Freeform 11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1148" name="Group 11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1160" name="AutoShape 12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31161" name="AutoShape 12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31149" name="Rectangle 12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0" name="Freeform 12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51" name="Freeform 12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52" name="Oval 12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3" name="Freeform 12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54" name="AutoShape 12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5" name="AutoShape 12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6" name="Oval 12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7" name="Oval 13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31158" name="Oval 13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31159" name="Rectangle 13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pic>
        <p:nvPicPr>
          <p:cNvPr id="131078" name="Picture 9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9636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9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255588"/>
            <a:ext cx="7772400" cy="893762"/>
          </a:xfrm>
        </p:spPr>
        <p:txBody>
          <a:bodyPr/>
          <a:lstStyle/>
          <a:p>
            <a:r>
              <a:rPr lang="en-US" altLang="en-US" smtClean="0"/>
              <a:t>Mail access protocols</a:t>
            </a:r>
          </a:p>
        </p:txBody>
      </p:sp>
      <p:sp>
        <p:nvSpPr>
          <p:cNvPr id="1310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1025" y="3230563"/>
            <a:ext cx="7381875" cy="2209800"/>
          </a:xfrm>
        </p:spPr>
        <p:txBody>
          <a:bodyPr/>
          <a:lstStyle/>
          <a:p>
            <a:r>
              <a:rPr lang="en-US" altLang="en-US" sz="2400" smtClean="0">
                <a:solidFill>
                  <a:srgbClr val="CC0000"/>
                </a:solidFill>
              </a:rPr>
              <a:t>SMTP:</a:t>
            </a:r>
            <a:r>
              <a:rPr lang="en-US" altLang="en-US" sz="2400" smtClean="0"/>
              <a:t> delivery/storage to receiver</a:t>
            </a:r>
            <a:r>
              <a:rPr lang="ja-JP" altLang="en-US" sz="2400" smtClean="0"/>
              <a:t>’</a:t>
            </a:r>
            <a:r>
              <a:rPr lang="en-US" altLang="ja-JP" sz="2400" smtClean="0"/>
              <a:t>s server</a:t>
            </a:r>
          </a:p>
          <a:p>
            <a:r>
              <a:rPr lang="en-US" altLang="en-US" sz="2400" smtClean="0"/>
              <a:t>mail access protocol: retrieval from server</a:t>
            </a:r>
          </a:p>
          <a:p>
            <a:pPr lvl="1"/>
            <a:r>
              <a:rPr lang="en-US" altLang="en-US" sz="2200" smtClean="0">
                <a:solidFill>
                  <a:srgbClr val="CC0000"/>
                </a:solidFill>
              </a:rPr>
              <a:t>POP:</a:t>
            </a:r>
            <a:r>
              <a:rPr lang="en-US" altLang="en-US" sz="2200" smtClean="0"/>
              <a:t> Post Office Protocol [RFC 1939]: authorization, download </a:t>
            </a:r>
          </a:p>
          <a:p>
            <a:pPr lvl="1"/>
            <a:r>
              <a:rPr lang="en-US" altLang="en-US" sz="2200" smtClean="0">
                <a:solidFill>
                  <a:srgbClr val="CC0000"/>
                </a:solidFill>
              </a:rPr>
              <a:t>IMAP:</a:t>
            </a:r>
            <a:r>
              <a:rPr lang="en-US" altLang="en-US" sz="2200" smtClean="0"/>
              <a:t> Internet Mail Access Protocol [RFC 1730]: more features, including manipulation of stored msgs on server</a:t>
            </a:r>
          </a:p>
          <a:p>
            <a:pPr lvl="1"/>
            <a:r>
              <a:rPr lang="en-US" altLang="en-US" sz="2200" smtClean="0">
                <a:solidFill>
                  <a:srgbClr val="CC0000"/>
                </a:solidFill>
              </a:rPr>
              <a:t>HTTP:</a:t>
            </a:r>
            <a:r>
              <a:rPr lang="en-US" altLang="en-US" sz="2200" smtClean="0"/>
              <a:t> gmail, Hotmail, Yahoo! Mail, etc.</a:t>
            </a:r>
          </a:p>
          <a:p>
            <a:pPr lvl="1"/>
            <a:endParaRPr lang="en-US" altLang="en-US" sz="2200" smtClean="0"/>
          </a:p>
        </p:txBody>
      </p:sp>
      <p:grpSp>
        <p:nvGrpSpPr>
          <p:cNvPr id="131081" name="Group 158"/>
          <p:cNvGrpSpPr>
            <a:grpSpLocks/>
          </p:cNvGrpSpPr>
          <p:nvPr/>
        </p:nvGrpSpPr>
        <p:grpSpPr bwMode="auto">
          <a:xfrm>
            <a:off x="2797175" y="1987550"/>
            <a:ext cx="1436688" cy="1131888"/>
            <a:chOff x="1796" y="1206"/>
            <a:chExt cx="905" cy="713"/>
          </a:xfrm>
        </p:grpSpPr>
        <p:sp>
          <p:nvSpPr>
            <p:cNvPr id="131120" name="Text Box 95"/>
            <p:cNvSpPr txBox="1">
              <a:spLocks noChangeArrowheads="1"/>
            </p:cNvSpPr>
            <p:nvPr/>
          </p:nvSpPr>
          <p:spPr bwMode="auto"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600">
                  <a:latin typeface="Arial" charset="0"/>
                </a:rPr>
                <a:t>sender</a:t>
              </a:r>
              <a:r>
                <a:rPr lang="ja-JP" altLang="en-US" sz="1600">
                  <a:latin typeface="Arial" charset="0"/>
                </a:rPr>
                <a:t>’</a:t>
              </a:r>
              <a:r>
                <a:rPr lang="en-US" altLang="ja-JP" sz="1600">
                  <a:latin typeface="Arial" charset="0"/>
                </a:rPr>
                <a:t>s mail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600">
                  <a:latin typeface="Arial" charset="0"/>
                </a:rPr>
                <a:t>server</a:t>
              </a:r>
              <a:endParaRPr lang="en-US" altLang="en-US" sz="2400">
                <a:latin typeface="Arial" charset="0"/>
              </a:endParaRPr>
            </a:p>
          </p:txBody>
        </p:sp>
        <p:grpSp>
          <p:nvGrpSpPr>
            <p:cNvPr id="131121" name="Group 157"/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131122" name="Rectangle 94"/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23" name="Rectangle 96"/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24" name="Line 97"/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25" name="Line 98"/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26" name="Line 99"/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27" name="Line 100"/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28" name="Line 101"/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29" name="Line 102"/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30" name="Line 103"/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131" name="Rectangle 104"/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32" name="Rectangle 105"/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33" name="Rectangle 106"/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34" name="Rectangle 107"/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  <p:sp>
            <p:nvSpPr>
              <p:cNvPr id="131135" name="Rectangle 108"/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400">
                  <a:latin typeface="Comic Sans MS" pitchFamily="66" charset="0"/>
                </a:endParaRPr>
              </a:p>
            </p:txBody>
          </p:sp>
        </p:grpSp>
      </p:grpSp>
      <p:sp>
        <p:nvSpPr>
          <p:cNvPr id="131082" name="Text Box 121"/>
          <p:cNvSpPr txBox="1">
            <a:spLocks noChangeArrowheads="1"/>
          </p:cNvSpPr>
          <p:nvPr/>
        </p:nvSpPr>
        <p:spPr bwMode="auto">
          <a:xfrm>
            <a:off x="2020888" y="1466850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SMTP</a:t>
            </a:r>
          </a:p>
        </p:txBody>
      </p:sp>
      <p:sp>
        <p:nvSpPr>
          <p:cNvPr id="131083" name="Rectangle 153"/>
          <p:cNvSpPr>
            <a:spLocks noChangeArrowheads="1"/>
          </p:cNvSpPr>
          <p:nvPr/>
        </p:nvSpPr>
        <p:spPr bwMode="auto">
          <a:xfrm>
            <a:off x="3781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sp>
        <p:nvSpPr>
          <p:cNvPr id="131084" name="Text Box 154"/>
          <p:cNvSpPr txBox="1">
            <a:spLocks noChangeArrowheads="1"/>
          </p:cNvSpPr>
          <p:nvPr/>
        </p:nvSpPr>
        <p:spPr bwMode="auto">
          <a:xfrm>
            <a:off x="3622675" y="1477963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rgbClr val="CC0000"/>
                </a:solidFill>
                <a:latin typeface="Arial" charset="0"/>
              </a:rPr>
              <a:t>SMTP</a:t>
            </a:r>
          </a:p>
        </p:txBody>
      </p:sp>
      <p:sp>
        <p:nvSpPr>
          <p:cNvPr id="131085" name="Text Box 156"/>
          <p:cNvSpPr txBox="1">
            <a:spLocks noChangeArrowheads="1"/>
          </p:cNvSpPr>
          <p:nvPr/>
        </p:nvSpPr>
        <p:spPr bwMode="auto">
          <a:xfrm>
            <a:off x="5484813" y="1308100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 i="1">
                <a:solidFill>
                  <a:srgbClr val="CC0000"/>
                </a:solidFill>
                <a:latin typeface="Arial" charset="0"/>
              </a:rPr>
              <a:t>mail access</a:t>
            </a:r>
          </a:p>
          <a:p>
            <a:pPr algn="ctr">
              <a:lnSpc>
                <a:spcPct val="85000"/>
              </a:lnSpc>
            </a:pPr>
            <a:r>
              <a:rPr lang="en-US" altLang="en-US" sz="2000" i="1">
                <a:solidFill>
                  <a:srgbClr val="CC0000"/>
                </a:solidFill>
                <a:latin typeface="Arial" charset="0"/>
              </a:rPr>
              <a:t>protocol</a:t>
            </a:r>
            <a:endParaRPr lang="en-US" altLang="en-US" sz="18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31086" name="Text Box 160"/>
          <p:cNvSpPr txBox="1">
            <a:spLocks noChangeArrowheads="1"/>
          </p:cNvSpPr>
          <p:nvPr/>
        </p:nvSpPr>
        <p:spPr bwMode="auto">
          <a:xfrm>
            <a:off x="4371975" y="2598738"/>
            <a:ext cx="153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600">
                <a:latin typeface="Arial" charset="0"/>
              </a:rPr>
              <a:t>receiver</a:t>
            </a:r>
            <a:r>
              <a:rPr lang="ja-JP" altLang="en-US" sz="1600">
                <a:latin typeface="Arial" charset="0"/>
              </a:rPr>
              <a:t>’</a:t>
            </a:r>
            <a:r>
              <a:rPr lang="en-US" altLang="ja-JP" sz="1600">
                <a:latin typeface="Arial" charset="0"/>
              </a:rPr>
              <a:t>s mail </a:t>
            </a:r>
          </a:p>
          <a:p>
            <a:pPr algn="ctr">
              <a:lnSpc>
                <a:spcPct val="90000"/>
              </a:lnSpc>
            </a:pPr>
            <a:r>
              <a:rPr lang="en-US" altLang="en-US" sz="1600">
                <a:latin typeface="Arial" charset="0"/>
              </a:rPr>
              <a:t>server</a:t>
            </a:r>
            <a:endParaRPr lang="en-US" altLang="en-US" sz="2400">
              <a:latin typeface="Arial" charset="0"/>
            </a:endParaRPr>
          </a:p>
        </p:txBody>
      </p:sp>
      <p:grpSp>
        <p:nvGrpSpPr>
          <p:cNvPr id="131087" name="Group 161"/>
          <p:cNvGrpSpPr>
            <a:grpSpLocks/>
          </p:cNvGrpSpPr>
          <p:nvPr/>
        </p:nvGrpSpPr>
        <p:grpSpPr bwMode="auto">
          <a:xfrm>
            <a:off x="4800600" y="2000250"/>
            <a:ext cx="809625" cy="561975"/>
            <a:chOff x="2070" y="2004"/>
            <a:chExt cx="510" cy="354"/>
          </a:xfrm>
        </p:grpSpPr>
        <p:sp>
          <p:nvSpPr>
            <p:cNvPr id="131106" name="Rectangle 162"/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07" name="Rectangle 163"/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08" name="Line 164"/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9" name="Line 165"/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0" name="Line 166"/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1" name="Line 167"/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2" name="Line 168"/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3" name="Line 169"/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4" name="Line 170"/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5" name="Rectangle 171"/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16" name="Rectangle 172"/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17" name="Rectangle 173"/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18" name="Rectangle 174"/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  <p:sp>
          <p:nvSpPr>
            <p:cNvPr id="131119" name="Rectangle 175"/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itchFamily="66" charset="0"/>
              </a:endParaRPr>
            </a:p>
          </p:txBody>
        </p:sp>
      </p:grpSp>
      <p:pic>
        <p:nvPicPr>
          <p:cNvPr id="131088" name="Picture 176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55733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89" name="Picture 179" descr="Bo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15716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90" name="Line 94"/>
          <p:cNvSpPr>
            <a:spLocks noChangeShapeType="1"/>
          </p:cNvSpPr>
          <p:nvPr/>
        </p:nvSpPr>
        <p:spPr bwMode="auto">
          <a:xfrm>
            <a:off x="2003425" y="190500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1" name="Line 95"/>
          <p:cNvSpPr>
            <a:spLocks noChangeShapeType="1"/>
          </p:cNvSpPr>
          <p:nvPr/>
        </p:nvSpPr>
        <p:spPr bwMode="auto">
          <a:xfrm>
            <a:off x="3633788" y="190182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2" name="Line 96"/>
          <p:cNvSpPr>
            <a:spLocks noChangeShapeType="1"/>
          </p:cNvSpPr>
          <p:nvPr/>
        </p:nvSpPr>
        <p:spPr bwMode="auto">
          <a:xfrm>
            <a:off x="5253038" y="189865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93" name="Text Box 156"/>
          <p:cNvSpPr txBox="1">
            <a:spLocks noChangeArrowheads="1"/>
          </p:cNvSpPr>
          <p:nvPr/>
        </p:nvSpPr>
        <p:spPr bwMode="auto">
          <a:xfrm>
            <a:off x="5710238" y="1927225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800" i="1">
                <a:solidFill>
                  <a:srgbClr val="CC0000"/>
                </a:solidFill>
                <a:latin typeface="Arial" charset="0"/>
              </a:rPr>
              <a:t>(e.g., </a:t>
            </a: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POP, </a:t>
            </a:r>
          </a:p>
          <a:p>
            <a:pPr algn="ctr">
              <a:lnSpc>
                <a:spcPct val="85000"/>
              </a:lnSpc>
            </a:pPr>
            <a:r>
              <a:rPr lang="en-US" altLang="en-US" sz="1600" i="1">
                <a:solidFill>
                  <a:srgbClr val="CC0000"/>
                </a:solidFill>
                <a:latin typeface="Arial" charset="0"/>
              </a:rPr>
              <a:t>         IMAP</a:t>
            </a:r>
            <a:r>
              <a:rPr lang="en-US" altLang="en-US" sz="1800" i="1">
                <a:solidFill>
                  <a:srgbClr val="CC0000"/>
                </a:solidFill>
                <a:latin typeface="Arial" charset="0"/>
              </a:rPr>
              <a:t>)</a:t>
            </a:r>
          </a:p>
        </p:txBody>
      </p:sp>
      <p:grpSp>
        <p:nvGrpSpPr>
          <p:cNvPr id="131094" name="Group 166"/>
          <p:cNvGrpSpPr>
            <a:grpSpLocks/>
          </p:cNvGrpSpPr>
          <p:nvPr/>
        </p:nvGrpSpPr>
        <p:grpSpPr bwMode="auto">
          <a:xfrm>
            <a:off x="1066800" y="1419225"/>
            <a:ext cx="912813" cy="1054100"/>
            <a:chOff x="3574" y="550"/>
            <a:chExt cx="575" cy="664"/>
          </a:xfrm>
        </p:grpSpPr>
        <p:grpSp>
          <p:nvGrpSpPr>
            <p:cNvPr id="131101" name="Group 16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31104" name="Picture 1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105" name="Freeform 16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31102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31103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  <p:grpSp>
        <p:nvGrpSpPr>
          <p:cNvPr id="131095" name="Group 172"/>
          <p:cNvGrpSpPr>
            <a:grpSpLocks/>
          </p:cNvGrpSpPr>
          <p:nvPr/>
        </p:nvGrpSpPr>
        <p:grpSpPr bwMode="auto">
          <a:xfrm>
            <a:off x="6967538" y="1422400"/>
            <a:ext cx="912812" cy="1054100"/>
            <a:chOff x="3574" y="550"/>
            <a:chExt cx="575" cy="664"/>
          </a:xfrm>
        </p:grpSpPr>
        <p:grpSp>
          <p:nvGrpSpPr>
            <p:cNvPr id="131096" name="Group 17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31099" name="Picture 1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100" name="Freeform 17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31097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31098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latin typeface="Arial" charset="0"/>
                </a:rPr>
                <a:t>user</a:t>
              </a:r>
            </a:p>
            <a:p>
              <a:pPr algn="ctr"/>
              <a:r>
                <a:rPr lang="en-US" altLang="en-US" sz="1600">
                  <a:latin typeface="Arial" charset="0"/>
                </a:rPr>
                <a:t>agent</a:t>
              </a:r>
              <a:endParaRPr lang="en-US" altLang="en-US" sz="2400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3312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089E3AFD-59B5-4EA3-A999-F85518AEB108}" type="slidenum">
              <a:rPr lang="en-US" altLang="en-US" sz="1200">
                <a:latin typeface="Tahoma" pitchFamily="34" charset="0"/>
              </a:rPr>
              <a:pPr/>
              <a:t>43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33124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58838"/>
            <a:ext cx="3317875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03225" y="131763"/>
            <a:ext cx="7772400" cy="968375"/>
          </a:xfrm>
        </p:spPr>
        <p:txBody>
          <a:bodyPr/>
          <a:lstStyle/>
          <a:p>
            <a:r>
              <a:rPr lang="en-US" altLang="en-US" sz="4000" smtClean="0"/>
              <a:t>POP3 protocol</a:t>
            </a:r>
            <a:endParaRPr lang="en-US" altLang="en-US" smtClean="0"/>
          </a:p>
        </p:txBody>
      </p:sp>
      <p:sp>
        <p:nvSpPr>
          <p:cNvPr id="133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438275"/>
            <a:ext cx="39719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authorization phase</a:t>
            </a:r>
          </a:p>
          <a:p>
            <a:r>
              <a:rPr lang="en-US" altLang="en-US" sz="2000" smtClean="0"/>
              <a:t>client commands: </a:t>
            </a:r>
          </a:p>
          <a:p>
            <a:pPr lvl="1"/>
            <a:r>
              <a:rPr lang="en-US" altLang="en-US" sz="2000" b="1" smtClean="0">
                <a:latin typeface="Courier New" pitchFamily="49" charset="0"/>
              </a:rPr>
              <a:t>user:</a:t>
            </a:r>
            <a:r>
              <a:rPr lang="en-US" altLang="en-US" sz="2000" smtClean="0"/>
              <a:t> declare username</a:t>
            </a:r>
          </a:p>
          <a:p>
            <a:pPr lvl="1"/>
            <a:r>
              <a:rPr lang="en-US" altLang="en-US" sz="2000" b="1" smtClean="0">
                <a:latin typeface="Courier New" pitchFamily="49" charset="0"/>
              </a:rPr>
              <a:t>pass:</a:t>
            </a:r>
            <a:r>
              <a:rPr lang="en-US" altLang="en-US" sz="2000" smtClean="0"/>
              <a:t> password</a:t>
            </a:r>
          </a:p>
          <a:p>
            <a:r>
              <a:rPr lang="en-US" altLang="en-US" sz="2000" smtClean="0"/>
              <a:t>server responses</a:t>
            </a:r>
          </a:p>
          <a:p>
            <a:pPr lvl="1"/>
            <a:r>
              <a:rPr lang="en-US" altLang="en-US" sz="2000" b="1" smtClean="0">
                <a:latin typeface="Courier New" pitchFamily="49" charset="0"/>
              </a:rPr>
              <a:t>+OK</a:t>
            </a:r>
          </a:p>
          <a:p>
            <a:pPr lvl="1"/>
            <a:r>
              <a:rPr lang="en-US" altLang="en-US" sz="2000" b="1" smtClean="0">
                <a:latin typeface="Courier New" pitchFamily="49" charset="0"/>
              </a:rPr>
              <a:t>-ERR</a:t>
            </a:r>
            <a:endParaRPr lang="en-US" altLang="en-US" sz="180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transaction phase,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>
                <a:solidFill>
                  <a:schemeClr val="tx2"/>
                </a:solidFill>
              </a:rPr>
              <a:t>client:</a:t>
            </a:r>
            <a:endParaRPr lang="en-US" altLang="en-US" sz="2400" smtClean="0"/>
          </a:p>
          <a:p>
            <a:r>
              <a:rPr lang="en-US" altLang="en-US" sz="2000" b="1" smtClean="0">
                <a:latin typeface="Courier New" pitchFamily="49" charset="0"/>
              </a:rPr>
              <a:t>list:</a:t>
            </a:r>
            <a:r>
              <a:rPr lang="en-US" altLang="en-US" sz="2000" smtClean="0"/>
              <a:t> list message numbers</a:t>
            </a:r>
          </a:p>
          <a:p>
            <a:r>
              <a:rPr lang="en-US" altLang="en-US" sz="2000" b="1" smtClean="0">
                <a:latin typeface="Courier New" pitchFamily="49" charset="0"/>
              </a:rPr>
              <a:t>retr:</a:t>
            </a:r>
            <a:r>
              <a:rPr lang="en-US" altLang="en-US" sz="2000" smtClean="0"/>
              <a:t> retrieve message by number</a:t>
            </a:r>
          </a:p>
          <a:p>
            <a:r>
              <a:rPr lang="en-US" altLang="en-US" sz="2000" b="1" smtClean="0">
                <a:latin typeface="Courier New" pitchFamily="49" charset="0"/>
              </a:rPr>
              <a:t>dele:</a:t>
            </a:r>
            <a:r>
              <a:rPr lang="en-US" altLang="en-US" sz="2000" smtClean="0"/>
              <a:t> delete</a:t>
            </a:r>
          </a:p>
          <a:p>
            <a:r>
              <a:rPr lang="en-US" altLang="en-US" sz="2000" b="1" smtClean="0">
                <a:latin typeface="Courier New" pitchFamily="49" charset="0"/>
              </a:rPr>
              <a:t>quit</a:t>
            </a:r>
            <a:endParaRPr lang="en-US" altLang="en-US" sz="2000" smtClean="0"/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4340225" y="2309813"/>
            <a:ext cx="4268788" cy="402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         </a:t>
            </a:r>
            <a:r>
              <a:rPr lang="en-US" altLang="en-US" sz="1800" b="1">
                <a:latin typeface="Courier New" pitchFamily="49" charset="0"/>
              </a:rPr>
              <a:t>C: list </a:t>
            </a:r>
          </a:p>
          <a:p>
            <a:r>
              <a:rPr lang="en-US" altLang="en-US" sz="1800" b="1">
                <a:latin typeface="Courier New" pitchFamily="49" charset="0"/>
              </a:rPr>
              <a:t>     S: 1 498 </a:t>
            </a:r>
          </a:p>
          <a:p>
            <a:r>
              <a:rPr lang="en-US" altLang="en-US" sz="1800" b="1">
                <a:latin typeface="Courier New" pitchFamily="49" charset="0"/>
              </a:rPr>
              <a:t>     S: 2 912 </a:t>
            </a:r>
          </a:p>
          <a:p>
            <a:r>
              <a:rPr lang="en-US" altLang="en-US" sz="1800" b="1">
                <a:latin typeface="Courier New" pitchFamily="49" charset="0"/>
              </a:rPr>
              <a:t>     S: . </a:t>
            </a:r>
          </a:p>
          <a:p>
            <a:r>
              <a:rPr lang="en-US" altLang="en-US" sz="1800" b="1">
                <a:latin typeface="Courier New" pitchFamily="49" charset="0"/>
              </a:rPr>
              <a:t>     C: retr 1 </a:t>
            </a:r>
          </a:p>
          <a:p>
            <a:r>
              <a:rPr lang="en-US" altLang="en-US" sz="1800" b="1">
                <a:latin typeface="Courier New" pitchFamily="49" charset="0"/>
              </a:rPr>
              <a:t>     S: &lt;message 1 contents&gt;</a:t>
            </a:r>
          </a:p>
          <a:p>
            <a:r>
              <a:rPr lang="en-US" altLang="en-US" sz="1800" b="1">
                <a:latin typeface="Courier New" pitchFamily="49" charset="0"/>
              </a:rPr>
              <a:t>     S: . </a:t>
            </a:r>
          </a:p>
          <a:p>
            <a:r>
              <a:rPr lang="en-US" altLang="en-US" sz="1800" b="1">
                <a:latin typeface="Courier New" pitchFamily="49" charset="0"/>
              </a:rPr>
              <a:t>     C: dele 1 </a:t>
            </a:r>
          </a:p>
          <a:p>
            <a:r>
              <a:rPr lang="en-US" altLang="en-US" sz="1800" b="1">
                <a:latin typeface="Courier New" pitchFamily="49" charset="0"/>
              </a:rPr>
              <a:t>     C: retr 2 </a:t>
            </a:r>
          </a:p>
          <a:p>
            <a:r>
              <a:rPr lang="en-US" altLang="en-US" sz="1800" b="1">
                <a:latin typeface="Courier New" pitchFamily="49" charset="0"/>
              </a:rPr>
              <a:t>     S: &lt;message 1 contents&gt;</a:t>
            </a:r>
          </a:p>
          <a:p>
            <a:r>
              <a:rPr lang="en-US" altLang="en-US" sz="1800" b="1">
                <a:latin typeface="Courier New" pitchFamily="49" charset="0"/>
              </a:rPr>
              <a:t>     S: . </a:t>
            </a:r>
          </a:p>
          <a:p>
            <a:r>
              <a:rPr lang="en-US" altLang="en-US" sz="1800" b="1">
                <a:latin typeface="Courier New" pitchFamily="49" charset="0"/>
              </a:rPr>
              <a:t>     C: dele 2 </a:t>
            </a:r>
          </a:p>
          <a:p>
            <a:r>
              <a:rPr lang="en-US" altLang="en-US" sz="1800" b="1">
                <a:latin typeface="Courier New" pitchFamily="49" charset="0"/>
              </a:rPr>
              <a:t>     C: quit </a:t>
            </a:r>
          </a:p>
          <a:p>
            <a:r>
              <a:rPr lang="en-US" altLang="en-US" sz="1800" b="1">
                <a:latin typeface="Courier New" pitchFamily="49" charset="0"/>
              </a:rPr>
              <a:t>     S: +OK </a:t>
            </a:r>
            <a:r>
              <a:rPr lang="en-US" altLang="en-US" sz="1400" b="1">
                <a:latin typeface="Courier New" pitchFamily="49" charset="0"/>
              </a:rPr>
              <a:t>POP3 server signing off</a:t>
            </a:r>
            <a:endParaRPr lang="en-US" altLang="en-US" sz="1800" b="1">
              <a:latin typeface="Courier New" pitchFamily="49" charset="0"/>
            </a:endParaRPr>
          </a:p>
        </p:txBody>
      </p:sp>
      <p:sp>
        <p:nvSpPr>
          <p:cNvPr id="133128" name="Text Box 10"/>
          <p:cNvSpPr txBox="1">
            <a:spLocks noChangeArrowheads="1"/>
          </p:cNvSpPr>
          <p:nvPr/>
        </p:nvSpPr>
        <p:spPr bwMode="auto">
          <a:xfrm>
            <a:off x="4989513" y="590550"/>
            <a:ext cx="3981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endParaRPr lang="en-US" altLang="en-US" sz="1800" b="1">
              <a:latin typeface="Courier New" pitchFamily="49" charset="0"/>
            </a:endParaRPr>
          </a:p>
          <a:p>
            <a:r>
              <a:rPr lang="en-US" altLang="en-US" sz="1800" b="1">
                <a:latin typeface="Courier New" pitchFamily="49" charset="0"/>
              </a:rPr>
              <a:t>S: +OK POP3 server ready </a:t>
            </a:r>
          </a:p>
          <a:p>
            <a:r>
              <a:rPr lang="en-US" altLang="en-US" sz="1800" b="1">
                <a:latin typeface="Courier New" pitchFamily="49" charset="0"/>
              </a:rPr>
              <a:t>C: user bob </a:t>
            </a:r>
          </a:p>
          <a:p>
            <a:r>
              <a:rPr lang="en-US" altLang="en-US" sz="1800" b="1">
                <a:latin typeface="Courier New" pitchFamily="49" charset="0"/>
              </a:rPr>
              <a:t>S: +OK </a:t>
            </a:r>
          </a:p>
          <a:p>
            <a:r>
              <a:rPr lang="en-US" altLang="en-US" sz="1800" b="1">
                <a:latin typeface="Courier New" pitchFamily="49" charset="0"/>
              </a:rPr>
              <a:t>C: pass hungry </a:t>
            </a:r>
          </a:p>
          <a:p>
            <a:r>
              <a:rPr lang="en-US" altLang="en-US" sz="1800" b="1">
                <a:latin typeface="Courier New" pitchFamily="49" charset="0"/>
              </a:rPr>
              <a:t>S: +OK</a:t>
            </a:r>
            <a:r>
              <a:rPr lang="en-US" altLang="en-US" sz="1400" b="1">
                <a:latin typeface="Courier New" pitchFamily="49" charset="0"/>
              </a:rPr>
              <a:t> user successfully logged on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33129" name="Freeform 11"/>
          <p:cNvSpPr>
            <a:spLocks/>
          </p:cNvSpPr>
          <p:nvPr/>
        </p:nvSpPr>
        <p:spPr bwMode="auto">
          <a:xfrm>
            <a:off x="4972050" y="847725"/>
            <a:ext cx="371475" cy="14573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30" name="Line 13"/>
          <p:cNvSpPr>
            <a:spLocks noChangeShapeType="1"/>
          </p:cNvSpPr>
          <p:nvPr/>
        </p:nvSpPr>
        <p:spPr bwMode="auto">
          <a:xfrm flipV="1">
            <a:off x="3486150" y="1449388"/>
            <a:ext cx="1400175" cy="2381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31" name="Freeform 14"/>
          <p:cNvSpPr>
            <a:spLocks/>
          </p:cNvSpPr>
          <p:nvPr/>
        </p:nvSpPr>
        <p:spPr bwMode="auto">
          <a:xfrm>
            <a:off x="4973638" y="2428875"/>
            <a:ext cx="371475" cy="38957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32" name="Line 15"/>
          <p:cNvSpPr>
            <a:spLocks noChangeShapeType="1"/>
          </p:cNvSpPr>
          <p:nvPr/>
        </p:nvSpPr>
        <p:spPr bwMode="auto">
          <a:xfrm flipV="1">
            <a:off x="3152775" y="3941763"/>
            <a:ext cx="1733550" cy="3238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3517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D9AC4825-BEA9-44A3-B4F2-479FDAA64BE4}" type="slidenum">
              <a:rPr lang="en-US" altLang="en-US" sz="1200">
                <a:latin typeface="Tahoma" pitchFamily="34" charset="0"/>
              </a:rPr>
              <a:pPr/>
              <a:t>44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35172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9572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3688"/>
            <a:ext cx="7772400" cy="795337"/>
          </a:xfrm>
        </p:spPr>
        <p:txBody>
          <a:bodyPr/>
          <a:lstStyle/>
          <a:p>
            <a:r>
              <a:rPr lang="en-US" altLang="en-US" smtClean="0"/>
              <a:t>POP3 (more) and IMAP</a:t>
            </a:r>
          </a:p>
        </p:txBody>
      </p:sp>
      <p:sp>
        <p:nvSpPr>
          <p:cNvPr id="1351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0700" y="13430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more about POP3</a:t>
            </a:r>
          </a:p>
          <a:p>
            <a:r>
              <a:rPr lang="en-US" altLang="en-US" sz="2400" smtClean="0"/>
              <a:t>previous example uses POP3 </a:t>
            </a:r>
            <a:r>
              <a:rPr lang="ja-JP" altLang="en-US" sz="2400" smtClean="0"/>
              <a:t>“</a:t>
            </a:r>
            <a:r>
              <a:rPr lang="en-US" altLang="ja-JP" sz="2400" smtClean="0"/>
              <a:t>download and delete</a:t>
            </a:r>
            <a:r>
              <a:rPr lang="ja-JP" altLang="en-US" sz="2400" smtClean="0"/>
              <a:t>”</a:t>
            </a:r>
            <a:r>
              <a:rPr lang="en-US" altLang="ja-JP" sz="2400" smtClean="0"/>
              <a:t> mode</a:t>
            </a:r>
          </a:p>
          <a:p>
            <a:pPr lvl="1"/>
            <a:r>
              <a:rPr lang="en-US" altLang="en-US" smtClean="0"/>
              <a:t>Bob cannot re-read e-mail if he changes client</a:t>
            </a:r>
          </a:p>
          <a:p>
            <a:r>
              <a:rPr lang="en-US" altLang="en-US" sz="2400" smtClean="0"/>
              <a:t>POP3 </a:t>
            </a:r>
            <a:r>
              <a:rPr lang="ja-JP" altLang="en-US" sz="2400" smtClean="0"/>
              <a:t>“</a:t>
            </a:r>
            <a:r>
              <a:rPr lang="en-US" altLang="ja-JP" sz="2400" smtClean="0"/>
              <a:t>download-and-keep</a:t>
            </a:r>
            <a:r>
              <a:rPr lang="ja-JP" altLang="en-US" sz="2400" smtClean="0"/>
              <a:t>”</a:t>
            </a:r>
            <a:r>
              <a:rPr lang="en-US" altLang="ja-JP" sz="2400" smtClean="0"/>
              <a:t>: copies of messages on different clients</a:t>
            </a:r>
          </a:p>
          <a:p>
            <a:r>
              <a:rPr lang="en-US" altLang="en-US" sz="2400" smtClean="0"/>
              <a:t>POP3 is stateless across sessions</a:t>
            </a:r>
          </a:p>
        </p:txBody>
      </p:sp>
      <p:sp>
        <p:nvSpPr>
          <p:cNvPr id="13517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83100" y="13811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IMAP</a:t>
            </a:r>
          </a:p>
          <a:p>
            <a:r>
              <a:rPr lang="en-US" altLang="en-US" sz="2400" smtClean="0"/>
              <a:t>keeps all messages in one place: at server</a:t>
            </a:r>
          </a:p>
          <a:p>
            <a:r>
              <a:rPr lang="en-US" altLang="en-US" sz="2400" smtClean="0"/>
              <a:t>allows user to organize messages in folders</a:t>
            </a:r>
          </a:p>
          <a:p>
            <a:r>
              <a:rPr lang="en-US" altLang="en-US" sz="2400" smtClean="0"/>
              <a:t>keeps user state across sessions:</a:t>
            </a:r>
          </a:p>
          <a:p>
            <a:pPr lvl="1"/>
            <a:r>
              <a:rPr lang="en-US" altLang="en-US" smtClean="0"/>
              <a:t>names of folders and mappings between message IDs and folder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3721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5673E965-B5FA-4826-8C81-308E71F13088}" type="slidenum">
              <a:rPr lang="en-US" altLang="en-US" sz="1200">
                <a:latin typeface="Tahoma" pitchFamily="34" charset="0"/>
              </a:rPr>
              <a:pPr/>
              <a:t>45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37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13722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2.1 principles of network applications</a:t>
            </a:r>
          </a:p>
          <a:p>
            <a:pPr marL="912813" lvl="1"/>
            <a:r>
              <a:rPr lang="en-US" altLang="en-US" smtClean="0"/>
              <a:t>app architectures</a:t>
            </a:r>
          </a:p>
          <a:p>
            <a:pPr marL="912813" lvl="1"/>
            <a:r>
              <a:rPr lang="en-US" altLang="en-US" smtClean="0"/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2.4 electronic mail</a:t>
            </a:r>
          </a:p>
          <a:p>
            <a:pPr marL="912813" lvl="1"/>
            <a:r>
              <a:rPr lang="en-US" altLang="en-US" smtClean="0"/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2.5 DNS</a:t>
            </a:r>
          </a:p>
          <a:p>
            <a:pPr marL="457200" indent="-457200"/>
            <a:endParaRPr lang="en-US" altLang="en-US" sz="2400" smtClean="0">
              <a:solidFill>
                <a:srgbClr val="CC0000"/>
              </a:solidFill>
            </a:endParaRPr>
          </a:p>
        </p:txBody>
      </p:sp>
      <p:sp>
        <p:nvSpPr>
          <p:cNvPr id="13722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2.7 socket programming with UDP and TCP</a:t>
            </a:r>
          </a:p>
        </p:txBody>
      </p:sp>
      <p:pic>
        <p:nvPicPr>
          <p:cNvPr id="137223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3926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C44EAD5-4421-41C8-BD46-25DC822F77F8}" type="slidenum">
              <a:rPr lang="en-US" altLang="en-US" sz="1200">
                <a:latin typeface="Tahoma" pitchFamily="34" charset="0"/>
              </a:rPr>
              <a:pPr/>
              <a:t>46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39268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9906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1625"/>
            <a:ext cx="7772400" cy="914400"/>
          </a:xfrm>
        </p:spPr>
        <p:txBody>
          <a:bodyPr/>
          <a:lstStyle/>
          <a:p>
            <a:r>
              <a:rPr lang="en-US" altLang="en-US" sz="4000" smtClean="0"/>
              <a:t>DNS: domain name system</a:t>
            </a:r>
            <a:endParaRPr lang="en-US" altLang="en-US" smtClean="0"/>
          </a:p>
        </p:txBody>
      </p:sp>
      <p:sp>
        <p:nvSpPr>
          <p:cNvPr id="1392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113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smtClean="0">
                <a:solidFill>
                  <a:srgbClr val="000099"/>
                </a:solidFill>
              </a:rPr>
              <a:t>people:</a:t>
            </a:r>
            <a:r>
              <a:rPr lang="en-US" altLang="en-US" sz="2400" smtClean="0"/>
              <a:t> many identifiers:</a:t>
            </a:r>
          </a:p>
          <a:p>
            <a:pPr lvl="1"/>
            <a:r>
              <a:rPr lang="en-US" altLang="en-US" smtClean="0"/>
              <a:t>SSN, name, passport 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smtClean="0">
                <a:solidFill>
                  <a:srgbClr val="000099"/>
                </a:solidFill>
              </a:rPr>
              <a:t>Internet hosts, routers:</a:t>
            </a:r>
          </a:p>
          <a:p>
            <a:pPr lvl="1"/>
            <a:r>
              <a:rPr lang="en-US" altLang="en-US" smtClean="0"/>
              <a:t>IP address (32 bit) - used for addressing datagrams</a:t>
            </a:r>
          </a:p>
          <a:p>
            <a:pPr lvl="1"/>
            <a:r>
              <a:rPr lang="ja-JP" altLang="en-US" smtClean="0"/>
              <a:t>“</a:t>
            </a:r>
            <a:r>
              <a:rPr lang="en-US" altLang="ja-JP" smtClean="0"/>
              <a:t>name</a:t>
            </a:r>
            <a:r>
              <a:rPr lang="ja-JP" altLang="en-US" smtClean="0"/>
              <a:t>”</a:t>
            </a:r>
            <a:r>
              <a:rPr lang="en-US" altLang="ja-JP" smtClean="0"/>
              <a:t>, e.g., www.yahoo.com - used by humans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u="sng" smtClean="0">
                <a:solidFill>
                  <a:srgbClr val="CC0000"/>
                </a:solidFill>
              </a:rPr>
              <a:t>Q:</a:t>
            </a:r>
            <a:r>
              <a:rPr lang="en-US" altLang="en-US" sz="2400" smtClean="0"/>
              <a:t> how to map between IP address and name, and vice versa ?</a:t>
            </a:r>
          </a:p>
        </p:txBody>
      </p:sp>
      <p:sp>
        <p:nvSpPr>
          <p:cNvPr id="13927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489075"/>
            <a:ext cx="4283075" cy="5006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Domain Name System:</a:t>
            </a:r>
          </a:p>
          <a:p>
            <a:r>
              <a:rPr lang="en-US" altLang="en-US" sz="2400" i="1" smtClean="0">
                <a:solidFill>
                  <a:srgbClr val="000099"/>
                </a:solidFill>
              </a:rPr>
              <a:t>distributed database</a:t>
            </a:r>
            <a:r>
              <a:rPr lang="en-US" altLang="en-US" sz="2400" smtClean="0"/>
              <a:t> implemented in hierarchy of many </a:t>
            </a:r>
            <a:r>
              <a:rPr lang="en-US" altLang="en-US" sz="2400" i="1" smtClean="0">
                <a:solidFill>
                  <a:srgbClr val="000099"/>
                </a:solidFill>
              </a:rPr>
              <a:t>name servers</a:t>
            </a:r>
            <a:endParaRPr lang="en-US" altLang="en-US" sz="2400" smtClean="0">
              <a:solidFill>
                <a:srgbClr val="000099"/>
              </a:solidFill>
            </a:endParaRPr>
          </a:p>
          <a:p>
            <a:r>
              <a:rPr lang="en-US" altLang="en-US" sz="2400" i="1" smtClean="0">
                <a:solidFill>
                  <a:srgbClr val="000099"/>
                </a:solidFill>
              </a:rPr>
              <a:t>application-layer protocol:</a:t>
            </a:r>
            <a:r>
              <a:rPr lang="en-US" altLang="en-US" sz="2400" smtClean="0"/>
              <a:t> hosts, name servers communicate to </a:t>
            </a:r>
            <a:r>
              <a:rPr lang="en-US" altLang="en-US" sz="2400" i="1" smtClean="0">
                <a:solidFill>
                  <a:srgbClr val="000099"/>
                </a:solidFill>
              </a:rPr>
              <a:t>resolve</a:t>
            </a:r>
            <a:r>
              <a:rPr lang="en-US" altLang="en-US" sz="2400" smtClean="0">
                <a:solidFill>
                  <a:srgbClr val="FF0000"/>
                </a:solidFill>
              </a:rPr>
              <a:t> </a:t>
            </a:r>
            <a:r>
              <a:rPr lang="en-US" altLang="en-US" sz="2400" smtClean="0"/>
              <a:t>names (address/name translation)</a:t>
            </a:r>
          </a:p>
          <a:p>
            <a:pPr lvl="1">
              <a:lnSpc>
                <a:spcPct val="90000"/>
              </a:lnSpc>
            </a:pPr>
            <a:r>
              <a:rPr lang="en-US" altLang="en-US" sz="2200" smtClean="0"/>
              <a:t>note: core Internet function, implemented as application-layer protocol</a:t>
            </a:r>
          </a:p>
          <a:p>
            <a:pPr lvl="1">
              <a:lnSpc>
                <a:spcPct val="90000"/>
              </a:lnSpc>
            </a:pPr>
            <a:r>
              <a:rPr lang="en-US" altLang="en-US" sz="2200" smtClean="0"/>
              <a:t>complexity at network</a:t>
            </a:r>
            <a:r>
              <a:rPr lang="ja-JP" altLang="en-US" sz="2200" smtClean="0"/>
              <a:t>’</a:t>
            </a:r>
            <a:r>
              <a:rPr lang="en-US" altLang="ja-JP" sz="2200" smtClean="0"/>
              <a:t>s </a:t>
            </a:r>
            <a:r>
              <a:rPr lang="ja-JP" altLang="en-US" sz="2200" smtClean="0"/>
              <a:t>“</a:t>
            </a:r>
            <a:r>
              <a:rPr lang="en-US" altLang="ja-JP" sz="2200" smtClean="0"/>
              <a:t>edge</a:t>
            </a:r>
            <a:r>
              <a:rPr lang="ja-JP" altLang="en-US" sz="2200" smtClean="0"/>
              <a:t>”</a:t>
            </a:r>
            <a:endParaRPr lang="en-US" alt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4131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ECD02911-DAA0-4742-93D6-06C70AC978D3}" type="slidenum">
              <a:rPr lang="en-US" altLang="en-US" sz="1200">
                <a:latin typeface="Tahoma" pitchFamily="34" charset="0"/>
              </a:rPr>
              <a:pPr/>
              <a:t>47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41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r>
              <a:rPr lang="en-US" altLang="en-US" sz="4000" smtClean="0"/>
              <a:t>DNS: services, structure </a:t>
            </a:r>
            <a:endParaRPr lang="en-US" altLang="en-US" smtClean="0"/>
          </a:p>
        </p:txBody>
      </p:sp>
      <p:sp>
        <p:nvSpPr>
          <p:cNvPr id="14131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271588"/>
            <a:ext cx="4191000" cy="2263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why not centralize DNS?</a:t>
            </a:r>
          </a:p>
          <a:p>
            <a:r>
              <a:rPr lang="en-US" altLang="en-US" sz="2400" smtClean="0"/>
              <a:t>single point of failure</a:t>
            </a:r>
          </a:p>
          <a:p>
            <a:r>
              <a:rPr lang="en-US" altLang="en-US" sz="2400" smtClean="0"/>
              <a:t>traffic volume</a:t>
            </a:r>
          </a:p>
          <a:p>
            <a:r>
              <a:rPr lang="en-US" altLang="en-US" sz="2400" smtClean="0"/>
              <a:t>distant centralized database</a:t>
            </a:r>
          </a:p>
          <a:p>
            <a:r>
              <a:rPr lang="en-US" altLang="en-US" sz="2400" smtClean="0"/>
              <a:t>maintenance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sp>
        <p:nvSpPr>
          <p:cNvPr id="141318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31838" y="130016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DNS services</a:t>
            </a:r>
          </a:p>
          <a:p>
            <a:r>
              <a:rPr lang="en-US" altLang="en-US" sz="2400" smtClean="0"/>
              <a:t>hostname to IP address translation</a:t>
            </a:r>
          </a:p>
          <a:p>
            <a:r>
              <a:rPr lang="en-US" altLang="en-US" sz="2400" smtClean="0"/>
              <a:t>host aliasing</a:t>
            </a:r>
          </a:p>
          <a:p>
            <a:pPr lvl="1"/>
            <a:r>
              <a:rPr lang="en-US" altLang="en-US" sz="2000" smtClean="0"/>
              <a:t>canonical, alias names</a:t>
            </a:r>
          </a:p>
          <a:p>
            <a:r>
              <a:rPr lang="en-US" altLang="en-US" sz="2400" smtClean="0"/>
              <a:t>mail server aliasing</a:t>
            </a:r>
          </a:p>
          <a:p>
            <a:r>
              <a:rPr lang="en-US" altLang="en-US" sz="2400" smtClean="0"/>
              <a:t>load distribution</a:t>
            </a:r>
          </a:p>
          <a:p>
            <a:pPr lvl="1"/>
            <a:r>
              <a:rPr lang="en-US" altLang="en-US" smtClean="0"/>
              <a:t>replicated Web servers: many IP addresses correspond to one name</a:t>
            </a:r>
          </a:p>
          <a:p>
            <a:endParaRPr lang="en-US" altLang="en-US" sz="2400" smtClean="0"/>
          </a:p>
        </p:txBody>
      </p:sp>
      <p:pic>
        <p:nvPicPr>
          <p:cNvPr id="141319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59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5208588" y="3429000"/>
            <a:ext cx="279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i="1">
                <a:latin typeface="Arial" charset="0"/>
              </a:rPr>
              <a:t>A: </a:t>
            </a:r>
            <a:r>
              <a:rPr lang="en-US" altLang="en-US" i="1">
                <a:solidFill>
                  <a:srgbClr val="CC0000"/>
                </a:solidFill>
                <a:latin typeface="Arial" charset="0"/>
              </a:rPr>
              <a:t>doesn</a:t>
            </a:r>
            <a:r>
              <a:rPr lang="ja-JP" altLang="en-US" i="1">
                <a:solidFill>
                  <a:srgbClr val="CC0000"/>
                </a:solidFill>
                <a:latin typeface="Arial" charset="0"/>
              </a:rPr>
              <a:t>’</a:t>
            </a:r>
            <a:r>
              <a:rPr lang="en-US" altLang="ja-JP" i="1">
                <a:solidFill>
                  <a:srgbClr val="CC0000"/>
                </a:solidFill>
                <a:latin typeface="Arial" charset="0"/>
              </a:rPr>
              <a:t>t scale!</a:t>
            </a:r>
            <a:endParaRPr lang="en-US" altLang="en-US" i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4336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573B01F-ED6A-47DB-8F7D-D60E7EBEBA77}" type="slidenum">
              <a:rPr lang="en-US" altLang="en-US" sz="1200">
                <a:latin typeface="Tahoma" pitchFamily="34" charset="0"/>
              </a:rPr>
              <a:pPr/>
              <a:t>48</a:t>
            </a:fld>
            <a:endParaRPr lang="en-US" altLang="en-US" sz="1200">
              <a:latin typeface="Tahoma" pitchFamily="34" charset="0"/>
            </a:endParaRPr>
          </a:p>
        </p:txBody>
      </p:sp>
      <p:grpSp>
        <p:nvGrpSpPr>
          <p:cNvPr id="143364" name="Group 23"/>
          <p:cNvGrpSpPr>
            <a:grpSpLocks/>
          </p:cNvGrpSpPr>
          <p:nvPr/>
        </p:nvGrpSpPr>
        <p:grpSpPr bwMode="auto">
          <a:xfrm>
            <a:off x="438150" y="1193800"/>
            <a:ext cx="8205788" cy="2444750"/>
            <a:chOff x="230" y="576"/>
            <a:chExt cx="5504" cy="1757"/>
          </a:xfrm>
        </p:grpSpPr>
        <p:sp>
          <p:nvSpPr>
            <p:cNvPr id="143370" name="Text Box 2"/>
            <p:cNvSpPr txBox="1">
              <a:spLocks noChangeArrowheads="1"/>
            </p:cNvSpPr>
            <p:nvPr/>
          </p:nvSpPr>
          <p:spPr bwMode="auto"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Root DNS Servers</a:t>
              </a:r>
            </a:p>
          </p:txBody>
        </p:sp>
        <p:sp>
          <p:nvSpPr>
            <p:cNvPr id="143371" name="Text Box 4"/>
            <p:cNvSpPr txBox="1">
              <a:spLocks noChangeArrowheads="1"/>
            </p:cNvSpPr>
            <p:nvPr/>
          </p:nvSpPr>
          <p:spPr bwMode="auto"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com DNS servers</a:t>
              </a:r>
            </a:p>
          </p:txBody>
        </p:sp>
        <p:sp>
          <p:nvSpPr>
            <p:cNvPr id="143372" name="Text Box 5"/>
            <p:cNvSpPr txBox="1">
              <a:spLocks noChangeArrowheads="1"/>
            </p:cNvSpPr>
            <p:nvPr/>
          </p:nvSpPr>
          <p:spPr bwMode="auto"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org DNS servers</a:t>
              </a:r>
            </a:p>
          </p:txBody>
        </p:sp>
        <p:sp>
          <p:nvSpPr>
            <p:cNvPr id="143373" name="Text Box 6"/>
            <p:cNvSpPr txBox="1">
              <a:spLocks noChangeArrowheads="1"/>
            </p:cNvSpPr>
            <p:nvPr/>
          </p:nvSpPr>
          <p:spPr bwMode="auto"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edu DNS servers</a:t>
              </a:r>
            </a:p>
          </p:txBody>
        </p:sp>
        <p:sp>
          <p:nvSpPr>
            <p:cNvPr id="143374" name="Line 7"/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75" name="Line 8"/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76" name="Line 9"/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77" name="Text Box 10"/>
            <p:cNvSpPr txBox="1">
              <a:spLocks noChangeArrowheads="1"/>
            </p:cNvSpPr>
            <p:nvPr/>
          </p:nvSpPr>
          <p:spPr bwMode="auto"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poly.edu</a:t>
              </a:r>
            </a:p>
            <a:p>
              <a:pPr eaLnBrk="1" hangingPunct="1"/>
              <a:r>
                <a:rPr lang="en-US" altLang="en-US" sz="1800">
                  <a:latin typeface="Arial" charset="0"/>
                </a:rPr>
                <a:t>DNS servers</a:t>
              </a:r>
            </a:p>
          </p:txBody>
        </p:sp>
        <p:sp>
          <p:nvSpPr>
            <p:cNvPr id="143378" name="Text Box 11"/>
            <p:cNvSpPr txBox="1">
              <a:spLocks noChangeArrowheads="1"/>
            </p:cNvSpPr>
            <p:nvPr/>
          </p:nvSpPr>
          <p:spPr bwMode="auto"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umass.edu</a:t>
              </a:r>
            </a:p>
            <a:p>
              <a:pPr eaLnBrk="1" hangingPunct="1"/>
              <a:r>
                <a:rPr lang="en-US" altLang="en-US" sz="1800">
                  <a:latin typeface="Arial" charset="0"/>
                </a:rPr>
                <a:t>DNS servers</a:t>
              </a:r>
            </a:p>
          </p:txBody>
        </p:sp>
        <p:sp>
          <p:nvSpPr>
            <p:cNvPr id="143379" name="Line 12"/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80" name="Line 13"/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81" name="Text Box 14"/>
            <p:cNvSpPr txBox="1">
              <a:spLocks noChangeArrowheads="1"/>
            </p:cNvSpPr>
            <p:nvPr/>
          </p:nvSpPr>
          <p:spPr bwMode="auto">
            <a:xfrm>
              <a:off x="230" y="1848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yahoo.com</a:t>
              </a:r>
            </a:p>
            <a:p>
              <a:pPr eaLnBrk="1" hangingPunct="1"/>
              <a:r>
                <a:rPr lang="en-US" altLang="en-US" sz="1800">
                  <a:latin typeface="Arial" charset="0"/>
                </a:rPr>
                <a:t>DNS servers</a:t>
              </a:r>
            </a:p>
          </p:txBody>
        </p:sp>
        <p:sp>
          <p:nvSpPr>
            <p:cNvPr id="143382" name="Text Box 15"/>
            <p:cNvSpPr txBox="1">
              <a:spLocks noChangeArrowheads="1"/>
            </p:cNvSpPr>
            <p:nvPr/>
          </p:nvSpPr>
          <p:spPr bwMode="auto"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amazon.com</a:t>
              </a:r>
            </a:p>
            <a:p>
              <a:pPr eaLnBrk="1" hangingPunct="1"/>
              <a:r>
                <a:rPr lang="en-US" altLang="en-US" sz="1800">
                  <a:latin typeface="Arial" charset="0"/>
                </a:rPr>
                <a:t>DNS servers</a:t>
              </a:r>
            </a:p>
          </p:txBody>
        </p:sp>
        <p:sp>
          <p:nvSpPr>
            <p:cNvPr id="143383" name="Line 16"/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84" name="Line 17"/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385" name="Text Box 18"/>
            <p:cNvSpPr txBox="1">
              <a:spLocks noChangeArrowheads="1"/>
            </p:cNvSpPr>
            <p:nvPr/>
          </p:nvSpPr>
          <p:spPr bwMode="auto"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latin typeface="Arial" charset="0"/>
                </a:rPr>
                <a:t>pbs.org</a:t>
              </a:r>
            </a:p>
            <a:p>
              <a:pPr eaLnBrk="1" hangingPunct="1"/>
              <a:r>
                <a:rPr lang="en-US" altLang="en-US" sz="1800">
                  <a:latin typeface="Arial" charset="0"/>
                </a:rPr>
                <a:t>DNS servers</a:t>
              </a:r>
            </a:p>
          </p:txBody>
        </p:sp>
        <p:sp>
          <p:nvSpPr>
            <p:cNvPr id="143386" name="Line 19"/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365" name="Rectangle 20"/>
          <p:cNvSpPr>
            <a:spLocks noGrp="1" noChangeArrowheads="1"/>
          </p:cNvSpPr>
          <p:nvPr>
            <p:ph type="title"/>
          </p:nvPr>
        </p:nvSpPr>
        <p:spPr>
          <a:xfrm>
            <a:off x="468313" y="161925"/>
            <a:ext cx="8023225" cy="936625"/>
          </a:xfrm>
        </p:spPr>
        <p:txBody>
          <a:bodyPr/>
          <a:lstStyle/>
          <a:p>
            <a:r>
              <a:rPr lang="en-US" altLang="en-US" sz="3600" smtClean="0"/>
              <a:t>DNS: a distributed, hierarchical database</a:t>
            </a:r>
          </a:p>
        </p:txBody>
      </p:sp>
      <p:sp>
        <p:nvSpPr>
          <p:cNvPr id="143366" name="Rectangle 22"/>
          <p:cNvSpPr>
            <a:spLocks noGrp="1" noChangeArrowheads="1"/>
          </p:cNvSpPr>
          <p:nvPr>
            <p:ph type="body" sz="half" idx="2"/>
          </p:nvPr>
        </p:nvSpPr>
        <p:spPr>
          <a:xfrm>
            <a:off x="520700" y="3971925"/>
            <a:ext cx="817245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smtClean="0">
                <a:solidFill>
                  <a:srgbClr val="000099"/>
                </a:solidFill>
              </a:rPr>
              <a:t>client wants IP for www.amazon.com; 1</a:t>
            </a:r>
            <a:r>
              <a:rPr lang="en-US" altLang="en-US" sz="2400" i="1" baseline="30000" smtClean="0">
                <a:solidFill>
                  <a:srgbClr val="000099"/>
                </a:solidFill>
              </a:rPr>
              <a:t>st</a:t>
            </a:r>
            <a:r>
              <a:rPr lang="en-US" altLang="en-US" sz="2400" i="1" smtClean="0">
                <a:solidFill>
                  <a:srgbClr val="000099"/>
                </a:solidFill>
              </a:rPr>
              <a:t> approx:</a:t>
            </a:r>
          </a:p>
          <a:p>
            <a:r>
              <a:rPr lang="en-US" altLang="en-US" sz="2200" smtClean="0"/>
              <a:t>client queries root server to find com DNS server</a:t>
            </a:r>
          </a:p>
          <a:p>
            <a:r>
              <a:rPr lang="en-US" altLang="en-US" sz="2200" smtClean="0"/>
              <a:t>client queries .com DNS server to get amazon.com DNS server</a:t>
            </a:r>
          </a:p>
          <a:p>
            <a:r>
              <a:rPr lang="en-US" altLang="en-US" sz="2200" smtClean="0"/>
              <a:t>client queries amazon.com DNS server to get  IP address for www.amazon.com</a:t>
            </a:r>
          </a:p>
        </p:txBody>
      </p:sp>
      <p:pic>
        <p:nvPicPr>
          <p:cNvPr id="143367" name="Picture 28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849313"/>
            <a:ext cx="8043863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68" name="Text Box 29"/>
          <p:cNvSpPr txBox="1">
            <a:spLocks noChangeArrowheads="1"/>
          </p:cNvSpPr>
          <p:nvPr/>
        </p:nvSpPr>
        <p:spPr bwMode="auto">
          <a:xfrm>
            <a:off x="3957638" y="16875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charset="0"/>
              </a:rPr>
              <a:t>…</a:t>
            </a:r>
          </a:p>
        </p:txBody>
      </p:sp>
      <p:sp>
        <p:nvSpPr>
          <p:cNvPr id="143369" name="Text Box 30"/>
          <p:cNvSpPr txBox="1">
            <a:spLocks noChangeArrowheads="1"/>
          </p:cNvSpPr>
          <p:nvPr/>
        </p:nvSpPr>
        <p:spPr bwMode="auto">
          <a:xfrm>
            <a:off x="4521200" y="16859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4541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8C899E8F-DDE6-4D4E-9071-4FF72780E596}" type="slidenum">
              <a:rPr lang="en-US" altLang="en-US" sz="1200">
                <a:latin typeface="Tahoma" pitchFamily="34" charset="0"/>
              </a:rPr>
              <a:pPr/>
              <a:t>49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454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2250"/>
            <a:ext cx="7772400" cy="882650"/>
          </a:xfrm>
        </p:spPr>
        <p:txBody>
          <a:bodyPr/>
          <a:lstStyle/>
          <a:p>
            <a:r>
              <a:rPr lang="en-US" altLang="en-US" sz="4000" smtClean="0"/>
              <a:t>DNS: root name servers</a:t>
            </a:r>
            <a:endParaRPr lang="en-US" altLang="en-US" smtClean="0"/>
          </a:p>
        </p:txBody>
      </p:sp>
      <p:sp>
        <p:nvSpPr>
          <p:cNvPr id="1454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1362075"/>
            <a:ext cx="8478837" cy="4648200"/>
          </a:xfrm>
        </p:spPr>
        <p:txBody>
          <a:bodyPr/>
          <a:lstStyle/>
          <a:p>
            <a:r>
              <a:rPr lang="en-US" altLang="en-US" sz="2400" smtClean="0"/>
              <a:t>contacted by local name server that can not resolve name</a:t>
            </a:r>
          </a:p>
          <a:p>
            <a:r>
              <a:rPr lang="en-US" altLang="en-US" sz="2400" smtClean="0"/>
              <a:t>root name server:</a:t>
            </a:r>
          </a:p>
          <a:p>
            <a:pPr lvl="1"/>
            <a:r>
              <a:rPr lang="en-US" altLang="en-US" sz="2200" smtClean="0"/>
              <a:t>contacts authoritative name server if name mapping not known</a:t>
            </a:r>
          </a:p>
          <a:p>
            <a:pPr lvl="1"/>
            <a:r>
              <a:rPr lang="en-US" altLang="en-US" sz="2200" smtClean="0"/>
              <a:t>gets mapping</a:t>
            </a:r>
          </a:p>
          <a:p>
            <a:pPr lvl="1"/>
            <a:r>
              <a:rPr lang="en-US" altLang="en-US" sz="2200" smtClean="0"/>
              <a:t>returns mapping to local name server</a:t>
            </a:r>
          </a:p>
        </p:txBody>
      </p:sp>
      <p:sp>
        <p:nvSpPr>
          <p:cNvPr id="145414" name="Rectangle 20"/>
          <p:cNvSpPr>
            <a:spLocks noChangeArrowheads="1"/>
          </p:cNvSpPr>
          <p:nvPr/>
        </p:nvSpPr>
        <p:spPr bwMode="auto">
          <a:xfrm>
            <a:off x="6186488" y="5022850"/>
            <a:ext cx="2681287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i="1"/>
              <a:t>    13 root name </a:t>
            </a:r>
            <a:r>
              <a:rPr lang="ja-JP" altLang="en-US" i="1"/>
              <a:t>“</a:t>
            </a:r>
            <a:r>
              <a:rPr lang="en-US" altLang="ja-JP" i="1"/>
              <a:t>servers</a:t>
            </a:r>
            <a:r>
              <a:rPr lang="ja-JP" altLang="en-US" i="1"/>
              <a:t>”</a:t>
            </a:r>
            <a:r>
              <a:rPr lang="en-US" altLang="ja-JP" i="1"/>
              <a:t> worldwide</a:t>
            </a:r>
            <a:endParaRPr lang="en-US" altLang="en-US" sz="2400" i="1"/>
          </a:p>
        </p:txBody>
      </p:sp>
      <p:sp>
        <p:nvSpPr>
          <p:cNvPr id="145415" name="AutoShape 22"/>
          <p:cNvSpPr>
            <a:spLocks noChangeAspect="1" noChangeArrowheads="1"/>
          </p:cNvSpPr>
          <p:nvPr/>
        </p:nvSpPr>
        <p:spPr bwMode="auto">
          <a:xfrm>
            <a:off x="481013" y="3581400"/>
            <a:ext cx="578485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itchFamily="66" charset="0"/>
            </a:endParaRPr>
          </a:p>
        </p:txBody>
      </p:sp>
      <p:pic>
        <p:nvPicPr>
          <p:cNvPr id="145416" name="Picture 23" descr="worl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4378325"/>
            <a:ext cx="43195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7" name="Text Box 25"/>
          <p:cNvSpPr txBox="1">
            <a:spLocks noChangeArrowheads="1"/>
          </p:cNvSpPr>
          <p:nvPr/>
        </p:nvSpPr>
        <p:spPr bwMode="auto">
          <a:xfrm>
            <a:off x="207963" y="5160963"/>
            <a:ext cx="20907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a. Verisign, Los Angeles CA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    (5 other sites)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b. USC-ISI Marina del Rey, CA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l. ICANN Los Angeles, CA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   (41 other sites)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45418" name="Freeform 26"/>
          <p:cNvSpPr>
            <a:spLocks/>
          </p:cNvSpPr>
          <p:nvPr/>
        </p:nvSpPr>
        <p:spPr bwMode="auto">
          <a:xfrm>
            <a:off x="1757363" y="5113338"/>
            <a:ext cx="531812" cy="341312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419" name="Text Box 27"/>
          <p:cNvSpPr txBox="1">
            <a:spLocks noChangeArrowheads="1"/>
          </p:cNvSpPr>
          <p:nvPr/>
        </p:nvSpPr>
        <p:spPr bwMode="auto">
          <a:xfrm>
            <a:off x="204788" y="4333875"/>
            <a:ext cx="1949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e. NASA Mt View, CA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f. Internet Software C.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Palo Alto, CA (and 48 other   sites)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45420" name="Freeform 28"/>
          <p:cNvSpPr>
            <a:spLocks/>
          </p:cNvSpPr>
          <p:nvPr/>
        </p:nvSpPr>
        <p:spPr bwMode="auto">
          <a:xfrm flipV="1">
            <a:off x="1423988" y="4868863"/>
            <a:ext cx="817562" cy="184150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421" name="Text Box 29"/>
          <p:cNvSpPr txBox="1">
            <a:spLocks noChangeArrowheads="1"/>
          </p:cNvSpPr>
          <p:nvPr/>
        </p:nvSpPr>
        <p:spPr bwMode="auto">
          <a:xfrm>
            <a:off x="4297363" y="3973513"/>
            <a:ext cx="2278062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r"/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i. Netnod, Stockholm (37 other sites)</a:t>
            </a:r>
          </a:p>
        </p:txBody>
      </p:sp>
      <p:sp>
        <p:nvSpPr>
          <p:cNvPr id="145422" name="Freeform 30"/>
          <p:cNvSpPr>
            <a:spLocks/>
          </p:cNvSpPr>
          <p:nvPr/>
        </p:nvSpPr>
        <p:spPr bwMode="auto">
          <a:xfrm>
            <a:off x="3932238" y="4068763"/>
            <a:ext cx="446087" cy="654050"/>
          </a:xfrm>
          <a:custGeom>
            <a:avLst/>
            <a:gdLst>
              <a:gd name="T0" fmla="*/ 2147483646 w 666"/>
              <a:gd name="T1" fmla="*/ 0 h 1005"/>
              <a:gd name="T2" fmla="*/ 0 w 666"/>
              <a:gd name="T3" fmla="*/ 2147483646 h 1005"/>
              <a:gd name="T4" fmla="*/ 0 60000 65536"/>
              <a:gd name="T5" fmla="*/ 0 60000 65536"/>
              <a:gd name="T6" fmla="*/ 0 w 666"/>
              <a:gd name="T7" fmla="*/ 0 h 1005"/>
              <a:gd name="T8" fmla="*/ 666 w 666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6" h="1005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423" name="Text Box 31"/>
          <p:cNvSpPr txBox="1">
            <a:spLocks noChangeArrowheads="1"/>
          </p:cNvSpPr>
          <p:nvPr/>
        </p:nvSpPr>
        <p:spPr bwMode="auto">
          <a:xfrm>
            <a:off x="4333875" y="3684588"/>
            <a:ext cx="25193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k. RIPE London (17 other sites)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45424" name="Freeform 32"/>
          <p:cNvSpPr>
            <a:spLocks/>
          </p:cNvSpPr>
          <p:nvPr/>
        </p:nvSpPr>
        <p:spPr bwMode="auto">
          <a:xfrm>
            <a:off x="3751263" y="3862388"/>
            <a:ext cx="615950" cy="946150"/>
          </a:xfrm>
          <a:custGeom>
            <a:avLst/>
            <a:gdLst>
              <a:gd name="T0" fmla="*/ 2147483646 w 922"/>
              <a:gd name="T1" fmla="*/ 0 h 1448"/>
              <a:gd name="T2" fmla="*/ 0 w 922"/>
              <a:gd name="T3" fmla="*/ 2147483646 h 1448"/>
              <a:gd name="T4" fmla="*/ 0 60000 65536"/>
              <a:gd name="T5" fmla="*/ 0 60000 65536"/>
              <a:gd name="T6" fmla="*/ 0 w 922"/>
              <a:gd name="T7" fmla="*/ 0 h 1448"/>
              <a:gd name="T8" fmla="*/ 922 w 922"/>
              <a:gd name="T9" fmla="*/ 1448 h 14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2" h="1448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425" name="Text Box 33"/>
          <p:cNvSpPr txBox="1">
            <a:spLocks noChangeArrowheads="1"/>
          </p:cNvSpPr>
          <p:nvPr/>
        </p:nvSpPr>
        <p:spPr bwMode="auto">
          <a:xfrm>
            <a:off x="5911850" y="4303713"/>
            <a:ext cx="176688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m. WIDE Tokyo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(5 other sites)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45426" name="Freeform 34"/>
          <p:cNvSpPr>
            <a:spLocks/>
          </p:cNvSpPr>
          <p:nvPr/>
        </p:nvSpPr>
        <p:spPr bwMode="auto">
          <a:xfrm>
            <a:off x="5575300" y="4598988"/>
            <a:ext cx="400050" cy="431800"/>
          </a:xfrm>
          <a:custGeom>
            <a:avLst/>
            <a:gdLst>
              <a:gd name="T0" fmla="*/ 2147483646 w 252"/>
              <a:gd name="T1" fmla="*/ 0 h 462"/>
              <a:gd name="T2" fmla="*/ 0 w 252"/>
              <a:gd name="T3" fmla="*/ 2147483646 h 462"/>
              <a:gd name="T4" fmla="*/ 0 60000 65536"/>
              <a:gd name="T5" fmla="*/ 0 60000 65536"/>
              <a:gd name="T6" fmla="*/ 0 w 252"/>
              <a:gd name="T7" fmla="*/ 0 h 462"/>
              <a:gd name="T8" fmla="*/ 252 w 252"/>
              <a:gd name="T9" fmla="*/ 462 h 4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6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427" name="Text Box 35"/>
          <p:cNvSpPr txBox="1">
            <a:spLocks noChangeArrowheads="1"/>
          </p:cNvSpPr>
          <p:nvPr/>
        </p:nvSpPr>
        <p:spPr bwMode="auto">
          <a:xfrm>
            <a:off x="1597025" y="3541713"/>
            <a:ext cx="25987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c. Cogent, Herndon, VA (5 other sites)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d. U Maryland College Park, MD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h. ARL Aberdeen, MD</a:t>
            </a:r>
          </a:p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j. Verisign, Dulles VA (69 other sites )</a:t>
            </a:r>
            <a:endParaRPr lang="en-US" altLang="en-US" sz="2400">
              <a:latin typeface="Times New Roman" pitchFamily="18" charset="0"/>
            </a:endParaRPr>
          </a:p>
        </p:txBody>
      </p:sp>
      <p:pic>
        <p:nvPicPr>
          <p:cNvPr id="145428" name="Picture 24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8423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429" name="Straight Arrow Connector 2"/>
          <p:cNvCxnSpPr>
            <a:cxnSpLocks noChangeShapeType="1"/>
          </p:cNvCxnSpPr>
          <p:nvPr/>
        </p:nvCxnSpPr>
        <p:spPr bwMode="auto">
          <a:xfrm flipH="1">
            <a:off x="2878138" y="4278313"/>
            <a:ext cx="7937" cy="690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5430" name="Text Box 35"/>
          <p:cNvSpPr txBox="1">
            <a:spLocks noChangeArrowheads="1"/>
          </p:cNvSpPr>
          <p:nvPr/>
        </p:nvSpPr>
        <p:spPr bwMode="auto">
          <a:xfrm>
            <a:off x="1550988" y="5889625"/>
            <a:ext cx="147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Arial" charset="0"/>
              </a:rPr>
              <a:t>g. US DoD Columbus, OH (5 other sites)</a:t>
            </a:r>
            <a:endParaRPr lang="en-US" altLang="en-US" sz="2400">
              <a:latin typeface="Times New Roman" pitchFamily="18" charset="0"/>
            </a:endParaRPr>
          </a:p>
        </p:txBody>
      </p:sp>
      <p:cxnSp>
        <p:nvCxnSpPr>
          <p:cNvPr id="145431" name="Straight Arrow Connector 24"/>
          <p:cNvCxnSpPr>
            <a:cxnSpLocks noChangeShapeType="1"/>
            <a:stCxn id="145430" idx="0"/>
          </p:cNvCxnSpPr>
          <p:nvPr/>
        </p:nvCxnSpPr>
        <p:spPr bwMode="auto">
          <a:xfrm flipV="1">
            <a:off x="2286000" y="4945063"/>
            <a:ext cx="481013" cy="944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4745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B2CA63D2-D43E-4551-A2B5-F7664B3991DB}" type="slidenum">
              <a:rPr lang="en-US" altLang="en-US" sz="1200">
                <a:latin typeface="Tahoma" pitchFamily="34" charset="0"/>
              </a:rPr>
              <a:pPr/>
              <a:t>50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4746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4950"/>
            <a:ext cx="7772400" cy="914400"/>
          </a:xfrm>
        </p:spPr>
        <p:txBody>
          <a:bodyPr/>
          <a:lstStyle/>
          <a:p>
            <a:r>
              <a:rPr lang="en-US" altLang="en-US" smtClean="0"/>
              <a:t>TLD, authoritative servers</a:t>
            </a:r>
          </a:p>
        </p:txBody>
      </p:sp>
      <p:sp>
        <p:nvSpPr>
          <p:cNvPr id="147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975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top-level domain (TLD) servers:</a:t>
            </a:r>
          </a:p>
          <a:p>
            <a:pPr lvl="1"/>
            <a:r>
              <a:rPr lang="en-US" altLang="en-US" smtClean="0"/>
              <a:t>responsible for com, org, net, edu, aero, jobs, museums, and all top-level country domains, e.g.: uk, fr, ca, jp</a:t>
            </a:r>
          </a:p>
          <a:p>
            <a:pPr lvl="1"/>
            <a:r>
              <a:rPr lang="en-US" altLang="en-US" smtClean="0"/>
              <a:t>Network Solutions maintains servers for .com TLD</a:t>
            </a:r>
          </a:p>
          <a:p>
            <a:pPr lvl="1"/>
            <a:r>
              <a:rPr lang="en-US" altLang="en-US" smtClean="0"/>
              <a:t>Educause for .edu TLD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authoritative DNS servers: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organization</a:t>
            </a:r>
            <a:r>
              <a:rPr lang="ja-JP" altLang="en-US" smtClean="0"/>
              <a:t>’</a:t>
            </a:r>
            <a:r>
              <a:rPr lang="en-US" altLang="ja-JP" smtClean="0"/>
              <a:t>s own DNS server(s), providing authoritative hostname to IP mappings for organization</a:t>
            </a:r>
            <a:r>
              <a:rPr lang="ja-JP" altLang="en-US" smtClean="0"/>
              <a:t>’</a:t>
            </a:r>
            <a:r>
              <a:rPr lang="en-US" altLang="ja-JP" smtClean="0"/>
              <a:t>s named hosts </a:t>
            </a:r>
          </a:p>
          <a:p>
            <a:pPr lvl="1"/>
            <a:r>
              <a:rPr lang="en-US" altLang="en-US" smtClean="0"/>
              <a:t>can be maintained by organization or service provider</a:t>
            </a:r>
          </a:p>
          <a:p>
            <a:pPr lvl="1"/>
            <a:endParaRPr lang="en-US" altLang="en-US" smtClean="0"/>
          </a:p>
        </p:txBody>
      </p:sp>
      <p:pic>
        <p:nvPicPr>
          <p:cNvPr id="147462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44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4950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A640CE47-E88C-420A-8C75-3CFEB64BB9C3}" type="slidenum">
              <a:rPr lang="en-US" altLang="en-US" sz="1200">
                <a:latin typeface="Tahoma" pitchFamily="34" charset="0"/>
              </a:rPr>
              <a:pPr/>
              <a:t>51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4950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6538"/>
            <a:ext cx="7772400" cy="957262"/>
          </a:xfrm>
        </p:spPr>
        <p:txBody>
          <a:bodyPr/>
          <a:lstStyle/>
          <a:p>
            <a:r>
              <a:rPr lang="en-US" altLang="en-US" smtClean="0"/>
              <a:t>Local </a:t>
            </a:r>
            <a:r>
              <a:rPr lang="en-US" altLang="en-US" sz="4000" smtClean="0"/>
              <a:t>DNS</a:t>
            </a:r>
            <a:r>
              <a:rPr lang="en-US" altLang="en-US" smtClean="0"/>
              <a:t> name server</a:t>
            </a:r>
          </a:p>
        </p:txBody>
      </p:sp>
      <p:sp>
        <p:nvSpPr>
          <p:cNvPr id="149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does not strictly belong to hierarchy</a:t>
            </a:r>
          </a:p>
          <a:p>
            <a:r>
              <a:rPr lang="en-US" altLang="en-US" smtClean="0"/>
              <a:t>each ISP (residential ISP, company, university) has one</a:t>
            </a:r>
          </a:p>
          <a:p>
            <a:pPr lvl="1"/>
            <a:r>
              <a:rPr lang="en-US" altLang="en-US" smtClean="0"/>
              <a:t>also called </a:t>
            </a:r>
            <a:r>
              <a:rPr lang="ja-JP" altLang="en-US" smtClean="0"/>
              <a:t>“</a:t>
            </a:r>
            <a:r>
              <a:rPr lang="en-US" altLang="ja-JP" smtClean="0"/>
              <a:t>default name server</a:t>
            </a:r>
            <a:r>
              <a:rPr lang="ja-JP" altLang="en-US" smtClean="0"/>
              <a:t>”</a:t>
            </a:r>
            <a:endParaRPr lang="en-US" altLang="ja-JP" smtClean="0"/>
          </a:p>
          <a:p>
            <a:r>
              <a:rPr lang="en-US" altLang="en-US" smtClean="0"/>
              <a:t>when host makes DNS query, query is sent to its local DNS server</a:t>
            </a:r>
          </a:p>
          <a:p>
            <a:pPr lvl="1"/>
            <a:r>
              <a:rPr lang="en-US" altLang="en-US" smtClean="0"/>
              <a:t>has local cache of recent name-to-address translation pairs (but may be out of date!)</a:t>
            </a:r>
          </a:p>
          <a:p>
            <a:pPr lvl="1"/>
            <a:r>
              <a:rPr lang="en-US" altLang="en-US" smtClean="0"/>
              <a:t>acts as proxy, forwards query into hierarchy</a:t>
            </a:r>
          </a:p>
          <a:p>
            <a:pPr lvl="1"/>
            <a:endParaRPr lang="en-US" altLang="en-US" smtClean="0"/>
          </a:p>
        </p:txBody>
      </p:sp>
      <p:pic>
        <p:nvPicPr>
          <p:cNvPr id="149510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969963"/>
            <a:ext cx="5548312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51555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EF3955D4-B54A-499E-8613-0A8D9B672605}" type="slidenum">
              <a:rPr lang="en-US" altLang="en-US" sz="1200">
                <a:latin typeface="Tahoma" pitchFamily="34" charset="0"/>
              </a:rPr>
              <a:pPr/>
              <a:t>52</a:t>
            </a:fld>
            <a:endParaRPr lang="en-US" altLang="en-US" sz="1200">
              <a:latin typeface="Tahoma" pitchFamily="34" charset="0"/>
            </a:endParaRPr>
          </a:p>
        </p:txBody>
      </p:sp>
      <p:pic>
        <p:nvPicPr>
          <p:cNvPr id="151556" name="Picture 7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requesting host</a:t>
            </a:r>
            <a:endParaRPr lang="en-US" altLang="en-US" sz="2400">
              <a:latin typeface="Arial" charset="0"/>
            </a:endParaRPr>
          </a:p>
          <a:p>
            <a:pPr algn="ctr"/>
            <a:r>
              <a:rPr lang="en-US" altLang="en-US" sz="1600" i="1">
                <a:solidFill>
                  <a:srgbClr val="000099"/>
                </a:solidFill>
                <a:latin typeface="Arial" charset="0"/>
              </a:rPr>
              <a:t>cis.poly.edu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 i="1">
                <a:latin typeface="Arial" charset="0"/>
              </a:rPr>
              <a:t>gaia.cs.umass.edu</a:t>
            </a:r>
          </a:p>
        </p:txBody>
      </p:sp>
      <p:sp>
        <p:nvSpPr>
          <p:cNvPr id="151559" name="Text Box 17"/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root DNS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5400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 flipV="1">
            <a:off x="5686425" y="2382838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5686425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 flipH="1">
            <a:off x="5610225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5476875" y="2933700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1566" name="Group 24"/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151720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51721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Arial" charset="0"/>
                </a:rPr>
                <a:t>local DNS server</a:t>
              </a:r>
              <a:endParaRPr lang="en-US" altLang="en-US" sz="2400">
                <a:latin typeface="Arial" charset="0"/>
              </a:endParaRPr>
            </a:p>
            <a:p>
              <a:pPr algn="ctr"/>
              <a:r>
                <a:rPr lang="en-US" altLang="en-US" sz="1600" i="1">
                  <a:solidFill>
                    <a:srgbClr val="000099"/>
                  </a:solidFill>
                  <a:latin typeface="Arial" charset="0"/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3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6292850" y="20859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6323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5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6919913" y="3613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1573" name="Text Box 60"/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authoritative DNS server</a:t>
            </a:r>
            <a:endParaRPr lang="en-US" altLang="en-US" sz="2400">
              <a:latin typeface="Arial" charset="0"/>
            </a:endParaRPr>
          </a:p>
          <a:p>
            <a:pPr algn="ctr"/>
            <a:r>
              <a:rPr lang="en-US" altLang="en-US" sz="1600" b="1">
                <a:latin typeface="Arial" charset="0"/>
              </a:rPr>
              <a:t>dns.cs.umass.edu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6292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5549900" y="3790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>
            <a:off x="5619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 flipV="1">
            <a:off x="5580063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78" name="Text Box 65"/>
          <p:cNvSpPr txBox="1">
            <a:spLocks noChangeArrowheads="1"/>
          </p:cNvSpPr>
          <p:nvPr/>
        </p:nvSpPr>
        <p:spPr bwMode="auto">
          <a:xfrm>
            <a:off x="6551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TLD DNS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151579" name="Rectangle 66"/>
          <p:cNvSpPr>
            <a:spLocks noGrp="1" noChangeArrowheads="1"/>
          </p:cNvSpPr>
          <p:nvPr>
            <p:ph type="title"/>
          </p:nvPr>
        </p:nvSpPr>
        <p:spPr>
          <a:xfrm>
            <a:off x="533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4000" smtClean="0"/>
              <a:t>DNS name </a:t>
            </a:r>
            <a:br>
              <a:rPr lang="en-US" altLang="en-US" sz="4000" smtClean="0"/>
            </a:br>
            <a:r>
              <a:rPr lang="en-US" altLang="en-US" sz="4000" smtClean="0"/>
              <a:t>resolution example</a:t>
            </a:r>
          </a:p>
        </p:txBody>
      </p:sp>
      <p:sp>
        <p:nvSpPr>
          <p:cNvPr id="151580" name="Rectangle 67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25613"/>
            <a:ext cx="3565525" cy="4648200"/>
          </a:xfrm>
        </p:spPr>
        <p:txBody>
          <a:bodyPr/>
          <a:lstStyle/>
          <a:p>
            <a:r>
              <a:rPr lang="en-US" altLang="en-US" sz="2400" smtClean="0"/>
              <a:t>host at cis.poly.edu wants IP address for gaia.cs.umass.edu</a:t>
            </a:r>
          </a:p>
        </p:txBody>
      </p:sp>
      <p:sp>
        <p:nvSpPr>
          <p:cNvPr id="151581" name="Rectangle 69"/>
          <p:cNvSpPr>
            <a:spLocks noChangeArrowheads="1"/>
          </p:cNvSpPr>
          <p:nvPr/>
        </p:nvSpPr>
        <p:spPr bwMode="auto">
          <a:xfrm>
            <a:off x="582613" y="3094038"/>
            <a:ext cx="3478212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Gill Sans MT" pitchFamily="34" charset="0"/>
              </a:rPr>
              <a:t>iterated query: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contacted server replies with name of server to contact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ja-JP" altLang="en-US" sz="2400">
                <a:latin typeface="Gill Sans MT" pitchFamily="34" charset="0"/>
              </a:rPr>
              <a:t>“</a:t>
            </a:r>
            <a:r>
              <a:rPr lang="en-US" altLang="ja-JP" sz="2400">
                <a:latin typeface="Gill Sans MT" pitchFamily="34" charset="0"/>
              </a:rPr>
              <a:t>I don</a:t>
            </a:r>
            <a:r>
              <a:rPr lang="ja-JP" altLang="en-US" sz="2400">
                <a:latin typeface="Gill Sans MT" pitchFamily="34" charset="0"/>
              </a:rPr>
              <a:t>’</a:t>
            </a:r>
            <a:r>
              <a:rPr lang="en-US" altLang="ja-JP" sz="2400">
                <a:latin typeface="Gill Sans MT" pitchFamily="34" charset="0"/>
              </a:rPr>
              <a:t>t know this name, but ask this server</a:t>
            </a:r>
            <a:r>
              <a:rPr lang="ja-JP" altLang="en-US" sz="2400">
                <a:latin typeface="Gill Sans MT" pitchFamily="34" charset="0"/>
              </a:rPr>
              <a:t>”</a:t>
            </a:r>
            <a:endParaRPr lang="en-US" altLang="en-US" sz="2400">
              <a:latin typeface="Gill Sans MT" pitchFamily="34" charset="0"/>
            </a:endParaRPr>
          </a:p>
        </p:txBody>
      </p:sp>
      <p:grpSp>
        <p:nvGrpSpPr>
          <p:cNvPr id="151582" name="Group 86"/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151718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719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1583" name="Group 89"/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151716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717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1584" name="Group 125"/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151684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85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86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87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88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89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714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715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90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91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712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713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92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93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94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710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711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95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96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708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709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97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98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99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700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701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702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703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704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705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1706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707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1585" name="Group 158"/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151652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53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54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55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56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57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682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83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58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59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680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81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60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61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62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678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79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63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64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676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77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65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66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67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68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69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70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71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72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73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1674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75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1586" name="Group 224"/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151620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21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22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23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24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25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650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51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26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27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648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49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28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29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630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646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47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31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32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644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45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33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34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35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36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37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38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39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40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41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1642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43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1587" name="Group 257"/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151588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589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590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591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592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593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618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19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594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595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616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17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596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597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1598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614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15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599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00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612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1613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1601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02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03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04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05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06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07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08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09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1610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1611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0" grpId="0" animBg="1"/>
      <p:bldP spid="202771" grpId="0" animBg="1"/>
      <p:bldP spid="202772" grpId="0" animBg="1"/>
      <p:bldP spid="202773" grpId="0" animBg="1"/>
      <p:bldP spid="202774" grpId="0" animBg="1"/>
      <p:bldP spid="202775" grpId="0" animBg="1"/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  <p:bldP spid="202815" grpId="0" animBg="1"/>
      <p:bldP spid="2028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latin typeface="Tahoma" pitchFamily="34" charset="0"/>
              </a:rPr>
              <a:t>Application Layer</a:t>
            </a:r>
          </a:p>
        </p:txBody>
      </p:sp>
      <p:sp>
        <p:nvSpPr>
          <p:cNvPr id="1536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latin typeface="Tahoma" pitchFamily="34" charset="0"/>
              </a:rPr>
              <a:t>2-</a:t>
            </a:r>
            <a:fld id="{C47DF920-7E84-4943-9F1C-F2A4B73E63C4}" type="slidenum">
              <a:rPr lang="en-US" altLang="en-US" sz="1200">
                <a:latin typeface="Tahoma" pitchFamily="34" charset="0"/>
              </a:rPr>
              <a:pPr/>
              <a:t>53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153604" name="Text Box 24"/>
          <p:cNvSpPr txBox="1">
            <a:spLocks noChangeArrowheads="1"/>
          </p:cNvSpPr>
          <p:nvPr/>
        </p:nvSpPr>
        <p:spPr bwMode="auto">
          <a:xfrm>
            <a:off x="7462838" y="32575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05" name="Text Box 25"/>
          <p:cNvSpPr txBox="1">
            <a:spLocks noChangeArrowheads="1"/>
          </p:cNvSpPr>
          <p:nvPr/>
        </p:nvSpPr>
        <p:spPr bwMode="auto">
          <a:xfrm>
            <a:off x="7005638" y="33337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5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06" name="Text Box 26"/>
          <p:cNvSpPr txBox="1">
            <a:spLocks noChangeArrowheads="1"/>
          </p:cNvSpPr>
          <p:nvPr/>
        </p:nvSpPr>
        <p:spPr bwMode="auto">
          <a:xfrm>
            <a:off x="6724650" y="1817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07" name="Line 60"/>
          <p:cNvSpPr>
            <a:spLocks noChangeShapeType="1"/>
          </p:cNvSpPr>
          <p:nvPr/>
        </p:nvSpPr>
        <p:spPr bwMode="auto">
          <a:xfrm>
            <a:off x="7440613" y="2941638"/>
            <a:ext cx="0" cy="6746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08" name="Line 61"/>
          <p:cNvSpPr>
            <a:spLocks noChangeShapeType="1"/>
          </p:cNvSpPr>
          <p:nvPr/>
        </p:nvSpPr>
        <p:spPr bwMode="auto">
          <a:xfrm flipH="1" flipV="1">
            <a:off x="7319963" y="2952750"/>
            <a:ext cx="0" cy="7191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09" name="Line 62"/>
          <p:cNvSpPr>
            <a:spLocks noChangeShapeType="1"/>
          </p:cNvSpPr>
          <p:nvPr/>
        </p:nvSpPr>
        <p:spPr bwMode="auto">
          <a:xfrm flipH="1" flipV="1">
            <a:off x="6799263" y="1541463"/>
            <a:ext cx="458787" cy="5667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0" name="Text Box 63"/>
          <p:cNvSpPr txBox="1">
            <a:spLocks noChangeArrowheads="1"/>
          </p:cNvSpPr>
          <p:nvPr/>
        </p:nvSpPr>
        <p:spPr bwMode="auto">
          <a:xfrm>
            <a:off x="7143750" y="1390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3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11" name="Rectangle 67"/>
          <p:cNvSpPr>
            <a:spLocks noChangeArrowheads="1"/>
          </p:cNvSpPr>
          <p:nvPr/>
        </p:nvSpPr>
        <p:spPr bwMode="auto">
          <a:xfrm>
            <a:off x="468313" y="1687513"/>
            <a:ext cx="3162300" cy="231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800" i="1">
                <a:solidFill>
                  <a:srgbClr val="CC0000"/>
                </a:solidFill>
                <a:latin typeface="Comic Sans MS" pitchFamily="66" charset="0"/>
              </a:rPr>
              <a:t>recursive query: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puts burden of name resolution on contacted name server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en-US" sz="2400">
                <a:latin typeface="Gill Sans MT" pitchFamily="34" charset="0"/>
              </a:rPr>
              <a:t>heavy load at upper levels of hierarchy?</a:t>
            </a:r>
          </a:p>
        </p:txBody>
      </p:sp>
      <p:sp>
        <p:nvSpPr>
          <p:cNvPr id="153612" name="Text Box 5"/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requesting host</a:t>
            </a:r>
            <a:endParaRPr lang="en-US" altLang="en-US" sz="2400">
              <a:latin typeface="Arial" charset="0"/>
            </a:endParaRPr>
          </a:p>
          <a:p>
            <a:pPr algn="ctr"/>
            <a:r>
              <a:rPr lang="en-US" altLang="en-US" sz="1600" i="1">
                <a:solidFill>
                  <a:srgbClr val="000099"/>
                </a:solidFill>
                <a:latin typeface="Arial" charset="0"/>
              </a:rPr>
              <a:t>cis.poly.edu</a:t>
            </a:r>
          </a:p>
        </p:txBody>
      </p:sp>
      <p:sp>
        <p:nvSpPr>
          <p:cNvPr id="153613" name="Text Box 6"/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 i="1">
                <a:latin typeface="Arial" charset="0"/>
              </a:rPr>
              <a:t>gaia.cs.umass.edu</a:t>
            </a:r>
          </a:p>
        </p:txBody>
      </p:sp>
      <p:sp>
        <p:nvSpPr>
          <p:cNvPr id="153614" name="Text Box 17"/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latin typeface="Arial" charset="0"/>
              </a:rPr>
              <a:t>root DNS server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153615" name="Line 18"/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6" name="Line 19"/>
          <p:cNvSpPr>
            <a:spLocks noChangeShapeType="1"/>
          </p:cNvSpPr>
          <p:nvPr/>
        </p:nvSpPr>
        <p:spPr bwMode="auto">
          <a:xfrm flipV="1">
            <a:off x="5391150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7" name="Line 22"/>
          <p:cNvSpPr>
            <a:spLocks noChangeShapeType="1"/>
          </p:cNvSpPr>
          <p:nvPr/>
        </p:nvSpPr>
        <p:spPr bwMode="auto">
          <a:xfrm flipH="1">
            <a:off x="5619750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8" name="Line 23"/>
          <p:cNvSpPr>
            <a:spLocks noChangeShapeType="1"/>
          </p:cNvSpPr>
          <p:nvPr/>
        </p:nvSpPr>
        <p:spPr bwMode="auto">
          <a:xfrm>
            <a:off x="5476875" y="2944813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3619" name="Group 24"/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153767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153768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Arial" charset="0"/>
                </a:rPr>
                <a:t>local DNS server</a:t>
              </a:r>
              <a:endParaRPr lang="en-US" altLang="en-US" sz="2400">
                <a:latin typeface="Arial" charset="0"/>
              </a:endParaRPr>
            </a:p>
            <a:p>
              <a:pPr algn="ctr"/>
              <a:r>
                <a:rPr lang="en-US" altLang="en-US" sz="1600" i="1">
                  <a:solidFill>
                    <a:srgbClr val="000099"/>
                  </a:solidFill>
                  <a:latin typeface="Arial" charset="0"/>
                </a:rPr>
                <a:t>dns.poly.edu</a:t>
              </a:r>
            </a:p>
          </p:txBody>
        </p:sp>
      </p:grpSp>
      <p:sp>
        <p:nvSpPr>
          <p:cNvPr id="153620" name="Text Box 27"/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21" name="Text Box 28"/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22" name="Text Box 29"/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23" name="Text Box 60"/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600">
                <a:latin typeface="Arial" charset="0"/>
              </a:rPr>
              <a:t>authoritative DNS server</a:t>
            </a:r>
            <a:endParaRPr lang="en-US" altLang="en-US" sz="2400">
              <a:latin typeface="Arial" charset="0"/>
            </a:endParaRPr>
          </a:p>
          <a:p>
            <a:pPr algn="ctr"/>
            <a:r>
              <a:rPr lang="en-US" altLang="en-US" sz="1600" b="1">
                <a:latin typeface="Arial" charset="0"/>
              </a:rPr>
              <a:t>dns.cs.umass.edu</a:t>
            </a:r>
            <a:endParaRPr lang="en-US" altLang="en-US" sz="1600">
              <a:latin typeface="Arial" charset="0"/>
            </a:endParaRPr>
          </a:p>
        </p:txBody>
      </p:sp>
      <p:sp>
        <p:nvSpPr>
          <p:cNvPr id="153624" name="Text Box 62"/>
          <p:cNvSpPr txBox="1">
            <a:spLocks noChangeArrowheads="1"/>
          </p:cNvSpPr>
          <p:nvPr/>
        </p:nvSpPr>
        <p:spPr bwMode="auto">
          <a:xfrm>
            <a:off x="5549900" y="37814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CC0000"/>
                </a:solidFill>
                <a:latin typeface="Arial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53625" name="Line 62"/>
          <p:cNvSpPr>
            <a:spLocks noChangeShapeType="1"/>
          </p:cNvSpPr>
          <p:nvPr/>
        </p:nvSpPr>
        <p:spPr bwMode="auto">
          <a:xfrm flipH="1" flipV="1">
            <a:off x="6853238" y="1333500"/>
            <a:ext cx="600075" cy="741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3626" name="Picture 13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7" name="Rectangle 66"/>
          <p:cNvSpPr>
            <a:spLocks noChangeArrowheads="1"/>
          </p:cNvSpPr>
          <p:nvPr/>
        </p:nvSpPr>
        <p:spPr bwMode="auto">
          <a:xfrm>
            <a:off x="533400" y="217488"/>
            <a:ext cx="49101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altLang="en-US" sz="4000">
                <a:solidFill>
                  <a:srgbClr val="000099"/>
                </a:solidFill>
                <a:latin typeface="Gill Sans MT" pitchFamily="34" charset="0"/>
              </a:rPr>
              <a:t>DNS name </a:t>
            </a:r>
            <a:br>
              <a:rPr lang="en-US" altLang="en-US" sz="4000">
                <a:solidFill>
                  <a:srgbClr val="000099"/>
                </a:solidFill>
                <a:latin typeface="Gill Sans MT" pitchFamily="34" charset="0"/>
              </a:rPr>
            </a:br>
            <a:r>
              <a:rPr lang="en-US" altLang="en-US" sz="4000">
                <a:solidFill>
                  <a:srgbClr val="000099"/>
                </a:solidFill>
                <a:latin typeface="Gill Sans MT" pitchFamily="34" charset="0"/>
              </a:rPr>
              <a:t>resolution example</a:t>
            </a:r>
          </a:p>
        </p:txBody>
      </p:sp>
      <p:sp>
        <p:nvSpPr>
          <p:cNvPr id="153628" name="Text Box 65"/>
          <p:cNvSpPr txBox="1">
            <a:spLocks noChangeArrowheads="1"/>
          </p:cNvSpPr>
          <p:nvPr/>
        </p:nvSpPr>
        <p:spPr bwMode="auto">
          <a:xfrm>
            <a:off x="7600950" y="2287588"/>
            <a:ext cx="1325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800">
                <a:latin typeface="Arial" charset="0"/>
              </a:rPr>
              <a:t>TLD DNS </a:t>
            </a:r>
          </a:p>
          <a:p>
            <a:pPr>
              <a:lnSpc>
                <a:spcPct val="85000"/>
              </a:lnSpc>
            </a:pPr>
            <a:r>
              <a:rPr lang="en-US" altLang="en-US" sz="1800">
                <a:latin typeface="Arial" charset="0"/>
              </a:rPr>
              <a:t>server</a:t>
            </a:r>
            <a:endParaRPr lang="en-US" altLang="en-US" sz="1600">
              <a:latin typeface="Arial" charset="0"/>
            </a:endParaRPr>
          </a:p>
        </p:txBody>
      </p:sp>
      <p:grpSp>
        <p:nvGrpSpPr>
          <p:cNvPr id="153629" name="Group 140"/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153765" name="Picture 14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66" name="Freeform 14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3630" name="Group 143"/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153763" name="Picture 144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64" name="Freeform 14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3631" name="Group 146"/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153731" name="Freeform 14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2" name="Rectangle 148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33" name="Freeform 14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4" name="Freeform 15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5" name="Rectangle 151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36" name="Group 15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761" name="AutoShape 153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62" name="AutoShape 154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37" name="Rectangle 155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38" name="Group 15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3759" name="AutoShape 15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60" name="AutoShape 15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39" name="Rectangle 159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40" name="Rectangle 160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41" name="Group 16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3757" name="AutoShape 16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58" name="AutoShape 163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42" name="Freeform 16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743" name="Group 16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3755" name="AutoShape 166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56" name="AutoShape 167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44" name="Rectangle 168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45" name="Freeform 16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6" name="Freeform 17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7" name="Oval 171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48" name="Freeform 17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9" name="AutoShape 173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50" name="AutoShape 174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51" name="Oval 175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52" name="Oval 176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3753" name="Oval 177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54" name="Rectangle 178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3632" name="Group 212"/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153699" name="Freeform 21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0" name="Rectangle 214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01" name="Freeform 21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2" name="Freeform 21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3" name="Rectangle 217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04" name="Group 21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729" name="AutoShape 219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30" name="AutoShape 22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05" name="Rectangle 221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06" name="Group 22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3727" name="AutoShape 223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28" name="AutoShape 224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07" name="Rectangle 225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08" name="Rectangle 226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709" name="Group 22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3725" name="AutoShape 22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26" name="AutoShape 229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10" name="Freeform 23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711" name="Group 23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3723" name="AutoShape 232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724" name="AutoShape 233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712" name="Rectangle 234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13" name="Freeform 23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4" name="Freeform 23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5" name="Oval 237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16" name="Freeform 23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7" name="AutoShape 239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18" name="AutoShape 240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19" name="Oval 241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20" name="Oval 242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3721" name="Oval 243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722" name="Rectangle 244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3633" name="Group 245"/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153667" name="Freeform 24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8" name="Rectangle 24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69" name="Freeform 24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0" name="Freeform 24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1" name="Rectangle 25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72" name="Group 25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697" name="AutoShape 25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98" name="AutoShape 253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73" name="Rectangle 25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74" name="Group 25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3695" name="AutoShape 25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96" name="AutoShape 25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75" name="Rectangle 25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76" name="Rectangle 25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77" name="Group 26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3693" name="AutoShape 26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94" name="AutoShape 26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78" name="Freeform 26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679" name="Group 26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3691" name="AutoShape 26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92" name="AutoShape 266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80" name="Rectangle 26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81" name="Freeform 26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2" name="Freeform 26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3" name="Oval 27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84" name="Freeform 27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5" name="AutoShape 27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86" name="AutoShape 27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87" name="Oval 27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88" name="Oval 27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3689" name="Oval 27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90" name="Rectangle 27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  <p:grpSp>
        <p:nvGrpSpPr>
          <p:cNvPr id="153634" name="Group 311"/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153635" name="Freeform 31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6" name="Rectangle 313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37" name="Freeform 31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8" name="Freeform 31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9" name="Rectangle 316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40" name="Group 31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665" name="AutoShape 31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66" name="AutoShape 319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41" name="Rectangle 320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42" name="Group 32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3663" name="AutoShape 322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64" name="AutoShape 323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43" name="Rectangle 324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44" name="Rectangle 325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grpSp>
          <p:nvGrpSpPr>
            <p:cNvPr id="153645" name="Group 32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3661" name="AutoShape 32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62" name="AutoShape 328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46" name="Freeform 32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647" name="Group 33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3659" name="AutoShape 331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  <p:sp>
            <p:nvSpPr>
              <p:cNvPr id="153660" name="AutoShape 332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/>
              </a:p>
            </p:txBody>
          </p:sp>
        </p:grpSp>
        <p:sp>
          <p:nvSpPr>
            <p:cNvPr id="153648" name="Rectangle 333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49" name="Freeform 33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0" name="Freeform 33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1" name="Oval 336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52" name="Freeform 33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3" name="AutoShape 338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54" name="AutoShape 339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55" name="Oval 340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56" name="Oval 341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53657" name="Oval 342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  <p:sp>
          <p:nvSpPr>
            <p:cNvPr id="153658" name="Rectangle 343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t>Application Layer</a:t>
            </a:r>
          </a:p>
        </p:txBody>
      </p:sp>
      <p:sp>
        <p:nvSpPr>
          <p:cNvPr id="20377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2-</a:t>
            </a:r>
            <a:fld id="{4A673007-6602-4AB3-A2EE-A6045074A4F9}" type="slidenum"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pPr/>
              <a:t>54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3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Chapter 2: outline</a:t>
            </a:r>
          </a:p>
        </p:txBody>
      </p:sp>
      <p:sp>
        <p:nvSpPr>
          <p:cNvPr id="20378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2.1 principles of network applications</a:t>
            </a:r>
          </a:p>
          <a:p>
            <a:pPr marL="912813" lvl="1"/>
            <a:r>
              <a:rPr lang="en-US" altLang="en-US" smtClean="0"/>
              <a:t>app architectures</a:t>
            </a:r>
          </a:p>
          <a:p>
            <a:pPr marL="912813" lvl="1"/>
            <a:r>
              <a:rPr lang="en-US" altLang="en-US" smtClean="0"/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2.4 electronic mail</a:t>
            </a:r>
          </a:p>
          <a:p>
            <a:pPr marL="912813" lvl="1"/>
            <a:r>
              <a:rPr lang="en-US" altLang="en-US" smtClean="0"/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2.5 DNS</a:t>
            </a:r>
          </a:p>
          <a:p>
            <a:pPr marL="457200" indent="-457200"/>
            <a:endParaRPr lang="en-US" altLang="en-US" sz="2400" smtClean="0"/>
          </a:p>
        </p:txBody>
      </p:sp>
      <p:sp>
        <p:nvSpPr>
          <p:cNvPr id="20378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36713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/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2.7 socket programming with UDP and TCP</a:t>
            </a:r>
          </a:p>
        </p:txBody>
      </p:sp>
      <p:pic>
        <p:nvPicPr>
          <p:cNvPr id="203783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t>Application Layer</a:t>
            </a:r>
          </a:p>
        </p:txBody>
      </p:sp>
      <p:sp>
        <p:nvSpPr>
          <p:cNvPr id="204803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2-</a:t>
            </a:r>
            <a:fld id="{749597C4-BB77-4154-9494-69EFBFAC7DDC}" type="slidenum"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pPr/>
              <a:t>55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480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en-US" sz="4000" smtClean="0"/>
              <a:t>Socket programming </a:t>
            </a:r>
            <a:endParaRPr lang="en-US" altLang="en-US" smtClean="0"/>
          </a:p>
        </p:txBody>
      </p:sp>
      <p:sp>
        <p:nvSpPr>
          <p:cNvPr id="204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395413"/>
            <a:ext cx="8021638" cy="1533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goal:</a:t>
            </a:r>
            <a:r>
              <a:rPr lang="en-US" altLang="en-US" smtClean="0">
                <a:solidFill>
                  <a:srgbClr val="000000"/>
                </a:solidFill>
              </a:rPr>
              <a:t> learn how to build client/server applications that communicate using sockets</a:t>
            </a:r>
            <a:endParaRPr lang="en-US" altLang="en-US" i="1" smtClean="0">
              <a:solidFill>
                <a:srgbClr val="CC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socket:</a:t>
            </a:r>
            <a:r>
              <a:rPr lang="en-US" altLang="en-US" smtClean="0"/>
              <a:t> door between application process and end-end-transport protocol </a:t>
            </a:r>
          </a:p>
        </p:txBody>
      </p:sp>
      <p:grpSp>
        <p:nvGrpSpPr>
          <p:cNvPr id="204806" name="Group 60"/>
          <p:cNvGrpSpPr>
            <a:grpSpLocks/>
          </p:cNvGrpSpPr>
          <p:nvPr/>
        </p:nvGrpSpPr>
        <p:grpSpPr bwMode="auto">
          <a:xfrm>
            <a:off x="296863" y="3335338"/>
            <a:ext cx="8208962" cy="2536825"/>
            <a:chOff x="358775" y="3459163"/>
            <a:chExt cx="8208963" cy="2536825"/>
          </a:xfrm>
        </p:grpSpPr>
        <p:sp>
          <p:nvSpPr>
            <p:cNvPr id="204808" name="Freeform 44"/>
            <p:cNvSpPr>
              <a:spLocks/>
            </p:cNvSpPr>
            <p:nvPr/>
          </p:nvSpPr>
          <p:spPr bwMode="auto">
            <a:xfrm>
              <a:off x="6654800" y="3468688"/>
              <a:ext cx="736600" cy="1998662"/>
            </a:xfrm>
            <a:custGeom>
              <a:avLst/>
              <a:gdLst>
                <a:gd name="T0" fmla="*/ 2147483646 w 464"/>
                <a:gd name="T1" fmla="*/ 2147483646 h 1259"/>
                <a:gd name="T2" fmla="*/ 0 w 464"/>
                <a:gd name="T3" fmla="*/ 0 h 1259"/>
                <a:gd name="T4" fmla="*/ 2147483646 w 464"/>
                <a:gd name="T5" fmla="*/ 2147483646 h 1259"/>
                <a:gd name="T6" fmla="*/ 2147483646 w 464"/>
                <a:gd name="T7" fmla="*/ 2147483646 h 1259"/>
                <a:gd name="T8" fmla="*/ 2147483646 w 464"/>
                <a:gd name="T9" fmla="*/ 2147483646 h 1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4"/>
                <a:gd name="T16" fmla="*/ 0 h 1259"/>
                <a:gd name="T17" fmla="*/ 464 w 464"/>
                <a:gd name="T18" fmla="*/ 1259 h 1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4" h="1259">
                  <a:moveTo>
                    <a:pt x="464" y="1060"/>
                  </a:moveTo>
                  <a:lnTo>
                    <a:pt x="0" y="0"/>
                  </a:lnTo>
                  <a:lnTo>
                    <a:pt x="6" y="1258"/>
                  </a:lnTo>
                  <a:lnTo>
                    <a:pt x="382" y="1259"/>
                  </a:lnTo>
                  <a:lnTo>
                    <a:pt x="464" y="106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09" name="Freeform 7"/>
            <p:cNvSpPr>
              <a:spLocks/>
            </p:cNvSpPr>
            <p:nvPr/>
          </p:nvSpPr>
          <p:spPr bwMode="auto">
            <a:xfrm>
              <a:off x="3340100" y="4765675"/>
              <a:ext cx="1808163" cy="1031875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10" name="Text Box 51"/>
            <p:cNvSpPr txBox="1">
              <a:spLocks noChangeArrowheads="1"/>
            </p:cNvSpPr>
            <p:nvPr/>
          </p:nvSpPr>
          <p:spPr bwMode="auto">
            <a:xfrm>
              <a:off x="3778250" y="4897438"/>
              <a:ext cx="8747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sz="1600">
                  <a:solidFill>
                    <a:srgbClr val="000000"/>
                  </a:solidFill>
                  <a:latin typeface="Arial" charset="0"/>
                </a:rPr>
                <a:t>Internet</a:t>
              </a:r>
            </a:p>
          </p:txBody>
        </p:sp>
        <p:sp>
          <p:nvSpPr>
            <p:cNvPr id="204811" name="Line 52"/>
            <p:cNvSpPr>
              <a:spLocks noChangeShapeType="1"/>
            </p:cNvSpPr>
            <p:nvPr/>
          </p:nvSpPr>
          <p:spPr bwMode="auto">
            <a:xfrm>
              <a:off x="3098800" y="5308600"/>
              <a:ext cx="2211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12" name="Text Box 53"/>
            <p:cNvSpPr txBox="1">
              <a:spLocks noChangeArrowheads="1"/>
            </p:cNvSpPr>
            <p:nvPr/>
          </p:nvSpPr>
          <p:spPr bwMode="auto">
            <a:xfrm>
              <a:off x="7119938" y="4533900"/>
              <a:ext cx="1063625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controlled</a:t>
              </a:r>
            </a:p>
            <a:p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by OS</a:t>
              </a:r>
            </a:p>
            <a:p>
              <a:endParaRPr lang="en-US" altLang="en-US" sz="1600">
                <a:solidFill>
                  <a:srgbClr val="CC0000"/>
                </a:solidFill>
                <a:latin typeface="Times New Roman" pitchFamily="18" charset="0"/>
              </a:endParaRPr>
            </a:p>
          </p:txBody>
        </p:sp>
        <p:sp>
          <p:nvSpPr>
            <p:cNvPr id="204813" name="Text Box 56"/>
            <p:cNvSpPr txBox="1">
              <a:spLocks noChangeArrowheads="1"/>
            </p:cNvSpPr>
            <p:nvPr/>
          </p:nvSpPr>
          <p:spPr bwMode="auto">
            <a:xfrm>
              <a:off x="7097713" y="3633788"/>
              <a:ext cx="1470025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controlled by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1600">
                  <a:solidFill>
                    <a:srgbClr val="CC0000"/>
                  </a:solidFill>
                  <a:latin typeface="Arial" charset="0"/>
                </a:rPr>
                <a:t>app developer</a:t>
              </a:r>
            </a:p>
          </p:txBody>
        </p:sp>
        <p:sp>
          <p:nvSpPr>
            <p:cNvPr id="204814" name="Freeform 50"/>
            <p:cNvSpPr>
              <a:spLocks/>
            </p:cNvSpPr>
            <p:nvPr/>
          </p:nvSpPr>
          <p:spPr bwMode="auto">
            <a:xfrm>
              <a:off x="914400" y="3532188"/>
              <a:ext cx="758825" cy="1997075"/>
            </a:xfrm>
            <a:custGeom>
              <a:avLst/>
              <a:gdLst>
                <a:gd name="T0" fmla="*/ 0 w 478"/>
                <a:gd name="T1" fmla="*/ 2147483646 h 1258"/>
                <a:gd name="T2" fmla="*/ 2147483646 w 478"/>
                <a:gd name="T3" fmla="*/ 0 h 1258"/>
                <a:gd name="T4" fmla="*/ 2147483646 w 478"/>
                <a:gd name="T5" fmla="*/ 2147483646 h 1258"/>
                <a:gd name="T6" fmla="*/ 2147483646 w 478"/>
                <a:gd name="T7" fmla="*/ 2147483646 h 1258"/>
                <a:gd name="T8" fmla="*/ 0 w 478"/>
                <a:gd name="T9" fmla="*/ 2147483646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"/>
                <a:gd name="T16" fmla="*/ 0 h 1258"/>
                <a:gd name="T17" fmla="*/ 478 w 478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" h="1258">
                  <a:moveTo>
                    <a:pt x="0" y="1040"/>
                  </a:moveTo>
                  <a:lnTo>
                    <a:pt x="478" y="0"/>
                  </a:lnTo>
                  <a:lnTo>
                    <a:pt x="472" y="1258"/>
                  </a:lnTo>
                  <a:lnTo>
                    <a:pt x="41" y="1246"/>
                  </a:lnTo>
                  <a:lnTo>
                    <a:pt x="0" y="104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15" name="Rectangle 23"/>
            <p:cNvSpPr>
              <a:spLocks noChangeArrowheads="1"/>
            </p:cNvSpPr>
            <p:nvPr/>
          </p:nvSpPr>
          <p:spPr bwMode="auto">
            <a:xfrm>
              <a:off x="1717675" y="3487738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816" name="Rectangle 24"/>
            <p:cNvSpPr>
              <a:spLocks noChangeArrowheads="1"/>
            </p:cNvSpPr>
            <p:nvPr/>
          </p:nvSpPr>
          <p:spPr bwMode="auto">
            <a:xfrm>
              <a:off x="1679575" y="3541713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817" name="Line 25"/>
            <p:cNvSpPr>
              <a:spLocks noChangeShapeType="1"/>
            </p:cNvSpPr>
            <p:nvPr/>
          </p:nvSpPr>
          <p:spPr bwMode="auto">
            <a:xfrm>
              <a:off x="1689100" y="43021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18" name="Text Box 26"/>
            <p:cNvSpPr txBox="1">
              <a:spLocks noChangeArrowheads="1"/>
            </p:cNvSpPr>
            <p:nvPr/>
          </p:nvSpPr>
          <p:spPr bwMode="auto">
            <a:xfrm>
              <a:off x="1646238" y="428466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transport</a:t>
              </a:r>
            </a:p>
          </p:txBody>
        </p:sp>
        <p:sp>
          <p:nvSpPr>
            <p:cNvPr id="204819" name="Line 27"/>
            <p:cNvSpPr>
              <a:spLocks noChangeShapeType="1"/>
            </p:cNvSpPr>
            <p:nvPr/>
          </p:nvSpPr>
          <p:spPr bwMode="auto">
            <a:xfrm>
              <a:off x="1697038" y="462280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20" name="Line 28"/>
            <p:cNvSpPr>
              <a:spLocks noChangeShapeType="1"/>
            </p:cNvSpPr>
            <p:nvPr/>
          </p:nvSpPr>
          <p:spPr bwMode="auto">
            <a:xfrm>
              <a:off x="1682750" y="493236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21" name="Line 29"/>
            <p:cNvSpPr>
              <a:spLocks noChangeShapeType="1"/>
            </p:cNvSpPr>
            <p:nvPr/>
          </p:nvSpPr>
          <p:spPr bwMode="auto">
            <a:xfrm>
              <a:off x="1682750" y="521811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22" name="Text Box 26"/>
            <p:cNvSpPr txBox="1">
              <a:spLocks noChangeArrowheads="1"/>
            </p:cNvSpPr>
            <p:nvPr/>
          </p:nvSpPr>
          <p:spPr bwMode="auto">
            <a:xfrm>
              <a:off x="1681163" y="35321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000000"/>
                  </a:solidFill>
                  <a:latin typeface="Tahoma" pitchFamily="34" charset="0"/>
                </a:rPr>
                <a:t>application</a:t>
              </a:r>
            </a:p>
          </p:txBody>
        </p:sp>
        <p:sp>
          <p:nvSpPr>
            <p:cNvPr id="204823" name="Text Box 26"/>
            <p:cNvSpPr txBox="1">
              <a:spLocks noChangeArrowheads="1"/>
            </p:cNvSpPr>
            <p:nvPr/>
          </p:nvSpPr>
          <p:spPr bwMode="auto">
            <a:xfrm>
              <a:off x="1636713" y="518953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physical</a:t>
              </a:r>
            </a:p>
          </p:txBody>
        </p:sp>
        <p:sp>
          <p:nvSpPr>
            <p:cNvPr id="204824" name="Text Box 26"/>
            <p:cNvSpPr txBox="1">
              <a:spLocks noChangeArrowheads="1"/>
            </p:cNvSpPr>
            <p:nvPr/>
          </p:nvSpPr>
          <p:spPr bwMode="auto">
            <a:xfrm>
              <a:off x="1655763" y="49037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link</a:t>
              </a:r>
            </a:p>
          </p:txBody>
        </p:sp>
        <p:sp>
          <p:nvSpPr>
            <p:cNvPr id="204825" name="Text Box 26"/>
            <p:cNvSpPr txBox="1">
              <a:spLocks noChangeArrowheads="1"/>
            </p:cNvSpPr>
            <p:nvPr/>
          </p:nvSpPr>
          <p:spPr bwMode="auto">
            <a:xfrm>
              <a:off x="1646238" y="46085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network</a:t>
              </a:r>
            </a:p>
          </p:txBody>
        </p:sp>
        <p:sp>
          <p:nvSpPr>
            <p:cNvPr id="204826" name="Oval 62"/>
            <p:cNvSpPr>
              <a:spLocks noChangeArrowheads="1"/>
            </p:cNvSpPr>
            <p:nvPr/>
          </p:nvSpPr>
          <p:spPr bwMode="auto">
            <a:xfrm>
              <a:off x="1814513" y="3806825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1600">
                  <a:solidFill>
                    <a:srgbClr val="000000"/>
                  </a:solidFill>
                </a:rPr>
                <a:t>process</a:t>
              </a:r>
            </a:p>
          </p:txBody>
        </p:sp>
        <p:grpSp>
          <p:nvGrpSpPr>
            <p:cNvPr id="204827" name="Group 63"/>
            <p:cNvGrpSpPr>
              <a:grpSpLocks/>
            </p:cNvGrpSpPr>
            <p:nvPr/>
          </p:nvGrpSpPr>
          <p:grpSpPr bwMode="auto">
            <a:xfrm>
              <a:off x="2062163" y="4167188"/>
              <a:ext cx="546100" cy="225425"/>
              <a:chOff x="1287" y="2524"/>
              <a:chExt cx="260" cy="100"/>
            </a:xfrm>
          </p:grpSpPr>
          <p:sp>
            <p:nvSpPr>
              <p:cNvPr id="204857" name="Rectangle 64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58" name="Rectangle 65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59" name="Rectangle 66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60" name="Rectangle 67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828" name="Rectangle 23"/>
            <p:cNvSpPr>
              <a:spLocks noChangeArrowheads="1"/>
            </p:cNvSpPr>
            <p:nvPr/>
          </p:nvSpPr>
          <p:spPr bwMode="auto">
            <a:xfrm>
              <a:off x="5380038" y="3459163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829" name="Rectangle 24"/>
            <p:cNvSpPr>
              <a:spLocks noChangeArrowheads="1"/>
            </p:cNvSpPr>
            <p:nvPr/>
          </p:nvSpPr>
          <p:spPr bwMode="auto">
            <a:xfrm>
              <a:off x="5341938" y="3513138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830" name="Line 25"/>
            <p:cNvSpPr>
              <a:spLocks noChangeShapeType="1"/>
            </p:cNvSpPr>
            <p:nvPr/>
          </p:nvSpPr>
          <p:spPr bwMode="auto">
            <a:xfrm>
              <a:off x="5351463" y="427355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31" name="Text Box 26"/>
            <p:cNvSpPr txBox="1">
              <a:spLocks noChangeArrowheads="1"/>
            </p:cNvSpPr>
            <p:nvPr/>
          </p:nvSpPr>
          <p:spPr bwMode="auto">
            <a:xfrm>
              <a:off x="5308600" y="42560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transport</a:t>
              </a:r>
            </a:p>
          </p:txBody>
        </p:sp>
        <p:sp>
          <p:nvSpPr>
            <p:cNvPr id="204832" name="Line 27"/>
            <p:cNvSpPr>
              <a:spLocks noChangeShapeType="1"/>
            </p:cNvSpPr>
            <p:nvPr/>
          </p:nvSpPr>
          <p:spPr bwMode="auto">
            <a:xfrm>
              <a:off x="5359400" y="45942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33" name="Line 28"/>
            <p:cNvSpPr>
              <a:spLocks noChangeShapeType="1"/>
            </p:cNvSpPr>
            <p:nvPr/>
          </p:nvSpPr>
          <p:spPr bwMode="auto">
            <a:xfrm>
              <a:off x="5345113" y="490378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34" name="Line 29"/>
            <p:cNvSpPr>
              <a:spLocks noChangeShapeType="1"/>
            </p:cNvSpPr>
            <p:nvPr/>
          </p:nvSpPr>
          <p:spPr bwMode="auto">
            <a:xfrm>
              <a:off x="5345113" y="518953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35" name="Text Box 26"/>
            <p:cNvSpPr txBox="1">
              <a:spLocks noChangeArrowheads="1"/>
            </p:cNvSpPr>
            <p:nvPr/>
          </p:nvSpPr>
          <p:spPr bwMode="auto">
            <a:xfrm>
              <a:off x="5343525" y="35036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000000"/>
                  </a:solidFill>
                  <a:latin typeface="Tahoma" pitchFamily="34" charset="0"/>
                </a:rPr>
                <a:t>application</a:t>
              </a:r>
            </a:p>
          </p:txBody>
        </p:sp>
        <p:sp>
          <p:nvSpPr>
            <p:cNvPr id="204836" name="Text Box 26"/>
            <p:cNvSpPr txBox="1">
              <a:spLocks noChangeArrowheads="1"/>
            </p:cNvSpPr>
            <p:nvPr/>
          </p:nvSpPr>
          <p:spPr bwMode="auto">
            <a:xfrm>
              <a:off x="5299075" y="516096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physical</a:t>
              </a:r>
            </a:p>
          </p:txBody>
        </p:sp>
        <p:sp>
          <p:nvSpPr>
            <p:cNvPr id="204837" name="Text Box 26"/>
            <p:cNvSpPr txBox="1">
              <a:spLocks noChangeArrowheads="1"/>
            </p:cNvSpPr>
            <p:nvPr/>
          </p:nvSpPr>
          <p:spPr bwMode="auto">
            <a:xfrm>
              <a:off x="5318125" y="48752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link</a:t>
              </a:r>
            </a:p>
          </p:txBody>
        </p:sp>
        <p:sp>
          <p:nvSpPr>
            <p:cNvPr id="204838" name="Text Box 26"/>
            <p:cNvSpPr txBox="1">
              <a:spLocks noChangeArrowheads="1"/>
            </p:cNvSpPr>
            <p:nvPr/>
          </p:nvSpPr>
          <p:spPr bwMode="auto">
            <a:xfrm>
              <a:off x="5308600" y="457993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400">
                  <a:solidFill>
                    <a:srgbClr val="969696"/>
                  </a:solidFill>
                  <a:latin typeface="Tahoma" pitchFamily="34" charset="0"/>
                </a:rPr>
                <a:t>network</a:t>
              </a:r>
            </a:p>
          </p:txBody>
        </p:sp>
        <p:sp>
          <p:nvSpPr>
            <p:cNvPr id="204839" name="Oval 80"/>
            <p:cNvSpPr>
              <a:spLocks noChangeArrowheads="1"/>
            </p:cNvSpPr>
            <p:nvPr/>
          </p:nvSpPr>
          <p:spPr bwMode="auto">
            <a:xfrm>
              <a:off x="5476875" y="3778250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1600">
                  <a:solidFill>
                    <a:srgbClr val="000000"/>
                  </a:solidFill>
                </a:rPr>
                <a:t>process</a:t>
              </a:r>
            </a:p>
          </p:txBody>
        </p:sp>
        <p:grpSp>
          <p:nvGrpSpPr>
            <p:cNvPr id="204840" name="Group 81"/>
            <p:cNvGrpSpPr>
              <a:grpSpLocks/>
            </p:cNvGrpSpPr>
            <p:nvPr/>
          </p:nvGrpSpPr>
          <p:grpSpPr bwMode="auto">
            <a:xfrm>
              <a:off x="5724525" y="4138613"/>
              <a:ext cx="546100" cy="225425"/>
              <a:chOff x="1287" y="2524"/>
              <a:chExt cx="260" cy="100"/>
            </a:xfrm>
          </p:grpSpPr>
          <p:sp>
            <p:nvSpPr>
              <p:cNvPr id="204853" name="Rectangle 82"/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54" name="Rectangle 83"/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55" name="Rectangle 84"/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56" name="Rectangle 85"/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841" name="Line 87"/>
            <p:cNvSpPr>
              <a:spLocks noChangeShapeType="1"/>
            </p:cNvSpPr>
            <p:nvPr/>
          </p:nvSpPr>
          <p:spPr bwMode="auto">
            <a:xfrm flipH="1">
              <a:off x="6534150" y="3910013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2" name="Line 88"/>
            <p:cNvSpPr>
              <a:spLocks noChangeShapeType="1"/>
            </p:cNvSpPr>
            <p:nvPr/>
          </p:nvSpPr>
          <p:spPr bwMode="auto">
            <a:xfrm>
              <a:off x="6759575" y="4335463"/>
              <a:ext cx="0" cy="10223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3" name="Line 89"/>
            <p:cNvSpPr>
              <a:spLocks noChangeShapeType="1"/>
            </p:cNvSpPr>
            <p:nvPr/>
          </p:nvSpPr>
          <p:spPr bwMode="auto">
            <a:xfrm flipH="1">
              <a:off x="6783388" y="4835525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4" name="Text Box 56"/>
            <p:cNvSpPr txBox="1">
              <a:spLocks noChangeArrowheads="1"/>
            </p:cNvSpPr>
            <p:nvPr/>
          </p:nvSpPr>
          <p:spPr bwMode="auto">
            <a:xfrm>
              <a:off x="3697288" y="3590925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1pPr>
              <a:lvl2pPr>
                <a:defRPr sz="2400">
                  <a:solidFill>
                    <a:schemeClr val="tx1"/>
                  </a:solidFill>
                  <a:latin typeface="Gill Sans MT" pitchFamily="34" charset="0"/>
                  <a:ea typeface="MS PGothic" pitchFamily="34" charset="-128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2000" i="1">
                  <a:solidFill>
                    <a:srgbClr val="CC0000"/>
                  </a:solidFill>
                  <a:latin typeface="Arial" charset="0"/>
                </a:rPr>
                <a:t>socket</a:t>
              </a:r>
            </a:p>
          </p:txBody>
        </p:sp>
        <p:sp>
          <p:nvSpPr>
            <p:cNvPr id="204845" name="Line 91"/>
            <p:cNvSpPr>
              <a:spLocks noChangeShapeType="1"/>
            </p:cNvSpPr>
            <p:nvPr/>
          </p:nvSpPr>
          <p:spPr bwMode="auto">
            <a:xfrm flipV="1">
              <a:off x="2700338" y="3790950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6" name="Line 92"/>
            <p:cNvSpPr>
              <a:spLocks noChangeShapeType="1"/>
            </p:cNvSpPr>
            <p:nvPr/>
          </p:nvSpPr>
          <p:spPr bwMode="auto">
            <a:xfrm flipH="1" flipV="1">
              <a:off x="4635500" y="3779838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4847" name="Group 93"/>
            <p:cNvGrpSpPr>
              <a:grpSpLocks/>
            </p:cNvGrpSpPr>
            <p:nvPr/>
          </p:nvGrpSpPr>
          <p:grpSpPr bwMode="auto">
            <a:xfrm>
              <a:off x="358775" y="4808538"/>
              <a:ext cx="1035050" cy="904875"/>
              <a:chOff x="-44" y="1473"/>
              <a:chExt cx="981" cy="1105"/>
            </a:xfrm>
          </p:grpSpPr>
          <p:pic>
            <p:nvPicPr>
              <p:cNvPr id="204851" name="Picture 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852" name="Freeform 9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04848" name="Group 96"/>
            <p:cNvGrpSpPr>
              <a:grpSpLocks/>
            </p:cNvGrpSpPr>
            <p:nvPr/>
          </p:nvGrpSpPr>
          <p:grpSpPr bwMode="auto">
            <a:xfrm flipH="1">
              <a:off x="7075488" y="5091113"/>
              <a:ext cx="1035050" cy="904875"/>
              <a:chOff x="-44" y="1473"/>
              <a:chExt cx="981" cy="1105"/>
            </a:xfrm>
          </p:grpSpPr>
          <p:pic>
            <p:nvPicPr>
              <p:cNvPr id="204849" name="Picture 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850" name="Freeform 9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pic>
        <p:nvPicPr>
          <p:cNvPr id="204807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t>Application Layer</a:t>
            </a:r>
          </a:p>
        </p:txBody>
      </p:sp>
      <p:sp>
        <p:nvSpPr>
          <p:cNvPr id="205827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Gill Sans MT" pitchFamily="34" charset="0"/>
                <a:ea typeface="MS PGothic" pitchFamily="34" charset="-128"/>
              </a:defRPr>
            </a:lvl2pPr>
            <a:lvl3pPr>
              <a:defRPr sz="2000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2-</a:t>
            </a:r>
            <a:fld id="{04A91E97-8662-46FF-A84C-79D8740FD566}" type="slidenum"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pPr/>
              <a:t>56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582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en-US" sz="4000" smtClean="0"/>
              <a:t>Socket programming </a:t>
            </a:r>
            <a:endParaRPr lang="en-US" altLang="en-US" smtClean="0"/>
          </a:p>
        </p:txBody>
      </p:sp>
      <p:sp>
        <p:nvSpPr>
          <p:cNvPr id="205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125" y="1395413"/>
            <a:ext cx="8021638" cy="1533525"/>
          </a:xfrm>
        </p:spPr>
        <p:txBody>
          <a:bodyPr/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2800" i="1" smtClean="0">
                <a:solidFill>
                  <a:srgbClr val="22228B"/>
                </a:solidFill>
              </a:rPr>
              <a:t>Two socket types for two transport services:</a:t>
            </a:r>
          </a:p>
          <a:p>
            <a:pPr marL="342900" lvl="1" indent="-342900">
              <a:buSzPct val="65000"/>
            </a:pPr>
            <a:r>
              <a:rPr lang="en-US" altLang="en-US" sz="2800" i="1" smtClean="0">
                <a:solidFill>
                  <a:srgbClr val="CC0000"/>
                </a:solidFill>
              </a:rPr>
              <a:t>UDP:</a:t>
            </a:r>
            <a:r>
              <a:rPr lang="en-US" altLang="en-US" sz="2800" smtClean="0">
                <a:solidFill>
                  <a:srgbClr val="000000"/>
                </a:solidFill>
              </a:rPr>
              <a:t> </a:t>
            </a:r>
            <a:r>
              <a:rPr lang="en-US" altLang="en-US" sz="2800" smtClean="0"/>
              <a:t>unreliable datagram</a:t>
            </a:r>
            <a:endParaRPr lang="en-US" altLang="en-US" i="1" smtClean="0">
              <a:solidFill>
                <a:srgbClr val="CC0000"/>
              </a:solidFill>
            </a:endParaRPr>
          </a:p>
          <a:p>
            <a:pPr marL="342900" lvl="1" indent="-342900">
              <a:buSzPct val="65000"/>
            </a:pPr>
            <a:r>
              <a:rPr lang="en-US" altLang="en-US" sz="2800" i="1" smtClean="0">
                <a:solidFill>
                  <a:srgbClr val="CC0000"/>
                </a:solidFill>
              </a:rPr>
              <a:t>TCP:</a:t>
            </a:r>
            <a:r>
              <a:rPr lang="en-US" altLang="en-US" sz="2800" smtClean="0"/>
              <a:t> reliable, byte stream-oriented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pic>
        <p:nvPicPr>
          <p:cNvPr id="205830" name="Picture 1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285750" y="2981325"/>
            <a:ext cx="8021638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  <a:defRPr/>
            </a:pPr>
            <a:r>
              <a:rPr lang="en-US" sz="2800" i="1" kern="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  <a:ea typeface="ＭＳ Ｐゴシック" charset="0"/>
              </a:rPr>
              <a:t>A</a:t>
            </a:r>
            <a:r>
              <a:rPr lang="en-US" sz="2800" i="1" kern="0" dirty="0" err="1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  <a:ea typeface="ＭＳ Ｐゴシック" charset="0"/>
              </a:rPr>
              <a:t>pplication</a:t>
            </a:r>
            <a:r>
              <a:rPr lang="en-US" sz="2800" i="1" kern="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  <a:ea typeface="ＭＳ Ｐゴシック" charset="0"/>
              </a:rPr>
              <a:t> Example: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latin typeface="Gill Sans MT" pitchFamily="34" charset="0"/>
                <a:ea typeface="ＭＳ Ｐゴシック" pitchFamily="34" charset="-128"/>
                <a:cs typeface="ＭＳ Ｐゴシック" charset="0"/>
              </a:rPr>
              <a:t>Client reads a line of characters (data) from its keyboard and sends the data to the server.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latin typeface="Gill Sans MT" pitchFamily="34" charset="0"/>
                <a:ea typeface="ＭＳ Ｐゴシック" pitchFamily="34" charset="-128"/>
                <a:cs typeface="ＭＳ Ｐゴシック" charset="0"/>
              </a:rPr>
              <a:t>The server receives the data and converts characters to uppercase.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latin typeface="Gill Sans MT" pitchFamily="34" charset="0"/>
                <a:ea typeface="ＭＳ Ｐゴシック" pitchFamily="34" charset="-128"/>
                <a:cs typeface="ＭＳ Ｐゴシック" charset="0"/>
              </a:rPr>
              <a:t>The server sends the modified data to the client.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latin typeface="Gill Sans MT" pitchFamily="34" charset="0"/>
                <a:ea typeface="ＭＳ Ｐゴシック" pitchFamily="34" charset="-128"/>
                <a:cs typeface="ＭＳ Ｐゴシック" charset="0"/>
              </a:rPr>
              <a:t>The client receives the modified data and displays the line on its screen.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 cap="flat" cmpd="sng" algn="ctr">
          <a:solidFill>
            <a:srgbClr val="000099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9651</TotalTime>
  <Words>4238</Words>
  <Application>Microsoft Office PowerPoint</Application>
  <PresentationFormat>On-screen Show (4:3)</PresentationFormat>
  <Paragraphs>1044</Paragraphs>
  <Slides>56</Slides>
  <Notes>52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Default Design</vt:lpstr>
      <vt:lpstr>2_Default Design</vt:lpstr>
      <vt:lpstr>12_Default Design</vt:lpstr>
      <vt:lpstr>PowerPoint Presentation</vt:lpstr>
      <vt:lpstr>Chapter 2: outline</vt:lpstr>
      <vt:lpstr>Chapter 2: application layer</vt:lpstr>
      <vt:lpstr>Some network apps</vt:lpstr>
      <vt:lpstr>Creating a network app</vt:lpstr>
      <vt:lpstr>Application architectures</vt:lpstr>
      <vt:lpstr>Client-server architecture</vt:lpstr>
      <vt:lpstr>P2P architecture</vt:lpstr>
      <vt:lpstr>Processes communicating</vt:lpstr>
      <vt:lpstr>Sockets</vt:lpstr>
      <vt:lpstr>Addressing processes</vt:lpstr>
      <vt:lpstr>App-layer protocol defines</vt:lpstr>
      <vt:lpstr>What transport service does an app need?</vt:lpstr>
      <vt:lpstr>Transport service requirements: common apps</vt:lpstr>
      <vt:lpstr>Internet transport protocols services</vt:lpstr>
      <vt:lpstr>Internet apps:  application, transport protocols</vt:lpstr>
      <vt:lpstr>Chapter 2: outline</vt:lpstr>
      <vt:lpstr>Web and HTTP</vt:lpstr>
      <vt:lpstr>HTTP overview</vt:lpstr>
      <vt:lpstr>HTTP overview (continued)</vt:lpstr>
      <vt:lpstr>HTTP connections</vt:lpstr>
      <vt:lpstr>Non-persistent HTTP</vt:lpstr>
      <vt:lpstr>Non-persistent HTTP (cont.)</vt:lpstr>
      <vt:lpstr>Non-persistent HTTP: response time</vt:lpstr>
      <vt:lpstr>Persistent HTTP</vt:lpstr>
      <vt:lpstr>User-server state: cookies</vt:lpstr>
      <vt:lpstr>Cookies: keeping “state” (cont.)</vt:lpstr>
      <vt:lpstr>Cookies (continued)</vt:lpstr>
      <vt:lpstr>Web caches (proxy server)</vt:lpstr>
      <vt:lpstr>More about Web caching</vt:lpstr>
      <vt:lpstr>Chapter 2: outline</vt:lpstr>
      <vt:lpstr>FTP: the file transfer protocol</vt:lpstr>
      <vt:lpstr>FTP: separate control, data connections</vt:lpstr>
      <vt:lpstr>FTP commands, responses</vt:lpstr>
      <vt:lpstr>Chapter 2: outline</vt:lpstr>
      <vt:lpstr>Electronic mail</vt:lpstr>
      <vt:lpstr>Electronic mail: mail servers</vt:lpstr>
      <vt:lpstr>Electronic Mail: SMTP [RFC 2821]</vt:lpstr>
      <vt:lpstr>Scenario: Alice sends message to Bob</vt:lpstr>
      <vt:lpstr>Sample SMTP interaction</vt:lpstr>
      <vt:lpstr>Try SMTP interaction for yourself:</vt:lpstr>
      <vt:lpstr>Mail access protocols</vt:lpstr>
      <vt:lpstr>POP3 protocol</vt:lpstr>
      <vt:lpstr>POP3 (more) and IMAP</vt:lpstr>
      <vt:lpstr>Chapter 2: outline</vt:lpstr>
      <vt:lpstr>DNS: domain name system</vt:lpstr>
      <vt:lpstr>DNS: services, structure </vt:lpstr>
      <vt:lpstr>DNS: a distributed, hierarchical database</vt:lpstr>
      <vt:lpstr>DNS: root name servers</vt:lpstr>
      <vt:lpstr>TLD, authoritative servers</vt:lpstr>
      <vt:lpstr>Local DNS name server</vt:lpstr>
      <vt:lpstr>DNS name  resolution example</vt:lpstr>
      <vt:lpstr>PowerPoint Presentation</vt:lpstr>
      <vt:lpstr>Chapter 2: outline</vt:lpstr>
      <vt:lpstr>Socket programming </vt:lpstr>
      <vt:lpstr>Socket programming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2</dc:title>
  <dc:creator>Jim Kurose and Keith Ross</dc:creator>
  <cp:lastModifiedBy>Dr. Al-Sakib Khan Pathan</cp:lastModifiedBy>
  <cp:revision>312</cp:revision>
  <cp:lastPrinted>2011-09-19T12:20:55Z</cp:lastPrinted>
  <dcterms:created xsi:type="dcterms:W3CDTF">1999-10-08T19:08:27Z</dcterms:created>
  <dcterms:modified xsi:type="dcterms:W3CDTF">2024-11-13T03:50:06Z</dcterms:modified>
</cp:coreProperties>
</file>