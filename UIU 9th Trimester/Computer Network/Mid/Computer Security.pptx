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533" r:id="rId2"/>
    <p:sldId id="704" r:id="rId3"/>
    <p:sldId id="705" r:id="rId4"/>
    <p:sldId id="706" r:id="rId5"/>
    <p:sldId id="707" r:id="rId6"/>
    <p:sldId id="708" r:id="rId7"/>
    <p:sldId id="709" r:id="rId8"/>
    <p:sldId id="726" r:id="rId9"/>
    <p:sldId id="727" r:id="rId10"/>
    <p:sldId id="728" r:id="rId11"/>
    <p:sldId id="72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96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3C6CDF"/>
    <a:srgbClr val="9CDFF9"/>
    <a:srgbClr val="B8C2C9"/>
    <a:srgbClr val="D6DCE0"/>
    <a:srgbClr val="0000A3"/>
    <a:srgbClr val="010086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93"/>
    <p:restoredTop sz="86643" autoAdjust="0"/>
  </p:normalViewPr>
  <p:slideViewPr>
    <p:cSldViewPr snapToGrid="0" snapToObjects="1">
      <p:cViewPr>
        <p:scale>
          <a:sx n="69" d="100"/>
          <a:sy n="69" d="100"/>
        </p:scale>
        <p:origin x="-348" y="-72"/>
      </p:cViewPr>
      <p:guideLst>
        <p:guide orient="horz" pos="96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279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003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336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772C0FF3-FFF3-A2A6-F2F4-1C471A13CF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376577-4478-4A2D-89E4-792D5392C784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446914" name="Rectangle 2">
            <a:extLst>
              <a:ext uri="{FF2B5EF4-FFF2-40B4-BE49-F238E27FC236}">
                <a16:creationId xmlns="" xmlns:a16="http://schemas.microsoft.com/office/drawing/2014/main" id="{7CF33279-4FC1-C831-606C-CC467B9F4C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6915" name="Rectangle 3">
            <a:extLst>
              <a:ext uri="{FF2B5EF4-FFF2-40B4-BE49-F238E27FC236}">
                <a16:creationId xmlns="" xmlns:a16="http://schemas.microsoft.com/office/drawing/2014/main" id="{E7848726-F26F-41E8-5FEF-CF1EB2571A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3418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029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934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65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6163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627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718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4127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=""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=""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=""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=""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=""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eg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50" y="1076211"/>
            <a:ext cx="7886700" cy="670967"/>
          </a:xfrm>
        </p:spPr>
        <p:txBody>
          <a:bodyPr>
            <a:normAutofit/>
          </a:bodyPr>
          <a:lstStyle/>
          <a:p>
            <a:r>
              <a:rPr lang="en-US" altLang="en-US" sz="3300" dirty="0">
                <a:ea typeface="ＭＳ Ｐゴシック" panose="020B0600070205080204" pitchFamily="34" charset="-128"/>
              </a:rPr>
              <a:t>Network security</a:t>
            </a:r>
            <a:endParaRPr lang="en-US" sz="3300" dirty="0"/>
          </a:p>
        </p:txBody>
      </p:sp>
      <p:sp>
        <p:nvSpPr>
          <p:cNvPr id="17" name="Rectangle 5">
            <a:extLst>
              <a:ext uri="{FF2B5EF4-FFF2-40B4-BE49-F238E27FC236}">
                <a16:creationId xmlns=""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2259136" y="1997539"/>
            <a:ext cx="7757123" cy="369202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Internet not originally designed with (much) security in mind</a:t>
            </a:r>
          </a:p>
          <a:p>
            <a:pPr marL="511969" lvl="1" indent="-169069"/>
            <a:r>
              <a:rPr lang="en-US" altLang="en-US" sz="2100" i="1" dirty="0">
                <a:ea typeface="Arial" panose="020B0604020202020204" pitchFamily="34" charset="0"/>
              </a:rPr>
              <a:t>original vision:</a:t>
            </a:r>
            <a:r>
              <a:rPr lang="en-US" altLang="en-US" sz="2100" dirty="0">
                <a:ea typeface="Arial" panose="020B0604020202020204" pitchFamily="34" charset="0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“</a:t>
            </a:r>
            <a:r>
              <a:rPr lang="en-US" altLang="ja-JP" sz="2100" dirty="0">
                <a:ea typeface="ＭＳ Ｐゴシック" panose="020B0600070205080204" pitchFamily="34" charset="-128"/>
              </a:rPr>
              <a:t>a group of mutually trusting users attached to a transparent network” </a:t>
            </a:r>
            <a:r>
              <a:rPr lang="en-US" altLang="ja-JP" sz="2100" dirty="0">
                <a:ea typeface="ＭＳ Ｐゴシック" panose="020B0600070205080204" pitchFamily="34" charset="-128"/>
                <a:sym typeface="Wingdings" pitchFamily="2" charset="2"/>
              </a:rPr>
              <a:t></a:t>
            </a:r>
            <a:endParaRPr lang="en-US" altLang="ja-JP" sz="2100" dirty="0">
              <a:ea typeface="ＭＳ Ｐゴシック" panose="020B0600070205080204" pitchFamily="34" charset="-128"/>
            </a:endParaRPr>
          </a:p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Internet protocol designers playing </a:t>
            </a:r>
            <a:r>
              <a:rPr lang="en-US" altLang="en-US" sz="2100" dirty="0">
                <a:ea typeface="ＭＳ Ｐゴシック" panose="020B0600070205080204" pitchFamily="34" charset="-128"/>
              </a:rPr>
              <a:t>“</a:t>
            </a:r>
            <a:r>
              <a:rPr lang="en-US" altLang="ja-JP" sz="2100" dirty="0">
                <a:ea typeface="ＭＳ Ｐゴシック" panose="020B0600070205080204" pitchFamily="34" charset="-128"/>
              </a:rPr>
              <a:t>catch-up”</a:t>
            </a:r>
          </a:p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security considerations in all layers!</a:t>
            </a:r>
          </a:p>
          <a:p>
            <a:pPr marL="215504" indent="-215504"/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We now need to think about:</a:t>
            </a:r>
          </a:p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how bad guys can attack computer networks</a:t>
            </a:r>
          </a:p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how we can defend networks against attacks</a:t>
            </a:r>
          </a:p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how to design architectures that are immune to attacks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="" xmlns:a16="http://schemas.microsoft.com/office/drawing/2014/main" id="{09B4D160-850D-7046-9248-6D0533F708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38712" y="5689567"/>
            <a:ext cx="20574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5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609601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What is network security?</a:t>
            </a:r>
            <a:endParaRPr lang="en-US" sz="3300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="" xmlns:a16="http://schemas.microsoft.com/office/drawing/2014/main" id="{009DA679-1707-7346-B163-C91B0D75381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38712" y="5689567"/>
            <a:ext cx="20574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="" xmlns:a16="http://schemas.microsoft.com/office/drawing/2014/main" id="{E708D807-71AD-3B4B-9781-46E36F32C0D1}"/>
              </a:ext>
            </a:extLst>
          </p:cNvPr>
          <p:cNvSpPr txBox="1">
            <a:spLocks noChangeArrowheads="1"/>
          </p:cNvSpPr>
          <p:nvPr/>
        </p:nvSpPr>
        <p:spPr>
          <a:xfrm>
            <a:off x="2100135" y="1857375"/>
            <a:ext cx="7921823" cy="372903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</a:rPr>
              <a:t>confidentiality: </a:t>
            </a:r>
            <a:r>
              <a:rPr lang="en-US" sz="2100" dirty="0"/>
              <a:t>only sender, intended receiver should “</a:t>
            </a:r>
            <a:r>
              <a:rPr lang="en-US" altLang="ja-JP" sz="2100" dirty="0"/>
              <a:t>understand” message contents</a:t>
            </a:r>
          </a:p>
          <a:p>
            <a:pPr lvl="1"/>
            <a:r>
              <a:rPr lang="en-US" sz="2100" dirty="0"/>
              <a:t>sender encrypts message</a:t>
            </a:r>
          </a:p>
          <a:p>
            <a:pPr lvl="1"/>
            <a:r>
              <a:rPr lang="en-US" sz="2100" dirty="0"/>
              <a:t>receiver decrypts message</a:t>
            </a:r>
          </a:p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</a:rPr>
              <a:t>authentication: </a:t>
            </a:r>
            <a:r>
              <a:rPr lang="en-US" sz="2100" dirty="0"/>
              <a:t>sender, receiver want to confirm identity of each other </a:t>
            </a:r>
          </a:p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</a:rPr>
              <a:t>message integrity: </a:t>
            </a:r>
            <a:r>
              <a:rPr lang="en-US" sz="2100" dirty="0"/>
              <a:t>sender, receiver want to ensure message not altered (in transit, or afterwards) without detection</a:t>
            </a:r>
          </a:p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C00000"/>
                </a:solidFill>
              </a:rPr>
              <a:t>access and availability</a:t>
            </a:r>
            <a:r>
              <a:rPr lang="en-US" sz="2100" dirty="0">
                <a:solidFill>
                  <a:srgbClr val="C00000"/>
                </a:solidFill>
              </a:rPr>
              <a:t>: </a:t>
            </a:r>
            <a:r>
              <a:rPr lang="en-US" sz="2100" dirty="0"/>
              <a:t>services must be accessible and available to users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2705" y="3290500"/>
            <a:ext cx="22313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7981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495550" y="904059"/>
            <a:ext cx="7200900" cy="856789"/>
          </a:xfrm>
        </p:spPr>
        <p:txBody>
          <a:bodyPr>
            <a:normAutofit/>
          </a:bodyPr>
          <a:lstStyle/>
          <a:p>
            <a:pPr algn="ctr"/>
            <a:r>
              <a:rPr lang="en-US" altLang="en-US" sz="27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Security Goals</a:t>
            </a:r>
            <a:endParaRPr lang="en-US" altLang="en-US" sz="2700" dirty="0">
              <a:cs typeface="Times New Roman" panose="02020603050405020304" pitchFamily="18" charset="0"/>
            </a:endParaRPr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4953000" y="1954918"/>
            <a:ext cx="2457450" cy="222885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3" name="Oval 7"/>
          <p:cNvSpPr>
            <a:spLocks noChangeArrowheads="1"/>
          </p:cNvSpPr>
          <p:nvPr/>
        </p:nvSpPr>
        <p:spPr bwMode="auto">
          <a:xfrm>
            <a:off x="3867150" y="2983618"/>
            <a:ext cx="2457450" cy="2228850"/>
          </a:xfrm>
          <a:prstGeom prst="ellipse">
            <a:avLst/>
          </a:prstGeom>
          <a:solidFill>
            <a:srgbClr val="FF000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4" name="Oval 8"/>
          <p:cNvSpPr>
            <a:spLocks noChangeArrowheads="1"/>
          </p:cNvSpPr>
          <p:nvPr/>
        </p:nvSpPr>
        <p:spPr bwMode="auto">
          <a:xfrm>
            <a:off x="5981700" y="3040768"/>
            <a:ext cx="2457450" cy="2228850"/>
          </a:xfrm>
          <a:prstGeom prst="ellipse">
            <a:avLst/>
          </a:prstGeom>
          <a:solidFill>
            <a:srgbClr val="00FF0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4210050" y="4240918"/>
            <a:ext cx="14859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350" b="1"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endParaRPr lang="en-US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5353050" y="2469268"/>
            <a:ext cx="18288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350" b="1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6724650" y="4355218"/>
            <a:ext cx="15430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350" b="1">
                <a:latin typeface="Times New Roman" panose="02020603050405020304" pitchFamily="18" charset="0"/>
                <a:cs typeface="Times New Roman" panose="02020603050405020304" pitchFamily="18" charset="0"/>
              </a:rPr>
              <a:t>Avalaibility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CEF846-0B6A-41AC-9EC1-97B3EC969A6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03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890" name="Rectangle 2">
            <a:extLst>
              <a:ext uri="{FF2B5EF4-FFF2-40B4-BE49-F238E27FC236}">
                <a16:creationId xmlns="" xmlns:a16="http://schemas.microsoft.com/office/drawing/2014/main" id="{86049318-327F-4E45-5EFD-3F6EF8A30D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667001" y="857252"/>
            <a:ext cx="6404882" cy="840581"/>
          </a:xfrm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altLang="en-US" sz="2700" dirty="0"/>
              <a:t>Basic Components</a:t>
            </a:r>
            <a:r>
              <a:rPr lang="pl-PL" altLang="en-US" sz="2700" dirty="0"/>
              <a:t> of </a:t>
            </a:r>
            <a:r>
              <a:rPr lang="en-US" altLang="en-US" sz="2700" dirty="0"/>
              <a:t>Security</a:t>
            </a:r>
            <a:r>
              <a:rPr lang="pl-PL" altLang="en-US" sz="2700" dirty="0"/>
              <a:t>:</a:t>
            </a:r>
            <a:br>
              <a:rPr lang="pl-PL" altLang="en-US" sz="2700" dirty="0"/>
            </a:br>
            <a:r>
              <a:rPr lang="en-US" altLang="en-US" sz="2700" dirty="0"/>
              <a:t>Confidentiality, Integrity, Availability</a:t>
            </a:r>
            <a:r>
              <a:rPr lang="pl-PL" altLang="en-US" sz="2700" dirty="0"/>
              <a:t> (CIA)</a:t>
            </a:r>
            <a:endParaRPr lang="en-US" altLang="en-US" sz="2700" dirty="0"/>
          </a:p>
        </p:txBody>
      </p:sp>
      <p:sp>
        <p:nvSpPr>
          <p:cNvPr id="1445891" name="Rectangle 3">
            <a:extLst>
              <a:ext uri="{FF2B5EF4-FFF2-40B4-BE49-F238E27FC236}">
                <a16:creationId xmlns="" xmlns:a16="http://schemas.microsoft.com/office/drawing/2014/main" id="{AFD39106-63F9-7938-DD52-9EF48CF603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1" y="1900239"/>
            <a:ext cx="5735241" cy="1584722"/>
          </a:xfrm>
        </p:spPr>
        <p:txBody>
          <a:bodyPr>
            <a:noAutofit/>
          </a:bodyPr>
          <a:lstStyle/>
          <a:p>
            <a:r>
              <a:rPr lang="en-US" altLang="en-US" sz="2000" dirty="0"/>
              <a:t>CIA</a:t>
            </a:r>
          </a:p>
          <a:p>
            <a:pPr lvl="1"/>
            <a:r>
              <a:rPr lang="en-US" altLang="en-US" sz="2000" dirty="0">
                <a:solidFill>
                  <a:srgbClr val="0000FF"/>
                </a:solidFill>
              </a:rPr>
              <a:t>Confidentiality</a:t>
            </a:r>
            <a:r>
              <a:rPr lang="en-US" altLang="en-US" sz="2000" dirty="0"/>
              <a:t>: </a:t>
            </a:r>
            <a:r>
              <a:rPr lang="en-AU" altLang="en-US" sz="2000" dirty="0"/>
              <a:t>protection of data from unauthorized disclosure</a:t>
            </a:r>
            <a:endParaRPr lang="en-US" altLang="en-US" sz="2000" dirty="0"/>
          </a:p>
          <a:p>
            <a:pPr lvl="1"/>
            <a:r>
              <a:rPr lang="en-US" altLang="en-US" sz="2000" dirty="0">
                <a:solidFill>
                  <a:srgbClr val="0000FF"/>
                </a:solidFill>
              </a:rPr>
              <a:t>Integrity</a:t>
            </a:r>
            <a:r>
              <a:rPr lang="en-US" altLang="en-US" sz="2000" dirty="0"/>
              <a:t>: </a:t>
            </a:r>
            <a:r>
              <a:rPr lang="en-AU" altLang="en-US" sz="2000" dirty="0"/>
              <a:t>assurance that data received is as sent by an authorized entity</a:t>
            </a:r>
            <a:endParaRPr lang="en-US" altLang="en-US" sz="2000" dirty="0"/>
          </a:p>
          <a:p>
            <a:pPr lvl="1"/>
            <a:r>
              <a:rPr lang="en-US" altLang="en-US" sz="2000" dirty="0">
                <a:solidFill>
                  <a:srgbClr val="0000FF"/>
                </a:solidFill>
              </a:rPr>
              <a:t>Availability</a:t>
            </a:r>
            <a:r>
              <a:rPr lang="en-US" altLang="en-US" sz="2000" dirty="0"/>
              <a:t>: </a:t>
            </a:r>
            <a:r>
              <a:rPr lang="pl-PL" altLang="en-US" sz="2000" dirty="0"/>
              <a:t>Can access data</a:t>
            </a:r>
            <a:r>
              <a:rPr lang="en-US" altLang="en-US" sz="2000" dirty="0"/>
              <a:t> </a:t>
            </a:r>
            <a:r>
              <a:rPr lang="pl-PL" altLang="en-US" sz="2000" dirty="0"/>
              <a:t>whenever need it	</a:t>
            </a:r>
            <a:endParaRPr lang="en-US" altLang="en-US" sz="2000" dirty="0"/>
          </a:p>
        </p:txBody>
      </p:sp>
      <p:sp>
        <p:nvSpPr>
          <p:cNvPr id="1445893" name="Oval 5">
            <a:extLst>
              <a:ext uri="{FF2B5EF4-FFF2-40B4-BE49-F238E27FC236}">
                <a16:creationId xmlns="" xmlns:a16="http://schemas.microsoft.com/office/drawing/2014/main" id="{757BEDA1-FDB2-EAFD-7844-78BC143F5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3561" y="1983584"/>
            <a:ext cx="1010840" cy="973931"/>
          </a:xfrm>
          <a:prstGeom prst="ellips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350"/>
          </a:p>
        </p:txBody>
      </p:sp>
      <p:sp>
        <p:nvSpPr>
          <p:cNvPr id="1445894" name="Oval 6">
            <a:extLst>
              <a:ext uri="{FF2B5EF4-FFF2-40B4-BE49-F238E27FC236}">
                <a16:creationId xmlns="" xmlns:a16="http://schemas.microsoft.com/office/drawing/2014/main" id="{733B0598-AB8A-D852-609D-77A4A451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4586" y="1957390"/>
            <a:ext cx="1010840" cy="973931"/>
          </a:xfrm>
          <a:prstGeom prst="ellips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350"/>
          </a:p>
        </p:txBody>
      </p:sp>
      <p:sp>
        <p:nvSpPr>
          <p:cNvPr id="1445895" name="Oval 7">
            <a:extLst>
              <a:ext uri="{FF2B5EF4-FFF2-40B4-BE49-F238E27FC236}">
                <a16:creationId xmlns="" xmlns:a16="http://schemas.microsoft.com/office/drawing/2014/main" id="{7EB5A919-A4E8-AF11-222F-A26DD0F9A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5036" y="2446737"/>
            <a:ext cx="1010840" cy="973931"/>
          </a:xfrm>
          <a:prstGeom prst="ellips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350"/>
          </a:p>
        </p:txBody>
      </p:sp>
      <p:sp>
        <p:nvSpPr>
          <p:cNvPr id="1445896" name="Rectangle 8">
            <a:extLst>
              <a:ext uri="{FF2B5EF4-FFF2-40B4-BE49-F238E27FC236}">
                <a16:creationId xmlns="" xmlns:a16="http://schemas.microsoft.com/office/drawing/2014/main" id="{60FDFF5E-9CF0-AD17-44DC-AB09C9BC2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6448" y="2293145"/>
            <a:ext cx="241697" cy="243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en-US" sz="1350" b="1">
                <a:solidFill>
                  <a:srgbClr val="0000FF"/>
                </a:solidFill>
              </a:rPr>
              <a:t>C</a:t>
            </a:r>
          </a:p>
        </p:txBody>
      </p:sp>
      <p:sp>
        <p:nvSpPr>
          <p:cNvPr id="1445897" name="Rectangle 9">
            <a:extLst>
              <a:ext uri="{FF2B5EF4-FFF2-40B4-BE49-F238E27FC236}">
                <a16:creationId xmlns="" xmlns:a16="http://schemas.microsoft.com/office/drawing/2014/main" id="{4BB0382D-2CA4-3F49-5D7C-1E1FE49B5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4091" y="2264570"/>
            <a:ext cx="183545" cy="243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en-US" sz="1350" b="1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1445898" name="Rectangle 10">
            <a:extLst>
              <a:ext uri="{FF2B5EF4-FFF2-40B4-BE49-F238E27FC236}">
                <a16:creationId xmlns="" xmlns:a16="http://schemas.microsoft.com/office/drawing/2014/main" id="{F8DFCCCF-D48D-3999-E9BC-B22606FB7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3181" y="3022999"/>
            <a:ext cx="241253" cy="243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350" b="1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1445899" name="Text Box 11">
            <a:extLst>
              <a:ext uri="{FF2B5EF4-FFF2-40B4-BE49-F238E27FC236}">
                <a16:creationId xmlns="" xmlns:a16="http://schemas.microsoft.com/office/drawing/2014/main" id="{4F8B32DC-F09A-88CB-07F4-C7B33CCFB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8170" y="2471740"/>
            <a:ext cx="252413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pl-PL" altLang="en-US" sz="1500" b="1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endParaRPr lang="en-US" altLang="en-US" sz="15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45900" name="Text Box 12">
            <a:extLst>
              <a:ext uri="{FF2B5EF4-FFF2-40B4-BE49-F238E27FC236}">
                <a16:creationId xmlns="" xmlns:a16="http://schemas.microsoft.com/office/drawing/2014/main" id="{AF7622ED-22C9-AB60-BE74-6ABB7F32F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0" y="3469482"/>
            <a:ext cx="14287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pl-PL" altLang="en-US" sz="1350" b="1">
                <a:solidFill>
                  <a:srgbClr val="FF0000"/>
                </a:solidFill>
              </a:rPr>
              <a:t>S</a:t>
            </a:r>
            <a:r>
              <a:rPr lang="pl-PL" altLang="en-US" sz="1350">
                <a:solidFill>
                  <a:srgbClr val="080808"/>
                </a:solidFill>
              </a:rPr>
              <a:t> = Secure</a:t>
            </a:r>
            <a:endParaRPr lang="en-US" altLang="en-US" sz="1350">
              <a:solidFill>
                <a:srgbClr val="080808"/>
              </a:solidFill>
            </a:endParaRPr>
          </a:p>
        </p:txBody>
      </p:sp>
      <p:sp>
        <p:nvSpPr>
          <p:cNvPr id="1445902" name="Rectangle 14">
            <a:extLst>
              <a:ext uri="{FF2B5EF4-FFF2-40B4-BE49-F238E27FC236}">
                <a16:creationId xmlns="" xmlns:a16="http://schemas.microsoft.com/office/drawing/2014/main" id="{4F599EB7-8631-693D-B06F-E5E328F8B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572001"/>
            <a:ext cx="7315200" cy="1567543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marL="171450" indent="-17145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CIA or CIAAAN… </a:t>
            </a:r>
            <a:r>
              <a:rPr lang="en-US" altLang="en-US" dirty="0">
                <a:sym typeface="Wingdings" panose="05000000000000000000" pitchFamily="2" charset="2"/>
              </a:rPr>
              <a:t></a:t>
            </a:r>
            <a:endParaRPr lang="en-US" altLang="en-US" dirty="0"/>
          </a:p>
          <a:p>
            <a:pPr marL="514350" lvl="1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Authentication (</a:t>
            </a:r>
            <a:r>
              <a:rPr lang="en-GB" dirty="0"/>
              <a:t>verifies the identity of a user or service</a:t>
            </a:r>
            <a:r>
              <a:rPr lang="en-US" altLang="en-US" dirty="0"/>
              <a:t>)</a:t>
            </a:r>
          </a:p>
          <a:p>
            <a:pPr marL="514350" lvl="1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Authorization (</a:t>
            </a:r>
            <a:r>
              <a:rPr lang="en-GB" dirty="0"/>
              <a:t>determines their access rights</a:t>
            </a:r>
            <a:r>
              <a:rPr lang="en-US" altLang="en-US" dirty="0"/>
              <a:t>)</a:t>
            </a:r>
          </a:p>
          <a:p>
            <a:pPr marL="514350" lvl="1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Non-repudiation (</a:t>
            </a:r>
            <a:r>
              <a:rPr lang="en-AU" altLang="en-US" dirty="0"/>
              <a:t>protection against denial by one of the parties in a communication</a:t>
            </a:r>
            <a:r>
              <a:rPr lang="en-US" altLang="en-US" dirty="0"/>
              <a:t>)</a:t>
            </a:r>
          </a:p>
          <a:p>
            <a:pPr marL="514350" lvl="1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…</a:t>
            </a:r>
          </a:p>
          <a:p>
            <a:pPr lvl="1">
              <a:lnSpc>
                <a:spcPct val="90000"/>
              </a:lnSpc>
              <a:spcBef>
                <a:spcPts val="375"/>
              </a:spcBef>
            </a:pPr>
            <a:endParaRPr lang="en-US" altLang="en-US" dirty="0">
              <a:solidFill>
                <a:srgbClr val="0000FF"/>
              </a:solidFill>
            </a:endParaRPr>
          </a:p>
          <a:p>
            <a:pPr marL="514350" lvl="1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82BCD69D-CE14-BFA8-D2B1-59FB96079F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0412E9-256A-401F-89A5-3F78F58B3333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968035D0-B4CC-A9B8-6FE4-8963AC30D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CEF846-0B6A-41AC-9EC1-97B3EC969A6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56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590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672E102F-B559-D74C-B1F7-42B1D4330A9B}"/>
              </a:ext>
            </a:extLst>
          </p:cNvPr>
          <p:cNvGrpSpPr/>
          <p:nvPr/>
        </p:nvGrpSpPr>
        <p:grpSpPr>
          <a:xfrm>
            <a:off x="4759428" y="4243564"/>
            <a:ext cx="1432437" cy="230006"/>
            <a:chOff x="1616358" y="2551230"/>
            <a:chExt cx="2141698" cy="218510"/>
          </a:xfrm>
        </p:grpSpPr>
        <p:sp>
          <p:nvSpPr>
            <p:cNvPr id="34" name="Rectangle 33">
              <a:extLst>
                <a:ext uri="{FF2B5EF4-FFF2-40B4-BE49-F238E27FC236}">
                  <a16:creationId xmlns="" xmlns:a16="http://schemas.microsoft.com/office/drawing/2014/main" id="{4F546669-9553-174C-8C04-88D4B8B5E631}"/>
                </a:ext>
              </a:extLst>
            </p:cNvPr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100000">
                  <a:srgbClr val="011199"/>
                </a:gs>
                <a:gs pos="52000">
                  <a:srgbClr val="7ACCF4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50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="" xmlns:a16="http://schemas.microsoft.com/office/drawing/2014/main" id="{D87D9967-A24E-F544-9A59-FD2A48433B92}"/>
                </a:ext>
              </a:extLst>
            </p:cNvPr>
            <p:cNvSpPr/>
            <p:nvPr/>
          </p:nvSpPr>
          <p:spPr>
            <a:xfrm>
              <a:off x="1616358" y="2551231"/>
              <a:ext cx="114299" cy="216734"/>
            </a:xfrm>
            <a:prstGeom prst="ellipse">
              <a:avLst/>
            </a:prstGeom>
            <a:solidFill>
              <a:srgbClr val="7ACCF4"/>
            </a:solidFill>
            <a:ln w="6350">
              <a:solidFill>
                <a:srgbClr val="0111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500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="" xmlns:a16="http://schemas.microsoft.com/office/drawing/2014/main" id="{5E93D35B-8FAD-964F-98EB-85771990F25E}"/>
                </a:ext>
              </a:extLst>
            </p:cNvPr>
            <p:cNvSpPr/>
            <p:nvPr/>
          </p:nvSpPr>
          <p:spPr>
            <a:xfrm>
              <a:off x="3643756" y="2551230"/>
              <a:ext cx="114300" cy="218510"/>
            </a:xfrm>
            <a:prstGeom prst="ellipse">
              <a:avLst/>
            </a:prstGeom>
            <a:gradFill flip="none" rotWithShape="1">
              <a:gsLst>
                <a:gs pos="0">
                  <a:srgbClr val="011199"/>
                </a:gs>
                <a:gs pos="100000">
                  <a:srgbClr val="011199"/>
                </a:gs>
                <a:gs pos="50000">
                  <a:srgbClr val="7ACCF4"/>
                </a:gs>
              </a:gsLst>
              <a:lin ang="16200000" scaled="0"/>
              <a:tileRect/>
            </a:gradFill>
            <a:ln w="6350">
              <a:solidFill>
                <a:srgbClr val="0111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5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="" xmlns:a16="http://schemas.microsoft.com/office/drawing/2014/main" id="{5FC56D7B-912D-134F-A0C1-5929F034B9E3}"/>
                </a:ext>
              </a:extLst>
            </p:cNvPr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100000">
                  <a:srgbClr val="011199"/>
                </a:gs>
                <a:gs pos="52000">
                  <a:srgbClr val="7ACCF4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5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609601"/>
            <a:ext cx="8333318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Friends and enemies: Alice, Bob, Trudy</a:t>
            </a:r>
            <a:endParaRPr lang="en-US" sz="3300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="" xmlns:a16="http://schemas.microsoft.com/office/drawing/2014/main" id="{009DA679-1707-7346-B163-C91B0D75381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38712" y="5689567"/>
            <a:ext cx="20574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8981E4A1-C985-AA48-ACBA-A6F1FCF9CA4B}"/>
              </a:ext>
            </a:extLst>
          </p:cNvPr>
          <p:cNvSpPr txBox="1">
            <a:spLocks noChangeArrowheads="1"/>
          </p:cNvSpPr>
          <p:nvPr/>
        </p:nvSpPr>
        <p:spPr>
          <a:xfrm>
            <a:off x="2266950" y="1863589"/>
            <a:ext cx="6106716" cy="1213247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15504"/>
            <a:r>
              <a:rPr lang="en-US" sz="2100" dirty="0"/>
              <a:t>well-known in network security world</a:t>
            </a:r>
          </a:p>
          <a:p>
            <a:pPr indent="-215504"/>
            <a:r>
              <a:rPr lang="en-US" sz="2100" dirty="0"/>
              <a:t>Bob, Alice (lovers!) want to communicate “</a:t>
            </a:r>
            <a:r>
              <a:rPr lang="en-US" altLang="ja-JP" sz="2100" dirty="0"/>
              <a:t>securely”</a:t>
            </a:r>
          </a:p>
          <a:p>
            <a:pPr indent="-215504"/>
            <a:r>
              <a:rPr lang="en-US" sz="2100" dirty="0"/>
              <a:t>Trudy (intruder) may intercept, delete, add messages</a:t>
            </a:r>
          </a:p>
        </p:txBody>
      </p:sp>
      <p:pic>
        <p:nvPicPr>
          <p:cNvPr id="7" name="Picture 6" descr="Alice">
            <a:extLst>
              <a:ext uri="{FF2B5EF4-FFF2-40B4-BE49-F238E27FC236}">
                <a16:creationId xmlns="" xmlns:a16="http://schemas.microsoft.com/office/drawing/2014/main" id="{D41C01D5-C522-4441-86E3-6D530C05B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420" y="3423048"/>
            <a:ext cx="523875" cy="646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Bob">
            <a:extLst>
              <a:ext uri="{FF2B5EF4-FFF2-40B4-BE49-F238E27FC236}">
                <a16:creationId xmlns="" xmlns:a16="http://schemas.microsoft.com/office/drawing/2014/main" id="{27314ED6-3AD0-5E4A-B3AB-B14814BF0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326" y="3458767"/>
            <a:ext cx="609600" cy="622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 descr="Eve">
            <a:extLst>
              <a:ext uri="{FF2B5EF4-FFF2-40B4-BE49-F238E27FC236}">
                <a16:creationId xmlns="" xmlns:a16="http://schemas.microsoft.com/office/drawing/2014/main" id="{C36C7116-CBC3-4246-B029-205ED76E3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27323" y="4898231"/>
            <a:ext cx="812006" cy="971550"/>
          </a:xfrm>
          <a:prstGeom prst="rect">
            <a:avLst/>
          </a:prstGeom>
          <a:noFill/>
        </p:spPr>
      </p:pic>
      <p:sp>
        <p:nvSpPr>
          <p:cNvPr id="10" name="Rectangle 11">
            <a:extLst>
              <a:ext uri="{FF2B5EF4-FFF2-40B4-BE49-F238E27FC236}">
                <a16:creationId xmlns="" xmlns:a16="http://schemas.microsoft.com/office/drawing/2014/main" id="{A92F29AA-F23F-2547-B160-DA6CE2711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720" y="4049317"/>
            <a:ext cx="970360" cy="602456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1500" dirty="0">
              <a:cs typeface="Arial" charset="0"/>
            </a:endParaRPr>
          </a:p>
        </p:txBody>
      </p:sp>
      <p:sp>
        <p:nvSpPr>
          <p:cNvPr id="12" name="Text Box 12">
            <a:extLst>
              <a:ext uri="{FF2B5EF4-FFF2-40B4-BE49-F238E27FC236}">
                <a16:creationId xmlns="" xmlns:a16="http://schemas.microsoft.com/office/drawing/2014/main" id="{B6E3E372-2ADE-2A43-9779-A64AB5BA3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5385" y="4042121"/>
            <a:ext cx="82907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+mn-lt"/>
                <a:cs typeface="Arial" charset="0"/>
              </a:rPr>
              <a:t>secure</a:t>
            </a:r>
          </a:p>
          <a:p>
            <a:r>
              <a:rPr lang="en-US" sz="1800" dirty="0">
                <a:solidFill>
                  <a:schemeClr val="bg1"/>
                </a:solidFill>
                <a:latin typeface="+mn-lt"/>
                <a:cs typeface="Arial" charset="0"/>
              </a:rPr>
              <a:t>sender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5A317176-141A-5F47-AE82-67DD4D8411A3}"/>
              </a:ext>
            </a:extLst>
          </p:cNvPr>
          <p:cNvGrpSpPr/>
          <p:nvPr/>
        </p:nvGrpSpPr>
        <p:grpSpPr>
          <a:xfrm>
            <a:off x="6365967" y="4061585"/>
            <a:ext cx="1006319" cy="646331"/>
            <a:chOff x="7224576" y="4365211"/>
            <a:chExt cx="1341758" cy="861774"/>
          </a:xfrm>
        </p:grpSpPr>
        <p:sp>
          <p:nvSpPr>
            <p:cNvPr id="13" name="Rectangle 13">
              <a:extLst>
                <a:ext uri="{FF2B5EF4-FFF2-40B4-BE49-F238E27FC236}">
                  <a16:creationId xmlns="" xmlns:a16="http://schemas.microsoft.com/office/drawing/2014/main" id="{5386017F-3A55-9C49-945C-0928FAEDA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4576" y="4401310"/>
              <a:ext cx="1293812" cy="8032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US" sz="1500" dirty="0">
                <a:cs typeface="Arial" charset="0"/>
              </a:endParaRPr>
            </a:p>
          </p:txBody>
        </p:sp>
        <p:sp>
          <p:nvSpPr>
            <p:cNvPr id="14" name="Text Box 14">
              <a:extLst>
                <a:ext uri="{FF2B5EF4-FFF2-40B4-BE49-F238E27FC236}">
                  <a16:creationId xmlns="" xmlns:a16="http://schemas.microsoft.com/office/drawing/2014/main" id="{1F0FE550-BD73-1149-8513-63C825B3B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1887" y="4365211"/>
              <a:ext cx="1254447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chemeClr val="bg1"/>
                  </a:solidFill>
                  <a:latin typeface="+mn-lt"/>
                  <a:cs typeface="Arial" charset="0"/>
                </a:rPr>
                <a:t>secure</a:t>
              </a:r>
            </a:p>
            <a:p>
              <a:r>
                <a:rPr lang="en-US" sz="1800" dirty="0">
                  <a:solidFill>
                    <a:schemeClr val="bg1"/>
                  </a:solidFill>
                  <a:latin typeface="+mn-lt"/>
                  <a:cs typeface="Arial" charset="0"/>
                </a:rPr>
                <a:t>receiver</a:t>
              </a:r>
            </a:p>
          </p:txBody>
        </p:sp>
      </p:grpSp>
      <p:sp>
        <p:nvSpPr>
          <p:cNvPr id="15" name="Text Box 18">
            <a:extLst>
              <a:ext uri="{FF2B5EF4-FFF2-40B4-BE49-F238E27FC236}">
                <a16:creationId xmlns="" xmlns:a16="http://schemas.microsoft.com/office/drawing/2014/main" id="{2871BD83-FEA5-F04B-9AD0-59A6E9B63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530" y="3490913"/>
            <a:ext cx="9268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+mn-lt"/>
                <a:cs typeface="Arial" charset="0"/>
              </a:rPr>
              <a:t>channel</a:t>
            </a:r>
          </a:p>
        </p:txBody>
      </p:sp>
      <p:sp>
        <p:nvSpPr>
          <p:cNvPr id="16" name="Line 19">
            <a:extLst>
              <a:ext uri="{FF2B5EF4-FFF2-40B4-BE49-F238E27FC236}">
                <a16:creationId xmlns="" xmlns:a16="http://schemas.microsoft.com/office/drawing/2014/main" id="{ED0D5246-4FE6-EB49-A4F4-63EFE600E9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7501" y="3807620"/>
            <a:ext cx="178594" cy="3369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00" dirty="0"/>
          </a:p>
        </p:txBody>
      </p:sp>
      <p:sp>
        <p:nvSpPr>
          <p:cNvPr id="18" name="Line 17">
            <a:extLst>
              <a:ext uri="{FF2B5EF4-FFF2-40B4-BE49-F238E27FC236}">
                <a16:creationId xmlns="" xmlns:a16="http://schemas.microsoft.com/office/drawing/2014/main" id="{FB737BEF-635E-0B4E-9C2B-7E984A418C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52227" y="4357688"/>
            <a:ext cx="1845469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00" dirty="0"/>
          </a:p>
        </p:txBody>
      </p:sp>
      <p:sp>
        <p:nvSpPr>
          <p:cNvPr id="19" name="Text Box 23">
            <a:extLst>
              <a:ext uri="{FF2B5EF4-FFF2-40B4-BE49-F238E27FC236}">
                <a16:creationId xmlns="" xmlns:a16="http://schemas.microsoft.com/office/drawing/2014/main" id="{A088F030-4F36-0E40-BDB5-E25C442EF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1351" y="3458766"/>
            <a:ext cx="141684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500" dirty="0">
                <a:latin typeface="+mn-lt"/>
                <a:cs typeface="Arial" charset="0"/>
              </a:rPr>
              <a:t>data, control messages</a:t>
            </a:r>
          </a:p>
        </p:txBody>
      </p:sp>
      <p:sp>
        <p:nvSpPr>
          <p:cNvPr id="20" name="Line 24">
            <a:extLst>
              <a:ext uri="{FF2B5EF4-FFF2-40B4-BE49-F238E27FC236}">
                <a16:creationId xmlns="" xmlns:a16="http://schemas.microsoft.com/office/drawing/2014/main" id="{CAD963E2-1C4F-3E4B-8B7E-980218B68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5954" y="3921919"/>
            <a:ext cx="167878" cy="3881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00" dirty="0"/>
          </a:p>
        </p:txBody>
      </p:sp>
      <p:sp>
        <p:nvSpPr>
          <p:cNvPr id="21" name="Freeform 25">
            <a:extLst>
              <a:ext uri="{FF2B5EF4-FFF2-40B4-BE49-F238E27FC236}">
                <a16:creationId xmlns="" xmlns:a16="http://schemas.microsoft.com/office/drawing/2014/main" id="{AB38AEF3-BCB8-E74B-A27C-43FD3B8F6715}"/>
              </a:ext>
            </a:extLst>
          </p:cNvPr>
          <p:cNvSpPr>
            <a:spLocks/>
          </p:cNvSpPr>
          <p:nvPr/>
        </p:nvSpPr>
        <p:spPr bwMode="auto">
          <a:xfrm>
            <a:off x="4911794" y="4431698"/>
            <a:ext cx="429816" cy="6858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00" dirty="0"/>
          </a:p>
        </p:txBody>
      </p:sp>
      <p:sp>
        <p:nvSpPr>
          <p:cNvPr id="22" name="Freeform 26">
            <a:extLst>
              <a:ext uri="{FF2B5EF4-FFF2-40B4-BE49-F238E27FC236}">
                <a16:creationId xmlns="" xmlns:a16="http://schemas.microsoft.com/office/drawing/2014/main" id="{7C6916B8-170A-BB43-A2C3-595906F3DF83}"/>
              </a:ext>
            </a:extLst>
          </p:cNvPr>
          <p:cNvSpPr>
            <a:spLocks/>
          </p:cNvSpPr>
          <p:nvPr/>
        </p:nvSpPr>
        <p:spPr bwMode="auto">
          <a:xfrm flipH="1">
            <a:off x="5417812" y="4441568"/>
            <a:ext cx="429815" cy="6858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00" dirty="0"/>
          </a:p>
        </p:txBody>
      </p:sp>
      <p:sp>
        <p:nvSpPr>
          <p:cNvPr id="23" name="Line 27">
            <a:extLst>
              <a:ext uri="{FF2B5EF4-FFF2-40B4-BE49-F238E27FC236}">
                <a16:creationId xmlns="" xmlns:a16="http://schemas.microsoft.com/office/drawing/2014/main" id="{EF78E35C-D23D-F54E-B7D2-D0B863099E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2111" y="4340597"/>
            <a:ext cx="61079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00" dirty="0"/>
          </a:p>
        </p:txBody>
      </p:sp>
      <p:sp>
        <p:nvSpPr>
          <p:cNvPr id="24" name="Text Box 28">
            <a:extLst>
              <a:ext uri="{FF2B5EF4-FFF2-40B4-BE49-F238E27FC236}">
                <a16:creationId xmlns="" xmlns:a16="http://schemas.microsoft.com/office/drawing/2014/main" id="{F78D243C-DAD1-2545-8A7F-EFA469532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1698" y="4187966"/>
            <a:ext cx="5997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+mn-lt"/>
                <a:cs typeface="Arial" charset="0"/>
              </a:rPr>
              <a:t>data</a:t>
            </a:r>
          </a:p>
        </p:txBody>
      </p:sp>
      <p:sp>
        <p:nvSpPr>
          <p:cNvPr id="25" name="Line 29">
            <a:extLst>
              <a:ext uri="{FF2B5EF4-FFF2-40B4-BE49-F238E27FC236}">
                <a16:creationId xmlns="" xmlns:a16="http://schemas.microsoft.com/office/drawing/2014/main" id="{70EA62CC-094B-3C41-A09D-B3C2234B04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13336" y="4362220"/>
            <a:ext cx="61079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00" dirty="0"/>
          </a:p>
        </p:txBody>
      </p:sp>
      <p:sp>
        <p:nvSpPr>
          <p:cNvPr id="26" name="Text Box 30">
            <a:extLst>
              <a:ext uri="{FF2B5EF4-FFF2-40B4-BE49-F238E27FC236}">
                <a16:creationId xmlns="" xmlns:a16="http://schemas.microsoft.com/office/drawing/2014/main" id="{6801AEE1-C5DF-2E4D-A000-7105881F0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7294" y="4204058"/>
            <a:ext cx="5997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+mn-lt"/>
                <a:cs typeface="Arial" charset="0"/>
              </a:rPr>
              <a:t>data</a:t>
            </a:r>
          </a:p>
        </p:txBody>
      </p:sp>
      <p:sp>
        <p:nvSpPr>
          <p:cNvPr id="27" name="Text Box 31">
            <a:extLst>
              <a:ext uri="{FF2B5EF4-FFF2-40B4-BE49-F238E27FC236}">
                <a16:creationId xmlns="" xmlns:a16="http://schemas.microsoft.com/office/drawing/2014/main" id="{9914A3F1-3112-2F44-A2A9-D16F0B8DE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7641" y="3530359"/>
            <a:ext cx="6367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0012A0"/>
                </a:solidFill>
                <a:latin typeface="+mn-lt"/>
                <a:cs typeface="Arial" charset="0"/>
              </a:rPr>
              <a:t>Alice</a:t>
            </a:r>
          </a:p>
        </p:txBody>
      </p:sp>
      <p:sp>
        <p:nvSpPr>
          <p:cNvPr id="28" name="Text Box 32">
            <a:extLst>
              <a:ext uri="{FF2B5EF4-FFF2-40B4-BE49-F238E27FC236}">
                <a16:creationId xmlns="" xmlns:a16="http://schemas.microsoft.com/office/drawing/2014/main" id="{43A34027-1F74-E84A-8D3E-88B03152D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3633" y="3518815"/>
            <a:ext cx="61427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100" dirty="0">
                <a:solidFill>
                  <a:srgbClr val="0012A0"/>
                </a:solidFill>
                <a:latin typeface="+mn-lt"/>
                <a:cs typeface="Arial" charset="0"/>
              </a:rPr>
              <a:t>Bob</a:t>
            </a:r>
          </a:p>
        </p:txBody>
      </p:sp>
      <p:sp>
        <p:nvSpPr>
          <p:cNvPr id="29" name="Text Box 33">
            <a:extLst>
              <a:ext uri="{FF2B5EF4-FFF2-40B4-BE49-F238E27FC236}">
                <a16:creationId xmlns="" xmlns:a16="http://schemas.microsoft.com/office/drawing/2014/main" id="{7911D325-AAB9-0840-9130-68C94E244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321" y="5191125"/>
            <a:ext cx="7105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000099"/>
                </a:solidFill>
                <a:latin typeface="+mn-lt"/>
                <a:cs typeface="Arial" charset="0"/>
              </a:rPr>
              <a:t>Trudy</a:t>
            </a:r>
          </a:p>
        </p:txBody>
      </p:sp>
    </p:spTree>
    <p:extLst>
      <p:ext uri="{BB962C8B-B14F-4D97-AF65-F5344CB8AC3E}">
        <p14:creationId xmlns:p14="http://schemas.microsoft.com/office/powerpoint/2010/main" val="1727914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762001"/>
            <a:ext cx="8257118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Friends and enemies: Alice, Bob, Trudy</a:t>
            </a:r>
            <a:endParaRPr lang="en-US" sz="3300" dirty="0"/>
          </a:p>
        </p:txBody>
      </p:sp>
      <p:sp>
        <p:nvSpPr>
          <p:cNvPr id="32" name="Rectangle 3">
            <a:extLst>
              <a:ext uri="{FF2B5EF4-FFF2-40B4-BE49-F238E27FC236}">
                <a16:creationId xmlns="" xmlns:a16="http://schemas.microsoft.com/office/drawing/2014/main" id="{8057751E-3E4F-294C-8F32-0BB39399E070}"/>
              </a:ext>
            </a:extLst>
          </p:cNvPr>
          <p:cNvSpPr txBox="1">
            <a:spLocks noChangeArrowheads="1"/>
          </p:cNvSpPr>
          <p:nvPr/>
        </p:nvSpPr>
        <p:spPr>
          <a:xfrm>
            <a:off x="2187436" y="1967948"/>
            <a:ext cx="8311598" cy="337185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-88106">
              <a:buNone/>
            </a:pPr>
            <a:r>
              <a:rPr lang="en-US" sz="2400" dirty="0"/>
              <a:t>Who might Bob and Alice be?</a:t>
            </a:r>
          </a:p>
          <a:p>
            <a:pPr marL="346472" indent="-188119"/>
            <a:r>
              <a:rPr lang="en-US" sz="2100" dirty="0"/>
              <a:t>… well, </a:t>
            </a:r>
            <a:r>
              <a:rPr lang="en-US" sz="2100" i="1" dirty="0"/>
              <a:t>real-life</a:t>
            </a:r>
            <a:r>
              <a:rPr lang="en-US" sz="2100" dirty="0"/>
              <a:t> Bobs and Alices!</a:t>
            </a:r>
          </a:p>
          <a:p>
            <a:pPr marL="346472" indent="-188119"/>
            <a:r>
              <a:rPr lang="en-US" sz="2100" dirty="0"/>
              <a:t>Web browser/server for electronic transactions (e.g., on-line purchases)</a:t>
            </a:r>
          </a:p>
          <a:p>
            <a:pPr marL="346472" indent="-188119"/>
            <a:r>
              <a:rPr lang="en-US" sz="2100" dirty="0"/>
              <a:t>on-line banking client/server</a:t>
            </a:r>
          </a:p>
          <a:p>
            <a:pPr marL="346472" indent="-188119"/>
            <a:r>
              <a:rPr lang="en-US" sz="2100" dirty="0"/>
              <a:t>DNS servers</a:t>
            </a:r>
          </a:p>
          <a:p>
            <a:pPr marL="346472" indent="-188119"/>
            <a:r>
              <a:rPr lang="en-US" sz="2100" dirty="0"/>
              <a:t>BGP routers exchanging routing table updates</a:t>
            </a:r>
          </a:p>
          <a:p>
            <a:pPr marL="346472" indent="-188119"/>
            <a:r>
              <a:rPr lang="en-US" sz="2100" dirty="0"/>
              <a:t>other examples?</a:t>
            </a:r>
          </a:p>
        </p:txBody>
      </p:sp>
    </p:spTree>
    <p:extLst>
      <p:ext uri="{BB962C8B-B14F-4D97-AF65-F5344CB8AC3E}">
        <p14:creationId xmlns:p14="http://schemas.microsoft.com/office/powerpoint/2010/main" val="4075145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018" y="1074245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There are bad guys (and girls) out there!</a:t>
            </a:r>
            <a:endParaRPr lang="en-US" sz="3300" dirty="0"/>
          </a:p>
        </p:txBody>
      </p:sp>
      <p:sp>
        <p:nvSpPr>
          <p:cNvPr id="32" name="Rectangle 3">
            <a:extLst>
              <a:ext uri="{FF2B5EF4-FFF2-40B4-BE49-F238E27FC236}">
                <a16:creationId xmlns="" xmlns:a16="http://schemas.microsoft.com/office/drawing/2014/main" id="{8057751E-3E4F-294C-8F32-0BB39399E070}"/>
              </a:ext>
            </a:extLst>
          </p:cNvPr>
          <p:cNvSpPr txBox="1">
            <a:spLocks noChangeArrowheads="1"/>
          </p:cNvSpPr>
          <p:nvPr/>
        </p:nvSpPr>
        <p:spPr>
          <a:xfrm>
            <a:off x="2266951" y="1977887"/>
            <a:ext cx="7933911" cy="337185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54794">
              <a:buNone/>
            </a:pPr>
            <a:r>
              <a:rPr lang="en-US" sz="2100" i="1" u="sng" dirty="0">
                <a:solidFill>
                  <a:srgbClr val="0012A0"/>
                </a:solidFill>
              </a:rPr>
              <a:t>Q:</a:t>
            </a:r>
            <a:r>
              <a:rPr lang="en-US" sz="2100" i="1" dirty="0">
                <a:solidFill>
                  <a:srgbClr val="0012A0"/>
                </a:solidFill>
              </a:rPr>
              <a:t>  </a:t>
            </a:r>
            <a:r>
              <a:rPr lang="en-US" sz="2100" dirty="0"/>
              <a:t>What can a “</a:t>
            </a:r>
            <a:r>
              <a:rPr lang="en-US" altLang="ja-JP" sz="2100" dirty="0"/>
              <a:t>bad guy” do?</a:t>
            </a:r>
          </a:p>
          <a:p>
            <a:pPr indent="-254794">
              <a:buNone/>
            </a:pPr>
            <a:r>
              <a:rPr lang="en-US" sz="2100" i="1" u="sng" dirty="0">
                <a:solidFill>
                  <a:srgbClr val="0012A0"/>
                </a:solidFill>
              </a:rPr>
              <a:t>A:</a:t>
            </a:r>
            <a:r>
              <a:rPr lang="en-US" sz="2100" i="1" dirty="0">
                <a:solidFill>
                  <a:srgbClr val="0012A0"/>
                </a:solidFill>
              </a:rPr>
              <a:t>  </a:t>
            </a:r>
            <a:r>
              <a:rPr lang="en-US" sz="2100" dirty="0"/>
              <a:t>A lot! (recall section 1.6)</a:t>
            </a:r>
          </a:p>
          <a:p>
            <a:pPr lvl="1"/>
            <a:r>
              <a:rPr lang="en-US" sz="2100" dirty="0">
                <a:solidFill>
                  <a:srgbClr val="C00000"/>
                </a:solidFill>
              </a:rPr>
              <a:t>eavesdrop: </a:t>
            </a:r>
            <a:r>
              <a:rPr lang="en-US" sz="2100" dirty="0"/>
              <a:t>intercept messages</a:t>
            </a:r>
          </a:p>
          <a:p>
            <a:pPr lvl="1"/>
            <a:r>
              <a:rPr lang="en-US" sz="2100" dirty="0"/>
              <a:t>actively </a:t>
            </a:r>
            <a:r>
              <a:rPr lang="en-US" sz="2100" dirty="0">
                <a:solidFill>
                  <a:srgbClr val="C00000"/>
                </a:solidFill>
              </a:rPr>
              <a:t>insert</a:t>
            </a:r>
            <a:r>
              <a:rPr lang="en-US" sz="2100" dirty="0"/>
              <a:t> messages into connection</a:t>
            </a:r>
          </a:p>
          <a:p>
            <a:pPr lvl="1"/>
            <a:r>
              <a:rPr lang="en-US" sz="2100" dirty="0">
                <a:solidFill>
                  <a:srgbClr val="C00000"/>
                </a:solidFill>
              </a:rPr>
              <a:t>impersonation: </a:t>
            </a:r>
            <a:r>
              <a:rPr lang="en-US" sz="2100" dirty="0"/>
              <a:t>can fake (spoof) source address in packet (or any field in packet)</a:t>
            </a:r>
          </a:p>
          <a:p>
            <a:pPr lvl="1"/>
            <a:r>
              <a:rPr lang="en-US" sz="2100" dirty="0">
                <a:solidFill>
                  <a:srgbClr val="C00000"/>
                </a:solidFill>
              </a:rPr>
              <a:t>hijacking: </a:t>
            </a:r>
            <a:r>
              <a:rPr lang="en-US" altLang="ja-JP" sz="2100" dirty="0"/>
              <a:t>“take over” ongoing connection by removing sender or receiver, inserting himself in place</a:t>
            </a:r>
          </a:p>
          <a:p>
            <a:pPr lvl="1"/>
            <a:r>
              <a:rPr lang="en-US" sz="2100" dirty="0">
                <a:solidFill>
                  <a:srgbClr val="C00000"/>
                </a:solidFill>
              </a:rPr>
              <a:t>denial of service: </a:t>
            </a:r>
            <a:r>
              <a:rPr lang="en-US" sz="2100" dirty="0"/>
              <a:t>prevent service from being used by others (e.g.,  by overloading resources)</a:t>
            </a:r>
          </a:p>
          <a:p>
            <a:pPr marL="346472" indent="-188119"/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94497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457201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sz="3300" dirty="0">
                <a:ea typeface="ＭＳ Ｐゴシック" panose="020B0600070205080204" pitchFamily="34" charset="-128"/>
              </a:rPr>
              <a:t>Bad </a:t>
            </a:r>
            <a:r>
              <a:rPr lang="en-US" altLang="en-US" dirty="0">
                <a:ea typeface="ＭＳ Ｐゴシック" panose="020B0600070205080204" pitchFamily="34" charset="-128"/>
              </a:rPr>
              <a:t>g</a:t>
            </a:r>
            <a:r>
              <a:rPr lang="en-US" altLang="en-US" sz="3300" dirty="0">
                <a:ea typeface="ＭＳ Ｐゴシック" panose="020B0600070205080204" pitchFamily="34" charset="-128"/>
              </a:rPr>
              <a:t>uys: packet </a:t>
            </a:r>
            <a:r>
              <a:rPr lang="en-US" altLang="en-US" dirty="0">
                <a:ea typeface="ＭＳ Ｐゴシック" panose="020B0600070205080204" pitchFamily="34" charset="-128"/>
              </a:rPr>
              <a:t>i</a:t>
            </a:r>
            <a:r>
              <a:rPr lang="en-US" altLang="en-US" sz="3300" dirty="0">
                <a:ea typeface="ＭＳ Ｐゴシック" panose="020B0600070205080204" pitchFamily="34" charset="-128"/>
              </a:rPr>
              <a:t>nterception</a:t>
            </a:r>
            <a:endParaRPr lang="en-US" sz="3300" dirty="0"/>
          </a:p>
        </p:txBody>
      </p:sp>
      <p:sp>
        <p:nvSpPr>
          <p:cNvPr id="17" name="Rectangle 5">
            <a:extLst>
              <a:ext uri="{FF2B5EF4-FFF2-40B4-BE49-F238E27FC236}">
                <a16:creationId xmlns=""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2209801" y="1219200"/>
            <a:ext cx="7757123" cy="21336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4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packet “</a:t>
            </a:r>
            <a:r>
              <a:rPr lang="en-US" altLang="ja-JP" sz="24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sniffing”:</a:t>
            </a:r>
            <a:r>
              <a:rPr lang="en-US" altLang="ja-JP" sz="21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</a:p>
          <a:p>
            <a:pPr marL="521494" lvl="1" indent="-173831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broadcast media (shared Ethernet, wireless)</a:t>
            </a:r>
          </a:p>
          <a:p>
            <a:pPr marL="521494" lvl="1" indent="-173831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promiscuous network interface reads/records all packets (e.g., including passwords!) passing by</a:t>
            </a:r>
          </a:p>
          <a:p>
            <a:pPr marL="521494" lvl="1" indent="-173831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sz="2000" dirty="0"/>
              <a:t>A passive receiver that records a copy of every packet that flies by is called a </a:t>
            </a:r>
            <a:r>
              <a:rPr lang="en-US" sz="2000" b="1" dirty="0">
                <a:solidFill>
                  <a:srgbClr val="FF0000"/>
                </a:solidFill>
              </a:rPr>
              <a:t>packet sniffer</a:t>
            </a:r>
            <a:r>
              <a:rPr lang="en-US" sz="2000" dirty="0"/>
              <a:t>.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Arial" panose="020B0604020202020204" pitchFamily="34" charset="0"/>
            </a:endParaRPr>
          </a:p>
        </p:txBody>
      </p:sp>
      <p:grpSp>
        <p:nvGrpSpPr>
          <p:cNvPr id="5" name="Group 90">
            <a:extLst>
              <a:ext uri="{FF2B5EF4-FFF2-40B4-BE49-F238E27FC236}">
                <a16:creationId xmlns="" xmlns:a16="http://schemas.microsoft.com/office/drawing/2014/main" id="{4B8B6454-D739-8246-8FD0-D07116C10D1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22078" y="3405948"/>
            <a:ext cx="551259" cy="510778"/>
            <a:chOff x="-44" y="1473"/>
            <a:chExt cx="981" cy="1105"/>
          </a:xfrm>
        </p:grpSpPr>
        <p:pic>
          <p:nvPicPr>
            <p:cNvPr id="7" name="Picture 91" descr="desktop_computer_stylized_medium">
              <a:extLst>
                <a:ext uri="{FF2B5EF4-FFF2-40B4-BE49-F238E27FC236}">
                  <a16:creationId xmlns="" xmlns:a16="http://schemas.microsoft.com/office/drawing/2014/main" id="{9D5E2D1E-EE9F-104B-B66B-CCD25447B8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92">
              <a:extLst>
                <a:ext uri="{FF2B5EF4-FFF2-40B4-BE49-F238E27FC236}">
                  <a16:creationId xmlns="" xmlns:a16="http://schemas.microsoft.com/office/drawing/2014/main" id="{B5AF61F7-8621-F54F-BE21-3743A44AEC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9" name="Freeform 43">
            <a:extLst>
              <a:ext uri="{FF2B5EF4-FFF2-40B4-BE49-F238E27FC236}">
                <a16:creationId xmlns="" xmlns:a16="http://schemas.microsoft.com/office/drawing/2014/main" id="{4DB7420B-BEB3-FA46-87C6-F4E3D7CFB690}"/>
              </a:ext>
            </a:extLst>
          </p:cNvPr>
          <p:cNvSpPr>
            <a:spLocks/>
          </p:cNvSpPr>
          <p:nvPr/>
        </p:nvSpPr>
        <p:spPr bwMode="auto">
          <a:xfrm>
            <a:off x="4043272" y="3957209"/>
            <a:ext cx="3440906" cy="546497"/>
          </a:xfrm>
          <a:custGeom>
            <a:avLst/>
            <a:gdLst>
              <a:gd name="T0" fmla="*/ 2147483647 w 2620"/>
              <a:gd name="T1" fmla="*/ 0 h 459"/>
              <a:gd name="T2" fmla="*/ 0 w 2620"/>
              <a:gd name="T3" fmla="*/ 2147483647 h 459"/>
              <a:gd name="T4" fmla="*/ 2147483647 w 2620"/>
              <a:gd name="T5" fmla="*/ 2147483647 h 459"/>
              <a:gd name="T6" fmla="*/ 2147483647 w 2620"/>
              <a:gd name="T7" fmla="*/ 2147483647 h 459"/>
              <a:gd name="T8" fmla="*/ 0 60000 65536"/>
              <a:gd name="T9" fmla="*/ 0 60000 65536"/>
              <a:gd name="T10" fmla="*/ 0 60000 65536"/>
              <a:gd name="T11" fmla="*/ 0 60000 65536"/>
              <a:gd name="T12" fmla="*/ 0 w 2620"/>
              <a:gd name="T13" fmla="*/ 0 h 459"/>
              <a:gd name="T14" fmla="*/ 2620 w 2620"/>
              <a:gd name="T15" fmla="*/ 459 h 4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20" h="459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Freeform 44">
            <a:extLst>
              <a:ext uri="{FF2B5EF4-FFF2-40B4-BE49-F238E27FC236}">
                <a16:creationId xmlns="" xmlns:a16="http://schemas.microsoft.com/office/drawing/2014/main" id="{F85E0A6A-88C0-A24D-8518-8ED500586FDD}"/>
              </a:ext>
            </a:extLst>
          </p:cNvPr>
          <p:cNvSpPr>
            <a:spLocks/>
          </p:cNvSpPr>
          <p:nvPr/>
        </p:nvSpPr>
        <p:spPr bwMode="auto">
          <a:xfrm>
            <a:off x="6167346" y="3859576"/>
            <a:ext cx="3572" cy="391716"/>
          </a:xfrm>
          <a:custGeom>
            <a:avLst/>
            <a:gdLst>
              <a:gd name="T0" fmla="*/ 0 w 3"/>
              <a:gd name="T1" fmla="*/ 2147483647 h 329"/>
              <a:gd name="T2" fmla="*/ 2147483647 w 3"/>
              <a:gd name="T3" fmla="*/ 0 h 329"/>
              <a:gd name="T4" fmla="*/ 0 60000 65536"/>
              <a:gd name="T5" fmla="*/ 0 60000 65536"/>
              <a:gd name="T6" fmla="*/ 0 w 3"/>
              <a:gd name="T7" fmla="*/ 0 h 329"/>
              <a:gd name="T8" fmla="*/ 3 w 3"/>
              <a:gd name="T9" fmla="*/ 329 h 3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29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Line 45">
            <a:extLst>
              <a:ext uri="{FF2B5EF4-FFF2-40B4-BE49-F238E27FC236}">
                <a16:creationId xmlns="" xmlns:a16="http://schemas.microsoft.com/office/drawing/2014/main" id="{2ADBE0C5-B956-4149-BAB8-22ED6ADCCD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24334" y="4251292"/>
            <a:ext cx="0" cy="2809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Line 46">
            <a:extLst>
              <a:ext uri="{FF2B5EF4-FFF2-40B4-BE49-F238E27FC236}">
                <a16:creationId xmlns="" xmlns:a16="http://schemas.microsoft.com/office/drawing/2014/main" id="{90C68912-5E92-7540-BFA2-DF07C51EFD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8621" y="4784693"/>
            <a:ext cx="0" cy="180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Box 47">
            <a:extLst>
              <a:ext uri="{FF2B5EF4-FFF2-40B4-BE49-F238E27FC236}">
                <a16:creationId xmlns="" xmlns:a16="http://schemas.microsoft.com/office/drawing/2014/main" id="{AEB79674-18BD-3B41-8E45-BBD3D9EBF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2057" y="3423807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defRPr/>
            </a:pPr>
            <a:r>
              <a:rPr lang="en-US" altLang="en-US" sz="1800" dirty="0">
                <a:solidFill>
                  <a:prstClr val="black"/>
                </a:solidFill>
              </a:rPr>
              <a:t>A</a:t>
            </a:r>
          </a:p>
        </p:txBody>
      </p:sp>
      <p:sp>
        <p:nvSpPr>
          <p:cNvPr id="14" name="Text Box 48">
            <a:extLst>
              <a:ext uri="{FF2B5EF4-FFF2-40B4-BE49-F238E27FC236}">
                <a16:creationId xmlns="" xmlns:a16="http://schemas.microsoft.com/office/drawing/2014/main" id="{9F0C9BB1-EE53-294F-B9A4-6D29AB02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4355" y="4521563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defRPr/>
            </a:pPr>
            <a:r>
              <a:rPr lang="en-US" altLang="en-US" sz="1800" dirty="0">
                <a:solidFill>
                  <a:prstClr val="black"/>
                </a:solidFill>
              </a:rPr>
              <a:t>B</a:t>
            </a:r>
          </a:p>
        </p:txBody>
      </p:sp>
      <p:sp>
        <p:nvSpPr>
          <p:cNvPr id="15" name="Text Box 49">
            <a:extLst>
              <a:ext uri="{FF2B5EF4-FFF2-40B4-BE49-F238E27FC236}">
                <a16:creationId xmlns="" xmlns:a16="http://schemas.microsoft.com/office/drawing/2014/main" id="{84BD4A5A-ABEB-8E46-B54B-76C3BE0FD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7528" y="3407138"/>
            <a:ext cx="3513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defRPr/>
            </a:pPr>
            <a:r>
              <a:rPr lang="en-US" altLang="en-US" sz="1800" dirty="0">
                <a:solidFill>
                  <a:prstClr val="black"/>
                </a:solidFill>
              </a:rPr>
              <a:t>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A66D72FA-76CB-8443-8D46-D1C4AD6D2B36}"/>
              </a:ext>
            </a:extLst>
          </p:cNvPr>
          <p:cNvGrpSpPr/>
          <p:nvPr/>
        </p:nvGrpSpPr>
        <p:grpSpPr>
          <a:xfrm>
            <a:off x="5391058" y="3860766"/>
            <a:ext cx="1976438" cy="947744"/>
            <a:chOff x="5156078" y="4004689"/>
            <a:chExt cx="2635250" cy="1263659"/>
          </a:xfrm>
        </p:grpSpPr>
        <p:grpSp>
          <p:nvGrpSpPr>
            <p:cNvPr id="16" name="Group 50">
              <a:extLst>
                <a:ext uri="{FF2B5EF4-FFF2-40B4-BE49-F238E27FC236}">
                  <a16:creationId xmlns="" xmlns:a16="http://schemas.microsoft.com/office/drawing/2014/main" id="{3A21CC14-2FFD-1443-8AD6-ED95C8906A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7828" y="4652397"/>
              <a:ext cx="2295525" cy="615951"/>
              <a:chOff x="2418" y="3342"/>
              <a:chExt cx="1446" cy="388"/>
            </a:xfrm>
          </p:grpSpPr>
          <p:sp>
            <p:nvSpPr>
              <p:cNvPr id="18" name="Rectangle 51">
                <a:extLst>
                  <a:ext uri="{FF2B5EF4-FFF2-40B4-BE49-F238E27FC236}">
                    <a16:creationId xmlns="" xmlns:a16="http://schemas.microsoft.com/office/drawing/2014/main" id="{FFA22DC9-8002-804E-BEF5-0AD6BF292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3" y="3366"/>
                <a:ext cx="1356" cy="174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Line 52">
                <a:extLst>
                  <a:ext uri="{FF2B5EF4-FFF2-40B4-BE49-F238E27FC236}">
                    <a16:creationId xmlns="" xmlns:a16="http://schemas.microsoft.com/office/drawing/2014/main" id="{C5FFC7EF-F96B-754E-966C-1FA050A77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3372"/>
                <a:ext cx="0" cy="1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0" name="Line 53">
                <a:extLst>
                  <a:ext uri="{FF2B5EF4-FFF2-40B4-BE49-F238E27FC236}">
                    <a16:creationId xmlns="" xmlns:a16="http://schemas.microsoft.com/office/drawing/2014/main" id="{A20E5390-7423-1C4D-BCD6-93295C9263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6" y="3375"/>
                <a:ext cx="0" cy="1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1" name="Line 54">
                <a:extLst>
                  <a:ext uri="{FF2B5EF4-FFF2-40B4-BE49-F238E27FC236}">
                    <a16:creationId xmlns="" xmlns:a16="http://schemas.microsoft.com/office/drawing/2014/main" id="{34698107-E0D4-2D40-8BD4-A07EF85A1E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1" y="3375"/>
                <a:ext cx="0" cy="1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Text Box 55">
                <a:extLst>
                  <a:ext uri="{FF2B5EF4-FFF2-40B4-BE49-F238E27FC236}">
                    <a16:creationId xmlns="" xmlns:a16="http://schemas.microsoft.com/office/drawing/2014/main" id="{3034D655-D1DA-884B-85A3-B43DDCA03B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8" y="3342"/>
                <a:ext cx="1446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defRPr/>
                </a:pPr>
                <a:r>
                  <a:rPr lang="en-US" altLang="en-US" sz="1200" dirty="0">
                    <a:solidFill>
                      <a:prstClr val="black"/>
                    </a:solidFill>
                  </a:rPr>
                  <a:t>src:B dest:A     payload</a:t>
                </a:r>
                <a:endParaRPr lang="en-US" altLang="en-US" sz="1200" dirty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" name="Freeform 56">
              <a:extLst>
                <a:ext uri="{FF2B5EF4-FFF2-40B4-BE49-F238E27FC236}">
                  <a16:creationId xmlns="" xmlns:a16="http://schemas.microsoft.com/office/drawing/2014/main" id="{BCF74F8F-5676-9347-82B3-E439D97B3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078" y="4607939"/>
              <a:ext cx="2635250" cy="241300"/>
            </a:xfrm>
            <a:custGeom>
              <a:avLst/>
              <a:gdLst>
                <a:gd name="T0" fmla="*/ 2147483647 w 1660"/>
                <a:gd name="T1" fmla="*/ 2147483647 h 152"/>
                <a:gd name="T2" fmla="*/ 2147483647 w 1660"/>
                <a:gd name="T3" fmla="*/ 0 h 152"/>
                <a:gd name="T4" fmla="*/ 0 w 1660"/>
                <a:gd name="T5" fmla="*/ 2147483647 h 152"/>
                <a:gd name="T6" fmla="*/ 0 60000 65536"/>
                <a:gd name="T7" fmla="*/ 0 60000 65536"/>
                <a:gd name="T8" fmla="*/ 0 60000 65536"/>
                <a:gd name="T9" fmla="*/ 0 w 1660"/>
                <a:gd name="T10" fmla="*/ 0 h 152"/>
                <a:gd name="T11" fmla="*/ 1660 w 1660"/>
                <a:gd name="T12" fmla="*/ 152 h 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0" h="152">
                  <a:moveTo>
                    <a:pt x="1660" y="152"/>
                  </a:moveTo>
                  <a:lnTo>
                    <a:pt x="1660" y="0"/>
                  </a:lnTo>
                  <a:lnTo>
                    <a:pt x="0" y="4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" name="Line 57">
              <a:extLst>
                <a:ext uri="{FF2B5EF4-FFF2-40B4-BE49-F238E27FC236}">
                  <a16:creationId xmlns="" xmlns:a16="http://schemas.microsoft.com/office/drawing/2014/main" id="{218F3DFE-62E8-1C42-A997-A96153618A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99078" y="4004689"/>
              <a:ext cx="0" cy="60325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26" name="Picture 60">
            <a:extLst>
              <a:ext uri="{FF2B5EF4-FFF2-40B4-BE49-F238E27FC236}">
                <a16:creationId xmlns="" xmlns:a16="http://schemas.microsoft.com/office/drawing/2014/main" id="{6C78CF69-C5D1-1042-99DC-4222EA4DC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318" y="3457146"/>
            <a:ext cx="353616" cy="3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Group 54">
            <a:extLst>
              <a:ext uri="{FF2B5EF4-FFF2-40B4-BE49-F238E27FC236}">
                <a16:creationId xmlns="" xmlns:a16="http://schemas.microsoft.com/office/drawing/2014/main" id="{E8873988-DB10-FE45-8043-BCFCC564ED65}"/>
              </a:ext>
            </a:extLst>
          </p:cNvPr>
          <p:cNvGrpSpPr>
            <a:grpSpLocks/>
          </p:cNvGrpSpPr>
          <p:nvPr/>
        </p:nvGrpSpPr>
        <p:grpSpPr bwMode="auto">
          <a:xfrm>
            <a:off x="3912303" y="3452383"/>
            <a:ext cx="273844" cy="534591"/>
            <a:chOff x="4140" y="429"/>
            <a:chExt cx="1425" cy="2396"/>
          </a:xfrm>
        </p:grpSpPr>
        <p:sp>
          <p:nvSpPr>
            <p:cNvPr id="28" name="Freeform 55">
              <a:extLst>
                <a:ext uri="{FF2B5EF4-FFF2-40B4-BE49-F238E27FC236}">
                  <a16:creationId xmlns="" xmlns:a16="http://schemas.microsoft.com/office/drawing/2014/main" id="{7E4CC2E0-3222-BE42-A828-FF50B8CF8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" name="Rectangle 56">
              <a:extLst>
                <a:ext uri="{FF2B5EF4-FFF2-40B4-BE49-F238E27FC236}">
                  <a16:creationId xmlns="" xmlns:a16="http://schemas.microsoft.com/office/drawing/2014/main" id="{A3A95F5A-927B-8844-AEEA-2C83A43D8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7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30" name="Freeform 57">
              <a:extLst>
                <a:ext uri="{FF2B5EF4-FFF2-40B4-BE49-F238E27FC236}">
                  <a16:creationId xmlns="" xmlns:a16="http://schemas.microsoft.com/office/drawing/2014/main" id="{0069D4B1-B450-FA40-8C0C-BF8FC124F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" name="Freeform 58">
              <a:extLst>
                <a:ext uri="{FF2B5EF4-FFF2-40B4-BE49-F238E27FC236}">
                  <a16:creationId xmlns="" xmlns:a16="http://schemas.microsoft.com/office/drawing/2014/main" id="{614429B8-C719-8644-AE6D-47F8C907A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Rectangle 59">
              <a:extLst>
                <a:ext uri="{FF2B5EF4-FFF2-40B4-BE49-F238E27FC236}">
                  <a16:creationId xmlns="" xmlns:a16="http://schemas.microsoft.com/office/drawing/2014/main" id="{2DD880A9-2F05-6141-8481-7222FC289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0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grpSp>
          <p:nvGrpSpPr>
            <p:cNvPr id="33" name="Group 60">
              <a:extLst>
                <a:ext uri="{FF2B5EF4-FFF2-40B4-BE49-F238E27FC236}">
                  <a16:creationId xmlns="" xmlns:a16="http://schemas.microsoft.com/office/drawing/2014/main" id="{719DB695-149D-A94C-90AB-A2D368B8EE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8" name="AutoShape 61">
                <a:extLst>
                  <a:ext uri="{FF2B5EF4-FFF2-40B4-BE49-F238E27FC236}">
                    <a16:creationId xmlns="" xmlns:a16="http://schemas.microsoft.com/office/drawing/2014/main" id="{7A4E2E24-3B0D-AF4F-A52C-2C357CC7E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AutoShape 62">
                <a:extLst>
                  <a:ext uri="{FF2B5EF4-FFF2-40B4-BE49-F238E27FC236}">
                    <a16:creationId xmlns="" xmlns:a16="http://schemas.microsoft.com/office/drawing/2014/main" id="{C6BB5F22-0BFB-674E-AB61-C51BC265F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34" name="Rectangle 63">
              <a:extLst>
                <a:ext uri="{FF2B5EF4-FFF2-40B4-BE49-F238E27FC236}">
                  <a16:creationId xmlns="" xmlns:a16="http://schemas.microsoft.com/office/drawing/2014/main" id="{9C5A4256-A53F-874E-BFA1-39FC396FF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21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grpSp>
          <p:nvGrpSpPr>
            <p:cNvPr id="35" name="Group 64">
              <a:extLst>
                <a:ext uri="{FF2B5EF4-FFF2-40B4-BE49-F238E27FC236}">
                  <a16:creationId xmlns="" xmlns:a16="http://schemas.microsoft.com/office/drawing/2014/main" id="{0E311E6A-3E40-F74F-B8AF-09D1E252AD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6" name="AutoShape 65">
                <a:extLst>
                  <a:ext uri="{FF2B5EF4-FFF2-40B4-BE49-F238E27FC236}">
                    <a16:creationId xmlns="" xmlns:a16="http://schemas.microsoft.com/office/drawing/2014/main" id="{1D179FF3-E8BF-8947-9AAD-E6B38311CA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AutoShape 66">
                <a:extLst>
                  <a:ext uri="{FF2B5EF4-FFF2-40B4-BE49-F238E27FC236}">
                    <a16:creationId xmlns="" xmlns:a16="http://schemas.microsoft.com/office/drawing/2014/main" id="{C3E96FCC-760E-C448-981B-346F9384B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36" name="Rectangle 67">
              <a:extLst>
                <a:ext uri="{FF2B5EF4-FFF2-40B4-BE49-F238E27FC236}">
                  <a16:creationId xmlns="" xmlns:a16="http://schemas.microsoft.com/office/drawing/2014/main" id="{48149864-6DD7-D34A-BFF0-68E14067A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8"/>
              <a:ext cx="601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37" name="Rectangle 68">
              <a:extLst>
                <a:ext uri="{FF2B5EF4-FFF2-40B4-BE49-F238E27FC236}">
                  <a16:creationId xmlns="" xmlns:a16="http://schemas.microsoft.com/office/drawing/2014/main" id="{05CA4BF4-1ECD-CA4F-8A7A-7B9330DA5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grpSp>
          <p:nvGrpSpPr>
            <p:cNvPr id="38" name="Group 69">
              <a:extLst>
                <a:ext uri="{FF2B5EF4-FFF2-40B4-BE49-F238E27FC236}">
                  <a16:creationId xmlns="" xmlns:a16="http://schemas.microsoft.com/office/drawing/2014/main" id="{F3E39B02-1298-0743-931E-B785BC775A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4" name="AutoShape 70">
                <a:extLst>
                  <a:ext uri="{FF2B5EF4-FFF2-40B4-BE49-F238E27FC236}">
                    <a16:creationId xmlns="" xmlns:a16="http://schemas.microsoft.com/office/drawing/2014/main" id="{F3EE4642-5A67-5747-9173-A2328DFB0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AutoShape 71">
                <a:extLst>
                  <a:ext uri="{FF2B5EF4-FFF2-40B4-BE49-F238E27FC236}">
                    <a16:creationId xmlns="" xmlns:a16="http://schemas.microsoft.com/office/drawing/2014/main" id="{5229E8D7-0E29-214E-AA57-AFE2A59BD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95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39" name="Freeform 72">
              <a:extLst>
                <a:ext uri="{FF2B5EF4-FFF2-40B4-BE49-F238E27FC236}">
                  <a16:creationId xmlns="" xmlns:a16="http://schemas.microsoft.com/office/drawing/2014/main" id="{D90341F2-014E-B14A-B581-851392F93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40" name="Group 73">
              <a:extLst>
                <a:ext uri="{FF2B5EF4-FFF2-40B4-BE49-F238E27FC236}">
                  <a16:creationId xmlns="" xmlns:a16="http://schemas.microsoft.com/office/drawing/2014/main" id="{280B6B26-F269-5C4C-8C19-DBA764C6CD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2" name="AutoShape 74">
                <a:extLst>
                  <a:ext uri="{FF2B5EF4-FFF2-40B4-BE49-F238E27FC236}">
                    <a16:creationId xmlns="" xmlns:a16="http://schemas.microsoft.com/office/drawing/2014/main" id="{6DB26256-77EF-F140-B0E4-C02F57D54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AutoShape 75">
                <a:extLst>
                  <a:ext uri="{FF2B5EF4-FFF2-40B4-BE49-F238E27FC236}">
                    <a16:creationId xmlns="" xmlns:a16="http://schemas.microsoft.com/office/drawing/2014/main" id="{EFE076B6-538F-1744-AEFF-42E849FD6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41" name="Rectangle 76">
              <a:extLst>
                <a:ext uri="{FF2B5EF4-FFF2-40B4-BE49-F238E27FC236}">
                  <a16:creationId xmlns="" xmlns:a16="http://schemas.microsoft.com/office/drawing/2014/main" id="{022EA956-CFF7-F444-96E1-83E349825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42" name="Freeform 77">
              <a:extLst>
                <a:ext uri="{FF2B5EF4-FFF2-40B4-BE49-F238E27FC236}">
                  <a16:creationId xmlns="" xmlns:a16="http://schemas.microsoft.com/office/drawing/2014/main" id="{8B0DE4B6-8814-1E46-82AC-7B6D087A2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3" name="Freeform 78">
              <a:extLst>
                <a:ext uri="{FF2B5EF4-FFF2-40B4-BE49-F238E27FC236}">
                  <a16:creationId xmlns="" xmlns:a16="http://schemas.microsoft.com/office/drawing/2014/main" id="{A9CF5A83-FC5F-8D4B-B779-B41007025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4" name="Oval 79">
              <a:extLst>
                <a:ext uri="{FF2B5EF4-FFF2-40B4-BE49-F238E27FC236}">
                  <a16:creationId xmlns="" xmlns:a16="http://schemas.microsoft.com/office/drawing/2014/main" id="{FDB262EF-72BC-F740-9B4D-1FFE5D070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45" name="Freeform 80">
              <a:extLst>
                <a:ext uri="{FF2B5EF4-FFF2-40B4-BE49-F238E27FC236}">
                  <a16:creationId xmlns="" xmlns:a16="http://schemas.microsoft.com/office/drawing/2014/main" id="{20A2BDF1-5362-9947-B37C-44E590138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6" name="AutoShape 81">
              <a:extLst>
                <a:ext uri="{FF2B5EF4-FFF2-40B4-BE49-F238E27FC236}">
                  <a16:creationId xmlns="" xmlns:a16="http://schemas.microsoft.com/office/drawing/2014/main" id="{BAC73710-D3B8-8C49-97AA-648DC14CD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47" name="AutoShape 82">
              <a:extLst>
                <a:ext uri="{FF2B5EF4-FFF2-40B4-BE49-F238E27FC236}">
                  <a16:creationId xmlns="" xmlns:a16="http://schemas.microsoft.com/office/drawing/2014/main" id="{1AA6B3D5-8E2F-C340-A675-9DC59E4B0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6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48" name="Oval 83">
              <a:extLst>
                <a:ext uri="{FF2B5EF4-FFF2-40B4-BE49-F238E27FC236}">
                  <a16:creationId xmlns="" xmlns:a16="http://schemas.microsoft.com/office/drawing/2014/main" id="{A39BEF0A-EE8E-7248-A007-97D328CCA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49" name="Oval 84">
              <a:extLst>
                <a:ext uri="{FF2B5EF4-FFF2-40B4-BE49-F238E27FC236}">
                  <a16:creationId xmlns="" xmlns:a16="http://schemas.microsoft.com/office/drawing/2014/main" id="{27EEB08E-8DAC-7647-9E5A-B37F47E9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defRPr/>
              </a:pPr>
              <a:endParaRPr lang="en-US" altLang="en-US" sz="1350" dirty="0">
                <a:solidFill>
                  <a:srgbClr val="FF0000"/>
                </a:solidFill>
              </a:endParaRPr>
            </a:p>
          </p:txBody>
        </p:sp>
        <p:sp>
          <p:nvSpPr>
            <p:cNvPr id="50" name="Oval 85">
              <a:extLst>
                <a:ext uri="{FF2B5EF4-FFF2-40B4-BE49-F238E27FC236}">
                  <a16:creationId xmlns="" xmlns:a16="http://schemas.microsoft.com/office/drawing/2014/main" id="{7165A7B4-85F9-2640-A0EE-2335D6B55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51" name="Rectangle 86">
              <a:extLst>
                <a:ext uri="{FF2B5EF4-FFF2-40B4-BE49-F238E27FC236}">
                  <a16:creationId xmlns="" xmlns:a16="http://schemas.microsoft.com/office/drawing/2014/main" id="{C2E9996D-163B-D745-A6A8-45AB41D5E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0" name="Group 87">
            <a:extLst>
              <a:ext uri="{FF2B5EF4-FFF2-40B4-BE49-F238E27FC236}">
                <a16:creationId xmlns="" xmlns:a16="http://schemas.microsoft.com/office/drawing/2014/main" id="{F67D1896-6BBC-AB41-B67F-AB3399BB37B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281772" y="4440602"/>
            <a:ext cx="551259" cy="510779"/>
            <a:chOff x="-44" y="1473"/>
            <a:chExt cx="981" cy="1105"/>
          </a:xfrm>
        </p:grpSpPr>
        <p:pic>
          <p:nvPicPr>
            <p:cNvPr id="61" name="Picture 88" descr="desktop_computer_stylized_medium">
              <a:extLst>
                <a:ext uri="{FF2B5EF4-FFF2-40B4-BE49-F238E27FC236}">
                  <a16:creationId xmlns="" xmlns:a16="http://schemas.microsoft.com/office/drawing/2014/main" id="{12544D91-DE12-C440-AF3A-72D9066513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" name="Freeform 89">
              <a:extLst>
                <a:ext uri="{FF2B5EF4-FFF2-40B4-BE49-F238E27FC236}">
                  <a16:creationId xmlns="" xmlns:a16="http://schemas.microsoft.com/office/drawing/2014/main" id="{D8342731-E1B7-FF4F-B63A-2B9EF713C35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A8E7B059-0C82-604F-9216-00FE9590AFC8}"/>
              </a:ext>
            </a:extLst>
          </p:cNvPr>
          <p:cNvGrpSpPr/>
          <p:nvPr/>
        </p:nvGrpSpPr>
        <p:grpSpPr>
          <a:xfrm>
            <a:off x="2616100" y="5075542"/>
            <a:ext cx="7880012" cy="772175"/>
            <a:chOff x="1456133" y="5624388"/>
            <a:chExt cx="10506683" cy="1029566"/>
          </a:xfrm>
        </p:grpSpPr>
        <p:sp>
          <p:nvSpPr>
            <p:cNvPr id="25" name="Rectangle 59">
              <a:extLst>
                <a:ext uri="{FF2B5EF4-FFF2-40B4-BE49-F238E27FC236}">
                  <a16:creationId xmlns="" xmlns:a16="http://schemas.microsoft.com/office/drawing/2014/main" id="{CA066BBC-5B2D-0340-8A5E-0AB09584C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057" y="5737966"/>
              <a:ext cx="10250759" cy="915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lvl="1" defTabSz="685800">
                <a:spcBef>
                  <a:spcPct val="20000"/>
                </a:spcBef>
                <a:buClr>
                  <a:srgbClr val="000090"/>
                </a:buClr>
                <a:buSzPct val="100000"/>
                <a:defRPr/>
              </a:pPr>
              <a:r>
                <a:rPr lang="en-US" dirty="0">
                  <a:solidFill>
                    <a:prstClr val="black"/>
                  </a:solidFill>
                  <a:latin typeface="Calibri" panose="020F0502020204030204"/>
                  <a:ea typeface="ＭＳ Ｐゴシック" charset="0"/>
                  <a:cs typeface="ＭＳ Ｐゴシック" charset="0"/>
                </a:rPr>
                <a:t>Wireshark software used for our end-of-chapter labs is a (free) packet-sniffer</a:t>
              </a:r>
            </a:p>
            <a:p>
              <a:pPr marL="557213" lvl="1" indent="-214313" defTabSz="685800">
                <a:spcBef>
                  <a:spcPct val="20000"/>
                </a:spcBef>
                <a:buClr>
                  <a:srgbClr val="ED7D31"/>
                </a:buClr>
                <a:buSzPct val="75000"/>
                <a:defRPr/>
              </a:pPr>
              <a:endParaRPr lang="en-US" sz="1350" dirty="0">
                <a:solidFill>
                  <a:prstClr val="black"/>
                </a:solidFill>
                <a:latin typeface="Gill Sans MT" charset="0"/>
                <a:ea typeface="ＭＳ Ｐゴシック" charset="0"/>
                <a:cs typeface="ＭＳ Ｐゴシック" charset="0"/>
              </a:endParaRPr>
            </a:p>
          </p:txBody>
        </p:sp>
        <p:pic>
          <p:nvPicPr>
            <p:cNvPr id="8194" name="Picture 2" descr="Image result for wireshark logo">
              <a:extLst>
                <a:ext uri="{FF2B5EF4-FFF2-40B4-BE49-F238E27FC236}">
                  <a16:creationId xmlns="" xmlns:a16="http://schemas.microsoft.com/office/drawing/2014/main" id="{05D86E15-2863-2D4D-B25D-A42C0FE63E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6133" y="5624388"/>
              <a:ext cx="667509" cy="6675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2" name="Group 81">
            <a:extLst>
              <a:ext uri="{FF2B5EF4-FFF2-40B4-BE49-F238E27FC236}">
                <a16:creationId xmlns="" xmlns:a16="http://schemas.microsoft.com/office/drawing/2014/main" id="{B9D1305C-AF63-6240-8FD1-E69B36970A8F}"/>
              </a:ext>
            </a:extLst>
          </p:cNvPr>
          <p:cNvGrpSpPr/>
          <p:nvPr/>
        </p:nvGrpSpPr>
        <p:grpSpPr>
          <a:xfrm>
            <a:off x="4564765" y="4445501"/>
            <a:ext cx="719138" cy="357188"/>
            <a:chOff x="7493876" y="2774731"/>
            <a:chExt cx="1481958" cy="894622"/>
          </a:xfrm>
        </p:grpSpPr>
        <p:sp>
          <p:nvSpPr>
            <p:cNvPr id="83" name="Freeform 82">
              <a:extLst>
                <a:ext uri="{FF2B5EF4-FFF2-40B4-BE49-F238E27FC236}">
                  <a16:creationId xmlns="" xmlns:a16="http://schemas.microsoft.com/office/drawing/2014/main" id="{E653ABFA-F7DB-F14E-95A5-0FDFB684F51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="" xmlns:a16="http://schemas.microsoft.com/office/drawing/2014/main" id="{07CB97C4-3176-704C-832B-2769F9BD8A3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="" xmlns:a16="http://schemas.microsoft.com/office/drawing/2014/main" id="{1C4E248C-B7EE-0749-BE84-6D97E6830AA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" name="Freeform 85">
                <a:extLst>
                  <a:ext uri="{FF2B5EF4-FFF2-40B4-BE49-F238E27FC236}">
                    <a16:creationId xmlns="" xmlns:a16="http://schemas.microsoft.com/office/drawing/2014/main" id="{D8ABCFB8-B1A0-CC43-8976-0D9324A60B7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="" xmlns:a16="http://schemas.microsoft.com/office/drawing/2014/main" id="{21E1551D-8D59-7F4D-9AC3-A82F786FCBC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="" xmlns:a16="http://schemas.microsoft.com/office/drawing/2014/main" id="{F50F35D5-457F-BD4D-9C04-D7E77ADC1C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="" xmlns:a16="http://schemas.microsoft.com/office/drawing/2014/main" id="{43929AB4-076F-294E-B995-F22B57E519B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71" name="Slide Number Placeholder 5">
            <a:extLst>
              <a:ext uri="{FF2B5EF4-FFF2-40B4-BE49-F238E27FC236}">
                <a16:creationId xmlns="" xmlns:a16="http://schemas.microsoft.com/office/drawing/2014/main" id="{EEA5F1B4-B3C4-1642-BE57-21C93FEB2C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38712" y="5689567"/>
            <a:ext cx="20574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50" y="1076211"/>
            <a:ext cx="7886700" cy="670967"/>
          </a:xfrm>
        </p:spPr>
        <p:txBody>
          <a:bodyPr>
            <a:normAutofit/>
          </a:bodyPr>
          <a:lstStyle/>
          <a:p>
            <a:r>
              <a:rPr lang="en-US" altLang="en-US" sz="3300" dirty="0">
                <a:ea typeface="ＭＳ Ｐゴシック" panose="020B0600070205080204" pitchFamily="34" charset="-128"/>
              </a:rPr>
              <a:t>Bad guys:  fake identity</a:t>
            </a:r>
            <a:endParaRPr lang="en-US" sz="3300" dirty="0"/>
          </a:p>
        </p:txBody>
      </p:sp>
      <p:sp>
        <p:nvSpPr>
          <p:cNvPr id="17" name="Rectangle 5">
            <a:extLst>
              <a:ext uri="{FF2B5EF4-FFF2-40B4-BE49-F238E27FC236}">
                <a16:creationId xmlns=""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2105183" y="2027462"/>
            <a:ext cx="7757123" cy="156334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7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IP spoofing:</a:t>
            </a:r>
            <a:r>
              <a:rPr lang="en-US" altLang="en-US" sz="24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injection of packet with false source address</a:t>
            </a:r>
          </a:p>
        </p:txBody>
      </p:sp>
      <p:grpSp>
        <p:nvGrpSpPr>
          <p:cNvPr id="5" name="Group 90">
            <a:extLst>
              <a:ext uri="{FF2B5EF4-FFF2-40B4-BE49-F238E27FC236}">
                <a16:creationId xmlns="" xmlns:a16="http://schemas.microsoft.com/office/drawing/2014/main" id="{4B8B6454-D739-8246-8FD0-D07116C10D1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11842" y="3119346"/>
            <a:ext cx="551259" cy="510778"/>
            <a:chOff x="-44" y="1473"/>
            <a:chExt cx="981" cy="1105"/>
          </a:xfrm>
        </p:grpSpPr>
        <p:pic>
          <p:nvPicPr>
            <p:cNvPr id="7" name="Picture 91" descr="desktop_computer_stylized_medium">
              <a:extLst>
                <a:ext uri="{FF2B5EF4-FFF2-40B4-BE49-F238E27FC236}">
                  <a16:creationId xmlns="" xmlns:a16="http://schemas.microsoft.com/office/drawing/2014/main" id="{9D5E2D1E-EE9F-104B-B66B-CCD25447B8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92">
              <a:extLst>
                <a:ext uri="{FF2B5EF4-FFF2-40B4-BE49-F238E27FC236}">
                  <a16:creationId xmlns="" xmlns:a16="http://schemas.microsoft.com/office/drawing/2014/main" id="{B5AF61F7-8621-F54F-BE21-3743A44AEC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9" name="Freeform 43">
            <a:extLst>
              <a:ext uri="{FF2B5EF4-FFF2-40B4-BE49-F238E27FC236}">
                <a16:creationId xmlns="" xmlns:a16="http://schemas.microsoft.com/office/drawing/2014/main" id="{4DB7420B-BEB3-FA46-87C6-F4E3D7CFB690}"/>
              </a:ext>
            </a:extLst>
          </p:cNvPr>
          <p:cNvSpPr>
            <a:spLocks/>
          </p:cNvSpPr>
          <p:nvPr/>
        </p:nvSpPr>
        <p:spPr bwMode="auto">
          <a:xfrm>
            <a:off x="4033036" y="3670606"/>
            <a:ext cx="3440906" cy="546497"/>
          </a:xfrm>
          <a:custGeom>
            <a:avLst/>
            <a:gdLst>
              <a:gd name="T0" fmla="*/ 2147483647 w 2620"/>
              <a:gd name="T1" fmla="*/ 0 h 459"/>
              <a:gd name="T2" fmla="*/ 0 w 2620"/>
              <a:gd name="T3" fmla="*/ 2147483647 h 459"/>
              <a:gd name="T4" fmla="*/ 2147483647 w 2620"/>
              <a:gd name="T5" fmla="*/ 2147483647 h 459"/>
              <a:gd name="T6" fmla="*/ 2147483647 w 2620"/>
              <a:gd name="T7" fmla="*/ 2147483647 h 459"/>
              <a:gd name="T8" fmla="*/ 0 60000 65536"/>
              <a:gd name="T9" fmla="*/ 0 60000 65536"/>
              <a:gd name="T10" fmla="*/ 0 60000 65536"/>
              <a:gd name="T11" fmla="*/ 0 60000 65536"/>
              <a:gd name="T12" fmla="*/ 0 w 2620"/>
              <a:gd name="T13" fmla="*/ 0 h 459"/>
              <a:gd name="T14" fmla="*/ 2620 w 2620"/>
              <a:gd name="T15" fmla="*/ 459 h 4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20" h="459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Freeform 44">
            <a:extLst>
              <a:ext uri="{FF2B5EF4-FFF2-40B4-BE49-F238E27FC236}">
                <a16:creationId xmlns="" xmlns:a16="http://schemas.microsoft.com/office/drawing/2014/main" id="{F85E0A6A-88C0-A24D-8518-8ED500586FDD}"/>
              </a:ext>
            </a:extLst>
          </p:cNvPr>
          <p:cNvSpPr>
            <a:spLocks/>
          </p:cNvSpPr>
          <p:nvPr/>
        </p:nvSpPr>
        <p:spPr bwMode="auto">
          <a:xfrm>
            <a:off x="6157110" y="3572973"/>
            <a:ext cx="3572" cy="391716"/>
          </a:xfrm>
          <a:custGeom>
            <a:avLst/>
            <a:gdLst>
              <a:gd name="T0" fmla="*/ 0 w 3"/>
              <a:gd name="T1" fmla="*/ 2147483647 h 329"/>
              <a:gd name="T2" fmla="*/ 2147483647 w 3"/>
              <a:gd name="T3" fmla="*/ 0 h 329"/>
              <a:gd name="T4" fmla="*/ 0 60000 65536"/>
              <a:gd name="T5" fmla="*/ 0 60000 65536"/>
              <a:gd name="T6" fmla="*/ 0 w 3"/>
              <a:gd name="T7" fmla="*/ 0 h 329"/>
              <a:gd name="T8" fmla="*/ 3 w 3"/>
              <a:gd name="T9" fmla="*/ 329 h 3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29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Line 45">
            <a:extLst>
              <a:ext uri="{FF2B5EF4-FFF2-40B4-BE49-F238E27FC236}">
                <a16:creationId xmlns="" xmlns:a16="http://schemas.microsoft.com/office/drawing/2014/main" id="{2ADBE0C5-B956-4149-BAB8-22ED6ADCCD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14098" y="3964689"/>
            <a:ext cx="0" cy="2809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Line 46">
            <a:extLst>
              <a:ext uri="{FF2B5EF4-FFF2-40B4-BE49-F238E27FC236}">
                <a16:creationId xmlns="" xmlns:a16="http://schemas.microsoft.com/office/drawing/2014/main" id="{90C68912-5E92-7540-BFA2-DF07C51EFD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28385" y="4498090"/>
            <a:ext cx="0" cy="180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Box 47">
            <a:extLst>
              <a:ext uri="{FF2B5EF4-FFF2-40B4-BE49-F238E27FC236}">
                <a16:creationId xmlns="" xmlns:a16="http://schemas.microsoft.com/office/drawing/2014/main" id="{AEB79674-18BD-3B41-8E45-BBD3D9EBF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1821" y="3137204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defRPr/>
            </a:pPr>
            <a:r>
              <a:rPr lang="en-US" altLang="en-US" sz="1800" dirty="0">
                <a:solidFill>
                  <a:prstClr val="black"/>
                </a:solidFill>
              </a:rPr>
              <a:t>A</a:t>
            </a:r>
          </a:p>
        </p:txBody>
      </p:sp>
      <p:sp>
        <p:nvSpPr>
          <p:cNvPr id="14" name="Text Box 48">
            <a:extLst>
              <a:ext uri="{FF2B5EF4-FFF2-40B4-BE49-F238E27FC236}">
                <a16:creationId xmlns="" xmlns:a16="http://schemas.microsoft.com/office/drawing/2014/main" id="{9F0C9BB1-EE53-294F-B9A4-6D29AB02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4119" y="4234961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defRPr/>
            </a:pPr>
            <a:r>
              <a:rPr lang="en-US" altLang="en-US" sz="1800" dirty="0">
                <a:solidFill>
                  <a:prstClr val="black"/>
                </a:solidFill>
              </a:rPr>
              <a:t>B</a:t>
            </a:r>
          </a:p>
        </p:txBody>
      </p:sp>
      <p:sp>
        <p:nvSpPr>
          <p:cNvPr id="15" name="Text Box 49">
            <a:extLst>
              <a:ext uri="{FF2B5EF4-FFF2-40B4-BE49-F238E27FC236}">
                <a16:creationId xmlns="" xmlns:a16="http://schemas.microsoft.com/office/drawing/2014/main" id="{84BD4A5A-ABEB-8E46-B54B-76C3BE0FD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7292" y="3120536"/>
            <a:ext cx="3513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defRPr/>
            </a:pPr>
            <a:r>
              <a:rPr lang="en-US" altLang="en-US" sz="1800" dirty="0">
                <a:solidFill>
                  <a:prstClr val="black"/>
                </a:solidFill>
              </a:rPr>
              <a:t>C</a:t>
            </a:r>
          </a:p>
        </p:txBody>
      </p:sp>
      <p:pic>
        <p:nvPicPr>
          <p:cNvPr id="26" name="Picture 60">
            <a:extLst>
              <a:ext uri="{FF2B5EF4-FFF2-40B4-BE49-F238E27FC236}">
                <a16:creationId xmlns="" xmlns:a16="http://schemas.microsoft.com/office/drawing/2014/main" id="{6C78CF69-C5D1-1042-99DC-4222EA4DC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082" y="3170543"/>
            <a:ext cx="353616" cy="3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Group 54">
            <a:extLst>
              <a:ext uri="{FF2B5EF4-FFF2-40B4-BE49-F238E27FC236}">
                <a16:creationId xmlns="" xmlns:a16="http://schemas.microsoft.com/office/drawing/2014/main" id="{E8873988-DB10-FE45-8043-BCFCC564ED65}"/>
              </a:ext>
            </a:extLst>
          </p:cNvPr>
          <p:cNvGrpSpPr>
            <a:grpSpLocks/>
          </p:cNvGrpSpPr>
          <p:nvPr/>
        </p:nvGrpSpPr>
        <p:grpSpPr bwMode="auto">
          <a:xfrm>
            <a:off x="3902067" y="3165780"/>
            <a:ext cx="273844" cy="534591"/>
            <a:chOff x="4140" y="429"/>
            <a:chExt cx="1425" cy="2396"/>
          </a:xfrm>
        </p:grpSpPr>
        <p:sp>
          <p:nvSpPr>
            <p:cNvPr id="28" name="Freeform 55">
              <a:extLst>
                <a:ext uri="{FF2B5EF4-FFF2-40B4-BE49-F238E27FC236}">
                  <a16:creationId xmlns="" xmlns:a16="http://schemas.microsoft.com/office/drawing/2014/main" id="{7E4CC2E0-3222-BE42-A828-FF50B8CF8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" name="Rectangle 56">
              <a:extLst>
                <a:ext uri="{FF2B5EF4-FFF2-40B4-BE49-F238E27FC236}">
                  <a16:creationId xmlns="" xmlns:a16="http://schemas.microsoft.com/office/drawing/2014/main" id="{A3A95F5A-927B-8844-AEEA-2C83A43D8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7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30" name="Freeform 57">
              <a:extLst>
                <a:ext uri="{FF2B5EF4-FFF2-40B4-BE49-F238E27FC236}">
                  <a16:creationId xmlns="" xmlns:a16="http://schemas.microsoft.com/office/drawing/2014/main" id="{0069D4B1-B450-FA40-8C0C-BF8FC124F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" name="Freeform 58">
              <a:extLst>
                <a:ext uri="{FF2B5EF4-FFF2-40B4-BE49-F238E27FC236}">
                  <a16:creationId xmlns="" xmlns:a16="http://schemas.microsoft.com/office/drawing/2014/main" id="{614429B8-C719-8644-AE6D-47F8C907A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Rectangle 59">
              <a:extLst>
                <a:ext uri="{FF2B5EF4-FFF2-40B4-BE49-F238E27FC236}">
                  <a16:creationId xmlns="" xmlns:a16="http://schemas.microsoft.com/office/drawing/2014/main" id="{2DD880A9-2F05-6141-8481-7222FC289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0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grpSp>
          <p:nvGrpSpPr>
            <p:cNvPr id="33" name="Group 60">
              <a:extLst>
                <a:ext uri="{FF2B5EF4-FFF2-40B4-BE49-F238E27FC236}">
                  <a16:creationId xmlns="" xmlns:a16="http://schemas.microsoft.com/office/drawing/2014/main" id="{719DB695-149D-A94C-90AB-A2D368B8EE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8" name="AutoShape 61">
                <a:extLst>
                  <a:ext uri="{FF2B5EF4-FFF2-40B4-BE49-F238E27FC236}">
                    <a16:creationId xmlns="" xmlns:a16="http://schemas.microsoft.com/office/drawing/2014/main" id="{7A4E2E24-3B0D-AF4F-A52C-2C357CC7E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AutoShape 62">
                <a:extLst>
                  <a:ext uri="{FF2B5EF4-FFF2-40B4-BE49-F238E27FC236}">
                    <a16:creationId xmlns="" xmlns:a16="http://schemas.microsoft.com/office/drawing/2014/main" id="{C6BB5F22-0BFB-674E-AB61-C51BC265F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34" name="Rectangle 63">
              <a:extLst>
                <a:ext uri="{FF2B5EF4-FFF2-40B4-BE49-F238E27FC236}">
                  <a16:creationId xmlns="" xmlns:a16="http://schemas.microsoft.com/office/drawing/2014/main" id="{9C5A4256-A53F-874E-BFA1-39FC396FF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21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grpSp>
          <p:nvGrpSpPr>
            <p:cNvPr id="35" name="Group 64">
              <a:extLst>
                <a:ext uri="{FF2B5EF4-FFF2-40B4-BE49-F238E27FC236}">
                  <a16:creationId xmlns="" xmlns:a16="http://schemas.microsoft.com/office/drawing/2014/main" id="{0E311E6A-3E40-F74F-B8AF-09D1E252AD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6" name="AutoShape 65">
                <a:extLst>
                  <a:ext uri="{FF2B5EF4-FFF2-40B4-BE49-F238E27FC236}">
                    <a16:creationId xmlns="" xmlns:a16="http://schemas.microsoft.com/office/drawing/2014/main" id="{1D179FF3-E8BF-8947-9AAD-E6B38311CA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AutoShape 66">
                <a:extLst>
                  <a:ext uri="{FF2B5EF4-FFF2-40B4-BE49-F238E27FC236}">
                    <a16:creationId xmlns="" xmlns:a16="http://schemas.microsoft.com/office/drawing/2014/main" id="{C3E96FCC-760E-C448-981B-346F9384B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36" name="Rectangle 67">
              <a:extLst>
                <a:ext uri="{FF2B5EF4-FFF2-40B4-BE49-F238E27FC236}">
                  <a16:creationId xmlns="" xmlns:a16="http://schemas.microsoft.com/office/drawing/2014/main" id="{48149864-6DD7-D34A-BFF0-68E14067A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8"/>
              <a:ext cx="601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37" name="Rectangle 68">
              <a:extLst>
                <a:ext uri="{FF2B5EF4-FFF2-40B4-BE49-F238E27FC236}">
                  <a16:creationId xmlns="" xmlns:a16="http://schemas.microsoft.com/office/drawing/2014/main" id="{05CA4BF4-1ECD-CA4F-8A7A-7B9330DA5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grpSp>
          <p:nvGrpSpPr>
            <p:cNvPr id="38" name="Group 69">
              <a:extLst>
                <a:ext uri="{FF2B5EF4-FFF2-40B4-BE49-F238E27FC236}">
                  <a16:creationId xmlns="" xmlns:a16="http://schemas.microsoft.com/office/drawing/2014/main" id="{F3E39B02-1298-0743-931E-B785BC775A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4" name="AutoShape 70">
                <a:extLst>
                  <a:ext uri="{FF2B5EF4-FFF2-40B4-BE49-F238E27FC236}">
                    <a16:creationId xmlns="" xmlns:a16="http://schemas.microsoft.com/office/drawing/2014/main" id="{F3EE4642-5A67-5747-9173-A2328DFB0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AutoShape 71">
                <a:extLst>
                  <a:ext uri="{FF2B5EF4-FFF2-40B4-BE49-F238E27FC236}">
                    <a16:creationId xmlns="" xmlns:a16="http://schemas.microsoft.com/office/drawing/2014/main" id="{5229E8D7-0E29-214E-AA57-AFE2A59BD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95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39" name="Freeform 72">
              <a:extLst>
                <a:ext uri="{FF2B5EF4-FFF2-40B4-BE49-F238E27FC236}">
                  <a16:creationId xmlns="" xmlns:a16="http://schemas.microsoft.com/office/drawing/2014/main" id="{D90341F2-014E-B14A-B581-851392F93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40" name="Group 73">
              <a:extLst>
                <a:ext uri="{FF2B5EF4-FFF2-40B4-BE49-F238E27FC236}">
                  <a16:creationId xmlns="" xmlns:a16="http://schemas.microsoft.com/office/drawing/2014/main" id="{280B6B26-F269-5C4C-8C19-DBA764C6CD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2" name="AutoShape 74">
                <a:extLst>
                  <a:ext uri="{FF2B5EF4-FFF2-40B4-BE49-F238E27FC236}">
                    <a16:creationId xmlns="" xmlns:a16="http://schemas.microsoft.com/office/drawing/2014/main" id="{6DB26256-77EF-F140-B0E4-C02F57D54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AutoShape 75">
                <a:extLst>
                  <a:ext uri="{FF2B5EF4-FFF2-40B4-BE49-F238E27FC236}">
                    <a16:creationId xmlns="" xmlns:a16="http://schemas.microsoft.com/office/drawing/2014/main" id="{EFE076B6-538F-1744-AEFF-42E849FD6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41" name="Rectangle 76">
              <a:extLst>
                <a:ext uri="{FF2B5EF4-FFF2-40B4-BE49-F238E27FC236}">
                  <a16:creationId xmlns="" xmlns:a16="http://schemas.microsoft.com/office/drawing/2014/main" id="{022EA956-CFF7-F444-96E1-83E349825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42" name="Freeform 77">
              <a:extLst>
                <a:ext uri="{FF2B5EF4-FFF2-40B4-BE49-F238E27FC236}">
                  <a16:creationId xmlns="" xmlns:a16="http://schemas.microsoft.com/office/drawing/2014/main" id="{8B0DE4B6-8814-1E46-82AC-7B6D087A2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3" name="Freeform 78">
              <a:extLst>
                <a:ext uri="{FF2B5EF4-FFF2-40B4-BE49-F238E27FC236}">
                  <a16:creationId xmlns="" xmlns:a16="http://schemas.microsoft.com/office/drawing/2014/main" id="{A9CF5A83-FC5F-8D4B-B779-B41007025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4" name="Oval 79">
              <a:extLst>
                <a:ext uri="{FF2B5EF4-FFF2-40B4-BE49-F238E27FC236}">
                  <a16:creationId xmlns="" xmlns:a16="http://schemas.microsoft.com/office/drawing/2014/main" id="{FDB262EF-72BC-F740-9B4D-1FFE5D070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45" name="Freeform 80">
              <a:extLst>
                <a:ext uri="{FF2B5EF4-FFF2-40B4-BE49-F238E27FC236}">
                  <a16:creationId xmlns="" xmlns:a16="http://schemas.microsoft.com/office/drawing/2014/main" id="{20A2BDF1-5362-9947-B37C-44E590138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6" name="AutoShape 81">
              <a:extLst>
                <a:ext uri="{FF2B5EF4-FFF2-40B4-BE49-F238E27FC236}">
                  <a16:creationId xmlns="" xmlns:a16="http://schemas.microsoft.com/office/drawing/2014/main" id="{BAC73710-D3B8-8C49-97AA-648DC14CD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47" name="AutoShape 82">
              <a:extLst>
                <a:ext uri="{FF2B5EF4-FFF2-40B4-BE49-F238E27FC236}">
                  <a16:creationId xmlns="" xmlns:a16="http://schemas.microsoft.com/office/drawing/2014/main" id="{1AA6B3D5-8E2F-C340-A675-9DC59E4B0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6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48" name="Oval 83">
              <a:extLst>
                <a:ext uri="{FF2B5EF4-FFF2-40B4-BE49-F238E27FC236}">
                  <a16:creationId xmlns="" xmlns:a16="http://schemas.microsoft.com/office/drawing/2014/main" id="{A39BEF0A-EE8E-7248-A007-97D328CCA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49" name="Oval 84">
              <a:extLst>
                <a:ext uri="{FF2B5EF4-FFF2-40B4-BE49-F238E27FC236}">
                  <a16:creationId xmlns="" xmlns:a16="http://schemas.microsoft.com/office/drawing/2014/main" id="{27EEB08E-8DAC-7647-9E5A-B37F47E9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defRPr/>
              </a:pPr>
              <a:endParaRPr lang="en-US" altLang="en-US" sz="1350" dirty="0">
                <a:solidFill>
                  <a:srgbClr val="FF0000"/>
                </a:solidFill>
              </a:endParaRPr>
            </a:p>
          </p:txBody>
        </p:sp>
        <p:sp>
          <p:nvSpPr>
            <p:cNvPr id="50" name="Oval 85">
              <a:extLst>
                <a:ext uri="{FF2B5EF4-FFF2-40B4-BE49-F238E27FC236}">
                  <a16:creationId xmlns="" xmlns:a16="http://schemas.microsoft.com/office/drawing/2014/main" id="{7165A7B4-85F9-2640-A0EE-2335D6B55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51" name="Rectangle 86">
              <a:extLst>
                <a:ext uri="{FF2B5EF4-FFF2-40B4-BE49-F238E27FC236}">
                  <a16:creationId xmlns="" xmlns:a16="http://schemas.microsoft.com/office/drawing/2014/main" id="{C2E9996D-163B-D745-A6A8-45AB41D5E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0" name="Group 87">
            <a:extLst>
              <a:ext uri="{FF2B5EF4-FFF2-40B4-BE49-F238E27FC236}">
                <a16:creationId xmlns="" xmlns:a16="http://schemas.microsoft.com/office/drawing/2014/main" id="{F67D1896-6BBC-AB41-B67F-AB3399BB37B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271536" y="4153999"/>
            <a:ext cx="551259" cy="510779"/>
            <a:chOff x="-44" y="1473"/>
            <a:chExt cx="981" cy="1105"/>
          </a:xfrm>
        </p:grpSpPr>
        <p:pic>
          <p:nvPicPr>
            <p:cNvPr id="61" name="Picture 88" descr="desktop_computer_stylized_medium">
              <a:extLst>
                <a:ext uri="{FF2B5EF4-FFF2-40B4-BE49-F238E27FC236}">
                  <a16:creationId xmlns="" xmlns:a16="http://schemas.microsoft.com/office/drawing/2014/main" id="{12544D91-DE12-C440-AF3A-72D9066513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" name="Freeform 89">
              <a:extLst>
                <a:ext uri="{FF2B5EF4-FFF2-40B4-BE49-F238E27FC236}">
                  <a16:creationId xmlns="" xmlns:a16="http://schemas.microsoft.com/office/drawing/2014/main" id="{D8342731-E1B7-FF4F-B63A-2B9EF713C35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="" xmlns:a16="http://schemas.microsoft.com/office/drawing/2014/main" id="{B9D1305C-AF63-6240-8FD1-E69B36970A8F}"/>
              </a:ext>
            </a:extLst>
          </p:cNvPr>
          <p:cNvGrpSpPr/>
          <p:nvPr/>
        </p:nvGrpSpPr>
        <p:grpSpPr>
          <a:xfrm>
            <a:off x="4554529" y="4158898"/>
            <a:ext cx="719138" cy="357188"/>
            <a:chOff x="7493876" y="2774731"/>
            <a:chExt cx="1481958" cy="894622"/>
          </a:xfrm>
        </p:grpSpPr>
        <p:sp>
          <p:nvSpPr>
            <p:cNvPr id="83" name="Freeform 82">
              <a:extLst>
                <a:ext uri="{FF2B5EF4-FFF2-40B4-BE49-F238E27FC236}">
                  <a16:creationId xmlns="" xmlns:a16="http://schemas.microsoft.com/office/drawing/2014/main" id="{E653ABFA-F7DB-F14E-95A5-0FDFB684F51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="" xmlns:a16="http://schemas.microsoft.com/office/drawing/2014/main" id="{07CB97C4-3176-704C-832B-2769F9BD8A3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="" xmlns:a16="http://schemas.microsoft.com/office/drawing/2014/main" id="{1C4E248C-B7EE-0749-BE84-6D97E6830AA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" name="Freeform 85">
                <a:extLst>
                  <a:ext uri="{FF2B5EF4-FFF2-40B4-BE49-F238E27FC236}">
                    <a16:creationId xmlns="" xmlns:a16="http://schemas.microsoft.com/office/drawing/2014/main" id="{D8ABCFB8-B1A0-CC43-8976-0D9324A60B7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="" xmlns:a16="http://schemas.microsoft.com/office/drawing/2014/main" id="{21E1551D-8D59-7F4D-9AC3-A82F786FCBC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="" xmlns:a16="http://schemas.microsoft.com/office/drawing/2014/main" id="{F50F35D5-457F-BD4D-9C04-D7E77ADC1C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="" xmlns:a16="http://schemas.microsoft.com/office/drawing/2014/main" id="{43929AB4-076F-294E-B995-F22B57E519B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2CCE516A-DB7A-FB49-88E0-3F932755EEE9}"/>
              </a:ext>
            </a:extLst>
          </p:cNvPr>
          <p:cNvGrpSpPr/>
          <p:nvPr/>
        </p:nvGrpSpPr>
        <p:grpSpPr>
          <a:xfrm>
            <a:off x="3984124" y="3545945"/>
            <a:ext cx="2225279" cy="823919"/>
            <a:chOff x="3293812" y="3967064"/>
            <a:chExt cx="2967038" cy="1098559"/>
          </a:xfrm>
        </p:grpSpPr>
        <p:sp>
          <p:nvSpPr>
            <p:cNvPr id="72" name="Freeform 77">
              <a:extLst>
                <a:ext uri="{FF2B5EF4-FFF2-40B4-BE49-F238E27FC236}">
                  <a16:creationId xmlns="" xmlns:a16="http://schemas.microsoft.com/office/drawing/2014/main" id="{31E2CC4C-34A2-A74C-B65A-214EFD240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3812" y="3967064"/>
              <a:ext cx="2967038" cy="704850"/>
            </a:xfrm>
            <a:custGeom>
              <a:avLst/>
              <a:gdLst>
                <a:gd name="T0" fmla="*/ 2147483647 w 1869"/>
                <a:gd name="T1" fmla="*/ 0 h 444"/>
                <a:gd name="T2" fmla="*/ 2147483647 w 1869"/>
                <a:gd name="T3" fmla="*/ 2147483647 h 444"/>
                <a:gd name="T4" fmla="*/ 0 w 1869"/>
                <a:gd name="T5" fmla="*/ 2147483647 h 444"/>
                <a:gd name="T6" fmla="*/ 0 60000 65536"/>
                <a:gd name="T7" fmla="*/ 0 60000 65536"/>
                <a:gd name="T8" fmla="*/ 0 60000 65536"/>
                <a:gd name="T9" fmla="*/ 0 w 1869"/>
                <a:gd name="T10" fmla="*/ 0 h 444"/>
                <a:gd name="T11" fmla="*/ 1869 w 1869"/>
                <a:gd name="T12" fmla="*/ 444 h 4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69" h="444">
                  <a:moveTo>
                    <a:pt x="1869" y="0"/>
                  </a:moveTo>
                  <a:lnTo>
                    <a:pt x="1869" y="444"/>
                  </a:lnTo>
                  <a:lnTo>
                    <a:pt x="0" y="444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73" name="Group 78">
              <a:extLst>
                <a:ext uri="{FF2B5EF4-FFF2-40B4-BE49-F238E27FC236}">
                  <a16:creationId xmlns="" xmlns:a16="http://schemas.microsoft.com/office/drawing/2014/main" id="{9CEF9F64-861C-7C4C-8594-4DC43481EB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0537" y="4449672"/>
              <a:ext cx="2295525" cy="615951"/>
              <a:chOff x="2418" y="3342"/>
              <a:chExt cx="1446" cy="388"/>
            </a:xfrm>
          </p:grpSpPr>
          <p:sp>
            <p:nvSpPr>
              <p:cNvPr id="74" name="Rectangle 79">
                <a:extLst>
                  <a:ext uri="{FF2B5EF4-FFF2-40B4-BE49-F238E27FC236}">
                    <a16:creationId xmlns="" xmlns:a16="http://schemas.microsoft.com/office/drawing/2014/main" id="{A1E49101-6F18-CB48-8EBB-03B456FEE8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3" y="3366"/>
                <a:ext cx="1356" cy="174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" name="Line 80">
                <a:extLst>
                  <a:ext uri="{FF2B5EF4-FFF2-40B4-BE49-F238E27FC236}">
                    <a16:creationId xmlns="" xmlns:a16="http://schemas.microsoft.com/office/drawing/2014/main" id="{61144F55-A889-914E-A5B8-46BB6DF4F3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3372"/>
                <a:ext cx="0" cy="1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6" name="Line 81">
                <a:extLst>
                  <a:ext uri="{FF2B5EF4-FFF2-40B4-BE49-F238E27FC236}">
                    <a16:creationId xmlns="" xmlns:a16="http://schemas.microsoft.com/office/drawing/2014/main" id="{352FD75E-78ED-5D49-88CB-67A89ED572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6" y="3375"/>
                <a:ext cx="0" cy="1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7" name="Line 82">
                <a:extLst>
                  <a:ext uri="{FF2B5EF4-FFF2-40B4-BE49-F238E27FC236}">
                    <a16:creationId xmlns="" xmlns:a16="http://schemas.microsoft.com/office/drawing/2014/main" id="{F00A1AE7-75BA-9F41-9557-FF2EC164D2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1" y="3375"/>
                <a:ext cx="0" cy="1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8" name="Text Box 83">
                <a:extLst>
                  <a:ext uri="{FF2B5EF4-FFF2-40B4-BE49-F238E27FC236}">
                    <a16:creationId xmlns="" xmlns:a16="http://schemas.microsoft.com/office/drawing/2014/main" id="{581B7D01-7767-D64C-AA40-D460CE7527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8" y="3342"/>
                <a:ext cx="1446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defRPr/>
                </a:pPr>
                <a:r>
                  <a:rPr lang="en-US" altLang="en-US" sz="1200" dirty="0">
                    <a:solidFill>
                      <a:srgbClr val="CC0000"/>
                    </a:solidFill>
                  </a:rPr>
                  <a:t>src:B</a:t>
                </a:r>
                <a:r>
                  <a:rPr lang="en-US" altLang="en-US" sz="1200" dirty="0">
                    <a:solidFill>
                      <a:prstClr val="black"/>
                    </a:solidFill>
                  </a:rPr>
                  <a:t> dest:A     payload</a:t>
                </a:r>
                <a:endParaRPr lang="en-US" altLang="en-US" sz="1200" dirty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67" name="Slide Number Placeholder 5">
            <a:extLst>
              <a:ext uri="{FF2B5EF4-FFF2-40B4-BE49-F238E27FC236}">
                <a16:creationId xmlns="" xmlns:a16="http://schemas.microsoft.com/office/drawing/2014/main" id="{2255C84A-9C2E-5440-8C7B-2EFA237CD1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38712" y="5689567"/>
            <a:ext cx="20574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835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50" y="1076211"/>
            <a:ext cx="7886700" cy="670967"/>
          </a:xfrm>
        </p:spPr>
        <p:txBody>
          <a:bodyPr>
            <a:normAutofit/>
          </a:bodyPr>
          <a:lstStyle/>
          <a:p>
            <a:r>
              <a:rPr lang="en-US" altLang="en-US" sz="3300" dirty="0">
                <a:ea typeface="ＭＳ Ｐゴシック" panose="020B0600070205080204" pitchFamily="34" charset="-128"/>
              </a:rPr>
              <a:t>Bad guys: denial of service</a:t>
            </a:r>
          </a:p>
        </p:txBody>
      </p:sp>
      <p:grpSp>
        <p:nvGrpSpPr>
          <p:cNvPr id="5" name="Group 131">
            <a:extLst>
              <a:ext uri="{FF2B5EF4-FFF2-40B4-BE49-F238E27FC236}">
                <a16:creationId xmlns="" xmlns:a16="http://schemas.microsoft.com/office/drawing/2014/main" id="{5671BF31-8345-4A47-A6EE-F59651ABF1C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183509" y="3677086"/>
            <a:ext cx="551259" cy="510778"/>
            <a:chOff x="-44" y="1473"/>
            <a:chExt cx="981" cy="1105"/>
          </a:xfrm>
        </p:grpSpPr>
        <p:pic>
          <p:nvPicPr>
            <p:cNvPr id="7" name="Picture 132" descr="desktop_computer_stylized_medium">
              <a:extLst>
                <a:ext uri="{FF2B5EF4-FFF2-40B4-BE49-F238E27FC236}">
                  <a16:creationId xmlns="" xmlns:a16="http://schemas.microsoft.com/office/drawing/2014/main" id="{CF849B20-A34D-E044-9DF7-A03B28E734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133">
              <a:extLst>
                <a:ext uri="{FF2B5EF4-FFF2-40B4-BE49-F238E27FC236}">
                  <a16:creationId xmlns="" xmlns:a16="http://schemas.microsoft.com/office/drawing/2014/main" id="{F87F7675-3615-BE4C-BECA-BC2EB60FEB9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9" name="Group 186">
            <a:extLst>
              <a:ext uri="{FF2B5EF4-FFF2-40B4-BE49-F238E27FC236}">
                <a16:creationId xmlns="" xmlns:a16="http://schemas.microsoft.com/office/drawing/2014/main" id="{A485E3ED-561D-B445-816D-36AEBD4DCE66}"/>
              </a:ext>
            </a:extLst>
          </p:cNvPr>
          <p:cNvGrpSpPr>
            <a:grpSpLocks/>
          </p:cNvGrpSpPr>
          <p:nvPr/>
        </p:nvGrpSpPr>
        <p:grpSpPr bwMode="auto">
          <a:xfrm>
            <a:off x="7589516" y="3859251"/>
            <a:ext cx="676275" cy="970360"/>
            <a:chOff x="5069" y="1396"/>
            <a:chExt cx="568" cy="815"/>
          </a:xfrm>
        </p:grpSpPr>
        <p:sp>
          <p:nvSpPr>
            <p:cNvPr id="10" name="Text Box 21">
              <a:extLst>
                <a:ext uri="{FF2B5EF4-FFF2-40B4-BE49-F238E27FC236}">
                  <a16:creationId xmlns="" xmlns:a16="http://schemas.microsoft.com/office/drawing/2014/main" id="{252895BB-2B09-1C42-9FBA-A9EA9F582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9" y="1940"/>
              <a:ext cx="56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target</a:t>
              </a:r>
            </a:p>
          </p:txBody>
        </p:sp>
        <p:grpSp>
          <p:nvGrpSpPr>
            <p:cNvPr id="11" name="Group 153">
              <a:extLst>
                <a:ext uri="{FF2B5EF4-FFF2-40B4-BE49-F238E27FC236}">
                  <a16:creationId xmlns="" xmlns:a16="http://schemas.microsoft.com/office/drawing/2014/main" id="{2102AA82-D8E7-4149-9FC5-0E55B9687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00" y="1396"/>
              <a:ext cx="258" cy="574"/>
              <a:chOff x="4140" y="429"/>
              <a:chExt cx="1425" cy="2396"/>
            </a:xfrm>
          </p:grpSpPr>
          <p:sp>
            <p:nvSpPr>
              <p:cNvPr id="12" name="Freeform 154">
                <a:extLst>
                  <a:ext uri="{FF2B5EF4-FFF2-40B4-BE49-F238E27FC236}">
                    <a16:creationId xmlns="" xmlns:a16="http://schemas.microsoft.com/office/drawing/2014/main" id="{4ABA3590-788E-A640-8340-D6788D8A7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" name="Rectangle 155">
                <a:extLst>
                  <a:ext uri="{FF2B5EF4-FFF2-40B4-BE49-F238E27FC236}">
                    <a16:creationId xmlns="" xmlns:a16="http://schemas.microsoft.com/office/drawing/2014/main" id="{BA5EDD97-668D-144C-8C2C-961823730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9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Freeform 156">
                <a:extLst>
                  <a:ext uri="{FF2B5EF4-FFF2-40B4-BE49-F238E27FC236}">
                    <a16:creationId xmlns="" xmlns:a16="http://schemas.microsoft.com/office/drawing/2014/main" id="{2D62D25E-0524-B641-AAD0-241CA458D2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5" name="Freeform 157">
                <a:extLst>
                  <a:ext uri="{FF2B5EF4-FFF2-40B4-BE49-F238E27FC236}">
                    <a16:creationId xmlns="" xmlns:a16="http://schemas.microsoft.com/office/drawing/2014/main" id="{2A48AA36-9069-1545-BFAF-1DE1C7CB8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6" name="Rectangle 158">
                <a:extLst>
                  <a:ext uri="{FF2B5EF4-FFF2-40B4-BE49-F238E27FC236}">
                    <a16:creationId xmlns="" xmlns:a16="http://schemas.microsoft.com/office/drawing/2014/main" id="{C46736B1-4F91-F541-8A78-57B6CCE47A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2"/>
                <a:ext cx="597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8" name="Group 159">
                <a:extLst>
                  <a:ext uri="{FF2B5EF4-FFF2-40B4-BE49-F238E27FC236}">
                    <a16:creationId xmlns="" xmlns:a16="http://schemas.microsoft.com/office/drawing/2014/main" id="{58A0138B-7FFC-CD44-9B9E-6FB82DDE21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3" name="AutoShape 160">
                  <a:extLst>
                    <a:ext uri="{FF2B5EF4-FFF2-40B4-BE49-F238E27FC236}">
                      <a16:creationId xmlns="" xmlns:a16="http://schemas.microsoft.com/office/drawing/2014/main" id="{A5FEEE84-EB21-BF47-A4F6-1E0F680B83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" name="AutoShape 161">
                  <a:extLst>
                    <a:ext uri="{FF2B5EF4-FFF2-40B4-BE49-F238E27FC236}">
                      <a16:creationId xmlns="" xmlns:a16="http://schemas.microsoft.com/office/drawing/2014/main" id="{C8123062-722F-A642-9F03-DDE66E9B51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3"/>
                  <a:ext cx="689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19" name="Rectangle 162">
                <a:extLst>
                  <a:ext uri="{FF2B5EF4-FFF2-40B4-BE49-F238E27FC236}">
                    <a16:creationId xmlns="" xmlns:a16="http://schemas.microsoft.com/office/drawing/2014/main" id="{C9020AB0-B17D-CB4F-A9B5-99244FB36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8"/>
                <a:ext cx="597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20" name="Group 163">
                <a:extLst>
                  <a:ext uri="{FF2B5EF4-FFF2-40B4-BE49-F238E27FC236}">
                    <a16:creationId xmlns="" xmlns:a16="http://schemas.microsoft.com/office/drawing/2014/main" id="{CE1259C3-A2E3-0149-B586-E73AACF0B1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1" name="AutoShape 164">
                  <a:extLst>
                    <a:ext uri="{FF2B5EF4-FFF2-40B4-BE49-F238E27FC236}">
                      <a16:creationId xmlns="" xmlns:a16="http://schemas.microsoft.com/office/drawing/2014/main" id="{D86524F2-6B03-3146-93C7-EA6450B7CC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6"/>
                  <a:ext cx="724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2" name="AutoShape 165">
                  <a:extLst>
                    <a:ext uri="{FF2B5EF4-FFF2-40B4-BE49-F238E27FC236}">
                      <a16:creationId xmlns="" xmlns:a16="http://schemas.microsoft.com/office/drawing/2014/main" id="{6476B1C6-56E6-5B4A-8EB5-AE9CB1666D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4"/>
                  <a:ext cx="689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21" name="Rectangle 166">
                <a:extLst>
                  <a:ext uri="{FF2B5EF4-FFF2-40B4-BE49-F238E27FC236}">
                    <a16:creationId xmlns="" xmlns:a16="http://schemas.microsoft.com/office/drawing/2014/main" id="{19AC0D5F-2746-3944-A6FE-00A27A7A8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60"/>
                <a:ext cx="597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Rectangle 167">
                <a:extLst>
                  <a:ext uri="{FF2B5EF4-FFF2-40B4-BE49-F238E27FC236}">
                    <a16:creationId xmlns="" xmlns:a16="http://schemas.microsoft.com/office/drawing/2014/main" id="{51C0D0C0-5DDE-2749-8E54-4F5D8BBCC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6"/>
                <a:ext cx="597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23" name="Group 168">
                <a:extLst>
                  <a:ext uri="{FF2B5EF4-FFF2-40B4-BE49-F238E27FC236}">
                    <a16:creationId xmlns="" xmlns:a16="http://schemas.microsoft.com/office/drawing/2014/main" id="{2835C54C-E01E-FF41-8541-1761149C6D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9" name="AutoShape 169">
                  <a:extLst>
                    <a:ext uri="{FF2B5EF4-FFF2-40B4-BE49-F238E27FC236}">
                      <a16:creationId xmlns="" xmlns:a16="http://schemas.microsoft.com/office/drawing/2014/main" id="{C174DDB7-5793-FE4E-9850-1A7EE0976B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0" name="AutoShape 170">
                  <a:extLst>
                    <a:ext uri="{FF2B5EF4-FFF2-40B4-BE49-F238E27FC236}">
                      <a16:creationId xmlns="" xmlns:a16="http://schemas.microsoft.com/office/drawing/2014/main" id="{CD6C8529-D6B3-AB49-AAC4-D6272A0472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88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24" name="Freeform 171">
                <a:extLst>
                  <a:ext uri="{FF2B5EF4-FFF2-40B4-BE49-F238E27FC236}">
                    <a16:creationId xmlns="" xmlns:a16="http://schemas.microsoft.com/office/drawing/2014/main" id="{2368CE90-8A8A-B34E-A754-54A2CDC4DF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25" name="Group 172">
                <a:extLst>
                  <a:ext uri="{FF2B5EF4-FFF2-40B4-BE49-F238E27FC236}">
                    <a16:creationId xmlns="" xmlns:a16="http://schemas.microsoft.com/office/drawing/2014/main" id="{6BEBC90B-C3CE-7D4B-BA74-8D2E9FB586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7" name="AutoShape 173">
                  <a:extLst>
                    <a:ext uri="{FF2B5EF4-FFF2-40B4-BE49-F238E27FC236}">
                      <a16:creationId xmlns="" xmlns:a16="http://schemas.microsoft.com/office/drawing/2014/main" id="{AC94CA82-E128-0744-B46F-E756D9305C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8" name="AutoShape 174">
                  <a:extLst>
                    <a:ext uri="{FF2B5EF4-FFF2-40B4-BE49-F238E27FC236}">
                      <a16:creationId xmlns="" xmlns:a16="http://schemas.microsoft.com/office/drawing/2014/main" id="{708F3622-CE87-8044-8A8E-FF1DDA451E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4"/>
                  <a:ext cx="695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26" name="Rectangle 175">
                <a:extLst>
                  <a:ext uri="{FF2B5EF4-FFF2-40B4-BE49-F238E27FC236}">
                    <a16:creationId xmlns="" xmlns:a16="http://schemas.microsoft.com/office/drawing/2014/main" id="{3FE17BF0-39BE-F44D-9554-2D4B846E4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6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7" name="Freeform 176">
                <a:extLst>
                  <a:ext uri="{FF2B5EF4-FFF2-40B4-BE49-F238E27FC236}">
                    <a16:creationId xmlns="" xmlns:a16="http://schemas.microsoft.com/office/drawing/2014/main" id="{633D9845-5E25-474E-8BF7-FC1F0BD4CD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8" name="Freeform 177">
                <a:extLst>
                  <a:ext uri="{FF2B5EF4-FFF2-40B4-BE49-F238E27FC236}">
                    <a16:creationId xmlns="" xmlns:a16="http://schemas.microsoft.com/office/drawing/2014/main" id="{78C34C93-2320-564F-ADFD-350C3AD55F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9" name="Oval 178">
                <a:extLst>
                  <a:ext uri="{FF2B5EF4-FFF2-40B4-BE49-F238E27FC236}">
                    <a16:creationId xmlns="" xmlns:a16="http://schemas.microsoft.com/office/drawing/2014/main" id="{5424D659-B05B-BA43-836D-2FA5040B7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2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Freeform 179">
                <a:extLst>
                  <a:ext uri="{FF2B5EF4-FFF2-40B4-BE49-F238E27FC236}">
                    <a16:creationId xmlns="" xmlns:a16="http://schemas.microsoft.com/office/drawing/2014/main" id="{901B4BB8-C637-AE40-85D1-E590B5A63D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1" name="AutoShape 180">
                <a:extLst>
                  <a:ext uri="{FF2B5EF4-FFF2-40B4-BE49-F238E27FC236}">
                    <a16:creationId xmlns="" xmlns:a16="http://schemas.microsoft.com/office/drawing/2014/main" id="{751300FB-CBCE-FB4E-84C9-1F41694500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9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AutoShape 181">
                <a:extLst>
                  <a:ext uri="{FF2B5EF4-FFF2-40B4-BE49-F238E27FC236}">
                    <a16:creationId xmlns="" xmlns:a16="http://schemas.microsoft.com/office/drawing/2014/main" id="{14F80730-26F5-7849-BE0D-295114CEF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2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Oval 182">
                <a:extLst>
                  <a:ext uri="{FF2B5EF4-FFF2-40B4-BE49-F238E27FC236}">
                    <a16:creationId xmlns="" xmlns:a16="http://schemas.microsoft.com/office/drawing/2014/main" id="{754B8C0E-A673-B848-BF9B-96DC9D861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3"/>
                <a:ext cx="160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Oval 183">
                <a:extLst>
                  <a:ext uri="{FF2B5EF4-FFF2-40B4-BE49-F238E27FC236}">
                    <a16:creationId xmlns="" xmlns:a16="http://schemas.microsoft.com/office/drawing/2014/main" id="{0850A2C2-5BDF-8644-B742-A1CE7E134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3"/>
                <a:ext cx="160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defRPr/>
                </a:pPr>
                <a:endParaRPr lang="en-US" altLang="en-US" sz="135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5" name="Oval 184">
                <a:extLst>
                  <a:ext uri="{FF2B5EF4-FFF2-40B4-BE49-F238E27FC236}">
                    <a16:creationId xmlns="" xmlns:a16="http://schemas.microsoft.com/office/drawing/2014/main" id="{542B7A1C-5166-F14C-99EB-9D369CD71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5" y="2383"/>
                <a:ext cx="155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6" name="Rectangle 185">
                <a:extLst>
                  <a:ext uri="{FF2B5EF4-FFF2-40B4-BE49-F238E27FC236}">
                    <a16:creationId xmlns="" xmlns:a16="http://schemas.microsoft.com/office/drawing/2014/main" id="{96E57170-1D21-3041-80C5-BCD5BCFE0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6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45" name="Rectangle 3">
            <a:extLst>
              <a:ext uri="{FF2B5EF4-FFF2-40B4-BE49-F238E27FC236}">
                <a16:creationId xmlns="" xmlns:a16="http://schemas.microsoft.com/office/drawing/2014/main" id="{B003BE48-58DC-5A4B-9250-A838A7C7044A}"/>
              </a:ext>
            </a:extLst>
          </p:cNvPr>
          <p:cNvSpPr txBox="1">
            <a:spLocks noChangeArrowheads="1"/>
          </p:cNvSpPr>
          <p:nvPr/>
        </p:nvSpPr>
        <p:spPr>
          <a:xfrm>
            <a:off x="2069510" y="1902161"/>
            <a:ext cx="7397903" cy="114333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4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Denial of Service (DoS):</a:t>
            </a: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attackers make resources (server, bandwidth) unavailable to legitimate traffic by overwhelming resource with bogus traffic</a:t>
            </a:r>
          </a:p>
        </p:txBody>
      </p:sp>
      <p:sp>
        <p:nvSpPr>
          <p:cNvPr id="46" name="Rectangle 4">
            <a:extLst>
              <a:ext uri="{FF2B5EF4-FFF2-40B4-BE49-F238E27FC236}">
                <a16:creationId xmlns="" xmlns:a16="http://schemas.microsoft.com/office/drawing/2014/main" id="{CEF91AB4-C999-A54F-97F0-0D764C08F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5244" y="3194890"/>
            <a:ext cx="3086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indent="-342900" defTabSz="685800">
              <a:spcBef>
                <a:spcPct val="20000"/>
              </a:spcBef>
              <a:buClr>
                <a:srgbClr val="ED7D31"/>
              </a:buClr>
              <a:buSzPct val="85000"/>
              <a:defRPr/>
            </a:pPr>
            <a:r>
              <a:rPr lang="en-US" altLang="en-US" sz="2100" dirty="0">
                <a:solidFill>
                  <a:srgbClr val="000099"/>
                </a:solidFill>
                <a:latin typeface="Calibri" panose="020F0502020204030204"/>
              </a:rPr>
              <a:t>1.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 select target</a:t>
            </a:r>
          </a:p>
        </p:txBody>
      </p:sp>
      <p:sp>
        <p:nvSpPr>
          <p:cNvPr id="47" name="Rectangle 5">
            <a:extLst>
              <a:ext uri="{FF2B5EF4-FFF2-40B4-BE49-F238E27FC236}">
                <a16:creationId xmlns="" xmlns:a16="http://schemas.microsoft.com/office/drawing/2014/main" id="{075D78BA-F2C2-D04E-8588-A73192FF0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485" y="3584224"/>
            <a:ext cx="284678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indent="-342900" defTabSz="685800">
              <a:spcBef>
                <a:spcPct val="20000"/>
              </a:spcBef>
              <a:buClr>
                <a:srgbClr val="ED7D31"/>
              </a:buClr>
              <a:buSzPct val="85000"/>
              <a:defRPr/>
            </a:pPr>
            <a:r>
              <a:rPr lang="en-US" altLang="en-US" sz="2100" dirty="0">
                <a:solidFill>
                  <a:srgbClr val="000099"/>
                </a:solidFill>
                <a:latin typeface="Calibri" panose="020F0502020204030204"/>
              </a:rPr>
              <a:t>2.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 break into hosts around the network (see botnet)</a:t>
            </a:r>
          </a:p>
          <a:p>
            <a:pPr marL="342900" indent="-342900" defTabSz="685800">
              <a:spcBef>
                <a:spcPct val="20000"/>
              </a:spcBef>
              <a:buClr>
                <a:srgbClr val="ED7D31"/>
              </a:buClr>
              <a:buSzPct val="85000"/>
              <a:buFont typeface="ZapfDingbats" charset="2"/>
              <a:buAutoNum type="arabicPeriod" startAt="2"/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Rectangle 6">
            <a:extLst>
              <a:ext uri="{FF2B5EF4-FFF2-40B4-BE49-F238E27FC236}">
                <a16:creationId xmlns="" xmlns:a16="http://schemas.microsoft.com/office/drawing/2014/main" id="{9860933B-2B16-1242-A6CB-2A2E5DF5B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270" y="4527893"/>
            <a:ext cx="30861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indent="-342900" defTabSz="685800">
              <a:spcBef>
                <a:spcPct val="20000"/>
              </a:spcBef>
              <a:buClr>
                <a:srgbClr val="ED7D31"/>
              </a:buClr>
              <a:buSzPct val="85000"/>
              <a:defRPr/>
            </a:pPr>
            <a:r>
              <a:rPr lang="en-US" altLang="en-US" sz="2100" dirty="0">
                <a:solidFill>
                  <a:srgbClr val="000099"/>
                </a:solidFill>
                <a:latin typeface="Calibri" panose="020F0502020204030204"/>
              </a:rPr>
              <a:t>3.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 send packets to target from compromised hosts</a:t>
            </a:r>
          </a:p>
          <a:p>
            <a:pPr marL="342900" indent="-342900" defTabSz="685800">
              <a:spcBef>
                <a:spcPct val="20000"/>
              </a:spcBef>
              <a:buClr>
                <a:srgbClr val="ED7D31"/>
              </a:buClr>
              <a:buSzPct val="85000"/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49" name="Group 152">
            <a:extLst>
              <a:ext uri="{FF2B5EF4-FFF2-40B4-BE49-F238E27FC236}">
                <a16:creationId xmlns="" xmlns:a16="http://schemas.microsoft.com/office/drawing/2014/main" id="{34BB1FB3-F797-CE40-A303-F67D5EA0D714}"/>
              </a:ext>
            </a:extLst>
          </p:cNvPr>
          <p:cNvGrpSpPr>
            <a:grpSpLocks/>
          </p:cNvGrpSpPr>
          <p:nvPr/>
        </p:nvGrpSpPr>
        <p:grpSpPr bwMode="auto">
          <a:xfrm>
            <a:off x="6681066" y="3330613"/>
            <a:ext cx="2040731" cy="2006204"/>
            <a:chOff x="-262" y="2555"/>
            <a:chExt cx="1714" cy="1685"/>
          </a:xfrm>
        </p:grpSpPr>
        <p:sp>
          <p:nvSpPr>
            <p:cNvPr id="50" name="Line 63">
              <a:extLst>
                <a:ext uri="{FF2B5EF4-FFF2-40B4-BE49-F238E27FC236}">
                  <a16:creationId xmlns="" xmlns:a16="http://schemas.microsoft.com/office/drawing/2014/main" id="{240D789E-07A8-4A47-8526-9F3894E157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" y="3261"/>
              <a:ext cx="436" cy="16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Line 64">
              <a:extLst>
                <a:ext uri="{FF2B5EF4-FFF2-40B4-BE49-F238E27FC236}">
                  <a16:creationId xmlns="" xmlns:a16="http://schemas.microsoft.com/office/drawing/2014/main" id="{8EA69BDD-6834-BA4E-8A9A-CDD3D334EE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" y="3470"/>
              <a:ext cx="226" cy="32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Line 65">
              <a:extLst>
                <a:ext uri="{FF2B5EF4-FFF2-40B4-BE49-F238E27FC236}">
                  <a16:creationId xmlns="" xmlns:a16="http://schemas.microsoft.com/office/drawing/2014/main" id="{6F7FFC2D-076E-9641-9969-CA6045CBAF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7" y="3410"/>
              <a:ext cx="595" cy="45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Line 66">
              <a:extLst>
                <a:ext uri="{FF2B5EF4-FFF2-40B4-BE49-F238E27FC236}">
                  <a16:creationId xmlns="" xmlns:a16="http://schemas.microsoft.com/office/drawing/2014/main" id="{411EA141-EA1B-9249-AC8C-AEFF840A4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" y="2555"/>
              <a:ext cx="16" cy="46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Line 67">
              <a:extLst>
                <a:ext uri="{FF2B5EF4-FFF2-40B4-BE49-F238E27FC236}">
                  <a16:creationId xmlns="" xmlns:a16="http://schemas.microsoft.com/office/drawing/2014/main" id="{2980C73E-B307-9347-B762-286D7DB5F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9" y="3011"/>
              <a:ext cx="473" cy="18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5" name="Line 68">
              <a:extLst>
                <a:ext uri="{FF2B5EF4-FFF2-40B4-BE49-F238E27FC236}">
                  <a16:creationId xmlns="" xmlns:a16="http://schemas.microsoft.com/office/drawing/2014/main" id="{671BC8F5-6316-CD48-97A2-C38DE07E4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62" y="3083"/>
              <a:ext cx="879" cy="11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6" name="Line 69">
              <a:extLst>
                <a:ext uri="{FF2B5EF4-FFF2-40B4-BE49-F238E27FC236}">
                  <a16:creationId xmlns="" xmlns:a16="http://schemas.microsoft.com/office/drawing/2014/main" id="{8B7BCBEF-584C-F74E-80E0-8BC296AF69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201" y="3362"/>
              <a:ext cx="800" cy="64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7" name="Line 70">
              <a:extLst>
                <a:ext uri="{FF2B5EF4-FFF2-40B4-BE49-F238E27FC236}">
                  <a16:creationId xmlns="" xmlns:a16="http://schemas.microsoft.com/office/drawing/2014/main" id="{673660B3-2563-1141-BC2A-1820CBC952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2" y="2623"/>
              <a:ext cx="352" cy="39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8" name="Line 71">
              <a:extLst>
                <a:ext uri="{FF2B5EF4-FFF2-40B4-BE49-F238E27FC236}">
                  <a16:creationId xmlns="" xmlns:a16="http://schemas.microsoft.com/office/drawing/2014/main" id="{2AE70CDA-56D3-054F-9B05-C53E40B7A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" y="3582"/>
              <a:ext cx="198" cy="65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9" name="Line 72">
              <a:extLst>
                <a:ext uri="{FF2B5EF4-FFF2-40B4-BE49-F238E27FC236}">
                  <a16:creationId xmlns="" xmlns:a16="http://schemas.microsoft.com/office/drawing/2014/main" id="{D3EB0842-476A-254E-83F2-76A01FFE72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" y="2738"/>
              <a:ext cx="416" cy="25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60" name="Group 113">
            <a:extLst>
              <a:ext uri="{FF2B5EF4-FFF2-40B4-BE49-F238E27FC236}">
                <a16:creationId xmlns="" xmlns:a16="http://schemas.microsoft.com/office/drawing/2014/main" id="{10A7333E-A585-D14F-B6DB-52435ACF182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305078" y="3060342"/>
            <a:ext cx="551259" cy="510778"/>
            <a:chOff x="-44" y="1473"/>
            <a:chExt cx="981" cy="1105"/>
          </a:xfrm>
        </p:grpSpPr>
        <p:pic>
          <p:nvPicPr>
            <p:cNvPr id="61" name="Picture 114" descr="desktop_computer_stylized_medium">
              <a:extLst>
                <a:ext uri="{FF2B5EF4-FFF2-40B4-BE49-F238E27FC236}">
                  <a16:creationId xmlns="" xmlns:a16="http://schemas.microsoft.com/office/drawing/2014/main" id="{01147AF7-C025-614C-95B2-DC5DF0AB4C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" name="Freeform 115">
              <a:extLst>
                <a:ext uri="{FF2B5EF4-FFF2-40B4-BE49-F238E27FC236}">
                  <a16:creationId xmlns="" xmlns:a16="http://schemas.microsoft.com/office/drawing/2014/main" id="{EBCFF3AE-DFA4-114F-8873-ED4B72E8B49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63" name="Group 116">
            <a:extLst>
              <a:ext uri="{FF2B5EF4-FFF2-40B4-BE49-F238E27FC236}">
                <a16:creationId xmlns="" xmlns:a16="http://schemas.microsoft.com/office/drawing/2014/main" id="{A679AEDC-8797-7C4C-9512-CC63DE65687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20580" y="3687802"/>
            <a:ext cx="551260" cy="510779"/>
            <a:chOff x="-44" y="1473"/>
            <a:chExt cx="981" cy="1105"/>
          </a:xfrm>
        </p:grpSpPr>
        <p:pic>
          <p:nvPicPr>
            <p:cNvPr id="64" name="Picture 117" descr="desktop_computer_stylized_medium">
              <a:extLst>
                <a:ext uri="{FF2B5EF4-FFF2-40B4-BE49-F238E27FC236}">
                  <a16:creationId xmlns="" xmlns:a16="http://schemas.microsoft.com/office/drawing/2014/main" id="{99C8CCE2-64C9-E548-A809-8ACB9E412A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" name="Freeform 118">
              <a:extLst>
                <a:ext uri="{FF2B5EF4-FFF2-40B4-BE49-F238E27FC236}">
                  <a16:creationId xmlns="" xmlns:a16="http://schemas.microsoft.com/office/drawing/2014/main" id="{FD178B63-073D-904B-AB24-5180E69BD2F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66" name="Group 119">
            <a:extLst>
              <a:ext uri="{FF2B5EF4-FFF2-40B4-BE49-F238E27FC236}">
                <a16:creationId xmlns="" xmlns:a16="http://schemas.microsoft.com/office/drawing/2014/main" id="{A4F38700-463B-DC46-9ECE-001F57B0508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64634" y="4214058"/>
            <a:ext cx="551259" cy="510779"/>
            <a:chOff x="-44" y="1473"/>
            <a:chExt cx="981" cy="1105"/>
          </a:xfrm>
        </p:grpSpPr>
        <p:pic>
          <p:nvPicPr>
            <p:cNvPr id="67" name="Picture 120" descr="desktop_computer_stylized_medium">
              <a:extLst>
                <a:ext uri="{FF2B5EF4-FFF2-40B4-BE49-F238E27FC236}">
                  <a16:creationId xmlns="" xmlns:a16="http://schemas.microsoft.com/office/drawing/2014/main" id="{3A3D357D-C23A-4346-93FC-BEE43FD511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" name="Freeform 121">
              <a:extLst>
                <a:ext uri="{FF2B5EF4-FFF2-40B4-BE49-F238E27FC236}">
                  <a16:creationId xmlns="" xmlns:a16="http://schemas.microsoft.com/office/drawing/2014/main" id="{AB59AC13-2896-E340-8D89-AD696502F6B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69" name="Group 122">
            <a:extLst>
              <a:ext uri="{FF2B5EF4-FFF2-40B4-BE49-F238E27FC236}">
                <a16:creationId xmlns="" xmlns:a16="http://schemas.microsoft.com/office/drawing/2014/main" id="{0D817B4B-4AD3-C14B-AE56-7E65C40EB00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92018" y="4799846"/>
            <a:ext cx="551260" cy="510779"/>
            <a:chOff x="-44" y="1473"/>
            <a:chExt cx="981" cy="1105"/>
          </a:xfrm>
        </p:grpSpPr>
        <p:pic>
          <p:nvPicPr>
            <p:cNvPr id="70" name="Picture 123" descr="desktop_computer_stylized_medium">
              <a:extLst>
                <a:ext uri="{FF2B5EF4-FFF2-40B4-BE49-F238E27FC236}">
                  <a16:creationId xmlns="" xmlns:a16="http://schemas.microsoft.com/office/drawing/2014/main" id="{D67B6E62-62DF-E440-84A6-40CD76C264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124">
              <a:extLst>
                <a:ext uri="{FF2B5EF4-FFF2-40B4-BE49-F238E27FC236}">
                  <a16:creationId xmlns="" xmlns:a16="http://schemas.microsoft.com/office/drawing/2014/main" id="{BFE0D576-BA51-9845-8319-80EBFDCB87E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72" name="Group 125">
            <a:extLst>
              <a:ext uri="{FF2B5EF4-FFF2-40B4-BE49-F238E27FC236}">
                <a16:creationId xmlns="" xmlns:a16="http://schemas.microsoft.com/office/drawing/2014/main" id="{26C51172-8D8D-7A48-AF47-2DEAA12AA6D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583559" y="3156783"/>
            <a:ext cx="551259" cy="510779"/>
            <a:chOff x="-44" y="1473"/>
            <a:chExt cx="981" cy="1105"/>
          </a:xfrm>
        </p:grpSpPr>
        <p:pic>
          <p:nvPicPr>
            <p:cNvPr id="73" name="Picture 126" descr="desktop_computer_stylized_medium">
              <a:extLst>
                <a:ext uri="{FF2B5EF4-FFF2-40B4-BE49-F238E27FC236}">
                  <a16:creationId xmlns="" xmlns:a16="http://schemas.microsoft.com/office/drawing/2014/main" id="{69C5B0D9-2504-0549-B400-71295C40B5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" name="Freeform 127">
              <a:extLst>
                <a:ext uri="{FF2B5EF4-FFF2-40B4-BE49-F238E27FC236}">
                  <a16:creationId xmlns="" xmlns:a16="http://schemas.microsoft.com/office/drawing/2014/main" id="{9E974D9F-ACEC-1344-B5C8-FF8AAB7F54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75" name="Group 128">
            <a:extLst>
              <a:ext uri="{FF2B5EF4-FFF2-40B4-BE49-F238E27FC236}">
                <a16:creationId xmlns="" xmlns:a16="http://schemas.microsoft.com/office/drawing/2014/main" id="{9C958751-0861-8C42-9DE0-5B95FEB2EAF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829893" y="3203217"/>
            <a:ext cx="551260" cy="510778"/>
            <a:chOff x="-44" y="1473"/>
            <a:chExt cx="981" cy="1105"/>
          </a:xfrm>
        </p:grpSpPr>
        <p:pic>
          <p:nvPicPr>
            <p:cNvPr id="76" name="Picture 129" descr="desktop_computer_stylized_medium">
              <a:extLst>
                <a:ext uri="{FF2B5EF4-FFF2-40B4-BE49-F238E27FC236}">
                  <a16:creationId xmlns="" xmlns:a16="http://schemas.microsoft.com/office/drawing/2014/main" id="{BAB817CE-0790-2B4E-B65F-A6498BE9CB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30">
              <a:extLst>
                <a:ext uri="{FF2B5EF4-FFF2-40B4-BE49-F238E27FC236}">
                  <a16:creationId xmlns="" xmlns:a16="http://schemas.microsoft.com/office/drawing/2014/main" id="{EFC5C2B3-2D8A-6747-B184-076FA411FE9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78" name="Group 134">
            <a:extLst>
              <a:ext uri="{FF2B5EF4-FFF2-40B4-BE49-F238E27FC236}">
                <a16:creationId xmlns="" xmlns:a16="http://schemas.microsoft.com/office/drawing/2014/main" id="{87DE748A-5111-7641-85D8-040FC10E7AF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292922" y="3731855"/>
            <a:ext cx="551259" cy="510778"/>
            <a:chOff x="-44" y="1473"/>
            <a:chExt cx="981" cy="1105"/>
          </a:xfrm>
        </p:grpSpPr>
        <p:pic>
          <p:nvPicPr>
            <p:cNvPr id="79" name="Picture 135" descr="desktop_computer_stylized_medium">
              <a:extLst>
                <a:ext uri="{FF2B5EF4-FFF2-40B4-BE49-F238E27FC236}">
                  <a16:creationId xmlns="" xmlns:a16="http://schemas.microsoft.com/office/drawing/2014/main" id="{636D1BB9-AB82-8944-82FF-E59A7BD5E9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" name="Freeform 136">
              <a:extLst>
                <a:ext uri="{FF2B5EF4-FFF2-40B4-BE49-F238E27FC236}">
                  <a16:creationId xmlns="" xmlns:a16="http://schemas.microsoft.com/office/drawing/2014/main" id="{1B6337C3-6A6A-3247-B100-E450F3744EF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81" name="Group 137">
            <a:extLst>
              <a:ext uri="{FF2B5EF4-FFF2-40B4-BE49-F238E27FC236}">
                <a16:creationId xmlns="" xmlns:a16="http://schemas.microsoft.com/office/drawing/2014/main" id="{7EE5AE12-F723-1844-BF7D-895F4D162FD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766791" y="4283114"/>
            <a:ext cx="551259" cy="510779"/>
            <a:chOff x="-44" y="1473"/>
            <a:chExt cx="981" cy="1105"/>
          </a:xfrm>
        </p:grpSpPr>
        <p:pic>
          <p:nvPicPr>
            <p:cNvPr id="82" name="Picture 138" descr="desktop_computer_stylized_medium">
              <a:extLst>
                <a:ext uri="{FF2B5EF4-FFF2-40B4-BE49-F238E27FC236}">
                  <a16:creationId xmlns="" xmlns:a16="http://schemas.microsoft.com/office/drawing/2014/main" id="{66F3AA24-FB01-0448-9AF5-44833FAC73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" name="Freeform 139">
              <a:extLst>
                <a:ext uri="{FF2B5EF4-FFF2-40B4-BE49-F238E27FC236}">
                  <a16:creationId xmlns="" xmlns:a16="http://schemas.microsoft.com/office/drawing/2014/main" id="{F76D9B25-D392-6E4A-8438-3E7A671FB6D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84" name="Group 140">
            <a:extLst>
              <a:ext uri="{FF2B5EF4-FFF2-40B4-BE49-F238E27FC236}">
                <a16:creationId xmlns="" xmlns:a16="http://schemas.microsoft.com/office/drawing/2014/main" id="{2D102063-F0AD-F642-9447-16BE27DA917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164459" y="4740314"/>
            <a:ext cx="551259" cy="510779"/>
            <a:chOff x="-44" y="1473"/>
            <a:chExt cx="981" cy="1105"/>
          </a:xfrm>
        </p:grpSpPr>
        <p:pic>
          <p:nvPicPr>
            <p:cNvPr id="85" name="Picture 141" descr="desktop_computer_stylized_medium">
              <a:extLst>
                <a:ext uri="{FF2B5EF4-FFF2-40B4-BE49-F238E27FC236}">
                  <a16:creationId xmlns="" xmlns:a16="http://schemas.microsoft.com/office/drawing/2014/main" id="{D5D011E5-F7A0-DA49-81C5-F47FA6BE69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" name="Freeform 142">
              <a:extLst>
                <a:ext uri="{FF2B5EF4-FFF2-40B4-BE49-F238E27FC236}">
                  <a16:creationId xmlns="" xmlns:a16="http://schemas.microsoft.com/office/drawing/2014/main" id="{071EB120-A48C-5541-A035-75E75050CB6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87" name="Group 143">
            <a:extLst>
              <a:ext uri="{FF2B5EF4-FFF2-40B4-BE49-F238E27FC236}">
                <a16:creationId xmlns="" xmlns:a16="http://schemas.microsoft.com/office/drawing/2014/main" id="{C3CAAC65-E33C-344E-BA73-EDB94437CA1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72705" y="4958199"/>
            <a:ext cx="551260" cy="510778"/>
            <a:chOff x="-44" y="1473"/>
            <a:chExt cx="981" cy="1105"/>
          </a:xfrm>
        </p:grpSpPr>
        <p:pic>
          <p:nvPicPr>
            <p:cNvPr id="88" name="Picture 144" descr="desktop_computer_stylized_medium">
              <a:extLst>
                <a:ext uri="{FF2B5EF4-FFF2-40B4-BE49-F238E27FC236}">
                  <a16:creationId xmlns="" xmlns:a16="http://schemas.microsoft.com/office/drawing/2014/main" id="{FAF13606-284B-D544-8976-8A32823F7C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Freeform 145">
              <a:extLst>
                <a:ext uri="{FF2B5EF4-FFF2-40B4-BE49-F238E27FC236}">
                  <a16:creationId xmlns="" xmlns:a16="http://schemas.microsoft.com/office/drawing/2014/main" id="{591D49EF-BC84-FF48-8AB6-8F0B28E3822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90" name="Group 146">
            <a:extLst>
              <a:ext uri="{FF2B5EF4-FFF2-40B4-BE49-F238E27FC236}">
                <a16:creationId xmlns="" xmlns:a16="http://schemas.microsoft.com/office/drawing/2014/main" id="{476E2AF9-489F-A04E-A23A-81549329EA2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366866" y="5338008"/>
            <a:ext cx="551259" cy="510779"/>
            <a:chOff x="-44" y="1473"/>
            <a:chExt cx="981" cy="1105"/>
          </a:xfrm>
        </p:grpSpPr>
        <p:pic>
          <p:nvPicPr>
            <p:cNvPr id="91" name="Picture 147" descr="desktop_computer_stylized_medium">
              <a:extLst>
                <a:ext uri="{FF2B5EF4-FFF2-40B4-BE49-F238E27FC236}">
                  <a16:creationId xmlns="" xmlns:a16="http://schemas.microsoft.com/office/drawing/2014/main" id="{D31CCA85-16F8-CF40-9FD2-361C58F0C1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Freeform 148">
              <a:extLst>
                <a:ext uri="{FF2B5EF4-FFF2-40B4-BE49-F238E27FC236}">
                  <a16:creationId xmlns="" xmlns:a16="http://schemas.microsoft.com/office/drawing/2014/main" id="{4B061CF6-50E2-0C4F-8DA2-97A8C0438F7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93" name="Group 149">
            <a:extLst>
              <a:ext uri="{FF2B5EF4-FFF2-40B4-BE49-F238E27FC236}">
                <a16:creationId xmlns="" xmlns:a16="http://schemas.microsoft.com/office/drawing/2014/main" id="{BC019584-C571-0243-9746-D5FAF904985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25268" y="5046305"/>
            <a:ext cx="551260" cy="510778"/>
            <a:chOff x="-44" y="1473"/>
            <a:chExt cx="981" cy="1105"/>
          </a:xfrm>
        </p:grpSpPr>
        <p:pic>
          <p:nvPicPr>
            <p:cNvPr id="94" name="Picture 150" descr="desktop_computer_stylized_medium">
              <a:extLst>
                <a:ext uri="{FF2B5EF4-FFF2-40B4-BE49-F238E27FC236}">
                  <a16:creationId xmlns="" xmlns:a16="http://schemas.microsoft.com/office/drawing/2014/main" id="{008D1F22-90A3-BE4F-BA4C-262C33588E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Freeform 151">
              <a:extLst>
                <a:ext uri="{FF2B5EF4-FFF2-40B4-BE49-F238E27FC236}">
                  <a16:creationId xmlns="" xmlns:a16="http://schemas.microsoft.com/office/drawing/2014/main" id="{87AB5A67-132D-0D48-9235-45C2FC56AE8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96" name="Group 89">
            <a:extLst>
              <a:ext uri="{FF2B5EF4-FFF2-40B4-BE49-F238E27FC236}">
                <a16:creationId xmlns="" xmlns:a16="http://schemas.microsoft.com/office/drawing/2014/main" id="{A6B06288-15F9-FA41-9711-4E4611B1C7A3}"/>
              </a:ext>
            </a:extLst>
          </p:cNvPr>
          <p:cNvGrpSpPr>
            <a:grpSpLocks/>
          </p:cNvGrpSpPr>
          <p:nvPr/>
        </p:nvGrpSpPr>
        <p:grpSpPr bwMode="auto">
          <a:xfrm>
            <a:off x="6311971" y="3111539"/>
            <a:ext cx="2644378" cy="2556272"/>
            <a:chOff x="2920" y="1824"/>
            <a:chExt cx="2221" cy="2147"/>
          </a:xfrm>
        </p:grpSpPr>
        <p:pic>
          <p:nvPicPr>
            <p:cNvPr id="97" name="Picture 7">
              <a:extLst>
                <a:ext uri="{FF2B5EF4-FFF2-40B4-BE49-F238E27FC236}">
                  <a16:creationId xmlns="" xmlns:a16="http://schemas.microsoft.com/office/drawing/2014/main" id="{D8D05F46-329F-7746-A822-2566BD6248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7" y="1922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" name="Picture 54">
              <a:extLst>
                <a:ext uri="{FF2B5EF4-FFF2-40B4-BE49-F238E27FC236}">
                  <a16:creationId xmlns="" xmlns:a16="http://schemas.microsoft.com/office/drawing/2014/main" id="{E0C724BB-6735-2F4C-B320-8B57ABD11D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1" y="1922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9" name="Picture 55">
              <a:extLst>
                <a:ext uri="{FF2B5EF4-FFF2-40B4-BE49-F238E27FC236}">
                  <a16:creationId xmlns="" xmlns:a16="http://schemas.microsoft.com/office/drawing/2014/main" id="{43360ABB-D0D2-114B-8A10-C625284905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0" y="2376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0" name="Picture 56">
              <a:extLst>
                <a:ext uri="{FF2B5EF4-FFF2-40B4-BE49-F238E27FC236}">
                  <a16:creationId xmlns="" xmlns:a16="http://schemas.microsoft.com/office/drawing/2014/main" id="{7FEBFDE8-0666-7A45-8B5B-A74E50C0AD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0" y="2803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" name="Picture 57">
              <a:extLst>
                <a:ext uri="{FF2B5EF4-FFF2-40B4-BE49-F238E27FC236}">
                  <a16:creationId xmlns="" xmlns:a16="http://schemas.microsoft.com/office/drawing/2014/main" id="{C1327435-8A3A-3549-A5BE-B588A97766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0" y="3230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" name="Picture 58">
              <a:extLst>
                <a:ext uri="{FF2B5EF4-FFF2-40B4-BE49-F238E27FC236}">
                  <a16:creationId xmlns="" xmlns:a16="http://schemas.microsoft.com/office/drawing/2014/main" id="{9F15F78D-2BDD-5041-95EA-4372AE3201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7" y="3692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" name="Picture 59">
              <a:extLst>
                <a:ext uri="{FF2B5EF4-FFF2-40B4-BE49-F238E27FC236}">
                  <a16:creationId xmlns="" xmlns:a16="http://schemas.microsoft.com/office/drawing/2014/main" id="{589B9A7E-C72C-3642-8499-4288D926EA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4" y="3308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" name="Picture 60">
              <a:extLst>
                <a:ext uri="{FF2B5EF4-FFF2-40B4-BE49-F238E27FC236}">
                  <a16:creationId xmlns="" xmlns:a16="http://schemas.microsoft.com/office/drawing/2014/main" id="{FB16E4F5-EE33-084D-83BA-FA88374C85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8" y="2339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61">
              <a:extLst>
                <a:ext uri="{FF2B5EF4-FFF2-40B4-BE49-F238E27FC236}">
                  <a16:creationId xmlns="" xmlns:a16="http://schemas.microsoft.com/office/drawing/2014/main" id="{72D217B6-6EB5-454E-A6D1-F8907DA44B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" y="3395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Picture 62">
              <a:extLst>
                <a:ext uri="{FF2B5EF4-FFF2-40B4-BE49-F238E27FC236}">
                  <a16:creationId xmlns="" xmlns:a16="http://schemas.microsoft.com/office/drawing/2014/main" id="{D388E590-7D12-084D-B4AB-9486F64CAB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2" y="1824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7" name="Slide Number Placeholder 5">
            <a:extLst>
              <a:ext uri="{FF2B5EF4-FFF2-40B4-BE49-F238E27FC236}">
                <a16:creationId xmlns="" xmlns:a16="http://schemas.microsoft.com/office/drawing/2014/main" id="{CEA3DD75-9DAB-5E4A-B3E0-855D2D494AC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38712" y="5689567"/>
            <a:ext cx="20574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124200" y="5715001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Web servers, e-mail servers, DNS servers, and institutional networks </a:t>
            </a:r>
            <a:r>
              <a:rPr lang="en-US" sz="2000" dirty="0"/>
              <a:t>can all be subject to </a:t>
            </a:r>
            <a:r>
              <a:rPr lang="en-US" sz="2000" dirty="0" err="1"/>
              <a:t>DoS</a:t>
            </a:r>
            <a:r>
              <a:rPr lang="en-US" sz="2000" dirty="0"/>
              <a:t> attacks.</a:t>
            </a:r>
          </a:p>
        </p:txBody>
      </p:sp>
    </p:spTree>
    <p:extLst>
      <p:ext uri="{BB962C8B-B14F-4D97-AF65-F5344CB8AC3E}">
        <p14:creationId xmlns:p14="http://schemas.microsoft.com/office/powerpoint/2010/main" val="2619393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uild="p" autoUpdateAnimBg="0"/>
      <p:bldP spid="47" grpId="0" autoUpdateAnimBg="0"/>
      <p:bldP spid="4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984" y="757677"/>
            <a:ext cx="7886700" cy="670967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ea typeface="ＭＳ Ｐゴシック" panose="020B0600070205080204" pitchFamily="34" charset="-128"/>
              </a:rPr>
              <a:t>Lines of defense:</a:t>
            </a:r>
          </a:p>
        </p:txBody>
      </p:sp>
      <p:sp>
        <p:nvSpPr>
          <p:cNvPr id="107" name="Rectangle 5">
            <a:extLst>
              <a:ext uri="{FF2B5EF4-FFF2-40B4-BE49-F238E27FC236}">
                <a16:creationId xmlns="" xmlns:a16="http://schemas.microsoft.com/office/drawing/2014/main" id="{D84190AA-4C98-7443-80BC-E0D9833E133B}"/>
              </a:ext>
            </a:extLst>
          </p:cNvPr>
          <p:cNvSpPr txBox="1">
            <a:spLocks noChangeArrowheads="1"/>
          </p:cNvSpPr>
          <p:nvPr/>
        </p:nvSpPr>
        <p:spPr>
          <a:xfrm>
            <a:off x="2154985" y="1865652"/>
            <a:ext cx="7757123" cy="366936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3610" indent="-205979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Arial" panose="020B0604020202020204" pitchFamily="34" charset="0"/>
              </a:rPr>
              <a:t>authentication: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proving you are who you say you are</a:t>
            </a:r>
          </a:p>
          <a:p>
            <a:pPr marL="560785" lvl="1" indent="-205979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cellular networks provides hardware identity via SIM card</a:t>
            </a:r>
            <a:r>
              <a:rPr lang="en-US" altLang="en-US" sz="210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; </a:t>
            </a:r>
          </a:p>
          <a:p>
            <a:pPr marL="560785" lvl="1" indent="-205979" defTabSz="685800">
              <a:spcBef>
                <a:spcPts val="375"/>
              </a:spcBef>
              <a:defRPr/>
            </a:pPr>
            <a:r>
              <a:rPr lang="en-US" altLang="en-US" sz="210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no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such hardware assist in traditional Internet</a:t>
            </a:r>
          </a:p>
          <a:p>
            <a:pPr marL="303610" indent="-205979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Arial" panose="020B0604020202020204" pitchFamily="34" charset="0"/>
              </a:rPr>
              <a:t>confidentiality: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via encryption</a:t>
            </a:r>
          </a:p>
          <a:p>
            <a:pPr marL="303610" indent="-205979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Arial" panose="020B0604020202020204" pitchFamily="34" charset="0"/>
              </a:rPr>
              <a:t>integrity checks: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digital signatures prevent/detect tampering</a:t>
            </a:r>
          </a:p>
          <a:p>
            <a:pPr marL="303610" indent="-205979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Arial" panose="020B0604020202020204" pitchFamily="34" charset="0"/>
              </a:rPr>
              <a:t>access restrictions: 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password-protected VPNs</a:t>
            </a:r>
          </a:p>
          <a:p>
            <a:pPr marL="303610" indent="-205979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Arial" panose="020B0604020202020204" pitchFamily="34" charset="0"/>
              </a:rPr>
              <a:t>firewalls: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specialized “middleboxes” in access and core networks:</a:t>
            </a:r>
          </a:p>
          <a:p>
            <a:pPr marL="857250" lvl="2" indent="-171450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off-by-default: filter incoming packets to restrict senders, receivers, applications </a:t>
            </a:r>
          </a:p>
          <a:p>
            <a:pPr marL="857250" lvl="2" indent="-171450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detecting/reacting to DOS attacks</a:t>
            </a:r>
          </a:p>
          <a:p>
            <a:pPr marL="521494" lvl="1" indent="-173831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Arial" panose="020B0604020202020204" pitchFamily="34" charset="0"/>
            </a:endParaRPr>
          </a:p>
        </p:txBody>
      </p:sp>
      <p:sp>
        <p:nvSpPr>
          <p:cNvPr id="108" name="Rectangle 59">
            <a:extLst>
              <a:ext uri="{FF2B5EF4-FFF2-40B4-BE49-F238E27FC236}">
                <a16:creationId xmlns="" xmlns:a16="http://schemas.microsoft.com/office/drawing/2014/main" id="{4B074355-3ACB-6147-AE01-22519F6E6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4687" y="5486518"/>
            <a:ext cx="7688069" cy="514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</a:rPr>
              <a:t>… lots more on security (throughout, Chapter 8)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CA9EEA19-549B-C742-97A6-691F12A256B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38712" y="5689567"/>
            <a:ext cx="20574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60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14362</TotalTime>
  <Words>713</Words>
  <Application>Microsoft Office PowerPoint</Application>
  <PresentationFormat>Custom</PresentationFormat>
  <Paragraphs>125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Network security</vt:lpstr>
      <vt:lpstr>What is network security?</vt:lpstr>
      <vt:lpstr>Security Goals</vt:lpstr>
      <vt:lpstr>Basic Components of Security: Confidentiality, Integrity, Availability (CIA)</vt:lpstr>
      <vt:lpstr>Friends and enemies: Alice, Bob, Trudy</vt:lpstr>
      <vt:lpstr>Friends and enemies: Alice, Bob, Trudy</vt:lpstr>
      <vt:lpstr>There are bad guys (and girls) out there!</vt:lpstr>
      <vt:lpstr>Bad guys: packet interception</vt:lpstr>
      <vt:lpstr>Bad guys:  fake identity</vt:lpstr>
      <vt:lpstr>Bad guys: denial of service</vt:lpstr>
      <vt:lpstr>Lines of defense: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uiu</cp:lastModifiedBy>
  <cp:revision>190</cp:revision>
  <dcterms:created xsi:type="dcterms:W3CDTF">2020-01-18T07:24:59Z</dcterms:created>
  <dcterms:modified xsi:type="dcterms:W3CDTF">2026-04-04T02:54:05Z</dcterms:modified>
</cp:coreProperties>
</file>