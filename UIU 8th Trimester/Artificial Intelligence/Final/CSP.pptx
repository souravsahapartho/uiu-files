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XVupvsTBUHKAXd3rWCxu4drWK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427" y="0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Goal test has structure, it ‘s more like a manual describing a set of constraints that have to hold true</a:t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Run constraint.jar or constraint.exe, load the 5 queens problem.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Demo is just showing the n-queens applet as illustration of constraint graph, but later in lecture we’ll interact with the applet.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aispace.org will have the latest 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https://inst.eecs.berkeley.edu/~cs188/fa19/assets/demos/csp/csp_demos.html</a:t>
            </a:r>
            <a:endParaRPr/>
          </a:p>
        </p:txBody>
      </p:sp>
      <p:sp>
        <p:nvSpPr>
          <p:cNvPr id="182" name="Google Shape;182;p10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4082be5e0_0_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b4082be5e0_0_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0=7, R=4, W=6, U=2, T=8, F=1; 867 + 867 = 1734</a:t>
            </a:r>
            <a:endParaRPr/>
          </a:p>
        </p:txBody>
      </p:sp>
      <p:sp>
        <p:nvSpPr>
          <p:cNvPr id="191" name="Google Shape;191;g3b4082be5e0_0_0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5" name="Google Shape;285;p1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CS188 javascript demos -&gt; source -&gt; exercises -&gt; csps -&gt; CSPs demos -&gt; CSPs demos.html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Settings: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= Simple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Algorithm = Naïve Search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Ordering = None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Filtering = None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9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2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7" name="Google Shape;317;p2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CS188 javascript demos -&gt; source -&gt; exercises -&gt; csps -&gt; CSPs demos -&gt; CSPs demos.html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Settings: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= Simple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Algorithm = Backtracking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Ordering = None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Filtering = None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23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2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2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0" name="Google Shape;340;p2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CS188 javascript demos -&gt; source -&gt; exercises -&gt; csps -&gt; CSPs demos -&gt; CSPs demos.html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Settings: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= Simple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Algorithm = Backtracking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Ordering = None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Filtering = Forward Checking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26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2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2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5" name="Google Shape;395;p3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it turns out that, for a wide variety of problems, a variable ordering that chooses a variable with the</a:t>
            </a:r>
            <a:b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minimum number of remaining values helps minimize the number of nodes in the search tree</a:t>
            </a:r>
            <a:b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by pruning larger parts of the tree earlier. For value ordering, the trick is that we only need</a:t>
            </a:r>
            <a:b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one solution; therefore it makes sense to look for the most likely values first. If we wanted to</a:t>
            </a:r>
            <a:b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enumerate all solutions rather than just find one, then value ordering would be irrelevant.</a:t>
            </a:r>
            <a:r>
              <a:rPr lang="en-US"/>
              <a:t> </a:t>
            </a:r>
            <a:br>
              <a:rPr lang="en-US"/>
            </a:br>
            <a:endParaRPr/>
          </a:p>
        </p:txBody>
      </p:sp>
      <p:sp>
        <p:nvSpPr>
          <p:cNvPr id="396" name="Google Shape;396;p30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ctrTitle"/>
          </p:nvPr>
        </p:nvSpPr>
        <p:spPr>
          <a:xfrm>
            <a:off x="0" y="1044580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3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7" name="Google Shape;37;p35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8" name="Google Shape;38;p3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" type="body"/>
          </p:nvPr>
        </p:nvSpPr>
        <p:spPr>
          <a:xfrm>
            <a:off x="457203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6"/>
          <p:cNvSpPr txBox="1"/>
          <p:nvPr>
            <p:ph idx="2" type="body"/>
          </p:nvPr>
        </p:nvSpPr>
        <p:spPr>
          <a:xfrm>
            <a:off x="457203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5" name="Google Shape;45;p36"/>
          <p:cNvSpPr txBox="1"/>
          <p:nvPr>
            <p:ph idx="3" type="body"/>
          </p:nvPr>
        </p:nvSpPr>
        <p:spPr>
          <a:xfrm>
            <a:off x="4645028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6"/>
          <p:cNvSpPr txBox="1"/>
          <p:nvPr>
            <p:ph idx="4" type="body"/>
          </p:nvPr>
        </p:nvSpPr>
        <p:spPr>
          <a:xfrm>
            <a:off x="4645028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9"/>
          <p:cNvSpPr txBox="1"/>
          <p:nvPr>
            <p:ph type="title"/>
          </p:nvPr>
        </p:nvSpPr>
        <p:spPr>
          <a:xfrm>
            <a:off x="457204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9"/>
          <p:cNvSpPr txBox="1"/>
          <p:nvPr>
            <p:ph idx="1" type="body"/>
          </p:nvPr>
        </p:nvSpPr>
        <p:spPr>
          <a:xfrm>
            <a:off x="3575053" y="273054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39"/>
          <p:cNvSpPr txBox="1"/>
          <p:nvPr>
            <p:ph idx="2" type="body"/>
          </p:nvPr>
        </p:nvSpPr>
        <p:spPr>
          <a:xfrm>
            <a:off x="457204" y="1435104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3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1792288" y="5367341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4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" type="body"/>
          </p:nvPr>
        </p:nvSpPr>
        <p:spPr>
          <a:xfrm rot="5400000">
            <a:off x="3731418" y="-1928016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2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1"/>
          <p:cNvSpPr/>
          <p:nvPr/>
        </p:nvSpPr>
        <p:spPr>
          <a:xfrm>
            <a:off x="0" y="1031243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6.png"/><Relationship Id="rId9" Type="http://schemas.openxmlformats.org/officeDocument/2006/relationships/image" Target="../media/image28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Relationship Id="rId11" Type="http://schemas.openxmlformats.org/officeDocument/2006/relationships/image" Target="../media/image24.png"/><Relationship Id="rId10" Type="http://schemas.openxmlformats.org/officeDocument/2006/relationships/image" Target="../media/image29.png"/><Relationship Id="rId12" Type="http://schemas.openxmlformats.org/officeDocument/2006/relationships/image" Target="../media/image18.png"/><Relationship Id="rId9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47.png"/><Relationship Id="rId9" Type="http://schemas.openxmlformats.org/officeDocument/2006/relationships/image" Target="../media/image41.png"/><Relationship Id="rId5" Type="http://schemas.openxmlformats.org/officeDocument/2006/relationships/image" Target="../media/image21.png"/><Relationship Id="rId6" Type="http://schemas.openxmlformats.org/officeDocument/2006/relationships/image" Target="../media/image48.png"/><Relationship Id="rId7" Type="http://schemas.openxmlformats.org/officeDocument/2006/relationships/image" Target="../media/image31.png"/><Relationship Id="rId8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Relationship Id="rId4" Type="http://schemas.openxmlformats.org/officeDocument/2006/relationships/image" Target="../media/image40.png"/><Relationship Id="rId5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Relationship Id="rId4" Type="http://schemas.openxmlformats.org/officeDocument/2006/relationships/image" Target="../media/image42.png"/><Relationship Id="rId5" Type="http://schemas.openxmlformats.org/officeDocument/2006/relationships/image" Target="../media/image50.png"/><Relationship Id="rId6" Type="http://schemas.openxmlformats.org/officeDocument/2006/relationships/image" Target="../media/image64.png"/><Relationship Id="rId7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3.png"/><Relationship Id="rId4" Type="http://schemas.openxmlformats.org/officeDocument/2006/relationships/image" Target="../media/image6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0" y="279423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 188: Artificial Intelligence</a:t>
            </a:r>
            <a:br>
              <a:rPr lang="en-US"/>
            </a:br>
            <a:endParaRPr sz="3600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0" y="1295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Constraint Satisfaction Problems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693" y="1680828"/>
            <a:ext cx="5734497" cy="38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55809" y="1983007"/>
            <a:ext cx="2312391" cy="347467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0" y="5486400"/>
            <a:ext cx="12192000" cy="13157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Dan Klein and Pieter Abbeel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California,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[These slides were created by Dan Klein and Pieter Abbeel for CS188 Intro to AI at UC Berkeley.  All CS188 materials are available at http://ai.berkeley.edu.]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Search For?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406400" y="12954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Assumptions about the world: a single agent, deterministic actions, fully observed state, discrete state space</a:t>
            </a:r>
            <a:endParaRPr/>
          </a:p>
          <a:p>
            <a:pPr indent="-158729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74" lvl="0" marL="34287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Planning: sequences of actions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path to the goal is the important thing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Paths have various costs, depths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Heuristics give problem-specific guidance</a:t>
            </a:r>
            <a:endParaRPr/>
          </a:p>
          <a:p>
            <a:pPr indent="-158729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74" lvl="0" marL="34287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Identification: assignments to variables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goal itself is important, not the path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All paths at the same depth (for some formulations)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CSPs are specialized for identification problems</a:t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2021" y="3810795"/>
            <a:ext cx="3067051" cy="2665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2"/>
          <p:cNvGrpSpPr/>
          <p:nvPr/>
        </p:nvGrpSpPr>
        <p:grpSpPr>
          <a:xfrm>
            <a:off x="7596188" y="1882124"/>
            <a:ext cx="3376612" cy="2228563"/>
            <a:chOff x="7596188" y="1882124"/>
            <a:chExt cx="3376612" cy="2228563"/>
          </a:xfrm>
        </p:grpSpPr>
        <p:sp>
          <p:nvSpPr>
            <p:cNvPr id="104" name="Google Shape;104;p2"/>
            <p:cNvSpPr/>
            <p:nvPr/>
          </p:nvSpPr>
          <p:spPr>
            <a:xfrm>
              <a:off x="7772401" y="1905001"/>
              <a:ext cx="152400" cy="762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" name="Google Shape;10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96188" y="1882124"/>
              <a:ext cx="3376612" cy="22285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Constraint Satisfaction Problems</a:t>
            </a:r>
            <a:endParaRPr/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2" y="1905000"/>
            <a:ext cx="7736292" cy="358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Constraint Satisfaction Problems</a:t>
            </a:r>
            <a:endParaRPr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457200" y="1600200"/>
            <a:ext cx="6096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Standard search problems: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State is a “black box”: arbitrary data structure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Goal test can be any function over states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Successor function can also be anything</a:t>
            </a:r>
            <a:endParaRPr/>
          </a:p>
          <a:p>
            <a:pPr indent="-165079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900"/>
          </a:p>
          <a:p>
            <a:pPr indent="-342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Constraint satisfaction problems (CSPs):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A special subset of search problems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State is defined by </a:t>
            </a:r>
            <a:r>
              <a:rPr lang="en-US" sz="1900">
                <a:solidFill>
                  <a:srgbClr val="CC0000"/>
                </a:solidFill>
              </a:rPr>
              <a:t>variables </a:t>
            </a:r>
            <a:r>
              <a:rPr b="1" i="1" lang="en-US" sz="20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1" lang="en-US" sz="20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900"/>
              <a:t>  with values from a </a:t>
            </a:r>
            <a:r>
              <a:rPr lang="en-US" sz="1900">
                <a:solidFill>
                  <a:srgbClr val="CC0000"/>
                </a:solidFill>
              </a:rPr>
              <a:t>domain </a:t>
            </a:r>
            <a:r>
              <a:rPr b="1" i="1" lang="en-US" sz="20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US" sz="1900"/>
              <a:t>(sometimes 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900"/>
              <a:t> depends on 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900"/>
              <a:t>)</a:t>
            </a:r>
            <a:endParaRPr baseline="-25000" i="1" sz="1900">
              <a:solidFill>
                <a:srgbClr val="CC0000"/>
              </a:solidFill>
            </a:endParaRPr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Goal test is a </a:t>
            </a:r>
            <a:r>
              <a:rPr lang="en-US" sz="1900">
                <a:solidFill>
                  <a:srgbClr val="CC0000"/>
                </a:solidFill>
              </a:rPr>
              <a:t>set of constraints </a:t>
            </a:r>
            <a:r>
              <a:rPr lang="en-US" sz="1900"/>
              <a:t>specifying allowable combinations of values for subsets of variables</a:t>
            </a:r>
            <a:endParaRPr/>
          </a:p>
          <a:p>
            <a:pPr indent="-215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Simple example of a </a:t>
            </a:r>
            <a:r>
              <a:rPr i="1" lang="en-US" sz="2000"/>
              <a:t>formal representation language</a:t>
            </a:r>
            <a:endParaRPr/>
          </a:p>
          <a:p>
            <a:pPr indent="-215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-342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Allows useful general-purpose algorithms with more power than standard search algorithms</a:t>
            </a:r>
            <a:endParaRPr/>
          </a:p>
          <a:p>
            <a:pPr indent="-215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159072"/>
            <a:ext cx="3505200" cy="272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602" y="4267201"/>
            <a:ext cx="4320801" cy="200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CSP Examples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1139" r="0" t="1104"/>
          <a:stretch/>
        </p:blipFill>
        <p:spPr>
          <a:xfrm>
            <a:off x="3124200" y="1331917"/>
            <a:ext cx="6019800" cy="4992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Map Coloring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381000" y="1371600"/>
            <a:ext cx="6705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Variables:</a:t>
            </a:r>
            <a:endParaRPr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Domains:</a:t>
            </a:r>
            <a:endParaRPr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Constraints: adjacent regions must have different colors</a:t>
            </a:r>
            <a:endParaRPr/>
          </a:p>
          <a:p>
            <a:pPr indent="-158729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29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33329" lvl="1" marL="742895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58729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Solutions are assignments satisfying all constraints, e.g.:</a:t>
            </a:r>
            <a:endParaRPr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 </a:t>
            </a:r>
            <a:endParaRPr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1139" r="0" t="1104"/>
          <a:stretch/>
        </p:blipFill>
        <p:spPr>
          <a:xfrm>
            <a:off x="8408893" y="1228165"/>
            <a:ext cx="3021107" cy="250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2609" y="1417801"/>
            <a:ext cx="4281583" cy="258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35" name="Google Shape;1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4281" y="2141729"/>
            <a:ext cx="3023521" cy="296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36" name="Google Shape;13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1725" y="5695209"/>
            <a:ext cx="5983475" cy="629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37" name="Google Shape;13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80322" y="3675531"/>
            <a:ext cx="1201079" cy="223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38" name="Google Shape;13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58455" y="4217897"/>
            <a:ext cx="4759520" cy="25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05019" y="4178525"/>
            <a:ext cx="3929781" cy="206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219200" y="3562293"/>
            <a:ext cx="19050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219200" y="4114801"/>
            <a:ext cx="13716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N-Queens</a:t>
            </a:r>
            <a:endParaRPr/>
          </a:p>
        </p:txBody>
      </p:sp>
      <p:sp>
        <p:nvSpPr>
          <p:cNvPr id="147" name="Google Shape;147;p7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Formulation 1: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Variables: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Domains: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Constraints</a:t>
            </a:r>
            <a:endParaRPr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 b="14340" l="75101" r="0" t="0"/>
          <a:stretch/>
        </p:blipFill>
        <p:spPr>
          <a:xfrm>
            <a:off x="5257800" y="1524000"/>
            <a:ext cx="2046288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49" name="Google Shape;1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3870" y="2635626"/>
            <a:ext cx="854075" cy="331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50" name="Google Shape;1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9037" y="2135563"/>
            <a:ext cx="490537" cy="347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51" name="Google Shape;15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5288" y="4572001"/>
            <a:ext cx="1763712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52" name="Google Shape;15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0489" y="4132557"/>
            <a:ext cx="6148585" cy="363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3379" y="1479838"/>
            <a:ext cx="4150020" cy="194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54" name="Google Shape;15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0488" y="4572002"/>
            <a:ext cx="7002160" cy="1264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N-Queens</a:t>
            </a:r>
            <a:endParaRPr/>
          </a:p>
        </p:txBody>
      </p:sp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304800" y="14176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Formulation 2: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Variables:</a:t>
            </a:r>
            <a:endParaRPr/>
          </a:p>
          <a:p>
            <a:pPr indent="-101582" lvl="4" marL="2057246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Domains:</a:t>
            </a:r>
            <a:endParaRPr/>
          </a:p>
          <a:p>
            <a:pPr indent="-101582" lvl="4" marL="2057246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Constraints:</a:t>
            </a:r>
            <a:endParaRPr/>
          </a:p>
        </p:txBody>
      </p:sp>
      <p:pic>
        <p:nvPicPr>
          <p:cNvPr descr="txp_fi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2133601"/>
            <a:ext cx="395288" cy="315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5410202"/>
            <a:ext cx="4394200" cy="347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3" name="Google Shape;16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700" y="4572001"/>
            <a:ext cx="4521200" cy="363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4" name="Google Shape;16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3202" y="3022134"/>
            <a:ext cx="1970087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8"/>
          <p:cNvPicPr preferRelativeResize="0"/>
          <p:nvPr/>
        </p:nvPicPr>
        <p:blipFill rotWithShape="1">
          <a:blip r:embed="rId7">
            <a:alphaModFix/>
          </a:blip>
          <a:srcRect b="14340" l="75101" r="0" t="0"/>
          <a:stretch/>
        </p:blipFill>
        <p:spPr>
          <a:xfrm>
            <a:off x="8389937" y="1600200"/>
            <a:ext cx="2046288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6" name="Google Shape;16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2737" y="1752602"/>
            <a:ext cx="395288" cy="300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7" name="Google Shape;16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24801" y="2209802"/>
            <a:ext cx="411163" cy="30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8" name="Google Shape;168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32739" y="2667002"/>
            <a:ext cx="411163" cy="300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9" name="Google Shape;169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32739" y="3128964"/>
            <a:ext cx="411163" cy="300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1752600" y="4491338"/>
            <a:ext cx="19050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1752600" y="5345114"/>
            <a:ext cx="13716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172" name="Google Shape;172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27400" y="6019800"/>
            <a:ext cx="5588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Constraint Graphs</a:t>
            </a:r>
            <a:endParaRPr/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1" y="1600200"/>
            <a:ext cx="4802809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Constraint Graphs</a:t>
            </a:r>
            <a:endParaRPr/>
          </a:p>
        </p:txBody>
      </p:sp>
      <p:sp>
        <p:nvSpPr>
          <p:cNvPr id="185" name="Google Shape;185;p10"/>
          <p:cNvSpPr txBox="1"/>
          <p:nvPr>
            <p:ph idx="1" type="body"/>
          </p:nvPr>
        </p:nvSpPr>
        <p:spPr>
          <a:xfrm>
            <a:off x="457200" y="1600201"/>
            <a:ext cx="7010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Binary CSP: each constraint relates (at most) two variables</a:t>
            </a:r>
            <a:endParaRPr/>
          </a:p>
          <a:p>
            <a:pPr indent="-1904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Binary constraint graph: nodes are variables, arcs show constraints</a:t>
            </a:r>
            <a:endParaRPr/>
          </a:p>
          <a:p>
            <a:pPr indent="-1904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General-purpose CSP algorithms use the graph structure to speed up search. E.g., Tasmania is an independent subproblem!</a:t>
            </a:r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1600201"/>
            <a:ext cx="3327400" cy="290353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5029200" y="6400801"/>
            <a:ext cx="7010400" cy="40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CSP applet (made available by aispace.org) -- n-queens]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4082be5e0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Cryptarithmetic</a:t>
            </a:r>
            <a:endParaRPr/>
          </a:p>
        </p:txBody>
      </p:sp>
      <p:sp>
        <p:nvSpPr>
          <p:cNvPr id="194" name="Google Shape;194;g3b4082be5e0_0_0"/>
          <p:cNvSpPr txBox="1"/>
          <p:nvPr>
            <p:ph idx="1" type="body"/>
          </p:nvPr>
        </p:nvSpPr>
        <p:spPr>
          <a:xfrm>
            <a:off x="457200" y="1600201"/>
            <a:ext cx="487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Variables:</a:t>
            </a:r>
            <a:endParaRPr/>
          </a:p>
          <a:p>
            <a:pPr indent="-1650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Domains:</a:t>
            </a:r>
            <a:endParaRPr/>
          </a:p>
          <a:p>
            <a:pPr indent="-1650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Constraints:</a:t>
            </a:r>
            <a:endParaRPr/>
          </a:p>
          <a:p>
            <a:pPr indent="-1650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95" name="Google Shape;195;g3b4082be5e0_0_0"/>
          <p:cNvPicPr preferRelativeResize="0"/>
          <p:nvPr/>
        </p:nvPicPr>
        <p:blipFill rotWithShape="1">
          <a:blip r:embed="rId3">
            <a:alphaModFix/>
          </a:blip>
          <a:srcRect b="0" l="2018" r="0" t="2846"/>
          <a:stretch/>
        </p:blipFill>
        <p:spPr>
          <a:xfrm>
            <a:off x="6069106" y="1864661"/>
            <a:ext cx="1703295" cy="1224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96" name="Google Shape;196;g3b4082be5e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2281237"/>
            <a:ext cx="4114800" cy="309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97" name="Google Shape;197;g3b4082be5e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715" y="3238502"/>
            <a:ext cx="372268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98" name="Google Shape;198;g3b4082be5e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2" y="5021264"/>
            <a:ext cx="3314700" cy="309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99" name="Google Shape;199;g3b4082be5e0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5715000"/>
            <a:ext cx="547688" cy="74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00" name="Google Shape;200;g3b4082be5e0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7590" y="4344990"/>
            <a:ext cx="3478213" cy="3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b4082be5e0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8200" y="1359186"/>
            <a:ext cx="3378200" cy="205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Sudoku</a:t>
            </a:r>
            <a:endParaRPr/>
          </a:p>
        </p:txBody>
      </p:sp>
      <p:pic>
        <p:nvPicPr>
          <p:cNvPr descr="C:\Documents and Settings\Administrator\My Documents\My Pictures\Sudoku_Board_Fig1.jpg"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702" y="2227859"/>
            <a:ext cx="4051300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 txBox="1"/>
          <p:nvPr/>
        </p:nvSpPr>
        <p:spPr>
          <a:xfrm>
            <a:off x="6477000" y="1524000"/>
            <a:ext cx="411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80" lvl="1" marL="80006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(open) square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Domains: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80" lvl="1" marL="80006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{1,2,…,9}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Constraints: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580" lvl="1" marL="80006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582" lvl="0" marL="342882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12"/>
          <p:cNvGrpSpPr/>
          <p:nvPr/>
        </p:nvGrpSpPr>
        <p:grpSpPr>
          <a:xfrm>
            <a:off x="1752600" y="1503959"/>
            <a:ext cx="2743200" cy="1142929"/>
            <a:chOff x="838200" y="1600200"/>
            <a:chExt cx="2743200" cy="1142136"/>
          </a:xfrm>
        </p:grpSpPr>
        <p:sp>
          <p:nvSpPr>
            <p:cNvPr id="210" name="Google Shape;210;p12"/>
            <p:cNvSpPr/>
            <p:nvPr/>
          </p:nvSpPr>
          <p:spPr>
            <a:xfrm>
              <a:off x="2209800" y="1600200"/>
              <a:ext cx="457200" cy="38073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" name="Google Shape;211;p12"/>
            <p:cNvCxnSpPr>
              <a:stCxn id="210" idx="2"/>
            </p:cNvCxnSpPr>
            <p:nvPr/>
          </p:nvCxnSpPr>
          <p:spPr>
            <a:xfrm flipH="1">
              <a:off x="838200" y="1980936"/>
              <a:ext cx="1600200" cy="76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12"/>
            <p:cNvCxnSpPr>
              <a:stCxn id="210" idx="2"/>
            </p:cNvCxnSpPr>
            <p:nvPr/>
          </p:nvCxnSpPr>
          <p:spPr>
            <a:xfrm flipH="1">
              <a:off x="1219200" y="1980936"/>
              <a:ext cx="1219200" cy="76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12"/>
            <p:cNvCxnSpPr>
              <a:stCxn id="210" idx="2"/>
            </p:cNvCxnSpPr>
            <p:nvPr/>
          </p:nvCxnSpPr>
          <p:spPr>
            <a:xfrm flipH="1">
              <a:off x="1600200" y="1980936"/>
              <a:ext cx="838200" cy="76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12"/>
            <p:cNvCxnSpPr>
              <a:stCxn id="210" idx="2"/>
            </p:cNvCxnSpPr>
            <p:nvPr/>
          </p:nvCxnSpPr>
          <p:spPr>
            <a:xfrm flipH="1">
              <a:off x="1981200" y="1980936"/>
              <a:ext cx="457200" cy="76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12"/>
            <p:cNvCxnSpPr>
              <a:stCxn id="210" idx="2"/>
            </p:cNvCxnSpPr>
            <p:nvPr/>
          </p:nvCxnSpPr>
          <p:spPr>
            <a:xfrm flipH="1">
              <a:off x="2435100" y="1980936"/>
              <a:ext cx="3300" cy="76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12"/>
            <p:cNvCxnSpPr>
              <a:stCxn id="210" idx="2"/>
            </p:cNvCxnSpPr>
            <p:nvPr/>
          </p:nvCxnSpPr>
          <p:spPr>
            <a:xfrm>
              <a:off x="2438400" y="1980936"/>
              <a:ext cx="762000" cy="76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12"/>
            <p:cNvCxnSpPr>
              <a:stCxn id="210" idx="2"/>
            </p:cNvCxnSpPr>
            <p:nvPr/>
          </p:nvCxnSpPr>
          <p:spPr>
            <a:xfrm>
              <a:off x="2438400" y="1980936"/>
              <a:ext cx="1143000" cy="76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8" name="Google Shape;218;p12"/>
          <p:cNvGrpSpPr/>
          <p:nvPr/>
        </p:nvGrpSpPr>
        <p:grpSpPr>
          <a:xfrm>
            <a:off x="4951337" y="3104159"/>
            <a:ext cx="916063" cy="2819400"/>
            <a:chOff x="4037730" y="3200400"/>
            <a:chExt cx="915270" cy="2819400"/>
          </a:xfrm>
        </p:grpSpPr>
        <p:sp>
          <p:nvSpPr>
            <p:cNvPr id="219" name="Google Shape;219;p12"/>
            <p:cNvSpPr/>
            <p:nvPr/>
          </p:nvSpPr>
          <p:spPr>
            <a:xfrm rot="5400000">
              <a:off x="4534065" y="4229265"/>
              <a:ext cx="457200" cy="38067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12"/>
            <p:cNvCxnSpPr>
              <a:stCxn id="219" idx="2"/>
            </p:cNvCxnSpPr>
            <p:nvPr/>
          </p:nvCxnSpPr>
          <p:spPr>
            <a:xfrm rot="10800000">
              <a:off x="4037730" y="3200400"/>
              <a:ext cx="534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12"/>
            <p:cNvCxnSpPr>
              <a:stCxn id="219" idx="2"/>
            </p:cNvCxnSpPr>
            <p:nvPr/>
          </p:nvCxnSpPr>
          <p:spPr>
            <a:xfrm rot="10800000">
              <a:off x="4037730" y="3581400"/>
              <a:ext cx="5346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12"/>
            <p:cNvCxnSpPr>
              <a:stCxn id="219" idx="2"/>
            </p:cNvCxnSpPr>
            <p:nvPr/>
          </p:nvCxnSpPr>
          <p:spPr>
            <a:xfrm rot="10800000">
              <a:off x="4037730" y="3962400"/>
              <a:ext cx="534600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12"/>
            <p:cNvCxnSpPr>
              <a:stCxn id="219" idx="2"/>
            </p:cNvCxnSpPr>
            <p:nvPr/>
          </p:nvCxnSpPr>
          <p:spPr>
            <a:xfrm flipH="1">
              <a:off x="4037730" y="4419600"/>
              <a:ext cx="534600" cy="160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12"/>
            <p:cNvCxnSpPr>
              <a:stCxn id="219" idx="2"/>
            </p:cNvCxnSpPr>
            <p:nvPr/>
          </p:nvCxnSpPr>
          <p:spPr>
            <a:xfrm flipH="1">
              <a:off x="4037730" y="4419600"/>
              <a:ext cx="534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12"/>
            <p:cNvCxnSpPr>
              <a:stCxn id="219" idx="2"/>
            </p:cNvCxnSpPr>
            <p:nvPr/>
          </p:nvCxnSpPr>
          <p:spPr>
            <a:xfrm flipH="1">
              <a:off x="4037730" y="4419600"/>
              <a:ext cx="534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6" name="Google Shape;226;p12"/>
          <p:cNvGrpSpPr/>
          <p:nvPr/>
        </p:nvGrpSpPr>
        <p:grpSpPr>
          <a:xfrm>
            <a:off x="4191000" y="1580159"/>
            <a:ext cx="1524000" cy="1828800"/>
            <a:chOff x="3276600" y="1676400"/>
            <a:chExt cx="1524000" cy="1828800"/>
          </a:xfrm>
        </p:grpSpPr>
        <p:sp>
          <p:nvSpPr>
            <p:cNvPr id="227" name="Google Shape;227;p12"/>
            <p:cNvSpPr/>
            <p:nvPr/>
          </p:nvSpPr>
          <p:spPr>
            <a:xfrm rot="5400000">
              <a:off x="4419600" y="1676400"/>
              <a:ext cx="381000" cy="381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" name="Google Shape;228;p12"/>
            <p:cNvCxnSpPr>
              <a:stCxn id="227" idx="3"/>
            </p:cNvCxnSpPr>
            <p:nvPr/>
          </p:nvCxnSpPr>
          <p:spPr>
            <a:xfrm flipH="1">
              <a:off x="3276600" y="2057400"/>
              <a:ext cx="1333500" cy="68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12"/>
            <p:cNvCxnSpPr/>
            <p:nvPr/>
          </p:nvCxnSpPr>
          <p:spPr>
            <a:xfrm flipH="1">
              <a:off x="3581400" y="2057400"/>
              <a:ext cx="1028700" cy="68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2"/>
            <p:cNvCxnSpPr/>
            <p:nvPr/>
          </p:nvCxnSpPr>
          <p:spPr>
            <a:xfrm flipH="1">
              <a:off x="3276600" y="2057400"/>
              <a:ext cx="1333500" cy="106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2"/>
            <p:cNvCxnSpPr/>
            <p:nvPr/>
          </p:nvCxnSpPr>
          <p:spPr>
            <a:xfrm rot="5400000">
              <a:off x="3600450" y="2114550"/>
              <a:ext cx="1066800" cy="95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2"/>
            <p:cNvCxnSpPr/>
            <p:nvPr/>
          </p:nvCxnSpPr>
          <p:spPr>
            <a:xfrm rot="5400000">
              <a:off x="3829050" y="2266950"/>
              <a:ext cx="990600" cy="57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2"/>
            <p:cNvCxnSpPr/>
            <p:nvPr/>
          </p:nvCxnSpPr>
          <p:spPr>
            <a:xfrm rot="5400000">
              <a:off x="3429000" y="2362200"/>
              <a:ext cx="137160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2"/>
            <p:cNvCxnSpPr/>
            <p:nvPr/>
          </p:nvCxnSpPr>
          <p:spPr>
            <a:xfrm rot="5400000">
              <a:off x="3600450" y="2495550"/>
              <a:ext cx="1447800" cy="57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5" name="Google Shape;235;p12"/>
          <p:cNvSpPr txBox="1"/>
          <p:nvPr/>
        </p:nvSpPr>
        <p:spPr>
          <a:xfrm>
            <a:off x="7166495" y="4261247"/>
            <a:ext cx="2823399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9-way alldiff for each row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7166497" y="3784006"/>
            <a:ext cx="3196705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9-way alldiff for each column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7166498" y="4718447"/>
            <a:ext cx="3084815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9-way alldiff for each region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7166495" y="5175647"/>
            <a:ext cx="2971800" cy="1015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(or can have a bunch of pairwise inequality constraints)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Varieties of CSPs and Constraints</a:t>
            </a:r>
            <a:endParaRPr/>
          </a:p>
        </p:txBody>
      </p:sp>
      <p:pic>
        <p:nvPicPr>
          <p:cNvPr id="244" name="Google Shape;2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1" y="1372103"/>
            <a:ext cx="7316459" cy="4951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Varieties of CSPs</a:t>
            </a:r>
            <a:endParaRPr/>
          </a:p>
        </p:txBody>
      </p:sp>
      <p:sp>
        <p:nvSpPr>
          <p:cNvPr id="250" name="Google Shape;250;p14"/>
          <p:cNvSpPr txBox="1"/>
          <p:nvPr>
            <p:ph idx="1" type="body"/>
          </p:nvPr>
        </p:nvSpPr>
        <p:spPr>
          <a:xfrm>
            <a:off x="406400" y="1397002"/>
            <a:ext cx="7442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Discrete Variables</a:t>
            </a:r>
            <a:endParaRPr/>
          </a:p>
          <a:p>
            <a:pPr indent="-285730" lvl="1" marL="74289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Finite domains</a:t>
            </a:r>
            <a:endParaRPr/>
          </a:p>
          <a:p>
            <a:pPr indent="-228582" lvl="2" marL="114291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Size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900"/>
              <a:t> means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30000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900"/>
              <a:t> complete assignments</a:t>
            </a:r>
            <a:endParaRPr/>
          </a:p>
          <a:p>
            <a:pPr indent="-228582" lvl="2" marL="1142914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E.g., Boolean CSPs, including Boolean satisfiability (NP-complete)</a:t>
            </a:r>
            <a:endParaRPr/>
          </a:p>
          <a:p>
            <a:pPr indent="-285730" lvl="1" marL="74289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Infinite domains (integers, strings, etc.)</a:t>
            </a:r>
            <a:endParaRPr/>
          </a:p>
          <a:p>
            <a:pPr indent="-228582" lvl="2" marL="1142914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E.g., job scheduling, variables are start/end times for each job</a:t>
            </a:r>
            <a:endParaRPr/>
          </a:p>
          <a:p>
            <a:pPr indent="-228582" lvl="2" marL="1142914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Linear constraints solvable, nonlinear undecidable</a:t>
            </a:r>
            <a:endParaRPr sz="1900"/>
          </a:p>
          <a:p>
            <a:pPr indent="-1904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Continuous variables</a:t>
            </a:r>
            <a:endParaRPr/>
          </a:p>
          <a:p>
            <a:pPr indent="-285730" lvl="1" marL="74289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E.g., start/end times for Hubble Telescope observations</a:t>
            </a:r>
            <a:endParaRPr/>
          </a:p>
          <a:p>
            <a:pPr indent="-285730" lvl="1" marL="74289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Linear constraints solvable in polynomial time by LP methods</a:t>
            </a:r>
            <a:endParaRPr/>
          </a:p>
        </p:txBody>
      </p:sp>
      <p:pic>
        <p:nvPicPr>
          <p:cNvPr id="251" name="Google Shape;2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9993" y="1364304"/>
            <a:ext cx="2813015" cy="2369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0" y="3840355"/>
            <a:ext cx="2817740" cy="2294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Varieties of Constraints</a:t>
            </a:r>
            <a:endParaRPr/>
          </a:p>
        </p:txBody>
      </p:sp>
      <p:sp>
        <p:nvSpPr>
          <p:cNvPr id="258" name="Google Shape;258;p15"/>
          <p:cNvSpPr txBox="1"/>
          <p:nvPr>
            <p:ph idx="1" type="body"/>
          </p:nvPr>
        </p:nvSpPr>
        <p:spPr>
          <a:xfrm>
            <a:off x="457200" y="1600200"/>
            <a:ext cx="6934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Varieties of Constraints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Unary constraints involve a single variable (equivalent to reducing domains), e.g.:</a:t>
            </a:r>
            <a:endParaRPr/>
          </a:p>
          <a:p>
            <a:pPr indent="-342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/>
              <a:t>	</a:t>
            </a:r>
            <a:endParaRPr/>
          </a:p>
          <a:p>
            <a:pPr indent="-342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Binary constraints involve pairs of variables, e.g.:</a:t>
            </a:r>
            <a:endParaRPr/>
          </a:p>
          <a:p>
            <a:pPr indent="-215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15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Higher-order constraints involve 3 or more variables: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rPr lang="en-US" sz="1900"/>
              <a:t>	   e.g., cryptarithmetic column constraints</a:t>
            </a:r>
            <a:endParaRPr/>
          </a:p>
          <a:p>
            <a:pPr indent="-215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Preferences (soft constraints):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E.g., red is better than green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Often representable by a cost for each variable assignment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Gives constrained optimization problems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(We’ll ignore these until we get to Bayes’ nets)</a:t>
            </a:r>
            <a:endParaRPr/>
          </a:p>
          <a:p>
            <a:pPr indent="-165079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900"/>
          </a:p>
          <a:p>
            <a:pPr indent="-285730" lvl="1" marL="742895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rPr lang="en-US" sz="1900"/>
              <a:t> </a:t>
            </a:r>
            <a:endParaRPr/>
          </a:p>
          <a:p>
            <a:pPr indent="-215874" lvl="0" marL="342874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txp_fig" id="259" name="Google Shape;2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2494" y="2617786"/>
            <a:ext cx="1665615" cy="277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260" name="Google Shape;2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4261" y="3455987"/>
            <a:ext cx="1417292" cy="277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4520" y="1448142"/>
            <a:ext cx="4952679" cy="3352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Real-World CSPs</a:t>
            </a:r>
            <a:endParaRPr/>
          </a:p>
        </p:txBody>
      </p:sp>
      <p:sp>
        <p:nvSpPr>
          <p:cNvPr id="267" name="Google Shape;267;p16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Assignment problems: e.g., who teaches what class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Timetabling problems: e.g., which class is offered when and where?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Hardware configuration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Transportation scheduling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Factory scheduling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Circuit layout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Fault diagnosis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… lots more!</a:t>
            </a:r>
            <a:endParaRPr/>
          </a:p>
          <a:p>
            <a:pPr indent="-1904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Many real-world problems involve real-valued variables…</a:t>
            </a:r>
            <a:endParaRPr/>
          </a:p>
        </p:txBody>
      </p:sp>
      <p:pic>
        <p:nvPicPr>
          <p:cNvPr id="268" name="Google Shape;2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1" y="2591009"/>
            <a:ext cx="6248398" cy="2777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Solving CSPs</a:t>
            </a:r>
            <a:endParaRPr/>
          </a:p>
        </p:txBody>
      </p:sp>
      <p:sp>
        <p:nvSpPr>
          <p:cNvPr id="274" name="Google Shape;274;p17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75" name="Google Shape;2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1" y="1524416"/>
            <a:ext cx="8866186" cy="462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Standard Search Formulation</a:t>
            </a:r>
            <a:endParaRPr/>
          </a:p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381000" y="1447800"/>
            <a:ext cx="6019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Standard search formulation of CSPs</a:t>
            </a:r>
            <a:endParaRPr/>
          </a:p>
          <a:p>
            <a:pPr indent="-165074" lvl="0" marL="342874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74" lvl="0" marL="342874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States defined by the values assigned so far (partial assignments)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Initial state: the empty assignment, {}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Successor function: assign a value to an unassigned variable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Goal test: the current assignment is complete and satisfies all constraints</a:t>
            </a:r>
            <a:endParaRPr/>
          </a:p>
          <a:p>
            <a:pPr indent="-165074" lvl="0" marL="342874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74" lvl="0" marL="342874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We’ll start with the straightforward, naïve approach, then improve it</a:t>
            </a:r>
            <a:endParaRPr/>
          </a:p>
          <a:p>
            <a:pPr indent="-165074" lvl="0" marL="342874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282" name="Google Shape;2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1" y="1545125"/>
            <a:ext cx="5359576" cy="4169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Methods</a:t>
            </a:r>
            <a:endParaRPr/>
          </a:p>
        </p:txBody>
      </p:sp>
      <p:sp>
        <p:nvSpPr>
          <p:cNvPr id="289" name="Google Shape;289;p19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What would BFS do?</a:t>
            </a:r>
            <a:endParaRPr/>
          </a:p>
          <a:p>
            <a:pPr indent="-1650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What would DFS do?</a:t>
            </a:r>
            <a:endParaRPr/>
          </a:p>
          <a:p>
            <a:pPr indent="-1650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What problems does naïve search have?</a:t>
            </a:r>
            <a:endParaRPr/>
          </a:p>
        </p:txBody>
      </p:sp>
      <p:pic>
        <p:nvPicPr>
          <p:cNvPr id="290" name="Google Shape;290;p19"/>
          <p:cNvPicPr preferRelativeResize="0"/>
          <p:nvPr/>
        </p:nvPicPr>
        <p:blipFill rotWithShape="1">
          <a:blip r:embed="rId3">
            <a:alphaModFix/>
          </a:blip>
          <a:srcRect b="0" l="601" r="0" t="1517"/>
          <a:stretch/>
        </p:blipFill>
        <p:spPr>
          <a:xfrm>
            <a:off x="6277709" y="1447800"/>
            <a:ext cx="4847492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9"/>
          <p:cNvSpPr txBox="1"/>
          <p:nvPr/>
        </p:nvSpPr>
        <p:spPr>
          <a:xfrm>
            <a:off x="9372600" y="6400802"/>
            <a:ext cx="2743200" cy="40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coloring -- dfs]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Backtracking Search</a:t>
            </a:r>
            <a:endParaRPr/>
          </a:p>
        </p:txBody>
      </p:sp>
      <p:pic>
        <p:nvPicPr>
          <p:cNvPr id="297" name="Google Shape;2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2" y="1752602"/>
            <a:ext cx="7315199" cy="4278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Backtracking Search</a:t>
            </a:r>
            <a:endParaRPr/>
          </a:p>
        </p:txBody>
      </p:sp>
      <p:sp>
        <p:nvSpPr>
          <p:cNvPr id="303" name="Google Shape;303;p21"/>
          <p:cNvSpPr txBox="1"/>
          <p:nvPr>
            <p:ph idx="1" type="body"/>
          </p:nvPr>
        </p:nvSpPr>
        <p:spPr>
          <a:xfrm>
            <a:off x="457200" y="1371600"/>
            <a:ext cx="9829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Backtracking search is the basic uninformed algorithm for solving CSPs</a:t>
            </a:r>
            <a:endParaRPr/>
          </a:p>
          <a:p>
            <a:pPr indent="-152384" lvl="3" marL="160008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Idea 1: One variable at a time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Variable assignments are commutative, so fix ordering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I.e., [WA = red then NT = green] same as [NT = green then WA = red]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Only need to consider assignments to a single variable at each step</a:t>
            </a:r>
            <a:endParaRPr/>
          </a:p>
          <a:p>
            <a:pPr indent="-152384" lvl="3" marL="160008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Idea 2: Check constraints as you go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I.e. consider only values which do not conflict previous assignments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Might have to do some computation to check the constraints</a:t>
            </a:r>
            <a:endParaRPr/>
          </a:p>
          <a:p>
            <a:pPr indent="-285730" lvl="1" marL="74289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“Incremental goal test”</a:t>
            </a:r>
            <a:endParaRPr/>
          </a:p>
          <a:p>
            <a:pPr indent="-152384" lvl="3" marL="160008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Depth-first search with these two improvements</a:t>
            </a:r>
            <a:endParaRPr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is called </a:t>
            </a:r>
            <a:r>
              <a:rPr i="1" lang="en-US" sz="2400"/>
              <a:t>backtracking search </a:t>
            </a:r>
            <a:r>
              <a:rPr lang="en-US" sz="2400"/>
              <a:t>(not the best name)</a:t>
            </a:r>
            <a:endParaRPr i="1" sz="2400"/>
          </a:p>
          <a:p>
            <a:pPr indent="-126982" lvl="2" marL="1142914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Can solve n-queens for n ≈ 25</a:t>
            </a:r>
            <a:endParaRPr/>
          </a:p>
        </p:txBody>
      </p:sp>
      <p:pic>
        <p:nvPicPr>
          <p:cNvPr id="304" name="Google Shape;3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602" y="3962400"/>
            <a:ext cx="4571999" cy="2673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Backtracking Example</a:t>
            </a:r>
            <a:endParaRPr/>
          </a:p>
        </p:txBody>
      </p:sp>
      <p:pic>
        <p:nvPicPr>
          <p:cNvPr id="310" name="Google Shape;3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981" y="1447800"/>
            <a:ext cx="1165225" cy="960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2"/>
          <p:cNvPicPr preferRelativeResize="0"/>
          <p:nvPr/>
        </p:nvPicPr>
        <p:blipFill rotWithShape="1">
          <a:blip r:embed="rId4">
            <a:alphaModFix/>
          </a:blip>
          <a:srcRect b="0" l="983" r="0" t="1931"/>
          <a:stretch/>
        </p:blipFill>
        <p:spPr>
          <a:xfrm>
            <a:off x="4535581" y="1474413"/>
            <a:ext cx="3846420" cy="204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2"/>
          <p:cNvPicPr preferRelativeResize="0"/>
          <p:nvPr/>
        </p:nvPicPr>
        <p:blipFill rotWithShape="1">
          <a:blip r:embed="rId5">
            <a:alphaModFix/>
          </a:blip>
          <a:srcRect b="0" l="645" r="0" t="615"/>
          <a:stretch/>
        </p:blipFill>
        <p:spPr>
          <a:xfrm>
            <a:off x="3692899" y="1474413"/>
            <a:ext cx="4534647" cy="336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2"/>
          <p:cNvPicPr preferRelativeResize="0"/>
          <p:nvPr/>
        </p:nvPicPr>
        <p:blipFill rotWithShape="1">
          <a:blip r:embed="rId6">
            <a:alphaModFix/>
          </a:blip>
          <a:srcRect b="0" l="578" r="0" t="520"/>
          <a:stretch/>
        </p:blipFill>
        <p:spPr>
          <a:xfrm>
            <a:off x="2823322" y="1483377"/>
            <a:ext cx="5401049" cy="4684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67602" y="3962400"/>
            <a:ext cx="4571999" cy="2673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Backtracking Search</a:t>
            </a:r>
            <a:endParaRPr/>
          </a:p>
        </p:txBody>
      </p:sp>
      <p:sp>
        <p:nvSpPr>
          <p:cNvPr id="321" name="Google Shape;321;p23"/>
          <p:cNvSpPr txBox="1"/>
          <p:nvPr>
            <p:ph idx="1" type="body"/>
          </p:nvPr>
        </p:nvSpPr>
        <p:spPr>
          <a:xfrm>
            <a:off x="2209800" y="5334001"/>
            <a:ext cx="82296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Backtracking = DFS + variable-ordering + fail-on-violation</a:t>
            </a:r>
            <a:endParaRPr/>
          </a:p>
          <a:p>
            <a:pPr indent="-342874" lvl="0" marL="34287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are the choice points?</a:t>
            </a:r>
            <a:endParaRPr/>
          </a:p>
        </p:txBody>
      </p:sp>
      <p:pic>
        <p:nvPicPr>
          <p:cNvPr id="322" name="Google Shape;3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295401"/>
            <a:ext cx="7848600" cy="383381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8534400" y="6400801"/>
            <a:ext cx="3581400" cy="40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coloring -- backtracking]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Improving Backtracking</a:t>
            </a:r>
            <a:endParaRPr/>
          </a:p>
        </p:txBody>
      </p:sp>
      <p:sp>
        <p:nvSpPr>
          <p:cNvPr id="329" name="Google Shape;329;p24"/>
          <p:cNvSpPr txBox="1"/>
          <p:nvPr>
            <p:ph idx="1" type="body"/>
          </p:nvPr>
        </p:nvSpPr>
        <p:spPr>
          <a:xfrm>
            <a:off x="381000" y="16462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General-purpose ideas give huge gains in speed</a:t>
            </a:r>
            <a:endParaRPr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Ordering: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Which variable should be assigned next?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what order should its values be tried?</a:t>
            </a:r>
            <a:endParaRPr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Filtering: Can we detect inevitable failure early?</a:t>
            </a:r>
            <a:endParaRPr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Structure: Can we exploit the problem structure?</a:t>
            </a:r>
            <a:endParaRPr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330" name="Google Shape;3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7162" y="1830010"/>
            <a:ext cx="4110079" cy="2960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Filtering</a:t>
            </a:r>
            <a:endParaRPr/>
          </a:p>
        </p:txBody>
      </p:sp>
      <p:sp>
        <p:nvSpPr>
          <p:cNvPr id="336" name="Google Shape;336;p25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37" name="Google Shape;3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2" y="1600646"/>
            <a:ext cx="7237410" cy="4056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/>
          <p:nvPr>
            <p:ph idx="1" type="body"/>
          </p:nvPr>
        </p:nvSpPr>
        <p:spPr>
          <a:xfrm>
            <a:off x="406400" y="12192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Filtering: Keep track of domains for unassigned variables and cross off bad options</a:t>
            </a:r>
            <a:endParaRPr/>
          </a:p>
          <a:p>
            <a:pPr indent="-342874" lvl="0" marL="34287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Forward checking: Cross off values that violate a constraint when added to the existing assignment</a:t>
            </a:r>
            <a:endParaRPr/>
          </a:p>
        </p:txBody>
      </p:sp>
      <p:pic>
        <p:nvPicPr>
          <p:cNvPr id="344" name="Google Shape;344;p26"/>
          <p:cNvPicPr preferRelativeResize="0"/>
          <p:nvPr/>
        </p:nvPicPr>
        <p:blipFill rotWithShape="1">
          <a:blip r:embed="rId3">
            <a:alphaModFix/>
          </a:blip>
          <a:srcRect b="67024" l="0" r="9502" t="0"/>
          <a:stretch/>
        </p:blipFill>
        <p:spPr>
          <a:xfrm>
            <a:off x="1828800" y="2438400"/>
            <a:ext cx="75438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6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Filtering: Forward Checking</a:t>
            </a:r>
            <a:endParaRPr/>
          </a:p>
        </p:txBody>
      </p:sp>
      <p:pic>
        <p:nvPicPr>
          <p:cNvPr id="347" name="Google Shape;347;p26"/>
          <p:cNvPicPr preferRelativeResize="0"/>
          <p:nvPr/>
        </p:nvPicPr>
        <p:blipFill rotWithShape="1">
          <a:blip r:embed="rId4">
            <a:alphaModFix/>
          </a:blip>
          <a:srcRect b="0" l="0" r="14556" t="35036"/>
          <a:stretch/>
        </p:blipFill>
        <p:spPr>
          <a:xfrm>
            <a:off x="2514601" y="3657601"/>
            <a:ext cx="7122459" cy="2401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6"/>
          <p:cNvSpPr txBox="1"/>
          <p:nvPr/>
        </p:nvSpPr>
        <p:spPr>
          <a:xfrm>
            <a:off x="2729755" y="2756649"/>
            <a:ext cx="5921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6"/>
          <p:cNvSpPr txBox="1"/>
          <p:nvPr/>
        </p:nvSpPr>
        <p:spPr>
          <a:xfrm>
            <a:off x="3177990" y="2891120"/>
            <a:ext cx="4524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3119721" y="2643469"/>
            <a:ext cx="4524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6"/>
          <p:cNvSpPr txBox="1"/>
          <p:nvPr/>
        </p:nvSpPr>
        <p:spPr>
          <a:xfrm>
            <a:off x="3491755" y="2680449"/>
            <a:ext cx="4524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3496235" y="2985252"/>
            <a:ext cx="622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6"/>
          <p:cNvSpPr txBox="1"/>
          <p:nvPr/>
        </p:nvSpPr>
        <p:spPr>
          <a:xfrm>
            <a:off x="3523131" y="3177989"/>
            <a:ext cx="622300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2286000" y="4648200"/>
            <a:ext cx="8382000" cy="144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2286000" y="5105400"/>
            <a:ext cx="83820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2286000" y="5629835"/>
            <a:ext cx="8382000" cy="53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3962400" y="2286000"/>
            <a:ext cx="5486400" cy="129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5715000" y="2286000"/>
            <a:ext cx="3886200" cy="129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7485531" y="2286000"/>
            <a:ext cx="2286000" cy="129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6"/>
          <p:cNvSpPr txBox="1"/>
          <p:nvPr/>
        </p:nvSpPr>
        <p:spPr>
          <a:xfrm>
            <a:off x="8610600" y="6477001"/>
            <a:ext cx="361511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coloring -- forward checking]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Filtering: Constraint Propagation</a:t>
            </a:r>
            <a:endParaRPr/>
          </a:p>
        </p:txBody>
      </p:sp>
      <p:sp>
        <p:nvSpPr>
          <p:cNvPr id="366" name="Google Shape;366;p27"/>
          <p:cNvSpPr txBox="1"/>
          <p:nvPr>
            <p:ph idx="1" type="body"/>
          </p:nvPr>
        </p:nvSpPr>
        <p:spPr>
          <a:xfrm>
            <a:off x="406400" y="13716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Forward checking propagates information from assigned to unassigned variables, but doesn't provide early detection for all failures:</a:t>
            </a:r>
            <a:endParaRPr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NT and SA cannot both be blue!</a:t>
            </a:r>
            <a:endParaRPr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Why didn’t we detect this yet?</a:t>
            </a:r>
            <a:endParaRPr/>
          </a:p>
          <a:p>
            <a:pPr indent="-342874" lvl="0" marL="342874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/>
              <a:t>Constraint propagation: </a:t>
            </a:r>
            <a:r>
              <a:rPr lang="en-US" sz="2400"/>
              <a:t>reason from constraint to constraint</a:t>
            </a:r>
            <a:endParaRPr/>
          </a:p>
        </p:txBody>
      </p:sp>
      <p:pic>
        <p:nvPicPr>
          <p:cNvPr id="367" name="Google Shape;367;p27"/>
          <p:cNvPicPr preferRelativeResize="0"/>
          <p:nvPr/>
        </p:nvPicPr>
        <p:blipFill rotWithShape="1">
          <a:blip r:embed="rId3">
            <a:alphaModFix/>
          </a:blip>
          <a:srcRect b="0" l="60" r="14586" t="42619"/>
          <a:stretch/>
        </p:blipFill>
        <p:spPr>
          <a:xfrm>
            <a:off x="4038600" y="2438401"/>
            <a:ext cx="6373907" cy="164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/>
          <p:cNvPicPr preferRelativeResize="0"/>
          <p:nvPr/>
        </p:nvPicPr>
        <p:blipFill rotWithShape="1">
          <a:blip r:embed="rId4">
            <a:alphaModFix/>
          </a:blip>
          <a:srcRect b="65372" l="53061" r="31632" t="470"/>
          <a:stretch/>
        </p:blipFill>
        <p:spPr>
          <a:xfrm>
            <a:off x="1219200" y="2667000"/>
            <a:ext cx="1752600" cy="149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7"/>
          <p:cNvSpPr txBox="1"/>
          <p:nvPr/>
        </p:nvSpPr>
        <p:spPr>
          <a:xfrm>
            <a:off x="1312861" y="3146752"/>
            <a:ext cx="5921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1905001" y="3257549"/>
            <a:ext cx="4524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7"/>
          <p:cNvSpPr txBox="1"/>
          <p:nvPr/>
        </p:nvSpPr>
        <p:spPr>
          <a:xfrm>
            <a:off x="1828800" y="2918152"/>
            <a:ext cx="4524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2286001" y="2994352"/>
            <a:ext cx="452439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2362201" y="3402106"/>
            <a:ext cx="622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7"/>
          <p:cNvSpPr txBox="1"/>
          <p:nvPr/>
        </p:nvSpPr>
        <p:spPr>
          <a:xfrm>
            <a:off x="2367431" y="3639812"/>
            <a:ext cx="622300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Ordering</a:t>
            </a:r>
            <a:endParaRPr/>
          </a:p>
        </p:txBody>
      </p:sp>
      <p:sp>
        <p:nvSpPr>
          <p:cNvPr id="380" name="Google Shape;380;p28"/>
          <p:cNvSpPr txBox="1"/>
          <p:nvPr>
            <p:ph idx="1" type="body"/>
          </p:nvPr>
        </p:nvSpPr>
        <p:spPr>
          <a:xfrm>
            <a:off x="406400" y="13970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81" name="Google Shape;3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2" y="1371982"/>
            <a:ext cx="10218735" cy="490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17" y="4165599"/>
            <a:ext cx="5301081" cy="253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Ordering: Minimum Remaining Values</a:t>
            </a:r>
            <a:endParaRPr/>
          </a:p>
        </p:txBody>
      </p:sp>
      <p:sp>
        <p:nvSpPr>
          <p:cNvPr id="388" name="Google Shape;388;p29"/>
          <p:cNvSpPr txBox="1"/>
          <p:nvPr>
            <p:ph idx="1" type="body"/>
          </p:nvPr>
        </p:nvSpPr>
        <p:spPr>
          <a:xfrm>
            <a:off x="431800" y="13716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Variable Ordering: Minimum remaining values (MRV):</a:t>
            </a:r>
            <a:endParaRPr/>
          </a:p>
          <a:p>
            <a:pPr indent="-285730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Choose the variable with the fewest legal left values in its domain</a:t>
            </a:r>
            <a:endParaRPr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29" lvl="1" marL="74289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Why min rather than max?</a:t>
            </a:r>
            <a:endParaRPr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Also called “most constrained variable”</a:t>
            </a:r>
            <a:endParaRPr/>
          </a:p>
          <a:p>
            <a:pPr indent="-342874" lvl="0" marL="34287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“Fail-fast” ordering</a:t>
            </a:r>
            <a:endParaRPr/>
          </a:p>
        </p:txBody>
      </p:sp>
      <p:pic>
        <p:nvPicPr>
          <p:cNvPr id="389" name="Google Shape;389;p29"/>
          <p:cNvPicPr preferRelativeResize="0"/>
          <p:nvPr/>
        </p:nvPicPr>
        <p:blipFill rotWithShape="1">
          <a:blip r:embed="rId4">
            <a:alphaModFix/>
          </a:blip>
          <a:srcRect b="0" l="475" r="0" t="2130"/>
          <a:stretch/>
        </p:blipFill>
        <p:spPr>
          <a:xfrm>
            <a:off x="1970741" y="2672975"/>
            <a:ext cx="8435323" cy="144182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/>
          <p:nvPr/>
        </p:nvSpPr>
        <p:spPr>
          <a:xfrm>
            <a:off x="3606800" y="2641599"/>
            <a:ext cx="2209800" cy="152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5816600" y="2565399"/>
            <a:ext cx="2286000" cy="152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8102600" y="2489198"/>
            <a:ext cx="2286000" cy="162560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0484" y="4419600"/>
            <a:ext cx="477291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Ordering: Least Constraining Value</a:t>
            </a:r>
            <a:endParaRPr/>
          </a:p>
        </p:txBody>
      </p:sp>
      <p:sp>
        <p:nvSpPr>
          <p:cNvPr id="400" name="Google Shape;400;p30"/>
          <p:cNvSpPr txBox="1"/>
          <p:nvPr>
            <p:ph idx="1" type="body"/>
          </p:nvPr>
        </p:nvSpPr>
        <p:spPr>
          <a:xfrm>
            <a:off x="457200" y="1447800"/>
            <a:ext cx="7086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74" lvl="0" marL="34287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Value Ordering: Least Constraining Value</a:t>
            </a:r>
            <a:endParaRPr/>
          </a:p>
          <a:p>
            <a:pPr indent="-285730" lvl="1" marL="74289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Given a choice of variable, choose the </a:t>
            </a:r>
            <a:r>
              <a:rPr i="1" lang="en-US" sz="2400"/>
              <a:t>least constraining value</a:t>
            </a:r>
            <a:endParaRPr/>
          </a:p>
          <a:p>
            <a:pPr indent="-285730" lvl="1" marL="74289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I.e., the one that rules out the fewest values in the remaining variables</a:t>
            </a:r>
            <a:endParaRPr/>
          </a:p>
          <a:p>
            <a:pPr indent="-285730" lvl="1" marL="74289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Note that it may take some computation to determine this!  (E.g., rerunning filtering)</a:t>
            </a:r>
            <a:endParaRPr/>
          </a:p>
          <a:p>
            <a:pPr indent="-133329" lvl="1" marL="74289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Why least rather than most?</a:t>
            </a:r>
            <a:endParaRPr/>
          </a:p>
          <a:p>
            <a:pPr indent="-1650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74" lvl="0" marL="342874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Combining these ordering ideas makes</a:t>
            </a:r>
            <a:endParaRPr/>
          </a:p>
          <a:p>
            <a:pPr indent="-342874" lvl="0" marL="342874" rtl="0" algn="l">
              <a:lnSpc>
                <a:spcPct val="90000"/>
              </a:lnSpc>
              <a:spcBef>
                <a:spcPts val="272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1000 queens feasible</a:t>
            </a:r>
            <a:endParaRPr/>
          </a:p>
        </p:txBody>
      </p:sp>
      <p:pic>
        <p:nvPicPr>
          <p:cNvPr id="401" name="Google Shape;401;p30"/>
          <p:cNvPicPr preferRelativeResize="0"/>
          <p:nvPr/>
        </p:nvPicPr>
        <p:blipFill rotWithShape="1">
          <a:blip r:embed="rId4">
            <a:alphaModFix/>
          </a:blip>
          <a:srcRect b="0" l="288" r="0" t="900"/>
          <a:stretch/>
        </p:blipFill>
        <p:spPr>
          <a:xfrm>
            <a:off x="7655860" y="1470212"/>
            <a:ext cx="3621741" cy="246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