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6858000" cx="12192000"/>
  <p:notesSz cx="7302500" cy="9588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4" roundtripDataSignature="AMtx7mihe0cHtxFFu7jmFjgb5ynFlfV2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81242B-E9E1-43DD-B313-68110A3294C5}">
  <a:tblStyle styleId="{2081242B-E9E1-43DD-B313-68110A3294C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47B30BB-A373-4637-BFC3-F4622A01E66B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E7E7E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7E7ED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35438" y="0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455613" y="719138"/>
            <a:ext cx="6391275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Please retain proper attribution, including the reference to ai.berkeley.edu.  Thanks!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455613" y="719138"/>
            <a:ext cx="6391275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George Box: All models are wrong; some of them are useful</a:t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455613" y="719138"/>
            <a:ext cx="6391275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455613" y="719138"/>
            <a:ext cx="6391275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5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16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7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18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19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20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21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22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3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23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24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:notes"/>
          <p:cNvSpPr/>
          <p:nvPr>
            <p:ph idx="2" type="sldImg"/>
          </p:nvPr>
        </p:nvSpPr>
        <p:spPr>
          <a:xfrm>
            <a:off x="455613" y="719138"/>
            <a:ext cx="6391275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4" name="Google Shape;324;p25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demo</a:t>
            </a:r>
            <a:endParaRPr/>
          </a:p>
        </p:txBody>
      </p:sp>
      <p:sp>
        <p:nvSpPr>
          <p:cNvPr id="325" name="Google Shape;325;p25:notes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6:notes"/>
          <p:cNvSpPr/>
          <p:nvPr>
            <p:ph idx="2" type="sldImg"/>
          </p:nvPr>
        </p:nvSpPr>
        <p:spPr>
          <a:xfrm>
            <a:off x="455613" y="719138"/>
            <a:ext cx="6391275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4" name="Google Shape;344;p26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demo</a:t>
            </a:r>
            <a:endParaRPr/>
          </a:p>
        </p:txBody>
      </p:sp>
      <p:sp>
        <p:nvSpPr>
          <p:cNvPr id="345" name="Google Shape;345;p26:notes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:notes"/>
          <p:cNvSpPr/>
          <p:nvPr>
            <p:ph idx="2" type="sldImg"/>
          </p:nvPr>
        </p:nvSpPr>
        <p:spPr>
          <a:xfrm>
            <a:off x="455613" y="719138"/>
            <a:ext cx="6391275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1" name="Google Shape;361;p27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demo</a:t>
            </a:r>
            <a:endParaRPr/>
          </a:p>
        </p:txBody>
      </p:sp>
      <p:sp>
        <p:nvSpPr>
          <p:cNvPr id="362" name="Google Shape;362;p27:notes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8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28:notes"/>
          <p:cNvSpPr/>
          <p:nvPr>
            <p:ph idx="2" type="sldImg"/>
          </p:nvPr>
        </p:nvSpPr>
        <p:spPr>
          <a:xfrm>
            <a:off x="455613" y="719138"/>
            <a:ext cx="6391275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9:notes"/>
          <p:cNvSpPr/>
          <p:nvPr>
            <p:ph idx="2" type="sldImg"/>
          </p:nvPr>
        </p:nvSpPr>
        <p:spPr>
          <a:xfrm>
            <a:off x="455613" y="719138"/>
            <a:ext cx="6391275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0" name="Google Shape;400;p29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29:notes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30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1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31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2:notes"/>
          <p:cNvSpPr/>
          <p:nvPr>
            <p:ph idx="2" type="sldImg"/>
          </p:nvPr>
        </p:nvSpPr>
        <p:spPr>
          <a:xfrm>
            <a:off x="458788" y="720725"/>
            <a:ext cx="6397625" cy="35988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26" name="Google Shape;426;p32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Demo: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Draw network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Specify the CPTs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Then query, e.g., Mary Calls --- not something we specified, inference computed this for us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P(B) =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P(B | +e) =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🡪"/>
            </a:pPr>
            <a:r>
              <a:rPr lang="en-US"/>
              <a:t>Independence</a:t>
            </a:r>
            <a:endParaRPr/>
          </a:p>
          <a:p>
            <a:pPr indent="-95250" lvl="0" marL="1714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P(B) =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P(B | +m) =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lang="en-US"/>
              <a:t>Show explaining away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27" name="Google Shape;427;p32:notes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3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8" name="Google Shape;448;p33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demo</a:t>
            </a:r>
            <a:endParaRPr/>
          </a:p>
        </p:txBody>
      </p:sp>
      <p:sp>
        <p:nvSpPr>
          <p:cNvPr id="449" name="Google Shape;449;p33:notes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4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71" name="Google Shape;471;p34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demo</a:t>
            </a:r>
            <a:endParaRPr/>
          </a:p>
        </p:txBody>
      </p:sp>
      <p:sp>
        <p:nvSpPr>
          <p:cNvPr id="472" name="Google Shape;472;p34:notes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5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5" name="Google Shape;495;p35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6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3" name="Google Shape;503;p36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7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3" name="Google Shape;513;p37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8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p38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9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0" name="Google Shape;560;p39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0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67" name="Google Shape;567;p40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demo</a:t>
            </a:r>
            <a:endParaRPr/>
          </a:p>
        </p:txBody>
      </p:sp>
      <p:sp>
        <p:nvSpPr>
          <p:cNvPr id="568" name="Google Shape;568;p40:notes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1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9" name="Google Shape;589;p41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2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96" name="Google Shape;596;p42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demo</a:t>
            </a:r>
            <a:endParaRPr/>
          </a:p>
        </p:txBody>
      </p:sp>
      <p:sp>
        <p:nvSpPr>
          <p:cNvPr id="597" name="Google Shape;597;p42:notes"/>
          <p:cNvSpPr txBox="1"/>
          <p:nvPr>
            <p:ph idx="12" type="sldNum"/>
          </p:nvPr>
        </p:nvSpPr>
        <p:spPr>
          <a:xfrm>
            <a:off x="4135438" y="9107488"/>
            <a:ext cx="31654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3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7" name="Google Shape;617;p43:notes"/>
          <p:cNvSpPr/>
          <p:nvPr>
            <p:ph idx="2" type="sldImg"/>
          </p:nvPr>
        </p:nvSpPr>
        <p:spPr>
          <a:xfrm>
            <a:off x="455613" y="719138"/>
            <a:ext cx="6391275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6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p56:notes"/>
          <p:cNvSpPr/>
          <p:nvPr>
            <p:ph idx="2" type="sldImg"/>
          </p:nvPr>
        </p:nvSpPr>
        <p:spPr>
          <a:xfrm>
            <a:off x="455613" y="719138"/>
            <a:ext cx="6391275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7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5" name="Google Shape;635;p57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e7cae81dac_0_0:notes"/>
          <p:cNvSpPr/>
          <p:nvPr>
            <p:ph idx="2" type="sldImg"/>
          </p:nvPr>
        </p:nvSpPr>
        <p:spPr>
          <a:xfrm>
            <a:off x="1254125" y="719138"/>
            <a:ext cx="4794300" cy="359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e7cae81dac_0_0:notes"/>
          <p:cNvSpPr txBox="1"/>
          <p:nvPr>
            <p:ph idx="1" type="body"/>
          </p:nvPr>
        </p:nvSpPr>
        <p:spPr>
          <a:xfrm>
            <a:off x="730250" y="4554538"/>
            <a:ext cx="5841900" cy="4314900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e7cae81dac_0_0:notes"/>
          <p:cNvSpPr txBox="1"/>
          <p:nvPr>
            <p:ph idx="12" type="sldNum"/>
          </p:nvPr>
        </p:nvSpPr>
        <p:spPr>
          <a:xfrm>
            <a:off x="4135438" y="9107488"/>
            <a:ext cx="3165600" cy="479400"/>
          </a:xfrm>
          <a:prstGeom prst="rect">
            <a:avLst/>
          </a:prstGeom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e7cae81dac_0_8:notes"/>
          <p:cNvSpPr/>
          <p:nvPr>
            <p:ph idx="2" type="sldImg"/>
          </p:nvPr>
        </p:nvSpPr>
        <p:spPr>
          <a:xfrm>
            <a:off x="1254125" y="719138"/>
            <a:ext cx="4794300" cy="359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e7cae81dac_0_8:notes"/>
          <p:cNvSpPr txBox="1"/>
          <p:nvPr>
            <p:ph idx="1" type="body"/>
          </p:nvPr>
        </p:nvSpPr>
        <p:spPr>
          <a:xfrm>
            <a:off x="730250" y="4554538"/>
            <a:ext cx="5841900" cy="4314900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g3e7cae81dac_0_8:notes"/>
          <p:cNvSpPr txBox="1"/>
          <p:nvPr>
            <p:ph idx="12" type="sldNum"/>
          </p:nvPr>
        </p:nvSpPr>
        <p:spPr>
          <a:xfrm>
            <a:off x="4135438" y="9107488"/>
            <a:ext cx="3165600" cy="479400"/>
          </a:xfrm>
          <a:prstGeom prst="rect">
            <a:avLst/>
          </a:prstGeom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5"/>
          <p:cNvSpPr txBox="1"/>
          <p:nvPr>
            <p:ph type="ctrTitle"/>
          </p:nvPr>
        </p:nvSpPr>
        <p:spPr>
          <a:xfrm>
            <a:off x="0" y="1044578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5"/>
          <p:cNvSpPr txBox="1"/>
          <p:nvPr>
            <p:ph idx="1" type="subTitle"/>
          </p:nvPr>
        </p:nvSpPr>
        <p:spPr>
          <a:xfrm>
            <a:off x="0" y="36576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9" name="Google Shape;19;p45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5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6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6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6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1" name="Google Shape;31;p47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7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7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8"/>
          <p:cNvSpPr txBox="1"/>
          <p:nvPr>
            <p:ph idx="1" type="body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37" name="Google Shape;37;p48"/>
          <p:cNvSpPr txBox="1"/>
          <p:nvPr>
            <p:ph idx="2" type="body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38" name="Google Shape;38;p48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8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8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9"/>
          <p:cNvSpPr txBox="1"/>
          <p:nvPr>
            <p:ph idx="1" type="body"/>
          </p:nvPr>
        </p:nvSpPr>
        <p:spPr>
          <a:xfrm>
            <a:off x="457202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49"/>
          <p:cNvSpPr txBox="1"/>
          <p:nvPr>
            <p:ph idx="2" type="body"/>
          </p:nvPr>
        </p:nvSpPr>
        <p:spPr>
          <a:xfrm>
            <a:off x="457202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45" name="Google Shape;45;p49"/>
          <p:cNvSpPr txBox="1"/>
          <p:nvPr>
            <p:ph idx="3" type="body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49"/>
          <p:cNvSpPr txBox="1"/>
          <p:nvPr>
            <p:ph idx="4" type="body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47" name="Google Shape;47;p49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9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9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0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0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0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1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1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2"/>
          <p:cNvSpPr txBox="1"/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2"/>
          <p:cNvSpPr txBox="1"/>
          <p:nvPr>
            <p:ph idx="1" type="body"/>
          </p:nvPr>
        </p:nvSpPr>
        <p:spPr>
          <a:xfrm>
            <a:off x="3575051" y="273053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2" name="Google Shape;62;p52"/>
          <p:cNvSpPr txBox="1"/>
          <p:nvPr>
            <p:ph idx="2" type="body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52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2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2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3"/>
          <p:cNvSpPr txBox="1"/>
          <p:nvPr>
            <p:ph type="title"/>
          </p:nvPr>
        </p:nvSpPr>
        <p:spPr>
          <a:xfrm>
            <a:off x="1792288" y="4800601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53"/>
          <p:cNvSpPr txBox="1"/>
          <p:nvPr>
            <p:ph idx="1" type="body"/>
          </p:nvPr>
        </p:nvSpPr>
        <p:spPr>
          <a:xfrm>
            <a:off x="1792288" y="5367339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53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3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3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4"/>
          <p:cNvSpPr txBox="1"/>
          <p:nvPr>
            <p:ph idx="1" type="body"/>
          </p:nvPr>
        </p:nvSpPr>
        <p:spPr>
          <a:xfrm rot="5400000">
            <a:off x="3731418" y="-1928017"/>
            <a:ext cx="4729164" cy="11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6" name="Google Shape;76;p54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4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4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5"/>
          <p:cNvSpPr txBox="1"/>
          <p:nvPr>
            <p:ph type="title"/>
          </p:nvPr>
        </p:nvSpPr>
        <p:spPr>
          <a:xfrm rot="5400000">
            <a:off x="4732337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5"/>
          <p:cNvSpPr txBox="1"/>
          <p:nvPr>
            <p:ph idx="1" type="body"/>
          </p:nvPr>
        </p:nvSpPr>
        <p:spPr>
          <a:xfrm rot="5400000">
            <a:off x="541338" y="190503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2" name="Google Shape;82;p55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5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4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4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4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4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44"/>
          <p:cNvSpPr/>
          <p:nvPr/>
        </p:nvSpPr>
        <p:spPr>
          <a:xfrm>
            <a:off x="0" y="1031242"/>
            <a:ext cx="12192000" cy="60959"/>
          </a:xfrm>
          <a:prstGeom prst="rect">
            <a:avLst/>
          </a:prstGeom>
          <a:gradFill>
            <a:gsLst>
              <a:gs pos="0">
                <a:srgbClr val="0000CC"/>
              </a:gs>
              <a:gs pos="100000">
                <a:schemeClr val="dk1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31.png"/><Relationship Id="rId6" Type="http://schemas.openxmlformats.org/officeDocument/2006/relationships/image" Target="../media/image4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5.png"/><Relationship Id="rId10" Type="http://schemas.openxmlformats.org/officeDocument/2006/relationships/image" Target="../media/image8.png"/><Relationship Id="rId9" Type="http://schemas.openxmlformats.org/officeDocument/2006/relationships/image" Target="../media/image7.png"/><Relationship Id="rId5" Type="http://schemas.openxmlformats.org/officeDocument/2006/relationships/image" Target="../media/image25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8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4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5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3.png"/><Relationship Id="rId4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10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4.png"/><Relationship Id="rId4" Type="http://schemas.openxmlformats.org/officeDocument/2006/relationships/image" Target="../media/image66.png"/><Relationship Id="rId5" Type="http://schemas.openxmlformats.org/officeDocument/2006/relationships/image" Target="../media/image41.png"/><Relationship Id="rId6" Type="http://schemas.openxmlformats.org/officeDocument/2006/relationships/image" Target="../media/image37.png"/><Relationship Id="rId7" Type="http://schemas.openxmlformats.org/officeDocument/2006/relationships/image" Target="../media/image10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6.png"/><Relationship Id="rId6" Type="http://schemas.openxmlformats.org/officeDocument/2006/relationships/image" Target="../media/image101.png"/><Relationship Id="rId7" Type="http://schemas.openxmlformats.org/officeDocument/2006/relationships/image" Target="../media/image4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png"/><Relationship Id="rId4" Type="http://schemas.openxmlformats.org/officeDocument/2006/relationships/image" Target="../media/image60.png"/><Relationship Id="rId5" Type="http://schemas.openxmlformats.org/officeDocument/2006/relationships/image" Target="../media/image97.png"/><Relationship Id="rId6" Type="http://schemas.openxmlformats.org/officeDocument/2006/relationships/image" Target="../media/image26.png"/><Relationship Id="rId7" Type="http://schemas.openxmlformats.org/officeDocument/2006/relationships/image" Target="../media/image76.png"/><Relationship Id="rId8" Type="http://schemas.openxmlformats.org/officeDocument/2006/relationships/image" Target="../media/image6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88.png"/><Relationship Id="rId6" Type="http://schemas.openxmlformats.org/officeDocument/2006/relationships/image" Target="../media/image57.png"/><Relationship Id="rId7" Type="http://schemas.openxmlformats.org/officeDocument/2006/relationships/image" Target="../media/image6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8.png"/><Relationship Id="rId4" Type="http://schemas.openxmlformats.org/officeDocument/2006/relationships/image" Target="../media/image4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3.png"/><Relationship Id="rId4" Type="http://schemas.openxmlformats.org/officeDocument/2006/relationships/image" Target="../media/image62.png"/><Relationship Id="rId5" Type="http://schemas.openxmlformats.org/officeDocument/2006/relationships/image" Target="../media/image99.png"/><Relationship Id="rId6" Type="http://schemas.openxmlformats.org/officeDocument/2006/relationships/image" Target="../media/image6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7.png"/><Relationship Id="rId4" Type="http://schemas.openxmlformats.org/officeDocument/2006/relationships/image" Target="../media/image70.png"/><Relationship Id="rId5" Type="http://schemas.openxmlformats.org/officeDocument/2006/relationships/image" Target="../media/image6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9.png"/><Relationship Id="rId4" Type="http://schemas.openxmlformats.org/officeDocument/2006/relationships/image" Target="../media/image70.png"/><Relationship Id="rId5" Type="http://schemas.openxmlformats.org/officeDocument/2006/relationships/image" Target="../media/image69.png"/><Relationship Id="rId6" Type="http://schemas.openxmlformats.org/officeDocument/2006/relationships/image" Target="../media/image9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1.png"/><Relationship Id="rId4" Type="http://schemas.openxmlformats.org/officeDocument/2006/relationships/image" Target="../media/image100.png"/><Relationship Id="rId5" Type="http://schemas.openxmlformats.org/officeDocument/2006/relationships/image" Target="../media/image83.png"/></Relationships>
</file>

<file path=ppt/slides/_rels/slide37.xml.rels><?xml version="1.0" encoding="UTF-8" standalone="yes"?><Relationships xmlns="http://schemas.openxmlformats.org/package/2006/relationships"><Relationship Id="rId11" Type="http://schemas.openxmlformats.org/officeDocument/2006/relationships/image" Target="../media/image82.png"/><Relationship Id="rId10" Type="http://schemas.openxmlformats.org/officeDocument/2006/relationships/image" Target="../media/image81.png"/><Relationship Id="rId13" Type="http://schemas.openxmlformats.org/officeDocument/2006/relationships/image" Target="../media/image92.png"/><Relationship Id="rId1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80.png"/><Relationship Id="rId14" Type="http://schemas.openxmlformats.org/officeDocument/2006/relationships/image" Target="../media/image84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6.png"/><Relationship Id="rId4" Type="http://schemas.openxmlformats.org/officeDocument/2006/relationships/image" Target="../media/image85.png"/><Relationship Id="rId5" Type="http://schemas.openxmlformats.org/officeDocument/2006/relationships/image" Target="../media/image102.png"/><Relationship Id="rId6" Type="http://schemas.openxmlformats.org/officeDocument/2006/relationships/image" Target="../media/image86.png"/><Relationship Id="rId7" Type="http://schemas.openxmlformats.org/officeDocument/2006/relationships/image" Target="../media/image9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ctrTitle"/>
          </p:nvPr>
        </p:nvSpPr>
        <p:spPr>
          <a:xfrm>
            <a:off x="0" y="279403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 188: Artificial Intelligence</a:t>
            </a:r>
            <a:br>
              <a:rPr lang="en-US"/>
            </a:br>
            <a:endParaRPr sz="3600"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0" y="12954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en-US" sz="4300"/>
              <a:t>Bayes’ Nets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524000" y="6248403"/>
            <a:ext cx="58674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2133600"/>
            <a:ext cx="4800599" cy="349847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0" y="6003922"/>
            <a:ext cx="12192000" cy="7617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Instructors: Dan Klein and Pieter Abbeel --- University of California,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[These slides were created by Dan Klein and Pieter Abbeel for CS188 Intro to AI at UC Berkeley.  All CS188 materials are available at http://ai.berkeley.edu.]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914" y="1447800"/>
            <a:ext cx="5203085" cy="272983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Probabilistic Models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304800" y="1524000"/>
            <a:ext cx="7010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Models describe how (a portion of) the world works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Models are always simplifications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May not account for every variable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May not account for all interactions between variables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“All models are wrong; but some are useful.”</a:t>
            </a:r>
            <a:br>
              <a:rPr lang="en-US" sz="20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    – George E. P. Box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26987" lvl="6" marL="2971652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What do we do with probabilistic models?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We (or our agents) need to reason about unknown variables, given evidence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Example: explanation (diagnostic reasoning)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Example: prediction (causal reasoning)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Example: value of information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Independence</a:t>
            </a:r>
            <a:endParaRPr/>
          </a:p>
        </p:txBody>
      </p:sp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0" y="1981200"/>
            <a:ext cx="4662898" cy="411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304800" y="13716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Two variables are </a:t>
            </a: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independent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if: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This says that their joint distribution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factors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into a product two simpler distributions</a:t>
            </a:r>
            <a:endParaRPr/>
          </a:p>
          <a:p>
            <a:pPr indent="-152387" lvl="5" marL="2514474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Another form: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		</a:t>
            </a:r>
            <a:endParaRPr/>
          </a:p>
          <a:p>
            <a:pPr indent="-152389" lvl="4" marL="2057298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We write: 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Independence is a simplifying </a:t>
            </a: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modeling assumption</a:t>
            </a:r>
            <a:endParaRPr/>
          </a:p>
          <a:p>
            <a:pPr indent="-152387" lvl="6" marL="2971652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i="1"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Empirical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joint distributions: at best “close” to independent</a:t>
            </a:r>
            <a:endParaRPr/>
          </a:p>
          <a:p>
            <a:pPr indent="-152389" lvl="7" marL="3428829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What could we assume for {Weather, Traffic, Cavity, Toothache}?</a:t>
            </a:r>
            <a:endParaRPr/>
          </a:p>
        </p:txBody>
      </p:sp>
      <p:sp>
        <p:nvSpPr>
          <p:cNvPr id="114" name="Google Shape;114;p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Independence</a:t>
            </a:r>
            <a:endParaRPr/>
          </a:p>
        </p:txBody>
      </p:sp>
      <p:pic>
        <p:nvPicPr>
          <p:cNvPr descr="txp_fig.png"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8488" y="1925638"/>
            <a:ext cx="3795712" cy="29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16" name="Google Shape;11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1200" y="3886200"/>
            <a:ext cx="3048000" cy="313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17" name="Google Shape;11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4600" y="4648200"/>
            <a:ext cx="1016000" cy="26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4769" y="1828800"/>
            <a:ext cx="4257231" cy="3752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Independence?</a:t>
            </a:r>
            <a:endParaRPr/>
          </a:p>
        </p:txBody>
      </p:sp>
      <p:graphicFrame>
        <p:nvGraphicFramePr>
          <p:cNvPr id="124" name="Google Shape;124;p5"/>
          <p:cNvGraphicFramePr/>
          <p:nvPr/>
        </p:nvGraphicFramePr>
        <p:xfrm>
          <a:off x="2278114" y="32773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{2081242B-E9E1-43DD-B313-68110A3294C5}</a:tableStyleId>
              </a:tblPr>
              <a:tblGrid>
                <a:gridCol w="828675"/>
                <a:gridCol w="828675"/>
                <a:gridCol w="5524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5" name="Google Shape;125;p5"/>
          <p:cNvGraphicFramePr/>
          <p:nvPr/>
        </p:nvGraphicFramePr>
        <p:xfrm>
          <a:off x="7394626" y="32853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{2081242B-E9E1-43DD-B313-68110A3294C5}</a:tableStyleId>
              </a:tblPr>
              <a:tblGrid>
                <a:gridCol w="828675"/>
                <a:gridCol w="828675"/>
                <a:gridCol w="5524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" name="Google Shape;126;p5"/>
          <p:cNvGraphicFramePr/>
          <p:nvPr/>
        </p:nvGraphicFramePr>
        <p:xfrm>
          <a:off x="5135614" y="2108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{2081242B-E9E1-43DD-B313-68110A3294C5}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7" name="Google Shape;127;p5"/>
          <p:cNvGraphicFramePr/>
          <p:nvPr/>
        </p:nvGraphicFramePr>
        <p:xfrm>
          <a:off x="5140376" y="50760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{2081242B-E9E1-43DD-B313-68110A3294C5}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2614" y="2848765"/>
            <a:ext cx="1296987" cy="2981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29" name="Google Shape;12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9789" y="1731165"/>
            <a:ext cx="731837" cy="2987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30" name="Google Shape;13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57876" y="4704552"/>
            <a:ext cx="850900" cy="298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31" name="Google Shape;13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6589" y="2853527"/>
            <a:ext cx="1298575" cy="298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Independence</a:t>
            </a:r>
            <a:endParaRPr/>
          </a:p>
        </p:txBody>
      </p:sp>
      <p:sp>
        <p:nvSpPr>
          <p:cNvPr id="137" name="Google Shape;137;p6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 fair, independent coin flips:</a:t>
            </a:r>
            <a:endParaRPr/>
          </a:p>
        </p:txBody>
      </p:sp>
      <p:graphicFrame>
        <p:nvGraphicFramePr>
          <p:cNvPr id="138" name="Google Shape;138;p6"/>
          <p:cNvGraphicFramePr/>
          <p:nvPr/>
        </p:nvGraphicFramePr>
        <p:xfrm>
          <a:off x="699676" y="289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{2081242B-E9E1-43DD-B313-68110A3294C5}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364" y="2514600"/>
            <a:ext cx="911225" cy="29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0" name="Google Shape;140;p6"/>
          <p:cNvGraphicFramePr/>
          <p:nvPr/>
        </p:nvGraphicFramePr>
        <p:xfrm>
          <a:off x="2471326" y="288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{2081242B-E9E1-43DD-B313-68110A3294C5}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" name="Google Shape;141;p6"/>
          <p:cNvGraphicFramePr/>
          <p:nvPr/>
        </p:nvGraphicFramePr>
        <p:xfrm>
          <a:off x="5747926" y="288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{2081242B-E9E1-43DD-B313-68110A3294C5}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" id="142" name="Google Shape;14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6851" y="2514600"/>
            <a:ext cx="925513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43" name="Google Shape;14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6601" y="2514600"/>
            <a:ext cx="911225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44" name="Google Shape;14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85876" y="3170238"/>
            <a:ext cx="4699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 rot="-5400000">
            <a:off x="3804826" y="590550"/>
            <a:ext cx="381000" cy="7124700"/>
          </a:xfrm>
          <a:prstGeom prst="leftBrace">
            <a:avLst>
              <a:gd fmla="val 1558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2680876" y="5181600"/>
            <a:ext cx="2895600" cy="129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2299876" y="5105400"/>
            <a:ext cx="152400" cy="1371600"/>
          </a:xfrm>
          <a:prstGeom prst="leftBrace">
            <a:avLst>
              <a:gd fmla="val 75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" id="148" name="Google Shape;14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09476" y="4800600"/>
            <a:ext cx="2465388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149" name="Google Shape;149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42676" y="5588000"/>
            <a:ext cx="328613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/>
          <p:nvPr/>
        </p:nvSpPr>
        <p:spPr>
          <a:xfrm>
            <a:off x="2604676" y="5791200"/>
            <a:ext cx="2971800" cy="457200"/>
          </a:xfrm>
          <a:custGeom>
            <a:rect b="b" l="l" r="r" t="t"/>
            <a:pathLst>
              <a:path extrusionOk="0" h="288" w="1872">
                <a:moveTo>
                  <a:pt x="0" y="115"/>
                </a:moveTo>
                <a:lnTo>
                  <a:pt x="197" y="0"/>
                </a:lnTo>
                <a:lnTo>
                  <a:pt x="493" y="58"/>
                </a:lnTo>
                <a:lnTo>
                  <a:pt x="837" y="0"/>
                </a:lnTo>
                <a:lnTo>
                  <a:pt x="1182" y="115"/>
                </a:lnTo>
                <a:lnTo>
                  <a:pt x="1576" y="0"/>
                </a:lnTo>
                <a:lnTo>
                  <a:pt x="1872" y="115"/>
                </a:lnTo>
                <a:lnTo>
                  <a:pt x="1872" y="230"/>
                </a:lnTo>
                <a:lnTo>
                  <a:pt x="1576" y="173"/>
                </a:lnTo>
                <a:lnTo>
                  <a:pt x="1182" y="288"/>
                </a:lnTo>
                <a:lnTo>
                  <a:pt x="841" y="136"/>
                </a:lnTo>
                <a:lnTo>
                  <a:pt x="502" y="201"/>
                </a:lnTo>
                <a:lnTo>
                  <a:pt x="197" y="173"/>
                </a:lnTo>
                <a:lnTo>
                  <a:pt x="0" y="230"/>
                </a:lnTo>
                <a:lnTo>
                  <a:pt x="0" y="11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02524" y="1150853"/>
            <a:ext cx="3229661" cy="3085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09609" y="4749346"/>
            <a:ext cx="4115264" cy="186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Conditional Independence</a:t>
            </a:r>
            <a:endParaRPr/>
          </a:p>
        </p:txBody>
      </p:sp>
      <p:pic>
        <p:nvPicPr>
          <p:cNvPr id="158" name="Google Shape;1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700" y="1600200"/>
            <a:ext cx="6324599" cy="4155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400" y="1828800"/>
            <a:ext cx="5041097" cy="301458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Conditional Independence</a:t>
            </a:r>
            <a:endParaRPr/>
          </a:p>
        </p:txBody>
      </p:sp>
      <p:sp>
        <p:nvSpPr>
          <p:cNvPr id="165" name="Google Shape;165;p8"/>
          <p:cNvSpPr txBox="1"/>
          <p:nvPr>
            <p:ph idx="1" type="body"/>
          </p:nvPr>
        </p:nvSpPr>
        <p:spPr>
          <a:xfrm>
            <a:off x="304800" y="1397001"/>
            <a:ext cx="68580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P(Toothache, Cavity, Catch)</a:t>
            </a:r>
            <a:endParaRPr/>
          </a:p>
          <a:p>
            <a:pPr indent="-215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If I have a cavity, the probability that the probe catches in it doesn't depend on whether I have a toothache: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P(+catch | +toothache, +cavity) = P(+catch | +cavity)</a:t>
            </a:r>
            <a:endParaRPr/>
          </a:p>
          <a:p>
            <a:pPr indent="-215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same independence holds if I don’t have a cavity: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P(+catch | +toothache, -cavity) = P(+catch| -cavity)</a:t>
            </a:r>
            <a:endParaRPr/>
          </a:p>
          <a:p>
            <a:pPr indent="-215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Catch is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conditionally independent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of Toothache given Cavity: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P(Catch | Toothache, Cavity) = P(Catch | Cavity)</a:t>
            </a:r>
            <a:endParaRPr/>
          </a:p>
          <a:p>
            <a:pPr indent="-215882" lvl="0" marL="342882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304800" y="4948236"/>
            <a:ext cx="7772400" cy="842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Equivalent statements: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36" lvl="1" marL="742913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P(Toothache | Catch , Cavity) = P(Toothache | Cavity)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36" lvl="1" marL="742913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P(Toothache, Catch | Cavity) = P(Toothache | Cavity) P(Catch | Cavity)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36" lvl="1" marL="742913" marR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can be derived from the other easily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Conditional Independence</a:t>
            </a:r>
            <a:endParaRPr/>
          </a:p>
        </p:txBody>
      </p:sp>
      <p:sp>
        <p:nvSpPr>
          <p:cNvPr id="172" name="Google Shape;172;p9"/>
          <p:cNvSpPr txBox="1"/>
          <p:nvPr>
            <p:ph idx="1" type="body"/>
          </p:nvPr>
        </p:nvSpPr>
        <p:spPr>
          <a:xfrm>
            <a:off x="2103438" y="1524000"/>
            <a:ext cx="8229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Unconditional (absolute) independence very rare (why?)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Conditional</a:t>
            </a:r>
            <a:r>
              <a:rPr i="1" lang="en-US" sz="2400">
                <a:latin typeface="Calibri"/>
                <a:ea typeface="Calibri"/>
                <a:cs typeface="Calibri"/>
                <a:sym typeface="Calibri"/>
              </a:rPr>
              <a:t> independence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is our most basic and robust form of knowledge about uncertain environments.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X is conditionally independent of Y given Z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  if and only if: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  or, equivalently, if and only if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.png" id="173" name="Google Shape;17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4038" y="4572000"/>
            <a:ext cx="4841875" cy="31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74" name="Google Shape;17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48800" y="3352800"/>
            <a:ext cx="1401762" cy="3679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75" name="Google Shape;17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70238" y="5715000"/>
            <a:ext cx="3884613" cy="313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Conditional Independence</a:t>
            </a:r>
            <a:endParaRPr/>
          </a:p>
        </p:txBody>
      </p:sp>
      <p:sp>
        <p:nvSpPr>
          <p:cNvPr id="181" name="Google Shape;181;p10"/>
          <p:cNvSpPr txBox="1"/>
          <p:nvPr>
            <p:ph idx="1" type="body"/>
          </p:nvPr>
        </p:nvSpPr>
        <p:spPr>
          <a:xfrm>
            <a:off x="2286000" y="14478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What about this domain:</a:t>
            </a:r>
            <a:endParaRPr/>
          </a:p>
          <a:p>
            <a:pPr indent="-152387" lvl="5" marL="2514474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Traffic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Umbrella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Raining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800" y="3733800"/>
            <a:ext cx="5714999" cy="2963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Conditional Independence</a:t>
            </a:r>
            <a:endParaRPr/>
          </a:p>
        </p:txBody>
      </p:sp>
      <p:sp>
        <p:nvSpPr>
          <p:cNvPr id="188" name="Google Shape;188;p11"/>
          <p:cNvSpPr txBox="1"/>
          <p:nvPr>
            <p:ph idx="1" type="body"/>
          </p:nvPr>
        </p:nvSpPr>
        <p:spPr>
          <a:xfrm>
            <a:off x="2286000" y="14478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What about this domain:</a:t>
            </a:r>
            <a:endParaRPr/>
          </a:p>
          <a:p>
            <a:pPr indent="-152387" lvl="5" marL="2514474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Fire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Smoke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Alarm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3701" y="1371600"/>
            <a:ext cx="3352797" cy="2202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1300" y="4038600"/>
            <a:ext cx="4991100" cy="332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Conditional Independence and the Chain Rule</a:t>
            </a:r>
            <a:endParaRPr/>
          </a:p>
        </p:txBody>
      </p:sp>
      <p:sp>
        <p:nvSpPr>
          <p:cNvPr id="196" name="Google Shape;196;p12"/>
          <p:cNvSpPr txBox="1"/>
          <p:nvPr>
            <p:ph idx="1" type="body"/>
          </p:nvPr>
        </p:nvSpPr>
        <p:spPr>
          <a:xfrm>
            <a:off x="341313" y="1524000"/>
            <a:ext cx="11469687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Chain rule: 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52387" lvl="6" marL="2971652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Trivial decomposition:</a:t>
            </a:r>
            <a:endParaRPr/>
          </a:p>
          <a:p>
            <a:pPr indent="-152387" lvl="6" marL="2971652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2387" lvl="3" marL="1600120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52387" lvl="5" marL="2514474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With assumption of conditional independence: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Bayes’nets / graphical models help us express conditional independence assumptions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.png" id="197" name="Google Shape;19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505200"/>
            <a:ext cx="7094537" cy="307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98" name="Google Shape;19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048000"/>
            <a:ext cx="4183062" cy="298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199" name="Google Shape;19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654210"/>
            <a:ext cx="4183062" cy="298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200" name="Google Shape;20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5105400"/>
            <a:ext cx="6035675" cy="3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201" name="Google Shape;20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76600" y="1600200"/>
            <a:ext cx="7162800" cy="302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3400" y="2438400"/>
            <a:ext cx="3918800" cy="2031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Bayes’Nets: Big Picture</a:t>
            </a:r>
            <a:endParaRPr/>
          </a:p>
        </p:txBody>
      </p:sp>
      <p:pic>
        <p:nvPicPr>
          <p:cNvPr id="208" name="Google Shape;20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1" y="1447800"/>
            <a:ext cx="7317022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Bayes’ Nets: Big Picture</a:t>
            </a:r>
            <a:endParaRPr/>
          </a:p>
        </p:txBody>
      </p:sp>
      <p:sp>
        <p:nvSpPr>
          <p:cNvPr id="214" name="Google Shape;214;p14"/>
          <p:cNvSpPr txBox="1"/>
          <p:nvPr>
            <p:ph idx="1" type="body"/>
          </p:nvPr>
        </p:nvSpPr>
        <p:spPr>
          <a:xfrm>
            <a:off x="406400" y="1397001"/>
            <a:ext cx="71374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Two problems with using full joint distribution tables as our probabilistic models: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Unless there are only a few variables, the joint is WAY too big to represent explicitly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Hard to learn (estimate) anything empirically about more than a few variables at a time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Bayes’ nets: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 technique for describing complex joint distributions (models) using simple, local distributions (conditional probabilities)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More properly called</a:t>
            </a: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graphical models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We describe how variables locally interact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Local interactions chain together to give global, indirect interactions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For about 10 min, we’ll be vague about how these interactions are specified</a:t>
            </a:r>
            <a:endParaRPr/>
          </a:p>
        </p:txBody>
      </p:sp>
      <p:pic>
        <p:nvPicPr>
          <p:cNvPr id="215" name="Google Shape;2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3724" y="3581400"/>
            <a:ext cx="4182456" cy="304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1447800"/>
            <a:ext cx="4115264" cy="186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 Bayes’ Net: Car</a:t>
            </a:r>
            <a:endParaRPr/>
          </a:p>
        </p:txBody>
      </p:sp>
      <p:pic>
        <p:nvPicPr>
          <p:cNvPr id="222" name="Google Shape;2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1500" y="1447800"/>
            <a:ext cx="8509000" cy="4783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Graphical Model Notation</a:t>
            </a:r>
            <a:endParaRPr/>
          </a:p>
        </p:txBody>
      </p:sp>
      <p:sp>
        <p:nvSpPr>
          <p:cNvPr id="228" name="Google Shape;228;p16"/>
          <p:cNvSpPr txBox="1"/>
          <p:nvPr>
            <p:ph idx="1" type="body"/>
          </p:nvPr>
        </p:nvSpPr>
        <p:spPr>
          <a:xfrm>
            <a:off x="152400" y="1371600"/>
            <a:ext cx="5638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4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Nodes: variables (with domains)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Can be assigned (observed) or unassigned (unobserved)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Arcs: interactions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Similar to CSP constraints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Indicate “direct influence” between variables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Formally: encode conditional independence (more later)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For now: imagine that arrows mean direct causation (in general, they don’t!)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6"/>
          <p:cNvPicPr preferRelativeResize="0"/>
          <p:nvPr/>
        </p:nvPicPr>
        <p:blipFill rotWithShape="1">
          <a:blip r:embed="rId3">
            <a:alphaModFix/>
          </a:blip>
          <a:srcRect b="49960" l="0" r="61858" t="0"/>
          <a:stretch/>
        </p:blipFill>
        <p:spPr>
          <a:xfrm>
            <a:off x="6553200" y="1676400"/>
            <a:ext cx="1447800" cy="990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" name="Google Shape;230;p16"/>
          <p:cNvGrpSpPr/>
          <p:nvPr/>
        </p:nvGrpSpPr>
        <p:grpSpPr>
          <a:xfrm>
            <a:off x="5715000" y="3125787"/>
            <a:ext cx="2805113" cy="1979613"/>
            <a:chOff x="3600" y="2208"/>
            <a:chExt cx="1767" cy="1247"/>
          </a:xfrm>
        </p:grpSpPr>
        <p:pic>
          <p:nvPicPr>
            <p:cNvPr id="231" name="Google Shape;231;p16"/>
            <p:cNvPicPr preferRelativeResize="0"/>
            <p:nvPr/>
          </p:nvPicPr>
          <p:blipFill rotWithShape="1">
            <a:blip r:embed="rId3">
              <a:alphaModFix/>
            </a:blip>
            <a:srcRect b="0" l="26097" r="0" t="0"/>
            <a:stretch/>
          </p:blipFill>
          <p:spPr>
            <a:xfrm>
              <a:off x="3600" y="2208"/>
              <a:ext cx="1767" cy="12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16"/>
            <p:cNvSpPr/>
            <p:nvPr/>
          </p:nvSpPr>
          <p:spPr>
            <a:xfrm>
              <a:off x="3600" y="2208"/>
              <a:ext cx="336" cy="62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3" name="Google Shape;2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1" y="3276600"/>
            <a:ext cx="3047998" cy="1822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9200" y="1219200"/>
            <a:ext cx="27432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Coin Flips</a:t>
            </a:r>
            <a:endParaRPr/>
          </a:p>
        </p:txBody>
      </p:sp>
      <p:sp>
        <p:nvSpPr>
          <p:cNvPr id="240" name="Google Shape;240;p17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 independent coin flips</a:t>
            </a:r>
            <a:endParaRPr/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 interactions between variables: </a:t>
            </a:r>
            <a:r>
              <a:rPr lang="en-US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absolute independence</a:t>
            </a:r>
            <a:endParaRPr/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1447800" y="32004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3124200" y="32004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6553200" y="32004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xp_fig" id="244" name="Google Shape;2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3505200"/>
            <a:ext cx="46990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37928" y="1447800"/>
            <a:ext cx="2871386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Traffic</a:t>
            </a:r>
            <a:endParaRPr/>
          </a:p>
        </p:txBody>
      </p:sp>
      <p:sp>
        <p:nvSpPr>
          <p:cNvPr id="251" name="Google Shape;251;p18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Variables: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R: It rains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T: There is traffic</a:t>
            </a:r>
            <a:endParaRPr/>
          </a:p>
          <a:p>
            <a:pPr indent="-158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Model 1: independence</a:t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52387" lvl="3" marL="160012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52387" lvl="3" marL="160012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Why is an agent using model 2 better?</a:t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2362200" y="35052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2362200" y="51816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1" y="1143000"/>
            <a:ext cx="3886198" cy="162896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8"/>
          <p:cNvSpPr/>
          <p:nvPr/>
        </p:nvSpPr>
        <p:spPr>
          <a:xfrm>
            <a:off x="7391400" y="35052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7391400" y="51816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18"/>
          <p:cNvCxnSpPr>
            <a:stCxn id="255" idx="4"/>
            <a:endCxn id="256" idx="0"/>
          </p:cNvCxnSpPr>
          <p:nvPr/>
        </p:nvCxnSpPr>
        <p:spPr>
          <a:xfrm>
            <a:off x="7772400" y="4267200"/>
            <a:ext cx="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sp>
        <p:nvSpPr>
          <p:cNvPr id="258" name="Google Shape;258;p18"/>
          <p:cNvSpPr txBox="1"/>
          <p:nvPr/>
        </p:nvSpPr>
        <p:spPr>
          <a:xfrm>
            <a:off x="5257800" y="1502074"/>
            <a:ext cx="9855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br>
              <a:rPr b="0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387" lvl="3" marL="160012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Model 2: rain causes traffic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482" lvl="0" marL="34288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1295400"/>
            <a:ext cx="149634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"/>
          <p:cNvSpPr txBox="1"/>
          <p:nvPr>
            <p:ph idx="1" type="body"/>
          </p:nvPr>
        </p:nvSpPr>
        <p:spPr>
          <a:xfrm>
            <a:off x="406400" y="1290636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Let’s build a causal graphical model!</a:t>
            </a:r>
            <a:endParaRPr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T: Traffic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R: It rains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L: Low pressure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D: Roof drips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B: Ballgame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C: Cavity</a:t>
            </a:r>
            <a:endParaRPr/>
          </a:p>
          <a:p>
            <a:pPr indent="-126987" lvl="2" marL="1142942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1600" y="1447800"/>
            <a:ext cx="70866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Traffic II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Alarm Network</a:t>
            </a:r>
            <a:endParaRPr/>
          </a:p>
        </p:txBody>
      </p:sp>
      <p:sp>
        <p:nvSpPr>
          <p:cNvPr id="272" name="Google Shape;272;p20"/>
          <p:cNvSpPr txBox="1"/>
          <p:nvPr>
            <p:ph idx="1" type="body"/>
          </p:nvPr>
        </p:nvSpPr>
        <p:spPr>
          <a:xfrm>
            <a:off x="406400" y="1295400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B: Burglary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A: Alarm goes off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M: Mary calls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J: John calls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E: Earthquake!</a:t>
            </a:r>
            <a:endParaRPr/>
          </a:p>
        </p:txBody>
      </p:sp>
      <p:pic>
        <p:nvPicPr>
          <p:cNvPr id="273" name="Google Shape;2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1601" y="1295400"/>
            <a:ext cx="6759927" cy="4495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Bayes’ Net Semantics</a:t>
            </a:r>
            <a:endParaRPr/>
          </a:p>
        </p:txBody>
      </p:sp>
      <p:pic>
        <p:nvPicPr>
          <p:cNvPr id="279" name="Google Shape;2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2667000"/>
            <a:ext cx="12382500" cy="82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"/>
          <p:cNvSpPr txBox="1"/>
          <p:nvPr>
            <p:ph type="title"/>
          </p:nvPr>
        </p:nvSpPr>
        <p:spPr>
          <a:xfrm>
            <a:off x="0" y="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Bayes’ Net Semantics</a:t>
            </a:r>
            <a:endParaRPr/>
          </a:p>
        </p:txBody>
      </p:sp>
      <p:sp>
        <p:nvSpPr>
          <p:cNvPr id="285" name="Google Shape;285;p22"/>
          <p:cNvSpPr txBox="1"/>
          <p:nvPr>
            <p:ph idx="1" type="body"/>
          </p:nvPr>
        </p:nvSpPr>
        <p:spPr>
          <a:xfrm>
            <a:off x="1066800" y="1397000"/>
            <a:ext cx="5943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 set of nodes, one per variable X</a:t>
            </a:r>
            <a:endParaRPr/>
          </a:p>
          <a:p>
            <a:pPr indent="-152387" lvl="5" marL="2514474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84137" lvl="2" marL="1142942" rtl="0" algn="l">
              <a:lnSpc>
                <a:spcPct val="80000"/>
              </a:lnSpc>
              <a:spcBef>
                <a:spcPts val="14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 directed, acyclic graph</a:t>
            </a:r>
            <a:endParaRPr/>
          </a:p>
          <a:p>
            <a:pPr indent="-152387" lvl="5" marL="2514474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98432" lvl="0" marL="342882" rtl="0" algn="l">
              <a:lnSpc>
                <a:spcPct val="80000"/>
              </a:lnSpc>
              <a:spcBef>
                <a:spcPts val="14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 conditional distribution for each node</a:t>
            </a:r>
            <a:endParaRPr/>
          </a:p>
          <a:p>
            <a:pPr indent="-152389" lvl="7" marL="3428829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 collection of distributions over X, one for each combination of parents’ values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2236" lvl="1" marL="742913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CPT: conditional probability table</a:t>
            </a:r>
            <a:endParaRPr/>
          </a:p>
          <a:p>
            <a:pPr indent="-152389" lvl="7" marL="3428829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Description of a noisy “causal” process</a:t>
            </a:r>
            <a:endParaRPr/>
          </a:p>
          <a:p>
            <a:pPr indent="-152389" lvl="4" marL="2057298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84137" lvl="2" marL="1142942" rtl="0" algn="l">
              <a:lnSpc>
                <a:spcPct val="80000"/>
              </a:lnSpc>
              <a:spcBef>
                <a:spcPts val="14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8229600" y="1930400"/>
            <a:ext cx="533400" cy="5334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8839200" y="3302000"/>
            <a:ext cx="533400" cy="5334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baseline="-2500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22"/>
          <p:cNvCxnSpPr>
            <a:stCxn id="286" idx="4"/>
            <a:endCxn id="287" idx="1"/>
          </p:cNvCxnSpPr>
          <p:nvPr/>
        </p:nvCxnSpPr>
        <p:spPr>
          <a:xfrm>
            <a:off x="8496300" y="2463800"/>
            <a:ext cx="420900" cy="916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sp>
        <p:nvSpPr>
          <p:cNvPr id="289" name="Google Shape;289;p22"/>
          <p:cNvSpPr/>
          <p:nvPr/>
        </p:nvSpPr>
        <p:spPr>
          <a:xfrm>
            <a:off x="9753600" y="1930400"/>
            <a:ext cx="533400" cy="5334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p22"/>
          <p:cNvCxnSpPr>
            <a:stCxn id="289" idx="4"/>
            <a:endCxn id="287" idx="7"/>
          </p:cNvCxnSpPr>
          <p:nvPr/>
        </p:nvCxnSpPr>
        <p:spPr>
          <a:xfrm flipH="1">
            <a:off x="9294600" y="2463800"/>
            <a:ext cx="725700" cy="916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pic>
        <p:nvPicPr>
          <p:cNvPr descr="txp_fig" id="291" name="Google Shape;2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0" y="2082800"/>
            <a:ext cx="469900" cy="85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2"/>
          <p:cNvCxnSpPr>
            <a:endCxn id="287" idx="0"/>
          </p:cNvCxnSpPr>
          <p:nvPr/>
        </p:nvCxnSpPr>
        <p:spPr>
          <a:xfrm flipH="1">
            <a:off x="9105900" y="2554400"/>
            <a:ext cx="152400" cy="747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pic>
        <p:nvPicPr>
          <p:cNvPr descr="txp_fig.png" id="293" name="Google Shape;29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5800" y="4368800"/>
            <a:ext cx="2057400" cy="30213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2"/>
          <p:cNvSpPr/>
          <p:nvPr/>
        </p:nvSpPr>
        <p:spPr>
          <a:xfrm rot="5400000">
            <a:off x="9563100" y="3492500"/>
            <a:ext cx="609600" cy="685800"/>
          </a:xfrm>
          <a:custGeom>
            <a:rect b="b" l="l" r="r" t="t"/>
            <a:pathLst>
              <a:path extrusionOk="0" h="21600" w="21600">
                <a:moveTo>
                  <a:pt x="21600" y="6079"/>
                </a:moveTo>
                <a:lnTo>
                  <a:pt x="13781" y="0"/>
                </a:lnTo>
                <a:lnTo>
                  <a:pt x="13781" y="4100"/>
                </a:lnTo>
                <a:lnTo>
                  <a:pt x="12427" y="4100"/>
                </a:lnTo>
                <a:cubicBezTo>
                  <a:pt x="5564" y="4100"/>
                  <a:pt x="0" y="7708"/>
                  <a:pt x="0" y="12158"/>
                </a:cubicBezTo>
                <a:lnTo>
                  <a:pt x="0" y="21600"/>
                </a:lnTo>
                <a:lnTo>
                  <a:pt x="4046" y="21600"/>
                </a:lnTo>
                <a:lnTo>
                  <a:pt x="4046" y="12158"/>
                </a:lnTo>
                <a:cubicBezTo>
                  <a:pt x="4046" y="9894"/>
                  <a:pt x="7798" y="8058"/>
                  <a:pt x="12427" y="8058"/>
                </a:cubicBezTo>
                <a:lnTo>
                  <a:pt x="13781" y="8058"/>
                </a:lnTo>
                <a:lnTo>
                  <a:pt x="13781" y="12158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.png" id="295" name="Google Shape;29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5600" y="3987800"/>
            <a:ext cx="1927225" cy="3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2"/>
          <p:cNvSpPr txBox="1"/>
          <p:nvPr/>
        </p:nvSpPr>
        <p:spPr>
          <a:xfrm>
            <a:off x="914400" y="5867400"/>
            <a:ext cx="107442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 Bayes net = Topology (graph) + Local Conditional Probabilities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10800" y="152400"/>
            <a:ext cx="27432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"/>
          <p:cNvSpPr txBox="1"/>
          <p:nvPr>
            <p:ph type="title"/>
          </p:nvPr>
        </p:nvSpPr>
        <p:spPr>
          <a:xfrm>
            <a:off x="2819400" y="-33295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Probabilities in BNs</a:t>
            </a:r>
            <a:endParaRPr/>
          </a:p>
        </p:txBody>
      </p:sp>
      <p:sp>
        <p:nvSpPr>
          <p:cNvPr id="303" name="Google Shape;303;p23"/>
          <p:cNvSpPr txBox="1"/>
          <p:nvPr>
            <p:ph idx="1" type="body"/>
          </p:nvPr>
        </p:nvSpPr>
        <p:spPr>
          <a:xfrm>
            <a:off x="1981200" y="1524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Bayes’ nets 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implicitly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encode joint distributions</a:t>
            </a:r>
            <a:endParaRPr/>
          </a:p>
          <a:p>
            <a:pPr indent="-152387" lvl="8" marL="3886005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As a product of local conditional distributions</a:t>
            </a:r>
            <a:endParaRPr/>
          </a:p>
          <a:p>
            <a:pPr indent="-152387" lvl="8" marL="3886005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To see what probability a BN gives to a full assignment, multiply all the relevant conditionals together: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4" name="Google Shape;304;p23"/>
          <p:cNvGrpSpPr/>
          <p:nvPr/>
        </p:nvGrpSpPr>
        <p:grpSpPr>
          <a:xfrm>
            <a:off x="7162800" y="4038600"/>
            <a:ext cx="2119313" cy="1495425"/>
            <a:chOff x="3600" y="2208"/>
            <a:chExt cx="1767" cy="1247"/>
          </a:xfrm>
        </p:grpSpPr>
        <p:pic>
          <p:nvPicPr>
            <p:cNvPr id="305" name="Google Shape;305;p23"/>
            <p:cNvPicPr preferRelativeResize="0"/>
            <p:nvPr/>
          </p:nvPicPr>
          <p:blipFill rotWithShape="1">
            <a:blip r:embed="rId3">
              <a:alphaModFix/>
            </a:blip>
            <a:srcRect b="0" l="26097" r="0" t="0"/>
            <a:stretch/>
          </p:blipFill>
          <p:spPr>
            <a:xfrm>
              <a:off x="3600" y="2208"/>
              <a:ext cx="1767" cy="12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3"/>
            <p:cNvSpPr/>
            <p:nvPr/>
          </p:nvSpPr>
          <p:spPr>
            <a:xfrm>
              <a:off x="3600" y="2208"/>
              <a:ext cx="336" cy="62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txp_fig.png" id="307" name="Google Shape;30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0" y="5715000"/>
            <a:ext cx="4495800" cy="277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08" name="Google Shape;30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6200" y="3276600"/>
            <a:ext cx="4876800" cy="671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1" y="4191000"/>
            <a:ext cx="1911361" cy="114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10800" y="152400"/>
            <a:ext cx="27432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"/>
          <p:cNvSpPr txBox="1"/>
          <p:nvPr>
            <p:ph type="title"/>
          </p:nvPr>
        </p:nvSpPr>
        <p:spPr>
          <a:xfrm>
            <a:off x="2819400" y="-33295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Probabilities in BNs</a:t>
            </a:r>
            <a:endParaRPr/>
          </a:p>
        </p:txBody>
      </p:sp>
      <p:sp>
        <p:nvSpPr>
          <p:cNvPr id="316" name="Google Shape;316;p24"/>
          <p:cNvSpPr txBox="1"/>
          <p:nvPr>
            <p:ph idx="1" type="body"/>
          </p:nvPr>
        </p:nvSpPr>
        <p:spPr>
          <a:xfrm>
            <a:off x="457200" y="13716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Why are we guaranteed that setting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52387" lvl="8" marL="3886005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52387" lvl="5" marL="2514474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26987" lvl="2" marL="1142942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152389" lvl="7" marL="3428829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results in a proper joint distribution? 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52389" lvl="7" marL="3428829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26987" lvl="2" marL="1142942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Chain rule (valid for all distributions): 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 u="sng">
                <a:latin typeface="Calibri"/>
                <a:ea typeface="Calibri"/>
                <a:cs typeface="Calibri"/>
                <a:sym typeface="Calibri"/>
              </a:rPr>
              <a:t>Assume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conditional independences: 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  🡪 Consequence: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26987" lvl="2" marL="1142942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Not every BN can represent every joint distribution</a:t>
            </a:r>
            <a:endParaRPr/>
          </a:p>
          <a:p>
            <a:pPr indent="-152389" lvl="7" marL="3428829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topology enforces certain conditional independencies</a:t>
            </a:r>
            <a:endParaRPr/>
          </a:p>
        </p:txBody>
      </p:sp>
      <p:pic>
        <p:nvPicPr>
          <p:cNvPr descr="txp_fig.png" id="317" name="Google Shape;3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842796"/>
            <a:ext cx="4876800" cy="6718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18" name="Google Shape;31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3200400"/>
            <a:ext cx="5115374" cy="7425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19" name="Google Shape;31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05200" y="4677376"/>
            <a:ext cx="5078413" cy="699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10800" y="152400"/>
            <a:ext cx="27432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21" name="Google Shape;32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19800" y="4147542"/>
            <a:ext cx="4754535" cy="272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5"/>
          <p:cNvSpPr txBox="1"/>
          <p:nvPr/>
        </p:nvSpPr>
        <p:spPr>
          <a:xfrm>
            <a:off x="2286000" y="5943600"/>
            <a:ext cx="67056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Only distributions whose variables are absolutely independent can be represented by a Bayes’ net with no arcs.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Coin Flips</a:t>
            </a:r>
            <a:endParaRPr/>
          </a:p>
        </p:txBody>
      </p:sp>
      <p:graphicFrame>
        <p:nvGraphicFramePr>
          <p:cNvPr id="329" name="Google Shape;329;p25"/>
          <p:cNvGraphicFramePr/>
          <p:nvPr/>
        </p:nvGraphicFramePr>
        <p:xfrm>
          <a:off x="1219200" y="344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{2081242B-E9E1-43DD-B313-68110A3294C5}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30" name="Google Shape;3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2888" y="3070225"/>
            <a:ext cx="911225" cy="2987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1" name="Google Shape;331;p25"/>
          <p:cNvGraphicFramePr/>
          <p:nvPr/>
        </p:nvGraphicFramePr>
        <p:xfrm>
          <a:off x="2990850" y="344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{2081242B-E9E1-43DD-B313-68110A3294C5}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2" name="Google Shape;332;p25"/>
          <p:cNvGraphicFramePr/>
          <p:nvPr/>
        </p:nvGraphicFramePr>
        <p:xfrm>
          <a:off x="6267450" y="3444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{2081242B-E9E1-43DD-B313-68110A3294C5}</a:tableStyleId>
              </a:tblPr>
              <a:tblGrid>
                <a:gridCol w="857250"/>
                <a:gridCol w="5715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33" name="Google Shape;33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6375" y="3070225"/>
            <a:ext cx="925513" cy="298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34" name="Google Shape;33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86125" y="3070225"/>
            <a:ext cx="911225" cy="298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335" name="Google Shape;33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5400" y="3725863"/>
            <a:ext cx="469900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5"/>
          <p:cNvSpPr/>
          <p:nvPr/>
        </p:nvSpPr>
        <p:spPr>
          <a:xfrm>
            <a:off x="1600200" y="19050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3276600" y="19050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6705600" y="19050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xp_fig" id="339" name="Google Shape;33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81600" y="2209800"/>
            <a:ext cx="469900" cy="8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.png" id="340" name="Google Shape;34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65263" y="5108575"/>
            <a:ext cx="1971675" cy="298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15400" y="1447798"/>
            <a:ext cx="2893913" cy="276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Traffic</a:t>
            </a:r>
            <a:endParaRPr/>
          </a:p>
        </p:txBody>
      </p:sp>
      <p:sp>
        <p:nvSpPr>
          <p:cNvPr id="348" name="Google Shape;348;p26"/>
          <p:cNvSpPr/>
          <p:nvPr/>
        </p:nvSpPr>
        <p:spPr>
          <a:xfrm>
            <a:off x="1143000" y="22860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1143000" y="39624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26"/>
          <p:cNvCxnSpPr>
            <a:stCxn id="348" idx="4"/>
            <a:endCxn id="349" idx="0"/>
          </p:cNvCxnSpPr>
          <p:nvPr/>
        </p:nvCxnSpPr>
        <p:spPr>
          <a:xfrm>
            <a:off x="1524000" y="3048000"/>
            <a:ext cx="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graphicFrame>
        <p:nvGraphicFramePr>
          <p:cNvPr id="351" name="Google Shape;351;p26"/>
          <p:cNvGraphicFramePr/>
          <p:nvPr/>
        </p:nvGraphicFramePr>
        <p:xfrm>
          <a:off x="2762250" y="235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{2081242B-E9E1-43DD-B313-68110A3294C5}</a:tableStyleId>
              </a:tblPr>
              <a:tblGrid>
                <a:gridCol w="762000"/>
                <a:gridCol w="6667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3/4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52" name="Google Shape;3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8013" y="1981200"/>
            <a:ext cx="731837" cy="29870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3" name="Google Shape;353;p26"/>
          <p:cNvGraphicFramePr/>
          <p:nvPr/>
        </p:nvGraphicFramePr>
        <p:xfrm>
          <a:off x="2381250" y="379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{2081242B-E9E1-43DD-B313-68110A3294C5}</a:tableStyleId>
              </a:tblPr>
              <a:tblGrid>
                <a:gridCol w="762000"/>
                <a:gridCol w="762000"/>
                <a:gridCol w="666750"/>
              </a:tblGrid>
              <a:tr h="3714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+r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3/4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54" name="Google Shape;35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5600" y="3417888"/>
            <a:ext cx="1060450" cy="3136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5" name="Google Shape;355;p26"/>
          <p:cNvGraphicFramePr/>
          <p:nvPr/>
        </p:nvGraphicFramePr>
        <p:xfrm>
          <a:off x="2381250" y="466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{2081242B-E9E1-43DD-B313-68110A3294C5}</a:tableStyleId>
              </a:tblPr>
              <a:tblGrid>
                <a:gridCol w="762000"/>
                <a:gridCol w="762000"/>
                <a:gridCol w="666750"/>
              </a:tblGrid>
              <a:tr h="3714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56" name="Google Shape;35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3135" y="2362200"/>
            <a:ext cx="1810181" cy="299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1800" y="4419600"/>
            <a:ext cx="5247974" cy="2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41414" y="4572000"/>
            <a:ext cx="2126385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0199" y="1143001"/>
            <a:ext cx="2666998" cy="1773729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Alarm Network</a:t>
            </a:r>
            <a:endParaRPr/>
          </a:p>
        </p:txBody>
      </p:sp>
      <p:sp>
        <p:nvSpPr>
          <p:cNvPr id="366" name="Google Shape;366;p27"/>
          <p:cNvSpPr/>
          <p:nvPr/>
        </p:nvSpPr>
        <p:spPr>
          <a:xfrm>
            <a:off x="2971800" y="1554162"/>
            <a:ext cx="1524000" cy="7620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urglary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7"/>
          <p:cNvSpPr/>
          <p:nvPr/>
        </p:nvSpPr>
        <p:spPr>
          <a:xfrm>
            <a:off x="4800600" y="1554150"/>
            <a:ext cx="1981200" cy="8382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arthquake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7"/>
          <p:cNvSpPr/>
          <p:nvPr/>
        </p:nvSpPr>
        <p:spPr>
          <a:xfrm>
            <a:off x="3962400" y="2544762"/>
            <a:ext cx="1143000" cy="9906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7"/>
          <p:cNvSpPr/>
          <p:nvPr/>
        </p:nvSpPr>
        <p:spPr>
          <a:xfrm>
            <a:off x="2819400" y="3611562"/>
            <a:ext cx="1066800" cy="898525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ohn calls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7"/>
          <p:cNvSpPr/>
          <p:nvPr/>
        </p:nvSpPr>
        <p:spPr>
          <a:xfrm>
            <a:off x="5105400" y="3611562"/>
            <a:ext cx="1066800" cy="914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 calls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27"/>
          <p:cNvCxnSpPr>
            <a:stCxn id="366" idx="4"/>
            <a:endCxn id="368" idx="1"/>
          </p:cNvCxnSpPr>
          <p:nvPr/>
        </p:nvCxnSpPr>
        <p:spPr>
          <a:xfrm>
            <a:off x="3733800" y="2316162"/>
            <a:ext cx="396000" cy="373800"/>
          </a:xfrm>
          <a:prstGeom prst="straightConnector1">
            <a:avLst/>
          </a:prstGeom>
          <a:noFill/>
          <a:ln cap="flat" cmpd="sng" w="9525">
            <a:solidFill>
              <a:srgbClr val="2E2E97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2" name="Google Shape;372;p27"/>
          <p:cNvCxnSpPr>
            <a:stCxn id="367" idx="4"/>
            <a:endCxn id="368" idx="7"/>
          </p:cNvCxnSpPr>
          <p:nvPr/>
        </p:nvCxnSpPr>
        <p:spPr>
          <a:xfrm flipH="1">
            <a:off x="4938000" y="2392350"/>
            <a:ext cx="853200" cy="297600"/>
          </a:xfrm>
          <a:prstGeom prst="straightConnector1">
            <a:avLst/>
          </a:prstGeom>
          <a:noFill/>
          <a:ln cap="flat" cmpd="sng" w="9525">
            <a:solidFill>
              <a:srgbClr val="2E2E97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3" name="Google Shape;373;p27"/>
          <p:cNvCxnSpPr>
            <a:stCxn id="368" idx="3"/>
            <a:endCxn id="369" idx="0"/>
          </p:cNvCxnSpPr>
          <p:nvPr/>
        </p:nvCxnSpPr>
        <p:spPr>
          <a:xfrm flipH="1">
            <a:off x="3352788" y="3390292"/>
            <a:ext cx="777000" cy="221400"/>
          </a:xfrm>
          <a:prstGeom prst="straightConnector1">
            <a:avLst/>
          </a:prstGeom>
          <a:noFill/>
          <a:ln cap="flat" cmpd="sng" w="9525">
            <a:solidFill>
              <a:srgbClr val="2E2E97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4" name="Google Shape;374;p27"/>
          <p:cNvCxnSpPr>
            <a:stCxn id="368" idx="5"/>
            <a:endCxn id="370" idx="0"/>
          </p:cNvCxnSpPr>
          <p:nvPr/>
        </p:nvCxnSpPr>
        <p:spPr>
          <a:xfrm>
            <a:off x="4938012" y="3390292"/>
            <a:ext cx="700800" cy="221400"/>
          </a:xfrm>
          <a:prstGeom prst="straightConnector1">
            <a:avLst/>
          </a:prstGeom>
          <a:noFill/>
          <a:ln cap="flat" cmpd="sng" w="9525">
            <a:solidFill>
              <a:srgbClr val="2E2E97"/>
            </a:solidFill>
            <a:prstDash val="solid"/>
            <a:round/>
            <a:headEnd len="sm" w="sm" type="none"/>
            <a:tailEnd len="med" w="med" type="stealth"/>
          </a:ln>
        </p:spPr>
      </p:cxnSp>
      <p:graphicFrame>
        <p:nvGraphicFramePr>
          <p:cNvPr id="375" name="Google Shape;375;p27"/>
          <p:cNvGraphicFramePr/>
          <p:nvPr/>
        </p:nvGraphicFramePr>
        <p:xfrm>
          <a:off x="1524000" y="14271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3400"/>
                <a:gridCol w="762000"/>
              </a:tblGrid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6" name="Google Shape;376;p27"/>
          <p:cNvGraphicFramePr/>
          <p:nvPr/>
        </p:nvGraphicFramePr>
        <p:xfrm>
          <a:off x="7010400" y="1350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6750"/>
                <a:gridCol w="761825"/>
              </a:tblGrid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P(E)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0.002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0.998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7" name="Google Shape;377;p27"/>
          <p:cNvGraphicFramePr/>
          <p:nvPr/>
        </p:nvGraphicFramePr>
        <p:xfrm>
          <a:off x="7010400" y="3200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6900"/>
                <a:gridCol w="529900"/>
                <a:gridCol w="533400"/>
                <a:gridCol w="1219200"/>
              </a:tblGrid>
              <a:tr h="38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P(A|B,E)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8" name="Google Shape;378;p27"/>
          <p:cNvGraphicFramePr/>
          <p:nvPr/>
        </p:nvGraphicFramePr>
        <p:xfrm>
          <a:off x="1676400" y="4678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29900"/>
                <a:gridCol w="533400"/>
                <a:gridCol w="917900"/>
              </a:tblGrid>
              <a:tr h="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P(J|A)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-j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-j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9" name="Google Shape;379;p27"/>
          <p:cNvGraphicFramePr/>
          <p:nvPr/>
        </p:nvGraphicFramePr>
        <p:xfrm>
          <a:off x="4267200" y="4678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29900"/>
                <a:gridCol w="613100"/>
                <a:gridCol w="914400"/>
              </a:tblGrid>
              <a:tr h="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P(M|A)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Traffic</a:t>
            </a:r>
            <a:endParaRPr/>
          </a:p>
        </p:txBody>
      </p:sp>
      <p:sp>
        <p:nvSpPr>
          <p:cNvPr id="385" name="Google Shape;385;p28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Causal direction</a:t>
            </a:r>
            <a:endParaRPr/>
          </a:p>
        </p:txBody>
      </p:sp>
      <p:sp>
        <p:nvSpPr>
          <p:cNvPr id="386" name="Google Shape;386;p28"/>
          <p:cNvSpPr/>
          <p:nvPr/>
        </p:nvSpPr>
        <p:spPr>
          <a:xfrm>
            <a:off x="914400" y="34290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914400" y="51054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" name="Google Shape;388;p28"/>
          <p:cNvCxnSpPr>
            <a:stCxn id="386" idx="4"/>
            <a:endCxn id="387" idx="0"/>
          </p:cNvCxnSpPr>
          <p:nvPr/>
        </p:nvCxnSpPr>
        <p:spPr>
          <a:xfrm>
            <a:off x="1295400" y="4191000"/>
            <a:ext cx="0" cy="91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graphicFrame>
        <p:nvGraphicFramePr>
          <p:cNvPr id="389" name="Google Shape;389;p28"/>
          <p:cNvGraphicFramePr/>
          <p:nvPr/>
        </p:nvGraphicFramePr>
        <p:xfrm>
          <a:off x="2533650" y="349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{2081242B-E9E1-43DD-B313-68110A3294C5}</a:tableStyleId>
              </a:tblPr>
              <a:tblGrid>
                <a:gridCol w="762000"/>
                <a:gridCol w="6667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3/4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90" name="Google Shape;39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9413" y="3124200"/>
            <a:ext cx="731837" cy="29870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1" name="Google Shape;391;p28"/>
          <p:cNvGraphicFramePr/>
          <p:nvPr/>
        </p:nvGraphicFramePr>
        <p:xfrm>
          <a:off x="2152650" y="4940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{2081242B-E9E1-43DD-B313-68110A3294C5}</a:tableStyleId>
              </a:tblPr>
              <a:tblGrid>
                <a:gridCol w="762000"/>
                <a:gridCol w="762000"/>
                <a:gridCol w="666750"/>
              </a:tblGrid>
              <a:tr h="3714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3/4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92" name="Google Shape;39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4560888"/>
            <a:ext cx="1060450" cy="31365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3" name="Google Shape;393;p28"/>
          <p:cNvGraphicFramePr/>
          <p:nvPr/>
        </p:nvGraphicFramePr>
        <p:xfrm>
          <a:off x="2152650" y="580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{2081242B-E9E1-43DD-B313-68110A3294C5}</a:tableStyleId>
              </a:tblPr>
              <a:tblGrid>
                <a:gridCol w="762000"/>
                <a:gridCol w="762000"/>
                <a:gridCol w="666750"/>
              </a:tblGrid>
              <a:tr h="3714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4" name="Google Shape;394;p28"/>
          <p:cNvGraphicFramePr/>
          <p:nvPr/>
        </p:nvGraphicFramePr>
        <p:xfrm>
          <a:off x="5638800" y="44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{2081242B-E9E1-43DD-B313-68110A3294C5}</a:tableStyleId>
              </a:tblPr>
              <a:tblGrid>
                <a:gridCol w="762000"/>
                <a:gridCol w="762000"/>
                <a:gridCol w="6667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3/16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1/16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</a:t>
                      </a:r>
                      <a:endParaRPr b="0" i="0" sz="1800" u="none" cap="none" strike="noStrik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6/16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6/16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txp_fig.png" id="395" name="Google Shape;39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8238" y="3971925"/>
            <a:ext cx="1090612" cy="298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0" y="1295400"/>
            <a:ext cx="4485974" cy="188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96200" y="1447800"/>
            <a:ext cx="1689842" cy="1635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0" y="1371600"/>
            <a:ext cx="10287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Causality?</a:t>
            </a:r>
            <a:endParaRPr/>
          </a:p>
        </p:txBody>
      </p:sp>
      <p:sp>
        <p:nvSpPr>
          <p:cNvPr id="405" name="Google Shape;405;p29"/>
          <p:cNvSpPr txBox="1"/>
          <p:nvPr>
            <p:ph idx="1" type="body"/>
          </p:nvPr>
        </p:nvSpPr>
        <p:spPr>
          <a:xfrm>
            <a:off x="406400" y="1397001"/>
            <a:ext cx="69088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When Bayes’ nets reflect the true causal patterns:</a:t>
            </a:r>
            <a:endParaRPr/>
          </a:p>
          <a:p>
            <a:pPr indent="-196837" lvl="8" marL="3886005" rtl="0" algn="l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Often simpler (nodes have fewer parents)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Often easier to think about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Often easier to elicit from experts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BNs need not actually be causal</a:t>
            </a:r>
            <a:endParaRPr/>
          </a:p>
          <a:p>
            <a:pPr indent="-196839" lvl="7" marL="3428829" rtl="0" algn="l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Sometimes no causal net exists over the domain (especially if variables are missing)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E.g. consider the variables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Traffic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Drips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End up with arrows that reflect correlation, not causation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What do the arrows really mean?</a:t>
            </a:r>
            <a:endParaRPr/>
          </a:p>
          <a:p>
            <a:pPr indent="-196839" lvl="7" marL="3428829" rtl="0" algn="l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Topology may happen to encode causal structure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Topology really encodes conditional independence</a:t>
            </a:r>
            <a:endParaRPr/>
          </a:p>
        </p:txBody>
      </p:sp>
      <p:pic>
        <p:nvPicPr>
          <p:cNvPr descr="txp_fig.png" id="406" name="Google Shape;40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6096000"/>
            <a:ext cx="4754535" cy="272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Bayes’ Nets</a:t>
            </a:r>
            <a:endParaRPr/>
          </a:p>
        </p:txBody>
      </p:sp>
      <p:sp>
        <p:nvSpPr>
          <p:cNvPr id="412" name="Google Shape;412;p30"/>
          <p:cNvSpPr txBox="1"/>
          <p:nvPr>
            <p:ph idx="1" type="body"/>
          </p:nvPr>
        </p:nvSpPr>
        <p:spPr>
          <a:xfrm>
            <a:off x="406400" y="1397001"/>
            <a:ext cx="61468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So far: how a Bayes’ net encodes a joint distribution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Next: how to answer queries about that distribution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Today: </a:t>
            </a:r>
            <a:endParaRPr/>
          </a:p>
          <a:p>
            <a:pPr indent="-228587" lvl="2" marL="1142942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First assembled BNs using an intuitive notion of conditional independence as causality</a:t>
            </a:r>
            <a:endParaRPr/>
          </a:p>
          <a:p>
            <a:pPr indent="-228587" lvl="2" marL="1142942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Then saw that key property is conditional independence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Main goal: answer queries about conditional independence and influence 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After that: how to answer numerical queries (inference)</a:t>
            </a:r>
            <a:endParaRPr/>
          </a:p>
        </p:txBody>
      </p:sp>
      <p:pic>
        <p:nvPicPr>
          <p:cNvPr id="413" name="Google Shape;41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3722" y="1524000"/>
            <a:ext cx="5332633" cy="388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Bayes’ Net Representation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1"/>
          <p:cNvSpPr txBox="1"/>
          <p:nvPr>
            <p:ph idx="1" type="body"/>
          </p:nvPr>
        </p:nvSpPr>
        <p:spPr>
          <a:xfrm>
            <a:off x="457200" y="1600201"/>
            <a:ext cx="7467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 directed, acyclic graph, one node per random variable</a:t>
            </a:r>
            <a:endParaRPr/>
          </a:p>
          <a:p>
            <a:pPr indent="-298432" lvl="0" marL="342882" rtl="0" algn="l">
              <a:lnSpc>
                <a:spcPct val="80000"/>
              </a:lnSpc>
              <a:spcBef>
                <a:spcPts val="14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 conditional probability table (CPT) for each node</a:t>
            </a:r>
            <a:endParaRPr/>
          </a:p>
          <a:p>
            <a:pPr indent="-152389" lvl="7" marL="3428829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 collection of distributions over X, one for each combination of parents’ values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2236" lvl="1" marL="742913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52389" lvl="7" marL="3428829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Bayes’ nets implicitly encode joint distributions</a:t>
            </a:r>
            <a:endParaRPr/>
          </a:p>
          <a:p>
            <a:pPr indent="-152387" lvl="5" marL="2514474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As a product of local conditional distributions</a:t>
            </a:r>
            <a:endParaRPr/>
          </a:p>
          <a:p>
            <a:pPr indent="-152387" lvl="6" marL="2971652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To see what probability a BN gives to a full assignment, multiply all the relevant conditionals together: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84137" lvl="2" marL="1142942" rtl="0" algn="l">
              <a:lnSpc>
                <a:spcPct val="80000"/>
              </a:lnSpc>
              <a:spcBef>
                <a:spcPts val="14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" id="420" name="Google Shape;42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0" y="3214729"/>
            <a:ext cx="1927225" cy="30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21" name="Google Shape;42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4600" y="5638800"/>
            <a:ext cx="553561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96400" y="4494919"/>
            <a:ext cx="2062552" cy="2362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48434" y="1524000"/>
            <a:ext cx="3514965" cy="2561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8800" y="1143000"/>
            <a:ext cx="2438400" cy="1621696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Alarm Network</a:t>
            </a:r>
            <a:endParaRPr/>
          </a:p>
        </p:txBody>
      </p:sp>
      <p:sp>
        <p:nvSpPr>
          <p:cNvPr id="431" name="Google Shape;431;p32"/>
          <p:cNvSpPr/>
          <p:nvPr/>
        </p:nvSpPr>
        <p:spPr>
          <a:xfrm>
            <a:off x="2971800" y="1554162"/>
            <a:ext cx="1524000" cy="7620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urglary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2"/>
          <p:cNvSpPr/>
          <p:nvPr/>
        </p:nvSpPr>
        <p:spPr>
          <a:xfrm>
            <a:off x="4800600" y="1554162"/>
            <a:ext cx="1447800" cy="8382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arthqk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2"/>
          <p:cNvSpPr/>
          <p:nvPr/>
        </p:nvSpPr>
        <p:spPr>
          <a:xfrm>
            <a:off x="3962400" y="2544762"/>
            <a:ext cx="1143000" cy="9906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2"/>
          <p:cNvSpPr/>
          <p:nvPr/>
        </p:nvSpPr>
        <p:spPr>
          <a:xfrm>
            <a:off x="2819400" y="3611562"/>
            <a:ext cx="1066800" cy="898525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ohn calls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2"/>
          <p:cNvSpPr/>
          <p:nvPr/>
        </p:nvSpPr>
        <p:spPr>
          <a:xfrm>
            <a:off x="5105400" y="3611562"/>
            <a:ext cx="1066800" cy="914400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 calls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6" name="Google Shape;436;p32"/>
          <p:cNvCxnSpPr>
            <a:stCxn id="431" idx="4"/>
            <a:endCxn id="433" idx="1"/>
          </p:cNvCxnSpPr>
          <p:nvPr/>
        </p:nvCxnSpPr>
        <p:spPr>
          <a:xfrm>
            <a:off x="3733800" y="2316162"/>
            <a:ext cx="396000" cy="373800"/>
          </a:xfrm>
          <a:prstGeom prst="straightConnector1">
            <a:avLst/>
          </a:prstGeom>
          <a:noFill/>
          <a:ln cap="flat" cmpd="sng" w="9525">
            <a:solidFill>
              <a:srgbClr val="2E2E97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37" name="Google Shape;437;p32"/>
          <p:cNvCxnSpPr>
            <a:stCxn id="432" idx="4"/>
            <a:endCxn id="433" idx="7"/>
          </p:cNvCxnSpPr>
          <p:nvPr/>
        </p:nvCxnSpPr>
        <p:spPr>
          <a:xfrm flipH="1">
            <a:off x="4938000" y="2392362"/>
            <a:ext cx="586500" cy="297600"/>
          </a:xfrm>
          <a:prstGeom prst="straightConnector1">
            <a:avLst/>
          </a:prstGeom>
          <a:noFill/>
          <a:ln cap="flat" cmpd="sng" w="9525">
            <a:solidFill>
              <a:srgbClr val="2E2E97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38" name="Google Shape;438;p32"/>
          <p:cNvCxnSpPr>
            <a:stCxn id="433" idx="3"/>
            <a:endCxn id="434" idx="0"/>
          </p:cNvCxnSpPr>
          <p:nvPr/>
        </p:nvCxnSpPr>
        <p:spPr>
          <a:xfrm flipH="1">
            <a:off x="3352788" y="3390292"/>
            <a:ext cx="777000" cy="221400"/>
          </a:xfrm>
          <a:prstGeom prst="straightConnector1">
            <a:avLst/>
          </a:prstGeom>
          <a:noFill/>
          <a:ln cap="flat" cmpd="sng" w="9525">
            <a:solidFill>
              <a:srgbClr val="2E2E97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39" name="Google Shape;439;p32"/>
          <p:cNvCxnSpPr>
            <a:stCxn id="433" idx="5"/>
            <a:endCxn id="435" idx="0"/>
          </p:cNvCxnSpPr>
          <p:nvPr/>
        </p:nvCxnSpPr>
        <p:spPr>
          <a:xfrm>
            <a:off x="4938012" y="3390292"/>
            <a:ext cx="700800" cy="221400"/>
          </a:xfrm>
          <a:prstGeom prst="straightConnector1">
            <a:avLst/>
          </a:prstGeom>
          <a:noFill/>
          <a:ln cap="flat" cmpd="sng" w="9525">
            <a:solidFill>
              <a:srgbClr val="2E2E97"/>
            </a:solidFill>
            <a:prstDash val="solid"/>
            <a:round/>
            <a:headEnd len="sm" w="sm" type="none"/>
            <a:tailEnd len="med" w="med" type="stealth"/>
          </a:ln>
        </p:spPr>
      </p:cxnSp>
      <p:graphicFrame>
        <p:nvGraphicFramePr>
          <p:cNvPr id="440" name="Google Shape;440;p32"/>
          <p:cNvGraphicFramePr/>
          <p:nvPr/>
        </p:nvGraphicFramePr>
        <p:xfrm>
          <a:off x="1524000" y="14271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3400"/>
                <a:gridCol w="762000"/>
              </a:tblGrid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1" name="Google Shape;441;p32"/>
          <p:cNvGraphicFramePr/>
          <p:nvPr/>
        </p:nvGraphicFramePr>
        <p:xfrm>
          <a:off x="7010400" y="1350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6750"/>
                <a:gridCol w="761825"/>
              </a:tblGrid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P(E)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0.002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0.998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2" name="Google Shape;442;p32"/>
          <p:cNvGraphicFramePr/>
          <p:nvPr/>
        </p:nvGraphicFramePr>
        <p:xfrm>
          <a:off x="7010400" y="3200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6900"/>
                <a:gridCol w="529900"/>
                <a:gridCol w="533400"/>
                <a:gridCol w="1219200"/>
              </a:tblGrid>
              <a:tr h="38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P(A|B,E)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3" name="Google Shape;443;p32"/>
          <p:cNvGraphicFramePr/>
          <p:nvPr/>
        </p:nvGraphicFramePr>
        <p:xfrm>
          <a:off x="1676400" y="4678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29900"/>
                <a:gridCol w="533400"/>
                <a:gridCol w="917900"/>
              </a:tblGrid>
              <a:tr h="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P(J|A)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-j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-j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4" name="Google Shape;444;p32"/>
          <p:cNvGraphicFramePr/>
          <p:nvPr/>
        </p:nvGraphicFramePr>
        <p:xfrm>
          <a:off x="4267200" y="4678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29900"/>
                <a:gridCol w="613100"/>
                <a:gridCol w="914400"/>
              </a:tblGrid>
              <a:tr h="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P(M|A)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5" name="Google Shape;445;p32"/>
          <p:cNvSpPr txBox="1"/>
          <p:nvPr/>
        </p:nvSpPr>
        <p:spPr>
          <a:xfrm>
            <a:off x="10108489" y="6477000"/>
            <a:ext cx="20835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[Demo: BN Applet]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8801" y="1143000"/>
            <a:ext cx="2438398" cy="1621696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Alarm Network</a:t>
            </a:r>
            <a:endParaRPr/>
          </a:p>
        </p:txBody>
      </p:sp>
      <p:graphicFrame>
        <p:nvGraphicFramePr>
          <p:cNvPr id="453" name="Google Shape;453;p33"/>
          <p:cNvGraphicFramePr/>
          <p:nvPr/>
        </p:nvGraphicFramePr>
        <p:xfrm>
          <a:off x="1447800" y="13503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3400"/>
                <a:gridCol w="762000"/>
              </a:tblGrid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54" name="Google Shape;454;p33"/>
          <p:cNvGraphicFramePr/>
          <p:nvPr/>
        </p:nvGraphicFramePr>
        <p:xfrm>
          <a:off x="6248400" y="13503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6750"/>
                <a:gridCol w="761825"/>
              </a:tblGrid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P(E)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0.002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0.998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55" name="Google Shape;455;p33"/>
          <p:cNvGraphicFramePr/>
          <p:nvPr/>
        </p:nvGraphicFramePr>
        <p:xfrm>
          <a:off x="8686800" y="31651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6900"/>
                <a:gridCol w="529900"/>
                <a:gridCol w="533400"/>
                <a:gridCol w="1219200"/>
              </a:tblGrid>
              <a:tr h="38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P(A|B,E)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56" name="Google Shape;456;p33"/>
          <p:cNvGraphicFramePr/>
          <p:nvPr/>
        </p:nvGraphicFramePr>
        <p:xfrm>
          <a:off x="762000" y="2923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29900"/>
                <a:gridCol w="533400"/>
                <a:gridCol w="917900"/>
              </a:tblGrid>
              <a:tr h="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P(J|A)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-j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-j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57" name="Google Shape;457;p33"/>
          <p:cNvGraphicFramePr/>
          <p:nvPr/>
        </p:nvGraphicFramePr>
        <p:xfrm>
          <a:off x="6248400" y="2923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29900"/>
                <a:gridCol w="613100"/>
                <a:gridCol w="914400"/>
              </a:tblGrid>
              <a:tr h="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P(M|A)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8" name="Google Shape;458;p33"/>
          <p:cNvSpPr/>
          <p:nvPr/>
        </p:nvSpPr>
        <p:spPr>
          <a:xfrm>
            <a:off x="3169018" y="1373005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3"/>
          <p:cNvSpPr/>
          <p:nvPr/>
        </p:nvSpPr>
        <p:spPr>
          <a:xfrm>
            <a:off x="5277150" y="1373005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3"/>
          <p:cNvSpPr/>
          <p:nvPr/>
        </p:nvSpPr>
        <p:spPr>
          <a:xfrm>
            <a:off x="4266497" y="2484872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3"/>
          <p:cNvSpPr/>
          <p:nvPr/>
        </p:nvSpPr>
        <p:spPr>
          <a:xfrm>
            <a:off x="5388742" y="37338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3"/>
          <p:cNvSpPr/>
          <p:nvPr/>
        </p:nvSpPr>
        <p:spPr>
          <a:xfrm>
            <a:off x="3333449" y="37338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p33"/>
          <p:cNvCxnSpPr>
            <a:stCxn id="460" idx="5"/>
            <a:endCxn id="461" idx="1"/>
          </p:cNvCxnSpPr>
          <p:nvPr/>
        </p:nvCxnSpPr>
        <p:spPr>
          <a:xfrm>
            <a:off x="4916905" y="3135280"/>
            <a:ext cx="583500" cy="71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464" name="Google Shape;464;p33"/>
          <p:cNvCxnSpPr>
            <a:stCxn id="460" idx="3"/>
            <a:endCxn id="462" idx="7"/>
          </p:cNvCxnSpPr>
          <p:nvPr/>
        </p:nvCxnSpPr>
        <p:spPr>
          <a:xfrm flipH="1">
            <a:off x="3983889" y="3135280"/>
            <a:ext cx="394200" cy="71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465" name="Google Shape;465;p33"/>
          <p:cNvCxnSpPr>
            <a:stCxn id="459" idx="3"/>
            <a:endCxn id="460" idx="7"/>
          </p:cNvCxnSpPr>
          <p:nvPr/>
        </p:nvCxnSpPr>
        <p:spPr>
          <a:xfrm flipH="1">
            <a:off x="4916842" y="2023413"/>
            <a:ext cx="471900" cy="57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466" name="Google Shape;466;p33"/>
          <p:cNvCxnSpPr>
            <a:stCxn id="458" idx="5"/>
            <a:endCxn id="460" idx="1"/>
          </p:cNvCxnSpPr>
          <p:nvPr/>
        </p:nvCxnSpPr>
        <p:spPr>
          <a:xfrm>
            <a:off x="3819426" y="2023413"/>
            <a:ext cx="558600" cy="57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pic>
        <p:nvPicPr>
          <p:cNvPr descr="TP_tmp.png" id="467" name="Google Shape;46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5257800"/>
            <a:ext cx="4267200" cy="4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_tmp.png" id="468" name="Google Shape;46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" y="5791200"/>
            <a:ext cx="8197144" cy="390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8800" y="1143000"/>
            <a:ext cx="2438400" cy="1621696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Alarm Network</a:t>
            </a:r>
            <a:endParaRPr/>
          </a:p>
        </p:txBody>
      </p:sp>
      <p:graphicFrame>
        <p:nvGraphicFramePr>
          <p:cNvPr id="476" name="Google Shape;476;p34"/>
          <p:cNvGraphicFramePr/>
          <p:nvPr/>
        </p:nvGraphicFramePr>
        <p:xfrm>
          <a:off x="1447800" y="13503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3400"/>
                <a:gridCol w="762000"/>
              </a:tblGrid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7" name="Google Shape;477;p34"/>
          <p:cNvGraphicFramePr/>
          <p:nvPr/>
        </p:nvGraphicFramePr>
        <p:xfrm>
          <a:off x="6248400" y="13503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6750"/>
                <a:gridCol w="761825"/>
              </a:tblGrid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P(E)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0.002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0.998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8" name="Google Shape;478;p34"/>
          <p:cNvGraphicFramePr/>
          <p:nvPr/>
        </p:nvGraphicFramePr>
        <p:xfrm>
          <a:off x="8686800" y="31651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6900"/>
                <a:gridCol w="529900"/>
                <a:gridCol w="533400"/>
                <a:gridCol w="1219200"/>
              </a:tblGrid>
              <a:tr h="38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P(A|B,E)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9" name="Google Shape;479;p34"/>
          <p:cNvGraphicFramePr/>
          <p:nvPr/>
        </p:nvGraphicFramePr>
        <p:xfrm>
          <a:off x="762000" y="2923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29900"/>
                <a:gridCol w="533400"/>
                <a:gridCol w="917900"/>
              </a:tblGrid>
              <a:tr h="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P(J|A)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-j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-j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0" name="Google Shape;480;p34"/>
          <p:cNvGraphicFramePr/>
          <p:nvPr/>
        </p:nvGraphicFramePr>
        <p:xfrm>
          <a:off x="6248400" y="2923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29900"/>
                <a:gridCol w="613100"/>
                <a:gridCol w="914400"/>
              </a:tblGrid>
              <a:tr h="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P(M|A)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2B2B2"/>
                    </a:solidFill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1" name="Google Shape;481;p34"/>
          <p:cNvSpPr/>
          <p:nvPr/>
        </p:nvSpPr>
        <p:spPr>
          <a:xfrm>
            <a:off x="3169018" y="1373005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4"/>
          <p:cNvSpPr/>
          <p:nvPr/>
        </p:nvSpPr>
        <p:spPr>
          <a:xfrm>
            <a:off x="5277150" y="1373005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4"/>
          <p:cNvSpPr/>
          <p:nvPr/>
        </p:nvSpPr>
        <p:spPr>
          <a:xfrm>
            <a:off x="4266497" y="2484872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4"/>
          <p:cNvSpPr/>
          <p:nvPr/>
        </p:nvSpPr>
        <p:spPr>
          <a:xfrm>
            <a:off x="5388742" y="37338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4"/>
          <p:cNvSpPr/>
          <p:nvPr/>
        </p:nvSpPr>
        <p:spPr>
          <a:xfrm>
            <a:off x="3333449" y="37338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" name="Google Shape;486;p34"/>
          <p:cNvCxnSpPr>
            <a:stCxn id="483" idx="5"/>
            <a:endCxn id="484" idx="1"/>
          </p:cNvCxnSpPr>
          <p:nvPr/>
        </p:nvCxnSpPr>
        <p:spPr>
          <a:xfrm>
            <a:off x="4916905" y="3135280"/>
            <a:ext cx="583500" cy="71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487" name="Google Shape;487;p34"/>
          <p:cNvCxnSpPr>
            <a:stCxn id="483" idx="3"/>
            <a:endCxn id="485" idx="7"/>
          </p:cNvCxnSpPr>
          <p:nvPr/>
        </p:nvCxnSpPr>
        <p:spPr>
          <a:xfrm flipH="1">
            <a:off x="3983889" y="3135280"/>
            <a:ext cx="394200" cy="71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488" name="Google Shape;488;p34"/>
          <p:cNvCxnSpPr>
            <a:stCxn id="482" idx="3"/>
            <a:endCxn id="483" idx="7"/>
          </p:cNvCxnSpPr>
          <p:nvPr/>
        </p:nvCxnSpPr>
        <p:spPr>
          <a:xfrm flipH="1">
            <a:off x="4916842" y="2023413"/>
            <a:ext cx="471900" cy="57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489" name="Google Shape;489;p34"/>
          <p:cNvCxnSpPr>
            <a:stCxn id="481" idx="5"/>
            <a:endCxn id="483" idx="1"/>
          </p:cNvCxnSpPr>
          <p:nvPr/>
        </p:nvCxnSpPr>
        <p:spPr>
          <a:xfrm>
            <a:off x="3819426" y="2023413"/>
            <a:ext cx="558600" cy="57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pic>
        <p:nvPicPr>
          <p:cNvPr descr="TP_tmp.png" id="490" name="Google Shape;49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5257800"/>
            <a:ext cx="4267200" cy="430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_tmp.png" id="491" name="Google Shape;49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" y="5791200"/>
            <a:ext cx="8197144" cy="3903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_tmp.png" id="492" name="Google Shape;492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6324600"/>
            <a:ext cx="4896995" cy="283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Bayes’ Nets</a:t>
            </a:r>
            <a:endParaRPr/>
          </a:p>
        </p:txBody>
      </p:sp>
      <p:sp>
        <p:nvSpPr>
          <p:cNvPr id="498" name="Google Shape;498;p35"/>
          <p:cNvSpPr txBox="1"/>
          <p:nvPr>
            <p:ph idx="1" type="body"/>
          </p:nvPr>
        </p:nvSpPr>
        <p:spPr>
          <a:xfrm>
            <a:off x="3048000" y="1447800"/>
            <a:ext cx="63246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Representation</a:t>
            </a:r>
            <a:endParaRPr/>
          </a:p>
          <a:p>
            <a:pPr indent="-171437" lvl="6" marL="2971652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215889" lvl="4" marL="2057298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200"/>
              <a:buNone/>
            </a:pPr>
            <a:r>
              <a:t/>
            </a:r>
            <a:endParaRPr sz="2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Conditional Independences</a:t>
            </a:r>
            <a:endParaRPr/>
          </a:p>
          <a:p>
            <a:pPr indent="-171437" lvl="8" marL="3886005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215889" lvl="4" marL="2057298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200"/>
              <a:buNone/>
            </a:pPr>
            <a:r>
              <a:t/>
            </a:r>
            <a:endParaRPr sz="2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Probabilistic Inference</a:t>
            </a:r>
            <a:endParaRPr/>
          </a:p>
          <a:p>
            <a:pPr indent="-171439" lvl="7" marL="3428829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Enumeration (exact, exponential complexity)</a:t>
            </a:r>
            <a:endParaRPr/>
          </a:p>
          <a:p>
            <a:pPr indent="-171437" lvl="6" marL="2971652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Variable elimination (exact, worst-case exponential complexity, often better)</a:t>
            </a:r>
            <a:endParaRPr/>
          </a:p>
          <a:p>
            <a:pPr indent="-171437" lvl="6" marL="2971652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Inference is NP-complete</a:t>
            </a:r>
            <a:endParaRPr/>
          </a:p>
          <a:p>
            <a:pPr indent="-171437" lvl="5" marL="2514474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Sampling (approximate)</a:t>
            </a:r>
            <a:endParaRPr/>
          </a:p>
          <a:p>
            <a:pPr indent="-152387" lvl="5" marL="2514474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215887" lvl="3" marL="160012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200"/>
              <a:buNone/>
            </a:pPr>
            <a:r>
              <a:t/>
            </a:r>
            <a:endParaRPr sz="2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Learning Bayes’ Nets from Data</a:t>
            </a:r>
            <a:endParaRPr/>
          </a:p>
        </p:txBody>
      </p:sp>
      <p:pic>
        <p:nvPicPr>
          <p:cNvPr id="499" name="Google Shape;49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1524000"/>
            <a:ext cx="375938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2133600"/>
            <a:ext cx="375938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6"/>
          <p:cNvSpPr txBox="1"/>
          <p:nvPr/>
        </p:nvSpPr>
        <p:spPr>
          <a:xfrm>
            <a:off x="6400800" y="1447800"/>
            <a:ext cx="54102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087" lvl="8" marL="388600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Posterior probability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36" lvl="1" marL="7429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36" lvl="1" marL="7429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likely explanation: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36" lvl="1" marL="7429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36" lvl="1" marL="7429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36" lvl="1" marL="74291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Inference</a:t>
            </a:r>
            <a:endParaRPr/>
          </a:p>
        </p:txBody>
      </p:sp>
      <p:sp>
        <p:nvSpPr>
          <p:cNvPr id="507" name="Google Shape;507;p36"/>
          <p:cNvSpPr txBox="1"/>
          <p:nvPr>
            <p:ph idx="1" type="body"/>
          </p:nvPr>
        </p:nvSpPr>
        <p:spPr>
          <a:xfrm>
            <a:off x="457200" y="1447800"/>
            <a:ext cx="54102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Inference: calculating some useful quantity from a joint probability distribution</a:t>
            </a:r>
            <a:endParaRPr/>
          </a:p>
          <a:p>
            <a:pPr indent="-126987" lvl="8" marL="3886005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133336" lvl="1" marL="742913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33336" lvl="1" marL="742913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" id="508" name="Google Shape;50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0" y="2667000"/>
            <a:ext cx="37338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509" name="Google Shape;50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0" y="3886200"/>
            <a:ext cx="4413250" cy="347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6800" y="4367513"/>
            <a:ext cx="10285809" cy="2477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Inference by Enumeration</a:t>
            </a:r>
            <a:endParaRPr/>
          </a:p>
        </p:txBody>
      </p:sp>
      <p:sp>
        <p:nvSpPr>
          <p:cNvPr id="516" name="Google Shape;516;p37"/>
          <p:cNvSpPr txBox="1"/>
          <p:nvPr>
            <p:ph idx="1" type="body"/>
          </p:nvPr>
        </p:nvSpPr>
        <p:spPr>
          <a:xfrm>
            <a:off x="199221" y="1295813"/>
            <a:ext cx="8229600" cy="13275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General case: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Evidence variables: 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Query* variable: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Hidden variables:</a:t>
            </a:r>
            <a:endParaRPr/>
          </a:p>
          <a:p>
            <a:pPr indent="-184136" lvl="1" marL="742913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184136" lvl="1" marL="742913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" id="517" name="Google Shape;51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081" y="1699187"/>
            <a:ext cx="15748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518" name="Google Shape;51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6973" y="1610535"/>
            <a:ext cx="2095500" cy="227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519" name="Google Shape;51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89673" y="1929623"/>
            <a:ext cx="169863" cy="214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520" name="Google Shape;520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54748" y="2234423"/>
            <a:ext cx="958850" cy="214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521" name="Google Shape;521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29704" y="1873689"/>
            <a:ext cx="2067441" cy="3563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522" name="Google Shape;522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45724" y="6153402"/>
            <a:ext cx="1885950" cy="252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523" name="Google Shape;523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05953" y="6071444"/>
            <a:ext cx="3257550" cy="53975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7"/>
          <p:cNvSpPr/>
          <p:nvPr/>
        </p:nvSpPr>
        <p:spPr>
          <a:xfrm rot="-5400000">
            <a:off x="6489768" y="5379365"/>
            <a:ext cx="174830" cy="2134655"/>
          </a:xfrm>
          <a:prstGeom prst="leftBrace">
            <a:avLst>
              <a:gd fmla="val 10833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xp_fig" id="525" name="Google Shape;52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6065" y="6629400"/>
            <a:ext cx="15748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7"/>
          <p:cNvSpPr/>
          <p:nvPr/>
        </p:nvSpPr>
        <p:spPr>
          <a:xfrm>
            <a:off x="5379898" y="1559239"/>
            <a:ext cx="228600" cy="914400"/>
          </a:xfrm>
          <a:prstGeom prst="rightBrace">
            <a:avLst>
              <a:gd fmla="val 33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7"/>
          <p:cNvSpPr txBox="1"/>
          <p:nvPr/>
        </p:nvSpPr>
        <p:spPr>
          <a:xfrm>
            <a:off x="5751431" y="1968119"/>
            <a:ext cx="152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7"/>
          <p:cNvSpPr txBox="1"/>
          <p:nvPr/>
        </p:nvSpPr>
        <p:spPr>
          <a:xfrm>
            <a:off x="10488610" y="1129148"/>
            <a:ext cx="1557338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Works fine with multiple query variables, too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7"/>
          <p:cNvSpPr txBox="1"/>
          <p:nvPr/>
        </p:nvSpPr>
        <p:spPr>
          <a:xfrm>
            <a:off x="7779228" y="1296460"/>
            <a:ext cx="3997028" cy="863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We want: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36" lvl="1" marL="742913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7"/>
          <p:cNvSpPr txBox="1"/>
          <p:nvPr/>
        </p:nvSpPr>
        <p:spPr>
          <a:xfrm>
            <a:off x="659401" y="3085809"/>
            <a:ext cx="2826696" cy="1025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1: Select the entries consistent with the evidence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7"/>
          <p:cNvSpPr txBox="1"/>
          <p:nvPr/>
        </p:nvSpPr>
        <p:spPr>
          <a:xfrm>
            <a:off x="4095697" y="3081163"/>
            <a:ext cx="3822722" cy="639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2: Sum out H to get joint of Query and evidence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7"/>
          <p:cNvSpPr txBox="1"/>
          <p:nvPr/>
        </p:nvSpPr>
        <p:spPr>
          <a:xfrm>
            <a:off x="8618168" y="3072764"/>
            <a:ext cx="2786348" cy="463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3: Normalize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882" lvl="0" marL="342882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3" name="Google Shape;533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5579" y="3954241"/>
            <a:ext cx="3561300" cy="2048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48017" y="3737772"/>
            <a:ext cx="3114039" cy="2076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_tmp.png" id="535" name="Google Shape;535;p3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180292" y="5675132"/>
            <a:ext cx="2463800" cy="58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_tmp.png" id="536" name="Google Shape;536;p3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08358" y="6324600"/>
            <a:ext cx="36576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x-image-1.pdf" id="537" name="Google Shape;537;p3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92096" y="3665394"/>
            <a:ext cx="1123188" cy="151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Inference by Enumeration in Bayes’ Net</a:t>
            </a:r>
            <a:endParaRPr/>
          </a:p>
        </p:txBody>
      </p:sp>
      <p:sp>
        <p:nvSpPr>
          <p:cNvPr id="543" name="Google Shape;543;p38"/>
          <p:cNvSpPr txBox="1"/>
          <p:nvPr>
            <p:ph idx="1" type="body"/>
          </p:nvPr>
        </p:nvSpPr>
        <p:spPr>
          <a:xfrm>
            <a:off x="304800" y="1219200"/>
            <a:ext cx="73914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Given unlimited time, inference in BNs is easy</a:t>
            </a:r>
            <a:endParaRPr/>
          </a:p>
          <a:p>
            <a:pPr indent="-196839" lvl="7" marL="3428829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Reminder of inference by enumeration by example:</a:t>
            </a:r>
            <a:endParaRPr/>
          </a:p>
        </p:txBody>
      </p:sp>
      <p:sp>
        <p:nvSpPr>
          <p:cNvPr id="544" name="Google Shape;544;p38"/>
          <p:cNvSpPr/>
          <p:nvPr/>
        </p:nvSpPr>
        <p:spPr>
          <a:xfrm>
            <a:off x="8360174" y="1303999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8"/>
          <p:cNvSpPr/>
          <p:nvPr/>
        </p:nvSpPr>
        <p:spPr>
          <a:xfrm>
            <a:off x="10468306" y="1303999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8"/>
          <p:cNvSpPr/>
          <p:nvPr/>
        </p:nvSpPr>
        <p:spPr>
          <a:xfrm>
            <a:off x="9457653" y="2415866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8"/>
          <p:cNvSpPr/>
          <p:nvPr/>
        </p:nvSpPr>
        <p:spPr>
          <a:xfrm>
            <a:off x="10583206" y="3670658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8"/>
          <p:cNvSpPr/>
          <p:nvPr/>
        </p:nvSpPr>
        <p:spPr>
          <a:xfrm>
            <a:off x="8527913" y="3670658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9" name="Google Shape;549;p38"/>
          <p:cNvCxnSpPr>
            <a:endCxn id="547" idx="1"/>
          </p:cNvCxnSpPr>
          <p:nvPr/>
        </p:nvCxnSpPr>
        <p:spPr>
          <a:xfrm>
            <a:off x="10111298" y="3072150"/>
            <a:ext cx="583500" cy="71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550" name="Google Shape;550;p38"/>
          <p:cNvCxnSpPr>
            <a:endCxn id="548" idx="7"/>
          </p:cNvCxnSpPr>
          <p:nvPr/>
        </p:nvCxnSpPr>
        <p:spPr>
          <a:xfrm flipH="1">
            <a:off x="9178321" y="3072150"/>
            <a:ext cx="394200" cy="71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551" name="Google Shape;551;p38"/>
          <p:cNvCxnSpPr>
            <a:stCxn id="545" idx="3"/>
            <a:endCxn id="546" idx="7"/>
          </p:cNvCxnSpPr>
          <p:nvPr/>
        </p:nvCxnSpPr>
        <p:spPr>
          <a:xfrm flipH="1">
            <a:off x="10107998" y="1954407"/>
            <a:ext cx="471900" cy="57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552" name="Google Shape;552;p38"/>
          <p:cNvCxnSpPr>
            <a:stCxn id="544" idx="5"/>
            <a:endCxn id="546" idx="1"/>
          </p:cNvCxnSpPr>
          <p:nvPr/>
        </p:nvCxnSpPr>
        <p:spPr>
          <a:xfrm>
            <a:off x="9010582" y="1954407"/>
            <a:ext cx="558600" cy="57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pic>
        <p:nvPicPr>
          <p:cNvPr descr="latex-image-1.pdf" id="553" name="Google Shape;55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514600"/>
            <a:ext cx="2362200" cy="370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x-image-1.pdf" id="554" name="Google Shape;55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800" y="2438400"/>
            <a:ext cx="3048000" cy="4071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x-image-1.pdf" id="555" name="Google Shape;55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1800" y="3352800"/>
            <a:ext cx="3390249" cy="7264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x-image-1.pdf" id="556" name="Google Shape;556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95600" y="4419600"/>
            <a:ext cx="6324600" cy="7657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x-image-1.pdf" id="557" name="Google Shape;557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5486400"/>
            <a:ext cx="12192000" cy="708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Inference by Enumeration in Bayes’ Net</a:t>
            </a:r>
            <a:endParaRPr/>
          </a:p>
        </p:txBody>
      </p:sp>
      <p:sp>
        <p:nvSpPr>
          <p:cNvPr id="563" name="Google Shape;563;p39"/>
          <p:cNvSpPr txBox="1"/>
          <p:nvPr>
            <p:ph idx="1" type="body"/>
          </p:nvPr>
        </p:nvSpPr>
        <p:spPr>
          <a:xfrm>
            <a:off x="533400" y="151606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P(+b|+j,+m)=P(+b,+j,+m)/P(+j,+m)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P(+b,+j,+m)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=P(+b,+e,+a,+j,+m)+P(+b,+e,-a,+j,+m)+P(+b,-e,+a,+j,+m)+P(+b,-e,-a,+j,+m)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=</a:t>
            </a:r>
            <a:r>
              <a:rPr lang="en-US" sz="2400"/>
              <a:t>P(+b)P(+e)P(+a|+b,+e)P(+j|+a)P(+m|+a)+ P(+b)P(+e)P(-a|+b,+e)P(+j|-a)P(+m|-a)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+P(+b)P(-e)P(+a|+b,-e)P(+j|+a)P(+m|+a)+ P(+b)P(-e)P(-a|+b,-e)P(+j|-a)P(+m|-a)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564" name="Google Shape;564;p39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Alarm Network</a:t>
            </a:r>
            <a:endParaRPr/>
          </a:p>
        </p:txBody>
      </p:sp>
      <p:graphicFrame>
        <p:nvGraphicFramePr>
          <p:cNvPr id="571" name="Google Shape;571;p40"/>
          <p:cNvGraphicFramePr/>
          <p:nvPr/>
        </p:nvGraphicFramePr>
        <p:xfrm>
          <a:off x="1447800" y="13503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3400"/>
                <a:gridCol w="762000"/>
              </a:tblGrid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2" name="Google Shape;572;p40"/>
          <p:cNvGraphicFramePr/>
          <p:nvPr/>
        </p:nvGraphicFramePr>
        <p:xfrm>
          <a:off x="6248400" y="13503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6750"/>
                <a:gridCol w="761825"/>
              </a:tblGrid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P(E)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0.002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0.998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3" name="Google Shape;573;p40"/>
          <p:cNvGraphicFramePr/>
          <p:nvPr/>
        </p:nvGraphicFramePr>
        <p:xfrm>
          <a:off x="8676414" y="14817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6900"/>
                <a:gridCol w="529900"/>
                <a:gridCol w="533400"/>
                <a:gridCol w="1219200"/>
              </a:tblGrid>
              <a:tr h="38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P(A|B,E)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4" name="Google Shape;574;p40"/>
          <p:cNvGraphicFramePr/>
          <p:nvPr/>
        </p:nvGraphicFramePr>
        <p:xfrm>
          <a:off x="762000" y="2923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29900"/>
                <a:gridCol w="533400"/>
                <a:gridCol w="917900"/>
              </a:tblGrid>
              <a:tr h="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P(J|A)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-j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-j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5" name="Google Shape;575;p40"/>
          <p:cNvGraphicFramePr/>
          <p:nvPr/>
        </p:nvGraphicFramePr>
        <p:xfrm>
          <a:off x="6248400" y="2923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29900"/>
                <a:gridCol w="613100"/>
                <a:gridCol w="914400"/>
              </a:tblGrid>
              <a:tr h="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P(M|A)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6" name="Google Shape;576;p40"/>
          <p:cNvSpPr/>
          <p:nvPr/>
        </p:nvSpPr>
        <p:spPr>
          <a:xfrm>
            <a:off x="3169018" y="1373005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0"/>
          <p:cNvSpPr/>
          <p:nvPr/>
        </p:nvSpPr>
        <p:spPr>
          <a:xfrm>
            <a:off x="5277150" y="1373005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0"/>
          <p:cNvSpPr/>
          <p:nvPr/>
        </p:nvSpPr>
        <p:spPr>
          <a:xfrm>
            <a:off x="4266497" y="2484872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0"/>
          <p:cNvSpPr/>
          <p:nvPr/>
        </p:nvSpPr>
        <p:spPr>
          <a:xfrm>
            <a:off x="5388742" y="37338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0"/>
          <p:cNvSpPr/>
          <p:nvPr/>
        </p:nvSpPr>
        <p:spPr>
          <a:xfrm>
            <a:off x="3333449" y="37338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1" name="Google Shape;581;p40"/>
          <p:cNvCxnSpPr>
            <a:stCxn id="578" idx="5"/>
            <a:endCxn id="579" idx="1"/>
          </p:cNvCxnSpPr>
          <p:nvPr/>
        </p:nvCxnSpPr>
        <p:spPr>
          <a:xfrm>
            <a:off x="4916905" y="3135280"/>
            <a:ext cx="583500" cy="71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582" name="Google Shape;582;p40"/>
          <p:cNvCxnSpPr>
            <a:stCxn id="578" idx="3"/>
            <a:endCxn id="580" idx="7"/>
          </p:cNvCxnSpPr>
          <p:nvPr/>
        </p:nvCxnSpPr>
        <p:spPr>
          <a:xfrm flipH="1">
            <a:off x="3983889" y="3135280"/>
            <a:ext cx="394200" cy="71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583" name="Google Shape;583;p40"/>
          <p:cNvCxnSpPr>
            <a:stCxn id="577" idx="3"/>
            <a:endCxn id="578" idx="7"/>
          </p:cNvCxnSpPr>
          <p:nvPr/>
        </p:nvCxnSpPr>
        <p:spPr>
          <a:xfrm flipH="1">
            <a:off x="4916842" y="2023413"/>
            <a:ext cx="471900" cy="57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584" name="Google Shape;584;p40"/>
          <p:cNvCxnSpPr>
            <a:stCxn id="576" idx="5"/>
            <a:endCxn id="578" idx="1"/>
          </p:cNvCxnSpPr>
          <p:nvPr/>
        </p:nvCxnSpPr>
        <p:spPr>
          <a:xfrm>
            <a:off x="3819426" y="2023413"/>
            <a:ext cx="558600" cy="57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pic>
        <p:nvPicPr>
          <p:cNvPr id="585" name="Google Shape;58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127" y="4812537"/>
            <a:ext cx="10309230" cy="1079086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40"/>
          <p:cNvSpPr txBox="1"/>
          <p:nvPr/>
        </p:nvSpPr>
        <p:spPr>
          <a:xfrm>
            <a:off x="364273" y="5809903"/>
            <a:ext cx="99822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=0.001X0.002X0.95X0.9X0.7+0.001X0.002X0.05X0.05X0.01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+0.001X0.998X0.94X0.9X0.7+0.001X0.998X0.06X0.05X0.01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=.000592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Inference by Enumeration in Bayes’ Net</a:t>
            </a:r>
            <a:endParaRPr/>
          </a:p>
        </p:txBody>
      </p:sp>
      <p:sp>
        <p:nvSpPr>
          <p:cNvPr id="592" name="Google Shape;592;p41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3" name="Google Shape;593;p41"/>
          <p:cNvSpPr txBox="1"/>
          <p:nvPr>
            <p:ph idx="1" type="body"/>
          </p:nvPr>
        </p:nvSpPr>
        <p:spPr>
          <a:xfrm>
            <a:off x="406350" y="1397025"/>
            <a:ext cx="113793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P(+b|+j,+m)=P(+b,+j,+m)/P(+j,+m)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P(+b,+j,+m)=.0005922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P(+j,+m)=P(+b,+j,+m)+P(-b,+j,+m)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P(-b,+j,+m)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=P(-b,+e,+a,+j,+m)+P(-b,+e,-a,+j,+m)+P(-b,-e,+a,+j,+m)+P(-b,-e,-a,+j,+m)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=.0014917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Example: Alarm Network</a:t>
            </a:r>
            <a:endParaRPr/>
          </a:p>
        </p:txBody>
      </p:sp>
      <p:graphicFrame>
        <p:nvGraphicFramePr>
          <p:cNvPr id="600" name="Google Shape;600;p42"/>
          <p:cNvGraphicFramePr/>
          <p:nvPr/>
        </p:nvGraphicFramePr>
        <p:xfrm>
          <a:off x="1447800" y="13503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3400"/>
                <a:gridCol w="762000"/>
              </a:tblGrid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P(B)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1" name="Google Shape;601;p42"/>
          <p:cNvGraphicFramePr/>
          <p:nvPr/>
        </p:nvGraphicFramePr>
        <p:xfrm>
          <a:off x="6248400" y="13503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6750"/>
                <a:gridCol w="761825"/>
              </a:tblGrid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P(E)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0.002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0.998</a:t>
                      </a:r>
                      <a:endParaRPr sz="1400" u="none" cap="none" strike="noStrike"/>
                    </a:p>
                  </a:txBody>
                  <a:tcPr marT="45725" marB="45725" marR="91425" marL="914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2" name="Google Shape;602;p42"/>
          <p:cNvGraphicFramePr/>
          <p:nvPr/>
        </p:nvGraphicFramePr>
        <p:xfrm>
          <a:off x="8676414" y="14817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36900"/>
                <a:gridCol w="529900"/>
                <a:gridCol w="533400"/>
                <a:gridCol w="1219200"/>
              </a:tblGrid>
              <a:tr h="38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P(A|B,E)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-b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-e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3" name="Google Shape;603;p42"/>
          <p:cNvGraphicFramePr/>
          <p:nvPr/>
        </p:nvGraphicFramePr>
        <p:xfrm>
          <a:off x="762000" y="2923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29900"/>
                <a:gridCol w="533400"/>
                <a:gridCol w="917900"/>
              </a:tblGrid>
              <a:tr h="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P(J|A)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-j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+j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-j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4" name="Google Shape;604;p42"/>
          <p:cNvGraphicFramePr/>
          <p:nvPr/>
        </p:nvGraphicFramePr>
        <p:xfrm>
          <a:off x="6248400" y="2923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{447B30BB-A373-4637-BFC3-F4622A01E66B}</a:tableStyleId>
              </a:tblPr>
              <a:tblGrid>
                <a:gridCol w="529900"/>
                <a:gridCol w="613100"/>
                <a:gridCol w="914400"/>
              </a:tblGrid>
              <a:tr h="38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P(M|A)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+m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-a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99"/>
                        </a:buClr>
                        <a:buSzPts val="1800"/>
                        <a:buFont typeface="Calibri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-m</a:t>
                      </a:r>
                      <a:endParaRPr b="0" sz="1800" u="none" cap="none" strike="noStrike">
                        <a:solidFill>
                          <a:srgbClr val="3333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3333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5" name="Google Shape;605;p42"/>
          <p:cNvSpPr/>
          <p:nvPr/>
        </p:nvSpPr>
        <p:spPr>
          <a:xfrm>
            <a:off x="3169018" y="1373005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2"/>
          <p:cNvSpPr/>
          <p:nvPr/>
        </p:nvSpPr>
        <p:spPr>
          <a:xfrm>
            <a:off x="5277150" y="1373005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2"/>
          <p:cNvSpPr/>
          <p:nvPr/>
        </p:nvSpPr>
        <p:spPr>
          <a:xfrm>
            <a:off x="4266497" y="2484872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2"/>
          <p:cNvSpPr/>
          <p:nvPr/>
        </p:nvSpPr>
        <p:spPr>
          <a:xfrm>
            <a:off x="5388742" y="37338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2"/>
          <p:cNvSpPr/>
          <p:nvPr/>
        </p:nvSpPr>
        <p:spPr>
          <a:xfrm>
            <a:off x="3333449" y="37338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b="0" baseline="-2500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0" name="Google Shape;610;p42"/>
          <p:cNvCxnSpPr>
            <a:stCxn id="607" idx="5"/>
            <a:endCxn id="608" idx="1"/>
          </p:cNvCxnSpPr>
          <p:nvPr/>
        </p:nvCxnSpPr>
        <p:spPr>
          <a:xfrm>
            <a:off x="4916905" y="3135280"/>
            <a:ext cx="583500" cy="71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611" name="Google Shape;611;p42"/>
          <p:cNvCxnSpPr>
            <a:stCxn id="607" idx="3"/>
            <a:endCxn id="609" idx="7"/>
          </p:cNvCxnSpPr>
          <p:nvPr/>
        </p:nvCxnSpPr>
        <p:spPr>
          <a:xfrm flipH="1">
            <a:off x="3983889" y="3135280"/>
            <a:ext cx="394200" cy="71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612" name="Google Shape;612;p42"/>
          <p:cNvCxnSpPr>
            <a:stCxn id="606" idx="3"/>
            <a:endCxn id="607" idx="7"/>
          </p:cNvCxnSpPr>
          <p:nvPr/>
        </p:nvCxnSpPr>
        <p:spPr>
          <a:xfrm flipH="1">
            <a:off x="4916842" y="2023413"/>
            <a:ext cx="471900" cy="57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613" name="Google Shape;613;p42"/>
          <p:cNvCxnSpPr>
            <a:stCxn id="605" idx="5"/>
            <a:endCxn id="607" idx="1"/>
          </p:cNvCxnSpPr>
          <p:nvPr/>
        </p:nvCxnSpPr>
        <p:spPr>
          <a:xfrm>
            <a:off x="3819426" y="2023413"/>
            <a:ext cx="558600" cy="57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pic>
        <p:nvPicPr>
          <p:cNvPr id="614" name="Google Shape;61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604" y="4894060"/>
            <a:ext cx="10754276" cy="1261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Independence in Bayes Nets</a:t>
            </a:r>
            <a:endParaRPr/>
          </a:p>
        </p:txBody>
      </p:sp>
      <p:sp>
        <p:nvSpPr>
          <p:cNvPr id="620" name="Google Shape;620;p43"/>
          <p:cNvSpPr txBox="1"/>
          <p:nvPr>
            <p:ph idx="1" type="body"/>
          </p:nvPr>
        </p:nvSpPr>
        <p:spPr>
          <a:xfrm>
            <a:off x="393700" y="2119312"/>
            <a:ext cx="11404600" cy="460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Determine if the following statements are True/False: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i.Pr(P8|P3,P7)=Pr(P8|P7)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ii.Pr(P3|P1,P5)=Pr(P3|P1)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iii.Pr(P4,P2|P3)=Pr(P4|P3)Pr(P2|P3)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iv.Pr(P5,P4|P1)=Pr(P5|P1)Pr(P4|P1)</a:t>
            </a:r>
            <a:endParaRPr/>
          </a:p>
        </p:txBody>
      </p:sp>
      <p:sp>
        <p:nvSpPr>
          <p:cNvPr id="621" name="Google Shape;621;p43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drawing of a clock&#10;&#10;Description automatically generated" id="622" name="Google Shape;62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3886200"/>
            <a:ext cx="3949432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3"/>
          <p:cNvSpPr txBox="1"/>
          <p:nvPr/>
        </p:nvSpPr>
        <p:spPr>
          <a:xfrm>
            <a:off x="533400" y="1524000"/>
            <a:ext cx="11125200" cy="15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node is conditionally independent of its other predecessors, given its parents.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Independence in Bayes Nets</a:t>
            </a:r>
            <a:endParaRPr/>
          </a:p>
        </p:txBody>
      </p:sp>
      <p:sp>
        <p:nvSpPr>
          <p:cNvPr id="629" name="Google Shape;629;p56"/>
          <p:cNvSpPr txBox="1"/>
          <p:nvPr>
            <p:ph idx="1" type="body"/>
          </p:nvPr>
        </p:nvSpPr>
        <p:spPr>
          <a:xfrm>
            <a:off x="393700" y="2119312"/>
            <a:ext cx="11404600" cy="4602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Determine if the following statements are True/False: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i.Pr(P8|P3,P7)=Pr(P8|P7)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ii.Pr(P3|P1,P5)=Pr(P3|P1)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iii.Pr(P4,P2|P3)=Pr(P4|P3)Pr(P2|P3)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iv.Pr(P5,P4|P1)=Pr(P5|P1)Pr(P4|P1)</a:t>
            </a:r>
            <a:endParaRPr/>
          </a:p>
        </p:txBody>
      </p:sp>
      <p:sp>
        <p:nvSpPr>
          <p:cNvPr id="630" name="Google Shape;630;p56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drawing of a clock&#10;&#10;Description automatically generated" id="631" name="Google Shape;63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3886200"/>
            <a:ext cx="3949432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6"/>
          <p:cNvSpPr txBox="1"/>
          <p:nvPr/>
        </p:nvSpPr>
        <p:spPr>
          <a:xfrm>
            <a:off x="533400" y="1524000"/>
            <a:ext cx="111252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variable in a bayes net is conditionally independent of its non-child given its parents.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8" name="Google Shape;638;p57"/>
          <p:cNvSpPr txBox="1"/>
          <p:nvPr>
            <p:ph idx="1" type="body"/>
          </p:nvPr>
        </p:nvSpPr>
        <p:spPr>
          <a:xfrm>
            <a:off x="406400" y="1397001"/>
            <a:ext cx="522719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 node X is conditionally independent of its non-descendants (e.g., the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Zijs) given its parents (the Uis shown in the gray area).</a:t>
            </a:r>
            <a:endParaRPr/>
          </a:p>
        </p:txBody>
      </p:sp>
      <p:sp>
        <p:nvSpPr>
          <p:cNvPr id="639" name="Google Shape;639;p57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0" name="Google Shape;64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3590" y="1123150"/>
            <a:ext cx="6411220" cy="5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e7cae81dac_0_0"/>
          <p:cNvSpPr txBox="1"/>
          <p:nvPr>
            <p:ph idx="12" type="sldNum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7" name="Google Shape;647;g3e7cae81da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005" y="179225"/>
            <a:ext cx="11477332" cy="654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e7cae81dac_0_8"/>
          <p:cNvSpPr txBox="1"/>
          <p:nvPr>
            <p:ph idx="12" type="sldNum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4" name="Google Shape;654;g3e7cae81dac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350"/>
            <a:ext cx="11887202" cy="4077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2004-08-27T04:16:05Z</dcterms:created>
  <dc:creator>Preferred Customer</dc:creator>
</cp:coreProperties>
</file>