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2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ht+TbFFTCDeHQSP4tcHQW/tWjb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7FE495-1530-4B3B-9FE6-F1A0F5516C0C}">
  <a:tblStyle styleId="{697FE495-1530-4B3B-9FE6-F1A0F5516C0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Please retain proper attribution, including the reference to ai.berkeley.edu.  Thanks!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are we using conditional instead of full join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fundamental tradeoff between statistical efficiency and the expressive power of your model</a:t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are we using conditional instead of full join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fundamental tradeoff between statistical efficiency and the expressive power of your model</a:t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5" name="Google Shape;435;p3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bigger is the K param, the harder its gonna be to move away from uniform distribution.</a:t>
            </a:r>
            <a:endParaRPr/>
          </a:p>
        </p:txBody>
      </p:sp>
      <p:sp>
        <p:nvSpPr>
          <p:cNvPr id="436" name="Google Shape;436;p30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8"/>
          <p:cNvSpPr txBox="1"/>
          <p:nvPr>
            <p:ph type="ctrTitle"/>
          </p:nvPr>
        </p:nvSpPr>
        <p:spPr>
          <a:xfrm>
            <a:off x="0" y="1044578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9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0" name="Google Shape;40;p4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3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46" name="Google Shape;46;p43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47" name="Google Shape;47;p4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" type="body"/>
          </p:nvPr>
        </p:nvSpPr>
        <p:spPr>
          <a:xfrm>
            <a:off x="457202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44"/>
          <p:cNvSpPr txBox="1"/>
          <p:nvPr>
            <p:ph idx="2" type="body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4" name="Google Shape;54;p44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44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6" name="Google Shape;56;p4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5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5"/>
          <p:cNvSpPr txBox="1"/>
          <p:nvPr>
            <p:ph idx="1" type="body"/>
          </p:nvPr>
        </p:nvSpPr>
        <p:spPr>
          <a:xfrm>
            <a:off x="3575051" y="273053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2" name="Google Shape;62;p45"/>
          <p:cNvSpPr txBox="1"/>
          <p:nvPr>
            <p:ph idx="2" type="body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4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6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6"/>
          <p:cNvSpPr txBox="1"/>
          <p:nvPr>
            <p:ph idx="1" type="body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4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7"/>
          <p:cNvSpPr txBox="1"/>
          <p:nvPr>
            <p:ph idx="1" type="body"/>
          </p:nvPr>
        </p:nvSpPr>
        <p:spPr>
          <a:xfrm rot="5400000">
            <a:off x="3731418" y="-1928017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8"/>
          <p:cNvSpPr txBox="1"/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8"/>
          <p:cNvSpPr txBox="1"/>
          <p:nvPr>
            <p:ph idx="1" type="body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2" name="Google Shape;82;p4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7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7"/>
          <p:cNvSpPr/>
          <p:nvPr/>
        </p:nvSpPr>
        <p:spPr>
          <a:xfrm>
            <a:off x="0" y="1031242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39.png"/><Relationship Id="rId5" Type="http://schemas.openxmlformats.org/officeDocument/2006/relationships/image" Target="../media/image63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Relationship Id="rId4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45.png"/><Relationship Id="rId13" Type="http://schemas.openxmlformats.org/officeDocument/2006/relationships/image" Target="../media/image51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7.png"/><Relationship Id="rId15" Type="http://schemas.openxmlformats.org/officeDocument/2006/relationships/image" Target="../media/image52.png"/><Relationship Id="rId14" Type="http://schemas.openxmlformats.org/officeDocument/2006/relationships/image" Target="../media/image54.png"/><Relationship Id="rId5" Type="http://schemas.openxmlformats.org/officeDocument/2006/relationships/image" Target="../media/image53.png"/><Relationship Id="rId6" Type="http://schemas.openxmlformats.org/officeDocument/2006/relationships/image" Target="../media/image49.png"/><Relationship Id="rId7" Type="http://schemas.openxmlformats.org/officeDocument/2006/relationships/image" Target="../media/image43.png"/><Relationship Id="rId8" Type="http://schemas.openxmlformats.org/officeDocument/2006/relationships/image" Target="../media/image5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png"/><Relationship Id="rId4" Type="http://schemas.openxmlformats.org/officeDocument/2006/relationships/image" Target="../media/image71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8.png"/><Relationship Id="rId4" Type="http://schemas.openxmlformats.org/officeDocument/2006/relationships/image" Target="../media/image73.png"/><Relationship Id="rId5" Type="http://schemas.openxmlformats.org/officeDocument/2006/relationships/image" Target="../media/image67.png"/><Relationship Id="rId6" Type="http://schemas.openxmlformats.org/officeDocument/2006/relationships/image" Target="../media/image70.png"/><Relationship Id="rId7" Type="http://schemas.openxmlformats.org/officeDocument/2006/relationships/image" Target="../media/image62.png"/></Relationships>
</file>

<file path=ppt/slides/_rels/slide32.xml.rels><?xml version="1.0" encoding="UTF-8" standalone="yes"?><Relationships xmlns="http://schemas.openxmlformats.org/package/2006/relationships"><Relationship Id="rId1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Relationship Id="rId4" Type="http://schemas.openxmlformats.org/officeDocument/2006/relationships/image" Target="../media/image61.png"/><Relationship Id="rId9" Type="http://schemas.openxmlformats.org/officeDocument/2006/relationships/image" Target="../media/image60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58.png"/><Relationship Id="rId8" Type="http://schemas.openxmlformats.org/officeDocument/2006/relationships/image" Target="../media/image6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Relationship Id="rId5" Type="http://schemas.openxmlformats.org/officeDocument/2006/relationships/image" Target="../media/image7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Relationship Id="rId5" Type="http://schemas.openxmlformats.org/officeDocument/2006/relationships/image" Target="../media/image7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Relationship Id="rId5" Type="http://schemas.openxmlformats.org/officeDocument/2006/relationships/image" Target="../media/image7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Relationship Id="rId5" Type="http://schemas.openxmlformats.org/officeDocument/2006/relationships/image" Target="../media/image70.png"/><Relationship Id="rId6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0" y="152400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 188: Artificial Intelligence</a:t>
            </a:r>
            <a:br>
              <a:rPr lang="en-US"/>
            </a:br>
            <a:endParaRPr sz="3600"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0" y="9144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Naïve Bayes</a:t>
            </a:r>
            <a:endParaRPr sz="3600"/>
          </a:p>
        </p:txBody>
      </p:sp>
      <p:sp>
        <p:nvSpPr>
          <p:cNvPr id="92" name="Google Shape;92;p1"/>
          <p:cNvSpPr txBox="1"/>
          <p:nvPr/>
        </p:nvSpPr>
        <p:spPr>
          <a:xfrm>
            <a:off x="1524000" y="6248403"/>
            <a:ext cx="5867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1625677"/>
            <a:ext cx="7315200" cy="41243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Dan\Dropbox\Office\CS 188\Ketrina Art\Learning I\Lecture20-MachineLearning.png" id="94" name="Google Shape;94;p1"/>
          <p:cNvPicPr preferRelativeResize="0"/>
          <p:nvPr/>
        </p:nvPicPr>
        <p:blipFill rotWithShape="1">
          <a:blip r:embed="rId4">
            <a:alphaModFix/>
          </a:blip>
          <a:srcRect b="71054" l="27083" r="41667" t="8626"/>
          <a:stretch/>
        </p:blipFill>
        <p:spPr>
          <a:xfrm>
            <a:off x="4329545" y="1981200"/>
            <a:ext cx="290945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0" y="6003922"/>
            <a:ext cx="12192000" cy="7617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Instructors: Dan Klein and Pieter Abbeel --- University of California, Berkeley</a:t>
            </a:r>
            <a:endParaRPr/>
          </a:p>
          <a:p>
            <a:pPr indent="0" lvl="0" marL="0" marR="0" rtl="0" algn="ctr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[These slides were created by Dan Klein and Pieter Abbeel for CS188 Intro to AI at UC Berkeley.  All CS188 materials are available at http://ai.berkeley.edu.]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914400" y="1595436"/>
            <a:ext cx="10363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Up until now: how use a model to make optimal decisions</a:t>
            </a:r>
            <a:endParaRPr/>
          </a:p>
          <a:p>
            <a:pPr indent="-133337" lvl="1" marL="742913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Machine learning: how to acquire a model from data / experience</a:t>
            </a:r>
            <a:endParaRPr/>
          </a:p>
          <a:p>
            <a:pPr indent="-285737" lvl="1" marL="742913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Learning parameters (e.g. probabilities)</a:t>
            </a:r>
            <a:endParaRPr/>
          </a:p>
          <a:p>
            <a:pPr indent="-285737" lvl="1" marL="742913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Learning structure (e.g. BN graphs)</a:t>
            </a:r>
            <a:endParaRPr/>
          </a:p>
          <a:p>
            <a:pPr indent="-285737" lvl="1" marL="742913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Learning hidden concepts (e.g. clustering)</a:t>
            </a:r>
            <a:endParaRPr/>
          </a:p>
          <a:p>
            <a:pPr indent="-133337" lvl="1" marL="742913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Today: model-based classification with Naive Bayes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Classification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1174750"/>
            <a:ext cx="5681935" cy="507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Spam Filter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304800" y="1447800"/>
            <a:ext cx="6553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Input: an email</a:t>
            </a:r>
            <a:endParaRPr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Output: spam/ham</a:t>
            </a:r>
            <a:endParaRPr/>
          </a:p>
          <a:p>
            <a:pPr indent="-158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Setup: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Get a large collection of example emails, each labeled “spam” or “ham”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Note: someone has to hand label all this data!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Want to learn to predict labels of new, future emails</a:t>
            </a:r>
            <a:endParaRPr/>
          </a:p>
          <a:p>
            <a:pPr indent="-158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Features: The attributes used to make the ham / spam decision</a:t>
            </a:r>
            <a:endParaRPr sz="2000"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Words: FREE!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Text Patterns: $dd, CAPS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Non-text: SenderInContacts</a:t>
            </a:r>
            <a:endParaRPr sz="2000"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…</a:t>
            </a:r>
            <a:endParaRPr/>
          </a:p>
          <a:p>
            <a:pPr indent="-158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14" name="Google Shape;114;p4"/>
          <p:cNvSpPr txBox="1"/>
          <p:nvPr/>
        </p:nvSpPr>
        <p:spPr>
          <a:xfrm>
            <a:off x="8001000" y="1447800"/>
            <a:ext cx="3581400" cy="15696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Dear Sir.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First, I must solicit your confidence in this transaction, this is by virture of its nature as being utterly confidencial and top secret. …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8001000" y="3048000"/>
            <a:ext cx="3505200" cy="181588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REMOVED FROM FUTURE MAILINGS, SIMPLY REPLY TO THIS MESSAGE AND PUT "REMOVE" IN THE SUBJECT.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  MILLION EMAIL ADDRESSES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FOR ONLY $99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8001000" y="4876800"/>
            <a:ext cx="3505200" cy="181588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Iknow this is blatantly OT but I'm beginning to go insane. Had an old Dell Dimension XPS sitting in the corner and decided to put it to use, I know it was working pre being stuck in the corner, but when I plugged it in, hit the power nothing happened.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061200" y="5334000"/>
            <a:ext cx="635000" cy="457200"/>
          </a:xfrm>
          <a:custGeom>
            <a:rect b="b" l="l" r="r" t="t"/>
            <a:pathLst>
              <a:path extrusionOk="0" h="144" w="248">
                <a:moveTo>
                  <a:pt x="77" y="144"/>
                </a:moveTo>
                <a:lnTo>
                  <a:pt x="248" y="0"/>
                </a:lnTo>
                <a:lnTo>
                  <a:pt x="86" y="94"/>
                </a:lnTo>
                <a:lnTo>
                  <a:pt x="0" y="51"/>
                </a:lnTo>
                <a:lnTo>
                  <a:pt x="77" y="144"/>
                </a:lnTo>
                <a:close/>
              </a:path>
            </a:pathLst>
          </a:custGeom>
          <a:solidFill>
            <a:srgbClr val="008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165975" y="1905000"/>
            <a:ext cx="454025" cy="457200"/>
          </a:xfrm>
          <a:custGeom>
            <a:rect b="b" l="l" r="r" t="t"/>
            <a:pathLst>
              <a:path extrusionOk="0" h="412" w="409">
                <a:moveTo>
                  <a:pt x="0" y="59"/>
                </a:moveTo>
                <a:lnTo>
                  <a:pt x="160" y="220"/>
                </a:lnTo>
                <a:lnTo>
                  <a:pt x="16" y="364"/>
                </a:lnTo>
                <a:lnTo>
                  <a:pt x="64" y="412"/>
                </a:lnTo>
                <a:lnTo>
                  <a:pt x="208" y="268"/>
                </a:lnTo>
                <a:lnTo>
                  <a:pt x="352" y="412"/>
                </a:lnTo>
                <a:lnTo>
                  <a:pt x="400" y="364"/>
                </a:lnTo>
                <a:lnTo>
                  <a:pt x="256" y="220"/>
                </a:lnTo>
                <a:lnTo>
                  <a:pt x="409" y="59"/>
                </a:lnTo>
                <a:lnTo>
                  <a:pt x="355" y="0"/>
                </a:lnTo>
                <a:lnTo>
                  <a:pt x="208" y="172"/>
                </a:lnTo>
                <a:lnTo>
                  <a:pt x="54" y="0"/>
                </a:lnTo>
                <a:lnTo>
                  <a:pt x="0" y="59"/>
                </a:lnTo>
                <a:close/>
              </a:path>
            </a:pathLst>
          </a:custGeom>
          <a:solidFill>
            <a:srgbClr val="CC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162800" y="3505200"/>
            <a:ext cx="454025" cy="457200"/>
          </a:xfrm>
          <a:custGeom>
            <a:rect b="b" l="l" r="r" t="t"/>
            <a:pathLst>
              <a:path extrusionOk="0" h="412" w="409">
                <a:moveTo>
                  <a:pt x="0" y="59"/>
                </a:moveTo>
                <a:lnTo>
                  <a:pt x="160" y="220"/>
                </a:lnTo>
                <a:lnTo>
                  <a:pt x="16" y="364"/>
                </a:lnTo>
                <a:lnTo>
                  <a:pt x="64" y="412"/>
                </a:lnTo>
                <a:lnTo>
                  <a:pt x="208" y="268"/>
                </a:lnTo>
                <a:lnTo>
                  <a:pt x="352" y="412"/>
                </a:lnTo>
                <a:lnTo>
                  <a:pt x="400" y="364"/>
                </a:lnTo>
                <a:lnTo>
                  <a:pt x="256" y="220"/>
                </a:lnTo>
                <a:lnTo>
                  <a:pt x="409" y="59"/>
                </a:lnTo>
                <a:lnTo>
                  <a:pt x="355" y="0"/>
                </a:lnTo>
                <a:lnTo>
                  <a:pt x="208" y="172"/>
                </a:lnTo>
                <a:lnTo>
                  <a:pt x="54" y="0"/>
                </a:lnTo>
                <a:lnTo>
                  <a:pt x="0" y="59"/>
                </a:lnTo>
                <a:close/>
              </a:path>
            </a:pathLst>
          </a:custGeom>
          <a:solidFill>
            <a:srgbClr val="CC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Digit Recognition</a:t>
            </a: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457200" y="1570037"/>
            <a:ext cx="8001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Input: images / pixel grids</a:t>
            </a:r>
            <a:endParaRPr/>
          </a:p>
          <a:p>
            <a:pPr indent="-342882" lvl="0" marL="342882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Output: a digit 0-9</a:t>
            </a:r>
            <a:endParaRPr/>
          </a:p>
          <a:p>
            <a:pPr indent="-190482" lvl="0" marL="342882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Setup: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Get a large collection of example images, each labeled with a digit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Note: someone has to hand label all this data!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Want to learn to predict labels of new, future digit images</a:t>
            </a:r>
            <a:endParaRPr/>
          </a:p>
          <a:p>
            <a:pPr indent="-158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Features: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attributes used to make the digit decision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Pixels: (6,8)=ON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Shape Patterns: NumComponents, AspectRatio, NumLoops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-158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7400" y="1676400"/>
            <a:ext cx="508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0" y="2514600"/>
            <a:ext cx="544513" cy="598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55162" y="4267200"/>
            <a:ext cx="655638" cy="6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3262" y="5414962"/>
            <a:ext cx="617538" cy="68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1200" y="3352800"/>
            <a:ext cx="617538" cy="59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0896600" y="1752600"/>
            <a:ext cx="3810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10896600" y="2590800"/>
            <a:ext cx="3810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10896600" y="3505200"/>
            <a:ext cx="3810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10896600" y="4419600"/>
            <a:ext cx="3810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10820400" y="5567362"/>
            <a:ext cx="6096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Classification Tasks</a:t>
            </a:r>
            <a:endParaRPr/>
          </a:p>
        </p:txBody>
      </p:sp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406400" y="1397001"/>
            <a:ext cx="7442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Classification: given inputs x, predict labels (classes) y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Examples: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Spam detection (input: document,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	classes: spam / ham)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OCR (input: images, classes: characters)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Medical diagnosis (input: symptoms,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	classes: diseases)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Automatic essay grading (input: document,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	classes: grades)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Fraud detection (input: account activity,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	classes: fraud / no fraud)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Customer service email routing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… many more</a:t>
            </a:r>
            <a:endParaRPr/>
          </a:p>
          <a:p>
            <a:pPr indent="-158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Classification is an important commercial technology!</a:t>
            </a:r>
            <a:endParaRPr/>
          </a:p>
          <a:p>
            <a:pPr indent="-158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7225" y="1852324"/>
            <a:ext cx="5096251" cy="41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Model-Based Classification</a:t>
            </a:r>
            <a:endParaRPr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406400" y="1397001"/>
            <a:ext cx="56896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Model-based approach</a:t>
            </a:r>
            <a:endParaRPr/>
          </a:p>
          <a:p>
            <a:pPr indent="-285737" lvl="1" marL="742913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Build a model (e.g. Bayes’ net) where both the label and features are random variables</a:t>
            </a:r>
            <a:endParaRPr/>
          </a:p>
          <a:p>
            <a:pPr indent="-285737" lvl="1" marL="742913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Instantiate any observed features</a:t>
            </a:r>
            <a:endParaRPr/>
          </a:p>
          <a:p>
            <a:pPr indent="-285737" lvl="1" marL="742913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Query for the distribution of the label conditioned on the features</a:t>
            </a:r>
            <a:endParaRPr/>
          </a:p>
          <a:p>
            <a:pPr indent="-101589" lvl="4" marL="2057298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42882" lvl="0" marL="342882" rtl="0" algn="l"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Challenges</a:t>
            </a:r>
            <a:endParaRPr/>
          </a:p>
          <a:p>
            <a:pPr indent="-285737" lvl="1" marL="742913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structure should the BN have?</a:t>
            </a:r>
            <a:endParaRPr/>
          </a:p>
          <a:p>
            <a:pPr indent="-285737" lvl="1" marL="742913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should we learn its parameters?</a:t>
            </a:r>
            <a:endParaRPr/>
          </a:p>
          <a:p>
            <a:pPr indent="-133337" lvl="1" marL="742913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65082" lvl="0" marL="342882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5588" y="1355226"/>
            <a:ext cx="5655412" cy="4816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General Naïve Bayes</a:t>
            </a:r>
            <a:endParaRPr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457200" y="1600200"/>
            <a:ext cx="9677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general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Naive Bayes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model: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We only have to specify how each feature depends on the class</a:t>
            </a:r>
            <a:endParaRPr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Total number of parameters is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in n</a:t>
            </a:r>
            <a:endParaRPr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Model is very simplistic, but often works anyway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9258300" y="17526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8343900" y="32004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172700" y="32004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8"/>
          <p:cNvCxnSpPr>
            <a:stCxn id="157" idx="4"/>
            <a:endCxn id="159" idx="0"/>
          </p:cNvCxnSpPr>
          <p:nvPr/>
        </p:nvCxnSpPr>
        <p:spPr>
          <a:xfrm>
            <a:off x="9525000" y="2286000"/>
            <a:ext cx="9144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8"/>
          <p:cNvCxnSpPr>
            <a:stCxn id="157" idx="4"/>
            <a:endCxn id="158" idx="0"/>
          </p:cNvCxnSpPr>
          <p:nvPr/>
        </p:nvCxnSpPr>
        <p:spPr>
          <a:xfrm flipH="1">
            <a:off x="8610600" y="2286000"/>
            <a:ext cx="9144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8"/>
          <p:cNvSpPr/>
          <p:nvPr/>
        </p:nvSpPr>
        <p:spPr>
          <a:xfrm>
            <a:off x="9029700" y="32004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8"/>
          <p:cNvCxnSpPr>
            <a:stCxn id="157" idx="4"/>
            <a:endCxn id="162" idx="0"/>
          </p:cNvCxnSpPr>
          <p:nvPr/>
        </p:nvCxnSpPr>
        <p:spPr>
          <a:xfrm flipH="1">
            <a:off x="9296400" y="2286000"/>
            <a:ext cx="2286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txp_fig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0" y="3429000"/>
            <a:ext cx="307975" cy="55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65" name="Google Shape;1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225800"/>
            <a:ext cx="2346325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66" name="Google Shape;16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3200400"/>
            <a:ext cx="2193925" cy="57308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3429000" y="2438400"/>
            <a:ext cx="1752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|Y| parameters</a:t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4953000" y="4006850"/>
            <a:ext cx="23622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x |F| x |Y| parameters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1371600" y="3930650"/>
            <a:ext cx="2057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|Y| x |F|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values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1301174" y="4609889"/>
            <a:ext cx="99951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P(Y, F1, F2, … Fn) = P(Y) * P(F1 | Y) * P(F2|Y) * … * P(Fn|Y)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General Naïve Bayes</a:t>
            </a:r>
            <a:endParaRPr/>
          </a:p>
        </p:txBody>
      </p:sp>
      <p:sp>
        <p:nvSpPr>
          <p:cNvPr id="177" name="Google Shape;177;p9"/>
          <p:cNvSpPr txBox="1"/>
          <p:nvPr>
            <p:ph idx="1" type="body"/>
          </p:nvPr>
        </p:nvSpPr>
        <p:spPr>
          <a:xfrm>
            <a:off x="457200" y="1600200"/>
            <a:ext cx="9677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How many params?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Inference for Naïve Bayes</a:t>
            </a:r>
            <a:endParaRPr/>
          </a:p>
        </p:txBody>
      </p:sp>
      <p:sp>
        <p:nvSpPr>
          <p:cNvPr id="183" name="Google Shape;183;p10"/>
          <p:cNvSpPr txBox="1"/>
          <p:nvPr>
            <p:ph idx="1" type="body"/>
          </p:nvPr>
        </p:nvSpPr>
        <p:spPr>
          <a:xfrm>
            <a:off x="457200" y="15240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Goal: compute posterior distribution over label variable Y</a:t>
            </a:r>
            <a:endParaRPr/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Step 1: get joint probability of label and evidence for each label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Step 2: sum to get probability of evidence</a:t>
            </a:r>
            <a:endParaRPr/>
          </a:p>
          <a:p>
            <a:pPr indent="-158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7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Step 3: normalize by dividing Step 1 by Step 2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141662"/>
            <a:ext cx="2181225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85" name="Google Shape;18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4313" y="2684462"/>
            <a:ext cx="2347912" cy="1312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86" name="Google Shape;18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3638" y="2667000"/>
            <a:ext cx="271145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/>
          <p:nvPr/>
        </p:nvSpPr>
        <p:spPr>
          <a:xfrm>
            <a:off x="6705600" y="3065462"/>
            <a:ext cx="533400" cy="533400"/>
          </a:xfrm>
          <a:prstGeom prst="right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10"/>
          <p:cNvCxnSpPr/>
          <p:nvPr/>
        </p:nvCxnSpPr>
        <p:spPr>
          <a:xfrm>
            <a:off x="7391400" y="4284662"/>
            <a:ext cx="304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xp_fig" id="189" name="Google Shape;18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0" y="4437062"/>
            <a:ext cx="1495425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/>
          <p:nvPr/>
        </p:nvSpPr>
        <p:spPr>
          <a:xfrm flipH="1">
            <a:off x="10439400" y="3294062"/>
            <a:ext cx="469900" cy="1295400"/>
          </a:xfrm>
          <a:custGeom>
            <a:rect b="b" l="l" r="r" t="t"/>
            <a:pathLst>
              <a:path extrusionOk="0" h="960" w="952">
                <a:moveTo>
                  <a:pt x="712" y="0"/>
                </a:moveTo>
                <a:cubicBezTo>
                  <a:pt x="472" y="148"/>
                  <a:pt x="232" y="296"/>
                  <a:pt x="136" y="432"/>
                </a:cubicBezTo>
                <a:cubicBezTo>
                  <a:pt x="40" y="568"/>
                  <a:pt x="0" y="728"/>
                  <a:pt x="136" y="816"/>
                </a:cubicBezTo>
                <a:cubicBezTo>
                  <a:pt x="272" y="904"/>
                  <a:pt x="612" y="932"/>
                  <a:pt x="952" y="960"/>
                </a:cubicBezTo>
              </a:path>
            </a:pathLst>
          </a:cu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10744200" y="4360862"/>
            <a:ext cx="457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</p:txBody>
      </p:sp>
      <p:pic>
        <p:nvPicPr>
          <p:cNvPr descr="txp_fig" id="192" name="Google Shape;19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45438" y="5726112"/>
            <a:ext cx="1814512" cy="2936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/>
          <p:nvPr/>
        </p:nvSpPr>
        <p:spPr>
          <a:xfrm rot="5400000">
            <a:off x="8572500" y="4932362"/>
            <a:ext cx="457200" cy="533400"/>
          </a:xfrm>
          <a:prstGeom prst="right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23202" r="62943" t="0"/>
          <a:stretch/>
        </p:blipFill>
        <p:spPr>
          <a:xfrm>
            <a:off x="8077200" y="2649537"/>
            <a:ext cx="325316" cy="1312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Naïve Bayes</a:t>
            </a:r>
            <a:endParaRPr/>
          </a:p>
        </p:txBody>
      </p:sp>
      <p:sp>
        <p:nvSpPr>
          <p:cNvPr id="200" name="Google Shape;200;p11"/>
          <p:cNvSpPr txBox="1"/>
          <p:nvPr>
            <p:ph idx="1" type="body"/>
          </p:nvPr>
        </p:nvSpPr>
        <p:spPr>
          <a:xfrm>
            <a:off x="1143000" y="1570037"/>
            <a:ext cx="8991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What do we need in order to use Naïve Bayes?</a:t>
            </a:r>
            <a:endParaRPr/>
          </a:p>
          <a:p>
            <a:pPr indent="-126989" lvl="3" marL="160012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285737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Inference method (we just saw this part)</a:t>
            </a:r>
            <a:endParaRPr/>
          </a:p>
          <a:p>
            <a:pPr indent="-228589" lvl="2" marL="114294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Start with a bunch of probabilities: P(Y) and the P(F</a:t>
            </a:r>
            <a:r>
              <a:rPr baseline="-25000" lang="en-US" sz="2000"/>
              <a:t>i</a:t>
            </a:r>
            <a:r>
              <a:rPr lang="en-US" sz="2000"/>
              <a:t>|Y) tables</a:t>
            </a:r>
            <a:endParaRPr/>
          </a:p>
          <a:p>
            <a:pPr indent="-228589" lvl="2" marL="114294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Use standard inference to compute P(Y|F</a:t>
            </a:r>
            <a:r>
              <a:rPr baseline="-25000" lang="en-US" sz="2000"/>
              <a:t>1</a:t>
            </a:r>
            <a:r>
              <a:rPr lang="en-US" sz="2000"/>
              <a:t>…F</a:t>
            </a:r>
            <a:r>
              <a:rPr baseline="-25000" lang="en-US" sz="2000"/>
              <a:t>n</a:t>
            </a:r>
            <a:r>
              <a:rPr lang="en-US" sz="2000"/>
              <a:t>)</a:t>
            </a:r>
            <a:endParaRPr/>
          </a:p>
          <a:p>
            <a:pPr indent="-228589" lvl="2" marL="114294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Nothing new here</a:t>
            </a:r>
            <a:endParaRPr/>
          </a:p>
          <a:p>
            <a:pPr indent="-101589" lvl="2" marL="114294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285737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Estimates of local conditional probability tables</a:t>
            </a:r>
            <a:endParaRPr/>
          </a:p>
          <a:p>
            <a:pPr indent="-228589" lvl="2" marL="114294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P(Y), the prior over labels</a:t>
            </a:r>
            <a:endParaRPr/>
          </a:p>
          <a:p>
            <a:pPr indent="-228589" lvl="2" marL="114294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P(F</a:t>
            </a:r>
            <a:r>
              <a:rPr baseline="-25000" lang="en-US" sz="2000"/>
              <a:t>i</a:t>
            </a:r>
            <a:r>
              <a:rPr lang="en-US" sz="2000"/>
              <a:t>|Y) for each feature (evidence variable)</a:t>
            </a:r>
            <a:endParaRPr/>
          </a:p>
          <a:p>
            <a:pPr indent="-228589" lvl="2" marL="114294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These probabilities are collectively called the </a:t>
            </a:r>
            <a:r>
              <a:rPr i="1" lang="en-US" sz="2000">
                <a:solidFill>
                  <a:srgbClr val="CC0000"/>
                </a:solidFill>
              </a:rPr>
              <a:t>parameters</a:t>
            </a:r>
            <a:r>
              <a:rPr i="1" lang="en-US" sz="2000"/>
              <a:t> </a:t>
            </a:r>
            <a:r>
              <a:rPr lang="en-US" sz="2000"/>
              <a:t>of the model and denoted by </a:t>
            </a:r>
            <a:r>
              <a:rPr b="1" i="1" lang="en-US">
                <a:solidFill>
                  <a:srgbClr val="CC0000"/>
                </a:solidFill>
              </a:rPr>
              <a:t>θ</a:t>
            </a:r>
            <a:endParaRPr/>
          </a:p>
          <a:p>
            <a:pPr indent="-228589" lvl="2" marL="114294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Up until now, we assumed these appeared by magic, but…</a:t>
            </a:r>
            <a:endParaRPr/>
          </a:p>
          <a:p>
            <a:pPr indent="-228589" lvl="2" marL="114294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…they typically come from training data counts: we’ll look at this soon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303" y="0"/>
            <a:ext cx="914139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3123" y="0"/>
            <a:ext cx="912575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915" y="0"/>
            <a:ext cx="913617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9213" y="0"/>
            <a:ext cx="913357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6"/>
          <p:cNvSpPr txBox="1"/>
          <p:nvPr>
            <p:ph idx="1" type="body"/>
          </p:nvPr>
        </p:nvSpPr>
        <p:spPr>
          <a:xfrm>
            <a:off x="406400" y="1397001"/>
            <a:ext cx="94234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P(Y|f1, f2, …. fn) = ?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= P(Y, f1, f2, …. , fn)/P(f1, … fn)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prop… P (Y, f1, f2, … fn)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P(yes, f1, … fn) = P(yes)P(f1|yes)P(f2|yes)…P(fn|y)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             = 0.002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P(no, f1, … fn) = P(n) P(f1|n)…P(fn|n) = 0.001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10629900" y="1748056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9715500" y="3195856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11544300" y="3195856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6"/>
          <p:cNvCxnSpPr>
            <a:stCxn id="227" idx="4"/>
            <a:endCxn id="229" idx="0"/>
          </p:cNvCxnSpPr>
          <p:nvPr/>
        </p:nvCxnSpPr>
        <p:spPr>
          <a:xfrm>
            <a:off x="10896600" y="2281456"/>
            <a:ext cx="9144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16"/>
          <p:cNvCxnSpPr>
            <a:stCxn id="227" idx="4"/>
            <a:endCxn id="228" idx="0"/>
          </p:cNvCxnSpPr>
          <p:nvPr/>
        </p:nvCxnSpPr>
        <p:spPr>
          <a:xfrm flipH="1">
            <a:off x="9982200" y="2281456"/>
            <a:ext cx="9144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16"/>
          <p:cNvSpPr/>
          <p:nvPr/>
        </p:nvSpPr>
        <p:spPr>
          <a:xfrm>
            <a:off x="10401300" y="3195856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6"/>
          <p:cNvCxnSpPr>
            <a:stCxn id="227" idx="4"/>
            <a:endCxn id="232" idx="0"/>
          </p:cNvCxnSpPr>
          <p:nvPr/>
        </p:nvCxnSpPr>
        <p:spPr>
          <a:xfrm flipH="1">
            <a:off x="10668000" y="2281456"/>
            <a:ext cx="2286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txp_fig" id="234" name="Google Shape;2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3424456"/>
            <a:ext cx="307975" cy="5556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16"/>
          <p:cNvGraphicFramePr/>
          <p:nvPr/>
        </p:nvGraphicFramePr>
        <p:xfrm>
          <a:off x="990600" y="5618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{697FE495-1530-4B3B-9FE6-F1A0F5516C0C}</a:tableStyleId>
              </a:tblPr>
              <a:tblGrid>
                <a:gridCol w="1225550"/>
                <a:gridCol w="1225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0.002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0.001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A screenshot of a cell phone&#10;&#10;Description automatically generated" id="241" name="Google Shape;241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09993"/>
            <a:ext cx="7530310" cy="542259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7"/>
          <p:cNvSpPr txBox="1"/>
          <p:nvPr/>
        </p:nvSpPr>
        <p:spPr>
          <a:xfrm>
            <a:off x="0" y="1040661"/>
            <a:ext cx="9755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Today is Sunny, Hot, Humidity Normal and No wind. What is probability of playing golf?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>
            <p:ph type="title"/>
          </p:nvPr>
        </p:nvSpPr>
        <p:spPr>
          <a:xfrm>
            <a:off x="3962400" y="-25400"/>
            <a:ext cx="426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A screenshot of a cell phone&#10;&#10;Description automatically generated" id="248" name="Google Shape;24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" y="1406085"/>
            <a:ext cx="5410200" cy="389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8"/>
          <p:cNvSpPr txBox="1"/>
          <p:nvPr/>
        </p:nvSpPr>
        <p:spPr>
          <a:xfrm>
            <a:off x="0" y="1040661"/>
            <a:ext cx="9755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Today is Sunny, Hot, Humidity Normal and No wind. What is probability of playing golf?</a:t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10673927" y="127000"/>
            <a:ext cx="533400" cy="533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9759527" y="1574800"/>
            <a:ext cx="533400" cy="533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11588327" y="1574800"/>
            <a:ext cx="533400" cy="533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cxnSp>
        <p:nvCxnSpPr>
          <p:cNvPr id="253" name="Google Shape;253;p18"/>
          <p:cNvCxnSpPr>
            <a:stCxn id="250" idx="4"/>
            <a:endCxn id="252" idx="0"/>
          </p:cNvCxnSpPr>
          <p:nvPr/>
        </p:nvCxnSpPr>
        <p:spPr>
          <a:xfrm>
            <a:off x="10940627" y="660400"/>
            <a:ext cx="9144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18"/>
          <p:cNvCxnSpPr>
            <a:stCxn id="250" idx="4"/>
            <a:endCxn id="251" idx="0"/>
          </p:cNvCxnSpPr>
          <p:nvPr/>
        </p:nvCxnSpPr>
        <p:spPr>
          <a:xfrm flipH="1">
            <a:off x="10026227" y="660400"/>
            <a:ext cx="9144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18"/>
          <p:cNvSpPr/>
          <p:nvPr/>
        </p:nvSpPr>
        <p:spPr>
          <a:xfrm>
            <a:off x="10445327" y="1574800"/>
            <a:ext cx="533400" cy="533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cxnSp>
        <p:nvCxnSpPr>
          <p:cNvPr id="256" name="Google Shape;256;p18"/>
          <p:cNvCxnSpPr>
            <a:stCxn id="250" idx="4"/>
            <a:endCxn id="255" idx="0"/>
          </p:cNvCxnSpPr>
          <p:nvPr/>
        </p:nvCxnSpPr>
        <p:spPr>
          <a:xfrm flipH="1">
            <a:off x="10712027" y="660400"/>
            <a:ext cx="2286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18"/>
          <p:cNvSpPr/>
          <p:nvPr/>
        </p:nvSpPr>
        <p:spPr>
          <a:xfrm>
            <a:off x="11016827" y="1574800"/>
            <a:ext cx="533400" cy="533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cxnSp>
        <p:nvCxnSpPr>
          <p:cNvPr id="258" name="Google Shape;258;p18"/>
          <p:cNvCxnSpPr>
            <a:stCxn id="250" idx="4"/>
            <a:endCxn id="257" idx="0"/>
          </p:cNvCxnSpPr>
          <p:nvPr/>
        </p:nvCxnSpPr>
        <p:spPr>
          <a:xfrm>
            <a:off x="10940627" y="660400"/>
            <a:ext cx="3429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18"/>
          <p:cNvSpPr txBox="1"/>
          <p:nvPr/>
        </p:nvSpPr>
        <p:spPr>
          <a:xfrm>
            <a:off x="5225484" y="1538111"/>
            <a:ext cx="5442516" cy="51542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96" r="-223" t="-5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152400" y="5451915"/>
            <a:ext cx="233910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P(y)=9/14, P(n)=5/14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P(sunny|y) = 3/9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P(sunny|n) = 2/5</a:t>
            </a:r>
            <a:endParaRPr/>
          </a:p>
        </p:txBody>
      </p:sp>
      <p:sp>
        <p:nvSpPr>
          <p:cNvPr id="261" name="Google Shape;261;p18"/>
          <p:cNvSpPr/>
          <p:nvPr/>
        </p:nvSpPr>
        <p:spPr>
          <a:xfrm>
            <a:off x="4038600" y="1409993"/>
            <a:ext cx="1186884" cy="377160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2893215" y="1508633"/>
            <a:ext cx="1186884" cy="377160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47303" y="2297532"/>
            <a:ext cx="5130878" cy="750468"/>
          </a:xfrm>
          <a:prstGeom prst="rect">
            <a:avLst/>
          </a:prstGeom>
          <a:noFill/>
          <a:ln cap="flat" cmpd="sng" w="38100">
            <a:solidFill>
              <a:srgbClr val="333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47303" y="3751870"/>
            <a:ext cx="5130878" cy="1201130"/>
          </a:xfrm>
          <a:prstGeom prst="rect">
            <a:avLst/>
          </a:prstGeom>
          <a:noFill/>
          <a:ln cap="flat" cmpd="sng" w="38100">
            <a:solidFill>
              <a:srgbClr val="333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152400" y="3265605"/>
            <a:ext cx="5130878" cy="257665"/>
          </a:xfrm>
          <a:prstGeom prst="rect">
            <a:avLst/>
          </a:prstGeom>
          <a:noFill/>
          <a:ln cap="flat" cmpd="sng" w="38100">
            <a:solidFill>
              <a:srgbClr val="333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2508835" y="5486400"/>
            <a:ext cx="15712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P(hot|y) = 2/9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P(hot|n) = 2/5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3411230" y="6237716"/>
            <a:ext cx="19559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P(normal|y) = 6/9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P(normal|n) = 1/5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1759912" y="6236499"/>
            <a:ext cx="17379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P(false|y) = 6/9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P(false|n) = 2/5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A screenshot of a cell phone&#10;&#10;Description automatically generated" id="274" name="Google Shape;274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09993"/>
            <a:ext cx="7530310" cy="5422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275" name="Google Shape;2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5400" y="1094510"/>
            <a:ext cx="2794943" cy="572652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 txBox="1"/>
          <p:nvPr/>
        </p:nvSpPr>
        <p:spPr>
          <a:xfrm>
            <a:off x="0" y="1040661"/>
            <a:ext cx="9755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Today is Sunny, Hot, Humidity Normal and No wind. What is probability of playing golf?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A screenshot of a cell phone&#10;&#10;Description automatically generated" id="282" name="Google Shape;2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61" y="1117600"/>
            <a:ext cx="2794943" cy="5726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social media post&#10;&#10;Description automatically generated" id="283" name="Google Shape;2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3264" y="1117600"/>
            <a:ext cx="8662935" cy="558442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/>
        </p:nvSpPr>
        <p:spPr>
          <a:xfrm>
            <a:off x="5105400" y="3160541"/>
            <a:ext cx="228600" cy="49705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5127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5029200" y="3856085"/>
            <a:ext cx="228600" cy="49564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204" l="0" r="-4999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6737582" y="3275111"/>
            <a:ext cx="874298" cy="30777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0.0212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6669502" y="3959423"/>
            <a:ext cx="874298" cy="30777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0.0046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5105400" y="5586511"/>
            <a:ext cx="2506480" cy="44204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33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5113520" y="6278401"/>
            <a:ext cx="2506480" cy="44204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702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9213" y="0"/>
            <a:ext cx="913357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604" y="0"/>
            <a:ext cx="911279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915" y="0"/>
            <a:ext cx="913617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303" y="0"/>
            <a:ext cx="914139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9213" y="0"/>
            <a:ext cx="913357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7033" y="0"/>
            <a:ext cx="911793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Smoothing</a:t>
            </a:r>
            <a:endParaRPr/>
          </a:p>
        </p:txBody>
      </p:sp>
      <p:pic>
        <p:nvPicPr>
          <p:cNvPr id="325" name="Google Shape;3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229135"/>
            <a:ext cx="10171112" cy="5247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Unseen Events</a:t>
            </a:r>
            <a:endParaRPr/>
          </a:p>
        </p:txBody>
      </p:sp>
      <p:pic>
        <p:nvPicPr>
          <p:cNvPr id="331" name="Google Shape;3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287797"/>
            <a:ext cx="3524960" cy="2739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8344" y="2244725"/>
            <a:ext cx="4760049" cy="301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Overfitting</a:t>
            </a:r>
            <a:endParaRPr/>
          </a:p>
        </p:txBody>
      </p:sp>
      <p:grpSp>
        <p:nvGrpSpPr>
          <p:cNvPr id="338" name="Google Shape;338;p29"/>
          <p:cNvGrpSpPr/>
          <p:nvPr/>
        </p:nvGrpSpPr>
        <p:grpSpPr>
          <a:xfrm>
            <a:off x="3352800" y="2667000"/>
            <a:ext cx="2438400" cy="2438400"/>
            <a:chOff x="3168" y="1584"/>
            <a:chExt cx="1536" cy="1536"/>
          </a:xfrm>
        </p:grpSpPr>
        <p:sp>
          <p:nvSpPr>
            <p:cNvPr id="339" name="Google Shape;339;p29"/>
            <p:cNvSpPr/>
            <p:nvPr/>
          </p:nvSpPr>
          <p:spPr>
            <a:xfrm>
              <a:off x="3168" y="158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3360" y="158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9"/>
            <p:cNvSpPr/>
            <p:nvPr/>
          </p:nvSpPr>
          <p:spPr>
            <a:xfrm>
              <a:off x="3168" y="177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9"/>
            <p:cNvSpPr/>
            <p:nvPr/>
          </p:nvSpPr>
          <p:spPr>
            <a:xfrm>
              <a:off x="3360" y="1776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9"/>
            <p:cNvSpPr/>
            <p:nvPr/>
          </p:nvSpPr>
          <p:spPr>
            <a:xfrm>
              <a:off x="3552" y="1584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9"/>
            <p:cNvSpPr/>
            <p:nvPr/>
          </p:nvSpPr>
          <p:spPr>
            <a:xfrm>
              <a:off x="3744" y="1584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9"/>
            <p:cNvSpPr/>
            <p:nvPr/>
          </p:nvSpPr>
          <p:spPr>
            <a:xfrm>
              <a:off x="3552" y="177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3744" y="177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9"/>
            <p:cNvSpPr/>
            <p:nvPr/>
          </p:nvSpPr>
          <p:spPr>
            <a:xfrm>
              <a:off x="3168" y="196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9"/>
            <p:cNvSpPr/>
            <p:nvPr/>
          </p:nvSpPr>
          <p:spPr>
            <a:xfrm>
              <a:off x="3360" y="196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9"/>
            <p:cNvSpPr/>
            <p:nvPr/>
          </p:nvSpPr>
          <p:spPr>
            <a:xfrm>
              <a:off x="3168" y="2160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3360" y="2160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9"/>
            <p:cNvSpPr/>
            <p:nvPr/>
          </p:nvSpPr>
          <p:spPr>
            <a:xfrm>
              <a:off x="3552" y="196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9"/>
            <p:cNvSpPr/>
            <p:nvPr/>
          </p:nvSpPr>
          <p:spPr>
            <a:xfrm>
              <a:off x="3744" y="196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9"/>
            <p:cNvSpPr/>
            <p:nvPr/>
          </p:nvSpPr>
          <p:spPr>
            <a:xfrm>
              <a:off x="3552" y="2160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9"/>
            <p:cNvSpPr/>
            <p:nvPr/>
          </p:nvSpPr>
          <p:spPr>
            <a:xfrm>
              <a:off x="3744" y="2160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9"/>
            <p:cNvSpPr/>
            <p:nvPr/>
          </p:nvSpPr>
          <p:spPr>
            <a:xfrm>
              <a:off x="3936" y="1584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4128" y="158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3936" y="177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4128" y="1776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9"/>
            <p:cNvSpPr/>
            <p:nvPr/>
          </p:nvSpPr>
          <p:spPr>
            <a:xfrm>
              <a:off x="4320" y="158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9"/>
            <p:cNvSpPr/>
            <p:nvPr/>
          </p:nvSpPr>
          <p:spPr>
            <a:xfrm>
              <a:off x="4512" y="158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4320" y="177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4512" y="177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9"/>
            <p:cNvSpPr/>
            <p:nvPr/>
          </p:nvSpPr>
          <p:spPr>
            <a:xfrm>
              <a:off x="3936" y="1968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4128" y="196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9"/>
            <p:cNvSpPr/>
            <p:nvPr/>
          </p:nvSpPr>
          <p:spPr>
            <a:xfrm>
              <a:off x="3936" y="2160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9"/>
            <p:cNvSpPr/>
            <p:nvPr/>
          </p:nvSpPr>
          <p:spPr>
            <a:xfrm>
              <a:off x="4128" y="2160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4320" y="196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4512" y="196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4320" y="2160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4512" y="2160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3168" y="2352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3360" y="2352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3168" y="254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3360" y="254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3552" y="2352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3744" y="2352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3552" y="254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3744" y="254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3168" y="273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3360" y="2736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3168" y="292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3360" y="292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3552" y="273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3744" y="273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3552" y="2928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3744" y="2928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3936" y="2352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4128" y="2352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3936" y="254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4128" y="2544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4320" y="2352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4512" y="2352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4320" y="254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4512" y="2544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3936" y="273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4128" y="2736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3936" y="2928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4128" y="292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4320" y="273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4512" y="2736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4320" y="2928"/>
              <a:ext cx="19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4512" y="2928"/>
              <a:ext cx="192" cy="192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txp_fig" id="403" name="Google Shape;4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3" y="1758950"/>
            <a:ext cx="1995487" cy="217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04" name="Google Shape;40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113" y="1752600"/>
            <a:ext cx="1995487" cy="2174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oogle Shape;405;p29"/>
          <p:cNvGrpSpPr/>
          <p:nvPr/>
        </p:nvGrpSpPr>
        <p:grpSpPr>
          <a:xfrm>
            <a:off x="420688" y="2971800"/>
            <a:ext cx="8221662" cy="304800"/>
            <a:chOff x="265" y="1872"/>
            <a:chExt cx="5179" cy="192"/>
          </a:xfrm>
        </p:grpSpPr>
        <p:cxnSp>
          <p:nvCxnSpPr>
            <p:cNvPr id="406" name="Google Shape;406;p29"/>
            <p:cNvCxnSpPr/>
            <p:nvPr/>
          </p:nvCxnSpPr>
          <p:spPr>
            <a:xfrm>
              <a:off x="1680" y="1968"/>
              <a:ext cx="62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" name="Google Shape;407;p29"/>
            <p:cNvSpPr/>
            <p:nvPr/>
          </p:nvSpPr>
          <p:spPr>
            <a:xfrm>
              <a:off x="2304" y="1872"/>
              <a:ext cx="192" cy="192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xp_fig" id="408" name="Google Shape;408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5" y="1920"/>
              <a:ext cx="1278" cy="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" id="409" name="Google Shape;409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66" y="1920"/>
              <a:ext cx="1278" cy="14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0" name="Google Shape;410;p29"/>
            <p:cNvCxnSpPr/>
            <p:nvPr/>
          </p:nvCxnSpPr>
          <p:spPr>
            <a:xfrm>
              <a:off x="2496" y="1968"/>
              <a:ext cx="158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1" name="Google Shape;411;p29"/>
          <p:cNvGrpSpPr/>
          <p:nvPr/>
        </p:nvGrpSpPr>
        <p:grpSpPr>
          <a:xfrm>
            <a:off x="420688" y="3581400"/>
            <a:ext cx="8204200" cy="304800"/>
            <a:chOff x="265" y="2256"/>
            <a:chExt cx="5168" cy="192"/>
          </a:xfrm>
        </p:grpSpPr>
        <p:cxnSp>
          <p:nvCxnSpPr>
            <p:cNvPr id="412" name="Google Shape;412;p29"/>
            <p:cNvCxnSpPr/>
            <p:nvPr/>
          </p:nvCxnSpPr>
          <p:spPr>
            <a:xfrm rot="10800000">
              <a:off x="1680" y="2352"/>
              <a:ext cx="100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3" name="Google Shape;413;p29"/>
            <p:cNvSpPr/>
            <p:nvPr/>
          </p:nvSpPr>
          <p:spPr>
            <a:xfrm>
              <a:off x="2688" y="2256"/>
              <a:ext cx="192" cy="192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xp_fig" id="414" name="Google Shape;414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5" y="2304"/>
              <a:ext cx="1271" cy="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" id="415" name="Google Shape;415;p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155" y="2304"/>
              <a:ext cx="1278" cy="14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6" name="Google Shape;416;p29"/>
            <p:cNvCxnSpPr/>
            <p:nvPr/>
          </p:nvCxnSpPr>
          <p:spPr>
            <a:xfrm rot="10800000">
              <a:off x="2880" y="2352"/>
              <a:ext cx="1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7" name="Google Shape;417;p29"/>
          <p:cNvSpPr txBox="1"/>
          <p:nvPr/>
        </p:nvSpPr>
        <p:spPr>
          <a:xfrm>
            <a:off x="3886200" y="57912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wins!!</a:t>
            </a:r>
            <a:endParaRPr/>
          </a:p>
        </p:txBody>
      </p:sp>
      <p:grpSp>
        <p:nvGrpSpPr>
          <p:cNvPr id="418" name="Google Shape;418;p29"/>
          <p:cNvGrpSpPr/>
          <p:nvPr/>
        </p:nvGrpSpPr>
        <p:grpSpPr>
          <a:xfrm>
            <a:off x="385763" y="4191000"/>
            <a:ext cx="8250237" cy="304800"/>
            <a:chOff x="243" y="2640"/>
            <a:chExt cx="5197" cy="192"/>
          </a:xfrm>
        </p:grpSpPr>
        <p:sp>
          <p:nvSpPr>
            <p:cNvPr id="419" name="Google Shape;419;p29"/>
            <p:cNvSpPr/>
            <p:nvPr/>
          </p:nvSpPr>
          <p:spPr>
            <a:xfrm>
              <a:off x="2496" y="2640"/>
              <a:ext cx="192" cy="192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0" name="Google Shape;420;p29"/>
            <p:cNvCxnSpPr/>
            <p:nvPr/>
          </p:nvCxnSpPr>
          <p:spPr>
            <a:xfrm rot="10800000">
              <a:off x="1680" y="2736"/>
              <a:ext cx="81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txp_fig" id="421" name="Google Shape;421;p2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43" y="2688"/>
              <a:ext cx="1298" cy="14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22" name="Google Shape;422;p29"/>
            <p:cNvCxnSpPr/>
            <p:nvPr/>
          </p:nvCxnSpPr>
          <p:spPr>
            <a:xfrm rot="10800000">
              <a:off x="2688" y="2736"/>
              <a:ext cx="139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txp_fig" id="423" name="Google Shape;423;p2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35" y="2688"/>
              <a:ext cx="1305" cy="1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4" name="Google Shape;424;p29"/>
          <p:cNvGrpSpPr/>
          <p:nvPr/>
        </p:nvGrpSpPr>
        <p:grpSpPr>
          <a:xfrm>
            <a:off x="325438" y="4800600"/>
            <a:ext cx="8286750" cy="304800"/>
            <a:chOff x="205" y="3024"/>
            <a:chExt cx="5220" cy="192"/>
          </a:xfrm>
        </p:grpSpPr>
        <p:sp>
          <p:nvSpPr>
            <p:cNvPr id="425" name="Google Shape;425;p29"/>
            <p:cNvSpPr/>
            <p:nvPr/>
          </p:nvSpPr>
          <p:spPr>
            <a:xfrm>
              <a:off x="3456" y="3024"/>
              <a:ext cx="192" cy="192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6" name="Google Shape;426;p29"/>
            <p:cNvCxnSpPr/>
            <p:nvPr/>
          </p:nvCxnSpPr>
          <p:spPr>
            <a:xfrm rot="10800000">
              <a:off x="1680" y="3120"/>
              <a:ext cx="177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txp_fig" id="427" name="Google Shape;427;p2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05" y="3072"/>
              <a:ext cx="1367" cy="14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28" name="Google Shape;428;p29"/>
            <p:cNvCxnSpPr/>
            <p:nvPr/>
          </p:nvCxnSpPr>
          <p:spPr>
            <a:xfrm rot="10800000">
              <a:off x="3648" y="3120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txp_fig" id="429" name="Google Shape;429;p2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147" y="3072"/>
              <a:ext cx="1278" cy="1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txp_fig" id="430" name="Google Shape;430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5313" y="2362200"/>
            <a:ext cx="1690687" cy="217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31" name="Google Shape;431;p2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781800" y="2297113"/>
            <a:ext cx="1690688" cy="21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915400" y="1800531"/>
            <a:ext cx="3057525" cy="4571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Laplace Smoothing</a:t>
            </a:r>
            <a:endParaRPr/>
          </a:p>
        </p:txBody>
      </p:sp>
      <p:sp>
        <p:nvSpPr>
          <p:cNvPr id="439" name="Google Shape;439;p30"/>
          <p:cNvSpPr txBox="1"/>
          <p:nvPr>
            <p:ph idx="1" type="body"/>
          </p:nvPr>
        </p:nvSpPr>
        <p:spPr>
          <a:xfrm>
            <a:off x="457200" y="1600200"/>
            <a:ext cx="4724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Laplace’s estimate:</a:t>
            </a:r>
            <a:endParaRPr/>
          </a:p>
          <a:p>
            <a:pPr indent="-285737" lvl="1" marL="742913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Pretend you saw every outcome once more than you actually did</a:t>
            </a:r>
            <a:endParaRPr/>
          </a:p>
          <a:p>
            <a:pPr indent="-158737" lvl="1" marL="74291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440" name="Google Shape;4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6338" y="4116389"/>
            <a:ext cx="1643063" cy="760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41" name="Google Shape;44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3294065"/>
            <a:ext cx="2690813" cy="668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42" name="Google Shape;44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7725" y="4437065"/>
            <a:ext cx="2813051" cy="668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43" name="Google Shape;44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4738" y="3049589"/>
            <a:ext cx="3649663" cy="76041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0"/>
          <p:cNvSpPr/>
          <p:nvPr/>
        </p:nvSpPr>
        <p:spPr>
          <a:xfrm>
            <a:off x="7696200" y="3200400"/>
            <a:ext cx="11430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0"/>
          <p:cNvSpPr/>
          <p:nvPr/>
        </p:nvSpPr>
        <p:spPr>
          <a:xfrm>
            <a:off x="7696200" y="4267200"/>
            <a:ext cx="11430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6" name="Google Shape;446;p30"/>
          <p:cNvGrpSpPr/>
          <p:nvPr/>
        </p:nvGrpSpPr>
        <p:grpSpPr>
          <a:xfrm>
            <a:off x="6629400" y="1905000"/>
            <a:ext cx="2606040" cy="685800"/>
            <a:chOff x="6629400" y="1905000"/>
            <a:chExt cx="1447800" cy="381000"/>
          </a:xfrm>
        </p:grpSpPr>
        <p:sp>
          <p:nvSpPr>
            <p:cNvPr id="447" name="Google Shape;447;p30"/>
            <p:cNvSpPr/>
            <p:nvPr/>
          </p:nvSpPr>
          <p:spPr>
            <a:xfrm>
              <a:off x="6629400" y="1905000"/>
              <a:ext cx="381000" cy="381000"/>
            </a:xfrm>
            <a:prstGeom prst="ellipse">
              <a:avLst/>
            </a:prstGeom>
            <a:solidFill>
              <a:srgbClr val="FF99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7162800" y="1905000"/>
              <a:ext cx="381000" cy="381000"/>
            </a:xfrm>
            <a:prstGeom prst="ellipse">
              <a:avLst/>
            </a:prstGeom>
            <a:solidFill>
              <a:srgbClr val="FF99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7696200" y="1905000"/>
              <a:ext cx="381000" cy="381000"/>
            </a:xfrm>
            <a:prstGeom prst="ellipse">
              <a:avLst/>
            </a:prstGeom>
            <a:solidFill>
              <a:srgbClr val="99CC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Laplace Smoothing</a:t>
            </a:r>
            <a:endParaRPr/>
          </a:p>
        </p:txBody>
      </p:sp>
      <p:sp>
        <p:nvSpPr>
          <p:cNvPr id="455" name="Google Shape;455;p31"/>
          <p:cNvSpPr txBox="1"/>
          <p:nvPr>
            <p:ph idx="1" type="body"/>
          </p:nvPr>
        </p:nvSpPr>
        <p:spPr>
          <a:xfrm>
            <a:off x="838200" y="1447800"/>
            <a:ext cx="57912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Laplace’s estimate (extended):</a:t>
            </a:r>
            <a:endParaRPr/>
          </a:p>
          <a:p>
            <a:pPr indent="-285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Pretend you saw every outcome k extra times</a:t>
            </a:r>
            <a:endParaRPr/>
          </a:p>
          <a:p>
            <a:pPr indent="-158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What’s Laplace with k = 0?</a:t>
            </a:r>
            <a:endParaRPr/>
          </a:p>
          <a:p>
            <a:pPr indent="-285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k is the </a:t>
            </a: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of the prior</a:t>
            </a:r>
            <a:endParaRPr/>
          </a:p>
          <a:p>
            <a:pPr indent="-158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Laplace for conditionals:</a:t>
            </a:r>
            <a:endParaRPr/>
          </a:p>
          <a:p>
            <a:pPr indent="-285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Smooth each condition independently:</a:t>
            </a:r>
            <a:endParaRPr/>
          </a:p>
          <a:p>
            <a:pPr indent="-158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7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456" name="Google Shape;45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2" y="3962401"/>
            <a:ext cx="2670175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57" name="Google Shape;45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1" y="4876801"/>
            <a:ext cx="3617913" cy="595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58" name="Google Shape;45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3802" y="3103563"/>
            <a:ext cx="2670175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59" name="Google Shape;45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89114" y="5570538"/>
            <a:ext cx="3468687" cy="677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60" name="Google Shape;460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2" y="2667000"/>
            <a:ext cx="2760663" cy="633413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1"/>
          <p:cNvSpPr/>
          <p:nvPr/>
        </p:nvSpPr>
        <p:spPr>
          <a:xfrm>
            <a:off x="9372600" y="2895600"/>
            <a:ext cx="11430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1"/>
          <p:cNvSpPr/>
          <p:nvPr/>
        </p:nvSpPr>
        <p:spPr>
          <a:xfrm>
            <a:off x="9372600" y="3733800"/>
            <a:ext cx="11430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1"/>
          <p:cNvSpPr/>
          <p:nvPr/>
        </p:nvSpPr>
        <p:spPr>
          <a:xfrm>
            <a:off x="9296400" y="4724400"/>
            <a:ext cx="16764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31"/>
          <p:cNvGrpSpPr/>
          <p:nvPr/>
        </p:nvGrpSpPr>
        <p:grpSpPr>
          <a:xfrm>
            <a:off x="7620000" y="1828800"/>
            <a:ext cx="2606040" cy="685800"/>
            <a:chOff x="6629400" y="1905000"/>
            <a:chExt cx="1447800" cy="381000"/>
          </a:xfrm>
        </p:grpSpPr>
        <p:sp>
          <p:nvSpPr>
            <p:cNvPr id="465" name="Google Shape;465;p31"/>
            <p:cNvSpPr/>
            <p:nvPr/>
          </p:nvSpPr>
          <p:spPr>
            <a:xfrm>
              <a:off x="6629400" y="1905000"/>
              <a:ext cx="381000" cy="381000"/>
            </a:xfrm>
            <a:prstGeom prst="ellipse">
              <a:avLst/>
            </a:prstGeom>
            <a:solidFill>
              <a:srgbClr val="FF99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466" name="Google Shape;466;p31"/>
            <p:cNvSpPr/>
            <p:nvPr/>
          </p:nvSpPr>
          <p:spPr>
            <a:xfrm>
              <a:off x="7162800" y="1905000"/>
              <a:ext cx="381000" cy="381000"/>
            </a:xfrm>
            <a:prstGeom prst="ellipse">
              <a:avLst/>
            </a:prstGeom>
            <a:solidFill>
              <a:srgbClr val="FF99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7696200" y="1905000"/>
              <a:ext cx="381000" cy="381000"/>
            </a:xfrm>
            <a:prstGeom prst="ellipse">
              <a:avLst/>
            </a:prstGeom>
            <a:solidFill>
              <a:srgbClr val="99CC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2"/>
          <p:cNvSpPr txBox="1"/>
          <p:nvPr>
            <p:ph type="title"/>
          </p:nvPr>
        </p:nvSpPr>
        <p:spPr>
          <a:xfrm>
            <a:off x="3962400" y="-25400"/>
            <a:ext cx="426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A screenshot of a cell phone&#10;&#10;Description automatically generated" id="473" name="Google Shape;473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" y="1447800"/>
            <a:ext cx="5410200" cy="389589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2"/>
          <p:cNvSpPr txBox="1"/>
          <p:nvPr/>
        </p:nvSpPr>
        <p:spPr>
          <a:xfrm>
            <a:off x="0" y="725269"/>
            <a:ext cx="97556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Today is Sunny, Hot, Humidity Normal and No wind. What is probability of playing golf?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Assume k=2 for laplace smoothing.</a:t>
            </a:r>
            <a:endParaRPr/>
          </a:p>
        </p:txBody>
      </p:sp>
      <p:sp>
        <p:nvSpPr>
          <p:cNvPr id="475" name="Google Shape;475;p32"/>
          <p:cNvSpPr/>
          <p:nvPr/>
        </p:nvSpPr>
        <p:spPr>
          <a:xfrm>
            <a:off x="10673927" y="127000"/>
            <a:ext cx="533400" cy="533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476" name="Google Shape;476;p32"/>
          <p:cNvSpPr/>
          <p:nvPr/>
        </p:nvSpPr>
        <p:spPr>
          <a:xfrm>
            <a:off x="9759527" y="1574800"/>
            <a:ext cx="533400" cy="533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477" name="Google Shape;477;p32"/>
          <p:cNvSpPr/>
          <p:nvPr/>
        </p:nvSpPr>
        <p:spPr>
          <a:xfrm>
            <a:off x="11588327" y="1574800"/>
            <a:ext cx="533400" cy="533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cxnSp>
        <p:nvCxnSpPr>
          <p:cNvPr id="478" name="Google Shape;478;p32"/>
          <p:cNvCxnSpPr>
            <a:stCxn id="475" idx="4"/>
            <a:endCxn id="477" idx="0"/>
          </p:cNvCxnSpPr>
          <p:nvPr/>
        </p:nvCxnSpPr>
        <p:spPr>
          <a:xfrm>
            <a:off x="10940627" y="660400"/>
            <a:ext cx="9144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32"/>
          <p:cNvCxnSpPr>
            <a:stCxn id="475" idx="4"/>
            <a:endCxn id="476" idx="0"/>
          </p:cNvCxnSpPr>
          <p:nvPr/>
        </p:nvCxnSpPr>
        <p:spPr>
          <a:xfrm flipH="1">
            <a:off x="10026227" y="660400"/>
            <a:ext cx="9144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" name="Google Shape;480;p32"/>
          <p:cNvSpPr/>
          <p:nvPr/>
        </p:nvSpPr>
        <p:spPr>
          <a:xfrm>
            <a:off x="10445327" y="1574800"/>
            <a:ext cx="533400" cy="533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cxnSp>
        <p:nvCxnSpPr>
          <p:cNvPr id="481" name="Google Shape;481;p32"/>
          <p:cNvCxnSpPr>
            <a:stCxn id="475" idx="4"/>
            <a:endCxn id="480" idx="0"/>
          </p:cNvCxnSpPr>
          <p:nvPr/>
        </p:nvCxnSpPr>
        <p:spPr>
          <a:xfrm flipH="1">
            <a:off x="10712027" y="660400"/>
            <a:ext cx="2286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" name="Google Shape;482;p32"/>
          <p:cNvSpPr/>
          <p:nvPr/>
        </p:nvSpPr>
        <p:spPr>
          <a:xfrm>
            <a:off x="11016827" y="1574800"/>
            <a:ext cx="533400" cy="533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cxnSp>
        <p:nvCxnSpPr>
          <p:cNvPr id="483" name="Google Shape;483;p32"/>
          <p:cNvCxnSpPr>
            <a:stCxn id="475" idx="4"/>
            <a:endCxn id="482" idx="0"/>
          </p:cNvCxnSpPr>
          <p:nvPr/>
        </p:nvCxnSpPr>
        <p:spPr>
          <a:xfrm>
            <a:off x="10940627" y="660400"/>
            <a:ext cx="3429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4" name="Google Shape;484;p32"/>
          <p:cNvSpPr txBox="1"/>
          <p:nvPr/>
        </p:nvSpPr>
        <p:spPr>
          <a:xfrm>
            <a:off x="5225484" y="1538111"/>
            <a:ext cx="5442516" cy="48762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96" r="-223" t="-62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5" name="Google Shape;485;p32"/>
          <p:cNvSpPr txBox="1"/>
          <p:nvPr/>
        </p:nvSpPr>
        <p:spPr>
          <a:xfrm>
            <a:off x="-20098" y="5326398"/>
            <a:ext cx="3617465" cy="97033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145" l="-185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6" name="Google Shape;486;p32"/>
          <p:cNvSpPr/>
          <p:nvPr/>
        </p:nvSpPr>
        <p:spPr>
          <a:xfrm>
            <a:off x="4060542" y="1528608"/>
            <a:ext cx="1186884" cy="377160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2893215" y="1550348"/>
            <a:ext cx="1186884" cy="377160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47303" y="2339247"/>
            <a:ext cx="5130878" cy="750468"/>
          </a:xfrm>
          <a:prstGeom prst="rect">
            <a:avLst/>
          </a:prstGeom>
          <a:noFill/>
          <a:ln cap="flat" cmpd="sng" w="38100">
            <a:solidFill>
              <a:srgbClr val="333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47303" y="3793585"/>
            <a:ext cx="5130878" cy="1201130"/>
          </a:xfrm>
          <a:prstGeom prst="rect">
            <a:avLst/>
          </a:prstGeom>
          <a:noFill/>
          <a:ln cap="flat" cmpd="sng" w="38100">
            <a:solidFill>
              <a:srgbClr val="333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2"/>
          <p:cNvSpPr/>
          <p:nvPr/>
        </p:nvSpPr>
        <p:spPr>
          <a:xfrm>
            <a:off x="152400" y="3307320"/>
            <a:ext cx="5130878" cy="257665"/>
          </a:xfrm>
          <a:prstGeom prst="rect">
            <a:avLst/>
          </a:prstGeom>
          <a:noFill/>
          <a:ln cap="flat" cmpd="sng" w="38100">
            <a:solidFill>
              <a:srgbClr val="333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2"/>
          <p:cNvSpPr txBox="1"/>
          <p:nvPr/>
        </p:nvSpPr>
        <p:spPr>
          <a:xfrm>
            <a:off x="2539551" y="5307652"/>
            <a:ext cx="2239716" cy="90197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676" l="-245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2" name="Google Shape;492;p32"/>
          <p:cNvSpPr txBox="1"/>
          <p:nvPr/>
        </p:nvSpPr>
        <p:spPr>
          <a:xfrm>
            <a:off x="1183306" y="6047565"/>
            <a:ext cx="2688557" cy="87895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471" l="-181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3" name="Google Shape;493;p32"/>
          <p:cNvSpPr txBox="1"/>
          <p:nvPr/>
        </p:nvSpPr>
        <p:spPr>
          <a:xfrm>
            <a:off x="7245739" y="5727905"/>
            <a:ext cx="2406428" cy="87895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471" l="-228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4" name="Google Shape;494;p32"/>
          <p:cNvSpPr txBox="1"/>
          <p:nvPr/>
        </p:nvSpPr>
        <p:spPr>
          <a:xfrm>
            <a:off x="4721975" y="5727905"/>
            <a:ext cx="2598788" cy="116012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-211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descr="txp_fig" id="495" name="Google Shape;495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09682" y="4822390"/>
            <a:ext cx="2760663" cy="633413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96" name="Google Shape;496;p32"/>
          <p:cNvSpPr txBox="1"/>
          <p:nvPr/>
        </p:nvSpPr>
        <p:spPr>
          <a:xfrm>
            <a:off x="4324346" y="1194366"/>
            <a:ext cx="729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|X|=2</a:t>
            </a:r>
            <a:endParaRPr/>
          </a:p>
        </p:txBody>
      </p:sp>
      <p:sp>
        <p:nvSpPr>
          <p:cNvPr id="497" name="Google Shape;497;p32"/>
          <p:cNvSpPr txBox="1"/>
          <p:nvPr/>
        </p:nvSpPr>
        <p:spPr>
          <a:xfrm>
            <a:off x="183244" y="1241044"/>
            <a:ext cx="729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|X|=3</a:t>
            </a:r>
            <a:endParaRPr/>
          </a:p>
        </p:txBody>
      </p:sp>
      <p:sp>
        <p:nvSpPr>
          <p:cNvPr id="498" name="Google Shape;498;p32"/>
          <p:cNvSpPr txBox="1"/>
          <p:nvPr/>
        </p:nvSpPr>
        <p:spPr>
          <a:xfrm>
            <a:off x="1134551" y="1241044"/>
            <a:ext cx="729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|X|=3</a:t>
            </a:r>
            <a:endParaRPr/>
          </a:p>
        </p:txBody>
      </p:sp>
      <p:sp>
        <p:nvSpPr>
          <p:cNvPr id="499" name="Google Shape;499;p32"/>
          <p:cNvSpPr txBox="1"/>
          <p:nvPr/>
        </p:nvSpPr>
        <p:spPr>
          <a:xfrm>
            <a:off x="2085858" y="1241044"/>
            <a:ext cx="729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|X|=2</a:t>
            </a:r>
            <a:endParaRPr/>
          </a:p>
        </p:txBody>
      </p:sp>
      <p:sp>
        <p:nvSpPr>
          <p:cNvPr id="500" name="Google Shape;500;p32"/>
          <p:cNvSpPr txBox="1"/>
          <p:nvPr/>
        </p:nvSpPr>
        <p:spPr>
          <a:xfrm>
            <a:off x="3037165" y="1241044"/>
            <a:ext cx="729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|X|=2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pic>
        <p:nvPicPr>
          <p:cNvPr id="506" name="Google Shape;5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9684"/>
            <a:ext cx="6935168" cy="5334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07" name="Google Shape;50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032" y="0"/>
            <a:ext cx="2760663" cy="633413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txp_fig" id="508" name="Google Shape;50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0281" y="36095"/>
            <a:ext cx="3468687" cy="677863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pic>
        <p:nvPicPr>
          <p:cNvPr id="514" name="Google Shape;5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9684"/>
            <a:ext cx="6935168" cy="5334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15" name="Google Shape;51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032" y="0"/>
            <a:ext cx="2760663" cy="633413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txp_fig" id="516" name="Google Shape;51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0281" y="36095"/>
            <a:ext cx="3468687" cy="677863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17" name="Google Shape;517;p34"/>
          <p:cNvSpPr txBox="1"/>
          <p:nvPr/>
        </p:nvSpPr>
        <p:spPr>
          <a:xfrm>
            <a:off x="6858000" y="1165726"/>
            <a:ext cx="5323958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P(F,14, short, high, high) = P(F)P(14|F) P(short|F)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             P( Sp = high | F) P(St = high | F)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P(F=y) = 6/12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P(F=n) = 6/12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P(14| yes) = 3/8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P(14| no ) = 3/8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P(short | yes ) = 1/8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 (short | no) = 4/8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 (Sp = high | yes) = 4/7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 (Sp = high | no) = 3/7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 (St = high | yes) = 5/7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 (St = high | no) = 2/7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pic>
        <p:nvPicPr>
          <p:cNvPr id="523" name="Google Shape;52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9684"/>
            <a:ext cx="6935168" cy="5334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24" name="Google Shape;52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032" y="0"/>
            <a:ext cx="2760663" cy="633413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txp_fig" id="525" name="Google Shape;52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0281" y="36095"/>
            <a:ext cx="3468687" cy="677863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26" name="Google Shape;526;p35"/>
          <p:cNvSpPr txBox="1"/>
          <p:nvPr/>
        </p:nvSpPr>
        <p:spPr>
          <a:xfrm>
            <a:off x="6858000" y="1165726"/>
            <a:ext cx="5334000" cy="6924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P(F,14, short, high, high) = P(F)P(14|F) P(short|F)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P( Sp = high | F) P(St = high | F)</a:t>
            </a:r>
            <a:endParaRPr sz="16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P(F=y) = 6/12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P(F=n) = 6/12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P(14| yes) = 3/8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P(14| no ) = 3/8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P(short | yes ) = 1/8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 (short | no) = 4/8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 (Sp = high | yes) = 4/7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 (Sp = high | no) = 3/7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 (St = high | yes) = 5/7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 (St = high | no) = 2/7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CC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P(yes,14, short, high, high)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= P(yes)P(14|yes) P(short|yes) P( Sp = high | yes) P(St = high | yes)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= 6/12 * 3/8 * 1/8 * 4/7 * 5/7 = 15/(32*49) = 0.0096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CC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P(no, 14, short, high, high)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= 6/12 * 3/8 * 4/8 * 3/7 * 2/7 = 9 / (16 * 49) = 0.0115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pic>
        <p:nvPicPr>
          <p:cNvPr id="532" name="Google Shape;53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9684"/>
            <a:ext cx="6935168" cy="5334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33" name="Google Shape;53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032" y="0"/>
            <a:ext cx="2760663" cy="633413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txp_fig" id="534" name="Google Shape;53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0281" y="36095"/>
            <a:ext cx="3468687" cy="677863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35" name="Google Shape;535;p36"/>
          <p:cNvSpPr txBox="1"/>
          <p:nvPr/>
        </p:nvSpPr>
        <p:spPr>
          <a:xfrm>
            <a:off x="6858000" y="1149684"/>
            <a:ext cx="5334000" cy="804996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570" r="0" t="-22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2004-08-27T04:16:05Z</dcterms:created>
  <dc:creator>Preferred Customer</dc:creator>
</cp:coreProperties>
</file>