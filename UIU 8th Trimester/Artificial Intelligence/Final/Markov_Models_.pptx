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tAc7XgvJEsCT91ddMagICRGL6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19367C-773B-456D-AD19-03E5D1EB7F5F}">
  <a:tblStyle styleId="{5919367C-773B-456D-AD19-03E5D1EB7F5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7E7E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E7E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C2552FC8-2E4C-475B-962A-508FA6BD930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a4c0c1e2d_0_519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ea4c0c1e2d_0_519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ea4c0c1e2d_0_519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a4c0c1e2d_0_530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ea4c0c1e2d_0_530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ea4c0c1e2d_0_530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a4c0c1e2d_0_560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a4c0c1e2d_0_560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ea4c0c1e2d_0_560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a4c0c1e2d_0_596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a4c0c1e2d_0_596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ea4c0c1e2d_0_596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a4c0c1e2d_0_628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ea4c0c1e2d_0_628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ea4c0c1e2d_0_628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a4c0c1e2d_0_654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ea4c0c1e2d_0_654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ea4c0c1e2d_0_654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a4c0c1e2d_0_89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ea4c0c1e2d_0_89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a4c0c1e2d_0_927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ea4c0c1e2d_0_92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a4c0c1e2d_0_944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ea4c0c1e2d_0_94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a4c0c1e2d_0_692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ea4c0c1e2d_0_692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ea4c0c1e2d_0_692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a4c0c1e2d_0_675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ea4c0c1e2d_0_675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ea4c0c1e2d_0_675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a4c0c1e2d_0_725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ea4c0c1e2d_0_725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g3ea4c0c1e2d_0_725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a4c0c1e2d_0_749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a4c0c1e2d_0_749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ea4c0c1e2d_0_749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a4c0c1e2d_0_818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ea4c0c1e2d_0_818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g3ea4c0c1e2d_0_818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a4c0c1e2d_0_854:notes"/>
          <p:cNvSpPr/>
          <p:nvPr>
            <p:ph idx="2" type="sldImg"/>
          </p:nvPr>
        </p:nvSpPr>
        <p:spPr>
          <a:xfrm>
            <a:off x="975360" y="1200150"/>
            <a:ext cx="7803000" cy="324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ea4c0c1e2d_0_854:notes"/>
          <p:cNvSpPr txBox="1"/>
          <p:nvPr>
            <p:ph idx="1" type="body"/>
          </p:nvPr>
        </p:nvSpPr>
        <p:spPr>
          <a:xfrm>
            <a:off x="975360" y="4620578"/>
            <a:ext cx="7803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9325" lIns="118675" spcFirstLastPara="1" rIns="118675" wrap="square" tIns="5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ea4c0c1e2d_0_854:notes"/>
          <p:cNvSpPr txBox="1"/>
          <p:nvPr>
            <p:ph idx="12" type="sldNum"/>
          </p:nvPr>
        </p:nvSpPr>
        <p:spPr>
          <a:xfrm>
            <a:off x="5524783" y="9119474"/>
            <a:ext cx="4226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59325" lIns="118675" spcFirstLastPara="1" rIns="118675" wrap="square" tIns="59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a4c0c1e2d_0_0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492" name="Google Shape;492;g3ea4c0c1e2d_0_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a4c0c1e2d_0_5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g3ea4c0c1e2d_0_5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a4c0c1e2d_0_1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g3ea4c0c1e2d_0_10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a4c0c1e2d_0_15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g3ea4c0c1e2d_0_15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a4c0c1e2d_0_2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ea4c0c1e2d_0_20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a4c0c1e2d_0_25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ea4c0c1e2d_0_25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a4c0c1e2d_0_3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g3ea4c0c1e2d_0_30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a4c0c1e2d_0_35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g3ea4c0c1e2d_0_35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a4c0c1e2d_0_4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g3ea4c0c1e2d_0_40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a4c0c1e2d_0_45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ea4c0c1e2d_0_45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a4c0c1e2d_0_5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g3ea4c0c1e2d_0_50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ea4c0c1e2d_0_56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ea4c0c1e2d_0_56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ea4c0c1e2d_0_62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ea4c0c1e2d_0_62:notes"/>
          <p:cNvSpPr/>
          <p:nvPr>
            <p:ph idx="2" type="sldImg"/>
          </p:nvPr>
        </p:nvSpPr>
        <p:spPr>
          <a:xfrm>
            <a:off x="406587" y="720090"/>
            <a:ext cx="6502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2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1" name="Google Shape;51;p22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2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24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6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12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4c0c1e2d_0_519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ea4c0c1e2d_0_519"/>
          <p:cNvSpPr/>
          <p:nvPr/>
        </p:nvSpPr>
        <p:spPr>
          <a:xfrm>
            <a:off x="9144000" y="-609600"/>
            <a:ext cx="4267200" cy="4267200"/>
          </a:xfrm>
          <a:prstGeom prst="ellipse">
            <a:avLst/>
          </a:prstGeom>
          <a:solidFill>
            <a:srgbClr val="FFFFFF">
              <a:alpha val="7843"/>
            </a:srgbClr>
          </a:solidFill>
          <a:ln cap="flat" cmpd="sng" w="16925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ea4c0c1e2d_0_519"/>
          <p:cNvSpPr/>
          <p:nvPr/>
        </p:nvSpPr>
        <p:spPr>
          <a:xfrm>
            <a:off x="9997440" y="3413760"/>
            <a:ext cx="2682300" cy="268230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6925">
            <a:solidFill>
              <a:srgbClr val="0D948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ea4c0c1e2d_0_519"/>
          <p:cNvSpPr/>
          <p:nvPr/>
        </p:nvSpPr>
        <p:spPr>
          <a:xfrm>
            <a:off x="731520" y="1463040"/>
            <a:ext cx="10363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Markov Models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a4c0c1e2d_0_519"/>
          <p:cNvSpPr/>
          <p:nvPr/>
        </p:nvSpPr>
        <p:spPr>
          <a:xfrm>
            <a:off x="731520" y="3048000"/>
            <a:ext cx="9753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900"/>
              <a:buFont typeface="Calibri"/>
              <a:buNone/>
            </a:pPr>
            <a:r>
              <a:rPr b="0" i="1" lang="en-US" sz="2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Understanding Reasoning Over Time &amp; Space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a4c0c1e2d_0_53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ea4c0c1e2d_0_530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Will Cover Today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a4c0c1e2d_0_530"/>
          <p:cNvSpPr/>
          <p:nvPr/>
        </p:nvSpPr>
        <p:spPr>
          <a:xfrm>
            <a:off x="609600" y="1584960"/>
            <a:ext cx="54864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a4c0c1e2d_0_530"/>
          <p:cNvSpPr/>
          <p:nvPr/>
        </p:nvSpPr>
        <p:spPr>
          <a:xfrm>
            <a:off x="609600" y="1584960"/>
            <a:ext cx="670500" cy="12192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ea4c0c1e2d_0_530"/>
          <p:cNvSpPr/>
          <p:nvPr/>
        </p:nvSpPr>
        <p:spPr>
          <a:xfrm>
            <a:off x="633984" y="1926336"/>
            <a:ext cx="67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a4c0c1e2d_0_530"/>
          <p:cNvSpPr/>
          <p:nvPr/>
        </p:nvSpPr>
        <p:spPr>
          <a:xfrm>
            <a:off x="1402080" y="188976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Reasoning Over Time &amp; Space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a4c0c1e2d_0_530"/>
          <p:cNvSpPr/>
          <p:nvPr/>
        </p:nvSpPr>
        <p:spPr>
          <a:xfrm>
            <a:off x="609600" y="3169920"/>
            <a:ext cx="54864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ea4c0c1e2d_0_530"/>
          <p:cNvSpPr/>
          <p:nvPr/>
        </p:nvSpPr>
        <p:spPr>
          <a:xfrm>
            <a:off x="609600" y="3169920"/>
            <a:ext cx="670500" cy="12192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ea4c0c1e2d_0_530"/>
          <p:cNvSpPr/>
          <p:nvPr/>
        </p:nvSpPr>
        <p:spPr>
          <a:xfrm>
            <a:off x="633984" y="3511296"/>
            <a:ext cx="67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a4c0c1e2d_0_530"/>
          <p:cNvSpPr/>
          <p:nvPr/>
        </p:nvSpPr>
        <p:spPr>
          <a:xfrm>
            <a:off x="1402080" y="347472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Markov Model Introduction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a4c0c1e2d_0_530"/>
          <p:cNvSpPr/>
          <p:nvPr/>
        </p:nvSpPr>
        <p:spPr>
          <a:xfrm>
            <a:off x="609600" y="4754880"/>
            <a:ext cx="54864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ea4c0c1e2d_0_530"/>
          <p:cNvSpPr/>
          <p:nvPr/>
        </p:nvSpPr>
        <p:spPr>
          <a:xfrm>
            <a:off x="609600" y="4754880"/>
            <a:ext cx="670500" cy="1219200"/>
          </a:xfrm>
          <a:prstGeom prst="rect">
            <a:avLst/>
          </a:prstGeom>
          <a:solidFill>
            <a:srgbClr val="8B5CF6"/>
          </a:solidFill>
          <a:ln cap="flat" cmpd="sng" w="169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ea4c0c1e2d_0_530"/>
          <p:cNvSpPr/>
          <p:nvPr/>
        </p:nvSpPr>
        <p:spPr>
          <a:xfrm>
            <a:off x="633984" y="5096256"/>
            <a:ext cx="67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a4c0c1e2d_0_530"/>
          <p:cNvSpPr/>
          <p:nvPr/>
        </p:nvSpPr>
        <p:spPr>
          <a:xfrm>
            <a:off x="1402080" y="505968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Joint Distribution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a4c0c1e2d_0_530"/>
          <p:cNvSpPr/>
          <p:nvPr/>
        </p:nvSpPr>
        <p:spPr>
          <a:xfrm>
            <a:off x="6461760" y="1584960"/>
            <a:ext cx="54864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ea4c0c1e2d_0_530"/>
          <p:cNvSpPr/>
          <p:nvPr/>
        </p:nvSpPr>
        <p:spPr>
          <a:xfrm>
            <a:off x="6461760" y="1584960"/>
            <a:ext cx="670500" cy="1219200"/>
          </a:xfrm>
          <a:prstGeom prst="rect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ea4c0c1e2d_0_530"/>
          <p:cNvSpPr/>
          <p:nvPr/>
        </p:nvSpPr>
        <p:spPr>
          <a:xfrm>
            <a:off x="6486144" y="1926336"/>
            <a:ext cx="67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a4c0c1e2d_0_530"/>
          <p:cNvSpPr/>
          <p:nvPr/>
        </p:nvSpPr>
        <p:spPr>
          <a:xfrm>
            <a:off x="7254240" y="188976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Chain Rule &amp; Markov Models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a4c0c1e2d_0_530"/>
          <p:cNvSpPr/>
          <p:nvPr/>
        </p:nvSpPr>
        <p:spPr>
          <a:xfrm>
            <a:off x="6461760" y="3169920"/>
            <a:ext cx="54864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ea4c0c1e2d_0_530"/>
          <p:cNvSpPr/>
          <p:nvPr/>
        </p:nvSpPr>
        <p:spPr>
          <a:xfrm>
            <a:off x="6461760" y="3169920"/>
            <a:ext cx="670500" cy="1219200"/>
          </a:xfrm>
          <a:prstGeom prst="rect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ea4c0c1e2d_0_530"/>
          <p:cNvSpPr/>
          <p:nvPr/>
        </p:nvSpPr>
        <p:spPr>
          <a:xfrm>
            <a:off x="6486144" y="3511296"/>
            <a:ext cx="67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a4c0c1e2d_0_530"/>
          <p:cNvSpPr/>
          <p:nvPr/>
        </p:nvSpPr>
        <p:spPr>
          <a:xfrm>
            <a:off x="7254240" y="347472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Weather Chain Example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a4c0c1e2d_0_530"/>
          <p:cNvSpPr/>
          <p:nvPr/>
        </p:nvSpPr>
        <p:spPr>
          <a:xfrm>
            <a:off x="6461760" y="4754880"/>
            <a:ext cx="54864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ea4c0c1e2d_0_530"/>
          <p:cNvSpPr/>
          <p:nvPr/>
        </p:nvSpPr>
        <p:spPr>
          <a:xfrm>
            <a:off x="6461760" y="4754880"/>
            <a:ext cx="670500" cy="1219200"/>
          </a:xfrm>
          <a:prstGeom prst="rect">
            <a:avLst/>
          </a:prstGeom>
          <a:solidFill>
            <a:srgbClr val="10B981"/>
          </a:solidFill>
          <a:ln cap="flat" cmpd="sng" w="169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ea4c0c1e2d_0_530"/>
          <p:cNvSpPr/>
          <p:nvPr/>
        </p:nvSpPr>
        <p:spPr>
          <a:xfrm>
            <a:off x="6486144" y="5096256"/>
            <a:ext cx="67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a4c0c1e2d_0_530"/>
          <p:cNvSpPr/>
          <p:nvPr/>
        </p:nvSpPr>
        <p:spPr>
          <a:xfrm>
            <a:off x="7254240" y="505968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Stationary Distributions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a4c0c1e2d_0_56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ea4c0c1e2d_0_560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Reasoning Over Time or Space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a4c0c1e2d_0_560"/>
          <p:cNvSpPr/>
          <p:nvPr/>
        </p:nvSpPr>
        <p:spPr>
          <a:xfrm>
            <a:off x="487680" y="1463040"/>
            <a:ext cx="67056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Core Question: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a4c0c1e2d_0_560"/>
          <p:cNvSpPr/>
          <p:nvPr/>
        </p:nvSpPr>
        <p:spPr>
          <a:xfrm>
            <a:off x="487680" y="2011680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do things </a:t>
            </a:r>
            <a:r>
              <a:rPr b="1" i="0" lang="en-US" sz="1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change over time</a:t>
            </a:r>
            <a:r>
              <a:rPr b="0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? And how can we </a:t>
            </a:r>
            <a:r>
              <a:rPr b="1" i="0" lang="en-US" sz="1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r>
              <a:rPr b="0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what comes next?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a4c0c1e2d_0_560"/>
          <p:cNvSpPr/>
          <p:nvPr/>
        </p:nvSpPr>
        <p:spPr>
          <a:xfrm>
            <a:off x="487680" y="2804160"/>
            <a:ext cx="6461700" cy="9996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a4c0c1e2d_0_560"/>
          <p:cNvSpPr/>
          <p:nvPr/>
        </p:nvSpPr>
        <p:spPr>
          <a:xfrm>
            <a:off x="609600" y="3023616"/>
            <a:ext cx="73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a4c0c1e2d_0_560"/>
          <p:cNvSpPr/>
          <p:nvPr/>
        </p:nvSpPr>
        <p:spPr>
          <a:xfrm>
            <a:off x="1402080" y="2926080"/>
            <a:ext cx="5364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Weather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a4c0c1e2d_0_560"/>
          <p:cNvSpPr/>
          <p:nvPr/>
        </p:nvSpPr>
        <p:spPr>
          <a:xfrm>
            <a:off x="1402080" y="3316224"/>
            <a:ext cx="5364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Sunny → Cloudy → Rainy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a4c0c1e2d_0_560"/>
          <p:cNvSpPr/>
          <p:nvPr/>
        </p:nvSpPr>
        <p:spPr>
          <a:xfrm>
            <a:off x="487680" y="3962400"/>
            <a:ext cx="6461700" cy="9996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a4c0c1e2d_0_560"/>
          <p:cNvSpPr/>
          <p:nvPr/>
        </p:nvSpPr>
        <p:spPr>
          <a:xfrm>
            <a:off x="609600" y="4181856"/>
            <a:ext cx="73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a4c0c1e2d_0_560"/>
          <p:cNvSpPr/>
          <p:nvPr/>
        </p:nvSpPr>
        <p:spPr>
          <a:xfrm>
            <a:off x="1402080" y="4084320"/>
            <a:ext cx="5364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Stock Market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a4c0c1e2d_0_560"/>
          <p:cNvSpPr/>
          <p:nvPr/>
        </p:nvSpPr>
        <p:spPr>
          <a:xfrm>
            <a:off x="1402080" y="4474464"/>
            <a:ext cx="5364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Up → Down → Sideways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a4c0c1e2d_0_560"/>
          <p:cNvSpPr/>
          <p:nvPr/>
        </p:nvSpPr>
        <p:spPr>
          <a:xfrm>
            <a:off x="487680" y="5120640"/>
            <a:ext cx="6461700" cy="9996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a4c0c1e2d_0_560"/>
          <p:cNvSpPr/>
          <p:nvPr/>
        </p:nvSpPr>
        <p:spPr>
          <a:xfrm>
            <a:off x="609600" y="5340096"/>
            <a:ext cx="73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a4c0c1e2d_0_560"/>
          <p:cNvSpPr/>
          <p:nvPr/>
        </p:nvSpPr>
        <p:spPr>
          <a:xfrm>
            <a:off x="1402080" y="5242560"/>
            <a:ext cx="5364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a4c0c1e2d_0_560"/>
          <p:cNvSpPr/>
          <p:nvPr/>
        </p:nvSpPr>
        <p:spPr>
          <a:xfrm>
            <a:off x="1402080" y="5632704"/>
            <a:ext cx="5364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Word follows word in sentences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a4c0c1e2d_0_560"/>
          <p:cNvSpPr/>
          <p:nvPr/>
        </p:nvSpPr>
        <p:spPr>
          <a:xfrm>
            <a:off x="7559040" y="1341120"/>
            <a:ext cx="4267200" cy="5120700"/>
          </a:xfrm>
          <a:prstGeom prst="rect">
            <a:avLst/>
          </a:prstGeom>
          <a:solidFill>
            <a:srgbClr val="CCFBF1"/>
          </a:solidFill>
          <a:ln cap="flat" cmpd="sng" w="169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ea4c0c1e2d_0_560"/>
          <p:cNvSpPr/>
          <p:nvPr/>
        </p:nvSpPr>
        <p:spPr>
          <a:xfrm>
            <a:off x="7680960" y="1524000"/>
            <a:ext cx="4023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a4c0c1e2d_0_560"/>
          <p:cNvSpPr/>
          <p:nvPr/>
        </p:nvSpPr>
        <p:spPr>
          <a:xfrm>
            <a:off x="8046720" y="2255520"/>
            <a:ext cx="3291900" cy="58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ea4c0c1e2d_0_560"/>
          <p:cNvSpPr/>
          <p:nvPr/>
        </p:nvSpPr>
        <p:spPr>
          <a:xfrm>
            <a:off x="8046720" y="2377440"/>
            <a:ext cx="3291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State at t=1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ea4c0c1e2d_0_560"/>
          <p:cNvCxnSpPr/>
          <p:nvPr/>
        </p:nvCxnSpPr>
        <p:spPr>
          <a:xfrm>
            <a:off x="9692640" y="2840736"/>
            <a:ext cx="0" cy="414300"/>
          </a:xfrm>
          <a:prstGeom prst="straightConnector1">
            <a:avLst/>
          </a:prstGeom>
          <a:noFill/>
          <a:ln cap="flat" cmpd="sng" w="338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g3ea4c0c1e2d_0_560"/>
          <p:cNvSpPr/>
          <p:nvPr/>
        </p:nvSpPr>
        <p:spPr>
          <a:xfrm>
            <a:off x="9485376" y="3108960"/>
            <a:ext cx="426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a4c0c1e2d_0_560"/>
          <p:cNvSpPr/>
          <p:nvPr/>
        </p:nvSpPr>
        <p:spPr>
          <a:xfrm>
            <a:off x="8046720" y="3255264"/>
            <a:ext cx="3291900" cy="58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ea4c0c1e2d_0_560"/>
          <p:cNvSpPr/>
          <p:nvPr/>
        </p:nvSpPr>
        <p:spPr>
          <a:xfrm>
            <a:off x="8046720" y="3377184"/>
            <a:ext cx="3291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State at t=2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ea4c0c1e2d_0_560"/>
          <p:cNvCxnSpPr/>
          <p:nvPr/>
        </p:nvCxnSpPr>
        <p:spPr>
          <a:xfrm>
            <a:off x="9692640" y="3840480"/>
            <a:ext cx="0" cy="414300"/>
          </a:xfrm>
          <a:prstGeom prst="straightConnector1">
            <a:avLst/>
          </a:prstGeom>
          <a:noFill/>
          <a:ln cap="flat" cmpd="sng" w="338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g3ea4c0c1e2d_0_560"/>
          <p:cNvSpPr/>
          <p:nvPr/>
        </p:nvSpPr>
        <p:spPr>
          <a:xfrm>
            <a:off x="9485376" y="4108704"/>
            <a:ext cx="426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a4c0c1e2d_0_560"/>
          <p:cNvSpPr/>
          <p:nvPr/>
        </p:nvSpPr>
        <p:spPr>
          <a:xfrm>
            <a:off x="8046720" y="4255008"/>
            <a:ext cx="3291900" cy="58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a4c0c1e2d_0_560"/>
          <p:cNvSpPr/>
          <p:nvPr/>
        </p:nvSpPr>
        <p:spPr>
          <a:xfrm>
            <a:off x="8046720" y="4376928"/>
            <a:ext cx="3291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State at t=3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g3ea4c0c1e2d_0_560"/>
          <p:cNvCxnSpPr/>
          <p:nvPr/>
        </p:nvCxnSpPr>
        <p:spPr>
          <a:xfrm>
            <a:off x="9692640" y="4840224"/>
            <a:ext cx="0" cy="414300"/>
          </a:xfrm>
          <a:prstGeom prst="straightConnector1">
            <a:avLst/>
          </a:prstGeom>
          <a:noFill/>
          <a:ln cap="flat" cmpd="sng" w="338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g3ea4c0c1e2d_0_560"/>
          <p:cNvSpPr/>
          <p:nvPr/>
        </p:nvSpPr>
        <p:spPr>
          <a:xfrm>
            <a:off x="9485376" y="5108448"/>
            <a:ext cx="426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a4c0c1e2d_0_560"/>
          <p:cNvSpPr/>
          <p:nvPr/>
        </p:nvSpPr>
        <p:spPr>
          <a:xfrm>
            <a:off x="8046720" y="5254752"/>
            <a:ext cx="3291900" cy="58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a4c0c1e2d_0_560"/>
          <p:cNvSpPr/>
          <p:nvPr/>
        </p:nvSpPr>
        <p:spPr>
          <a:xfrm>
            <a:off x="8046720" y="5376672"/>
            <a:ext cx="3291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State at t=4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a4c0c1e2d_0_596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a4c0c1e2d_0_596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Markov Models — Introduction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a4c0c1e2d_0_596"/>
          <p:cNvSpPr/>
          <p:nvPr/>
        </p:nvSpPr>
        <p:spPr>
          <a:xfrm>
            <a:off x="487680" y="1341120"/>
            <a:ext cx="11216700" cy="1219200"/>
          </a:xfrm>
          <a:prstGeom prst="rect">
            <a:avLst/>
          </a:prstGeom>
          <a:solidFill>
            <a:srgbClr val="EEF2FF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a4c0c1e2d_0_596"/>
          <p:cNvSpPr/>
          <p:nvPr/>
        </p:nvSpPr>
        <p:spPr>
          <a:xfrm>
            <a:off x="487680" y="1341120"/>
            <a:ext cx="122100" cy="12192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a4c0c1e2d_0_596"/>
          <p:cNvSpPr/>
          <p:nvPr/>
        </p:nvSpPr>
        <p:spPr>
          <a:xfrm>
            <a:off x="731520" y="1463040"/>
            <a:ext cx="1072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📖  A Markov Model is a mathematical system that transitions between a finite set of states, where the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a4c0c1e2d_0_596"/>
          <p:cNvSpPr/>
          <p:nvPr/>
        </p:nvSpPr>
        <p:spPr>
          <a:xfrm>
            <a:off x="731520" y="1889760"/>
            <a:ext cx="1072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next state depends ONLY on the current state,  not the past. This is the "Markov Property."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a4c0c1e2d_0_596"/>
          <p:cNvSpPr/>
          <p:nvPr/>
        </p:nvSpPr>
        <p:spPr>
          <a:xfrm>
            <a:off x="487680" y="2804160"/>
            <a:ext cx="5120700" cy="17067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a4c0c1e2d_0_596"/>
          <p:cNvSpPr/>
          <p:nvPr/>
        </p:nvSpPr>
        <p:spPr>
          <a:xfrm>
            <a:off x="609600" y="2901696"/>
            <a:ext cx="48768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The Markov Property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a4c0c1e2d_0_596"/>
          <p:cNvSpPr/>
          <p:nvPr/>
        </p:nvSpPr>
        <p:spPr>
          <a:xfrm>
            <a:off x="609600" y="3352800"/>
            <a:ext cx="4876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P(Xₜ₊₁ | X₁, X₂, ..., Xₜ)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a4c0c1e2d_0_596"/>
          <p:cNvSpPr/>
          <p:nvPr/>
        </p:nvSpPr>
        <p:spPr>
          <a:xfrm>
            <a:off x="609600" y="3755136"/>
            <a:ext cx="4876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=  P(Xₜ₊₁ | Xₜ)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a4c0c1e2d_0_596"/>
          <p:cNvSpPr/>
          <p:nvPr/>
        </p:nvSpPr>
        <p:spPr>
          <a:xfrm>
            <a:off x="609600" y="4169664"/>
            <a:ext cx="48768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Only the current state matters!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a4c0c1e2d_0_596"/>
          <p:cNvSpPr/>
          <p:nvPr/>
        </p:nvSpPr>
        <p:spPr>
          <a:xfrm>
            <a:off x="5913120" y="2804160"/>
            <a:ext cx="5852100" cy="9996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a4c0c1e2d_0_596"/>
          <p:cNvSpPr/>
          <p:nvPr/>
        </p:nvSpPr>
        <p:spPr>
          <a:xfrm>
            <a:off x="5913120" y="2804160"/>
            <a:ext cx="109500" cy="9996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a4c0c1e2d_0_596"/>
          <p:cNvSpPr/>
          <p:nvPr/>
        </p:nvSpPr>
        <p:spPr>
          <a:xfrm>
            <a:off x="6156960" y="2926080"/>
            <a:ext cx="551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States (S)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a4c0c1e2d_0_596"/>
          <p:cNvSpPr/>
          <p:nvPr/>
        </p:nvSpPr>
        <p:spPr>
          <a:xfrm>
            <a:off x="6156955" y="3316225"/>
            <a:ext cx="2560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 possible situations the system can be 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a4c0c1e2d_0_596"/>
          <p:cNvSpPr/>
          <p:nvPr/>
        </p:nvSpPr>
        <p:spPr>
          <a:xfrm>
            <a:off x="5913120" y="3962400"/>
            <a:ext cx="5852100" cy="9996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ea4c0c1e2d_0_596"/>
          <p:cNvSpPr/>
          <p:nvPr/>
        </p:nvSpPr>
        <p:spPr>
          <a:xfrm>
            <a:off x="5913120" y="3962400"/>
            <a:ext cx="109500" cy="9996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ea4c0c1e2d_0_596"/>
          <p:cNvSpPr/>
          <p:nvPr/>
        </p:nvSpPr>
        <p:spPr>
          <a:xfrm>
            <a:off x="6156960" y="4084320"/>
            <a:ext cx="551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Transitions (T)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a4c0c1e2d_0_596"/>
          <p:cNvSpPr/>
          <p:nvPr/>
        </p:nvSpPr>
        <p:spPr>
          <a:xfrm>
            <a:off x="6156955" y="4474475"/>
            <a:ext cx="2560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Probabilities of moving between states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a4c0c1e2d_0_596"/>
          <p:cNvSpPr/>
          <p:nvPr/>
        </p:nvSpPr>
        <p:spPr>
          <a:xfrm>
            <a:off x="8961120" y="2804160"/>
            <a:ext cx="2804100" cy="9996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a4c0c1e2d_0_596"/>
          <p:cNvSpPr/>
          <p:nvPr/>
        </p:nvSpPr>
        <p:spPr>
          <a:xfrm>
            <a:off x="8961120" y="2804160"/>
            <a:ext cx="109500" cy="999600"/>
          </a:xfrm>
          <a:prstGeom prst="rect">
            <a:avLst/>
          </a:prstGeom>
          <a:solidFill>
            <a:srgbClr val="8B5CF6"/>
          </a:solidFill>
          <a:ln cap="flat" cmpd="sng" w="169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ea4c0c1e2d_0_596"/>
          <p:cNvSpPr/>
          <p:nvPr/>
        </p:nvSpPr>
        <p:spPr>
          <a:xfrm>
            <a:off x="9204960" y="2926080"/>
            <a:ext cx="246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 State (π)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a4c0c1e2d_0_596"/>
          <p:cNvSpPr/>
          <p:nvPr/>
        </p:nvSpPr>
        <p:spPr>
          <a:xfrm>
            <a:off x="9204960" y="3316224"/>
            <a:ext cx="2462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Initial probability distribution over states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a4c0c1e2d_0_596"/>
          <p:cNvSpPr/>
          <p:nvPr/>
        </p:nvSpPr>
        <p:spPr>
          <a:xfrm>
            <a:off x="8961120" y="3962400"/>
            <a:ext cx="2804100" cy="999600"/>
          </a:xfrm>
          <a:prstGeom prst="rect">
            <a:avLst/>
          </a:prstGeom>
          <a:solidFill>
            <a:srgbClr val="FEF3C7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a4c0c1e2d_0_596"/>
          <p:cNvSpPr/>
          <p:nvPr/>
        </p:nvSpPr>
        <p:spPr>
          <a:xfrm>
            <a:off x="9083040" y="4047744"/>
            <a:ext cx="2560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Think of it like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a4c0c1e2d_0_596"/>
          <p:cNvSpPr/>
          <p:nvPr/>
        </p:nvSpPr>
        <p:spPr>
          <a:xfrm>
            <a:off x="9083040" y="4389120"/>
            <a:ext cx="25605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amnesia: the system forgets its history!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ea4c0c1e2d_0_596"/>
          <p:cNvSpPr/>
          <p:nvPr/>
        </p:nvSpPr>
        <p:spPr>
          <a:xfrm>
            <a:off x="487680" y="5181600"/>
            <a:ext cx="11216700" cy="1097100"/>
          </a:xfrm>
          <a:prstGeom prst="rect">
            <a:avLst/>
          </a:prstGeom>
          <a:solidFill>
            <a:srgbClr val="F0FDF4"/>
          </a:solidFill>
          <a:ln cap="flat" cmpd="sng" w="169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ea4c0c1e2d_0_596"/>
          <p:cNvSpPr/>
          <p:nvPr/>
        </p:nvSpPr>
        <p:spPr>
          <a:xfrm>
            <a:off x="731520" y="5303520"/>
            <a:ext cx="108507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✅  Memoryless: </a:t>
            </a: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If it's raining today, the chance of rain tomorrow depends ONLY on today, not whether it rained last week, last month, etc.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a4c0c1e2d_0_628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ea4c0c1e2d_0_628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Joint Distribution of a Markov Model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ea4c0c1e2d_0_628"/>
          <p:cNvSpPr/>
          <p:nvPr/>
        </p:nvSpPr>
        <p:spPr>
          <a:xfrm>
            <a:off x="487680" y="1341120"/>
            <a:ext cx="11216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is the probability of an entire sequence of states?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a4c0c1e2d_0_628"/>
          <p:cNvSpPr/>
          <p:nvPr/>
        </p:nvSpPr>
        <p:spPr>
          <a:xfrm>
            <a:off x="487680" y="1950720"/>
            <a:ext cx="11216700" cy="15849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ea4c0c1e2d_0_628"/>
          <p:cNvSpPr/>
          <p:nvPr/>
        </p:nvSpPr>
        <p:spPr>
          <a:xfrm>
            <a:off x="731520" y="2072640"/>
            <a:ext cx="1072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Joint Distribution Formula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ea4c0c1e2d_0_628"/>
          <p:cNvSpPr/>
          <p:nvPr/>
        </p:nvSpPr>
        <p:spPr>
          <a:xfrm>
            <a:off x="731520" y="2535936"/>
            <a:ext cx="10728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P(X₁, X₂, X₃, ..., Xₙ)  =  P(X₁) × P(X₂|X₁) × P(X₃|X₂) × ... × P(Xₙ|Xₙ₋₁)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a4c0c1e2d_0_628"/>
          <p:cNvSpPr/>
          <p:nvPr/>
        </p:nvSpPr>
        <p:spPr>
          <a:xfrm>
            <a:off x="487680" y="3779520"/>
            <a:ext cx="35967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a4c0c1e2d_0_628"/>
          <p:cNvSpPr/>
          <p:nvPr/>
        </p:nvSpPr>
        <p:spPr>
          <a:xfrm>
            <a:off x="487680" y="3779520"/>
            <a:ext cx="3596700" cy="975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ea4c0c1e2d_0_628"/>
          <p:cNvSpPr/>
          <p:nvPr/>
        </p:nvSpPr>
        <p:spPr>
          <a:xfrm>
            <a:off x="609600" y="3901440"/>
            <a:ext cx="3352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P(X₁)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a4c0c1e2d_0_628"/>
          <p:cNvSpPr/>
          <p:nvPr/>
        </p:nvSpPr>
        <p:spPr>
          <a:xfrm>
            <a:off x="609600" y="4328160"/>
            <a:ext cx="335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Probability of starting 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a4c0c1e2d_0_628"/>
          <p:cNvSpPr/>
          <p:nvPr/>
        </p:nvSpPr>
        <p:spPr>
          <a:xfrm>
            <a:off x="4267200" y="3779520"/>
            <a:ext cx="35967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a4c0c1e2d_0_628"/>
          <p:cNvSpPr/>
          <p:nvPr/>
        </p:nvSpPr>
        <p:spPr>
          <a:xfrm>
            <a:off x="4267200" y="3779520"/>
            <a:ext cx="3596700" cy="975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ea4c0c1e2d_0_628"/>
          <p:cNvSpPr/>
          <p:nvPr/>
        </p:nvSpPr>
        <p:spPr>
          <a:xfrm>
            <a:off x="4389120" y="3901440"/>
            <a:ext cx="3352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P(X₂|X₁)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a4c0c1e2d_0_628"/>
          <p:cNvSpPr/>
          <p:nvPr/>
        </p:nvSpPr>
        <p:spPr>
          <a:xfrm>
            <a:off x="4389120" y="4328160"/>
            <a:ext cx="335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 of X₂ given X₁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ea4c0c1e2d_0_628"/>
          <p:cNvSpPr/>
          <p:nvPr/>
        </p:nvSpPr>
        <p:spPr>
          <a:xfrm>
            <a:off x="8046720" y="3779520"/>
            <a:ext cx="3596700" cy="12192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ea4c0c1e2d_0_628"/>
          <p:cNvSpPr/>
          <p:nvPr/>
        </p:nvSpPr>
        <p:spPr>
          <a:xfrm>
            <a:off x="8046720" y="3779520"/>
            <a:ext cx="3596700" cy="97500"/>
          </a:xfrm>
          <a:prstGeom prst="rect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a4c0c1e2d_0_628"/>
          <p:cNvSpPr/>
          <p:nvPr/>
        </p:nvSpPr>
        <p:spPr>
          <a:xfrm>
            <a:off x="8168640" y="3901440"/>
            <a:ext cx="3352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P(Xₙ|Xₙ₋₁)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a4c0c1e2d_0_628"/>
          <p:cNvSpPr/>
          <p:nvPr/>
        </p:nvSpPr>
        <p:spPr>
          <a:xfrm>
            <a:off x="8168640" y="4328160"/>
            <a:ext cx="335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Only depends on previous 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a4c0c1e2d_0_628"/>
          <p:cNvSpPr/>
          <p:nvPr/>
        </p:nvSpPr>
        <p:spPr>
          <a:xfrm>
            <a:off x="487680" y="5145024"/>
            <a:ext cx="11216700" cy="1401900"/>
          </a:xfrm>
          <a:prstGeom prst="rect">
            <a:avLst/>
          </a:prstGeom>
          <a:solidFill>
            <a:srgbClr val="EFF6FF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a4c0c1e2d_0_628"/>
          <p:cNvSpPr/>
          <p:nvPr/>
        </p:nvSpPr>
        <p:spPr>
          <a:xfrm>
            <a:off x="731520" y="5242560"/>
            <a:ext cx="2438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📝  Example: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a4c0c1e2d_0_628"/>
          <p:cNvSpPr/>
          <p:nvPr/>
        </p:nvSpPr>
        <p:spPr>
          <a:xfrm>
            <a:off x="731520" y="5632704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Sequence: Sunny → Cloudy → Rainy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a4c0c1e2d_0_628"/>
          <p:cNvSpPr/>
          <p:nvPr/>
        </p:nvSpPr>
        <p:spPr>
          <a:xfrm>
            <a:off x="731520" y="6010656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P(S,C,R) = P(Sunny) × P(Cloudy|Sunny) × P(Rainy|Cloudy)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a4c0c1e2d_0_654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ea4c0c1e2d_0_654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 Rule &amp; Markov Models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a4c0c1e2d_0_654"/>
          <p:cNvSpPr/>
          <p:nvPr/>
        </p:nvSpPr>
        <p:spPr>
          <a:xfrm>
            <a:off x="487680" y="1341120"/>
            <a:ext cx="11216700" cy="15849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ea4c0c1e2d_0_654"/>
          <p:cNvSpPr/>
          <p:nvPr/>
        </p:nvSpPr>
        <p:spPr>
          <a:xfrm>
            <a:off x="487680" y="1341120"/>
            <a:ext cx="122100" cy="15849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ea4c0c1e2d_0_654"/>
          <p:cNvSpPr/>
          <p:nvPr/>
        </p:nvSpPr>
        <p:spPr>
          <a:xfrm>
            <a:off x="731520" y="1438656"/>
            <a:ext cx="10728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General Chain Rule (Probability)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a4c0c1e2d_0_654"/>
          <p:cNvSpPr/>
          <p:nvPr/>
        </p:nvSpPr>
        <p:spPr>
          <a:xfrm>
            <a:off x="731520" y="1853184"/>
            <a:ext cx="10850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P(X₁,X₂,...,Xₙ) = P(X₁) × P(X₂|X₁) × P(X₃|X₁,X₂) × ... × P(Xₙ|X₁,...,Xₙ₋₁)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a4c0c1e2d_0_654"/>
          <p:cNvSpPr/>
          <p:nvPr/>
        </p:nvSpPr>
        <p:spPr>
          <a:xfrm>
            <a:off x="487680" y="3108960"/>
            <a:ext cx="11216700" cy="1584900"/>
          </a:xfrm>
          <a:prstGeom prst="rect">
            <a:avLst/>
          </a:prstGeom>
          <a:solidFill>
            <a:srgbClr val="F0FDF4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a4c0c1e2d_0_654"/>
          <p:cNvSpPr/>
          <p:nvPr/>
        </p:nvSpPr>
        <p:spPr>
          <a:xfrm>
            <a:off x="487680" y="3108960"/>
            <a:ext cx="122100" cy="15849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a4c0c1e2d_0_654"/>
          <p:cNvSpPr/>
          <p:nvPr/>
        </p:nvSpPr>
        <p:spPr>
          <a:xfrm>
            <a:off x="731520" y="3206496"/>
            <a:ext cx="10728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With the Markov Property — SIMPLIFIED!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a4c0c1e2d_0_654"/>
          <p:cNvSpPr/>
          <p:nvPr/>
        </p:nvSpPr>
        <p:spPr>
          <a:xfrm>
            <a:off x="731520" y="3621024"/>
            <a:ext cx="10850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P(X₁,X₂,...,Xₙ) = P(X₁) × P(X₂|X₁) × P(X₃|X₂) × ... × P(Xₙ|Xₙ₋₁)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a4c0c1e2d_0_654"/>
          <p:cNvSpPr/>
          <p:nvPr/>
        </p:nvSpPr>
        <p:spPr>
          <a:xfrm>
            <a:off x="487680" y="4937760"/>
            <a:ext cx="5608500" cy="1584900"/>
          </a:xfrm>
          <a:prstGeom prst="rect">
            <a:avLst/>
          </a:prstGeom>
          <a:solidFill>
            <a:srgbClr val="FFF1F2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a4c0c1e2d_0_654"/>
          <p:cNvSpPr/>
          <p:nvPr/>
        </p:nvSpPr>
        <p:spPr>
          <a:xfrm>
            <a:off x="670560" y="5035296"/>
            <a:ext cx="5242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Without Markov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a4c0c1e2d_0_654"/>
          <p:cNvSpPr/>
          <p:nvPr/>
        </p:nvSpPr>
        <p:spPr>
          <a:xfrm>
            <a:off x="670560" y="5486400"/>
            <a:ext cx="52425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state depends on ALL previous states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Very complex! Grows exponentially.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a4c0c1e2d_0_654"/>
          <p:cNvSpPr/>
          <p:nvPr/>
        </p:nvSpPr>
        <p:spPr>
          <a:xfrm>
            <a:off x="6400800" y="4937760"/>
            <a:ext cx="5608500" cy="1584900"/>
          </a:xfrm>
          <a:prstGeom prst="rect">
            <a:avLst/>
          </a:prstGeom>
          <a:solidFill>
            <a:srgbClr val="F0FDF4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ea4c0c1e2d_0_654"/>
          <p:cNvSpPr/>
          <p:nvPr/>
        </p:nvSpPr>
        <p:spPr>
          <a:xfrm>
            <a:off x="6583680" y="5035296"/>
            <a:ext cx="5242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With Markov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a4c0c1e2d_0_654"/>
          <p:cNvSpPr/>
          <p:nvPr/>
        </p:nvSpPr>
        <p:spPr>
          <a:xfrm>
            <a:off x="6583680" y="5486400"/>
            <a:ext cx="52425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state depends ONLY on the previous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Simple! Each term is just P(Xₜ | Xₜ₋₁)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a4c0c1e2d_0_654"/>
          <p:cNvSpPr/>
          <p:nvPr/>
        </p:nvSpPr>
        <p:spPr>
          <a:xfrm>
            <a:off x="5730240" y="5486400"/>
            <a:ext cx="670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a4c0c1e2d_0_895"/>
          <p:cNvSpPr txBox="1"/>
          <p:nvPr>
            <p:ph type="title"/>
          </p:nvPr>
        </p:nvSpPr>
        <p:spPr>
          <a:xfrm>
            <a:off x="0" y="-381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Markov Chain: Weather</a:t>
            </a:r>
            <a:endParaRPr/>
          </a:p>
        </p:txBody>
      </p:sp>
      <p:sp>
        <p:nvSpPr>
          <p:cNvPr id="252" name="Google Shape;252;g3ea4c0c1e2d_0_895"/>
          <p:cNvSpPr txBox="1"/>
          <p:nvPr>
            <p:ph idx="1" type="body"/>
          </p:nvPr>
        </p:nvSpPr>
        <p:spPr>
          <a:xfrm>
            <a:off x="457200" y="1447800"/>
            <a:ext cx="4267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States: X = {rain, sun}</a:t>
            </a:r>
            <a:endParaRPr/>
          </a:p>
          <a:p>
            <a:pPr indent="0" lvl="1" marL="457176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37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37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53" name="Google Shape;253;g3ea4c0c1e2d_0_895"/>
          <p:cNvSpPr/>
          <p:nvPr/>
        </p:nvSpPr>
        <p:spPr>
          <a:xfrm>
            <a:off x="5853113" y="5057775"/>
            <a:ext cx="609600" cy="6096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a4c0c1e2d_0_895"/>
          <p:cNvSpPr/>
          <p:nvPr/>
        </p:nvSpPr>
        <p:spPr>
          <a:xfrm>
            <a:off x="7300913" y="5057775"/>
            <a:ext cx="609600" cy="609600"/>
          </a:xfrm>
          <a:prstGeom prst="ellipse">
            <a:avLst/>
          </a:prstGeom>
          <a:solidFill>
            <a:srgbClr val="FFCC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g3ea4c0c1e2d_0_895"/>
          <p:cNvCxnSpPr>
            <a:stCxn id="253" idx="0"/>
            <a:endCxn id="254" idx="0"/>
          </p:cNvCxnSpPr>
          <p:nvPr/>
        </p:nvCxnSpPr>
        <p:spPr>
          <a:xfrm flipH="1" rot="-5400000">
            <a:off x="6881513" y="4334175"/>
            <a:ext cx="600" cy="1447800"/>
          </a:xfrm>
          <a:prstGeom prst="curvedConnector3">
            <a:avLst>
              <a:gd fmla="val -70665357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g3ea4c0c1e2d_0_895"/>
          <p:cNvCxnSpPr>
            <a:stCxn id="254" idx="4"/>
            <a:endCxn id="253" idx="4"/>
          </p:cNvCxnSpPr>
          <p:nvPr/>
        </p:nvCxnSpPr>
        <p:spPr>
          <a:xfrm rot="5400000">
            <a:off x="6881513" y="4943775"/>
            <a:ext cx="600" cy="1447800"/>
          </a:xfrm>
          <a:prstGeom prst="curvedConnector3">
            <a:avLst>
              <a:gd fmla="val 7860519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g3ea4c0c1e2d_0_895"/>
          <p:cNvCxnSpPr>
            <a:stCxn id="254" idx="7"/>
            <a:endCxn id="254" idx="6"/>
          </p:cNvCxnSpPr>
          <p:nvPr/>
        </p:nvCxnSpPr>
        <p:spPr>
          <a:xfrm flipH="1" rot="-5400000">
            <a:off x="7758239" y="5210049"/>
            <a:ext cx="215400" cy="89400"/>
          </a:xfrm>
          <a:prstGeom prst="curvedConnector4">
            <a:avLst>
              <a:gd fmla="val -233807" name="adj1"/>
              <a:gd fmla="val 54556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g3ea4c0c1e2d_0_895"/>
          <p:cNvCxnSpPr>
            <a:stCxn id="253" idx="3"/>
            <a:endCxn id="253" idx="2"/>
          </p:cNvCxnSpPr>
          <p:nvPr/>
        </p:nvCxnSpPr>
        <p:spPr>
          <a:xfrm flipH="1" rot="5400000">
            <a:off x="5789987" y="5425701"/>
            <a:ext cx="215400" cy="89400"/>
          </a:xfrm>
          <a:prstGeom prst="curvedConnector4">
            <a:avLst>
              <a:gd fmla="val -273602" name="adj1"/>
              <a:gd fmla="val 55266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g3ea4c0c1e2d_0_895"/>
          <p:cNvSpPr txBox="1"/>
          <p:nvPr/>
        </p:nvSpPr>
        <p:spPr>
          <a:xfrm>
            <a:off x="8153400" y="4510087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ea4c0c1e2d_0_895"/>
          <p:cNvSpPr txBox="1"/>
          <p:nvPr/>
        </p:nvSpPr>
        <p:spPr>
          <a:xfrm>
            <a:off x="5638800" y="6048375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ea4c0c1e2d_0_895"/>
          <p:cNvSpPr txBox="1"/>
          <p:nvPr/>
        </p:nvSpPr>
        <p:spPr>
          <a:xfrm>
            <a:off x="6629400" y="4676775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a4c0c1e2d_0_895"/>
          <p:cNvSpPr txBox="1"/>
          <p:nvPr/>
        </p:nvSpPr>
        <p:spPr>
          <a:xfrm>
            <a:off x="6629400" y="6200775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ea4c0c1e2d_0_895"/>
          <p:cNvSpPr/>
          <p:nvPr/>
        </p:nvSpPr>
        <p:spPr>
          <a:xfrm>
            <a:off x="5562600" y="3810000"/>
            <a:ext cx="6019800" cy="457200"/>
          </a:xfrm>
          <a:prstGeom prst="wedgeRectCallout">
            <a:avLst>
              <a:gd fmla="val -49866" name="adj1"/>
              <a:gd fmla="val -26079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Two new ways of representing the same CPT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g3ea4c0c1e2d_0_895"/>
          <p:cNvGrpSpPr/>
          <p:nvPr/>
        </p:nvGrpSpPr>
        <p:grpSpPr>
          <a:xfrm>
            <a:off x="8839200" y="5029200"/>
            <a:ext cx="2133600" cy="1066800"/>
            <a:chOff x="2057400" y="3260725"/>
            <a:chExt cx="2133600" cy="1066800"/>
          </a:xfrm>
        </p:grpSpPr>
        <p:sp>
          <p:nvSpPr>
            <p:cNvPr id="265" name="Google Shape;265;g3ea4c0c1e2d_0_895"/>
            <p:cNvSpPr/>
            <p:nvPr/>
          </p:nvSpPr>
          <p:spPr>
            <a:xfrm>
              <a:off x="2057400" y="3260725"/>
              <a:ext cx="685800" cy="381000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ea4c0c1e2d_0_895"/>
            <p:cNvSpPr/>
            <p:nvPr/>
          </p:nvSpPr>
          <p:spPr>
            <a:xfrm>
              <a:off x="2057400" y="3946525"/>
              <a:ext cx="685800" cy="381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ea4c0c1e2d_0_895"/>
            <p:cNvSpPr/>
            <p:nvPr/>
          </p:nvSpPr>
          <p:spPr>
            <a:xfrm>
              <a:off x="3505200" y="3260725"/>
              <a:ext cx="685800" cy="381000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ea4c0c1e2d_0_895"/>
            <p:cNvSpPr/>
            <p:nvPr/>
          </p:nvSpPr>
          <p:spPr>
            <a:xfrm>
              <a:off x="3505200" y="3946525"/>
              <a:ext cx="685800" cy="381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" name="Google Shape;269;g3ea4c0c1e2d_0_895"/>
            <p:cNvCxnSpPr>
              <a:stCxn id="265" idx="3"/>
              <a:endCxn id="267" idx="1"/>
            </p:cNvCxnSpPr>
            <p:nvPr/>
          </p:nvCxnSpPr>
          <p:spPr>
            <a:xfrm>
              <a:off x="2743200" y="3451225"/>
              <a:ext cx="762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" name="Google Shape;270;g3ea4c0c1e2d_0_895"/>
            <p:cNvCxnSpPr>
              <a:stCxn id="265" idx="3"/>
              <a:endCxn id="268" idx="1"/>
            </p:cNvCxnSpPr>
            <p:nvPr/>
          </p:nvCxnSpPr>
          <p:spPr>
            <a:xfrm>
              <a:off x="2743200" y="3451225"/>
              <a:ext cx="762000" cy="68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1" name="Google Shape;271;g3ea4c0c1e2d_0_895"/>
            <p:cNvCxnSpPr>
              <a:stCxn id="266" idx="3"/>
              <a:endCxn id="267" idx="1"/>
            </p:cNvCxnSpPr>
            <p:nvPr/>
          </p:nvCxnSpPr>
          <p:spPr>
            <a:xfrm flipH="1" rot="10800000">
              <a:off x="2743200" y="3451225"/>
              <a:ext cx="762000" cy="68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2" name="Google Shape;272;g3ea4c0c1e2d_0_895"/>
            <p:cNvCxnSpPr>
              <a:stCxn id="266" idx="3"/>
              <a:endCxn id="268" idx="1"/>
            </p:cNvCxnSpPr>
            <p:nvPr/>
          </p:nvCxnSpPr>
          <p:spPr>
            <a:xfrm>
              <a:off x="2743200" y="4137025"/>
              <a:ext cx="762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3" name="Google Shape;273;g3ea4c0c1e2d_0_895"/>
          <p:cNvSpPr txBox="1"/>
          <p:nvPr/>
        </p:nvSpPr>
        <p:spPr>
          <a:xfrm>
            <a:off x="9829800" y="518160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a4c0c1e2d_0_895"/>
          <p:cNvSpPr txBox="1"/>
          <p:nvPr/>
        </p:nvSpPr>
        <p:spPr>
          <a:xfrm>
            <a:off x="9829800" y="4814887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a4c0c1e2d_0_895"/>
          <p:cNvSpPr txBox="1"/>
          <p:nvPr/>
        </p:nvSpPr>
        <p:spPr>
          <a:xfrm>
            <a:off x="9829800" y="594360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a4c0c1e2d_0_895"/>
          <p:cNvSpPr txBox="1"/>
          <p:nvPr/>
        </p:nvSpPr>
        <p:spPr>
          <a:xfrm>
            <a:off x="9829800" y="5500687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7" name="Google Shape;277;g3ea4c0c1e2d_0_895"/>
          <p:cNvGraphicFramePr/>
          <p:nvPr/>
        </p:nvGraphicFramePr>
        <p:xfrm>
          <a:off x="1219200" y="4495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{5919367C-773B-456D-AD19-03E5D1EB7F5F}</a:tableStyleId>
              </a:tblPr>
              <a:tblGrid>
                <a:gridCol w="563875"/>
                <a:gridCol w="563875"/>
                <a:gridCol w="109315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b="1" baseline="-2500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b="1" baseline="-2500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|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b="1" baseline="-2500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00" marL="914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00" marL="914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00" marL="914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g3ea4c0c1e2d_0_895"/>
          <p:cNvSpPr txBox="1"/>
          <p:nvPr/>
        </p:nvSpPr>
        <p:spPr>
          <a:xfrm>
            <a:off x="457200" y="2819400"/>
            <a:ext cx="4724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Initial distribution: 1.0 sun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189" lvl="2" marL="114294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CPT P(X</a:t>
            </a:r>
            <a:r>
              <a:rPr b="0" baseline="-2500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| X</a:t>
            </a:r>
            <a:r>
              <a:rPr b="0" baseline="-2500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t-1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37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7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7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3ea4c0c1e2d_0_8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143000"/>
            <a:ext cx="5298851" cy="226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a4c0c1e2d_0_9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Markov Chain: Weather</a:t>
            </a:r>
            <a:endParaRPr/>
          </a:p>
        </p:txBody>
      </p:sp>
      <p:sp>
        <p:nvSpPr>
          <p:cNvPr id="285" name="Google Shape;285;g3ea4c0c1e2d_0_927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Initial distribution: 1.0 sun, 0.0 rain</a:t>
            </a:r>
            <a:endParaRPr/>
          </a:p>
          <a:p>
            <a:pPr indent="0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Transition probabilities/ matrix</a:t>
            </a:r>
            <a:endParaRPr sz="2200"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the probability distribution after one step?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/>
              <a:t>Initial probability x Transition probabilities</a:t>
            </a:r>
            <a:endParaRPr/>
          </a:p>
        </p:txBody>
      </p:sp>
      <p:sp>
        <p:nvSpPr>
          <p:cNvPr id="286" name="Google Shape;286;g3ea4c0c1e2d_0_927"/>
          <p:cNvSpPr/>
          <p:nvPr/>
        </p:nvSpPr>
        <p:spPr>
          <a:xfrm>
            <a:off x="7529513" y="1919288"/>
            <a:ext cx="609600" cy="6096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ea4c0c1e2d_0_927"/>
          <p:cNvSpPr/>
          <p:nvPr/>
        </p:nvSpPr>
        <p:spPr>
          <a:xfrm>
            <a:off x="8977313" y="1919288"/>
            <a:ext cx="609600" cy="609600"/>
          </a:xfrm>
          <a:prstGeom prst="ellipse">
            <a:avLst/>
          </a:prstGeom>
          <a:solidFill>
            <a:srgbClr val="FFCC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ea4c0c1e2d_0_927"/>
          <p:cNvCxnSpPr>
            <a:stCxn id="286" idx="0"/>
            <a:endCxn id="287" idx="0"/>
          </p:cNvCxnSpPr>
          <p:nvPr/>
        </p:nvCxnSpPr>
        <p:spPr>
          <a:xfrm flipH="1" rot="-5400000">
            <a:off x="8557913" y="1195688"/>
            <a:ext cx="600" cy="1447800"/>
          </a:xfrm>
          <a:prstGeom prst="curvedConnector3">
            <a:avLst>
              <a:gd fmla="val -70665357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g3ea4c0c1e2d_0_927"/>
          <p:cNvCxnSpPr>
            <a:stCxn id="287" idx="4"/>
            <a:endCxn id="286" idx="4"/>
          </p:cNvCxnSpPr>
          <p:nvPr/>
        </p:nvCxnSpPr>
        <p:spPr>
          <a:xfrm rot="5400000">
            <a:off x="8557913" y="1805288"/>
            <a:ext cx="600" cy="1447800"/>
          </a:xfrm>
          <a:prstGeom prst="curvedConnector3">
            <a:avLst>
              <a:gd fmla="val 7860519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g3ea4c0c1e2d_0_927"/>
          <p:cNvCxnSpPr>
            <a:stCxn id="287" idx="7"/>
            <a:endCxn id="287" idx="6"/>
          </p:cNvCxnSpPr>
          <p:nvPr/>
        </p:nvCxnSpPr>
        <p:spPr>
          <a:xfrm flipH="1" rot="-5400000">
            <a:off x="9434639" y="2071562"/>
            <a:ext cx="215400" cy="89400"/>
          </a:xfrm>
          <a:prstGeom prst="curvedConnector4">
            <a:avLst>
              <a:gd fmla="val -233807" name="adj1"/>
              <a:gd fmla="val 54556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g3ea4c0c1e2d_0_927"/>
          <p:cNvCxnSpPr>
            <a:stCxn id="286" idx="3"/>
            <a:endCxn id="286" idx="2"/>
          </p:cNvCxnSpPr>
          <p:nvPr/>
        </p:nvCxnSpPr>
        <p:spPr>
          <a:xfrm flipH="1" rot="5400000">
            <a:off x="7466387" y="2287214"/>
            <a:ext cx="215400" cy="89400"/>
          </a:xfrm>
          <a:prstGeom prst="curvedConnector4">
            <a:avLst>
              <a:gd fmla="val -273602" name="adj1"/>
              <a:gd fmla="val 55266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g3ea4c0c1e2d_0_927"/>
          <p:cNvSpPr txBox="1"/>
          <p:nvPr/>
        </p:nvSpPr>
        <p:spPr>
          <a:xfrm>
            <a:off x="9829800" y="137160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a4c0c1e2d_0_927"/>
          <p:cNvSpPr txBox="1"/>
          <p:nvPr/>
        </p:nvSpPr>
        <p:spPr>
          <a:xfrm>
            <a:off x="7315200" y="2909888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ea4c0c1e2d_0_927"/>
          <p:cNvSpPr txBox="1"/>
          <p:nvPr/>
        </p:nvSpPr>
        <p:spPr>
          <a:xfrm>
            <a:off x="8305800" y="1538288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a4c0c1e2d_0_927"/>
          <p:cNvSpPr txBox="1"/>
          <p:nvPr/>
        </p:nvSpPr>
        <p:spPr>
          <a:xfrm>
            <a:off x="8305800" y="3062288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296" name="Google Shape;296;g3ea4c0c1e2d_0_9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375" y="5346707"/>
            <a:ext cx="849788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97" name="Google Shape;297;g3ea4c0c1e2d_0_9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975" y="6314200"/>
            <a:ext cx="3632200" cy="2551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g3ea4c0c1e2d_0_927"/>
          <p:cNvGraphicFramePr/>
          <p:nvPr/>
        </p:nvGraphicFramePr>
        <p:xfrm>
          <a:off x="406405" y="27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{C2552FC8-2E4C-475B-962A-508FA6BD930A}</a:tableStyleId>
              </a:tblPr>
              <a:tblGrid>
                <a:gridCol w="1870925"/>
                <a:gridCol w="1870925"/>
                <a:gridCol w="1870925"/>
              </a:tblGrid>
              <a:tr h="36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\ To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☀️ Sun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☁️ Rain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☀️ Sun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☁️ Rain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a4c0c1e2d_0_944"/>
          <p:cNvSpPr txBox="1"/>
          <p:nvPr>
            <p:ph type="title"/>
          </p:nvPr>
        </p:nvSpPr>
        <p:spPr>
          <a:xfrm>
            <a:off x="0" y="-381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Example Run of Mini-Forward Algorithm</a:t>
            </a:r>
            <a:endParaRPr/>
          </a:p>
        </p:txBody>
      </p:sp>
      <p:sp>
        <p:nvSpPr>
          <p:cNvPr id="304" name="Google Shape;304;g3ea4c0c1e2d_0_944"/>
          <p:cNvSpPr txBox="1"/>
          <p:nvPr>
            <p:ph idx="1" type="body"/>
          </p:nvPr>
        </p:nvSpPr>
        <p:spPr>
          <a:xfrm>
            <a:off x="1219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/>
              <a:t>From initial observation of sun</a:t>
            </a:r>
            <a:endParaRPr/>
          </a:p>
          <a:p>
            <a:pPr indent="-133337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33337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/>
              <a:t>	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/>
              <a:t>From initial observation of rain</a:t>
            </a:r>
            <a:endParaRPr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26990" lvl="4" marL="205729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/>
              <a:t>From yet another initial distribution P(X</a:t>
            </a:r>
            <a:r>
              <a:rPr baseline="-25000" lang="en-US" sz="2800"/>
              <a:t>1</a:t>
            </a:r>
            <a:r>
              <a:rPr lang="en-US" sz="2800"/>
              <a:t>):</a:t>
            </a:r>
            <a:endParaRPr/>
          </a:p>
        </p:txBody>
      </p:sp>
      <p:pic>
        <p:nvPicPr>
          <p:cNvPr descr="txp_fig" id="305" name="Google Shape;305;g3ea4c0c1e2d_0_9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571" y="1795463"/>
            <a:ext cx="1050925" cy="795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6" name="Google Shape;306;g3ea4c0c1e2d_0_9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8716" y="1792287"/>
            <a:ext cx="1231084" cy="79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ea4c0c1e2d_0_944"/>
          <p:cNvSpPr/>
          <p:nvPr/>
        </p:nvSpPr>
        <p:spPr>
          <a:xfrm>
            <a:off x="7625171" y="2024063"/>
            <a:ext cx="914400" cy="304800"/>
          </a:xfrm>
          <a:prstGeom prst="rightArrow">
            <a:avLst>
              <a:gd fmla="val 50000" name="adj1"/>
              <a:gd fmla="val 75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ea4c0c1e2d_0_944"/>
          <p:cNvSpPr txBox="1"/>
          <p:nvPr/>
        </p:nvSpPr>
        <p:spPr>
          <a:xfrm>
            <a:off x="1757771" y="2589213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a4c0c1e2d_0_944"/>
          <p:cNvSpPr txBox="1"/>
          <p:nvPr/>
        </p:nvSpPr>
        <p:spPr>
          <a:xfrm>
            <a:off x="3205571" y="2589213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310" name="Google Shape;310;g3ea4c0c1e2d_0_9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9371" y="1792287"/>
            <a:ext cx="1050925" cy="7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1" name="Google Shape;311;g3ea4c0c1e2d_0_9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7171" y="1792287"/>
            <a:ext cx="1230312" cy="7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ea4c0c1e2d_0_944"/>
          <p:cNvSpPr txBox="1"/>
          <p:nvPr/>
        </p:nvSpPr>
        <p:spPr>
          <a:xfrm>
            <a:off x="4805771" y="2589213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a4c0c1e2d_0_944"/>
          <p:cNvSpPr txBox="1"/>
          <p:nvPr/>
        </p:nvSpPr>
        <p:spPr>
          <a:xfrm>
            <a:off x="8768171" y="2589213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314" name="Google Shape;314;g3ea4c0c1e2d_0_9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1232" y="1792287"/>
            <a:ext cx="1440365" cy="7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ea4c0c1e2d_0_944"/>
          <p:cNvSpPr txBox="1"/>
          <p:nvPr/>
        </p:nvSpPr>
        <p:spPr>
          <a:xfrm>
            <a:off x="6405971" y="2586038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316" name="Google Shape;316;g3ea4c0c1e2d_0_9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81571" y="3736975"/>
            <a:ext cx="1050925" cy="7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7" name="Google Shape;317;g3ea4c0c1e2d_0_9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29371" y="3733800"/>
            <a:ext cx="1050925" cy="7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8" name="Google Shape;318;g3ea4c0c1e2d_0_9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7171" y="3733800"/>
            <a:ext cx="1230312" cy="795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9" name="Google Shape;319;g3ea4c0c1e2d_0_9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8716" y="3733800"/>
            <a:ext cx="1231084" cy="79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ea4c0c1e2d_0_944"/>
          <p:cNvSpPr/>
          <p:nvPr/>
        </p:nvSpPr>
        <p:spPr>
          <a:xfrm>
            <a:off x="7625171" y="3965575"/>
            <a:ext cx="914400" cy="304800"/>
          </a:xfrm>
          <a:prstGeom prst="rightArrow">
            <a:avLst>
              <a:gd fmla="val 50000" name="adj1"/>
              <a:gd fmla="val 75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ea4c0c1e2d_0_944"/>
          <p:cNvSpPr txBox="1"/>
          <p:nvPr/>
        </p:nvSpPr>
        <p:spPr>
          <a:xfrm>
            <a:off x="1757771" y="44227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ea4c0c1e2d_0_944"/>
          <p:cNvSpPr txBox="1"/>
          <p:nvPr/>
        </p:nvSpPr>
        <p:spPr>
          <a:xfrm>
            <a:off x="3205571" y="44227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a4c0c1e2d_0_944"/>
          <p:cNvSpPr txBox="1"/>
          <p:nvPr/>
        </p:nvSpPr>
        <p:spPr>
          <a:xfrm>
            <a:off x="4805771" y="44227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ea4c0c1e2d_0_944"/>
          <p:cNvSpPr txBox="1"/>
          <p:nvPr/>
        </p:nvSpPr>
        <p:spPr>
          <a:xfrm>
            <a:off x="8768171" y="44227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325" name="Google Shape;325;g3ea4c0c1e2d_0_9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61232" y="3733800"/>
            <a:ext cx="1440365" cy="7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ea4c0c1e2d_0_944"/>
          <p:cNvSpPr txBox="1"/>
          <p:nvPr/>
        </p:nvSpPr>
        <p:spPr>
          <a:xfrm>
            <a:off x="6405971" y="441960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327" name="Google Shape;327;g3ea4c0c1e2d_0_9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22652" y="5565775"/>
            <a:ext cx="1321163" cy="7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28" name="Google Shape;328;g3ea4c0c1e2d_0_9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4916" y="5562600"/>
            <a:ext cx="1231084" cy="79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ea4c0c1e2d_0_944"/>
          <p:cNvSpPr txBox="1"/>
          <p:nvPr/>
        </p:nvSpPr>
        <p:spPr>
          <a:xfrm>
            <a:off x="1833971" y="62515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ea4c0c1e2d_0_944"/>
          <p:cNvSpPr txBox="1"/>
          <p:nvPr/>
        </p:nvSpPr>
        <p:spPr>
          <a:xfrm>
            <a:off x="8844371" y="62515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a4c0c1e2d_0_944"/>
          <p:cNvSpPr/>
          <p:nvPr/>
        </p:nvSpPr>
        <p:spPr>
          <a:xfrm>
            <a:off x="7625171" y="5794375"/>
            <a:ext cx="914400" cy="304800"/>
          </a:xfrm>
          <a:prstGeom prst="rightArrow">
            <a:avLst>
              <a:gd fmla="val 50000" name="adj1"/>
              <a:gd fmla="val 75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ea4c0c1e2d_0_944"/>
          <p:cNvSpPr txBox="1"/>
          <p:nvPr/>
        </p:nvSpPr>
        <p:spPr>
          <a:xfrm>
            <a:off x="4119971" y="5870575"/>
            <a:ext cx="41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a4c0c1e2d_0_692"/>
          <p:cNvSpPr/>
          <p:nvPr/>
        </p:nvSpPr>
        <p:spPr>
          <a:xfrm>
            <a:off x="0" y="-14432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ea4c0c1e2d_0_692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Markov Chain: Weather (3 states)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a4c0c1e2d_0_692"/>
          <p:cNvSpPr/>
          <p:nvPr/>
        </p:nvSpPr>
        <p:spPr>
          <a:xfrm>
            <a:off x="975360" y="2110971"/>
            <a:ext cx="2194500" cy="1828800"/>
          </a:xfrm>
          <a:prstGeom prst="ellipse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a4c0c1e2d_0_692"/>
          <p:cNvSpPr/>
          <p:nvPr/>
        </p:nvSpPr>
        <p:spPr>
          <a:xfrm>
            <a:off x="975360" y="2415771"/>
            <a:ext cx="2194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☀️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a4c0c1e2d_0_692"/>
          <p:cNvSpPr/>
          <p:nvPr/>
        </p:nvSpPr>
        <p:spPr>
          <a:xfrm>
            <a:off x="5059680" y="2110971"/>
            <a:ext cx="2194500" cy="1828800"/>
          </a:xfrm>
          <a:prstGeom prst="ellipse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a4c0c1e2d_0_692"/>
          <p:cNvSpPr/>
          <p:nvPr/>
        </p:nvSpPr>
        <p:spPr>
          <a:xfrm>
            <a:off x="5059680" y="2415771"/>
            <a:ext cx="2194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a4c0c1e2d_0_692"/>
          <p:cNvSpPr/>
          <p:nvPr/>
        </p:nvSpPr>
        <p:spPr>
          <a:xfrm>
            <a:off x="9144000" y="2110971"/>
            <a:ext cx="2194500" cy="1828800"/>
          </a:xfrm>
          <a:prstGeom prst="ellipse">
            <a:avLst/>
          </a:prstGeom>
          <a:solidFill>
            <a:srgbClr val="6366F1"/>
          </a:solidFill>
          <a:ln cap="flat" cmpd="sng" w="169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a4c0c1e2d_0_692"/>
          <p:cNvSpPr/>
          <p:nvPr/>
        </p:nvSpPr>
        <p:spPr>
          <a:xfrm>
            <a:off x="9144000" y="2415771"/>
            <a:ext cx="2194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🌧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Rainy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ea4c0c1e2d_0_692"/>
          <p:cNvSpPr/>
          <p:nvPr/>
        </p:nvSpPr>
        <p:spPr>
          <a:xfrm>
            <a:off x="975360" y="1769595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ea4c0c1e2d_0_692"/>
          <p:cNvSpPr/>
          <p:nvPr/>
        </p:nvSpPr>
        <p:spPr>
          <a:xfrm>
            <a:off x="792480" y="1403835"/>
            <a:ext cx="256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7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↺ stay sunny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ea4c0c1e2d_0_692"/>
          <p:cNvSpPr/>
          <p:nvPr/>
        </p:nvSpPr>
        <p:spPr>
          <a:xfrm>
            <a:off x="5059680" y="1769595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a4c0c1e2d_0_692"/>
          <p:cNvSpPr/>
          <p:nvPr/>
        </p:nvSpPr>
        <p:spPr>
          <a:xfrm>
            <a:off x="4876800" y="1403835"/>
            <a:ext cx="256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0" i="1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↺ stay cloudy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a4c0c1e2d_0_692"/>
          <p:cNvSpPr/>
          <p:nvPr/>
        </p:nvSpPr>
        <p:spPr>
          <a:xfrm>
            <a:off x="9144000" y="1769595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ea4c0c1e2d_0_692"/>
          <p:cNvSpPr/>
          <p:nvPr/>
        </p:nvSpPr>
        <p:spPr>
          <a:xfrm>
            <a:off x="8961120" y="1403835"/>
            <a:ext cx="256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0" i="1" lang="en-US" sz="17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↺ stay rainy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g3ea4c0c1e2d_0_692"/>
          <p:cNvCxnSpPr/>
          <p:nvPr/>
        </p:nvCxnSpPr>
        <p:spPr>
          <a:xfrm>
            <a:off x="3169920" y="2903451"/>
            <a:ext cx="1889700" cy="0"/>
          </a:xfrm>
          <a:prstGeom prst="straightConnector1">
            <a:avLst/>
          </a:prstGeom>
          <a:noFill/>
          <a:ln cap="flat" cmpd="sng" w="338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g3ea4c0c1e2d_0_692"/>
          <p:cNvSpPr/>
          <p:nvPr/>
        </p:nvSpPr>
        <p:spPr>
          <a:xfrm>
            <a:off x="3230880" y="2623035"/>
            <a:ext cx="176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0.2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g3ea4c0c1e2d_0_692"/>
          <p:cNvCxnSpPr/>
          <p:nvPr/>
        </p:nvCxnSpPr>
        <p:spPr>
          <a:xfrm>
            <a:off x="3169920" y="3330171"/>
            <a:ext cx="1889700" cy="0"/>
          </a:xfrm>
          <a:prstGeom prst="straightConnector1">
            <a:avLst/>
          </a:prstGeom>
          <a:noFill/>
          <a:ln cap="flat" cmpd="sng" w="338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g3ea4c0c1e2d_0_692"/>
          <p:cNvSpPr/>
          <p:nvPr/>
        </p:nvSpPr>
        <p:spPr>
          <a:xfrm>
            <a:off x="3230880" y="3354555"/>
            <a:ext cx="176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← 0.3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g3ea4c0c1e2d_0_692"/>
          <p:cNvCxnSpPr/>
          <p:nvPr/>
        </p:nvCxnSpPr>
        <p:spPr>
          <a:xfrm>
            <a:off x="7254240" y="2903451"/>
            <a:ext cx="1889700" cy="0"/>
          </a:xfrm>
          <a:prstGeom prst="straightConnector1">
            <a:avLst/>
          </a:prstGeom>
          <a:noFill/>
          <a:ln cap="flat" cmpd="sng" w="3387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g3ea4c0c1e2d_0_692"/>
          <p:cNvSpPr/>
          <p:nvPr/>
        </p:nvSpPr>
        <p:spPr>
          <a:xfrm>
            <a:off x="7315200" y="2623035"/>
            <a:ext cx="176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0.3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g3ea4c0c1e2d_0_692"/>
          <p:cNvCxnSpPr/>
          <p:nvPr/>
        </p:nvCxnSpPr>
        <p:spPr>
          <a:xfrm>
            <a:off x="7254240" y="3330171"/>
            <a:ext cx="1889700" cy="0"/>
          </a:xfrm>
          <a:prstGeom prst="straightConnector1">
            <a:avLst/>
          </a:prstGeom>
          <a:noFill/>
          <a:ln cap="flat" cmpd="sng" w="338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g3ea4c0c1e2d_0_692"/>
          <p:cNvSpPr/>
          <p:nvPr/>
        </p:nvSpPr>
        <p:spPr>
          <a:xfrm>
            <a:off x="7315200" y="3354555"/>
            <a:ext cx="176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← 0.3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a4c0c1e2d_0_692"/>
          <p:cNvSpPr/>
          <p:nvPr/>
        </p:nvSpPr>
        <p:spPr>
          <a:xfrm>
            <a:off x="1219200" y="4244571"/>
            <a:ext cx="975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Sunny → Rainy: 0.1   (rare direct transition)</a:t>
            </a:r>
            <a:endParaRPr b="0" i="1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Rainy→ Sunny: 0.2   (rare direct transition)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a4c0c1e2d_0_675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a4c0c1e2d_0_675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Transition Probabilities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a4c0c1e2d_0_675"/>
          <p:cNvSpPr/>
          <p:nvPr/>
        </p:nvSpPr>
        <p:spPr>
          <a:xfrm>
            <a:off x="487680" y="1316736"/>
            <a:ext cx="112167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do we represent 'the chance of going from state A to state B'?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a4c0c1e2d_0_675"/>
          <p:cNvSpPr/>
          <p:nvPr/>
        </p:nvSpPr>
        <p:spPr>
          <a:xfrm>
            <a:off x="487680" y="1828800"/>
            <a:ext cx="6705600" cy="17679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a4c0c1e2d_0_675"/>
          <p:cNvSpPr/>
          <p:nvPr/>
        </p:nvSpPr>
        <p:spPr>
          <a:xfrm>
            <a:off x="731520" y="1926336"/>
            <a:ext cx="6339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Notation: Transition Probability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a4c0c1e2d_0_675"/>
          <p:cNvSpPr/>
          <p:nvPr/>
        </p:nvSpPr>
        <p:spPr>
          <a:xfrm>
            <a:off x="731520" y="2353056"/>
            <a:ext cx="63399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T(s → s') = P(Xₜ₊₁ = s' | Xₜ = 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ea4c0c1e2d_0_675"/>
          <p:cNvSpPr/>
          <p:nvPr/>
        </p:nvSpPr>
        <p:spPr>
          <a:xfrm>
            <a:off x="731520" y="2840736"/>
            <a:ext cx="6339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Prob of going to s' given currently in 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a4c0c1e2d_0_675"/>
          <p:cNvSpPr/>
          <p:nvPr/>
        </p:nvSpPr>
        <p:spPr>
          <a:xfrm>
            <a:off x="7498080" y="1828800"/>
            <a:ext cx="4206300" cy="1767900"/>
          </a:xfrm>
          <a:prstGeom prst="rect">
            <a:avLst/>
          </a:prstGeom>
          <a:solidFill>
            <a:srgbClr val="FEF3C7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ea4c0c1e2d_0_675"/>
          <p:cNvSpPr/>
          <p:nvPr/>
        </p:nvSpPr>
        <p:spPr>
          <a:xfrm>
            <a:off x="7680960" y="1926336"/>
            <a:ext cx="3840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⚠️ Key Rule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a4c0c1e2d_0_675"/>
          <p:cNvSpPr/>
          <p:nvPr/>
        </p:nvSpPr>
        <p:spPr>
          <a:xfrm>
            <a:off x="7680960" y="2353056"/>
            <a:ext cx="384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outgoing probabilities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must sum to 1: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ea4c0c1e2d_0_675"/>
          <p:cNvSpPr/>
          <p:nvPr/>
        </p:nvSpPr>
        <p:spPr>
          <a:xfrm>
            <a:off x="7680960" y="2901696"/>
            <a:ext cx="38403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∑ T(s → s') = 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a4c0c1e2d_0_675"/>
          <p:cNvSpPr/>
          <p:nvPr/>
        </p:nvSpPr>
        <p:spPr>
          <a:xfrm>
            <a:off x="487680" y="3779520"/>
            <a:ext cx="11216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Example: 3-State Weather Transition Matrix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8" name="Google Shape;378;g3ea4c0c1e2d_0_675"/>
          <p:cNvGraphicFramePr/>
          <p:nvPr/>
        </p:nvGraphicFramePr>
        <p:xfrm>
          <a:off x="487680" y="42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{C2552FC8-2E4C-475B-962A-508FA6BD930A}</a:tableStyleId>
              </a:tblPr>
              <a:tblGrid>
                <a:gridCol w="2804175"/>
                <a:gridCol w="2804175"/>
                <a:gridCol w="2804175"/>
                <a:gridCol w="280417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\ To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☀️ Sunny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☁️ Cloudy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🌧 Rainy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☀️ Sunny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☁️ Cloudy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🌧 Rainy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7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a4c0c1e2d_0_725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ea4c0c1e2d_0_725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Stationary Distributions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a4c0c1e2d_0_725"/>
          <p:cNvSpPr/>
          <p:nvPr/>
        </p:nvSpPr>
        <p:spPr>
          <a:xfrm>
            <a:off x="487680" y="1341120"/>
            <a:ext cx="11216700" cy="1341300"/>
          </a:xfrm>
          <a:prstGeom prst="rect">
            <a:avLst/>
          </a:prstGeom>
          <a:solidFill>
            <a:srgbClr val="EEF2FF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ea4c0c1e2d_0_725"/>
          <p:cNvSpPr/>
          <p:nvPr/>
        </p:nvSpPr>
        <p:spPr>
          <a:xfrm>
            <a:off x="487680" y="1341120"/>
            <a:ext cx="122100" cy="13413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ea4c0c1e2d_0_725"/>
          <p:cNvSpPr/>
          <p:nvPr/>
        </p:nvSpPr>
        <p:spPr>
          <a:xfrm>
            <a:off x="792480" y="1438656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📖  Definition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a4c0c1e2d_0_725"/>
          <p:cNvSpPr/>
          <p:nvPr/>
        </p:nvSpPr>
        <p:spPr>
          <a:xfrm>
            <a:off x="792480" y="1828800"/>
            <a:ext cx="1072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stationary distribution π is a probability distribution that does NOT CHANGE when you apply the transition matrix.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a4c0c1e2d_0_725"/>
          <p:cNvSpPr/>
          <p:nvPr/>
        </p:nvSpPr>
        <p:spPr>
          <a:xfrm>
            <a:off x="487680" y="2865120"/>
            <a:ext cx="5547300" cy="15240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ea4c0c1e2d_0_725"/>
          <p:cNvSpPr/>
          <p:nvPr/>
        </p:nvSpPr>
        <p:spPr>
          <a:xfrm>
            <a:off x="670560" y="2962656"/>
            <a:ext cx="518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The Key Equation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a4c0c1e2d_0_725"/>
          <p:cNvSpPr/>
          <p:nvPr/>
        </p:nvSpPr>
        <p:spPr>
          <a:xfrm>
            <a:off x="670560" y="3389376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onsolas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π  =  π · 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a4c0c1e2d_0_725"/>
          <p:cNvSpPr/>
          <p:nvPr/>
        </p:nvSpPr>
        <p:spPr>
          <a:xfrm>
            <a:off x="670560" y="3998976"/>
            <a:ext cx="518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π stays the same after one step!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a4c0c1e2d_0_725"/>
          <p:cNvSpPr/>
          <p:nvPr/>
        </p:nvSpPr>
        <p:spPr>
          <a:xfrm>
            <a:off x="6339840" y="2865120"/>
            <a:ext cx="5364300" cy="1524000"/>
          </a:xfrm>
          <a:prstGeom prst="rect">
            <a:avLst/>
          </a:prstGeom>
          <a:solidFill>
            <a:srgbClr val="FEF3C7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ea4c0c1e2d_0_725"/>
          <p:cNvSpPr/>
          <p:nvPr/>
        </p:nvSpPr>
        <p:spPr>
          <a:xfrm>
            <a:off x="6583680" y="2962656"/>
            <a:ext cx="499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🪣  Intuition: Steady State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a4c0c1e2d_0_725"/>
          <p:cNvSpPr/>
          <p:nvPr/>
        </p:nvSpPr>
        <p:spPr>
          <a:xfrm>
            <a:off x="6583680" y="3389376"/>
            <a:ext cx="48768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Imagine water flowing into and out of buckets. A stationary distribution is when each bucket maintains the same water level over time, means inflow = outflow.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a4c0c1e2d_0_725"/>
          <p:cNvSpPr/>
          <p:nvPr/>
        </p:nvSpPr>
        <p:spPr>
          <a:xfrm>
            <a:off x="487680" y="4572000"/>
            <a:ext cx="11216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Properties of a Stationary Distribution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ea4c0c1e2d_0_725"/>
          <p:cNvSpPr/>
          <p:nvPr/>
        </p:nvSpPr>
        <p:spPr>
          <a:xfrm>
            <a:off x="487680" y="5023104"/>
            <a:ext cx="11216700" cy="487500"/>
          </a:xfrm>
          <a:prstGeom prst="rect">
            <a:avLst/>
          </a:prstGeom>
          <a:solidFill>
            <a:srgbClr val="F0FDF4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ea4c0c1e2d_0_725"/>
          <p:cNvSpPr/>
          <p:nvPr/>
        </p:nvSpPr>
        <p:spPr>
          <a:xfrm>
            <a:off x="731520" y="5084064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✅  All values are non-negative (probabilities ≥ 0)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ea4c0c1e2d_0_725"/>
          <p:cNvSpPr/>
          <p:nvPr/>
        </p:nvSpPr>
        <p:spPr>
          <a:xfrm>
            <a:off x="487680" y="5596128"/>
            <a:ext cx="11216700" cy="487500"/>
          </a:xfrm>
          <a:prstGeom prst="rect">
            <a:avLst/>
          </a:prstGeom>
          <a:solidFill>
            <a:srgbClr val="F0FDF4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ea4c0c1e2d_0_725"/>
          <p:cNvSpPr/>
          <p:nvPr/>
        </p:nvSpPr>
        <p:spPr>
          <a:xfrm>
            <a:off x="731520" y="5657088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✅  All values sum to exactly 1: ∑πᵢ = 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a4c0c1e2d_0_725"/>
          <p:cNvSpPr/>
          <p:nvPr/>
        </p:nvSpPr>
        <p:spPr>
          <a:xfrm>
            <a:off x="487680" y="6169152"/>
            <a:ext cx="11216700" cy="487500"/>
          </a:xfrm>
          <a:prstGeom prst="rect">
            <a:avLst/>
          </a:prstGeom>
          <a:solidFill>
            <a:srgbClr val="EFF6FF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ea4c0c1e2d_0_725"/>
          <p:cNvSpPr/>
          <p:nvPr/>
        </p:nvSpPr>
        <p:spPr>
          <a:xfrm>
            <a:off x="731520" y="6230112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✅  It's the long-run proportion of time in each state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a4c0c1e2d_0_749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a4c0c1e2d_0_749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the Stationary Distribution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a4c0c1e2d_0_749"/>
          <p:cNvSpPr/>
          <p:nvPr/>
        </p:nvSpPr>
        <p:spPr>
          <a:xfrm>
            <a:off x="487680" y="1316736"/>
            <a:ext cx="11216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Step-by-Step: 2-State Weather Example (Sunny &amp; Rainy only)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a4c0c1e2d_0_749"/>
          <p:cNvSpPr/>
          <p:nvPr/>
        </p:nvSpPr>
        <p:spPr>
          <a:xfrm>
            <a:off x="487680" y="1804416"/>
            <a:ext cx="4632900" cy="26823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ea4c0c1e2d_0_749"/>
          <p:cNvSpPr/>
          <p:nvPr/>
        </p:nvSpPr>
        <p:spPr>
          <a:xfrm>
            <a:off x="670560" y="1901952"/>
            <a:ext cx="426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Transition Matrix 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a4c0c1e2d_0_749"/>
          <p:cNvSpPr/>
          <p:nvPr/>
        </p:nvSpPr>
        <p:spPr>
          <a:xfrm>
            <a:off x="670560" y="2353056"/>
            <a:ext cx="4267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    Sunny   Rainy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ea4c0c1e2d_0_749"/>
          <p:cNvSpPr/>
          <p:nvPr/>
        </p:nvSpPr>
        <p:spPr>
          <a:xfrm>
            <a:off x="670560" y="2706624"/>
            <a:ext cx="426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Sunny [  0.8      0.2 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a4c0c1e2d_0_749"/>
          <p:cNvSpPr/>
          <p:nvPr/>
        </p:nvSpPr>
        <p:spPr>
          <a:xfrm>
            <a:off x="670560" y="3096768"/>
            <a:ext cx="426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Rainy  [  0.4      0.6 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a4c0c1e2d_0_749"/>
          <p:cNvSpPr/>
          <p:nvPr/>
        </p:nvSpPr>
        <p:spPr>
          <a:xfrm>
            <a:off x="670560" y="3560064"/>
            <a:ext cx="4267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Rows must sum to 1  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ea4c0c1e2d_0_749"/>
          <p:cNvSpPr/>
          <p:nvPr/>
        </p:nvSpPr>
        <p:spPr>
          <a:xfrm>
            <a:off x="5364480" y="1804416"/>
            <a:ext cx="6339900" cy="26823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ea4c0c1e2d_0_749"/>
          <p:cNvSpPr/>
          <p:nvPr/>
        </p:nvSpPr>
        <p:spPr>
          <a:xfrm>
            <a:off x="5547360" y="1901952"/>
            <a:ext cx="60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Setup Equations (π = π·T)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a4c0c1e2d_0_749"/>
          <p:cNvSpPr/>
          <p:nvPr/>
        </p:nvSpPr>
        <p:spPr>
          <a:xfrm>
            <a:off x="5547360" y="2316480"/>
            <a:ext cx="6096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 π = [πₛ , πᵣ]  (Sunny &amp; Rainy probabilities)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ea4c0c1e2d_0_749"/>
          <p:cNvSpPr/>
          <p:nvPr/>
        </p:nvSpPr>
        <p:spPr>
          <a:xfrm>
            <a:off x="5547360" y="2706624"/>
            <a:ext cx="6096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Eq 1:  πₛ = 0.8·πₛ + 0.4·πᵣ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a4c0c1e2d_0_749"/>
          <p:cNvSpPr/>
          <p:nvPr/>
        </p:nvSpPr>
        <p:spPr>
          <a:xfrm>
            <a:off x="5547360" y="3072384"/>
            <a:ext cx="6096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Eq 2:  πᵣ = 0.2·πₛ + 0.6·πᵣ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ea4c0c1e2d_0_749"/>
          <p:cNvSpPr/>
          <p:nvPr/>
        </p:nvSpPr>
        <p:spPr>
          <a:xfrm>
            <a:off x="5547360" y="3438144"/>
            <a:ext cx="6096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Eq 3:  πₛ + πᵣ = 1  (must sum to 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a4c0c1e2d_0_749"/>
          <p:cNvSpPr/>
          <p:nvPr/>
        </p:nvSpPr>
        <p:spPr>
          <a:xfrm>
            <a:off x="487680" y="4693920"/>
            <a:ext cx="11216700" cy="1828800"/>
          </a:xfrm>
          <a:prstGeom prst="rect">
            <a:avLst/>
          </a:prstGeom>
          <a:solidFill>
            <a:srgbClr val="F0FDF4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ea4c0c1e2d_0_749"/>
          <p:cNvSpPr/>
          <p:nvPr/>
        </p:nvSpPr>
        <p:spPr>
          <a:xfrm>
            <a:off x="731520" y="4791456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✅ 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a4c0c1e2d_0_749"/>
          <p:cNvSpPr/>
          <p:nvPr/>
        </p:nvSpPr>
        <p:spPr>
          <a:xfrm>
            <a:off x="731520" y="5218176"/>
            <a:ext cx="10728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From Eq1: 0.2·πₛ = 0.4·πᵣ  →  πₛ = 2·πᵣ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ea4c0c1e2d_0_749"/>
          <p:cNvSpPr/>
          <p:nvPr/>
        </p:nvSpPr>
        <p:spPr>
          <a:xfrm>
            <a:off x="731520" y="5583936"/>
            <a:ext cx="10728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Substituting in Eq3:  2·πᵣ + πᵣ = 1  →  πᵣ = 1/3 ≈ 0.33  and  πₛ = 2/3 ≈ 0.67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a4c0c1e2d_0_749"/>
          <p:cNvSpPr/>
          <p:nvPr/>
        </p:nvSpPr>
        <p:spPr>
          <a:xfrm>
            <a:off x="731520" y="5974080"/>
            <a:ext cx="10728900" cy="4269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ea4c0c1e2d_0_749"/>
          <p:cNvSpPr/>
          <p:nvPr/>
        </p:nvSpPr>
        <p:spPr>
          <a:xfrm>
            <a:off x="731520" y="5974080"/>
            <a:ext cx="1072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π = [0.67, 0.33] → In the long run: 67% Sunny days, 33% Rainy days!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a4c0c1e2d_0_818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ea4c0c1e2d_0_818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ea4c0c1e2d_0_818"/>
          <p:cNvSpPr/>
          <p:nvPr/>
        </p:nvSpPr>
        <p:spPr>
          <a:xfrm>
            <a:off x="487680" y="1402080"/>
            <a:ext cx="5547300" cy="14877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ea4c0c1e2d_0_818"/>
          <p:cNvSpPr/>
          <p:nvPr/>
        </p:nvSpPr>
        <p:spPr>
          <a:xfrm>
            <a:off x="633984" y="1767840"/>
            <a:ext cx="670500" cy="670500"/>
          </a:xfrm>
          <a:prstGeom prst="ellipse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ea4c0c1e2d_0_818"/>
          <p:cNvSpPr/>
          <p:nvPr/>
        </p:nvSpPr>
        <p:spPr>
          <a:xfrm>
            <a:off x="633984" y="1767840"/>
            <a:ext cx="67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a4c0c1e2d_0_818"/>
          <p:cNvSpPr/>
          <p:nvPr/>
        </p:nvSpPr>
        <p:spPr>
          <a:xfrm>
            <a:off x="1487424" y="1548384"/>
            <a:ext cx="4413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Markov Property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a4c0c1e2d_0_818"/>
          <p:cNvSpPr/>
          <p:nvPr/>
        </p:nvSpPr>
        <p:spPr>
          <a:xfrm>
            <a:off x="1487424" y="1987296"/>
            <a:ext cx="4413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future depends ONLY on the present, not the past (memoryless).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a4c0c1e2d_0_818"/>
          <p:cNvSpPr/>
          <p:nvPr/>
        </p:nvSpPr>
        <p:spPr>
          <a:xfrm>
            <a:off x="487680" y="3084576"/>
            <a:ext cx="5547300" cy="14877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ea4c0c1e2d_0_818"/>
          <p:cNvSpPr/>
          <p:nvPr/>
        </p:nvSpPr>
        <p:spPr>
          <a:xfrm>
            <a:off x="633984" y="3450336"/>
            <a:ext cx="670500" cy="670500"/>
          </a:xfrm>
          <a:prstGeom prst="ellipse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ea4c0c1e2d_0_818"/>
          <p:cNvSpPr/>
          <p:nvPr/>
        </p:nvSpPr>
        <p:spPr>
          <a:xfrm>
            <a:off x="633984" y="3450336"/>
            <a:ext cx="67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a4c0c1e2d_0_818"/>
          <p:cNvSpPr/>
          <p:nvPr/>
        </p:nvSpPr>
        <p:spPr>
          <a:xfrm>
            <a:off x="1487424" y="3230880"/>
            <a:ext cx="4413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Joint Distribution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a4c0c1e2d_0_818"/>
          <p:cNvSpPr/>
          <p:nvPr/>
        </p:nvSpPr>
        <p:spPr>
          <a:xfrm>
            <a:off x="1487424" y="3669792"/>
            <a:ext cx="4413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P(sequence) = P(X₁) × P(X₂|X₁) × P(X₃|X₂) × ...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ea4c0c1e2d_0_818"/>
          <p:cNvSpPr/>
          <p:nvPr/>
        </p:nvSpPr>
        <p:spPr>
          <a:xfrm>
            <a:off x="487680" y="4767072"/>
            <a:ext cx="5547300" cy="14877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ea4c0c1e2d_0_818"/>
          <p:cNvSpPr/>
          <p:nvPr/>
        </p:nvSpPr>
        <p:spPr>
          <a:xfrm>
            <a:off x="633984" y="5132832"/>
            <a:ext cx="670500" cy="670500"/>
          </a:xfrm>
          <a:prstGeom prst="ellipse">
            <a:avLst/>
          </a:prstGeom>
          <a:solidFill>
            <a:srgbClr val="8B5CF6"/>
          </a:solidFill>
          <a:ln cap="flat" cmpd="sng" w="169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ea4c0c1e2d_0_818"/>
          <p:cNvSpPr/>
          <p:nvPr/>
        </p:nvSpPr>
        <p:spPr>
          <a:xfrm>
            <a:off x="633984" y="5132832"/>
            <a:ext cx="67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a4c0c1e2d_0_818"/>
          <p:cNvSpPr/>
          <p:nvPr/>
        </p:nvSpPr>
        <p:spPr>
          <a:xfrm>
            <a:off x="1487424" y="4913376"/>
            <a:ext cx="4413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Transition Matrix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a4c0c1e2d_0_818"/>
          <p:cNvSpPr/>
          <p:nvPr/>
        </p:nvSpPr>
        <p:spPr>
          <a:xfrm>
            <a:off x="1487424" y="5352288"/>
            <a:ext cx="4413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Stores all probabilities T(s → s'). Each row sums to 1.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a4c0c1e2d_0_818"/>
          <p:cNvSpPr/>
          <p:nvPr/>
        </p:nvSpPr>
        <p:spPr>
          <a:xfrm>
            <a:off x="6339840" y="1402080"/>
            <a:ext cx="5547300" cy="14877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ea4c0c1e2d_0_818"/>
          <p:cNvSpPr/>
          <p:nvPr/>
        </p:nvSpPr>
        <p:spPr>
          <a:xfrm>
            <a:off x="6486144" y="1767840"/>
            <a:ext cx="670500" cy="6705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ea4c0c1e2d_0_818"/>
          <p:cNvSpPr/>
          <p:nvPr/>
        </p:nvSpPr>
        <p:spPr>
          <a:xfrm>
            <a:off x="6486144" y="1767840"/>
            <a:ext cx="67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a4c0c1e2d_0_818"/>
          <p:cNvSpPr/>
          <p:nvPr/>
        </p:nvSpPr>
        <p:spPr>
          <a:xfrm>
            <a:off x="7339584" y="1548384"/>
            <a:ext cx="4413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Chain Rule Simplified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a4c0c1e2d_0_818"/>
          <p:cNvSpPr/>
          <p:nvPr/>
        </p:nvSpPr>
        <p:spPr>
          <a:xfrm>
            <a:off x="7339584" y="1987296"/>
            <a:ext cx="4413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Markov Property lets us drop all history — only one previous state needed.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a4c0c1e2d_0_818"/>
          <p:cNvSpPr/>
          <p:nvPr/>
        </p:nvSpPr>
        <p:spPr>
          <a:xfrm>
            <a:off x="6339840" y="3084576"/>
            <a:ext cx="5547300" cy="14877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a4c0c1e2d_0_818"/>
          <p:cNvSpPr/>
          <p:nvPr/>
        </p:nvSpPr>
        <p:spPr>
          <a:xfrm>
            <a:off x="6486144" y="3450336"/>
            <a:ext cx="670500" cy="6705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ea4c0c1e2d_0_818"/>
          <p:cNvSpPr/>
          <p:nvPr/>
        </p:nvSpPr>
        <p:spPr>
          <a:xfrm>
            <a:off x="6486144" y="3450336"/>
            <a:ext cx="67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a4c0c1e2d_0_818"/>
          <p:cNvSpPr/>
          <p:nvPr/>
        </p:nvSpPr>
        <p:spPr>
          <a:xfrm>
            <a:off x="7339584" y="3230880"/>
            <a:ext cx="4413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Stationary Distribution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a4c0c1e2d_0_818"/>
          <p:cNvSpPr/>
          <p:nvPr/>
        </p:nvSpPr>
        <p:spPr>
          <a:xfrm>
            <a:off x="7339584" y="3669792"/>
            <a:ext cx="4413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long-run stable distribution π where π = π·T.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ea4c0c1e2d_0_818"/>
          <p:cNvSpPr/>
          <p:nvPr/>
        </p:nvSpPr>
        <p:spPr>
          <a:xfrm>
            <a:off x="6339840" y="4767072"/>
            <a:ext cx="5547300" cy="14877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5467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ea4c0c1e2d_0_818"/>
          <p:cNvSpPr/>
          <p:nvPr/>
        </p:nvSpPr>
        <p:spPr>
          <a:xfrm>
            <a:off x="6486144" y="5132832"/>
            <a:ext cx="670500" cy="670500"/>
          </a:xfrm>
          <a:prstGeom prst="ellipse">
            <a:avLst/>
          </a:prstGeom>
          <a:solidFill>
            <a:srgbClr val="10B981"/>
          </a:solidFill>
          <a:ln cap="flat" cmpd="sng" w="169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ea4c0c1e2d_0_818"/>
          <p:cNvSpPr/>
          <p:nvPr/>
        </p:nvSpPr>
        <p:spPr>
          <a:xfrm>
            <a:off x="6486144" y="5132832"/>
            <a:ext cx="67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a4c0c1e2d_0_818"/>
          <p:cNvSpPr/>
          <p:nvPr/>
        </p:nvSpPr>
        <p:spPr>
          <a:xfrm>
            <a:off x="7339584" y="4913376"/>
            <a:ext cx="4413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Convergence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a4c0c1e2d_0_818"/>
          <p:cNvSpPr/>
          <p:nvPr/>
        </p:nvSpPr>
        <p:spPr>
          <a:xfrm>
            <a:off x="7339584" y="5352288"/>
            <a:ext cx="4413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Any Markov chain (under mild conditions) converges to π over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a4c0c1e2d_0_854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E4A"/>
          </a:solidFill>
          <a:ln cap="flat" cmpd="sng" w="16925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ea4c0c1e2d_0_854"/>
          <p:cNvSpPr/>
          <p:nvPr/>
        </p:nvSpPr>
        <p:spPr>
          <a:xfrm>
            <a:off x="487680" y="18288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Reference: Formulas &amp; Symbols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a4c0c1e2d_0_854"/>
          <p:cNvSpPr/>
          <p:nvPr/>
        </p:nvSpPr>
        <p:spPr>
          <a:xfrm>
            <a:off x="487680" y="1402080"/>
            <a:ext cx="11216700" cy="9144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ea4c0c1e2d_0_854"/>
          <p:cNvSpPr/>
          <p:nvPr/>
        </p:nvSpPr>
        <p:spPr>
          <a:xfrm>
            <a:off x="487680" y="1402080"/>
            <a:ext cx="109500" cy="914400"/>
          </a:xfrm>
          <a:prstGeom prst="rect">
            <a:avLst/>
          </a:prstGeom>
          <a:solidFill>
            <a:srgbClr val="0D9488"/>
          </a:solidFill>
          <a:ln cap="flat" cmpd="sng" w="169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ea4c0c1e2d_0_854"/>
          <p:cNvSpPr/>
          <p:nvPr/>
        </p:nvSpPr>
        <p:spPr>
          <a:xfrm>
            <a:off x="731520" y="1645920"/>
            <a:ext cx="2925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Markov Property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a4c0c1e2d_0_854"/>
          <p:cNvSpPr/>
          <p:nvPr/>
        </p:nvSpPr>
        <p:spPr>
          <a:xfrm>
            <a:off x="3779520" y="1621536"/>
            <a:ext cx="780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P(Xₜ₊₁ | X₁,...,Xₜ) = P(Xₜ₊₁ | Xₜ)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a4c0c1e2d_0_854"/>
          <p:cNvSpPr/>
          <p:nvPr/>
        </p:nvSpPr>
        <p:spPr>
          <a:xfrm>
            <a:off x="487680" y="2438400"/>
            <a:ext cx="11216700" cy="9144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ea4c0c1e2d_0_854"/>
          <p:cNvSpPr/>
          <p:nvPr/>
        </p:nvSpPr>
        <p:spPr>
          <a:xfrm>
            <a:off x="487680" y="2438400"/>
            <a:ext cx="109500" cy="914400"/>
          </a:xfrm>
          <a:prstGeom prst="rect">
            <a:avLst/>
          </a:prstGeom>
          <a:solidFill>
            <a:srgbClr val="3B82F6"/>
          </a:solidFill>
          <a:ln cap="flat" cmpd="sng" w="169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ea4c0c1e2d_0_854"/>
          <p:cNvSpPr/>
          <p:nvPr/>
        </p:nvSpPr>
        <p:spPr>
          <a:xfrm>
            <a:off x="731520" y="2682240"/>
            <a:ext cx="2925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Joint Distribution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a4c0c1e2d_0_854"/>
          <p:cNvSpPr/>
          <p:nvPr/>
        </p:nvSpPr>
        <p:spPr>
          <a:xfrm>
            <a:off x="3779520" y="2657856"/>
            <a:ext cx="780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P(X₁,...,Xₙ) = P(X₁) · ∏ P(Xₜ₊₁|Xₜ)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ea4c0c1e2d_0_854"/>
          <p:cNvSpPr/>
          <p:nvPr/>
        </p:nvSpPr>
        <p:spPr>
          <a:xfrm>
            <a:off x="487680" y="3474720"/>
            <a:ext cx="11216700" cy="914400"/>
          </a:xfrm>
          <a:prstGeom prst="rect">
            <a:avLst/>
          </a:prstGeom>
          <a:solidFill>
            <a:srgbClr val="F1F5F9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ea4c0c1e2d_0_854"/>
          <p:cNvSpPr/>
          <p:nvPr/>
        </p:nvSpPr>
        <p:spPr>
          <a:xfrm>
            <a:off x="487680" y="3474720"/>
            <a:ext cx="109500" cy="914400"/>
          </a:xfrm>
          <a:prstGeom prst="rect">
            <a:avLst/>
          </a:prstGeom>
          <a:solidFill>
            <a:srgbClr val="8B5CF6"/>
          </a:solidFill>
          <a:ln cap="flat" cmpd="sng" w="169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ea4c0c1e2d_0_854"/>
          <p:cNvSpPr/>
          <p:nvPr/>
        </p:nvSpPr>
        <p:spPr>
          <a:xfrm>
            <a:off x="731520" y="3718560"/>
            <a:ext cx="2925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Stationary Dist.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ea4c0c1e2d_0_854"/>
          <p:cNvSpPr/>
          <p:nvPr/>
        </p:nvSpPr>
        <p:spPr>
          <a:xfrm>
            <a:off x="3779520" y="3694176"/>
            <a:ext cx="780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π = π · T   and   ∑ πᵢ = 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a4c0c1e2d_0_854"/>
          <p:cNvSpPr/>
          <p:nvPr/>
        </p:nvSpPr>
        <p:spPr>
          <a:xfrm>
            <a:off x="487680" y="4511040"/>
            <a:ext cx="11216700" cy="9144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ea4c0c1e2d_0_854"/>
          <p:cNvSpPr/>
          <p:nvPr/>
        </p:nvSpPr>
        <p:spPr>
          <a:xfrm>
            <a:off x="487680" y="4511040"/>
            <a:ext cx="109500" cy="914400"/>
          </a:xfrm>
          <a:prstGeom prst="rect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ea4c0c1e2d_0_854"/>
          <p:cNvSpPr/>
          <p:nvPr/>
        </p:nvSpPr>
        <p:spPr>
          <a:xfrm>
            <a:off x="731520" y="4754880"/>
            <a:ext cx="2925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Transition Prob.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a4c0c1e2d_0_854"/>
          <p:cNvSpPr/>
          <p:nvPr/>
        </p:nvSpPr>
        <p:spPr>
          <a:xfrm>
            <a:off x="3779520" y="4730496"/>
            <a:ext cx="780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T(s,s') = P(Xₜ₊₁ = s' | Xₜ = 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g3ea4c0c1e2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325" y="129113"/>
            <a:ext cx="8839199" cy="5462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ea4c0c1e2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1542" y="5360988"/>
            <a:ext cx="9060876" cy="13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a4c0c1e2d_0_5"/>
          <p:cNvSpPr txBox="1"/>
          <p:nvPr>
            <p:ph type="title"/>
          </p:nvPr>
        </p:nvSpPr>
        <p:spPr>
          <a:xfrm>
            <a:off x="461825" y="0"/>
            <a:ext cx="1061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200"/>
          </a:p>
        </p:txBody>
      </p:sp>
      <p:sp>
        <p:nvSpPr>
          <p:cNvPr id="501" name="Google Shape;501;g3ea4c0c1e2d_0_5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 platforms: Netflix (N), Hulu (H), Disney+ (D)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 users: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= 60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Hulu = 50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Disney+ = 40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= 150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questions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Construct the transition matrix.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Predict Netflix users in 2025.</a:t>
            </a:r>
            <a:endParaRPr sz="2000"/>
          </a:p>
          <a:p>
            <a:pPr indent="0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Compute the long-run (stationary) probabilities.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a4c0c1e2d_0_10"/>
          <p:cNvSpPr txBox="1"/>
          <p:nvPr>
            <p:ph type="title"/>
          </p:nvPr>
        </p:nvSpPr>
        <p:spPr>
          <a:xfrm>
            <a:off x="0" y="-25400"/>
            <a:ext cx="10737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Organize Transition Data</a:t>
            </a:r>
            <a:endParaRPr sz="3100"/>
          </a:p>
        </p:txBody>
      </p:sp>
      <p:sp>
        <p:nvSpPr>
          <p:cNvPr id="507" name="Google Shape;507;g3ea4c0c1e2d_0_10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users (60):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12 -&gt; Hulu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6 -&gt; Disney+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42 stay Netflix</a:t>
            </a:r>
            <a:endParaRPr sz="19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Hulu users (50):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10 -&gt; Netflix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8 -&gt; Disney+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32 stay Hulu</a:t>
            </a:r>
            <a:endParaRPr sz="19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Disney+ users (40):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8 -&gt; Netflix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5 -&gt; Hulu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27 stay Disney+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a4c0c1e2d_0_15"/>
          <p:cNvSpPr txBox="1"/>
          <p:nvPr>
            <p:ph type="title"/>
          </p:nvPr>
        </p:nvSpPr>
        <p:spPr>
          <a:xfrm>
            <a:off x="0" y="-25400"/>
            <a:ext cx="1154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Compute Transition Probabilities</a:t>
            </a:r>
            <a:endParaRPr sz="3000"/>
          </a:p>
        </p:txBody>
      </p:sp>
      <p:sp>
        <p:nvSpPr>
          <p:cNvPr id="513" name="Google Shape;513;g3ea4c0c1e2d_0_15"/>
          <p:cNvSpPr txBox="1"/>
          <p:nvPr>
            <p:ph idx="1" type="body"/>
          </p:nvPr>
        </p:nvSpPr>
        <p:spPr>
          <a:xfrm>
            <a:off x="541867" y="1411433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row: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P(N→N)=42/60=0.70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P(N→H)=12/60=0.20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P(N→D)=6/60=0.10</a:t>
            </a:r>
            <a:endParaRPr sz="18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Hulu row: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P(H→N)=10/50=0.20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P(H→H)=32/50=0.64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P(H→D)=8/50=0.16</a:t>
            </a:r>
            <a:endParaRPr sz="18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Disney+ row: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P(D→N)=8/40=0.20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P(D→H)=5/40=0.125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P(D→D)=27/40=0.675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a4c0c1e2d_0_20"/>
          <p:cNvSpPr txBox="1"/>
          <p:nvPr>
            <p:ph type="title"/>
          </p:nvPr>
        </p:nvSpPr>
        <p:spPr>
          <a:xfrm>
            <a:off x="-3131725" y="0"/>
            <a:ext cx="1625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Construct the Transition Matrix</a:t>
            </a:r>
            <a:b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(ans of Q1)</a:t>
            </a:r>
            <a:endParaRPr sz="3600"/>
          </a:p>
        </p:txBody>
      </p:sp>
      <p:sp>
        <p:nvSpPr>
          <p:cNvPr id="519" name="Google Shape;519;g3ea4c0c1e2d_0_20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 = Current Platform</a:t>
            </a:r>
            <a:endParaRPr sz="2500"/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Columns = Next Year's Platform</a:t>
            </a:r>
            <a:endParaRPr sz="25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</a:t>
            </a:r>
            <a:r>
              <a:rPr lang="en-US" sz="2500"/>
              <a:t>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[0.70   0.20   0.10]</a:t>
            </a:r>
            <a:endParaRPr sz="2500"/>
          </a:p>
          <a:p>
            <a:pPr indent="0" lvl="0" marL="8001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[0.20   0.64   0.16]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/>
              <a:t>      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[0.20   0.125  0.675]</a:t>
            </a:r>
            <a:endParaRPr sz="25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row sums to 1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a4c0c1e2d_0_25"/>
          <p:cNvSpPr txBox="1"/>
          <p:nvPr>
            <p:ph type="title"/>
          </p:nvPr>
        </p:nvSpPr>
        <p:spPr>
          <a:xfrm>
            <a:off x="-1847275" y="0"/>
            <a:ext cx="1437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Initial State Distribution (2020)</a:t>
            </a:r>
            <a:endParaRPr sz="3700"/>
          </a:p>
        </p:txBody>
      </p:sp>
      <p:sp>
        <p:nvSpPr>
          <p:cNvPr id="525" name="Google Shape;525;g3ea4c0c1e2d_0_25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user counts to probabilities:</a:t>
            </a:r>
            <a:endParaRPr sz="25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= 60/150 = 0.40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Hulu    = 50/150 = 0.333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Disney+ = 40/150 = 0.267</a:t>
            </a:r>
            <a:endParaRPr sz="25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[0.40, 0.333, 0.267]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ea4c0c1e2d_0_30"/>
          <p:cNvSpPr txBox="1"/>
          <p:nvPr>
            <p:ph type="title"/>
          </p:nvPr>
        </p:nvSpPr>
        <p:spPr>
          <a:xfrm>
            <a:off x="0" y="-25400"/>
            <a:ext cx="1124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5: Predict 2021 Distribution</a:t>
            </a:r>
            <a:endParaRPr sz="3100"/>
          </a:p>
        </p:txBody>
      </p:sp>
      <p:sp>
        <p:nvSpPr>
          <p:cNvPr id="531" name="Google Shape;531;g3ea4c0c1e2d_0_30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2021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π</a:t>
            </a:r>
            <a:r>
              <a:rPr baseline="-2500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endParaRPr sz="19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Netflix: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0.40(0.70)+0.333(0.20)+0.267(0.20)=0.400</a:t>
            </a:r>
            <a:endParaRPr sz="19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Hulu: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0.40(0.20)+0.333(0.64)+0.267(0.125)=0.327</a:t>
            </a:r>
            <a:endParaRPr sz="19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Disney+:</a:t>
            </a:r>
            <a:endParaRPr sz="19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0.40(0.10)+0.333(0.16)+0.267(0.675)=0.274</a:t>
            </a:r>
            <a:endParaRPr sz="19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▪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2021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≈ [0.400, 0.327, 0.274]</a:t>
            </a:r>
            <a:endParaRPr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a4c0c1e2d_0_35"/>
          <p:cNvSpPr txBox="1"/>
          <p:nvPr>
            <p:ph type="title"/>
          </p:nvPr>
        </p:nvSpPr>
        <p:spPr>
          <a:xfrm>
            <a:off x="0" y="-25400"/>
            <a:ext cx="1112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8919"/>
              <a:buFont typeface="Calibri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6: Predict up to 2025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8919"/>
              <a:buFont typeface="Calibri"/>
              <a:buNone/>
            </a:pPr>
            <a:r>
              <a:rPr lang="en-US" sz="3700"/>
              <a:t>(ans of Q2)</a:t>
            </a:r>
            <a:endParaRPr sz="3700"/>
          </a:p>
        </p:txBody>
      </p:sp>
      <p:sp>
        <p:nvSpPr>
          <p:cNvPr id="537" name="Google Shape;537;g3ea4c0c1e2d_0_35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Repeatedly multiply by P:</a:t>
            </a:r>
            <a:endParaRPr sz="25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≈ [0.402, 0.321, 0.277]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≈ [0.403, 0.319, 0.278]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≈ [0.404, 0.318, 0.278]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aseline="-25000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≈ [0.404, 0.318, 0.278]</a:t>
            </a:r>
            <a:endParaRPr sz="25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 sz="2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users in 2025 ≈ 40.4%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a4c0c1e2d_0_40"/>
          <p:cNvSpPr txBox="1"/>
          <p:nvPr>
            <p:ph type="title"/>
          </p:nvPr>
        </p:nvSpPr>
        <p:spPr>
          <a:xfrm>
            <a:off x="0" y="-25400"/>
            <a:ext cx="11603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7: Stationary Distribution Setup</a:t>
            </a:r>
            <a:endParaRPr sz="3400"/>
          </a:p>
        </p:txBody>
      </p:sp>
      <p:sp>
        <p:nvSpPr>
          <p:cNvPr id="543" name="Google Shape;543;g3ea4c0c1e2d_0_40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the stationary distribution be:</a:t>
            </a:r>
            <a:endParaRPr sz="22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 = [x, y, z]</a:t>
            </a:r>
            <a:endParaRPr sz="22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solidFill>
                  <a:schemeClr val="dk1"/>
                </a:solidFill>
              </a:rPr>
              <a:t>Condition:</a:t>
            </a:r>
            <a:endParaRPr b="1" sz="22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 = </a:t>
            </a:r>
            <a:r>
              <a:rPr lang="en-US" sz="2200"/>
              <a:t>πP</a:t>
            </a:r>
            <a:endParaRPr sz="22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sz="22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y + z = 1</a:t>
            </a:r>
            <a:endParaRPr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a4c0c1e2d_0_45"/>
          <p:cNvSpPr txBox="1"/>
          <p:nvPr>
            <p:ph type="title"/>
          </p:nvPr>
        </p:nvSpPr>
        <p:spPr>
          <a:xfrm>
            <a:off x="0" y="-25400"/>
            <a:ext cx="1072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8: Derive the Equations</a:t>
            </a:r>
            <a:endParaRPr sz="3200"/>
          </a:p>
        </p:txBody>
      </p:sp>
      <p:sp>
        <p:nvSpPr>
          <p:cNvPr id="549" name="Google Shape;549;g3ea4c0c1e2d_0_45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en-US" sz="2200"/>
              <a:t>π = πP: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0.70x + 0.20y + 0.20z</a:t>
            </a:r>
            <a:endParaRPr sz="20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0.20x + 0.64y + 0.125z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Rearrange: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3x - 2y - 2z = 0</a:t>
            </a:r>
            <a:r>
              <a:rPr lang="en-US" sz="2000"/>
              <a:t>—--------(1)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360y = 200x + 125z</a:t>
            </a:r>
            <a:r>
              <a:rPr lang="en-US" sz="2000"/>
              <a:t>—-----(2)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/>
              <a:t>We know,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y + z = 1</a:t>
            </a:r>
            <a:r>
              <a:rPr lang="en-US" sz="2000"/>
              <a:t>—-------(3)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a4c0c1e2d_0_50"/>
          <p:cNvSpPr txBox="1"/>
          <p:nvPr>
            <p:ph type="title"/>
          </p:nvPr>
        </p:nvSpPr>
        <p:spPr>
          <a:xfrm>
            <a:off x="0" y="-25400"/>
            <a:ext cx="1124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9: Solve the Equations</a:t>
            </a:r>
            <a:endParaRPr sz="3200"/>
          </a:p>
        </p:txBody>
      </p:sp>
      <p:sp>
        <p:nvSpPr>
          <p:cNvPr id="555" name="Google Shape;555;g3ea4c0c1e2d_0_50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eq 1: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3x = 2(y+z)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y+z = 1-x: (from eq </a:t>
            </a:r>
            <a:r>
              <a:rPr lang="en-US" sz="2000"/>
              <a:t>3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3x = 2(1-x)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5x = 2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chemeClr val="dk1"/>
                </a:solidFill>
              </a:rPr>
              <a:t>x = 0.4</a:t>
            </a:r>
            <a:endParaRPr b="1"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556" name="Google Shape;556;g3ea4c0c1e2d_0_50"/>
          <p:cNvSpPr txBox="1"/>
          <p:nvPr/>
        </p:nvSpPr>
        <p:spPr>
          <a:xfrm>
            <a:off x="5591533" y="1517350"/>
            <a:ext cx="52413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replace x in eq 3: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y+z = 0.6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a4c0c1e2d_0_56"/>
          <p:cNvSpPr txBox="1"/>
          <p:nvPr>
            <p:ph type="title"/>
          </p:nvPr>
        </p:nvSpPr>
        <p:spPr>
          <a:xfrm>
            <a:off x="0" y="-25400"/>
            <a:ext cx="11516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10: Find y and z</a:t>
            </a:r>
            <a:endParaRPr sz="3200"/>
          </a:p>
        </p:txBody>
      </p:sp>
      <p:sp>
        <p:nvSpPr>
          <p:cNvPr id="562" name="Google Shape;562;g3ea4c0c1e2d_0_56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Substitute x in eq 2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360y = 200(0.4) + 125z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360y = 80 + 125z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Substitute z = 0.6 - y: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360y = 80 + 125(0.6 - y)</a:t>
            </a:r>
            <a:endParaRPr sz="20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563" name="Google Shape;563;g3ea4c0c1e2d_0_56"/>
          <p:cNvSpPr txBox="1"/>
          <p:nvPr/>
        </p:nvSpPr>
        <p:spPr>
          <a:xfrm>
            <a:off x="7607867" y="1827075"/>
            <a:ext cx="34569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485y = 155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0.320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= 0.280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ea4c0c1e2d_0_62"/>
          <p:cNvSpPr txBox="1"/>
          <p:nvPr>
            <p:ph type="title"/>
          </p:nvPr>
        </p:nvSpPr>
        <p:spPr>
          <a:xfrm>
            <a:off x="0" y="-25400"/>
            <a:ext cx="1155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5714"/>
              <a:buFont typeface="Calibri"/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Answer</a:t>
            </a:r>
            <a:b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00"/>
              <a:t>(ans of Q3)</a:t>
            </a:r>
            <a:endParaRPr sz="3500"/>
          </a:p>
        </p:txBody>
      </p:sp>
      <p:sp>
        <p:nvSpPr>
          <p:cNvPr id="569" name="Google Shape;569;g3ea4c0c1e2d_0_62"/>
          <p:cNvSpPr txBox="1"/>
          <p:nvPr>
            <p:ph idx="1" type="body"/>
          </p:nvPr>
        </p:nvSpPr>
        <p:spPr>
          <a:xfrm>
            <a:off x="541867" y="1397001"/>
            <a:ext cx="151725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▪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Stationary Distribution:</a:t>
            </a:r>
            <a:endParaRPr sz="23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 = [0.400, 0.320, 0.280]</a:t>
            </a:r>
            <a:endParaRPr sz="23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▪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Interpretation:</a:t>
            </a:r>
            <a:endParaRPr sz="23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 = 40.0%</a:t>
            </a:r>
            <a:endParaRPr sz="23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Hulu     = 32.0%</a:t>
            </a:r>
            <a:endParaRPr sz="23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Disney+  = 28.0%</a:t>
            </a:r>
            <a:endParaRPr sz="2300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▪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Long-run market shares converge to these values.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