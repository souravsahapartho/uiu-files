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90" r:id="rId34"/>
    <p:sldId id="289" r:id="rId35"/>
    <p:sldId id="294" r:id="rId36"/>
    <p:sldId id="288" r:id="rId37"/>
    <p:sldId id="291" r:id="rId38"/>
    <p:sldId id="292" r:id="rId39"/>
  </p:sldIdLst>
  <p:sldSz cx="12192000" cy="6858000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2" roundtripDataSignature="AMtx7mia402RAL021mKsxTyCoBbGW/hN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D1D9C12F-CBF6-413E-B424-6A0934C0AAC8}">
  <a:tblStyle styleId="{D1D9C12F-CBF6-413E-B424-6A0934C0AAC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-840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404799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Please retain proper attribution, including the reference to ai.berkeley.edu.  Thanks!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p2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Like “sort this list”  or “add these two numbers”</a:t>
            </a:r>
            <a:endParaRPr/>
          </a:p>
        </p:txBody>
      </p:sp>
      <p:sp>
        <p:nvSpPr>
          <p:cNvPr id="98" name="Google Shape;98;p3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8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" name="Google Shape;1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5" name="Google Shape;26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6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7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9" name="Google Shape;28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7" name="Google Shape;30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9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2" name="Google Shape;33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9" name="Google Shape;34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1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1" name="Google Shape;36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2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0" name="Google Shape;38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3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8" name="Google Shape;39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4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6" name="Google Shape;40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5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3" name="Google Shape;41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6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0" name="Google Shape;44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7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7" name="Google Shape;44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8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3" name="Google Shape;45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9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3" name="Google Shape;46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0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1" name="Google Shape;48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1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9" name="Google Shape;48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2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5" name="Google Shape;49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5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9" name="Google Shape;52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4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9" name="Google Shape;51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3:notes"/>
          <p:cNvSpPr txBox="1">
            <a:spLocks noGrp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6" name="Google Shape;50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7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7"/>
          <p:cNvSpPr txBox="1">
            <a:spLocks noGrp="1"/>
          </p:cNvSpPr>
          <p:nvPr>
            <p:ph type="body" idx="1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19" name="Google Shape;19;p3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7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8"/>
          <p:cNvSpPr txBox="1">
            <a:spLocks noGrp="1"/>
          </p:cNvSpPr>
          <p:nvPr>
            <p:ph type="ctrTitle"/>
          </p:nvPr>
        </p:nvSpPr>
        <p:spPr>
          <a:xfrm>
            <a:off x="0" y="1044578"/>
            <a:ext cx="121920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8"/>
          <p:cNvSpPr txBox="1">
            <a:spLocks noGrp="1"/>
          </p:cNvSpPr>
          <p:nvPr>
            <p:ph type="subTitle" idx="1"/>
          </p:nvPr>
        </p:nvSpPr>
        <p:spPr>
          <a:xfrm>
            <a:off x="0" y="36576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25" name="Google Shape;25;p3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8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9"/>
          <p:cNvSpPr txBox="1"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sz="19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5pPr>
            <a:lvl6pPr marL="2743200" lvl="5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6pPr>
            <a:lvl7pPr marL="3200400" lvl="6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7pPr>
            <a:lvl8pPr marL="3657600" lvl="7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8pPr>
            <a:lvl9pPr marL="4114800" lvl="8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31" name="Google Shape;31;p3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0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0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4925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marL="2286000" lvl="4" indent="-34925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marL="2743200" lvl="5" indent="-34925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marL="3200400" lvl="6" indent="-34925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marL="3657600" lvl="7" indent="-34925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marL="4114800" lvl="8" indent="-34925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>
            <a:endParaRPr/>
          </a:p>
        </p:txBody>
      </p:sp>
      <p:sp>
        <p:nvSpPr>
          <p:cNvPr id="37" name="Google Shape;37;p40"/>
          <p:cNvSpPr txBox="1">
            <a:spLocks noGrp="1"/>
          </p:cNvSpPr>
          <p:nvPr>
            <p:ph type="body" idx="2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4925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marL="2286000" lvl="4" indent="-34925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marL="2743200" lvl="5" indent="-34925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marL="3200400" lvl="6" indent="-34925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marL="3657600" lvl="7" indent="-34925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marL="4114800" lvl="8" indent="-34925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>
            <a:endParaRPr/>
          </a:p>
        </p:txBody>
      </p:sp>
      <p:sp>
        <p:nvSpPr>
          <p:cNvPr id="38" name="Google Shape;38;p4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1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1"/>
          <p:cNvSpPr txBox="1"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sz="19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41"/>
          <p:cNvSpPr txBox="1">
            <a:spLocks noGrp="1"/>
          </p:cNvSpPr>
          <p:nvPr>
            <p:ph type="body" idx="2"/>
          </p:nvPr>
        </p:nvSpPr>
        <p:spPr>
          <a:xfrm>
            <a:off x="457202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925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45" name="Google Shape;45;p41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sz="19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41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925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47" name="Google Shape;47;p4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2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4"/>
          <p:cNvSpPr txBox="1"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4"/>
          <p:cNvSpPr txBox="1">
            <a:spLocks noGrp="1"/>
          </p:cNvSpPr>
          <p:nvPr>
            <p:ph type="body" idx="1"/>
          </p:nvPr>
        </p:nvSpPr>
        <p:spPr>
          <a:xfrm>
            <a:off x="3575051" y="273053"/>
            <a:ext cx="5111751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>
            <a:endParaRPr/>
          </a:p>
        </p:txBody>
      </p:sp>
      <p:sp>
        <p:nvSpPr>
          <p:cNvPr id="62" name="Google Shape;62;p44"/>
          <p:cNvSpPr txBox="1">
            <a:spLocks noGrp="1"/>
          </p:cNvSpPr>
          <p:nvPr>
            <p:ph type="body" idx="2"/>
          </p:nvPr>
        </p:nvSpPr>
        <p:spPr>
          <a:xfrm>
            <a:off x="457202" y="1435103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3" name="Google Shape;63;p4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4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5"/>
          <p:cNvSpPr txBox="1"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45"/>
          <p:cNvSpPr txBox="1">
            <a:spLocks noGrp="1"/>
          </p:cNvSpPr>
          <p:nvPr>
            <p:ph type="body" idx="1"/>
          </p:nvPr>
        </p:nvSpPr>
        <p:spPr>
          <a:xfrm>
            <a:off x="1792288" y="5367339"/>
            <a:ext cx="5486400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0" name="Google Shape;70;p4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5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6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6"/>
          <p:cNvSpPr txBox="1">
            <a:spLocks noGrp="1"/>
          </p:cNvSpPr>
          <p:nvPr>
            <p:ph type="body" idx="1"/>
          </p:nvPr>
        </p:nvSpPr>
        <p:spPr>
          <a:xfrm rot="5400000">
            <a:off x="3731418" y="-1928017"/>
            <a:ext cx="4729164" cy="11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6" name="Google Shape;76;p4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6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7"/>
          <p:cNvSpPr txBox="1">
            <a:spLocks noGrp="1"/>
          </p:cNvSpPr>
          <p:nvPr>
            <p:ph type="title"/>
          </p:nvPr>
        </p:nvSpPr>
        <p:spPr>
          <a:xfrm rot="5400000">
            <a:off x="4732337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3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82" name="Google Shape;82;p4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7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6"/>
          <p:cNvSpPr txBox="1">
            <a:spLocks noGrp="1"/>
          </p:cNvSpPr>
          <p:nvPr>
            <p:ph type="body" idx="1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  <a:defRPr sz="3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6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6"/>
          <p:cNvSpPr/>
          <p:nvPr/>
        </p:nvSpPr>
        <p:spPr>
          <a:xfrm>
            <a:off x="0" y="1031242"/>
            <a:ext cx="12192000" cy="60959"/>
          </a:xfrm>
          <a:prstGeom prst="rect">
            <a:avLst/>
          </a:prstGeom>
          <a:gradFill>
            <a:gsLst>
              <a:gs pos="0">
                <a:srgbClr val="0000CC"/>
              </a:gs>
              <a:gs pos="100000">
                <a:schemeClr val="dk1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7.png"/><Relationship Id="rId4" Type="http://schemas.openxmlformats.org/officeDocument/2006/relationships/image" Target="../media/image28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23.png"/><Relationship Id="rId9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23.png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8.png"/><Relationship Id="rId7" Type="http://schemas.openxmlformats.org/officeDocument/2006/relationships/image" Target="../media/image23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5.png"/><Relationship Id="rId5" Type="http://schemas.openxmlformats.org/officeDocument/2006/relationships/image" Target="../media/image50.png"/><Relationship Id="rId10" Type="http://schemas.openxmlformats.org/officeDocument/2006/relationships/image" Target="../media/image54.png"/><Relationship Id="rId4" Type="http://schemas.openxmlformats.org/officeDocument/2006/relationships/image" Target="../media/image49.png"/><Relationship Id="rId9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5.png"/><Relationship Id="rId3" Type="http://schemas.openxmlformats.org/officeDocument/2006/relationships/image" Target="../media/image57.png"/><Relationship Id="rId7" Type="http://schemas.openxmlformats.org/officeDocument/2006/relationships/image" Target="../media/image23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4.png"/><Relationship Id="rId5" Type="http://schemas.openxmlformats.org/officeDocument/2006/relationships/image" Target="../media/image59.png"/><Relationship Id="rId10" Type="http://schemas.openxmlformats.org/officeDocument/2006/relationships/image" Target="../media/image63.png"/><Relationship Id="rId4" Type="http://schemas.openxmlformats.org/officeDocument/2006/relationships/image" Target="../media/image58.png"/><Relationship Id="rId9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66.png"/><Relationship Id="rId4" Type="http://schemas.openxmlformats.org/officeDocument/2006/relationships/image" Target="../media/image6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.png"/><Relationship Id="rId4" Type="http://schemas.openxmlformats.org/officeDocument/2006/relationships/image" Target="../media/image8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7" Type="http://schemas.openxmlformats.org/officeDocument/2006/relationships/image" Target="../media/image94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en.wikipedia.org/wiki/Image:Thomasbayes.jpg" TargetMode="Externa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0" y="279403"/>
            <a:ext cx="121920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Artificial Intelligence</a:t>
            </a:r>
            <a:br>
              <a:rPr lang="en-US"/>
            </a:br>
            <a:endParaRPr sz="3600"/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0" y="12954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en-US" sz="4300"/>
              <a:t>Probability</a:t>
            </a:r>
            <a:endParaRPr/>
          </a:p>
        </p:txBody>
      </p:sp>
      <p:sp>
        <p:nvSpPr>
          <p:cNvPr id="92" name="Google Shape;92;p2"/>
          <p:cNvSpPr txBox="1"/>
          <p:nvPr/>
        </p:nvSpPr>
        <p:spPr>
          <a:xfrm>
            <a:off x="1524000" y="6248403"/>
            <a:ext cx="5867400" cy="369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70082" y="1900985"/>
            <a:ext cx="5592576" cy="372838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/>
        </p:nvSpPr>
        <p:spPr>
          <a:xfrm>
            <a:off x="0" y="6003922"/>
            <a:ext cx="12192000" cy="761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Instructors: Dan Klein and Pieter Abbeel --- University of California, Berkeley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[These slides were created by Dan Klein and Pieter Abbeel for CS188 Intro to AI at UC Berkeley.  All CS188 materials are available at http://ai.berkeley.edu.]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101" name="Google Shape;101;p3"/>
          <p:cNvSpPr txBox="1">
            <a:spLocks noGrp="1"/>
          </p:cNvSpPr>
          <p:nvPr>
            <p:ph type="body" idx="1"/>
          </p:nvPr>
        </p:nvSpPr>
        <p:spPr>
          <a:xfrm>
            <a:off x="668988" y="1397000"/>
            <a:ext cx="6502411" cy="5078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Probability</a:t>
            </a:r>
            <a:endParaRPr/>
          </a:p>
          <a:p>
            <a:pPr marL="3886005" lvl="8" indent="-209537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SzPts val="300"/>
              <a:buNone/>
            </a:pPr>
            <a:endParaRPr sz="300"/>
          </a:p>
          <a:p>
            <a:pPr marL="742913" lvl="1" indent="-285736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Random Variables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Joint and Marginal Distributions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Conditional Distribution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Product Rule, Chain Rule, Bayes’ Rule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Inference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Independence</a:t>
            </a:r>
            <a:endParaRPr/>
          </a:p>
          <a:p>
            <a:pPr marL="1142942" lvl="2" indent="-10158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45720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endParaRPr/>
          </a:p>
          <a:p>
            <a:pPr marL="742913" lvl="1" indent="-133336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742913" lvl="1" indent="-133336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5329" y="1301896"/>
            <a:ext cx="4704859" cy="4742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Uncertainty</a:t>
            </a:r>
            <a:endParaRPr/>
          </a:p>
        </p:txBody>
      </p:sp>
      <p:sp>
        <p:nvSpPr>
          <p:cNvPr id="108" name="Google Shape;108;p4"/>
          <p:cNvSpPr txBox="1">
            <a:spLocks noGrp="1"/>
          </p:cNvSpPr>
          <p:nvPr>
            <p:ph type="body" idx="1"/>
          </p:nvPr>
        </p:nvSpPr>
        <p:spPr>
          <a:xfrm>
            <a:off x="967676" y="1500583"/>
            <a:ext cx="6689285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General situation:</a:t>
            </a:r>
            <a:endParaRPr/>
          </a:p>
          <a:p>
            <a:pPr marL="1142942" lvl="2" indent="-126986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600"/>
          </a:p>
          <a:p>
            <a:pPr marL="742913" lvl="1" indent="-285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 b="1"/>
              <a:t>Observed variables (evidence)</a:t>
            </a:r>
            <a:r>
              <a:rPr lang="en-US" sz="2000"/>
              <a:t>: Agent knows certain things about the state of the world (e.g., sensor readings or symptoms)</a:t>
            </a:r>
            <a:endParaRPr/>
          </a:p>
          <a:p>
            <a:pPr marL="2057298" lvl="4" indent="-152389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endParaRPr sz="1200"/>
          </a:p>
          <a:p>
            <a:pPr marL="742913" lvl="1" indent="-285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 b="1"/>
              <a:t>Unobserved variables</a:t>
            </a:r>
            <a:r>
              <a:rPr lang="en-US" sz="2000"/>
              <a:t>: Agent needs to reason about other aspects (e.g. where an object is or what disease is present)</a:t>
            </a:r>
            <a:endParaRPr/>
          </a:p>
          <a:p>
            <a:pPr marL="2057298" lvl="4" indent="-152389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endParaRPr sz="1200"/>
          </a:p>
          <a:p>
            <a:pPr marL="742913" lvl="1" indent="-285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 b="1"/>
              <a:t>Model</a:t>
            </a:r>
            <a:r>
              <a:rPr lang="en-US" sz="2000"/>
              <a:t>: Agent knows something about how the known variables relate to the unknown variables</a:t>
            </a:r>
            <a:endParaRPr/>
          </a:p>
          <a:p>
            <a:pPr marL="342882" lvl="0" indent="-1904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2971652" lvl="6" indent="-152387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endParaRPr sz="1200"/>
          </a:p>
          <a:p>
            <a:pPr marL="342882" lvl="0" indent="-3428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Probabilistic reasoning gives us a framework for managing our beliefs and knowledge</a:t>
            </a:r>
            <a:endParaRPr/>
          </a:p>
        </p:txBody>
      </p:sp>
      <p:graphicFrame>
        <p:nvGraphicFramePr>
          <p:cNvPr id="109" name="Google Shape;109;p4"/>
          <p:cNvGraphicFramePr/>
          <p:nvPr/>
        </p:nvGraphicFramePr>
        <p:xfrm>
          <a:off x="8542273" y="1526975"/>
          <a:ext cx="1387475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r:id="rId4" imgW="1387475" imgH="1387475" progId="MSPhotoEd.3">
                  <p:embed/>
                </p:oleObj>
              </mc:Choice>
              <mc:Fallback>
                <p:oleObj r:id="rId4" imgW="1387475" imgH="1387475" progId="MSPhotoEd.3">
                  <p:embed/>
                  <p:pic>
                    <p:nvPicPr>
                      <p:cNvPr id="109" name="Google Shape;109;p4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8542273" y="1526975"/>
                        <a:ext cx="1387475" cy="1387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Google Shape;110;p4"/>
          <p:cNvGraphicFramePr/>
          <p:nvPr/>
        </p:nvGraphicFramePr>
        <p:xfrm>
          <a:off x="8542273" y="3127175"/>
          <a:ext cx="1425575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r:id="rId6" imgW="1425575" imgH="1425575" progId="MSPhotoEd.3">
                  <p:embed/>
                </p:oleObj>
              </mc:Choice>
              <mc:Fallback>
                <p:oleObj r:id="rId6" imgW="1425575" imgH="1425575" progId="MSPhotoEd.3">
                  <p:embed/>
                  <p:pic>
                    <p:nvPicPr>
                      <p:cNvPr id="110" name="Google Shape;110;p4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/>
                      <a:stretch/>
                    </p:blipFill>
                    <p:spPr>
                      <a:xfrm>
                        <a:off x="8542273" y="3127175"/>
                        <a:ext cx="1425575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1" name="Google Shape;111;p4"/>
          <p:cNvGrpSpPr/>
          <p:nvPr/>
        </p:nvGrpSpPr>
        <p:grpSpPr>
          <a:xfrm>
            <a:off x="8534336" y="4727375"/>
            <a:ext cx="1414462" cy="1439863"/>
            <a:chOff x="4027" y="3072"/>
            <a:chExt cx="891" cy="907"/>
          </a:xfrm>
        </p:grpSpPr>
        <p:graphicFrame>
          <p:nvGraphicFramePr>
            <p:cNvPr id="112" name="Google Shape;112;p4"/>
            <p:cNvGraphicFramePr/>
            <p:nvPr/>
          </p:nvGraphicFramePr>
          <p:xfrm>
            <a:off x="4032" y="3072"/>
            <a:ext cx="886" cy="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" r:id="rId8" imgW="886" imgH="880" progId="MSPhotoEd.3">
                    <p:embed/>
                  </p:oleObj>
                </mc:Choice>
                <mc:Fallback>
                  <p:oleObj r:id="rId8" imgW="886" imgH="880" progId="MSPhotoEd.3">
                    <p:embed/>
                    <p:pic>
                      <p:nvPicPr>
                        <p:cNvPr id="112" name="Google Shape;112;p4"/>
                        <p:cNvPicPr preferRelativeResize="0"/>
                        <p:nvPr/>
                      </p:nvPicPr>
                      <p:blipFill rotWithShape="1">
                        <a:blip r:embed="rId9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4032" y="3072"/>
                          <a:ext cx="886" cy="8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13" name="Google Shape;113;p4"/>
            <p:cNvPicPr preferRelativeResize="0"/>
            <p:nvPr/>
          </p:nvPicPr>
          <p:blipFill rotWithShape="1">
            <a:blip r:embed="rId10">
              <a:alphaModFix/>
            </a:blip>
            <a:srcRect t="64142" r="62584" b="-1558"/>
            <a:stretch/>
          </p:blipFill>
          <p:spPr>
            <a:xfrm>
              <a:off x="4027" y="3643"/>
              <a:ext cx="336" cy="33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4" name="Google Shape;114;p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Random Variables</a:t>
            </a:r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498013" y="1421905"/>
            <a:ext cx="7669413" cy="472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 random variable is some aspect of the world about which we (may) have uncertainty</a:t>
            </a:r>
            <a:endParaRPr/>
          </a:p>
          <a:p>
            <a:pPr marL="3886005" lvl="8" indent="-152387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endParaRPr sz="1200"/>
          </a:p>
          <a:p>
            <a:pPr marL="742913" lvl="1" indent="-28573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R = Is it raining?</a:t>
            </a:r>
            <a:endParaRPr/>
          </a:p>
          <a:p>
            <a:pPr marL="742913" lvl="1" indent="-28573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 = Is it hot or cold?</a:t>
            </a:r>
            <a:endParaRPr/>
          </a:p>
          <a:p>
            <a:pPr marL="742913" lvl="1" indent="-28573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D = How long will it take to drive to work?</a:t>
            </a:r>
            <a:endParaRPr/>
          </a:p>
          <a:p>
            <a:pPr marL="742913" lvl="1" indent="-28573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L = Where is the ghost?</a:t>
            </a:r>
            <a:endParaRPr/>
          </a:p>
          <a:p>
            <a:pPr marL="1142942" lvl="2" indent="-126986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600"/>
          </a:p>
          <a:p>
            <a:pPr marL="342882" lvl="0" indent="-34288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We denote random variables with capital letters</a:t>
            </a:r>
            <a:endParaRPr/>
          </a:p>
          <a:p>
            <a:pPr marL="1142942" lvl="2" indent="-126986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600"/>
          </a:p>
          <a:p>
            <a:pPr marL="342882" lvl="0" indent="-34288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Like variables in a CSP, random variables have domains</a:t>
            </a:r>
            <a:endParaRPr/>
          </a:p>
          <a:p>
            <a:pPr marL="3886005" lvl="8" indent="-152387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endParaRPr sz="1200"/>
          </a:p>
          <a:p>
            <a:pPr marL="742913" lvl="1" indent="-28573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R in {true, false}   (often write as {+r, -r})</a:t>
            </a:r>
            <a:endParaRPr/>
          </a:p>
          <a:p>
            <a:pPr marL="742913" lvl="1" indent="-28573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 in {hot, cold}</a:t>
            </a:r>
            <a:endParaRPr/>
          </a:p>
          <a:p>
            <a:pPr marL="742913" lvl="1" indent="-28573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D in [0, ∞)</a:t>
            </a:r>
            <a:endParaRPr sz="2000"/>
          </a:p>
          <a:p>
            <a:pPr marL="742913" lvl="1" indent="-28573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L in possible locations, maybe {(0,0), (0,1), …}</a:t>
            </a:r>
            <a:endParaRPr/>
          </a:p>
        </p:txBody>
      </p:sp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19820" y="1332374"/>
            <a:ext cx="4094076" cy="4127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Praobability Distributions</a:t>
            </a:r>
            <a:endParaRPr/>
          </a:p>
        </p:txBody>
      </p:sp>
      <p:sp>
        <p:nvSpPr>
          <p:cNvPr id="127" name="Google Shape;127;p6"/>
          <p:cNvSpPr txBox="1">
            <a:spLocks noGrp="1"/>
          </p:cNvSpPr>
          <p:nvPr>
            <p:ph type="body" idx="1"/>
          </p:nvPr>
        </p:nvSpPr>
        <p:spPr>
          <a:xfrm>
            <a:off x="204098" y="1304126"/>
            <a:ext cx="6882626" cy="4706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Associate a probability with each value</a:t>
            </a:r>
            <a:endParaRPr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742913" lvl="1" indent="-28573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Temperature:</a:t>
            </a:r>
            <a:endParaRPr sz="24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1600120" lvl="3" indent="-152386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endParaRPr sz="1200"/>
          </a:p>
        </p:txBody>
      </p:sp>
      <p:graphicFrame>
        <p:nvGraphicFramePr>
          <p:cNvPr id="128" name="Google Shape;128;p6"/>
          <p:cNvGraphicFramePr/>
          <p:nvPr/>
        </p:nvGraphicFramePr>
        <p:xfrm>
          <a:off x="3527323" y="3884723"/>
          <a:ext cx="1428750" cy="1114425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29" name="Google Shape;129;p6" descr="txp_fi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1498" y="3506898"/>
            <a:ext cx="731837" cy="29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0" name="Google Shape;130;p6"/>
          <p:cNvGraphicFramePr/>
          <p:nvPr/>
        </p:nvGraphicFramePr>
        <p:xfrm>
          <a:off x="9748222" y="3636086"/>
          <a:ext cx="1922450" cy="1857375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1153475"/>
                <a:gridCol w="768975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fog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meteor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31" name="Google Shape;131;p6" descr="txp_fi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6709" y="3189898"/>
            <a:ext cx="850900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7000" y="2937924"/>
            <a:ext cx="2862450" cy="26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05094" y="3352677"/>
            <a:ext cx="3211282" cy="214085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 txBox="1"/>
          <p:nvPr/>
        </p:nvSpPr>
        <p:spPr>
          <a:xfrm>
            <a:off x="6399477" y="1244840"/>
            <a:ext cx="4709342" cy="156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marR="0" lvl="0" indent="-1904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82" marR="0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13" marR="0" lvl="1" indent="-28573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Weather: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882" marR="0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82" marR="0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82" marR="0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82" marR="0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82" marR="0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600120" marR="0" lvl="3" indent="-152386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8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Probability Distributions</a:t>
            </a:r>
            <a:endParaRPr/>
          </a:p>
        </p:txBody>
      </p:sp>
      <p:sp>
        <p:nvSpPr>
          <p:cNvPr id="140" name="Google Shape;140;p48"/>
          <p:cNvSpPr txBox="1">
            <a:spLocks noGrp="1"/>
          </p:cNvSpPr>
          <p:nvPr>
            <p:ph type="body" idx="1"/>
          </p:nvPr>
        </p:nvSpPr>
        <p:spPr>
          <a:xfrm>
            <a:off x="204097" y="1304126"/>
            <a:ext cx="11711237" cy="4706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A </a:t>
            </a:r>
            <a:r>
              <a:rPr lang="en-US" b="1"/>
              <a:t>statistical function</a:t>
            </a:r>
            <a:r>
              <a:rPr lang="en-US"/>
              <a:t> that describes possible values and likelihoods that a random variable can take within a given range</a:t>
            </a:r>
            <a:endParaRPr/>
          </a:p>
          <a:p>
            <a:pPr marL="342882" lvl="0" indent="-1904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342882" lvl="0" indent="-1904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342882" lvl="0" indent="-3428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The </a:t>
            </a:r>
            <a:r>
              <a:rPr lang="en-US" b="1"/>
              <a:t>mathematical function</a:t>
            </a:r>
            <a:r>
              <a:rPr lang="en-US"/>
              <a:t> that gives the probabilities of occurrence of different possible outcomes for an experiment</a:t>
            </a:r>
            <a:endParaRPr/>
          </a:p>
          <a:p>
            <a:pPr marL="342882" lvl="0" indent="-1904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342882" lvl="0" indent="-3428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A TABLE of probabilities of values</a:t>
            </a:r>
            <a:endParaRPr/>
          </a:p>
          <a:p>
            <a:pPr marL="342882" lvl="0" indent="-1904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graphicFrame>
        <p:nvGraphicFramePr>
          <p:cNvPr id="141" name="Google Shape;141;p48"/>
          <p:cNvGraphicFramePr/>
          <p:nvPr/>
        </p:nvGraphicFramePr>
        <p:xfrm>
          <a:off x="9939554" y="4700260"/>
          <a:ext cx="1922450" cy="1857375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1153475"/>
                <a:gridCol w="768975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fog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meteor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42" name="Google Shape;142;p48" descr="txp_fi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38042" y="4328785"/>
            <a:ext cx="850900" cy="29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3" name="Google Shape;143;p48"/>
          <p:cNvGraphicFramePr/>
          <p:nvPr/>
        </p:nvGraphicFramePr>
        <p:xfrm>
          <a:off x="7241258" y="4706610"/>
          <a:ext cx="1428750" cy="1114425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44" name="Google Shape;144;p48" descr="txp_fi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5433" y="4328785"/>
            <a:ext cx="731837" cy="29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/>
          <p:nvPr/>
        </p:nvSpPr>
        <p:spPr>
          <a:xfrm>
            <a:off x="7517598" y="1500630"/>
            <a:ext cx="4535502" cy="3137521"/>
          </a:xfrm>
          <a:prstGeom prst="rect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	Shorthand notation: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882" marR="0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82" marR="0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82" marR="0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82" marR="0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82" marR="0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Probability Distributions</a:t>
            </a:r>
            <a:endParaRPr/>
          </a:p>
        </p:txBody>
      </p:sp>
      <p:sp>
        <p:nvSpPr>
          <p:cNvPr id="151" name="Google Shape;151;p7"/>
          <p:cNvSpPr txBox="1">
            <a:spLocks noGrp="1"/>
          </p:cNvSpPr>
          <p:nvPr>
            <p:ph type="body" idx="1"/>
          </p:nvPr>
        </p:nvSpPr>
        <p:spPr>
          <a:xfrm>
            <a:off x="204098" y="1304126"/>
            <a:ext cx="6882626" cy="4706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Unobserved random variables have distributions</a:t>
            </a:r>
            <a:endParaRPr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1600120" lvl="3" indent="-152386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endParaRPr sz="1200"/>
          </a:p>
          <a:p>
            <a:pPr marL="342882" lvl="0" indent="-3428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 distribution is a TABLE of probabilities of values</a:t>
            </a:r>
            <a:endParaRPr/>
          </a:p>
          <a:p>
            <a:pPr marL="3886005" lvl="8" indent="-152387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endParaRPr sz="1200"/>
          </a:p>
          <a:p>
            <a:pPr marL="342882" lvl="0" indent="-3428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 probability is a single number</a:t>
            </a:r>
            <a:endParaRPr/>
          </a:p>
          <a:p>
            <a:pPr marL="1142942" lvl="2" indent="-12698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6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3428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Must have:                                                 and</a:t>
            </a:r>
            <a:endParaRPr/>
          </a:p>
        </p:txBody>
      </p:sp>
      <p:graphicFrame>
        <p:nvGraphicFramePr>
          <p:cNvPr id="152" name="Google Shape;152;p7"/>
          <p:cNvGraphicFramePr/>
          <p:nvPr/>
        </p:nvGraphicFramePr>
        <p:xfrm>
          <a:off x="1360963" y="2216140"/>
          <a:ext cx="1428750" cy="1114425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53" name="Google Shape;153;p7" descr="txp_fi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5138" y="1838315"/>
            <a:ext cx="731837" cy="29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4" name="Google Shape;154;p7"/>
          <p:cNvGraphicFramePr/>
          <p:nvPr/>
        </p:nvGraphicFramePr>
        <p:xfrm>
          <a:off x="3410425" y="2216140"/>
          <a:ext cx="1922450" cy="1857375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1153475"/>
                <a:gridCol w="768975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fog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meteor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55" name="Google Shape;155;p7" descr="txp_fi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08913" y="1844665"/>
            <a:ext cx="850900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7" descr="txp_fi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29033" y="5504778"/>
            <a:ext cx="2851150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7" descr="txp_fig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88064" y="6118003"/>
            <a:ext cx="2583980" cy="298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7" descr="txp_fig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74588" y="6045653"/>
            <a:ext cx="2492511" cy="567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7" descr="txp_fig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963848" y="3327456"/>
            <a:ext cx="3627379" cy="29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7" descr="txp_fig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13387" y="2289137"/>
            <a:ext cx="3179555" cy="29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7" descr="txp_fig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10015" y="2815765"/>
            <a:ext cx="3373612" cy="29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7" descr="txp_fig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266830" y="3922124"/>
            <a:ext cx="328405" cy="59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Joint Distributions</a:t>
            </a:r>
            <a:endParaRPr/>
          </a:p>
        </p:txBody>
      </p:sp>
      <p:sp>
        <p:nvSpPr>
          <p:cNvPr id="168" name="Google Shape;168;p8"/>
          <p:cNvSpPr txBox="1">
            <a:spLocks noGrp="1"/>
          </p:cNvSpPr>
          <p:nvPr>
            <p:ph type="body" idx="1"/>
          </p:nvPr>
        </p:nvSpPr>
        <p:spPr>
          <a:xfrm>
            <a:off x="341314" y="1339380"/>
            <a:ext cx="7924642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 </a:t>
            </a:r>
            <a:r>
              <a:rPr lang="en-US" sz="2400" i="1"/>
              <a:t>joint distribution</a:t>
            </a:r>
            <a:r>
              <a:rPr lang="en-US" sz="2400"/>
              <a:t> over a set of random variables:</a:t>
            </a:r>
            <a:endParaRPr/>
          </a:p>
          <a:p>
            <a:pPr marL="342882" lvl="0" indent="-3428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/>
              <a:t>	specifies a real number for each assignment (or </a:t>
            </a:r>
            <a:r>
              <a:rPr lang="en-US" sz="2400" i="1"/>
              <a:t>outcome</a:t>
            </a:r>
            <a:r>
              <a:rPr lang="en-US" sz="2400"/>
              <a:t>): </a:t>
            </a:r>
            <a:endParaRPr/>
          </a:p>
          <a:p>
            <a:pPr marL="1142942" lvl="2" indent="-114286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742913" lvl="1" indent="-171436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742913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2514474" lvl="5" indent="-152387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endParaRPr sz="1200"/>
          </a:p>
          <a:p>
            <a:pPr marL="742913" lvl="1" indent="-285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 b="1"/>
              <a:t>Must obey</a:t>
            </a:r>
            <a:r>
              <a:rPr lang="en-US" sz="2000"/>
              <a:t>:</a:t>
            </a:r>
            <a:endParaRPr/>
          </a:p>
          <a:p>
            <a:pPr marL="342882" lvl="0" indent="-1904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9" lvl="7" indent="-152389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endParaRPr sz="1200"/>
          </a:p>
          <a:p>
            <a:pPr marL="342882" lvl="0" indent="-1904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3428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Size of distribution if n variables with domain size d?</a:t>
            </a:r>
            <a:endParaRPr/>
          </a:p>
          <a:p>
            <a:pPr marL="2057298" lvl="4" indent="-152389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endParaRPr sz="1200"/>
          </a:p>
          <a:p>
            <a:pPr marL="742913" lvl="1" indent="-285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For all but the smallest distributions, impractical to write out!</a:t>
            </a:r>
            <a:endParaRPr/>
          </a:p>
        </p:txBody>
      </p:sp>
      <p:pic>
        <p:nvPicPr>
          <p:cNvPr id="169" name="Google Shape;169;p8" descr="txp_fi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4961" y="1416259"/>
            <a:ext cx="1803400" cy="261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8" descr="txp_fi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46710" y="2388049"/>
            <a:ext cx="4867275" cy="298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8" descr="txp_fi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32422" y="2937118"/>
            <a:ext cx="2445348" cy="328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8" descr="txp_fi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03822" y="3760065"/>
            <a:ext cx="2836863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8" descr="txp_fi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78005" y="4366718"/>
            <a:ext cx="4359275" cy="67151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4" name="Google Shape;174;p8"/>
          <p:cNvGraphicFramePr/>
          <p:nvPr/>
        </p:nvGraphicFramePr>
        <p:xfrm>
          <a:off x="8747249" y="3210126"/>
          <a:ext cx="2354975" cy="19812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776675"/>
                <a:gridCol w="720550"/>
                <a:gridCol w="857750"/>
              </a:tblGrid>
              <a:tr h="2889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75" name="Google Shape;175;p8" descr="txp_fi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85182" y="2742947"/>
            <a:ext cx="1179512" cy="29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Probabilistic Models</a:t>
            </a:r>
            <a:endParaRPr/>
          </a:p>
        </p:txBody>
      </p:sp>
      <p:sp>
        <p:nvSpPr>
          <p:cNvPr id="181" name="Google Shape;181;p9"/>
          <p:cNvSpPr txBox="1">
            <a:spLocks noGrp="1"/>
          </p:cNvSpPr>
          <p:nvPr>
            <p:ph type="body" idx="1"/>
          </p:nvPr>
        </p:nvSpPr>
        <p:spPr>
          <a:xfrm>
            <a:off x="433388" y="1568450"/>
            <a:ext cx="5278437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 probabilistic model is a joint distribution over a set of random variables</a:t>
            </a:r>
            <a:endParaRPr/>
          </a:p>
          <a:p>
            <a:pPr marL="742913" lvl="1" indent="-171436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342882" lvl="0" indent="-342882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Probabilistic models:</a:t>
            </a:r>
            <a:endParaRPr/>
          </a:p>
          <a:p>
            <a:pPr marL="742913" lvl="1" indent="-285736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(Random) variables with domains </a:t>
            </a:r>
            <a:endParaRPr/>
          </a:p>
          <a:p>
            <a:pPr marL="742913" lvl="1" indent="-285736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Assignments are called </a:t>
            </a:r>
            <a:r>
              <a:rPr lang="en-US" sz="1800" i="1"/>
              <a:t>outcomes</a:t>
            </a:r>
            <a:endParaRPr/>
          </a:p>
          <a:p>
            <a:pPr marL="742913" lvl="1" indent="-285736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Joint distributions: say whether assignments (outcomes) are likely</a:t>
            </a:r>
            <a:endParaRPr/>
          </a:p>
          <a:p>
            <a:pPr marL="742913" lvl="1" indent="-285736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 i="1"/>
              <a:t>Normalized:</a:t>
            </a:r>
            <a:r>
              <a:rPr lang="en-US" sz="1800"/>
              <a:t> sum to 1.0</a:t>
            </a:r>
            <a:endParaRPr/>
          </a:p>
          <a:p>
            <a:pPr marL="742913" lvl="1" indent="-285736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Ideally: only certain variables directly interact</a:t>
            </a:r>
            <a:endParaRPr/>
          </a:p>
          <a:p>
            <a:pPr marL="342882" lvl="0" indent="-215882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342882" lvl="0" indent="-342882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Constraint satisfaction problems:</a:t>
            </a:r>
            <a:endParaRPr/>
          </a:p>
          <a:p>
            <a:pPr marL="742913" lvl="1" indent="-285736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Variables with domains</a:t>
            </a:r>
            <a:endParaRPr/>
          </a:p>
          <a:p>
            <a:pPr marL="742913" lvl="1" indent="-285736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Constraints: state whether assignments are possible</a:t>
            </a:r>
            <a:endParaRPr/>
          </a:p>
          <a:p>
            <a:pPr marL="742913" lvl="1" indent="-285736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Ideally: only certain variables directly interact</a:t>
            </a:r>
            <a:endParaRPr/>
          </a:p>
          <a:p>
            <a:pPr marL="742913" lvl="1" indent="-184136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600"/>
          </a:p>
          <a:p>
            <a:pPr marL="742913" lvl="1" indent="-184136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600"/>
          </a:p>
        </p:txBody>
      </p:sp>
      <p:graphicFrame>
        <p:nvGraphicFramePr>
          <p:cNvPr id="182" name="Google Shape;182;p9"/>
          <p:cNvGraphicFramePr/>
          <p:nvPr/>
        </p:nvGraphicFramePr>
        <p:xfrm>
          <a:off x="5773738" y="1908175"/>
          <a:ext cx="2743200" cy="19812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3" name="Google Shape;183;p9"/>
          <p:cNvGraphicFramePr/>
          <p:nvPr/>
        </p:nvGraphicFramePr>
        <p:xfrm>
          <a:off x="5765800" y="4556125"/>
          <a:ext cx="2743200" cy="19812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4" name="Google Shape;184;p9"/>
          <p:cNvSpPr txBox="1"/>
          <p:nvPr/>
        </p:nvSpPr>
        <p:spPr>
          <a:xfrm>
            <a:off x="5989638" y="1425575"/>
            <a:ext cx="2403475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Distribution over T,W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6010275" y="4089400"/>
            <a:ext cx="2389188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Constraint over T,W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44837" y="4420499"/>
            <a:ext cx="2621134" cy="2039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62247" y="1807215"/>
            <a:ext cx="2962741" cy="2087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Events</a:t>
            </a:r>
            <a:endParaRPr/>
          </a:p>
        </p:txBody>
      </p:sp>
      <p:sp>
        <p:nvSpPr>
          <p:cNvPr id="193" name="Google Shape;193;p10"/>
          <p:cNvSpPr txBox="1">
            <a:spLocks noGrp="1"/>
          </p:cNvSpPr>
          <p:nvPr>
            <p:ph type="body" idx="1"/>
          </p:nvPr>
        </p:nvSpPr>
        <p:spPr>
          <a:xfrm>
            <a:off x="457200" y="1428868"/>
            <a:ext cx="5937860" cy="512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An </a:t>
            </a:r>
            <a:r>
              <a:rPr lang="en-US" sz="2800" i="1"/>
              <a:t>event</a:t>
            </a:r>
            <a:r>
              <a:rPr lang="en-US" sz="2800"/>
              <a:t> is a set E of outcomes</a:t>
            </a:r>
            <a:endParaRPr/>
          </a:p>
          <a:p>
            <a:pPr marL="342882" lvl="0" indent="-165082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sz="2800"/>
          </a:p>
          <a:p>
            <a:pPr marL="3657417" lvl="8" indent="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sz="2800"/>
          </a:p>
          <a:p>
            <a:pPr marL="3657417" lvl="8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600"/>
          </a:p>
          <a:p>
            <a:pPr marL="342882" lvl="0" indent="-342882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From a joint distribution, we can calculate the probability of any event</a:t>
            </a:r>
            <a:endParaRPr/>
          </a:p>
          <a:p>
            <a:pPr marL="1600120" lvl="3" indent="-126986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600"/>
          </a:p>
          <a:p>
            <a:pPr marL="742913" lvl="1" indent="-285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Probability that it’s hot AND sunny?</a:t>
            </a:r>
            <a:endParaRPr/>
          </a:p>
          <a:p>
            <a:pPr marL="742913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285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Probability that it’s hot?</a:t>
            </a:r>
            <a:endParaRPr/>
          </a:p>
          <a:p>
            <a:pPr marL="742913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285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Probability that it’s hot OR sunny?</a:t>
            </a:r>
            <a:endParaRPr/>
          </a:p>
          <a:p>
            <a:pPr marL="457176" lvl="1" indent="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342882" lvl="0" indent="-342882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Typically, the events we care about are </a:t>
            </a:r>
            <a:r>
              <a:rPr lang="en-US" sz="2800" i="1"/>
              <a:t>partial assignments</a:t>
            </a:r>
            <a:r>
              <a:rPr lang="en-US" sz="2800"/>
              <a:t>, like P(T=hot)</a:t>
            </a:r>
            <a:endParaRPr/>
          </a:p>
          <a:p>
            <a:pPr marL="342882" lvl="0" indent="-215882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342882" lvl="0" indent="-342882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 sz="2000"/>
              <a:t> </a:t>
            </a:r>
            <a:endParaRPr/>
          </a:p>
        </p:txBody>
      </p:sp>
      <p:graphicFrame>
        <p:nvGraphicFramePr>
          <p:cNvPr id="194" name="Google Shape;194;p10"/>
          <p:cNvGraphicFramePr/>
          <p:nvPr/>
        </p:nvGraphicFramePr>
        <p:xfrm>
          <a:off x="8226236" y="3451800"/>
          <a:ext cx="2743200" cy="19812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95" name="Google Shape;195;p10" descr="txp_fi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9487" y="2131330"/>
            <a:ext cx="4049019" cy="625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0" descr="txp_fi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77477" y="2956187"/>
            <a:ext cx="1179512" cy="29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Quiz: Events</a:t>
            </a:r>
            <a:endParaRPr/>
          </a:p>
        </p:txBody>
      </p:sp>
      <p:sp>
        <p:nvSpPr>
          <p:cNvPr id="202" name="Google Shape;202;p11"/>
          <p:cNvSpPr txBox="1">
            <a:spLocks noGrp="1"/>
          </p:cNvSpPr>
          <p:nvPr>
            <p:ph type="body" idx="1"/>
          </p:nvPr>
        </p:nvSpPr>
        <p:spPr>
          <a:xfrm>
            <a:off x="457200" y="1428868"/>
            <a:ext cx="5937860" cy="512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P(+x, +y) ?</a:t>
            </a:r>
            <a:endParaRPr/>
          </a:p>
          <a:p>
            <a:pPr marL="742913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342882" lvl="0" indent="-3428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P(+x) ?</a:t>
            </a:r>
            <a:endParaRPr/>
          </a:p>
          <a:p>
            <a:pPr marL="742913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342882" lvl="0" indent="-3428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P(-y OR +x) ?</a:t>
            </a:r>
            <a:endParaRPr/>
          </a:p>
          <a:p>
            <a:pPr marL="457176" lvl="1" indent="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342882" lvl="0" indent="-215882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342882" lvl="0" indent="-342882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 sz="2000"/>
              <a:t> </a:t>
            </a:r>
            <a:endParaRPr/>
          </a:p>
        </p:txBody>
      </p:sp>
      <p:graphicFrame>
        <p:nvGraphicFramePr>
          <p:cNvPr id="203" name="Google Shape;203;p11"/>
          <p:cNvGraphicFramePr/>
          <p:nvPr/>
        </p:nvGraphicFramePr>
        <p:xfrm>
          <a:off x="8364122" y="2116487"/>
          <a:ext cx="2743200" cy="19812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+x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+x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-x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-x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04" name="Google Shape;204;p11" descr="txp_fi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0293" y="1620874"/>
            <a:ext cx="1149651" cy="29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Marginal Distributions</a:t>
            </a:r>
            <a:endParaRPr/>
          </a:p>
        </p:txBody>
      </p:sp>
      <p:sp>
        <p:nvSpPr>
          <p:cNvPr id="210" name="Google Shape;210;p12"/>
          <p:cNvSpPr txBox="1">
            <a:spLocks noGrp="1"/>
          </p:cNvSpPr>
          <p:nvPr>
            <p:ph type="body" idx="1"/>
          </p:nvPr>
        </p:nvSpPr>
        <p:spPr>
          <a:xfrm>
            <a:off x="861746" y="1452563"/>
            <a:ext cx="7825053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Marginal distributions are sub-tables which eliminate variables </a:t>
            </a:r>
            <a:endParaRPr/>
          </a:p>
          <a:p>
            <a:pPr marL="342882" lvl="0" indent="-34288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Marginalization (summing out): Combine collapsed rows by adding</a:t>
            </a:r>
            <a:endParaRPr/>
          </a:p>
        </p:txBody>
      </p:sp>
      <p:graphicFrame>
        <p:nvGraphicFramePr>
          <p:cNvPr id="211" name="Google Shape;211;p12"/>
          <p:cNvGraphicFramePr/>
          <p:nvPr/>
        </p:nvGraphicFramePr>
        <p:xfrm>
          <a:off x="343549" y="3300811"/>
          <a:ext cx="2743200" cy="19812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2" name="Google Shape;212;p12"/>
          <p:cNvGraphicFramePr/>
          <p:nvPr/>
        </p:nvGraphicFramePr>
        <p:xfrm>
          <a:off x="7148913" y="2719786"/>
          <a:ext cx="1828800" cy="11890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914400"/>
                <a:gridCol w="914400"/>
              </a:tblGrid>
              <a:tr h="396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3" name="Google Shape;213;p12"/>
          <p:cNvGraphicFramePr/>
          <p:nvPr/>
        </p:nvGraphicFramePr>
        <p:xfrm>
          <a:off x="7148913" y="4548586"/>
          <a:ext cx="1828800" cy="11890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914400"/>
                <a:gridCol w="914400"/>
              </a:tblGrid>
              <a:tr h="396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14" name="Google Shape;214;p12"/>
          <p:cNvCxnSpPr/>
          <p:nvPr/>
        </p:nvCxnSpPr>
        <p:spPr>
          <a:xfrm>
            <a:off x="3700875" y="3422589"/>
            <a:ext cx="27432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5" name="Google Shape;215;p12"/>
          <p:cNvCxnSpPr/>
          <p:nvPr/>
        </p:nvCxnSpPr>
        <p:spPr>
          <a:xfrm>
            <a:off x="3700875" y="4993329"/>
            <a:ext cx="27432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216" name="Google Shape;216;p12" descr="txp_fi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1587" y="2842024"/>
            <a:ext cx="1177925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2" descr="txp_fi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34213" y="3671826"/>
            <a:ext cx="2433637" cy="566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2" descr="txp_fi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26763" y="2314974"/>
            <a:ext cx="731838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2" descr="txp_fi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26275" y="5223516"/>
            <a:ext cx="2462213" cy="59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2" descr="txp_fi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5163" y="4143774"/>
            <a:ext cx="850900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2" descr="txp_fi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4737" y="6110686"/>
            <a:ext cx="5716588" cy="611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237642" y="1144880"/>
            <a:ext cx="2954357" cy="1935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Quiz: Marginal Distributions</a:t>
            </a:r>
            <a:endParaRPr/>
          </a:p>
        </p:txBody>
      </p:sp>
      <p:graphicFrame>
        <p:nvGraphicFramePr>
          <p:cNvPr id="228" name="Google Shape;228;p13"/>
          <p:cNvGraphicFramePr/>
          <p:nvPr/>
        </p:nvGraphicFramePr>
        <p:xfrm>
          <a:off x="314520" y="2495271"/>
          <a:ext cx="2743200" cy="19812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+x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+x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-x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-x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9" name="Google Shape;229;p13"/>
          <p:cNvGraphicFramePr/>
          <p:nvPr/>
        </p:nvGraphicFramePr>
        <p:xfrm>
          <a:off x="7119884" y="1914246"/>
          <a:ext cx="1828800" cy="11890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914400"/>
                <a:gridCol w="914400"/>
              </a:tblGrid>
              <a:tr h="396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+x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endParaRPr sz="2000" b="0" i="0" u="none" strike="noStrike" cap="none">
                        <a:solidFill>
                          <a:schemeClr val="accen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-x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endParaRPr sz="2000" b="0" i="0" u="none" strike="noStrike" cap="none">
                        <a:solidFill>
                          <a:schemeClr val="accen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30" name="Google Shape;230;p13"/>
          <p:cNvGraphicFramePr/>
          <p:nvPr/>
        </p:nvGraphicFramePr>
        <p:xfrm>
          <a:off x="7119884" y="3743046"/>
          <a:ext cx="1828800" cy="11890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914400"/>
                <a:gridCol w="914400"/>
              </a:tblGrid>
              <a:tr h="396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endParaRPr sz="2000" b="0" i="0" u="none" strike="noStrike" cap="none">
                        <a:solidFill>
                          <a:schemeClr val="accen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endParaRPr sz="2000" b="0" i="0" u="none" strike="noStrike" cap="none">
                        <a:solidFill>
                          <a:schemeClr val="accen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31" name="Google Shape;231;p13"/>
          <p:cNvCxnSpPr/>
          <p:nvPr/>
        </p:nvCxnSpPr>
        <p:spPr>
          <a:xfrm>
            <a:off x="3671846" y="2617049"/>
            <a:ext cx="27432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32" name="Google Shape;232;p13"/>
          <p:cNvCxnSpPr/>
          <p:nvPr/>
        </p:nvCxnSpPr>
        <p:spPr>
          <a:xfrm>
            <a:off x="3671846" y="4187789"/>
            <a:ext cx="27432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233" name="Google Shape;233;p13" descr="txp_fi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7468" y="2036484"/>
            <a:ext cx="1148104" cy="298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3" descr="txp_fi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0532" y="2866286"/>
            <a:ext cx="2582940" cy="612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3" descr="txp_fi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67863" y="1509434"/>
            <a:ext cx="791580" cy="298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3" descr="txp_fig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52479" y="4417976"/>
            <a:ext cx="2551748" cy="567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3" descr="txp_fig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40918" y="3338234"/>
            <a:ext cx="761332" cy="298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237642" y="1144880"/>
            <a:ext cx="2954357" cy="1935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Conditional Probabilities</a:t>
            </a:r>
            <a:endParaRPr/>
          </a:p>
        </p:txBody>
      </p:sp>
      <p:sp>
        <p:nvSpPr>
          <p:cNvPr id="244" name="Google Shape;244;p14"/>
          <p:cNvSpPr txBox="1">
            <a:spLocks noGrp="1"/>
          </p:cNvSpPr>
          <p:nvPr>
            <p:ph type="body" idx="1"/>
          </p:nvPr>
        </p:nvSpPr>
        <p:spPr>
          <a:xfrm>
            <a:off x="317500" y="1292786"/>
            <a:ext cx="8562975" cy="4680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 simple relation between joint and conditional probabilities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solidFill>
                  <a:schemeClr val="accent2"/>
                </a:solidFill>
              </a:rPr>
              <a:t>In fact, this is taken as the </a:t>
            </a:r>
            <a:r>
              <a:rPr lang="en-US" sz="2000" i="1">
                <a:solidFill>
                  <a:schemeClr val="accent2"/>
                </a:solidFill>
              </a:rPr>
              <a:t>definition</a:t>
            </a:r>
            <a:r>
              <a:rPr lang="en-US" sz="2000">
                <a:solidFill>
                  <a:schemeClr val="accent2"/>
                </a:solidFill>
              </a:rPr>
              <a:t> of a conditional probability</a:t>
            </a:r>
            <a:endParaRPr/>
          </a:p>
        </p:txBody>
      </p:sp>
      <p:pic>
        <p:nvPicPr>
          <p:cNvPr id="245" name="Google Shape;245;p14" descr="txp_fi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863" y="2740025"/>
            <a:ext cx="2373312" cy="7318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6" name="Google Shape;246;p14"/>
          <p:cNvGraphicFramePr/>
          <p:nvPr/>
        </p:nvGraphicFramePr>
        <p:xfrm>
          <a:off x="762000" y="4576763"/>
          <a:ext cx="2743200" cy="19812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247" name="Google Shape;247;p14"/>
          <p:cNvGrpSpPr/>
          <p:nvPr/>
        </p:nvGrpSpPr>
        <p:grpSpPr>
          <a:xfrm>
            <a:off x="6021149" y="2655489"/>
            <a:ext cx="2197100" cy="1272154"/>
            <a:chOff x="5105400" y="2512724"/>
            <a:chExt cx="2895600" cy="1676400"/>
          </a:xfrm>
        </p:grpSpPr>
        <p:sp>
          <p:nvSpPr>
            <p:cNvPr id="248" name="Google Shape;248;p14"/>
            <p:cNvSpPr/>
            <p:nvPr/>
          </p:nvSpPr>
          <p:spPr>
            <a:xfrm>
              <a:off x="5105400" y="2512724"/>
              <a:ext cx="1828800" cy="1676400"/>
            </a:xfrm>
            <a:prstGeom prst="ellipse">
              <a:avLst/>
            </a:prstGeom>
            <a:solidFill>
              <a:srgbClr val="3333FF">
                <a:alpha val="49019"/>
              </a:srgbClr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6172200" y="2512724"/>
              <a:ext cx="1828800" cy="1676400"/>
            </a:xfrm>
            <a:prstGeom prst="ellipse">
              <a:avLst/>
            </a:prstGeom>
            <a:solidFill>
              <a:srgbClr val="FF3300">
                <a:alpha val="49019"/>
              </a:srgbClr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50" name="Google Shape;250;p14" descr="txp_fi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70038" y="4191000"/>
            <a:ext cx="1179512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4" descr="txp_fi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68332" y="4885634"/>
            <a:ext cx="3269608" cy="31352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4"/>
          <p:cNvSpPr/>
          <p:nvPr/>
        </p:nvSpPr>
        <p:spPr>
          <a:xfrm>
            <a:off x="5487969" y="2256706"/>
            <a:ext cx="3174853" cy="2154643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4"/>
          <p:cNvSpPr txBox="1"/>
          <p:nvPr/>
        </p:nvSpPr>
        <p:spPr>
          <a:xfrm>
            <a:off x="7302170" y="3957739"/>
            <a:ext cx="6661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FF9786"/>
                </a:solidFill>
                <a:latin typeface="Calibri"/>
                <a:ea typeface="Calibri"/>
                <a:cs typeface="Calibri"/>
                <a:sym typeface="Calibri"/>
              </a:rPr>
              <a:t>P(b)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4"/>
          <p:cNvSpPr txBox="1"/>
          <p:nvPr/>
        </p:nvSpPr>
        <p:spPr>
          <a:xfrm>
            <a:off x="6286678" y="3951376"/>
            <a:ext cx="6661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P(a)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4"/>
          <p:cNvSpPr txBox="1"/>
          <p:nvPr/>
        </p:nvSpPr>
        <p:spPr>
          <a:xfrm>
            <a:off x="6767902" y="2289341"/>
            <a:ext cx="86206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E57071"/>
                </a:solidFill>
                <a:latin typeface="Calibri"/>
                <a:ea typeface="Calibri"/>
                <a:cs typeface="Calibri"/>
                <a:sym typeface="Calibri"/>
              </a:rPr>
              <a:t>P(a,b)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14" descr="txp_fig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34883" y="4686487"/>
            <a:ext cx="2836647" cy="731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4" descr="txp_fig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13115" y="4702804"/>
            <a:ext cx="836064" cy="656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4" descr="txp_fig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25435" y="4923246"/>
            <a:ext cx="821135" cy="223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4" descr="txp_fig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007662" y="5802804"/>
            <a:ext cx="5643434" cy="29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4" descr="txp_fig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87759" y="6306751"/>
            <a:ext cx="1701988" cy="253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4" descr="txp_fig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926023" y="6311728"/>
            <a:ext cx="806205" cy="22394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4"/>
          <p:cNvSpPr/>
          <p:nvPr/>
        </p:nvSpPr>
        <p:spPr>
          <a:xfrm>
            <a:off x="4784956" y="5704129"/>
            <a:ext cx="6020880" cy="997942"/>
          </a:xfrm>
          <a:prstGeom prst="wedgeRectCallout">
            <a:avLst>
              <a:gd name="adj1" fmla="val -1035"/>
              <a:gd name="adj2" fmla="val -81872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5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Quiz: Conditional Probabilities</a:t>
            </a:r>
            <a:endParaRPr/>
          </a:p>
        </p:txBody>
      </p:sp>
      <p:graphicFrame>
        <p:nvGraphicFramePr>
          <p:cNvPr id="268" name="Google Shape;268;p15"/>
          <p:cNvGraphicFramePr/>
          <p:nvPr/>
        </p:nvGraphicFramePr>
        <p:xfrm>
          <a:off x="314520" y="2495271"/>
          <a:ext cx="2743200" cy="19812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+x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+x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-x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-x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69" name="Google Shape;269;p15" descr="txp_fi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7468" y="2036484"/>
            <a:ext cx="1148104" cy="29820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5"/>
          <p:cNvSpPr txBox="1">
            <a:spLocks noGrp="1"/>
          </p:cNvSpPr>
          <p:nvPr>
            <p:ph type="body" idx="1"/>
          </p:nvPr>
        </p:nvSpPr>
        <p:spPr>
          <a:xfrm>
            <a:off x="4209143" y="1341782"/>
            <a:ext cx="5937860" cy="512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P(+x | +y) ?</a:t>
            </a:r>
            <a:endParaRPr/>
          </a:p>
          <a:p>
            <a:pPr marL="742913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342882" lvl="0" indent="-3428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P(-x | +y) ?</a:t>
            </a:r>
            <a:endParaRPr/>
          </a:p>
          <a:p>
            <a:pPr marL="742913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342882" lvl="0" indent="-3428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P(-y | +x) ?</a:t>
            </a:r>
            <a:endParaRPr/>
          </a:p>
          <a:p>
            <a:pPr marL="457176" lvl="1" indent="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342882" lvl="0" indent="-215882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342882" lvl="0" indent="-342882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 sz="2000"/>
              <a:t>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Conditional Distributions</a:t>
            </a:r>
            <a:endParaRPr/>
          </a:p>
        </p:txBody>
      </p:sp>
      <p:sp>
        <p:nvSpPr>
          <p:cNvPr id="276" name="Google Shape;276;p16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solidFill>
                  <a:schemeClr val="dk1"/>
                </a:solidFill>
              </a:rPr>
              <a:t>Conditional distributions are probability distributions over some variables given fixed values of others</a:t>
            </a:r>
            <a:endParaRPr/>
          </a:p>
        </p:txBody>
      </p:sp>
      <p:pic>
        <p:nvPicPr>
          <p:cNvPr id="277" name="Google Shape;277;p16" descr="txp_fi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73213" y="2943225"/>
            <a:ext cx="2071687" cy="3127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8" name="Google Shape;278;p16"/>
          <p:cNvGraphicFramePr/>
          <p:nvPr/>
        </p:nvGraphicFramePr>
        <p:xfrm>
          <a:off x="8479064" y="3558721"/>
          <a:ext cx="2743200" cy="19812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79" name="Google Shape;279;p16"/>
          <p:cNvGraphicFramePr/>
          <p:nvPr/>
        </p:nvGraphicFramePr>
        <p:xfrm>
          <a:off x="1708150" y="3384550"/>
          <a:ext cx="1828800" cy="11890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914400"/>
                <a:gridCol w="914400"/>
              </a:tblGrid>
              <a:tr h="396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80" name="Google Shape;280;p16" descr="txp_fi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3525" y="4800600"/>
            <a:ext cx="2162175" cy="3127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1" name="Google Shape;281;p16"/>
          <p:cNvGraphicFramePr/>
          <p:nvPr/>
        </p:nvGraphicFramePr>
        <p:xfrm>
          <a:off x="1712913" y="5241925"/>
          <a:ext cx="1828800" cy="11890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914400"/>
                <a:gridCol w="914400"/>
              </a:tblGrid>
              <a:tr h="396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82" name="Google Shape;282;p16" descr="txp_fi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12489" y="3134859"/>
            <a:ext cx="1179513" cy="29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6"/>
          <p:cNvSpPr txBox="1"/>
          <p:nvPr/>
        </p:nvSpPr>
        <p:spPr>
          <a:xfrm>
            <a:off x="1309688" y="2386013"/>
            <a:ext cx="27432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Conditional Distributions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6"/>
          <p:cNvSpPr txBox="1"/>
          <p:nvPr/>
        </p:nvSpPr>
        <p:spPr>
          <a:xfrm>
            <a:off x="8890227" y="2507796"/>
            <a:ext cx="2587625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Joint Distribution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1139825" y="2921000"/>
            <a:ext cx="207963" cy="3517900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16" descr="txp_fi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2463" y="4097338"/>
            <a:ext cx="312737" cy="114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Normalization Trick</a:t>
            </a:r>
            <a:endParaRPr/>
          </a:p>
        </p:txBody>
      </p:sp>
      <p:graphicFrame>
        <p:nvGraphicFramePr>
          <p:cNvPr id="292" name="Google Shape;292;p17"/>
          <p:cNvGraphicFramePr/>
          <p:nvPr/>
        </p:nvGraphicFramePr>
        <p:xfrm>
          <a:off x="303920" y="3102146"/>
          <a:ext cx="2743200" cy="19812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93" name="Google Shape;293;p17" descr="txp_fi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9729" y="4777781"/>
            <a:ext cx="1909108" cy="217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7" descr="txp_fi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97693" y="5202189"/>
            <a:ext cx="3963475" cy="517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7" descr="txp_fi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01641" y="4628880"/>
            <a:ext cx="1960986" cy="517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7" descr="txp_fig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71787" y="5820987"/>
            <a:ext cx="1846854" cy="486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7" descr="txp_fi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8778" y="2617154"/>
            <a:ext cx="1267467" cy="320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7" descr="txp_fig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64886" y="1985833"/>
            <a:ext cx="1954844" cy="223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7" descr="txp_fig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314815" y="2414780"/>
            <a:ext cx="4058427" cy="520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7" descr="txp_fig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334084" y="1831680"/>
            <a:ext cx="2018590" cy="520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7" descr="txp_fig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301982" y="2968286"/>
            <a:ext cx="1891099" cy="48871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2" name="Google Shape;302;p17"/>
          <p:cNvGraphicFramePr/>
          <p:nvPr/>
        </p:nvGraphicFramePr>
        <p:xfrm>
          <a:off x="10246121" y="3659964"/>
          <a:ext cx="1581150" cy="11887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857250"/>
                <a:gridCol w="7239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303" name="Google Shape;303;p17" descr="txp_fig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090677" y="3198001"/>
            <a:ext cx="1745932" cy="3133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4" name="Google Shape;304;p17"/>
          <p:cNvCxnSpPr/>
          <p:nvPr/>
        </p:nvCxnSpPr>
        <p:spPr>
          <a:xfrm>
            <a:off x="3791013" y="3971222"/>
            <a:ext cx="5772525" cy="3177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"/>
          <p:cNvSpPr txBox="1"/>
          <p:nvPr/>
        </p:nvSpPr>
        <p:spPr>
          <a:xfrm>
            <a:off x="3273100" y="2771322"/>
            <a:ext cx="2195482" cy="173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joint probabilities matching the evidence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8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Normalization Trick</a:t>
            </a:r>
            <a:endParaRPr/>
          </a:p>
        </p:txBody>
      </p:sp>
      <p:graphicFrame>
        <p:nvGraphicFramePr>
          <p:cNvPr id="311" name="Google Shape;311;p18"/>
          <p:cNvGraphicFramePr/>
          <p:nvPr/>
        </p:nvGraphicFramePr>
        <p:xfrm>
          <a:off x="303920" y="3300866"/>
          <a:ext cx="2743200" cy="19812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312" name="Google Shape;312;p18"/>
          <p:cNvGrpSpPr/>
          <p:nvPr/>
        </p:nvGrpSpPr>
        <p:grpSpPr>
          <a:xfrm>
            <a:off x="4685939" y="5619332"/>
            <a:ext cx="3357110" cy="990267"/>
            <a:chOff x="3830658" y="4628880"/>
            <a:chExt cx="5101206" cy="1477080"/>
          </a:xfrm>
        </p:grpSpPr>
        <p:pic>
          <p:nvPicPr>
            <p:cNvPr id="313" name="Google Shape;313;p18" descr="txp_fig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30658" y="4759927"/>
              <a:ext cx="2046540" cy="195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" name="Google Shape;314;p18" descr="txp_fig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378325" y="5133446"/>
              <a:ext cx="3553539" cy="455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18" descr="txp_fig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381865" y="4628880"/>
              <a:ext cx="1758164" cy="455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" name="Google Shape;316;p18" descr="txp_fig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355099" y="5678047"/>
              <a:ext cx="1655837" cy="42791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7" name="Google Shape;317;p18" descr="txp_fi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8778" y="2815874"/>
            <a:ext cx="1267467" cy="3207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" name="Google Shape;318;p18"/>
          <p:cNvGrpSpPr/>
          <p:nvPr/>
        </p:nvGrpSpPr>
        <p:grpSpPr>
          <a:xfrm>
            <a:off x="4636141" y="1261440"/>
            <a:ext cx="3605608" cy="1008935"/>
            <a:chOff x="3711749" y="2025130"/>
            <a:chExt cx="5117028" cy="1431867"/>
          </a:xfrm>
        </p:grpSpPr>
        <p:pic>
          <p:nvPicPr>
            <p:cNvPr id="319" name="Google Shape;319;p18" descr="txp_fig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711749" y="2160935"/>
              <a:ext cx="1722173" cy="1965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18" descr="txp_fig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253396" y="2538828"/>
              <a:ext cx="3575381" cy="458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p18" descr="txp_fig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270372" y="2025130"/>
              <a:ext cx="1778331" cy="458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" name="Google Shape;322;p18" descr="txp_fig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242091" y="3026454"/>
              <a:ext cx="1666015" cy="430543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323" name="Google Shape;323;p18"/>
          <p:cNvGraphicFramePr/>
          <p:nvPr/>
        </p:nvGraphicFramePr>
        <p:xfrm>
          <a:off x="10246121" y="3729084"/>
          <a:ext cx="1581150" cy="11887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857250"/>
                <a:gridCol w="7239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324" name="Google Shape;324;p18" descr="txp_fig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090677" y="3267121"/>
            <a:ext cx="1745932" cy="3133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5" name="Google Shape;325;p18"/>
          <p:cNvCxnSpPr/>
          <p:nvPr/>
        </p:nvCxnSpPr>
        <p:spPr>
          <a:xfrm rot="10800000" flipH="1">
            <a:off x="3871858" y="4216320"/>
            <a:ext cx="1026540" cy="540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aphicFrame>
        <p:nvGraphicFramePr>
          <p:cNvPr id="326" name="Google Shape;326;p18"/>
          <p:cNvGraphicFramePr/>
          <p:nvPr/>
        </p:nvGraphicFramePr>
        <p:xfrm>
          <a:off x="5308484" y="3784455"/>
          <a:ext cx="1922500" cy="11887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630200"/>
                <a:gridCol w="733900"/>
                <a:gridCol w="558400"/>
              </a:tblGrid>
              <a:tr h="374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4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4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327" name="Google Shape;327;p18"/>
          <p:cNvCxnSpPr/>
          <p:nvPr/>
        </p:nvCxnSpPr>
        <p:spPr>
          <a:xfrm>
            <a:off x="7747742" y="4172690"/>
            <a:ext cx="1167859" cy="907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328" name="Google Shape;328;p18" descr="txp_fig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642475" y="3378055"/>
            <a:ext cx="1119543" cy="29854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8"/>
          <p:cNvSpPr txBox="1"/>
          <p:nvPr/>
        </p:nvSpPr>
        <p:spPr>
          <a:xfrm>
            <a:off x="6764454" y="2820042"/>
            <a:ext cx="2868198" cy="133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50" marR="0" lvl="1" indent="-28575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NORMALIZE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selection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(make it sum to one)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Normalization Trick</a:t>
            </a:r>
            <a:endParaRPr/>
          </a:p>
        </p:txBody>
      </p:sp>
      <p:graphicFrame>
        <p:nvGraphicFramePr>
          <p:cNvPr id="335" name="Google Shape;335;p19"/>
          <p:cNvGraphicFramePr/>
          <p:nvPr/>
        </p:nvGraphicFramePr>
        <p:xfrm>
          <a:off x="303920" y="2557826"/>
          <a:ext cx="2743200" cy="19812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336" name="Google Shape;336;p19" descr="txp_fi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8778" y="2072834"/>
            <a:ext cx="1267467" cy="32070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7" name="Google Shape;337;p19"/>
          <p:cNvGraphicFramePr/>
          <p:nvPr/>
        </p:nvGraphicFramePr>
        <p:xfrm>
          <a:off x="10246121" y="2986044"/>
          <a:ext cx="1581150" cy="11887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857250"/>
                <a:gridCol w="7239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338" name="Google Shape;338;p19" descr="txp_fi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90677" y="2524081"/>
            <a:ext cx="1745932" cy="3133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9" name="Google Shape;339;p19"/>
          <p:cNvCxnSpPr/>
          <p:nvPr/>
        </p:nvCxnSpPr>
        <p:spPr>
          <a:xfrm rot="10800000" flipH="1">
            <a:off x="3871858" y="3473280"/>
            <a:ext cx="1026540" cy="540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aphicFrame>
        <p:nvGraphicFramePr>
          <p:cNvPr id="340" name="Google Shape;340;p19"/>
          <p:cNvGraphicFramePr/>
          <p:nvPr/>
        </p:nvGraphicFramePr>
        <p:xfrm>
          <a:off x="5308484" y="3041415"/>
          <a:ext cx="1922500" cy="11887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630200"/>
                <a:gridCol w="733900"/>
                <a:gridCol w="558400"/>
              </a:tblGrid>
              <a:tr h="374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4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4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341" name="Google Shape;341;p19"/>
          <p:cNvCxnSpPr/>
          <p:nvPr/>
        </p:nvCxnSpPr>
        <p:spPr>
          <a:xfrm>
            <a:off x="7747742" y="3429650"/>
            <a:ext cx="1167859" cy="907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2" name="Google Shape;342;p19"/>
          <p:cNvSpPr txBox="1"/>
          <p:nvPr/>
        </p:nvSpPr>
        <p:spPr>
          <a:xfrm>
            <a:off x="3273100" y="2028282"/>
            <a:ext cx="2195482" cy="173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joint probabilities matching the evidence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3" name="Google Shape;343;p19" descr="txp_fi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42475" y="2635015"/>
            <a:ext cx="1119543" cy="29854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9"/>
          <p:cNvSpPr txBox="1"/>
          <p:nvPr/>
        </p:nvSpPr>
        <p:spPr>
          <a:xfrm>
            <a:off x="6764454" y="2077002"/>
            <a:ext cx="2868198" cy="133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50" marR="0" lvl="1" indent="-28575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NORMALIZE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selection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(make it sum to one)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9"/>
          <p:cNvSpPr txBox="1">
            <a:spLocks noGrp="1"/>
          </p:cNvSpPr>
          <p:nvPr>
            <p:ph type="body" idx="1"/>
          </p:nvPr>
        </p:nvSpPr>
        <p:spPr>
          <a:xfrm>
            <a:off x="396725" y="4987081"/>
            <a:ext cx="9607409" cy="58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Why does this work? Sum of selection is </a:t>
            </a:r>
            <a:r>
              <a:rPr lang="en-US" sz="2400" b="1"/>
              <a:t>P(evidence)</a:t>
            </a:r>
            <a:r>
              <a:rPr lang="en-US" sz="2400"/>
              <a:t>!  (P(T=c), here)</a:t>
            </a:r>
            <a:endParaRPr/>
          </a:p>
          <a:p>
            <a:pPr marL="342882" lvl="0" indent="-19048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34288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/>
              <a:t> </a:t>
            </a:r>
            <a:endParaRPr/>
          </a:p>
        </p:txBody>
      </p:sp>
      <p:pic>
        <p:nvPicPr>
          <p:cNvPr id="346" name="Google Shape;346;p19" descr="txp_fi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67752" y="5674300"/>
            <a:ext cx="5584825" cy="792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Quiz: Normalization Trick</a:t>
            </a:r>
            <a:endParaRPr/>
          </a:p>
        </p:txBody>
      </p:sp>
      <p:graphicFrame>
        <p:nvGraphicFramePr>
          <p:cNvPr id="352" name="Google Shape;352;p20"/>
          <p:cNvGraphicFramePr/>
          <p:nvPr/>
        </p:nvGraphicFramePr>
        <p:xfrm>
          <a:off x="303920" y="2971475"/>
          <a:ext cx="2743200" cy="19812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914400"/>
                <a:gridCol w="914400"/>
                <a:gridCol w="9144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+x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+x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-x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-x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353" name="Google Shape;353;p20" descr="txp_fi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4822" y="2486483"/>
            <a:ext cx="1235379" cy="3208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4" name="Google Shape;354;p20"/>
          <p:cNvCxnSpPr/>
          <p:nvPr/>
        </p:nvCxnSpPr>
        <p:spPr>
          <a:xfrm rot="10800000" flipH="1">
            <a:off x="3871858" y="3886929"/>
            <a:ext cx="1026540" cy="540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5" name="Google Shape;355;p20"/>
          <p:cNvCxnSpPr/>
          <p:nvPr/>
        </p:nvCxnSpPr>
        <p:spPr>
          <a:xfrm>
            <a:off x="8038022" y="3843299"/>
            <a:ext cx="1167859" cy="907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6" name="Google Shape;356;p20"/>
          <p:cNvSpPr txBox="1"/>
          <p:nvPr/>
        </p:nvSpPr>
        <p:spPr>
          <a:xfrm>
            <a:off x="3273100" y="2441931"/>
            <a:ext cx="2195482" cy="173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joint probabilities matching the evidence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 txBox="1"/>
          <p:nvPr/>
        </p:nvSpPr>
        <p:spPr>
          <a:xfrm>
            <a:off x="6989421" y="2490651"/>
            <a:ext cx="2868198" cy="133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50" marR="0" lvl="1" indent="-28575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NORMALIZE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selection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(make it sum to one)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0"/>
          <p:cNvSpPr txBox="1">
            <a:spLocks noGrp="1"/>
          </p:cNvSpPr>
          <p:nvPr>
            <p:ph type="body" idx="1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P(X | Y=-y) 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1"/>
          <p:cNvSpPr txBox="1">
            <a:spLocks noGrp="1"/>
          </p:cNvSpPr>
          <p:nvPr>
            <p:ph type="body" idx="1"/>
          </p:nvPr>
        </p:nvSpPr>
        <p:spPr>
          <a:xfrm>
            <a:off x="491720" y="1360415"/>
            <a:ext cx="84709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(Dictionary) To bring or restore to a normal condition</a:t>
            </a:r>
            <a:endParaRPr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3428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Procedure: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Step 1: Compute Z = sum over all entries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Step 2: Divide every entry by Z</a:t>
            </a:r>
            <a:endParaRPr/>
          </a:p>
          <a:p>
            <a:pPr marL="742913" lvl="1" indent="-15873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342882" lvl="0" indent="-3428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Example 1</a:t>
            </a:r>
            <a:endParaRPr/>
          </a:p>
          <a:p>
            <a:pPr marL="742913" lvl="1" indent="-15873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  <p:sp>
        <p:nvSpPr>
          <p:cNvPr id="364" name="Google Shape;364;p21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 Normalize</a:t>
            </a:r>
            <a:endParaRPr/>
          </a:p>
        </p:txBody>
      </p:sp>
      <p:sp>
        <p:nvSpPr>
          <p:cNvPr id="365" name="Google Shape;365;p21"/>
          <p:cNvSpPr/>
          <p:nvPr/>
        </p:nvSpPr>
        <p:spPr>
          <a:xfrm>
            <a:off x="6505277" y="2324160"/>
            <a:ext cx="3343352" cy="362880"/>
          </a:xfrm>
          <a:prstGeom prst="wedgeRectCallout">
            <a:avLst>
              <a:gd name="adj1" fmla="val -43217"/>
              <a:gd name="adj2" fmla="val -164407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entries sum to ONE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5338993" y="1442880"/>
            <a:ext cx="2220261" cy="406080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7" name="Google Shape;367;p21"/>
          <p:cNvGraphicFramePr/>
          <p:nvPr/>
        </p:nvGraphicFramePr>
        <p:xfrm>
          <a:off x="578911" y="4852284"/>
          <a:ext cx="1581150" cy="11887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857250"/>
                <a:gridCol w="7239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368" name="Google Shape;368;p21"/>
          <p:cNvCxnSpPr/>
          <p:nvPr/>
        </p:nvCxnSpPr>
        <p:spPr>
          <a:xfrm>
            <a:off x="2417387" y="5468690"/>
            <a:ext cx="1167859" cy="907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69" name="Google Shape;369;p21"/>
          <p:cNvSpPr txBox="1"/>
          <p:nvPr/>
        </p:nvSpPr>
        <p:spPr>
          <a:xfrm>
            <a:off x="2142511" y="5650560"/>
            <a:ext cx="13304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 = 0.5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0" name="Google Shape;370;p21"/>
          <p:cNvGraphicFramePr/>
          <p:nvPr/>
        </p:nvGraphicFramePr>
        <p:xfrm>
          <a:off x="3729096" y="4875084"/>
          <a:ext cx="1581150" cy="11887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857250"/>
                <a:gridCol w="7239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71" name="Google Shape;371;p21"/>
          <p:cNvSpPr txBox="1"/>
          <p:nvPr/>
        </p:nvSpPr>
        <p:spPr>
          <a:xfrm>
            <a:off x="5862165" y="4286255"/>
            <a:ext cx="5195946" cy="1398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marR="0" lvl="0" indent="-3428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13" marR="0" lvl="1" indent="-15873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82" marR="0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82" marR="0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82" marR="0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2" name="Google Shape;372;p21"/>
          <p:cNvGraphicFramePr/>
          <p:nvPr/>
        </p:nvGraphicFramePr>
        <p:xfrm>
          <a:off x="6031680" y="4799040"/>
          <a:ext cx="2270550" cy="1854225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756850"/>
                <a:gridCol w="756850"/>
                <a:gridCol w="75685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73" name="Google Shape;373;p21"/>
          <p:cNvSpPr txBox="1"/>
          <p:nvPr/>
        </p:nvSpPr>
        <p:spPr>
          <a:xfrm>
            <a:off x="2372663" y="4913040"/>
            <a:ext cx="12236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p21"/>
          <p:cNvCxnSpPr/>
          <p:nvPr/>
        </p:nvCxnSpPr>
        <p:spPr>
          <a:xfrm>
            <a:off x="8608552" y="5629730"/>
            <a:ext cx="1167859" cy="907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5" name="Google Shape;375;p21"/>
          <p:cNvSpPr txBox="1"/>
          <p:nvPr/>
        </p:nvSpPr>
        <p:spPr>
          <a:xfrm>
            <a:off x="8558293" y="5785680"/>
            <a:ext cx="8454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 = 50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8537911" y="5143200"/>
            <a:ext cx="12236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7" name="Google Shape;377;p21"/>
          <p:cNvGraphicFramePr/>
          <p:nvPr/>
        </p:nvGraphicFramePr>
        <p:xfrm>
          <a:off x="9803883" y="4795920"/>
          <a:ext cx="2270550" cy="1854225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756850"/>
                <a:gridCol w="756850"/>
                <a:gridCol w="75685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2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Normalization Trick</a:t>
            </a:r>
            <a:endParaRPr/>
          </a:p>
        </p:txBody>
      </p:sp>
      <p:sp>
        <p:nvSpPr>
          <p:cNvPr id="383" name="Google Shape;383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37723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 trick to get a whole conditional distribution at once:</a:t>
            </a:r>
            <a:endParaRPr/>
          </a:p>
          <a:p>
            <a:pPr marL="742913" lvl="1" indent="-28573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Select the joint probabilities matching the evidence</a:t>
            </a:r>
            <a:endParaRPr/>
          </a:p>
          <a:p>
            <a:pPr marL="742913" lvl="1" indent="-28573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Normalize the selection (make it sum to one)</a:t>
            </a:r>
            <a:endParaRPr/>
          </a:p>
          <a:p>
            <a:pPr marL="742913" lvl="1" indent="-15873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15873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15873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15873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15873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15873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15873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15873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28573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Why does this work? Sum of selection is P(evidence)!  (P(r), here)</a:t>
            </a:r>
            <a:endParaRPr/>
          </a:p>
          <a:p>
            <a:pPr marL="342882" lvl="0" indent="-19048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34288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/>
              <a:t> </a:t>
            </a:r>
            <a:endParaRPr/>
          </a:p>
        </p:txBody>
      </p:sp>
      <p:graphicFrame>
        <p:nvGraphicFramePr>
          <p:cNvPr id="384" name="Google Shape;384;p22"/>
          <p:cNvGraphicFramePr/>
          <p:nvPr/>
        </p:nvGraphicFramePr>
        <p:xfrm>
          <a:off x="611188" y="3203575"/>
          <a:ext cx="2209800" cy="1854225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828675"/>
                <a:gridCol w="828675"/>
                <a:gridCol w="55245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385" name="Google Shape;385;p22"/>
          <p:cNvCxnSpPr/>
          <p:nvPr/>
        </p:nvCxnSpPr>
        <p:spPr>
          <a:xfrm>
            <a:off x="2973388" y="4011613"/>
            <a:ext cx="815975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aphicFrame>
        <p:nvGraphicFramePr>
          <p:cNvPr id="386" name="Google Shape;386;p22"/>
          <p:cNvGraphicFramePr/>
          <p:nvPr/>
        </p:nvGraphicFramePr>
        <p:xfrm>
          <a:off x="3883025" y="3582988"/>
          <a:ext cx="1866900" cy="1114425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611975"/>
                <a:gridCol w="712675"/>
                <a:gridCol w="54225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00" marR="9140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387" name="Google Shape;387;p22"/>
          <p:cNvCxnSpPr/>
          <p:nvPr/>
        </p:nvCxnSpPr>
        <p:spPr>
          <a:xfrm>
            <a:off x="5881688" y="3979863"/>
            <a:ext cx="80645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aphicFrame>
        <p:nvGraphicFramePr>
          <p:cNvPr id="388" name="Google Shape;388;p22"/>
          <p:cNvGraphicFramePr/>
          <p:nvPr/>
        </p:nvGraphicFramePr>
        <p:xfrm>
          <a:off x="6859588" y="3582988"/>
          <a:ext cx="1581150" cy="1114425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857250"/>
                <a:gridCol w="7239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89" name="Google Shape;389;p22"/>
          <p:cNvSpPr txBox="1"/>
          <p:nvPr/>
        </p:nvSpPr>
        <p:spPr>
          <a:xfrm>
            <a:off x="2944813" y="4194175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2"/>
          <p:cNvSpPr txBox="1"/>
          <p:nvPr/>
        </p:nvSpPr>
        <p:spPr>
          <a:xfrm>
            <a:off x="5745163" y="4162425"/>
            <a:ext cx="12954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1" name="Google Shape;391;p22" descr="txp_fi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76725" y="3176588"/>
            <a:ext cx="1000125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2" descr="txp_fi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15163" y="3121025"/>
            <a:ext cx="969962" cy="312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2" descr="txp_fi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44663" y="5803900"/>
            <a:ext cx="5584825" cy="792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2" descr="txp_fi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2675" y="2771775"/>
            <a:ext cx="1179513" cy="298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2"/>
          <p:cNvSpPr/>
          <p:nvPr/>
        </p:nvSpPr>
        <p:spPr>
          <a:xfrm>
            <a:off x="4766149" y="3244334"/>
            <a:ext cx="265970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check feedback on elms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3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Full Joint Probability Distribution</a:t>
            </a:r>
            <a:endParaRPr/>
          </a:p>
        </p:txBody>
      </p:sp>
      <p:sp>
        <p:nvSpPr>
          <p:cNvPr id="401" name="Google Shape;401;p23"/>
          <p:cNvSpPr txBox="1">
            <a:spLocks noGrp="1"/>
          </p:cNvSpPr>
          <p:nvPr>
            <p:ph type="body" idx="1"/>
          </p:nvPr>
        </p:nvSpPr>
        <p:spPr>
          <a:xfrm>
            <a:off x="406400" y="1397001"/>
            <a:ext cx="5374289" cy="472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Juice bar survey:</a:t>
            </a:r>
            <a:endParaRPr/>
          </a:p>
          <a:p>
            <a:pPr marL="342882" lvl="0" indent="-3428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8 male students, 5 female students,     3 male teachers and 2 female teachers bought orange juice </a:t>
            </a:r>
            <a:endParaRPr/>
          </a:p>
          <a:p>
            <a:pPr marL="342882" lvl="0" indent="-3428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6 male students, 7 female students,     2 male teachers and 4 female teachers bought mango juice </a:t>
            </a:r>
            <a:endParaRPr/>
          </a:p>
          <a:p>
            <a:pPr marL="342882" lvl="0" indent="-3428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4 male students, 5 female students,     2 male teachers and 2 female teachers bought lemon juice </a:t>
            </a:r>
            <a:endParaRPr/>
          </a:p>
          <a:p>
            <a:pPr marL="342882" lvl="0" indent="-139682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endParaRPr/>
          </a:p>
        </p:txBody>
      </p:sp>
      <p:sp>
        <p:nvSpPr>
          <p:cNvPr id="402" name="Google Shape;402;p2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graphicFrame>
        <p:nvGraphicFramePr>
          <p:cNvPr id="403" name="Google Shape;403;p23"/>
          <p:cNvGraphicFramePr/>
          <p:nvPr/>
        </p:nvGraphicFramePr>
        <p:xfrm>
          <a:off x="6096000" y="1251300"/>
          <a:ext cx="5402325" cy="4953130"/>
        </p:xfrm>
        <a:graphic>
          <a:graphicData uri="http://schemas.openxmlformats.org/drawingml/2006/table">
            <a:tbl>
              <a:tblPr firstRow="1" bandRow="1">
                <a:noFill/>
                <a:tableStyleId>{D1D9C12F-CBF6-413E-B424-6A0934C0AAC8}</a:tableStyleId>
              </a:tblPr>
              <a:tblGrid>
                <a:gridCol w="1441000"/>
                <a:gridCol w="1575475"/>
                <a:gridCol w="1145625"/>
                <a:gridCol w="1240225"/>
              </a:tblGrid>
              <a:tr h="37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Gender(G)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Category(C)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Juice(J)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P(G,C,J)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370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O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8/50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370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Mn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6/50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370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4/50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370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O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3/50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370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Mn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2/50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370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2/50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370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O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5/50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370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Mn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7/50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370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5/50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370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O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2/50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370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Mn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4/50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370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2/50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4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Probabilistic Inference</a:t>
            </a:r>
            <a:endParaRPr/>
          </a:p>
        </p:txBody>
      </p:sp>
      <p:sp>
        <p:nvSpPr>
          <p:cNvPr id="409" name="Google Shape;409;p24"/>
          <p:cNvSpPr txBox="1">
            <a:spLocks noGrp="1"/>
          </p:cNvSpPr>
          <p:nvPr>
            <p:ph type="body" idx="1"/>
          </p:nvPr>
        </p:nvSpPr>
        <p:spPr>
          <a:xfrm>
            <a:off x="379413" y="1407089"/>
            <a:ext cx="6854237" cy="4773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Probabilistic inference: compute a desired probability from other known probabilities </a:t>
            </a:r>
            <a:br>
              <a:rPr lang="en-US" sz="2400"/>
            </a:br>
            <a:r>
              <a:rPr lang="en-US" sz="2400"/>
              <a:t>(e.g., conditional from joint)</a:t>
            </a:r>
            <a:endParaRPr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3428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We generally compute conditional probabilities 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P(on time | no reported accidents) = 0.90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These represent the agent’s </a:t>
            </a:r>
            <a:r>
              <a:rPr lang="en-US" sz="2000" i="1"/>
              <a:t>beliefs</a:t>
            </a:r>
            <a:r>
              <a:rPr lang="en-US" sz="2000"/>
              <a:t> given the evidence</a:t>
            </a:r>
            <a:endParaRPr sz="2000" i="1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3428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Probabilities change with new evidence: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P(on time | no accidents, 5 a.m.) = 0.95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P(on time | no accidents, 5 a.m., raining) = 0.80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Observing new evidence causes </a:t>
            </a:r>
            <a:r>
              <a:rPr lang="en-US" sz="2000" i="1"/>
              <a:t>beliefs to be updated</a:t>
            </a:r>
            <a:endParaRPr/>
          </a:p>
        </p:txBody>
      </p:sp>
      <p:pic>
        <p:nvPicPr>
          <p:cNvPr id="410" name="Google Shape;41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08016" y="1295018"/>
            <a:ext cx="5110454" cy="4728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5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Inference by Enumeration</a:t>
            </a:r>
            <a:endParaRPr/>
          </a:p>
        </p:txBody>
      </p:sp>
      <p:sp>
        <p:nvSpPr>
          <p:cNvPr id="416" name="Google Shape;416;p25"/>
          <p:cNvSpPr txBox="1">
            <a:spLocks noGrp="1"/>
          </p:cNvSpPr>
          <p:nvPr>
            <p:ph type="body" idx="1"/>
          </p:nvPr>
        </p:nvSpPr>
        <p:spPr>
          <a:xfrm>
            <a:off x="199221" y="1295813"/>
            <a:ext cx="8229600" cy="1327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General case:</a:t>
            </a:r>
            <a:endParaRPr/>
          </a:p>
          <a:p>
            <a:pPr marL="742913" lvl="1" indent="-285736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Evidence variables: </a:t>
            </a:r>
            <a:endParaRPr/>
          </a:p>
          <a:p>
            <a:pPr marL="742913" lvl="1" indent="-285736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Query* variable:</a:t>
            </a:r>
            <a:endParaRPr/>
          </a:p>
          <a:p>
            <a:pPr marL="742913" lvl="1" indent="-285736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Hidden variables:</a:t>
            </a:r>
            <a:endParaRPr/>
          </a:p>
          <a:p>
            <a:pPr marL="742913" lvl="1" indent="-184136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600"/>
          </a:p>
          <a:p>
            <a:pPr marL="742913" lvl="1" indent="-184136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600"/>
          </a:p>
        </p:txBody>
      </p:sp>
      <p:pic>
        <p:nvPicPr>
          <p:cNvPr id="417" name="Google Shape;417;p25" descr="txp_fi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4081" y="1699187"/>
            <a:ext cx="15748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5" descr="txp_fi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76973" y="1610535"/>
            <a:ext cx="2095500" cy="22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25" descr="txp_fi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89673" y="1929623"/>
            <a:ext cx="169863" cy="21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5" descr="txp_fi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54748" y="2234423"/>
            <a:ext cx="958850" cy="21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25" descr="txp_fi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29704" y="1873689"/>
            <a:ext cx="2067441" cy="356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25" descr="txp_fi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545724" y="6153402"/>
            <a:ext cx="1885950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25" descr="txp_fi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05953" y="6071444"/>
            <a:ext cx="3257550" cy="539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25"/>
          <p:cNvSpPr/>
          <p:nvPr/>
        </p:nvSpPr>
        <p:spPr>
          <a:xfrm rot="-5400000">
            <a:off x="6489768" y="5379365"/>
            <a:ext cx="174830" cy="2134655"/>
          </a:xfrm>
          <a:prstGeom prst="leftBrace">
            <a:avLst>
              <a:gd name="adj1" fmla="val 108331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5" name="Google Shape;425;p25" descr="txp_fi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56065" y="6629400"/>
            <a:ext cx="15748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5"/>
          <p:cNvSpPr/>
          <p:nvPr/>
        </p:nvSpPr>
        <p:spPr>
          <a:xfrm>
            <a:off x="5379898" y="1559239"/>
            <a:ext cx="228600" cy="914400"/>
          </a:xfrm>
          <a:prstGeom prst="rightBrace">
            <a:avLst>
              <a:gd name="adj1" fmla="val 33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5"/>
          <p:cNvSpPr txBox="1"/>
          <p:nvPr/>
        </p:nvSpPr>
        <p:spPr>
          <a:xfrm>
            <a:off x="5751431" y="1968119"/>
            <a:ext cx="15240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variables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5"/>
          <p:cNvSpPr txBox="1"/>
          <p:nvPr/>
        </p:nvSpPr>
        <p:spPr>
          <a:xfrm>
            <a:off x="10488610" y="1129148"/>
            <a:ext cx="1557338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Works fine with multiple query variables, too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5"/>
          <p:cNvSpPr txBox="1"/>
          <p:nvPr/>
        </p:nvSpPr>
        <p:spPr>
          <a:xfrm>
            <a:off x="7779228" y="1296460"/>
            <a:ext cx="3997028" cy="86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marR="0" lvl="0" indent="-34288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We want: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13" marR="0" lvl="1" indent="-184136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5"/>
          <p:cNvSpPr txBox="1"/>
          <p:nvPr/>
        </p:nvSpPr>
        <p:spPr>
          <a:xfrm>
            <a:off x="659401" y="3085809"/>
            <a:ext cx="2826696" cy="1025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marR="0" lvl="0" indent="-34288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Step 1: Select the entries consistent with the evidence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5"/>
          <p:cNvSpPr txBox="1"/>
          <p:nvPr/>
        </p:nvSpPr>
        <p:spPr>
          <a:xfrm>
            <a:off x="4095697" y="3081163"/>
            <a:ext cx="3822722" cy="639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marR="0" lvl="0" indent="-34288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Step 2: Sum out H to get joint of Query and evidence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5"/>
          <p:cNvSpPr txBox="1"/>
          <p:nvPr/>
        </p:nvSpPr>
        <p:spPr>
          <a:xfrm>
            <a:off x="8618168" y="3072764"/>
            <a:ext cx="2786348" cy="463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marR="0" lvl="0" indent="-34288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Step 3: Normalize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882" marR="0" lvl="0" indent="-215882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3" name="Google Shape;433;p2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5579" y="3954241"/>
            <a:ext cx="3561300" cy="2048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48017" y="3737772"/>
            <a:ext cx="3114039" cy="207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25" descr="TP_tmp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180292" y="5675132"/>
            <a:ext cx="2463800" cy="58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25" descr="TP_tmp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408358" y="6324600"/>
            <a:ext cx="36576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25" descr="latex-image-1.pdf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692096" y="3665394"/>
            <a:ext cx="1123188" cy="151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6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Inference by Enumeration</a:t>
            </a:r>
            <a:endParaRPr/>
          </a:p>
        </p:txBody>
      </p:sp>
      <p:sp>
        <p:nvSpPr>
          <p:cNvPr id="443" name="Google Shape;443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P(W)?</a:t>
            </a:r>
            <a:endParaRPr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3428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P(W | winter)?</a:t>
            </a:r>
            <a:endParaRPr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3428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P(W | winter, hot)?</a:t>
            </a:r>
            <a:endParaRPr/>
          </a:p>
        </p:txBody>
      </p:sp>
      <p:graphicFrame>
        <p:nvGraphicFramePr>
          <p:cNvPr id="444" name="Google Shape;444;p26"/>
          <p:cNvGraphicFramePr/>
          <p:nvPr/>
        </p:nvGraphicFramePr>
        <p:xfrm>
          <a:off x="7696203" y="1515801"/>
          <a:ext cx="3640650" cy="356625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1082900"/>
                <a:gridCol w="865850"/>
                <a:gridCol w="865850"/>
                <a:gridCol w="82605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summer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summer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summer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summer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winter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winter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winter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winter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7"/>
          <p:cNvSpPr txBox="1"/>
          <p:nvPr/>
        </p:nvSpPr>
        <p:spPr>
          <a:xfrm>
            <a:off x="929087" y="1411489"/>
            <a:ext cx="8080342" cy="429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marR="0" lvl="0" indent="-21588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82" marR="0" lvl="0" indent="-3428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Obvious problems: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600120" marR="0" lvl="3" indent="-152386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13" marR="0" lvl="1" indent="-285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Worst-case time complexity O(d</a:t>
            </a:r>
            <a:r>
              <a:rPr lang="en-US" sz="2000" b="0" i="0" u="none" strike="noStrike" cap="none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71652" marR="0" lvl="6" indent="-152387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13" marR="0" lvl="1" indent="-285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Space complexity O(d</a:t>
            </a:r>
            <a:r>
              <a:rPr lang="en-US" sz="2000" b="0" i="0" u="none" strike="noStrike" cap="none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to store the joint distribution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13" marR="0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13" marR="0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7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Inference by Enumeration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8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Product Rule</a:t>
            </a:r>
            <a:endParaRPr/>
          </a:p>
        </p:txBody>
      </p:sp>
      <p:sp>
        <p:nvSpPr>
          <p:cNvPr id="456" name="Google Shape;456;p28"/>
          <p:cNvSpPr txBox="1">
            <a:spLocks noGrp="1"/>
          </p:cNvSpPr>
          <p:nvPr>
            <p:ph type="body" idx="1"/>
          </p:nvPr>
        </p:nvSpPr>
        <p:spPr>
          <a:xfrm>
            <a:off x="893005" y="1369120"/>
            <a:ext cx="7987470" cy="4757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Sometimes have conditional distributions but want the joint</a:t>
            </a:r>
            <a:endParaRPr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  <p:pic>
        <p:nvPicPr>
          <p:cNvPr id="457" name="Google Shape;457;p28" descr="txp_fi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05402" y="2225699"/>
            <a:ext cx="2447925" cy="731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28" descr="txp_fi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1949" y="2347356"/>
            <a:ext cx="5906965" cy="599257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28"/>
          <p:cNvSpPr/>
          <p:nvPr/>
        </p:nvSpPr>
        <p:spPr>
          <a:xfrm>
            <a:off x="8044687" y="2421643"/>
            <a:ext cx="914400" cy="381000"/>
          </a:xfrm>
          <a:prstGeom prst="leftRightArrow">
            <a:avLst>
              <a:gd name="adj1" fmla="val 50000"/>
              <a:gd name="adj2" fmla="val 480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0" name="Google Shape;460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43637" y="3471580"/>
            <a:ext cx="5651673" cy="1776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9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Product Rule</a:t>
            </a:r>
            <a:endParaRPr/>
          </a:p>
        </p:txBody>
      </p:sp>
      <p:sp>
        <p:nvSpPr>
          <p:cNvPr id="466" name="Google Shape;466;p29"/>
          <p:cNvSpPr txBox="1">
            <a:spLocks noGrp="1"/>
          </p:cNvSpPr>
          <p:nvPr>
            <p:ph type="body" idx="1"/>
          </p:nvPr>
        </p:nvSpPr>
        <p:spPr>
          <a:xfrm>
            <a:off x="893005" y="1369120"/>
            <a:ext cx="7987500" cy="47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1904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3428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Example:</a:t>
            </a:r>
            <a:endParaRPr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  <p:graphicFrame>
        <p:nvGraphicFramePr>
          <p:cNvPr id="467" name="Google Shape;467;p29"/>
          <p:cNvGraphicFramePr/>
          <p:nvPr/>
        </p:nvGraphicFramePr>
        <p:xfrm>
          <a:off x="1383150" y="4244654"/>
          <a:ext cx="1428750" cy="1114425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468" name="Google Shape;468;p29"/>
          <p:cNvGraphicFramePr/>
          <p:nvPr/>
        </p:nvGraphicFramePr>
        <p:xfrm>
          <a:off x="3592950" y="3739829"/>
          <a:ext cx="2209800" cy="184792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828675"/>
                <a:gridCol w="828675"/>
                <a:gridCol w="552450"/>
              </a:tblGrid>
              <a:tr h="371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wet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5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dry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wet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dry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469" name="Google Shape;469;p29" descr="txp_fi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3963" y="3288979"/>
            <a:ext cx="1193800" cy="3143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70" name="Google Shape;470;p29"/>
          <p:cNvGraphicFramePr/>
          <p:nvPr/>
        </p:nvGraphicFramePr>
        <p:xfrm>
          <a:off x="7479150" y="3758879"/>
          <a:ext cx="2362200" cy="184792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828675"/>
                <a:gridCol w="828675"/>
                <a:gridCol w="704850"/>
              </a:tblGrid>
              <a:tr h="371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wet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0.08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5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dry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wet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dry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471" name="Google Shape;471;p29" descr="txp_fi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5238" y="3287392"/>
            <a:ext cx="1241425" cy="29845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9"/>
          <p:cNvSpPr/>
          <p:nvPr/>
        </p:nvSpPr>
        <p:spPr>
          <a:xfrm>
            <a:off x="6107550" y="4520879"/>
            <a:ext cx="990600" cy="533400"/>
          </a:xfrm>
          <a:prstGeom prst="leftRightArrow">
            <a:avLst>
              <a:gd name="adj1" fmla="val 50000"/>
              <a:gd name="adj2" fmla="val 3714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3" name="Google Shape;473;p29" descr="txp_fi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5250" y="3852542"/>
            <a:ext cx="850900" cy="29845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29"/>
          <p:cNvSpPr/>
          <p:nvPr/>
        </p:nvSpPr>
        <p:spPr>
          <a:xfrm>
            <a:off x="9207875" y="4176807"/>
            <a:ext cx="545725" cy="2480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9"/>
          <p:cNvSpPr/>
          <p:nvPr/>
        </p:nvSpPr>
        <p:spPr>
          <a:xfrm>
            <a:off x="9201518" y="4577236"/>
            <a:ext cx="545725" cy="2480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9"/>
          <p:cNvSpPr/>
          <p:nvPr/>
        </p:nvSpPr>
        <p:spPr>
          <a:xfrm>
            <a:off x="9234852" y="4928060"/>
            <a:ext cx="545725" cy="2480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9"/>
          <p:cNvSpPr/>
          <p:nvPr/>
        </p:nvSpPr>
        <p:spPr>
          <a:xfrm>
            <a:off x="9248339" y="5298724"/>
            <a:ext cx="545725" cy="2480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8" name="Google Shape;478;p29" descr="txp_fig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37035" y="1447471"/>
            <a:ext cx="5906965" cy="599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0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Chain Rule</a:t>
            </a:r>
            <a:endParaRPr/>
          </a:p>
        </p:txBody>
      </p:sp>
      <p:sp>
        <p:nvSpPr>
          <p:cNvPr id="484" name="Google Shape;484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11233052" cy="480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More generally, can always write any joint distribution as an incremental product of conditional distributions</a:t>
            </a:r>
            <a:endParaRPr/>
          </a:p>
          <a:p>
            <a:pPr marL="342882" lvl="0" indent="-1904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  <p:pic>
        <p:nvPicPr>
          <p:cNvPr id="485" name="Google Shape;485;p30" descr="txp_fi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5067" y="2879164"/>
            <a:ext cx="5707062" cy="30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30" descr="txp_fi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06542" y="3525276"/>
            <a:ext cx="4964113" cy="563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1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Bayes Rule</a:t>
            </a:r>
            <a:endParaRPr/>
          </a:p>
        </p:txBody>
      </p:sp>
      <p:pic>
        <p:nvPicPr>
          <p:cNvPr id="492" name="Google Shape;49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71318" y="1628745"/>
            <a:ext cx="7963334" cy="4661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2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Bayes’ Rule</a:t>
            </a:r>
            <a:endParaRPr/>
          </a:p>
        </p:txBody>
      </p:sp>
      <p:sp>
        <p:nvSpPr>
          <p:cNvPr id="498" name="Google Shape;498;p32"/>
          <p:cNvSpPr txBox="1">
            <a:spLocks noGrp="1"/>
          </p:cNvSpPr>
          <p:nvPr>
            <p:ph type="body" idx="1"/>
          </p:nvPr>
        </p:nvSpPr>
        <p:spPr>
          <a:xfrm>
            <a:off x="694560" y="1600200"/>
            <a:ext cx="799224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Two ways to factor a joint distribution over two variables:</a:t>
            </a:r>
            <a:endParaRPr/>
          </a:p>
          <a:p>
            <a:pPr marL="742913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342882" lvl="0" indent="-1904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3428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Dividing, we get:</a:t>
            </a:r>
            <a:endParaRPr/>
          </a:p>
          <a:p>
            <a:pPr marL="742913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342882" lvl="0" indent="-1904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3428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Why is this at all helpful?</a:t>
            </a:r>
            <a:endParaRPr/>
          </a:p>
          <a:p>
            <a:pPr marL="2971652" lvl="6" indent="-152387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endParaRPr sz="1200"/>
          </a:p>
          <a:p>
            <a:pPr marL="742913" lvl="1" indent="-285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Let’s build one conditional from its reverse</a:t>
            </a:r>
            <a:endParaRPr/>
          </a:p>
          <a:p>
            <a:pPr marL="742913" lvl="1" indent="-285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Often one conditional is tricky but the other one is simple</a:t>
            </a:r>
            <a:endParaRPr/>
          </a:p>
          <a:p>
            <a:pPr marL="742913" lvl="1" indent="-285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Foundation of many systems we’ll see later (e.g., ASR, MT)</a:t>
            </a:r>
            <a:endParaRPr/>
          </a:p>
          <a:p>
            <a:pPr marL="342882" lvl="0" indent="-1904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34288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In the running for the most important AI equation!</a:t>
            </a:r>
            <a:endParaRPr/>
          </a:p>
          <a:p>
            <a:pPr marL="742913" lvl="1" indent="-158736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</p:txBody>
      </p:sp>
      <p:pic>
        <p:nvPicPr>
          <p:cNvPr id="499" name="Google Shape;499;p32" descr="txp_fi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2286000"/>
            <a:ext cx="3103563" cy="312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2" descr="txp_fi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62200" y="3505200"/>
            <a:ext cx="3087688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2" descr="txp_fi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57663" y="2286000"/>
            <a:ext cx="2014537" cy="312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2" descr="Thomas Bayes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30828" y="2735058"/>
            <a:ext cx="2927072" cy="3138472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2"/>
          <p:cNvSpPr/>
          <p:nvPr/>
        </p:nvSpPr>
        <p:spPr>
          <a:xfrm>
            <a:off x="8051851" y="2041140"/>
            <a:ext cx="1905000" cy="457200"/>
          </a:xfrm>
          <a:prstGeom prst="wedgeRoundRectCallout">
            <a:avLst>
              <a:gd name="adj1" fmla="val -6000"/>
              <a:gd name="adj2" fmla="val 163889"/>
              <a:gd name="adj3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That’s my rule!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5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pic>
        <p:nvPicPr>
          <p:cNvPr id="532" name="Google Shape;532;p3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912217" y="1397000"/>
            <a:ext cx="6367565" cy="4729163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3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4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Quiz: Bayes’ Rule</a:t>
            </a:r>
            <a:endParaRPr/>
          </a:p>
        </p:txBody>
      </p:sp>
      <p:sp>
        <p:nvSpPr>
          <p:cNvPr id="522" name="Google Shape;522;p34"/>
          <p:cNvSpPr txBox="1">
            <a:spLocks noGrp="1"/>
          </p:cNvSpPr>
          <p:nvPr>
            <p:ph type="body" idx="1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Given:</a:t>
            </a:r>
            <a:endParaRPr/>
          </a:p>
          <a:p>
            <a:pPr marL="342882" lvl="0" indent="-139682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endParaRPr/>
          </a:p>
          <a:p>
            <a:pPr marL="342882" lvl="0" indent="-139682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endParaRPr/>
          </a:p>
          <a:p>
            <a:pPr marL="342882" lvl="0" indent="-139682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endParaRPr/>
          </a:p>
          <a:p>
            <a:pPr marL="342882" lvl="0" indent="-342882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What is P(W | dry) ? </a:t>
            </a:r>
            <a:endParaRPr/>
          </a:p>
        </p:txBody>
      </p:sp>
      <p:graphicFrame>
        <p:nvGraphicFramePr>
          <p:cNvPr id="523" name="Google Shape;523;p34"/>
          <p:cNvGraphicFramePr/>
          <p:nvPr/>
        </p:nvGraphicFramePr>
        <p:xfrm>
          <a:off x="2232236" y="2263454"/>
          <a:ext cx="1428750" cy="1114425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524" name="Google Shape;524;p34"/>
          <p:cNvGraphicFramePr/>
          <p:nvPr/>
        </p:nvGraphicFramePr>
        <p:xfrm>
          <a:off x="4442036" y="1758629"/>
          <a:ext cx="2209800" cy="1847920"/>
        </p:xfrm>
        <a:graphic>
          <a:graphicData uri="http://schemas.openxmlformats.org/drawingml/2006/table">
            <a:tbl>
              <a:tblPr>
                <a:noFill/>
                <a:tableStyleId>{D1D9C12F-CBF6-413E-B424-6A0934C0AAC8}</a:tableStyleId>
              </a:tblPr>
              <a:tblGrid>
                <a:gridCol w="828675"/>
                <a:gridCol w="828675"/>
                <a:gridCol w="552450"/>
              </a:tblGrid>
              <a:tr h="371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wet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5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dry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9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wet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1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dry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525" name="Google Shape;525;p34" descr="txp_fi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23049" y="1307779"/>
            <a:ext cx="11938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4" descr="txp_fi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24336" y="1871342"/>
            <a:ext cx="850900" cy="29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09" y="1457324"/>
            <a:ext cx="11077924" cy="195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17026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3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Inference with Bayes’ Rule</a:t>
            </a:r>
            <a:endParaRPr/>
          </a:p>
        </p:txBody>
      </p:sp>
      <p:sp>
        <p:nvSpPr>
          <p:cNvPr id="509" name="Google Shape;509;p33"/>
          <p:cNvSpPr txBox="1">
            <a:spLocks noGrp="1"/>
          </p:cNvSpPr>
          <p:nvPr>
            <p:ph type="body" idx="1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82" lvl="0" indent="-34288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Example: Diagnostic probability from causal probability:</a:t>
            </a:r>
            <a:endParaRPr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3428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Example: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M: meningitis, S: stiff neck</a:t>
            </a:r>
            <a:endParaRPr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342882" lvl="0" indent="-1904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2057298" lvl="4" indent="-152389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endParaRPr sz="1200"/>
          </a:p>
          <a:p>
            <a:pPr marL="742913" lvl="1" indent="-15873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15873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742913" lvl="1" indent="-28573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 b="1"/>
              <a:t>Note</a:t>
            </a:r>
            <a:r>
              <a:rPr lang="en-US" sz="2000"/>
              <a:t>: the posterior probability of meningitis is still very small</a:t>
            </a:r>
            <a:endParaRPr/>
          </a:p>
          <a:p>
            <a:pPr marL="742913" lvl="1" indent="-28573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 b="1"/>
              <a:t>Note</a:t>
            </a:r>
            <a:r>
              <a:rPr lang="en-US" sz="2000"/>
              <a:t>: you should still get stiff necks checked out!  Why?</a:t>
            </a:r>
            <a:endParaRPr/>
          </a:p>
        </p:txBody>
      </p:sp>
      <p:sp>
        <p:nvSpPr>
          <p:cNvPr id="510" name="Google Shape;510;p33"/>
          <p:cNvSpPr/>
          <p:nvPr/>
        </p:nvSpPr>
        <p:spPr>
          <a:xfrm>
            <a:off x="7454900" y="3471863"/>
            <a:ext cx="239713" cy="1000125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3"/>
          <p:cNvSpPr txBox="1"/>
          <p:nvPr/>
        </p:nvSpPr>
        <p:spPr>
          <a:xfrm>
            <a:off x="7818438" y="3641725"/>
            <a:ext cx="1201737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2" name="Google Shape;512;p33" descr="latex-image-1.pd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9637" y="4229084"/>
            <a:ext cx="2580388" cy="324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3" descr="latex-image-1.pd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6160" y="4945726"/>
            <a:ext cx="11345311" cy="566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3" descr="latex-image-1.pdf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04426" y="3479892"/>
            <a:ext cx="2228287" cy="317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3" descr="latex-image-1.pdf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67097" y="3831425"/>
            <a:ext cx="2381074" cy="316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33" descr="latex-image-1.pd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67698" y="2006610"/>
            <a:ext cx="5445919" cy="712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37</a:t>
            </a:fld>
            <a:endParaRPr lang="en-US"/>
          </a:p>
        </p:txBody>
      </p:sp>
      <p:sp>
        <p:nvSpPr>
          <p:cNvPr id="3" name="AutoShape 2" descr="data:image/png;base64,iVBORw0KGgoAAAANSUhEUgAAA0QAAAFdCAIAAACsPToDAAAQAElEQVR4AeydB1zTWhfA07QURFBAEcQJLhwMB4obQUVBVBwMJyqiqJ++99Snz733c4O4BUFwgApucW/FhYqguB+IIEuG0JF+N+mgI0lTlqi3vzRN7jjjf+69OU1bQEXwAQlAApAAJAAJQAKQACTw0xJAEfiABCABSAASgAQYEYCNIAFIoCoSgMlcVYwKtAkSgAQgAUgAEoAEIAGGBGAyxxAUbFa5BKA2SAASgAQgAUgAEmBGACZzzDjBVpAAJAAJQAKQACRQNQn89lbBZO63HwIQACQACUACkAAkAAn8zARgMvczRw/aDglAApVLAGqDBCABSKAKEoDJXBUMCjQJEoAEIAFIABKABCABpgRgMseUVOW2g9ogAUgAEoAEIAFIABJgRAAmc4wwwUaQACQACUACkEBVJQDt+t0JwGTudx8B0H9IABKABCABSAAS+KkJwGTupw4fNB4SqFwCUBskAAlAApBA1SMAk7mqFxNoESQACUACkAAkAAlAAowJVNFkjrH9sCEkAAlAApAAJAAJQAK/NQGYzP3W4YfOQwKQACTwCxCALkACvzkBmMz95gMAug8JQAKQACQACUACPzcBmMz93PGD1lcuAagNEoAEIAFIABKocgRgMlflQgINggQgAUgAEoAEIIGfn0DleQCTucpjDTVBApAAJAAJQAKQACRQ7gRgMlfuSKFASAASgAQqlwDUBglAAr83AZjM/d7xh95DApAAJAAJQAKQwE9OACZzP3kAK9d8qA0SgAQgAUgAEoAEqhoBmMxVtYhAeyABSAASgAQggV+BAPSh0gjAZK7SUENFkAAkAAlAApAAJAAJlD8BmMyVP1MoERKABCqXANQGCUACkMBvTQAmc791+KHzkAAkAAlAApAAJPCzE4DJnCYRhG0hAUgAEoAEIAFIABKoYgRgMlfFAgLNgQQgAUgAEvg1CEAvIIHKIgCTucoiDfVAApAAJAAJQAKQACRQAQRgMlcBUKFISKByCUBtkAAkAAlAAr8zAZjM/c7Rh75DApAAJAAJQAKQwE9PQKNk7qf3FjoACUACkAAkAAlAApDAL0YAJnO/WEChO5AAJAAJVBEC0AxIABKoJAIwmask0FANJAAJQAKQACQACUACFUEAJnMVQRXKrFwCUBskAAlAApAAJPAbE4DJ3G8cfOg6JAAJQAKQACTwuxH4Ff2FydyvGFXoEyQACUACkAAkAAn8NgRgMvfbhBo6CglAApVLAGqDBCABSKByCMBkrnI4Qy2QACQACUACkAAkAAlUCAGYzFUI1soVCrVBApAAJAAJQAKQwO9LACZzv2/soeeQACQACUACvx8B6PEvSAAmc79gUKFLkAAkAAlAApAAJPD7EIDJ3O8Ta+gpJFC5BKA2SAASgAQggUohAJO5SsEMlUACkAAkAAlAApAAJFAxBH6FZK5iyECpkAAkAAlAApAAJAAJ/AQEYDL3EwQJmggJQAKQACRQXgSgHEjg1yMAk7lfL6bQI0gAEoAEIAFIABL4jQjAZO43CjZ0tXIJQG2QACQACUACkEBlEIDJXGVQhjogAUgAEoAEIAFIABKgJlCmGpjMlQkf7AwJQAKQACQACUACkMCPJQCTuR/LH2qHBCABSKByCUBtkAAk8MsRgMncLxdS6BAkAAlAApAAJAAJ/E4EYDL3O0W7cn39RbVh2fGn9m9bs6LksXLVmnUbA/cdi43/XFT5Thcnhv81uM+AiYEP8rDK166JRmHqjQMbVhLcVm47916o2he02C9psWLzqTcC1RYVVYJlPowIjHicW0EIgWNqXKd1jFl3+ZEAeuxXISnfgFYfeWX+s6jdRx5nVhAicp2wFBKABJgRgMkcM06wFSQgIYAaWg8YO6ZbzuGlC/HHspN5Nt2tjDNOLh7R17Zx485TD70qlrSsqBfhx8uxz6WJTtGlDbO2nIw9vffvZcdyK0pj+chlm3Uf3PRV0GKAbfHGmLdSD+SEs826Dm70YhvRYt2JRJIWco3L7RDLvr1u6PDt/N7ubWtW0IKo3nVabxh1VxgJZCQVGsjpUxhPcuXKh3pWA/uydngO23ivonJeZY3w/PciAL0tC4EKWrvKYhLsCwlUdQJoTVvrJhyxldVNrbq4jlt9ZMfoBijvy90d44ctvlORN+iEn8JnTd33kifWjnBt+w9oVUOrWmPnQV30JWVV90W3bl36fAmtbm5uUqmrUuHD9UPct+tP3TCyuXZFglPrOr1y9d2VRoIqSaUGEn1K40lSSv7CaTR0uS9346BhW59W9DsWcgNgKSQACVAQqNRlk8IGWAwJ/HQEWGxUce7U7N7DFk8GRMUJR8LuVNilrujZ1vF/RKWVfNSFmg3d+SyrMO9tpG8LSXpZlWGyEBa9eSgLPOiblLVWvn/e1YU+S27V9p7qVguVL6+AY5Y61+l1qu2uPBJUSCo3wPWpjCe8kOaJmgyZOrzGtXk+S28V0DSDVZAAJFDJBCp6Aatkd6A6SOBHEdDiaqEsXLmouOi7CBHkZ2dKHjmFQgTBchNjDx++nCy7BArzPzw4ezRk796wmHsfC/GOCs/iz4/PHQk+EBJ5NSkbdMfrsLwngd4D5lzKxES8Alx6TmGxWEtObk5mdr7Cp5Ik/XEZ4Fn48V5MWHBI1PW3FF+y4+VlSSzPzC4QILzUBzGHQo9eTswuSSHVeYflvrt9Miz44JFzcSlUtylFeW+vR4YcPHIpIUviIDCOaiMxWskGXnr8uUPBB4/f+iBGjOW8unI0+EB4bGJOid1K4gXPts7Z8YLfqLerLZeoUu+6klbVuJbRdTXDgrCSjJzELpKRQHRBpANSroHqeMrLy5FGHn/Nw9+TSARnZhLDGEG4HQc5N+A93TIn4KXCgJOogS+QACTwQwjAZK7CsEPBvxUBwcsXr4tFwGXUuEefTlzh1+eH/9e5bm3wqOu09lH8Hs+2tn29vPp5rHsiQLC0y8sH27ksv50tyH+8d/rgzi1tvPa+xK+coD/I+7JurXO1tJ54PL3g7ubRjlaWTkuvZ2OCFzvHjVx49hNfhIjyLsy2b9vWbsSOB8+i5zrWMwZa6rT+47wkbcJI++OisYyrK/u1bD/1TB7nS+gYW5uh25+IMx+8UvoUZr6InNmDMN3Edtx8vy4d+nqPHe3R27qV4+LL4q+/03onTD01u3uLlh47k1mc97s9LJt0/+PYW+mnwhIloqIXQYNsO7iNmTDWs7dNc/s/olMoEzoKo7HMF+FTOpoC12vX7TljtX+P9j2GjPEZM6S7Vfc5l17GzOndwX6At8+4EX3b2k89nUGazxVd37n34XeRdktbK/ymKoKod53Wc6RsrqsZFmJ0FOSwrJckI0HchdirNCAZT95bT++b0J6IfO06lp5b733mIVj26wsrBzZt2H3m8VffCIrabe2sqyGF9/buuqsUVUIR3EECkMCPIACTuR9BHer8xQgIM+5snLfnOR9Ba9pOClw3rBbKNrX38e5qhM8vUeHjzQujtVs20gE37jBMhKUe9PdaEp0sauY0zHvKmqk9dZHC5COzFx/PIagIP4VNGjbvXGG/ef9O85s+pA2Hn35t9YL971mt/Q9HzWqLf5TKqjEgMOnjx7dnZnbr7O3j1IhNdJTsqPoLEWHyrrEeiy4KBy5dP3nkn0t9mv93cpbP6vuyJFIigF3Xfszonma4UGHq5YdNdyd9/XhuWksOP+3ayvFzzuaCZmxq7wQvt40a/e/tzOZjl/0zxnvmOn+bjJtbx3qsvC/JNEFvsIlyM2pOuPBfduq1Oe10hJlx2yZOP/QZlKtulEajJp18POz1WaAL/+Wl53b7kr4+WdmVCzLdJ5uGDQ033/QwPeHfXjosUdGrgztPkd2dK34QfeGjEGHXrtdAF0gBm3rXaTxHyuA6yJLUDAtgHbGRksMQtI6dykgg2kt3Kg04quPp7HyvP/b+61mPGLUC/SbWDbkIatx2sIttC48Vm8baGuIVCKLTqIEJigjenj0Rx5OKh6/lQACKgATKQEA8O8sgAHaFBH5rAlhS+J8jh/ksu2kwYMbKkGvxdwKHNMDzIAAFZRPTS5D8uu7fR0Ojr10K3Xlo/182oqS4p1mYKO/eseOvBQharRr+CZ8o/7/36ULQifdg2+oTaUK2ectW1RBO84Ge3Wpp6Zg1t6iJZy2gXmUDH+/Kl1H3L765dcOFDIzT3NYW5C6cho3qoqLi5xFhd5WzOSBOIhStM+jPaW312UY9xw9tpQXuXH2M3H9a8mkruXfNrmzceD1HhHAaNm0K/GLXbdJYnwXS2aDNp4BY2YaaOHgPaqKL1uw0dqgNB9yMTD+z/6isVu6A1mhUS0sLx6LVZvQ/Y1rpchpaWuA/rxAhjYbO9rWpyTFpZmEE6kW8lPf/gXRJTix+iKU/iv8gRBDUoJahJGJ4MZ3reD3oQB5X3kVK1/EEWNwX9CZz/ROC8GmHhbQ3QkoOdAcNJJaDI4pNbQNgXa1Bf02wBpET5V7cH/YO4EF4T6587j7eVZLJAdFsQyMcs+D940dfVbGCBnCDBCCBSidAXG0qXStUCAn8KgTQFt6bwo6fPht9eM/GeaO7NdRRcQw16ebUXhthm3Ye4TesrSGq3X3m5kU+w8f8s2hM04w74afixV+YEwgEIgQRJMdeTRYAGVpcLthzrGdeTsvLeb1nMMPv51P3x15duQ3uQyHCV4dmjPT29p649ym4VAs/Jb6k/kMTLK5ONSLP4Vg0bQSSOXDbK/4+uAEJLJNuqIJ31Z9dvvkZiGXp6Ovj9iOojg5xQzLz3jVpD4VXdoOGZkRCxnv1TKFCfCJgZjRL8tsCNoewFpGcsrQ4bBaCIKKi4u+qWYcgJVX8QxJtnWqgkdJG6rpCG0XPDQVPqV1/rNBRciLvegKC0A4LSRf5F6Xu8lVlOuZYT5jUqwYLERXc2hV0rxgpvHXklc3IztolQlk61YgzYdqnT/hQLamBR5AAJPCjCMBk7keRh3p/FwLs2qam4OZTibucxgMX7d09q+Xt6W27z32mW0ec/4lEIJdDhGmfie93iTLS0kBShHfiaGuz8VdGT+r+wowM4gtvqJnrsoPh4eFHbn7kA53F5yfXYbAKaOlV1ybyovy8b7idMmMUvcO+fs3G0yYWuGcmlgpU4G2xnGz8RfXJ0iayVgQRStxVaFI2o2WiJEbIzsUHfJ44FUFR8S9XxKUqeznXFeoUPUfoXM9S6Cg9kXMd951uWEi7yL8qdZevKtMxu6HXlCFmIHr8Vwe3nXx3LjylyygrxQGMEgNSxCsmviVaJm2wMyQACZQLATBly0WOqhBYAglAAgQBtvjaRxwTu4InOzw72I/cnjo05NRKx7ryk5Bd07AGfi748PBBKn6JJzow31H3Z+npV8fTMeHbhASF768xE45hRA6H1jAs+byN6KngHVqrlgFuPiK5NwY+PeTzEfBAjWqBPdnG5xEN2A0sSGrLaDSJxJIitGZN4ht3Jeq3hAAAEABJREFUiPieaEmF8lGJ64o1Cp4jdK7XVuwoPStxnfCdZlhIeyi8KnVXqCvTiUG/KWNbgxuxWHr06rEBeX08zYnkTSaTJ4lp9Rr6ihWyFvAAEoAEKpmAeOGtZKVQHSTwGxPg3V056o9jyd9r9P1zZhdxOlFCg9O6aycT/ApZdDtkf7z4zhGoBfkG2CNsVDxhye804S2o+3NbdrDB8zAsOzb8uPjzRQTBMuPuJZJ8Zw4XJf/ECrJzvoNsDq1p27E18fmpfG3JMdfGsZspMF9UVFCI36FDhAX5RL/anXqUtAJHGEZUI1j21xw+EMy16j8AFCtvZTJaWZjSOce8ubkuSG9Fhfn5YmOUGohP5V0Xl5Dv6Vy3ke9C5npzBKEdFnL9KbrLtWB+yEbJxxO33cRJPcHQFBXGJ9ZxH2IqbiWVK8zLLwAhY+k0atpY4Y6dtEEpX2E3SAASKD0BxVlaejmwJyTwWxEoLiyS3Dcr+v6dwnPJnRNRcXGRXLKAfbl39zX+K8Ci1Hefct6dPf+E6C8q+k6kPzp9pk/vXAPkGLzHG31nnnhbKMxLPrV81vZHhQjCqmFUA796ir5//vjf5xtbAy7mgSRAfGcL4RXjQhHq/vr9J4+25LIQLOPknHHrr38uFny5uWne4f9qgnswCPlDlJf6MQu3nffo0UuQWXIsvHxdaorbkntXve9ff3U3YImK3r/C/1+X4G3yR56Ipd9p2kyFXA37lv4FOIQgefcfAMFaFqMXTbMm5GJ8Hp7cAb8If2iNlrYV8fjFuJXgo1oiKCI+j4efg3L8e4gIIpAwIjTIdrpdurXVxhPa9HS8taycOCB1nahB+GJpSnFFaFyXICO6k7rOQdQMC6IrvqPojlfxxHZJR4KUjvQcIFVsQD6ecEkIu+EI/0Egh2PXHzxW7qcPRB2CfU3PBsC41t261BCXwD0kAAn8aAIwmfvREYD6K5lAWdVh2fGn9q+ftfM2kTshgviDC1fvPnYP/9q/nGjhpyvbDtzAr3mIMPnE+k1n34BciKhH6/bsa2fAQkRF91YP9QmvMWGaI37DTPAicPLfp8AdM06bv8JCZtgba4nyH211b2ZgaOV3zWrGlI66CILWHjJjsi34GJZ3Y651x3VI9y45V7dvPf0eF43lXNu79uwbIULdv3r35Ye2ebbUQ4Wfz83t2aBGHYctWn6L3BU+5kUUH9yCBwGLN+zYNGN+xH/cxi4rDqxw1AMtqL1DOK2mHzr0T686CbumzwsImP/nrpd1es0JP/oPnjaBngjCqtaoz8Tx7Z6smbh81+6VfvNOIR0m7j65dZAxWIuEqdeCNp4EToAUC/fndDKP0mhhyqXNe28QX+ATJp8KOvww6VrAgWti4m9PBYbceX55U+BFIk0Tfji/6+ADlS+usRu4D++uz8Ky3yVLv5+IlDzIXafxvGyuqxsWwDBacp8UR8Kp25cVSSa9UWyADxWV8dRd9g/hUEPXKaNa6DQd7uNYHaiW37CsN+++YqzqXYYPVfr4Vb4VPIYEIIFKJQAW0ErVB5VBAj85AdTQesC42fvicjDwYadIhBW+PLpg4rBOdcGHi3KesRv0mn3inUAEHlhR4tE5/aX/yhVBOLZzzz+9czb60pPk5yfm9ek4+diTu2eOn7nz9MbmAeBmCAJuiwzadOvd6/vnTkaduvL41avL6webiz/aRGv123j3Zdy56FNXnz87Od26egOHv44kFQMlIpHg46nF/ZvgVrAbUvXXtfELf/bh5c0zx0+cvf709bOj09vro3JWKx+ytJsNXfiPR4dWLoujHr5+eXpOV/E34mi8A+bX7b/y8pt355f0MDPrvuj827eXV7vWw+0C0jlNR++9//Tcrj0X40/Psa9T29Y/Iv7NnV1j24BUFVSzzXpOB/5guEO4P674nzehMJpdz2nemU9iwt/j945u36LnzOPv8d90iLDvz4N9O7dx/Of0R3F9ccLBCXZGQIHixm40+u8xTTmC+BvXifuP8rUUrtN6jrBL77q6YaGOnNJIGNDFUZFkiyYkQwVVGk/in+KIMWi369vXZczYjuKRJy4j9nm3bz/jcxqNmDW2sSSqRDHcQQK/KIGfxC26lfwncQGaCQn8bASqN+zUz83R2lR8odRpYNd/cP9OjcQJjdgXtHojO+eB7q49WksaiYvBXtusrbOba7emBrRzl7o/26h51/6DB/XrYlkL/8gWSFSz6Ta0cx7k5mhbT/5Sr6YPom3SpscAd/cBPdqYiJ0Ud0CNWne0xP9IGVq9oV2fwe6uDjYNdGkdEffT2GhxN7V7fcdlWyc1L7oWeYq4hafcvpJdr04zLEpLTtkllXPF8VT84cqBoGOPwQ1O3oNrxU7erZTHCJZ55sjFbxY+W5b3M2AQOBV1sAASgAQqhACcjhWCFQqFBH5qAiLxb1cRTPI7hZ/aGTrjUaN+ayPWdH66af3NAnG7H+a6WP0P3WNpIf4Dx/uPmLj9xZcz0cW9PRX/uQiwreDu+g332q44tGmgCbx2AB5wgwSqCgE4IatKJKAdkEBVIcD7/OJ1BgaswbLfvkrDv5EHjn/ZrbrtjKPn53P2/rP3SS72e7muHFNUr6G5KQcRJIRO9Y1u6jNI8S9VYzlxQX9t5888d3yWHf7NSeXe8BwSgAR+HAGYzP049j9GM9QKCdATEH64fY09cE1AYGBgwNrB7NioO0o/7qDv/jPW6rbwXLt/pQMnPfHm7+a6Yrj0nLfevh9zMGjVuqAdfsofsX7P0um9LvTfES2VfxKhKAOeQQKQwA8gAJO5HwAdqoQEqjABdiOHsZP8pY9JEzw6K/24owrbXgbTUP0mbZq1cvwdXZenxja2HTByzFD7etrypcRxdYs2TfHvOxIncPfbEICO/hwEYDL3c8QJWgkJQAKQACQACUACkAApAZjMkWKBhZAAJFC5BKA2SAASgAQggdISgMlcacnBfpAAJAAJQAKQACQACVQBAr9dMlcFmEMTIAFIABKABCABSAASKDcCMJkrN5RQECQACUACkMAvRgC6Awn8FARgMvdThAkaCQlAApAAJAAJQAKQADkBmMyRc4GlkEDlEoDaIAFIABKABCCBUhKAyVwpwcFukAAkAAlAApAAJAAJ/AgCyjphMqdMBJ5DApAAJAAJQAKQACTwExGAydxPFCxoKiQACUAClUsAaoMEIIGfgQBM5n6GKEEbIQFIABKABCABSAASoCAAkzkKMLC4cglAbZAAJAAJQAKQACRQOgIwmSsdN9gLEoAEIAFIABKABH4MAahViQBM5pSAwFNIABKABCABSAASgAR+JgIwmfuZogVthQQggcolALVBApAAJPATEIDJ3E8QJGgiJAAJQAKQACQACUACVARgMkdFpnLLoTZIABKABCABSAASgARKRQAmc6XCBjtBApAAJAAJQAI/igDUCwkoEoDJnCIPeAYJQAKQACQACUACkMBPRQAmcz9VuKCxkEDlEoDaIAFIABKABKo+AZjMVf0YQQshAUgAEoAEIAFIABKgJFBFkjlK+2AFJAAJQAKQACQACUACkAANAZjM0cCBVZAAJAAJQAJVkAA0CRKABBQIwGROAQc8gQQgAUgAEoAEIAFI4OciAJO5nyte0NrKJQC1QQKQACQACUACVZ4ATOaqfIiggZAAJAAJQAKQACRQ9Qn8OAthMvfj2EPNkAAkAAlAApAAJAAJlJkATObKjBAKgAQgAUigcglAbZAAJAAJyBOAyZw8DXgMCUACkAAkAAlAApDAT0YAJnM/WcAq11yoDRKABCABSAASgASqOgGYzFX1CEH7IAFIABKABCCBn4EAtPGHEYDJ3A9DDxVDApAAJAAJQAKQACRQdgK/SjJXnJfPKzuNypJQXtYW5+dRe40V5xcKmHpEK4mpENiuogkI8vMKK1rHTyG//IxUQqrRrCk/K6CkSiBQXstu6U398RaU3nbYs6oTYJrMCd+e3rJyBc1jU0wy48yh/KBgeYlntv89okdTU5tZ14rLT27FSCova7H8pLMBc0c5NDNt+efFIlJbsazDoxoamTquT6CNCgNJpOJhYeUSEKTeCVnu52pTr57HwQyscnX/otrIkDKcNb8okV/VrfJadkvP58dbUHrbaXoWJp5YOXGwY4+e/Tz+2H7js8q6VPjm9LopIzw9vXwXhMfnKlfT19KohVUUBJgmc8WPD60PS9Bt1a13v/79+zb7FLp04bKYAjv8xLGTBfYoZN2hx9Q3iSiUl70Y5Zp2GtS9+n/v82hzllIqKsrIyFMegqUURXQrL2tRLZOO7r1qpr77JiTkkuxQg57+q1eumD2oCYekVlbEQJKsLTz4cQTQGi2cB1nkJqUXiX6cEb+WZjKkDGfNrwXil/emvJZdCagiza8K5WyBxJAf+8J7udtnzMZ4bqOW9QTPT26d3t91wc0COZMK4tYPdFz0yW1DePhOX+0dA/stvZFTcjGlr5UTAw+ZE2CazAm/m44M3PPXEAf7Du3bt2tuosNCWNXrtmnXvn3HLn1GLDq4c5Rp4Q9I5hBtg1r1bK0as5l7zLgllhK2ZHMcn3F7Bg3Ly1ogx9TKsgGd16hp9/Gzp7s116Y3i4EkegGwtjIIoHpGJs0tLfSZTtfKsOkn10GKlOGs+cld/93MB4tcuV0k1F0VyNmWpwXkGiq5VPjxyMFP46KvHg7YEhB+/fbeoabfn+7aeV72MVFx3Dq/Jc+7zl3mbIaiNe1nLuyfttZ30ZU8sZn0teI2cK8xAaZXB7a19+jOupTiq3fx8balvQdE2bXsFVocuqymlPKx3Ctr/43NKf8bIeVlLbvcvC4/SaVkDbsxIsDh/KgZxsi8n7ERRPozRq00NmuVy3JZlqtC+VhQGt8roA/LyHX2gv6m4vSB3dDdo0cNFoKADSEeOTGbdsazOzn3NhS30O3av6fBm5CNh1PxavpavAV8loaAmLX6nrrWHdrQ3eTRbt3RRg8Xw/v85PyRgyHhp+5+KCi5q4rXyJ68vKxM4pFTSHxMKMjPJk4zJeegIS8j/tzxm59AdcG7m5Ghh87GZ4FjUFGyFac9PhcRfCDi0qtvqhmXMDvpWmTI/gNHLyfKdxRkPD8Xdf2jkJd6/3jo4atvC3BxWHbSpcMHDoRF33ye+OB+Qj4ow3IfB4wZG/SqqBg3NUvyKwNBekJsZPDePcHHLidkyn+sW1ZrgUawCQokGDIzswsEiNxpZmYe8ZZHWpSN28iSTR0s/+31owfDz73IkgeO5b67HnnuhcL35bGCD3ejww4ciDj79EvJfVR1koBtSpswM/FyZPD+/RFnHqYSlsnVU1ESZAF6V9+BMPK+xJ8/EhZ1+4OkK+9zXExYyOHrb5UHDEUUEZKIyRkgO6SyBCEdBqAblT5QVbIVfX5w6uzTHAwreHfz2MGQo1eTVb4NglBOAsrODOZEiQkIIj7W2EFxN2LPUz/DyLyQDkEwYbPVDVL5KULoVN5R2Wmx4zUAABAASURBVM/ANiVRZKYSTTQVhSnNGvX9GQ0akiHLIOJK4/R1Rg7ALtnEKwKCFeWKC0rWThWD5GKWKV3LkOI8cT88igQpyU6uMV4ld0q6CuG9qMKIkHiNtyd5ki9M4oZliS3ZRYIBeFyxqknkVwXQVoU4KJNuZBZI6xRfqTCWYuGkXoAYjGeatb3EYFTP0JBbcsr/XsxqOsKnt464qODqydgMllmzZtXF5wii3bpVU/TbjVMXQQF9LWhAspXmioOUghx5KJUmImXeQGJ4ZRYxTeaY2ISlXVw8wGFi2HuWruhNqK9tsx5/x6SAi7dSX2Fm8q2ohc6NjU17rMS/Z4dlv7117J8+DY3rOq19IcCy4g6v8Gxrbjtgekjcg+3DO3Yd4us72tWu05SYTFmukh+3fVgn11V3C6txUiMmDFzxSP66wXtz5C+PqQcS+dpFz3aMbmfZa8GlDAzLjItY7mFtbu06NXD/UteufbzGeLtODk4VJO7xHDjnan4NPX580IhO3f4+nynEsu8eCnuci2JY7oPgJQsXLo+I5wk/HJts18HnWJquEfdDqG/75k6rH4A8qezWyuBg2c+P/e1kblzb1H561Otvwm9vru3wsTWtbdzQac7Rh6nFYGn89iZ2sbN5O5+gOFkv5Ht8gEe7ToMn+o50add5yhmCEe/VuS1THZo17zliw1VZpiFMOTNvoPviq7m61fMvzOnWopN/1EeF4JBJKtEjOxK8PTq5k93Y8E9auvxHGwdZNrXp2X+I9wj/nY95CDklLC8+as3YTuZWff32PEiMmNqzs/MIn7FDu9n0XHwnNznCr0sHl/H+vt4ObR2W3gZMxZpIo4hXkUUML1d8kluCUA0DBKHUVyJX+O5y4Ow+zRp3GrL0xK39I9p1GOAzwcfD0aqt174kWWpMNQnoO9PPiRITSo40dlDWlcmYpfJCo0GaLlNJckBuPxPblIRRmspkIZGXpTRrmJjCYNDgGsiGLH3Eycapi9/mw/96WZvWrm3abdbx5+nEkCv6/PSQv13TfovPJeeD5ZHMIEH2s8N/9GhoXNvY3HX5+aQsYtIL0p/um2DboPO0iBdZuInSp0YBBp3IwwgqEITMa6JCaUezMJUpthQXCXrwYtvITOKTXBVAazLiIBCgBkEoLCDqFHfkGEu1cJaFGd3armiwwpkwOeICa07wql764mJB8uMX2RjLtF49trgAQdh1TGtxRN8Tn4FxQVsr7SD3SmcVOTikVOTIQimgyBt4JHmDnMk/5pA2mdPIJGFy0NhRB4znhq6dNHzo2AVh0ausEzaOHLb6MUhDFASx67Z1G+fn0lT6mRFqbD1gnF//JuLAo0YdPOcu9LTkYN/u7I+qNvvqx/QvT9f10HobuvVIGjFLsPSo/3ksL5h8LGLJeI9RfwVFzGyPldybK45bNWaL3tz9qyd5efqvP7ZlCPvWWt+FF9BaHbzmLR9jxRFl3nxUd/OLzLQ3z+Mj/IxiN65I6jZv4YQhw3wWBB9f7ojfLEYNu/ivWzG0GRs17DZta2DgpokdRLc2/bMnobXvSv/h7mMWbPujc8GtoH23i5GyWisHBjXuNDFwm28zDqLd0KqVEdvIevA/2+c66KG6ln29HCy0EQQ1am3dwMR56a45DpJ+orzb+45o/30zJSvt0dqeOslh2yPTASNu834z1vh1q8aSNAMvxQ9XD/e95bB1z9zR7sOnrJ7StfjJ7lnrroMa8UYhSVwptxe+2+3vt48/InDHHyM8/dYc3uDCf37nP8s/D+yY1JZbTE4J1bceMnvpSFs2UvT82LGi0SdffU5PjhjdKD9u69Sxmz8MOvoq/UvKtTk2RQ+3bz0l/lYFRRTzEaSILGJyBooPKSxBKIaBGbU+sTxizzZ3nLJizgBTFPsYE5Ex8UpqTtabmBltOe+P/TVt5xviGkk9Ceg7I7RzgtCuuNPUQbne6scstRcaDVIzOaXKhxT2q7dNSRCNqWoXEiVRSrNGvSkUg0ZJLMWQVbMKkixXzyKXTlqxb3EfAxaremN7u4bEjRFdc+u6OvV8Nqzzsq6JkhsUW81+8s7d09poIex6HZzbmRLrLKdBu9bGRq6Ltk7qWEfeYI0CjCAUYcQlMpuoCMXChF80yhJb6osEPXjccnKTbuqqXBW4CDnxC2CdQqgtwHUoPikwlmLhLAsz2rVd0WDZGZaXfGr1cJe/z715evtJNrj24DWC1JR0IYLqGxgQYw0vQtg6OlwWlgne4NHXEo3ld7RWUYADuq3L55ITq02eN1wmyRvkrf4hx+WWzBXGblh3RdhtgJOBWCTbYuxMj/qF97esOU7mGMoSN5PUoVocTknqgdaqBVYs/U7+yyZ0NOYg3Cb9HFuyeZ/evBeA5ryHW5aE5fYaN9JcPFLYZn2dbDiggtgKzgfsSalXO/3KOfxx4d53PWO24NP5GLySVbOGHotV29lvXGtdjqF5qyZGHCw7OyspaseJt/jiwTYfOc3TXKfEDryT+Mlp1MV1gNdA+5q41QJUS1tLlJslfo8LEoRSWysWXrLX7jzWy4qVdPLYI+JtN7vBwEF2Wpnnw098IaaJ4MWRGyZeg+viRhCdWNU7TV7h27EOF9Fp4erUgl30PplgBCq1DA31ZJ5gOSc3bHnaymNEcwIUWtvVf4Z7v/72DUFD8UYjSdxAsi+6ffFWLsusYWMUL0ANe/Ww4fBfPXpM3ACkocSubQQGhnZrz9k+9nU4CNtsgHs3A6TQqPf82a7m1cHka+fSsxGa9z6ZuJVLFcX7xQiziNFYgpAMA0p9uJMKT5Zu9Wos1Mzt71lOZtoIt4Hrms2+zdi518OOvAbZHM0kwO9/0HTGldDOCbyB3FNDB+V6Eoe0M0yNF5oOUkKh8o7GflrblOSoMVUTUYRkhVmD0E9tqkFDCJLfUQ9Z2oiTjFMEbeDhN9BM+DR8/z18xUIQLDXy0Gfn8V11gUIqg8Cs0bWfPt255rfYsCP/gWEK2iJ5FyMftx/lZkzMY7yg5KlBgFXCWLIuUntdogmhXJg4CEIXW7Ac0saW/iIBAkt9+aEzSc5y4pCSOIKos4DoL93RYNRs4aRhhuuiZYbQru14d5Wn8P2F/QfOPkwp5GfFh88a5BWYhF+hgfN8HsLicLW15HpgGIaIMHz08Whr5boQh7RW0YBDNCNHE0qSichocBPmV+aOZC6XSn3xg9Ox/4lqmZqWxE/X3sFOX5R954rmAtkoG2Gx2ChL3BWtUVOfJeIVFYMbcLz4EzEvkQbNmlUT1yEIS1tbS9IQ4SXcjcsQFWW+fyd+vM+38d8SuH2hO4I/UGIKS9viJTpOozwavA/2bmvtOnPPzTR915GDTMiQsBt5bD4RPKl+wpGVkzxHLzoPUg6hEB+YuJBSW4t3Vnxy2ozwsuO8igy9VQQqsM8XrqXUrJl3MfQI/vVBXlzE7YYe/QxAjXRD2WzJIaqvr8cSFX8vAoyIIjZa4gj/4dU7OTqmdUE+Ja5rMGhN1KmAUU2IM2KHsiklEfWSHbtWbQOWKPXje7Cc4kVaWhwENTAxrY4ro6NERJPFksFn6etVBydgw8UgCFtXrxqK8IqJGFNFsTEHYRYxOksQlWFAOWoaI+QPjpZsxOl0dOlVl81//SKhGKGbBA9lkkg7y2oZHmjmoKpQNvUMU+uFpoNUVTsIN82EorFNSZRaU5mLkkhmo/hAlpwAM6kxUQ4aWWfpAbMhK21d8qoyTvEqg/5+ns2Q14d3nc0Bp8LkQ0exIWNagdyHeu0DswZB63lN92xUcGnHbuJ9IpYZfehZ19HONYEM1Y15gGmGISOvKRcmNv1kwv/GAJsmNrQXCVWH5UtoTJJvhh9TDoHGCP1lCu8s/6TBiGiycNLNB0IfDTMw2OnWdqK78o7duN/0FQHH7iTeDxrSCM26un33fR5oQ6ztIqFAILlIgCJEWMTji1C9GghCX4soP0p9xdGIHE0oEdULBsOrkLIrFX2usHSVQZkwNfULJhKAgJUI4ZqZ1UaxvG8lJaU9kmZ1oL/gbbLiV71AWckmysnMFSH1uvv6yz8mj+9d0kThCK0zaOfNi5vHtcm7tGliz5btx+59JvvWlkJDpPjV4RmOfecl2M7Zf3jbyFbairUKZ4ytVeglPmE39fTuqvPhRFhsPiJ4ujuq5pLtHvWLboSGJgqKbkY8sRrhKPtOqbiDbE9oFYmkuZysHD8QZmXlCotyc/AMET+nf9JJ0nGcPsux5svQjZEfwJsw3rtjMQ917aZNdcbvDACpGlACrak2yihasBEiYgwipokl1PqoLJQrZ9dvAG6VCvkAB90kwC+9cr0kh3KdJSWMXzRxUL1QIubiZuq9KP0gFWsg9sztl7ON6FmyU29qSVviiFoUUa12J9efctCoCGE6ZFU6khZod5o4zo77OXr30RSM9zDkjLG3Z33ifRilQWDWAEl6vab72rFf7Nt2OhvDPh87nOI8uqvk++qgVnHTIMCUYWTkNc3CRBtb6ftoebPlYkN/kZDvpHpMY5JyY2riiKYWUGJU1kl7TseMtKMcMwRRs7aTCiAKUT0r363z+9QUfnr7Dk+zORYWDVFE+C1L8tkVaCTMys4VghvL5ghCXwvaKm5qrCofcAhNKBXNEZ8xGtzippW4R8tJF9vY2AjF0t7L/yKRxdFis9j1QfxIlLBIypgUoVpcDkvwKfn1d7LWLP2aeqLUW1ee4W8QpA2w3MSX0mPVV7Zpj+l7brx6cmx+L/2kg1NGrrwn31fSPvfiX24+Mc2Xhy9xtZDkLZIa+hd6a8n6shsMG+monxZz6OynMzvut5s4dKDP8GbYo0MhN85GvLbztie+KUPWka6MbWhYAy16fOsW/mUOaUPhl5c0WKStlF+5baYHb/c2e3tg6vDhQ4ZMO2++/Nzp+R3FV4XSUlLWQRlFcRrPIGKaWUKtT9kysnMMfH7ANm1Qn4PQTQKKm3zSzoRgDeaEZg4S0pnuGHhR9kFaPvYzMJWp1xq3oxw0ZJKohqwGEZeJ5TQf49unRu6lvcGPLuy/1Xqsm5F4Eac0SDxrEI6l71RXwy/Ht4W8fX3oWP7AkW2p1xKmAaYPI5XXMlcQyoXpi5A2tpwSEWRH6pddavA0JimroiaOqLdAXhg9RvmW9Md0zOh7ErV0azvRgHqHmnTp3EzLsFYt/H0F26ybfTMO9vHNW4G0h+Djx1SMY96pK4LQ10o7lLzSWcUcXIk80iOaUJK2B26o5A0UDSuvWLwOaKoPE//iQFRyG1W7Q98edVhFd89fKPkzz/y0z19ZzVwGkkhn6eqC6z/4UFBShxXzeCIEkxMoqVB50bJt14aL5MQeigQfdZbUijBMCG5KcdvYtzfCXuycH5QguwtV+Gh7wNmSlgpHRRf3BieDt3monuWQFdFhU5phSbfvpBFNWGCPges0eEGK7hw9mYyZW9nI3RajuAmGNy950ltb0k7uCK0zeKSzYeaZTeO3fnWb0IElJofUAAAQAElEQVTLtRvjbYMmhfovSXHwtlazisnJkT/UsuncXl+UeuzfnS+kmSr25fT6/U/kGzE7FibvmbrNYGXs2VPHj0adOhu5xa9TLckgKjUlZc2UUcwXIeQRKxmIhCwNLaHWR0hT3fHx0SopLk5O/oTU79XPlovQTQIbSXMEIe0MajWZExo6CKQz35h4UdZBWk72MzGVueOataQcNCpiyIcsaKZJxEFz6YbWHTrR3Ywft3Pcwpc9fBykby4pDQKzhuiK1hk2Y2STopuBf82N1B7m1Qy/7hIVJDtmAaYLI6XX8tooFyaURRtb6jSUkK5u2aUDT2MSkC1/VUCoiSPqLACiSjY6jCWtGBzRMWPQnWZtV9tb8CUt27T3AHtwWUcQbvsRHjac/+LuvQfXVrwr9uXx009oKw9vO3BGXwsaKG40VpUbOLpQKlojPiMd3OKqH7iXXIc1s0CYnQlSNtG33NySi6iB2z+ze9bIPr1p+2NxGoVlX4q5Xc19/jQ8fsry2WbNmhhg7y8du/5ZyPtyZ9e8DZezRFhWegaRyou+FxWLREKBAKRneE+REAOpE4+Hf5+K3WjktOH10K8xs7wWRr8pEOa/Pbvj2HOBqCAnG7/Dq+fyv8ltdbIuzOrde9K6kONRhzb/4TblZRcvXAwixISI6Ht+PqGEKMEyLmxaf07y3y61G9Y34dS1bI3/vAvV1avOwTKTnqcUpd04dfN7tWosftzh3feyBelx++YH3ioU8XOz0pPvPf4MJBYVi0pnLWGD8g41dBnpZpp3P7GBzwj8X1twWo0a1Vk77T/j/h7y6y+fD/wVCiSzBZFnREjkgXrwuTfIkREENR4y3cdSK+/6AtdBc3YcjooIWuDlspY1QJxnq5NEiJPsBE8OBJx+FLN88qQpssefi/fdSAVJIktXl5oSH/8EnvgwUiJJiCfKmEAaC5A3YyIRn8fDhxRVFC05CHnElIYxrSUkw4BSn8RWpRfh+6ePv+J2Igj2+fjBi1ivWX/2wq+pNJNAdvmh7Ew/J4AJRJz4PBB2RFMHQW+FjW6GIUy8YDBIBekJd++9KvmkRd4AOvtpbZMXAo7VmKpWlBxSIA1s8rMGoZ3aCNmgkS01QJRsIx+yoFpNxFWXK9CH2Go6TxzVAv301mDQWNuSt3dUBoFZQ/RCEJ0u0yZ15b4+fb2+l+SzWUmF6guDACO0w5BPtbQicg/KhckYVTcM6WKr5iIBbg5RX37oTEIVrgrX03QprjaWiDoL5BggtBiFYMKLEKYLJ818QMCDjhmC0K3toLPChuW8unsr/rP4Uo9gmbfWrLzZYfmSAZIvdHOs/rfMp+Hzo+Hij8h4CaHhcWajl05vRyyD9LUKeuitYtFdccC7Zj5zcpSTB5ijOhFJpzRo+WM3paugWmMEb6+FBcxbcfw/ISKID56/YtexO6nifILTakZY+D/2qRvcXf7ctG/vxj/HB4pmRe3yJv+nU7rO/5vRWffFlr4NdI27rvk+/A9nU1T09dK2xTvPXTm3c/WhRwIsI3bnmn1XktOfngxaE/5YgH25uHP9obuf0TpDtkasdKmff2v1oOaGug0GHTbo0JKDfL+1e96Wc8mITsf5Rw7429XMuLVrztghw3zWxXdft8nTDMt7HhOwLOShQJR7evnEVZGyn1Hzk/d4dR34x4adezbPnnJYe2bQYicdnIJ+D5eeRt+vzGxRxzG4qEW/CVN6GRfeWtLNxKj7qmz3ed5N2bzL893WftDOLpO1uCbVp36fUYOb24yb5iL+fjK7sceoXvX7jBwuQ1mYeGbbspBHfCzryu7Vey+/SntyQsIodtfGww8+f7odunb35UxM8CRi7c5ziYUIouew8kjgqJbcT+fWTfEaOmbRxVp/7V3eozqiRlK6snGc5i5e3fQ/XgndtUP22LzMt4/TnCsF2vbjySm9zX2xa1nwPb4o/+buFXsvJuW/vbpvzY4LX4SCJ+FrAk88yfh0K2zTxhPJQmHyyU1bop5mYxRRJEYrVcTkTKW05B0nnXQY0OmTkys5ZGkl7Bg1fkng/l2rfYesyfIJPuDfnE3UMZgE1J2p58TVdyn3wtfuu5aD8R+FrtwRHV9IhZrKQcI6ya4wiX7MChl4gSBqBinv3kJH286drWzHREgWCIl24oUyQK+yHtHOfvFaQ8ggdjSmqnHzPyWk2cIUxVnzVQ0mqqWGsEtxRzVkKSO+48zFE6TLlUQut+P4cfZmzuOJd3uSMpCrka99qKwBwrbwmTa4rtnAMYNqyZWW1MsfqQkw3pQyjB8M6rARKq/xnrIn1cIEGpQ+tp9FtBcJHkIJfufVj0IakxSuCubGKPW6QX+ZAm99gYPSjRIjWDj3LtNo4SwDM4RubZeaKnkVvjswuU9328Zmlt1chgx27jF4feHkI8Fj8HsP4haoUb8NR1Y3jJroszwoYIH3hOgWGyK3DAYpOlFNX0s0ke3orKIE90Ev70q5XHJMC5jnDTKTf9SB2imtZBjHoufIqf9eTROKRBjvzcklfsM6m4mvY+D+T91+y2OTk04tcmpsbN7jr4NnDky1I/6Wh5IM4lTXbv7lFw/OHY++9vTJ8Rl2rTw2XUz4LzF67aR+vfpNCXrwDRPxP0QvGd+raR2bQVMD7+WA83fHF46wrwv0GHT9+/TLV/cvnDh+9sHLhyFT/Jadfvzh3eVtM/o1BbK5FsMD7ia/unM66viZu69fxy5xAGMI1W/j9r8d97KFIpDWhc8bamtIeK7dbeWD1Ncxi9wsjeu0HhF05fyKfqZEBVj2Jkc9i4s9ff3p/V3DGlSz/vN0/KPYmOjr8Q+PzezhtOjk5dM3Ht/Z6dGqVRmtBQarbjo9/zkaMqMtR1KDmnr9G73GQ/Y7W0TX0mXGzjicyYeYpRMcm5vaDpYwehs1z9OuboMuoxbHfBSIsJx7gVP6WericnTbTAh5mvzsanT0hXtJr27vGGmJJ61qJOE3KfHOsifG4xVZTI7NEorEDyE/P+sDCKDx3fPPeVwKSt4Ovf02Xs8QigQpF1dN6NNCz8Jh/OIT73giYdbdgGmDbY0bdB05JzzhO4Z9Tzg0e4gNHhsuWRSBGdQRA5WyjcoSLysbsmEA+lHpA1UqG9p47N5Dfzs2qGliN/XI/cur+tcVjxm8IapuEtB0ppwTDub1OnmLI5p9L2DqQGtDzR3EjRM/dVvQj1kwn9V6ASTRD1Juhz/Dok+d3dU36dTtYtBaaaOyf7STK+3sB7YpSaI0VY2b9ZWRsuspzpraajABO5gNGpohSxVxf5c+g0mWK6BSsrGbTgw6vW54yZIgLldrEMpGORZDffpK/ryruBfFnj7ARCeqMHqYs2m8JrrKduQLE1Fd2tjWZSMozUWCiyBU4Cc5NARDjNIktoX8VQG0RKiJq7GAcFCyo8JYmoWz1MwQ2rVdYqnkhd1kevSzO2cjdq2YPf3Ppfsu3DixbngLxR8Fonptp0Xdj/q7c32LfqvP3DrgZ0v8hyiJAPpaSSPihdYqKnAezZr3KpdLjsZ5A2HzD9qh5a1Xu661wwB3N8cOjfTUyeaatXUe5GLfGDREDdr07NnCEJ8dDA3Sbdihz6CBTtamXES7abfeNiZghpZ0RWua27u4D+7fsVF1WivYDVu2NDFt0dFpwJCBfZRN1qnb1qlfZ3NgHi6Ya2LlNMCVsBZB9Zp2d+lqIanBa9U86a1V7cyu16a13HtnVK+FTQu57+updmBWwjFu1dPNrU9HcwMNSMuJFn4KnzLuto1fDzzdIspRTnXDhlbd27awbNEIzz3LRImQKLcjiyJtxOT6IqWwhEyfvEi5Y3atVj3chgzq3b4BkSnL1eCH2vSTgKazBnOiFA7itjF/qvECoR+k7Do2/fqZZ6Uat7VSXOWlBpSn/epMleqsgFf1g4Z+yGoQcXnrUYNWNk115Eukx3QGYenRhz84jOpM2lEqQPZKH2BJM6ow0nst6Sx9oVuYyhBb2mVXDXgqk3QUrgqEAzTEaS0gOkt2VBgl1Rq+aCsvQOr7q1/bFWSgeo07ObsPGzaoX3ebemRrINFap4Ft7wH9uzUnfhdBlMjv6GuJluqtKl9wNKEk7JHsNBrckj4V/0Kb6lS8eqjhZyKA5VwIj/kQF7xi3433+ZIPvATZCdHL/U82n+otuaX5MzlUClvBDUkEATtRKfri/UrfuTQKf2AfQWZc8JwV77w2Tm1RuncOP9D2X001lvvxReLnQiz75r/7+SMm0PyM9VfzHPrDkEDVXNurplUMkVZ6M5jMVTryn1chauixdLNPk497/XpYGNYwqluvvmktY6vx0aazdszswOzN/s/rPGG54Ourd5kY9vl1ovRf1xDFzHZl6sxMxQ9uJademJKUbT1739YxLX+LgSHneZU7xDJDxrSxatmgtnG7f4qmbxlf8s2mKmcqNOhHEaiaa3vVtOpHxUidXpjMqSME60sIoPrt/fbFfXz/JPbovm3rV63dFnEt8c3dPZPspP9aoqTpL3hU9OpSxFlen+Xbt/3TCXxcdQv/rxyM3SxTZ8Zaqk5DdqMufdqa4J+8Vx2bflNL0Fpe288eCQ6NuhZ3fctg2a+oflMa0G1yAlVzba+aVpET/OGlP2My98Oh/eYG6JhZOw0dPX7CuFHuDm1MyL8Q9Ssi0mnuNGrCJH/iMWmCd1eNLotl6vwr0oQ+VR4BnQZdh43x6teG/KtLlWcH1FTVCVTNtb1qWlXlYgmTuSoXEmgQJAAJQAKQQPkRgJIggV+fAEzmfv0YQw8hAUgAEoAEIAFI4BcmAJO5Xzi40LXKJQC1QQKQACQACUACP4IATOZ+BHWoExKABCABSAASgAR+ZwLl6jtM5soVJxQGCUACkAAkAAlAApBA5RIot2ROmJ9XiFWu7Wq0FefnKf4LPDXtpdVYcX6hQHpS2lesuKBQ8md1SytC835YeViuuVrY44cQKO34/iHGqlMqAMuHujawHillzGnJYXCpouVT0ZU/hH9FOwXl/wACZU7mhGn3w1ZNGdiufj23oI+Vnr6QEMPyk84GzB3l0My05Z8Xi0ga0BZhWYdHNTQydVyfUMp8Dsu8G7Rw9uwpXl0aGzTsPiX4eQGtvvKrLLPl5WdK1ZQkeLlrYVBpw1p1XCrb+C5nP7DMuEObVq6QPlb+u++63F/fw9JuBW+Q1K7efY1MtyD1TshyP1ebevU8DmZUrTeDZOb+oLKKiTlcqn5QOCVqmfDHMh8ELxrvOcxrhIf3hIUHHijPkcI3p9dNGeHp6eW7IDw+F04gCdrf86XMyRxLr6mTe4vvr798L9U/OGJCvSgjI4/BMJU0Q7VMOrr3qpn67ltpUkvUoKf/6pUrZg9qUqq/dyp4ud1z9CXLuWuDIq8eGlf9wc4ZS2PymfhY9jaklkuYlF06EwlVu03xnV3/rt+0+05x1TaT0jppKMs2vinFl64CrdXBc5SD8OK/ixcuXLLnrdUYnx5yf30PNe3qxqveMAAAEABJREFUNbxh/I6lmy9znIZ1J1OB1mjhPMgiNym9qMKWDzK18mVSsPJlVeRYalpFxLyKLVVSV6sI+Yo3gwF/LPPsn46eodXGbz8ccShi+8RqB4c6Tj9Tks8VxK0f6Ljok9uG8PCdvto7BvZbeiMHq3jLoYYqSqDMyRyqZ2RqYd3CuMyCqABhKWFLNsfxqaql5SXNtA1qmVpZyl1TpE0YvaKm3cfPnu7WvFR/C7f4+vZNN7SbNtNHEdSw9/rTpw+FLxtA+V+IGdnDvJGq5SVMmEv5RVti2ad2RiQXJx/ZczbnZ3RRLpRlG9/l7jzbuOvspaMt2IjoO4+vo7wMaBtV57LbTt88q6OhchVhCVg+TJpbWoAJQ5xW/k4ObOUrp9coZ1r5x7xqLVVyrtIz+WVqGfAXJAQu2sMbumxmN2M2gqC17P+a5Zy9b8W+1+K7FMVx6/yWPO86d5mzGYrWtJ+5sH/aWt9FV/J+JkTQ1vIkQLrCaqyAzQGjTeNeTDpguVfW/hubo+5tu3KzijOIzmjhp7gnKSId7WpiqtoWTp79W+qJT+j6VUydMpOK0fJzSBWmHNkbW6irJfocvS/y80/37lUllD9mfFPFWrebn097bSzjTIgyWyzz1OHbbcaPa017n5vDoa2mUlsO5Spgy0FmOYlQMa1cY16llioVV8sJYRUWw4Q/L+nlG15BTq7sCz8sXV0dYWb6VyKZy4nZtDOe3cm5t+Rdkm7X/j0N3oRsPJz60y1vVThOP5VpmmUagvSE2MjgvXuCj11OyJSNMTmHsezESxEhodF3P6l8W433+cn5IwdDwk/d/VAgHW68vKxM4pEj/rWAID+bOM0Un2O5jwPGjA16VVSMt8ui+j0DSTMWwpJYheW/vX70YPi5F1lSpZIKRJiddC0yZP+Bo5cTs4jpIa7Act9djzz3olB8hiCCjOfnoq5/FPJS7x8PPXz1LcV34HDTM1IyvokQjJ+HO5FbKFZIxkxYmIM3ET/zxKiwolzxeY6YBa6fjBleTm6UvOUkTIiOFE4TdeQ7YWbi5cjg/fsjzjxMFVta0o7MN7xWkAXGydV3gCrvS/z5I2FRtz9IuvI+x8WEhRy+/lY2BvD24EllGJaddOnwgQNh0TefJz64n1C6z6wFCcH7kpw3rnE1QHJj9x2UvLUFWmVbKSxGKKPDy4g/d/wm/uWxgnc3I0MPnY3PAihkusABHVRQrbBhJLOApX58UwAtjaMK5pCdcFqN8+trgOScD9qfKL8sCD9FHIjrPM6zHvFej2q0kElEqOmST0hK4byMeIpgkIFVtUVQIFmTMjOzCwSI3GlmpnjqSouy88W+U5qCMB7MZKaVPuZKTlWtpYrMVcJgigFM1Knu6GYUVUBKMRc0M4p8haDkr+QVt1lzc9Z/R1dteSi+GPESLt380mzQ0PZc0LDg6snYDJZZs2bVwQmxabdu1RT9duPURdqPHkrDCdEcFAUn0rnLeFaAizFVAqK5hTQrTPmu30RwKmXHPJkTfjg22a6Dz7E0XSPuh1Df9s2dVj8QDzKJoaLcm8v6tu8+bPz40YO6tO7ge/it9AqGpV1cPMBhYth7lq7oTaivbbMef8ekgEphZvKtqIXOjY1Ne6x8zEPAWvf21rF/+jQ0ruu09oUAy757KOxxLophuQ+ClyxcuDwiHrSRKCt5oWv2PT7Ao12nwRN9R7q06zzlTKY4vQJ9eW+O/OUx9UAiX7vo2Y7R7Sx7LbiUgSG8V+e2THVo1rzniA1XczEEy4yLWO5hbW7tOjVw/1LXrn28xni7Tg4mfecjeB29YdGSHde+YMLUy9sXL1y4ZNeNrxgFMyzvzcWNXtamtWubdpt1/Hk64VbR56eH/O2a9lt8LjkfWEjFjNyovTcULSdFR+400EW5Cd4endzJbmz4Jy1d/qONgyyb2vTsP8R7hP9OEC1y37C8+Kg1YzuZW/X12/MgMWJqz87OI3zGDu1m03PxndzkCL8uHVzG+/t6O7R1WHpbNnooDRMk7vEcOOdqfg09fnzQiE7d/j6fCYYNpblUFYU3d4d9H+4/eqzfkAbo9wfB++MI4uLmpbKYMjpZcYdXeLY1tx0wPSTuwfbhHbsO8fUd7WrXaUqMbPDRQRWbJL/HSEMpaUE1vkmBlspRiSJ1L6iZ5+RhDdDiuP1BN2VhRQQJIQc/9p/gCu4dkI8WCrGUdCkmJJ98acJog0ELtsQwLPv5sb+dzI1rm9pPj3r9TfjtzbUdPramtY0bOs05+jC1GKxa397ELnY2b+cTFJcupPGT+WCmNU2jmJf4UXJUvksVWFI1C9feG2fkFlkKV0kHcIkLSkd0M4o8IKWaCxoZRQUFQcj5K7mEn3La+P3t0aDwxiJXt6VX09Jj50893mjtocVddEClIPnxi2yMZVpP/D4JlCDsOqa1OKLvic8S8TOyp+ackNKAIuVEft0KTuUxXuLJI1kqCxGq6NAvGWKmdBTFLX7UnnEyV3xr0z97Elr7rvQf7j5mwbY/OhfcCtp3G6xlUsuFiefuNNn89Ev211eR09uiCfsmT975Br/0CpODxo46YDw3dO2k4UPHLgiLXmWdsHHksNWPi9l127qN83NpKv2QBTW2HjDOr38T4n08ghp28V+3YmgzNmrYbdrWwMBNEzvgb0mk+qSvlM1Eebf3HdH++2ZKVtqjtT11ksO2R6aDpQf0K45bNWaL3tz9qyd5efqvP7ZlCPvWWt+FFxBu834z1vh1q8YCbcCG1urgNW/5GCuOKPPmo7qbX2SmvXkeH+FnRsaM03LEyoDts/vWZbPr95+3PTBw22znOnwKZqiB1fDl+xb3MWCxqje2t2tIuKVrbl1Xp57PhnVe1jURamYoqVFTuitaToKOwmk8cQS+km3Cd7v9/fbxRwTu+GOEp9+awxtc+M/v/Gf554Edk9pyKcYDqm89ZPbSkbZspOj5sWNFo0+++pyeHDG6UX7c1qljN38YdPRV+peUa3Nsih5u33pK/PUOasOKYjeuSOo2b+GEIcN8FgQfX+5YQxIZMmspy7Cs07tP1x030Y6r5zRpVEstftKh3bElbpfCYproGHXwnLvQ05KDfbuzP6ra7Ksf0788XddD623o1iNpxOCjhUriA+XwRijHNwXQUjhKYg9VkV7fKT5WXOHbiMCT4G0R0ar47r4jAo8JPXQRhGK0EM2UdzR0Sce+X6075EsTShsMarAKBqHGnSYGbvNtxkG0G1q1MmIbWQ/+Z/tcBz1U17Kvl4OFNoKgRq2tG5g4L901x8FMQDHjgUgNBjO1aZrGvGSYAwskG6fliHJcqlBNwzWlu4vcIkvqKsUAltiv/EI7oygGXinmAoVRZIQRmvUbQUj5o8pe4efgLVJQ5Jr+dTIvL3Wxar+Yt/DC0SnW4jtxgtSUdCGC6hsYiC+WeHO2jg6XhWWmp+Mnqs/ScAIarDVczyk4FZLPXaPLTJd4ikiWwkKa6NAvGThTWop4gx/4JB1EZPZwGnVxHeA10L4m3kOAamlriXKz5D89Yrf0nD2yjT6K6FoM+Td4VgduzrWQI+ADrcLYDeuuCLsNcDLAeyII22LsTI/6hfe3rDlOfPKJssTlEqWoFofDkhyX7YVVvdPkFb4d63ARnRauTi3YRe+T3wtwkQXnA/ak1KudfuUc/rhw77ueMVvw6XwMXodoGRrqyeln1ayhx2LVdvYb11qXY2jeqokRh2jGaEfHDG3g4TfQTPg0fP89cUaMpUYe+uw8viu49CE0zHDF5EYpWY43lHtSOX1fro3SYdHti7dyWWYNG6N4BWrYq4cNh//q0WNw0xJBaHxj1zYCsdZu7Tnbx74OB2GbDXDvZoAUGvWeP9vVvDqYfe1cejZC894n43dnERrDsOzsrKSoHSfe4oTY5iOneZrryMUGt0r9E3zUt/eu3cQx5mDV47YbP6FLdSzl+N7j0oyDEKCZxWqig9aqBbJ0/U7+yyZ0NOYg3Cb9HFuyeZ/eiAcfLVTCGKY7qvFNBRSXq5mjeA/GT471+Ik99UVfzwQdFN+Szz2394zJaB9rfMLQjBZlBTR0s0BbkrFPJ5w+GEAek02781gvK1bSyWOPiDu67AYDB9lpZZ4PP/GFyM8FL47cMPEaXBdF6GZFuQxmTWNOM7sVHadlWMqlCl/eScIFFJduqQIdyTbaGUXjl2ZzgWpWkRJWM4ZlXqg/0GvnM3dM98YmaOZ/90KXbjxPLJl4Nx6fh7A4XG0t/ETyxDAMEWFCYlBKiuReSssJ0QgUJSewhpMMBuazgiaSmllId3XFVxj6JYOWohztH3GIMlXKbuSx+UTwpPoJR1ZO8hy9CB9VQiF+441MAMfS1dlSS/D2ZRK/+MHp2P9EtUxNS0adrr2Dnb4o+86Vh2p/o0omnHEZygbXb6I1qq+vxxIVfy/Cf0jBS7gblyEqynz/Tvx4n2/jvyVw+0J3oinCRhWYiHNNjVMIQhY9M4P+fp7NkNeHdxG/rxQmHzqKDRnTCr/00TEjBJMbxUYVLCdaSneUTjeWtlB9ZdeqbcASpX58L1kdtLQ4CGpgYlodV0PnG4uNshAWiyUVydLXqw5OwCYuYevqVUMRXnExCAedYTpOozwavA/2bmvtOnPPzTR915GDTHDdYinM9oLnB/Z/cpk8qBbREWSEvv2MkOzz+w69lx+8mlisNjpslA28xxkQJqI1auqzRLwi3FsEYdNBJdoz3qFstqSt/PimBEq01cRRogPzHbvBCH93U1bBnT277heDDzKiDtywGjuiEWEj3WhR1EBH9yHeVHXs0wqnDQYuj8mT02aElx3nVWTorSLQHPt84VpKzZp5F0OPfAKDiBcXcbuhRz8DUIPQmFIegxlBUDbBE+hiFHOa2Q1EyG00hoNWpVuqiOVdNVxAnvIiixfJnvQDWNZMdkA7o+j80mQuUBpFRljtGJbZruYASzv1l8vcwnn3X8Suc62bd+9fj/4zz2XiyzGxpIqEAgF+IpEiLOLxRahejRqSc6WXUnNCNABFzQm/sKkOBuazgi6SmliIqI0O7ZJBS1GJeGWfEpc4ZkqLXx2e4dh3XoLtnP2Ht41spU3XCzUxqcUS8fl8TJia+gUTCcAwK2nPNTOrjWJ533LAUlhSWpFHILlAEJEIJA/gJSczV4TU6+7rL/+YPL53BRhAy0y708RxdtzP0buPpmC8hyFnjL096xNLNR2zUhoponLaglqgjuP0WY41X4ZujPwA7mjy3h2LeahrN22qs664C61v4iYM9nSGoXUG7bx5cfO4NnmXNk3s2bL92L3PSr6QxUA2aFJ4Y8+RXOP0nRO8xY+R00/xG9VmFdw6cCAeOAVaaLxpHB1i8EnVqIEqbabhK6FCPL5VgeLDvGKGt6KVqIHL5FEttPhJoYGnM5NDQxJ6jXeX/ckipqOFji7lN7uZCgf2EqTAq2Ybu6mnd1edDyfCwOfzgqe7o2ou2e5Rv+hGaGiioOhmxJBf5XAAABAASURBVBOrEY7iT7/AB8pUq2Q5DGZFmwlP1MScZnYrCqMxHG9YqqWqlMu7pgNYzYzSYGzgnlI8KY0iI1yqMayqGEs5OGVieIP/LXI0NrKfFRm706MR71ngHyvxLzdxLCwaoojwm9yHY8Ks7FwhgjYwN1cVhZf8YE7ElQ23Q+Gpyawon0giGkeHmGhSq9VQlDb7Ia+Mk7nci3+5+cQ0Xx6+xNVCcjWnMVhUWFAkYjdsYs5hGxsboVjae/mfL7I4WmwWu755YzxbR1g0ciqiiqVfU0+UeuvKM56cdCw38aXcafkcqmPGaT7Gt0+N3Et7gx9d2H+r9Vg3I3E46JiV0jJKpz/SCOS2mR683dvs7YGpw4cPGTLtvPnyc6fnd8S/f4sg6nyjEatQpcYwtmmP6XtuvHpybH4v/aSDU0auvCcfNQVJJCdYZvSuy1ZLj4bLPSIi9/m35fKfhe65qmlmKNZQxujQQRUrKNueEmjZxDLqrd1x0sSu1UVpJ7cvXBeW7e7bW0/SjflooaNLdhcEKGAuHDQu5cZuMGyko35azKGzn87suN9u4tCBPsObYY8Ohdw4G/Haztue+NqrullRtsFMYzllzOlmt4I8dQxLs1SJl3cFNUxOKJ2h6kw3o9T5RSVTuZzSKDLCpRjDyvrAOfYlOuxcZquuXQ2Iq4J2i3F7Q6a3Rt5ePp8gQNhm3eybcbCPb94KQFNiE3z8mIpxzDt1bUCcqu5+LCehqkHiEtVZIS5X2pdXJJEyRoeOopLJlX1KjBMGSovuHD2ZjJlb2UjfgYI+4neF4IDYFHaF8c+S0VZug6y42h369qjDKrp7/kLJH6fmp33+ymrmMtAGLIH4385BEPAJqKQ/VszjiRBMJL19jKd6GCY9kzRSfWHYDO/IbWPf3gh7sXN+UAL+oQlehBQ+2h5wljgqyw7YiYkQkdRa9czQukMnupvx43aOW/iyh4+DNEmmY6aBffJMKJ0m/wKvWIswec/UbQYrY8+eOn406tTZyC1+ncSfViKIet/EItTu6Qwrurg3OBksAqie5ZAV0WFTmmFJt++kqRUpayB8F7r3Vd8pJbeHiBpOmwm+vfSxD0d3yb6qT5Qz3ZUxOjRQqS2QDyV1K6KGEihRW8E7tvmYSa61WXlXgg7pjhjXAcxvQqEGo4WOrg0hTHmngXDlrgjxThJMW0TtA60zeKSzYeaZTeO3fnWb0IHLtRvjbYMmhfovSXHwJr4XCETQmaLxYC6PmFPObuBzhS9V+PIOoDDYFFzVeADTzCi6gDCwq6QJpVFkhBmMYSX+JYrkjsCFRITwikvevep1HNCrAaqtg7+d5rYf4WHD+S/unvTrItiXx08/oa08vO2ks05OFHH4YzkRn4oRdsjvSGeFfAPpcblFEmEQHalSslcaimTNK7OMaTIHcq5qLH7c4d33sgXpcfvmB94qFPFzs9KT7z3+DC63uMnfvmYU468IIkjcF3jVxH/DzPZgXBm4/TO7Z43s05u2PxbnTlj2pZjb1dznTyNGHdusWRMD7P2lY9c/C3lf7uyat+FylgjLSs8g3nGgunrVOVhm0vOUorQbp66LfxAoViK/V2nG5/MRRCiQWIaIhBjIPHm8YmJE6bn8b3JbnawLs3r3nrQu5HjUoc1/uE152cVLLJEHuoKPhUFGSZwLMSEi+p4v+RNSRBHlDsv8mo1hWRlfxXpZurqUzKQyajpPHNUC/fTWYNBYW+I+JVFBw4yoJzdK0XJUEV1+P3KnLQmBpDvBkwMBpx/FLJ88aYrs8efifTdSwfLCovFNyMc/VBfyiQgSkoV4fosJpAXESibi83h4jk4VDWAYlnFh0/pzGXgrBNFuWN+EU9eydR1cYlHKk9tPPonHE35O9sRyLm8I/NhtcCd87ZNvwK43eJA9F/saszHgabG4gq+JxWqiI/peVCzCv85CDDbwsb4Qkxt8dFDFtqjuUcVQgllAN76pgBJyNXIUEaQn3L33Sv5nToQQmh1aa+AU7yZsVk3H8aOasaUNWXSjBUEIb4BlRHMaumA1AbNaeULSCqcPBqoCljCBdIcauox0M827n9jAZ0Rj4Bmn1ahRnbXT/jPu7yFzlEXjJ59yMJOrUzGNoESxplHFHEwiUumIBkuVeDFDEI2XKvJwEfaIlyqeeJFFlVzVpV2fif7yO7oZxaIJSLktU/LGiI/VjWFEmb+4m+IeNXH1cKwRf/JIgmSRQoQfHj3/3tlzSDP8SsGx+t8yn4bPj4aLP2HiJYSGx5mNXjq9HYFdURRxVlpOYH5qsDpSjkTcZtXrFukST5irtKOLpGYWImqiQ79k0FFUMrnST5kmc9r246f0Mi68taSbiVH3Vdnu87ybsnmX57ut/WBQh61l6e7nYZ262dVh3Iqd+wMXjP7fje57z67vY0hI57SaERb+j33qBneXPzft27vxz/GBollRu7wl/3BL1/l/MzrrvtjSt4Gucdc134f/4WyKir5e2rZ459WPQkS/h0tPo+9XZrao4xhcZG5MCCSBJN8sV/ggYFnIIz6WdWX36r2XX6U9ORG0JvyxAPsSu2vj4QfpGKLTcf6RA/52NTNu7Zozdsgwn3Xx3ddt8jRDhCm3Q9fuvpyJCZ5ErN15LuHL8xgg6aFAlHt6+cRVkU+yxWkFiX4Ey3oSuWn6ksjPmPDj0SVzA0JPP83SomEmk8HtOH6cvZnzeOICISulZoblkRmlZHki/gGiPBOATpfcaSqiwBROcxevbvofr4Tu2iF7bF7m28dpzpUCyvHwNvfF3mXB9/ii/Ju7V+y9mJT/9uq+NTsufBEKnoSvCTzxJOPTrbBNG08kC4XJJzdtiXqajVFEgzCMn7zHq+vAPzbs3LN59pTD2jODFjvpIAjv4UqXjl3t+i+5zwNmkm1Yxp39f3tO2Pv6v9gAEFH8zxdLmwnfXtr577EXAkRU9HCdl9eC/dffXNmlmcXU0UEKk87tXH3okQDLiN25Zt+V5PSnJyWD7+LO9YfufkbooEpNVHlVCKVp5rltdOObcngLNHT0y52FjradO1vZjolIlV7RVUxTKdDtOnl8J/OBE4bK/QkfytHyQR+LC1+771oOxn8UunJHdDwQR02XfOxTC9fOvkgbDMbLC7AKbPp9Rg1ubjNumktNcIIg7MYeo3rV7zNyuGQhA4XUpoBVEiEfzKAb6aZRzGknkZJ4TZcqkLiKJXArZKkCshVcBYs8xYoAWpJtdDOKMiDlu0ypmEU9hkEeR3KpwFQkgAJ24wl7Dv5PZ88Ql/9t2BOyd9Ps4RMv2O0MmdESz4sQBDXqt+HI6oZRE32WBwUs8J4Q3WJD5JbBlJdI2pWHktMHvTwNV0cu+XUGIb1uAS9JZgUoVdnK0UKMJjrq1m8h3WhTMbqSC1Cm+rjWf56OfxQbE309/uGxmT2cFp28fPrG4zs7PczZCFqn5+xDcR/fXf13WCvjOtajtp89tti5nnjI4fLRuv2WxyYnnVrk1NjYvMdfB88cmGpH/IkTvBLRtZt/+cWDc8ejrz19cnyGXSuPTRcT/kuMXjvJoSEbYVtMjnoWF3v6+tP7u4aVrJpER7mdfLORvdxm7IzLwUT8DzFLJzg2N7UdPDXwHn7+Nmqep10dFPTjWgwPuJv86s7pqONn7r5+HbvEAZ8E7HpdRi2O+SgQYTn3Aqf0a2XSxu1/O+5lC0XgKhI+b6itODkF3VU31Mh26J+77mYKRSJh+vVNU0e52hihdMxkIthNJwadXjdc+WeaVMxQfTKjlCy3xD+wlWdCoCN3WmaIygHG4xVZTI7NAj6BW0vAMX5+1gcQIuO755/zqHzzdujtt/F6hlAkSLm4akKfFnoWDuMXn3jHEwmz7gZMG2xr3KDryDnhCd8x7HvCodlDbAxBOLgWZNFAEO1uKx+kvo5Z5GZpXKf1iKAr51f0MwXNEW7bmRHnos8fnduB6l0oatx53IbzH3lYwYsjiyY6gjEq845t4eS//lKKALiEFSYdXzGuR5NeGltMFR1Et0W/KUEPvmFg8EUvGd+raR2bQZLB9+74whH2dRFaqDIjlQ4UQtm8tQvt+AZ9yYFyNHTUpOOfYdGnzu7qm3QK/841kMto47SYtPvkMjcD+cZUo8Wjab1O3uIpl30vYOpAa6ITFV3ysY9QCm/Vij4YbKbLC2EVguj0/OdoyIy2HMkpaur1b/QaD/mZS2mKOZtqMEuEqbxoFHMUQchjriIWTwKq1FIFLFRwlVjkGTsDetPOKKqAlOcyBWxQ3ajGMAV/VQF4Cbtu/1WXE65vGmZpWN2k3eiA8+fWuRF88EogSa/ttKj7UX93rm/Rb/WZWwf8bKXfURXXK+5LxcmjWXONV0fS4FHMXeazgiqSpbEQoYyOuvWbTUtREXiln4FVgLFOromV0wBX+8Z6oBOq17S7S1cL/FDaX9ukVXfXIUNcu1nWki530ir8VbuutcMAdzfHDo3kO+E1YCEya+s8yIWQjBq06dmzhSFbXIHvdeq2derX2Vy1F15Z8mTYrKQDWtPc3sV9cP+OjaoDh0rKy/VIDTNcF2rQyqapDn6k8tSmYabSmKRARwUdc6eFn8KnjLtt49cDT7cI2SinumFDq+5tW1i2aIRHmIFvRD9GOzLD2A1btjQxbdHRacCQgX3kxw1q0NLRzbGl+JvBjMRXRCNtzaOjHiqVoToqoaRqKSknAyqpYvrCrmPTr595VqpxWyttpn1AO9SwVRtigIDjkk3T0aKtCV1NhZeYhehoAJZdr01r6bdGgQhUr4VNC7kvEYMiBKEyhXIwE71Id5qYRggoU8ypDCcki3cVt1SRuMrMGfUzioFfYu+Y7JkZJZWkrckYlnZSftWpa91zwNChA3pa1yW7Sug0sO09oH+35rXYyh0VzqsoJ41mRblGEkGoo6NATv5EPUX51pV9XHFpTGV7AvWVKwEs50J4zIe44BX7brzPl3zIJshOiF7uf7L5VG/iBlm56vsthP1kUAWZccFzVrzz2ji1Bfu3iA908mcj8JPNqB+GF3IqD/RVnCJM5sojyL+gDNTQY+lmnyYf9/r1sDCsYVS3Xn3TWsZW46NNZ+2Y2YHsHeIvyKDcXfq5oApTkrKtZ+/bOqYljHe5DwUEQaDMshP4uWZU2f0trQTIqbTk5PtVcYowmZMPFjwuIYDqt/fbF/fx/ZPYo/u2rV+1dlvEtcQ3d/dMsvvBH26WWPgTHv1UUNmNuvRpa4J/oP4TkoYm/x4EfqoZ9QNDAjmVB/yqTREmc+UR46oso2y26ZhZOw0dPX7CuFHuDm1MNPnmVNn0/tK9IdRfOrzQuUonAGcUM+SQEzNO9K2qKkWYzNHHDdZCApAAJAAJQAK/DQHo6M9JACZzP2fcoNWQACQACUACkAAkAAkQBGAyR2CAO0gAEqhcAlAbJAAJQAKQQHkRgMlceZGEciABSAASgAQgAUgAEvgBBH75ZO4HMIUqIQFIABKABCABSAAg/XDpAAAQAElEQVQSqDQCMJmrNNRQESQACUACkEAVJwDNgwR+SgIVl8wV5+fxfkokv4XRgvy8wt/CUaT8PMWK8wsF5QOt/IwqH3s0kFIR8xorLiiU/JcRDSwpY1Os/MLJ1BLsR/jJ1DjYrnQEyiWoFTGrSufOz93rJ15Yyw6+3JM5LD/pbMDcUQ7NTFv+ebGo7AaWWoIw9XLQyhXSx8otp9/KXS4K35xeN2WEp6eX74Lw+Fys1Ep+uo6C1Dshy/1cberV8ziYUVa/he+uHti2hkC8MvDiJzm+ClywL9d2r8Jbrfx3Z9iVN8UKlRV2wsBT4Ycb4bs3EaYR5q1avXbD5h0Hjl56lq7yPgTLOjyqoZGp4/qEsuRzckaVHX+FoSMTXDHzGsu8G7Rw9uwpXl0aGzTsPiX4eQGZ7gooK59wMjaMsZ9Y1tPjm+f/NXvpv3svvy+ZUL/teiUhrDGWosSoJb7DhwzxmB50N0t1nSt+stVvbswX1QqJPkYvjINKLa1iZhW1vl+2pjwXViz3/sHV+AVB4blq780MGb6qOR/LPZlDtUw6uveqmfruW8lSJGNQiQdFdzdOnb5goeSxZH+STh3p/5csiFs/0HHRJ7cN4eE7fbV3DOy39EZO2aZ1JfpVRlVojRbOgyxyk9KLRGWUBLqzzR3G+PQRnl69aOGCGdM23ibP3QXxgX9Nm79w0eoLnP4+I3s1qaS/PMzAU3aj7t7jhtV9uGXxwiV7HnJadOrZvV29ghtrh7c3bzlwzQ2FiwBq0NN/9coVswc1Kcu/RGBgFOBalbaijIw8fHJUxLwWvNzuOfqS5dy1QZFXD42r/mDnjKUx+ZXjPGk4pb6WtwkM/Sx8ETLJvvOU2Fqei9cunjnBsbFkwfqd1ysQCs2xYOmRk/pPj+/275Htg9NWuE8I+ah4LSp6sHZObMvRziZlufoxDCpwgGariFlFo+7XrSrHhVWYEr5o6nxJ4iB7WbTh7McfPR/Vha8sw5lctrZBLVMrywYSx8nbVHgplnZke8Lwi8lvJY83t9f30hNrLY5b57fkede5y5zNULSm/cyF/dPW+i66kieu/dX3qJ6RSXNLC/3yijuqb9XfwUJbS0uYHLYlKh1T5Zd3bnvYCxELYddr36VpJSVyCHgw9JRj1qVjUzaCmtoNdnfq0sVx+KzdZ/Z61/4QM99jckSanD+oaffxs6e7NS+TCwyNAuZXjQ1LCVuyOY6PG1P+87r4+vZNN7SbNgODETXsvf706UPhywbo4roq4akaTjlfy1c/Ez+xzGuLnB3+ShgQfGbbaOuaaIkFv/V6VSoswrfBmw+nt3Ub1JBj5uZu//1MQEii3O30gjur/nnotu5/rbklkDU/YhJUBlLLf1YxUPoLNim/hVWQdOg0b8Ke2McJyW8k2cPLA151jXq5Oxvg4KrwfJRbNXBLy+nJ5vzYXE7wNGhPwQDfbk3MJY9GdapLPM2J2bQznt3JubehuEC3a/+eBm9CNh5OlbtwlxOGqiqGwynL3SUlr9BqOnodBw1owPp6ette+UWTaCf8GBZ0x3pgJy0E4WqXKQ8ixGm6Y+IplwuMkxOM1unv2ccExb6cP371u1x5uR0yMarclJVFEJZ7Ze2/sTkl93DLdV4LP8U9SRHpaFcTT0RtCyfP/i31xCdlsbp0fVV8LZ0Ykl4M/BS+2j3Gc3VSl7Wh8+3lEzkgrfLXK6C0imylxMJ//ixRqGtgWA24wTUxMcReP3sh+9pE/s2VC58P+9ffsmxLIIOgAu3MtnKdVcxU/pqtymNhFaa+aTwz8t/xTrYtm1iIswezlPv3+L2G9icyhqo8H1FmYRUUZGdKHtkFAkTuNDMzj/h0TVqUnQ/eBLEQlkQulv/2+tGD4edeKHxmhVfyPj85f+RgSPipux8KFPIoQVZCbOTVd+DOOO9L/PkjYVG3PxAaEIT3OS4mLOTw9beKHXBp8k8s88S/exI+XFy7fNeZl9lAjlxlwdWTsRkss2bNqksLtVu3aop+u3HqYo60RO5V6hXwXa3f0m7C7KRrkSH7Dxy9nJglp1yQ8fxc1PWPQl7q/eOhh6++LZC0p2guqZV70ZiLIB2ADN67J/jY5YRMEBU5WaqHjM1Q7YqwdLpM9W3HLX6wZ/tVqVviZrzHu/dmDJ3aQ/V+C6VxSpxeZ+QA+JJNPNQQrChXXJBTKAVcFvPFpsrtWVocNhjAHG0u2MvKsdx31yPPvShEEGEhE5soPZRJlB5g2UmXDh84EBZ983nig/sJpJ80ajISxbGm1s9EH4LlPg4YMzboVVFxXlZmZhbxayaW+nnNLBCC/OzMjJSMbyIE4+fhscwtFK8BZEYzw40vD1QrCtnUKwknQuorHhxmzuAtwdpEppzST6KPZCf8sO+veeeybaYuH9uILSmTvmi4XhHdhJmJlyOD9++POPMwVbJyEuX4jowvXo5ovLqAaUC60CnNX/E6x2jEEXaU7EqPRZurLRLw+cSI4gsELA5XS3ydw/KuLV302vvfieBefIki6iPya5TaoGoyV4FyBrOKYniBzqWIG+gFNg2NBD2oIo6Qhhx0YDZ9NPWAcggDjaobMxtK+rEbunk6EGmbtKz49onzeQ7u/QzwMVSa+SgVVOGvuIHqlWDZz4/97WRuXNvUfnrU62/Cb2+u7fCxNa1t3NBpztGHqcVgOfz2Jnaxs3k7n6C4dOkFFvkeH+DRrtPgib4jXdp1nnImk5hdQBuWdnHxAIeJYe9ZuqI3ob62zXr8HZMCemF58VFrxnYyt+rrt+dBYsTUnp2dR/iMHdrNpufiO7nJEX5dOriM9/f1dmjrsPQ2uKYCSWSb8FNk2OXM3PgTgUsnudo06+S772m+VLMg+fGLbIxlWq+ebNVk1zGtxRF9T3yWqCpMI7/x7rw3R/7ymHogka9d9GzH6HaWvRZcysCwzLiI5R7W5tauUwP3L3Xt2sdrjLfr5GBwK5C0OS5H8VkKLsIPxybbdfA5lqZrxP0Q6tu+udPqB5TIGJqhaJTCGbv5xGkuRqJ3EVsiUqSsQYOcswEn6k6c2EYGG5SBDTeOxDgyTi5+mw9v9LI2rV3btNus48/FP0wo+vz0kL9d036LzyXjkS27+cAmuS3v5okrn4WcRu5evXTExbxX57ZMdWjWvOeIDVdzMSzvzUVamxCEwkOxNMW9IHGP58A5V/Nr6PHjg0Z06vb3+UwwFRTbgPml0Qyk089U391DYY9zUQzLfRC8ZOHC5RHxspsblPOacSAEr6M3LFqy49oXTJh6efvihQuX7LrxFaOAphY3GHCUKwrp1Nt744xcOBEsm8xXxs4gVMoRhNxPpdjy4nZsvpDN7Tp6lPGzUwe2bdoWfCYhG/iEN9NwvQIa3x6d3MlubPgnLV3+o42DLJva9Ow/xHuE/87HPKpBUYrVBSTOJAudgBR2cCqzEYe7K/8sPRZu+x4daxR+/gQuRNjXN2+yuLad2mkB0VjO5YVLP43Z4GOutB6BOpWtDEHV+KohVl65V0uNjSSdD2RLtivjS5vmI49iiRADVNmTmqzSSk1B8b0T53OluZzG81GN8PKtZpbMocadJgZu823GQbQbWrUyYhtZD/5n+1wHPVTXsq+Xg4U2gqBGra0bmDgv3TXHwUw8VUR5t/cd0f77ZkpW2qO1PXWSw7ZHir9SJUwOGjvqgPHc0LWThg8duyAsepV1wsaRw1Y/Lkb1rYfMXjrSlo0UPT92rGj0yVef05MjRjfKj9s6dezmD4OOvkr/knJtjk3Rw+1bT1F+yY3dyO946vfctPgLu+e4mfMe7fXr7b4lXvwWVZCaAqY4qm9gIDYSh8nW0eGysMz0dPxE8amR3whSHLdqzBa9uftXT/Ly9F9/bMsQ9q21vgsvFNbq4DVv+Rgrjijz5qO6m19kpr15Hh/hZ8Ynb65oAn6mOZfiW5v+2ZPQ2nel/3D3MQu2/dG54FbQvtsg6cbFKT0prFZqpeYUrTP0f94WaPaFwF3x4htDCCJ8H7rjYdcpXvVYip2pjENJOD2LXDpp+b7FfQxYrOqN7e0aEt9z0TW3rqtTz2fDOi/rmiiF+fmKOhmeFX95eHie+5j92TbjAqI2uRhKpge3eb8Za/y6VRM7ghpYDae1CaHykMSKotiNK5K6zVs4YcgwnwXBx5c71hArUWqq0Ug0o9HPVJ9hF/91K4Y2Y6OG3aZtDQzcNLEDgR5BKOe1BoHgtByxMmD77L512ez6/edtDwzcNtu5Dp9izKrFjdKsKCRDKj5iSncXuXAiKImvFM4oRQU/pVaOIKR+onivkifvcVTMKz5LP/fC339uP3f/3okNk93a2QwJJFYsDdcr4bvd/n77+CMCd/wxwtNvzeENLvznd/6z/PPAjkltuVSDQvPVhWKhi9UmXeeMmI3wEiLEURmwoHW8lixxeH9g6f4T+xYEvmg3m7jjiWVdWLDy64T1o1XufhL6FHdlCqpGc1Wil3JWUVtSirhJlOEvGhpJMR/KdmnT0ANwgaVYInCHVJ4UJqu0oy/gPThxLsdBcl8O0XA+0osu91qllYVGvnbnsV5WrKSTxx4Rb9HZDQYOstPKPB9+4gvxLlLw4sgNE6/BdWUCWdU7TV7h27EOF9Fp4erUgl30Pvk9fpkvjN2w7oqw2wAn4rYlgrAtxs70qF94f8ua41lAPbu2EajQbu0528e+Dgdhmw1w72aAFBr1nj/b1bw6guq3c+nZCM17n5wiBK2pN10Tqz6+a07EXf7X2Tj70pJZe/HPbcE7Sj4PAbfdtbXkemIYhogwIeGGXLHkkLnfBecD9qTUq51+5Rz+uHDvu54xW/DpfMx9kESxatbQY7FqO/uNa63LMTRv1cSIQ9VcolfpRTMunEZdXAd4DRR/AUeAamlriXKzskiJaWaGklVyp9V7TPPrrMt/um/rmVyimBe380Cex9TeesSZ3I7OOBJOCNrAw2+gmfBp+P57gCQQhKVGHvrsPL6rLjimMv8+qNNgE745+tdwl3aN6nfw3oHOvP8ubp9fW31UXoCWoaEeS1ZAaxNC56FMhPgAy87OSoraceIt7hrbfOQ0T3OdEjXiNpI985FIo18DfRK1Si9U87rMgaAxmn4I0K0oYFKTDSkEUQynko8IlTPK7RCERrlqY5ISLPvx4zcCtpnzP/uORuzdHhh6+VrQIMOU6NmTNj0HyyVPo/Wq6PbFW7kss4aNUVwTatirhw2H/+rRY+KPL9Hx1Wx1oaIDFjoS2KUacWXDwrWeHnNnl4vgw/feAXfOL+6sj2AZZ+aty/Nf792AjWDp1zaMc3N1d3P33XYzE4wQHJbCkyaoKl8XUugoO2E+V8VdqGaVGks0i5tYVcmeuZE0EUdIQk7VvES17EgjD+iGsEyi5EADGyQ9yF54cSfOZveU5nKlyR/IpFZQGTHrmcnmtBnhZcd5FRl6qwh0wD5fuJZSs2bexdAj+B8Y48VF3G7o0c8A1Eg3lC29+4XqbPedxgAAEABJREFU6+uxRMXf8T+HUfzgdOx/olqmpiXplK69g52+KPvOlYd4VxYbZSEsFgs/xp8sfb3q4ARs+BmCsHX1qqEIr7i45HvZ4gqyParfYcaBjUNN82/GXMD/rBohTCQUCOSmsLCIxxehejVqkAkAZUz95iXcjcsQFWW+fyd+vM+38d8SuH2he2P8u7YoC0fNAvIkG2VzSb3yi0Zc2I08Np8InlQ/4cjKSZ6jF50Hma9QSJrLaWqGslkl5+xmPlMHGItSIreHvRciWFZMQExDP9/WuPMljfAjWuNUOOE9DPr7eTZDXh/edTYHnAqTDx3FhoxphUumNL8xaKjBxm4yfOPRmFNbPOqzc64GbL4kvomsIICN4hGUFVHbhCC0HsokEAc6TqM8GrwP9m5r7Tpzz800fdeRg0wU9BCtxDumI5FOvyb6xFqV9yibbF6XPRD00Khx064ofGA96ZBC2Cg5ZtABoXQGr1R40ilXaEh1gmWkg/wArd/aqrbYHnZj779Ht2AXPjxx8jWi4XrFrlXbgCVK/fhesrxpaXEQ1MDEtDoumpavJqsLJR18oVOFXaoRV2YsXDP74ZNn/G9kz8bgLR/2JfqfjYJp64aBew3CN0Gjh24R+oQcCxkn/NfdOzBZZV2kC+pDfERRBVOunPFclfRB2WSzSq0lmsRNoknuhamRtBFHVEJO2VxOtexQEw9oh7BMInGgkQ1ED7Id79GJs5lyuZyG85FMZAWW4bOcqXh2U0/vrjofToTF5iOCp7ujai7Z7lG/6EZoaKKg6GbEE6sRjrJfFSiJBOkZgohEePolTE39gokEIH8qacM1M6uNYnnf8Ct1SWk5HaGm7j6udYVZGWDNRDgWFg1RRPhN7i6VMCs7Vwje+pubUylk6LcoJzNXhNTr7usv/5g8vreFdJoqKKBsrtCq1CfFrw7PcOw7L8F2zv7D20a2Ap+Ek4sqRzNQY/fpY5pzvl0N2PGg8P3BoGe9/jfMlHSAMTVOZrJ2p4nj7Lifo3cfTcF4D0POGHt71ieoUppvIevL/IBtNnxToE9T5G3w/2YfF99wpulMaRPeh7GHaJ1BO29e3DyuTd6lTRN7tmw/du8zyu82IgxHIjCAUr9G+oAg2k1uXpdHICiNxo2gxE27oqhcqHFRap+Uzqj0pFOu0pisgKWjDeYmq5puyW1frm33TrVQLONzmqbrlY7j9FmONV+Gboz8IAB3Ed4di3moazdtqjPIZ3DdtHzxBsyelHTIF7pSjbjyxIJ9jpyzFf1j1WD8XZLgecieK9/bOfauxTZ07NuBd3X3gSeAlYLndEHNYTqimM9VBd3gRG5WlYslQCTVxtBIDSNO2ZzKDObljIdwudjAe3Ly7NeeQ/oZSK9ipcofmHtXxpZSKxmJYTcYNtJRPy3m0NlPZ3bcbzdx6ECf4c2wR4dCbpyNeG3nbS/5Vg2tLLaxsRGKpb2X/0Uqi6PFZrHrm2t4N4VWj1wlalynVs3GTeuBOzlss272zTjYxzdvZRNY8PFjKsYx79S1gVwXxUNmfrP0a+qJUm9decaT643lJr78SDL/EfCmm6I5Ug6P3It/ufnENF8evsTVQrKSU0iltJqiPW2xtr3/5G56gsSQf1esDeZ7T+1Omt0zN65EGaf5GN8+NXIv7Q1+dGH/rdZj3YzEI5fS/I8lfTU4Quu4rt81rTXn06E//jr6WXJ/g6o/lU0IopmHbNMe0/fcePXk2Pxe+kkHp4xceU9+BCloZzYS1ehX1aego3QnZQ+EOmhUuNl0KwqY86Xwh9IZFVl0ylUakxWwzVo2AwtiRlqqbEVC0Fq1DFDUyNgY0XS94raZHrzd2+ztganDhw8ZMu28+fJzp+d3FP+MRx1fMutIyyjpkC90QIbqiKMc4aA1vpUfFmFKxN+B1WetHlCHWDF4r1+9w/QMjUAGjXAMDfWxD6/fKBtDF1T87iNuoPonw7lKK6h8LKFRwcxIDSNO2ZzGEEZVGgzh8rCBF3/yTHqPIc6yXE7j+cjIq3JrRAxwxtLQOoNHOhtmntk0futXtwkduFy7Md42aFKo/5IUB29rRgundoe+Peqwiu6ev1DyXxf4aZ+/spq5DLRhbIgmDbEvD56who7vXxPvxG0/wsOG81/cvfeSDAv78vjpJ7SVh7cdTSrKyG9uG/v2RtiLnfODEvDPoXFtSOGj7QFn8/E7ksSp/I6yuXyjUh4X3Tl6Mhkzt7KRS6ZExI1RFYFlN0OEAdGSvIfdeMz/3OsiaZFrTzT1G9dcMiIwEV4NWhHaNTCOaC/eoXWHTnQ348ftHLfwZQ8fB2mGSmk+8x9AYJjEOiJMqEGv5Xv+bq+dEvHX1IPi71mKDSDZU9iEaOJh0cW9wclgLKJ6lkNWRIdNaYYl3b6TRqJMXMRoJNLpJ9Unlq26Z4EiMR5wQL9pHgggGBMhIoI+kE1nNKgGGwVu2hWFZlIDifKbvK+Uzsh3II7plBMNEETJT0mp7EW35xCXuljyrZv/gVEgLsWysnLRpk7OzRGEq9l6JUzeM3WbwcrYs6eOH406dTZyix+4xycWqp6vuJ36PSUd8oWOdMRRj3CJ/nLCIvwYNnuP0byV/WpJrnRs/Cs/fMnfLeHx+CxdveqSKolmBKELqo14RKkJKiGK0VwlWlLu5C2RNpJdLcWWSItL+crISA0jTtm8lDZKu2kyhMvBBsGL6DNfFHI5RNP5KLW8cl6Vx7Earaihy0g307z7iQ18RjRmIwin1ahRnbXT/jPu79EMnEp7g8mCIEKBdHUSCTFwJefxiK+5Gbj9M7tnjezTm7Y/Fuc8WPalmNvV3OdPE6dTfPwTWCG/5H2qEF/uMYG0gJhGIj6Ph1+CpQrlXovvb/Tq5734eBLxF8+wrHtbZp9qtXZZXyKXAxZb/W+ZT8PnR8PFN9B4CaHhcWajl05vRzs1GPmt5/K/yW11si7M6t170rqQ41GHNv/hNuVlFy9LPKcRYkJE9D0f/yt8EmOpmkuqlV/4GnBh6epWY/HjDu++ly1Ij9s3P/BWoYifm5WefO/xZxAUIjxAHqGC3oyilCe3n3wSB4porrIT5uTk5ObmSqKBGrpO82mtxW464n9DjFFxYywzMwdctb/lgD0ooTMOjBoVTqALsdV0njiqBfrprcGgsbY4UaIQoTLfkqhW8JQoUdnhH7MD6/JkLiDV7eftXdS9xueTf4xedlP6RyLAp1Z8PiIS8HhEzicRQ24TnYfK+LGMC5vWn8sQ49NuWN+EU9eydR2JeJIXlMEMpNNPqo9EDyhCwXWOg2UmPU8pSrtx6noahhA4KeY1fSCAOOUNy/yajWFZGV8BElDHoh+zoAWCkONWt6IISYcUTyGcqKKv+f3IpzJhhcKORrmknZKfktKSl5qu8xb1q3Fv97YbeUQhlnH2yDWd4Yv/6IgvSRxN1ivBkwMBpx/FLJ88aYrs8efifTdSwb0nFi1fsBqIEKarLmWowbRUhU064ogRLkhPuHvvFfnvspDywCJ8FzLrQN2Fy6Q/tgN8tTr271Wn8N1rkDoLP7x4laPfsUd7nDOoKtlogippqy6ohCwmcxU0pJtV6izRKG5Al+rGyEi6iCOqIadqrqodQTTwgH4IA1FgSuPyCDW0Nqi/rCGI4MWJM597DCn5jJUQq9F8JHpU3k5yvWWuUL/PqMHNbcZNcxEnR+zGHqN61e8zcngDaS5XmHhm27KQR3ws68ru1Xsvv0p7ciJoTfhjAfYldtfGww/SMU6rGWHh/9inbnB3+XPTvr0b/xwfKJoVtcsbSBC8ubJrWfA9vij/5u4Vey8m5b+9um/NjgtfhIIn4WsCTzzJ+HQrbNPGE8lCYfLJTVuinpZcaeUcEGa/vnV42dB2LeycB/Tv57Nfa3rIWmdpYoEgqFG/DUdWN4ya6LM8KGCB94ToFhsitwwuqZeTJH+o1m/QWKfj/CMH/O1qZtzaNWfskGE+6+K7r9vkaYbkPY8JWBbyUCDKPb184qrIJxKzqZoDSUqbplwKO46f0su48NaSbiZG3Vdlu8/zbsrmXZ7vtvaDPhYXvnbftRyM/yh05Y7oeGAKjRm8hytdOna167/kPrgaKNkEToXvr4ftWLjs6JvHIQtW7j56OwW/LHPb+00Z0N9/ahf8wx3h53uRu1fMO/BUgAhTT6ycuz3syhvEnsK4d5x0Uk5AE7FxO44fZ2/mPJ54G0GU4DsK81Fh2j1lT/Hm8k/hhxsRO5csPJgkQASvDy1esjP82jviPYO29cxdK/safbu13MXeberqg7ef3Axdu/tyJiZ4ErF257nEkm+1kdqkTeWhCn7cGn7yHq+uA//YsHPP5tlTDmvPDFrspIOXUz3Vj0Rq/QbgIkqiT06V/KF+D5eeRt+vzGxRxzG4yDTzHP28pgqEvETJMZb1JHLT9CWRnzHhx6NL5gaEnn6apUUJzaCOdG1BSHGDt5RUKwqWRzb1hCm3FcKJW6Xgq7mxLsVUxpsqPmmWM4TMT0yxOzhjN/U9cHieWZSP29T1uwKXjx26lvfn0R3D64rXZk3WK05zF69u+h+vhO7aIXtsXubbx2nOlQLqQaGXd13DVZc81KYFZLCBgyQjDoxw3r2FjradO1vZjolIxRcO0FBhKzMW4Zu9s8Isli7pJf9PNVDDgSu2jv4ePHPJlgUz9n8btnG1N8n3esseVLEraudq4Y++WgI71RoJ2pBHvKyXNg2va4ktfCguawa1MlRWeyqTEUTNZQ24CzbBy5NnUnoO6S8/eEAxosl8xNtX4hPVWJdOz3+OhsxoC96EEV1RU69/o9d44N8tJc4RXUuXGTvjcjAR/0PM0gmOzU1tB08NvIefv42a52mHf3MBrdtveWxy0qlFTo2NzXv8dfDMgal2BDNOk15+G69nCEWClIurJvRpoWfhMH7xiXc8kTDrbsC0wbbGDbqOnBOe8B3Dviccmj3ExpDEfO3Oy28k3r8YGRKwYvG/oWeig6Z1kd5iFxuIoHptp0Xdj/q7c32LfqvP3DrgZ6vy1zMkLeVfdNT4TbTlWgwPuJv86s7pqONn7r5+HbvEAWSJqH4bt//tuJctFIFrS/i8obYys0mbE4IUdxpz0bH+83T8o9iY6OvxD4/N7OG06OTl0zce39np0bReJ+/FMR8FIiz7XsDUgdaEKZRmcNvOjDgXff7o3A6SN6SKZrEb9xjpvy42lcdLPrF44vAu9YiLLrvR5KjoP5qKj+t2Gjpxyck3PEwkEn65vmnayF5NtLkUxnlZ2VBwkqhlN50YdHrd8JKxJi4nN59tSuKpuIN0z27U3WvSqnOfeOC+Mf+/86smefc0l4xrdosp58A4xL4lnQ74Z3QX226jxNRy7gVO6Wcp/ZAXCCK1icpDFfwIot1t5YPU1zGL3CyN67QeEXTl/Ip+JBcXoKhkUz8SKfWbszXRx7aYHPUsLvb09af3dw1r3lrtvCYPRInhsiPUyHbon7vuZgrBqJ5Od/4AABAASURBVEi/vmnqKFcbI5TGaFlHhBQ3eIdGsaKQTz12vS4K4cTFK/gK3lcijJ1BKJczsPCT+IlrU3qixg6LLiRcWzegmXFjxwUnbkVM66BfsrShjNcrjMcrspgcmwW4giEN4PLzsz48OT7D+O755zxKvs2aa77qktEhh005wrkd/gyLPnV2V9+kUxR/AbNsWLC8QovpQUu66yvBZjccuvvupSXdmjqtvHT/oE9L0qWtHIJKqFU3V3V/8NWSkZFEI7KIIxQhBx1Im4NyhY2j4fXexJbismbOJVvtqWxQc1mTmKjfa27oUreS78tJisFiw3g+yrpUzkHJksFYH7tem9Zy6RGq18Kmhdx3sxjJAY2061o7DHB3c+zQSK8URgAB1JtuvQ693YcOcu7Sopbk2qzaVqeBbe8B/bs1r8VWrSMvYeo3WtPc3sV9cP+OjVS+jEEmWMPmZCJIy7gmVk4DXO0b43RRvabdXbpa4IekbUEhuRmoQUtHN8eWJCMadCnDpqFxUk2oQSubpjrSM/lXcvPlW1TUMYVNTD1kN2zZ0sS0RUenAUMG9mE4F5iMRCr9GurTqdvWqV9nc7qRowi2TIGgMlpOBQVuvIV2GVcUHRVfNXBGu4zKEbR6o479B7u7dG1hRLYkMVivhJ/Cp4y7bePXw1C6oKKc6oYNrbq3bWHZohG+EjLgi4Nk+GRIh3LEsevY9OtnnpVq3NZKm1Jl6bGgBla9e5KvFoi2WXtn197tG6hZocscVARhMlcpnS+pKAdLSoSpHDE1kmHEpfI1bC7tRvuq6RAmtYHJZY3TuPtQJ0vKxIbBfKT1oyIqpdO+ImRDmZAAJAAJQAKVQgDLuRAe8yEueMW+G+/zJZ9bCrITopf7n2w+1Vvd7d5KMVFRiSAzLnjOindeG6e2IEtfFRsj8BQSgARoCcBkjhYPrIQEIAFI4GcggBp6LN3s0+TjXr8eFoY1jOrWq29ay9hqfLTprB0zO5Dezv6xXglTkrKtZ+/bOqZlFTTux6KB2iGBUhCAyVwpoMEuvywB6Bgk8LMSQPXb++2L+/j+SezRfdvWr1q7LeJa4pu7eybZlfu3JMqFELtRlz5tTfBPf8tFHBQCCfzmBGAy95sPAOg+JAAJ/EIEdMysnYaOHj9h3Ch3hzYm1F9G+4Vchq5AAj+OQNXRDJO5qhMLaAkkAAlAApAAJAAJQAIaE4DJnMbIYAdIABKABCqXANQGCUACkAAdAZjM0dGBdZAAJAAJQAKQACQACVRxAjCZq+IBqlzzoDZIABKABCABSAAS+NkIwGTuZ4sYtBcSgAQgAUgAEqgKBKANVYYATOZKQoEVFxRK/thmSWFFH2HF+YWCilYC5f+iBIrz83iV4xqDcVp5xlSOy1ItmGbrwg/DIMzPK1T9z69SL2hescpagzDNSNKYzKxKAIgwa1lOrX5Y7MvJfjoxmgXvVyZBR+lH1v2yyVzhwx2+Lr3dpu19nKd2gcMy7wYtnD17ileXxgYNu08Jfl5QSSHBsg6Pamhk6rg+AeZz5Y0cy0s8Hbhg8uiRo0d4DfcY/b9VYXc//yqUsfykswFzRzk0M23558Wi8ianKo92nJbJmIK357dOm7j5AUlKWvjm9LopIzw9vXwXhMfnyk/iosSoJb7DhwzxmB50N0u+AiEexU+2+s2N+aJaQdRqsNNoXSgTBg2MUm0qTLsftmrKwHb167kFfdT43ShtbFWVla5EI5KlUyHfS5B6J2S5n6tNvXoeBzPKOg6Eb09vWbmC5rEp5lVO5c5HeV8r/liT4P24WVDxHKq8hl82mRMW5GYXFX8+PXda4Cv6KAhebvccfcly7tqgyKuHxlV/sHPG0ph8+i7lVYsa9PRfvXLF7EFNSv52ZlFGhvr0s7wM+EXlCD6emdfbetDOnC6ztx88eCji8N6lrpzIse3tJ4YmVkLuU0aq6kcAqmXS0b1XzdR33zS+dpfKNrJxikjNLKUxwtRrO+cN72jbf0bQhaRckZJdBXHrBzou+uS2ITx8p6/2joH9lt7IwYg2WHrkpP7T47v9e2T74LQV7hNClPKXogdr58S2HO1sUtaljeG6UEYMhE9l27H0mjq5t/j++st3ZYpM5JLGlklH5m0YkmQuUF1LtEYL50EWuUnpRaUhoiS9+PGh9WEJuq269e7Xv3/fZp9Cly5cFlNgh584drLAHoWsO/RUVLnzUclCmlPp6KRpoqaKYfAkikq5GKixAVYzIlDWFY+Rkh/RSL/H3MjLV49MtRIWkrzrl7Oo+Pr2TTe0mzbTRxHUsPf606cPhS8boCvXoCIPUdPu42dPd2su+9ueWErYks1x/IrU+avLFn46NtFp6PaiCYePzHNpUhMf4ai+Rb+/I47PrnF0fG/v3UlV+gYdoxGgbVDL1MqyAbuyYqkyThE5M0tnDLtO53GrwoL/16bkfYzMm+K4dX5Lnnedu8zZDEVr2s9c2D9tre+iK3mggfBt8ObD6W3dBjXkmLm5238/ExCSKBfPgjur/nnotu5/rbmgbZk2ZutCmTGUyUZxZ1TPyNTCuoUxPtLFJRrtVWOrUXf1jZmRVC+HeQtAxKS5pQVY0pn3oWwp/G46MnDPX0Mc7Du0b9+uuYkOC2FVr9umXfv2Hbv0GbHo4M5RpoWsSp6PlMYqVsiNTsUK5mfMgleiqHSLAXN7YEtqAqVcAKgFVqEaLP1KwAWj8aNb09kk/BT3JEWko11NTELbwsmzf0s98Qldvwqpw3KvrP03Nqcc3k5WiHk/g1Dhp9AZU0Pe1fFa9KetjoLB3Fb+i8Y2Sjs5y3+b/OVfoc0PP9FgBLA5lZbLqWBRMbMUxnC4XIRjYlJbda7lxGzaGc/u5NzbUFyn27V/T4M3IRsPp2II//mzRKGugWE1YBPXxMQQe/3shezdWv7NlQufD/vX35IDasu2MVoXygND2cyU9S5FAGR9K/aAEckKMIHDKfsowM1iW3uP7kz57h6p3sXH2xbXVOUioDI6cW80fDIKnrKiKkdCQ6d/1uaohoYLMxMvRwbv3x9x5mGq8gdWgvSE2MjgvXuCj11OyJR7t4wIskDF1XfgIyHel/jzR8Kibn+Q9OV9josJCzl8/W2B+DMUqTXC7KRrkSH7Dxy9nJgFukmLBRnPz0Vd/yjkpd4/Hnr46tsCvALLTrp0+MCBsOibzxMf3E+QfkLKuxuw5EKbtXt8m1Je8wT52ZkZKRnfRAjGz8sEj9xCsRlknggLc0ALyZYnth8ryhUX5JT8coL3+cn5IwdDwk/d/aDoFLnxue+uR557UQgcwXIfB4wZG/SqqDgvKzMzq+Sb7RQwQBeyrTQR0jxACBOjBAXZYjyZmdkFAkTuNDNTTFBalC2NGhl5wkuKKBN1cjvBk10bT6Ujpn3ce1SXKxYf6nQe3K8h+u369oAbRQzDSeGmUixfpTN3VDwxBGRzhWoEYAUf7kaHHTgQcfbpF1nigoAbBGK3ECz/7fWjB8PPvSD5ApmkidKLlDsIj9rIEAZjJeMUITOztMZw2KorUMHVk7EZLLNmzWQR1G7dqin67capi+CjVm2utkjA5xMTlS8QsDhcLbEILO/a0kWvvf+dSD3hlSggCPlkpVwXFPqXEgP5iCrFDFQwpuQEy068FBESGn33k3iNKqkh14yAeMrWILwxLyP+3PGbn8CyW/DuZmToobPx8ksw3oJuicHrS540JCms0RQE6UQqMUDpiEKpUivFU13rDm1kn5woVhFn2q072uiBIwZTgLF6pfVFfKEDOqgEYCrXQLLRCQSQb+U8DcqTBGEw3YCjGgCaDiSgiIIuaTBUiQMBP3gTr4PMjBC8PTq5k93Y8E9auvxHGwdZNrXp2X+I9wj/nY95iPDDscl2HXyOpekacT+E+rZv7rT6AchQsLz4qDVjO5lb9fXb8yAxYmrPzs4jfMYO7WbTc/Gd3OQIvy4dXMb7+3o7tHVYehs0J+zgvTnyl8fUA4l87aJnO0a3s+y14FIGhmXGRSz3sDa3dp0auH+pa9c+XmO8XScHp/IS93gOnHM1v4YePz5oRKduf5/PBKsQLodr/7/AdePa0vyTacHr6A2Lluy49gUTpl7evnjhwiW7bnzFKD15c3Gjl7Vp7dqm3WYdf55OXFSLPj895G/XtN/ic8n54OqCpV1cPMBhYth7lq7oTaivbbMef8ekAHPIjd9748yWqQ7NmvccseFqLoZl3z0U9jgXxbDcB8FLFi5cHhGPqyCFgbtH+tQ8QqUJEMLQKCz7+bG/ncyNa5vaT496/U347c21HT62prWNGzrNOfowtRhcRr69iV3sbN7OJygO+ENBHtQIKKMMKuU3YfL5iy/5CKeFrY3ibTlxI602NpZcRPjx8rnHmWrCCTqQukkWSxe/9XsYO5pOOVdIR4Aw5cy8ge6Lr+bqVs+/MKdbi07+UYpfEvseH+DRrtPgib4jXdp1nnImE4xDYDv9plFk/nt1Tm6cIhQDVaywNMaIe5bsBcmPX2RjLNN69WTvwth1TGtxRN8TnyUKuO17dKxR+PlTuhDBvr55k8W17dROC3TGci4vXPppzAYfc1kvUEqzUU1WBCFfF5RElQoD2YgSlGKJVLJFdirKvbmsb/vuw8aPHz2oS+sOvoffgtWHqCXTDEYKTyG2WFbc4RWebc1tB0wPiXuwfXjHrkN8fUe72nWaEiMbVnRLDKFJfkdFktQazZci6gVD3gjpMalSaWX5vVJNAYbqydYXV3ChwxBKASSrI590LSFzsgKnQRlJSKylG3DkA0DzgQRUkdKlCgZ11gEk/biNeTInfLfb328ff0Tgjj9GePqtObzBhf/8zn+Wfx7YMaktt/jWpn/2JLT2Xek/3H3Mgm1/dC64FbTvdjGC6lsPmb10pC0bKXp+7FjR6JOvPqcnR4xulB+3derYzR8GHX2V/iXl2hyboofbt57CvxKDFMetGrNFb+7+1ZO8PP3XH9syhH1rre/CC4W1OnjNWz7GiiPKvPmo7uYXmWlvnsdH+Bld3rgiqdu8hROGDPNZEHx8uWMNFnOWnJYjVgZsn923Lptdv/+87YGB22Y71+FTeWJgNXz5vsV9DFis6o3t7RoS38nRNbeuq1PPZ8M6L+uaqDA5aOyoA8ZzQ9dOGj507IKw6FXWCRtHDlv9uBglNX5Kd5cZa/y6VRNbjBp28V+3YmgzNmrYbdrWwMBNEztwqWDkk/tYmghpHiAqo1RtQo07TQzc5tuMg2g3tGplxDayHvzP9rkOeqiuZV8vBwttBEGNWls3MHFeumuOA4JQjSEEKYplGmV+cvIHIcLSNqpNmsSj+nXq6KMgm0t+r6cmnFRuksXyWdTq2YwdNaPyk2wEFD9cPdz3lsPWPXNHuw+fsnpK1+Inu2etu14shS3Ku73viPbfN1Oy0h6t7amTHLY9Mh1co6XVVK8aRaZx835y4xQhM1Osp5TGiDuX7AWpKSBTQ/UNDErSMraODpdzg/5TAAAQAElEQVSFZaanY2gdryVLHN4fWLr/xL4FgS/azV4+thEbwbIuLFj5dcL60eC4RBLNEfVkRRDSdQFVElYKDORLW6zGS6SSJSWnwsRzd5psfvol++uryOlt0YR9kyfvfCME9eSaL+QjXIXYokYdPOcu9LTkYN/u7I+qNvvqx/QvT9f10HobuvVIGjGsaJcYoEhpIydJYY3GSxHVRFIyQnxKoVRcWW57yilAoV51JSdbX8CFzoxPfl0ElpOtjtSjE3SQ2ypuGmhKQs4o+UPaAUcxADQeSAjVYl8RWYe8d+V8rLBG0couun3xVi7LrGFjogtq2KuHDYf/6tFj4o8GcBp1cR3gNdC+Jl4pQLW0tUS5WZK78+zaRuDKqt3ac7aPfR0OwjYb4N7NACk06j1/tqt5dZDvtXPp2QjNe5+M38QqOB+wJ6Ve7fQr5/DHhXvf9YzZgk/nY+4D21g1a+ixWLWd/ca11uUYmrdqYsTBsrOzkqJ2nHiLX97Y5iOneZrrsEDT0m90nqANPPwGmgmfhu+/h+tDECw18tBn5/FddYG+wtgN664Iuw1wAs6CU4RtMXamR/3C+1vWHM8C5yTGg1ItQ0M9anspYYi1g/4KW2kjpFGAECqjFEyRnWh3HutlxUo6eewRfp8RYTcYOMhOK/N8+IkvxMVB8OLIDROvwXXxYUNNnnmUMV4xT4QgWtpEri2zQnbA0q0GxodIwOeBaxxtOOncJIslc0ep/ZSZKTnAck5u2PK0lceI5hy8BK3t6j/DvV9/+4bEKV7Eqt5p8grfjnW4iE4LV6cW7KL3ye+Jj0XxSvonc4OBHPpxChrgWxmMwbvLnjw+D2FxuNpashIw0zAMEWFCsEe41tNj7uxyEXz43jvgzvnFnfURLOPMvHV5/uu9G7ARLP3ahnFuru5u7r7bbmYSg0xOjPSQbrJS9ZH2VfdKhYFmRGk2AykNYLf0nD2yDXi3omsx5N/gWR24OddCjrxGKKcsvqgiiGJs0Vq1wPtV/U7+yyZ0NOYg3Cb9HFuyeZ/eiIcV7RJDaZdiBQ0HRCMQzCcSNQJF08p8pmns75Ou5CTrCw005qujint000ClsWYFmpKgkE474GgGgEYDiXaCkASjDMQp3CyfYpSxGHat2gYsUerH95LFTkuLg6AGJqbVcRHsRh6bTwRPqp9wZOUkz9GLzoO8TCgE10tCOouNshAWi0WcgB1LX686OAEbOAEbW1evGorwiotFCC/hblyGqCjz/Tvx432+jf+WwO0L3RuDdgjKwnXJ+oEiHadRHg3eB3u3tXaduedmmr7ryEEmeBtQVcqN1hPEoL+fZzPk9eFdZ3OAfGHyoaPYkDGt8Gtr8YPTsf+JapmaaoEK8aZr72CnL8q+c+Uhfq5qPF7KRqnNpYaBK8R7Kz5LHSENAkQdIUVbZGecNiO87DivIkNvFYEy7POFayk1a+ZdDD2CfymHFxdxu6FHPwNQgyDU5JlHmV2rliGKiIry8sl/ECwqLCwSIahhndpEmKjDScmeMJUslowdpfaTkC234z+8eidHx7Su5O0BSIUHrYk6FTCqScktK5QtPUb19fVYouLvwD85ETSHjA3GZbBR6nGK1xNPlF1qY4j+4h2xPIiEAgEmPsf3wiIeX4Tq1aghVsA1sx8+ecb/RvZsDN5GYV+i/9komLZuGHhLIHwTNHroFqFPyLGQccJ/3b0Dk6WLEC5F9qSdrOQjR9ZX/QHKFluJgDeqJTGhHVGazED1BuAtOJauzpZagrcvk6inLLGoIggblY8tG2WDxRpfsnExCFqjpj5LxCsCizM4V1li5C8CoJ7BRssB0QQE84lEjYCBwRo1QdlsSXv5+Ujpc2PylVxlfaEUAJQxXx1BY4WNdhootCzFCcrWiASFBtoBRzcANBlIlHSJCaISDKT0xCm8LKdi+WlML1LHcfosx5ovQzdGfgDv/XnvjsU81LWbNtUZLKd4x+JXh2c49p2XYDtn/+FtI1tp42WaP0U5mbkipF53X3/5x+TxvS3IZaF1Bu28eXHzuDZ5lzZN7Nmy/di9z6RfvSPvwKCU1hPtThPH2XE/R+8+moLxHoacMfb2rE8MWmFq6hdMJADXnBIVXDOz2iiW9w1P/EpKGR9RwyA0qsj5sRFSMUdSwG7q6d1V58OJsNh8RPB0d1TNJds96hfdCA1NFBTdjHhiNcJR9j13KvLMo6zVpn0b8EaB/+H1WzBIJRaUvGDZn1JyMZauTcf24lt3lOGkZF8iTPmIuaNUfipLFGZl5QqLcnPwNFi5TvUcvGNCEJEI3JhUrSMtYW4waXfaQo2NKZHGsbBoiCLCb9I7+6BGmJWdK0TQBubmKhc/7HPknK3oH6sG42/iBM9D9lz53s6xdy22oWPfDryruw88EYD+yhvtZCVN/5QlMDyXw1CKEcVQCXkz1MSkFkvE5/MRSs0Ui6qiPMIFaZGaJUbajO6V0hq6ThR1TCcSNQIKweVRTIATz0dKny3IV3IV9ZQCQEvmqyNorLDRTgOFlmU7YUKCQoOaAcd4AFCIFxdT0qWYIKUnLtZXUXvmyRzCbTM9eLu32dsDU4cPHzJk2nnz5edOz+8o/p557sW/3Hximi8PX+JqIcnuSmUxS7+mnij11pVnPLnuWG7iy49y54qHbNMe0/fcePXk2Pxe+kkHp4xceU++r2JbBmfqPOE0H+Pbp0bupb3Bjy7sv9V6rJuRGCHb2NgIxdLey/8ul8XRYrPY9c2JBJ+BbqUm1DAorjc/NEJKxpecshsMG+monxZz6OynMzvut5s4dKDP8GbYo0MhN85GvLbzthenVQhCQx7cPWAWZdTQZXjfWig/6eY1/M5fiRHio4K7917w0Vp9RwyqI44aQhVOSvZiQaR7ho7S+qkgmG1oWAMtenzrlvxXa4RfXr78QjEAFHqrP2FosHpB5dqCbdbNvhkH+/imJB8XfPyYinHMO3UFn6Mq6BKmRPwdWH3W6gHiePJev3qH6Rka4W8lOYaG+tiH12/IVgPayaqSLypoLPVJaUZUqZWBjqLCgiIRu2ETc4RSM/WiCvqTb3RLDHkP5VJKa5Qbqj1nPpGoEahVUi4NKH1W/C0TtS5KAeIuqtdAcbmaPe00UNO3lNVqHFGVSjfgNBgAqoLlSiiNop4gqsTJ1hk5HZVxKLmmMVElTN4zdZvBytizp44fjTp1NnKLX6daku5Fd46eTMbMrWxkN1k0u0cgU89tY9/eCHuxc35Qgux2ROGj7QFn5S9nstYIUnRxb3AyuLKhepZDVkSHTWmGJd2+I/6urlwrukMMPESICP8yDt5MvSdo3aET3c34cTvHLXzZw8dBmrpqd+jbow6r6O75Czmyj4f4aZ+/spq5DLTBJTN6skArYBDYg40aBsXdlx8aIWAwxYbWGTzS2TDzzKbxW7+6TejA5dqN8bZBk0L9l6Q4eFtLr5005DWIMmo8fOHsLjWLbx3Y81A2giR2CT8e3nc6o0aPuUs98ds44lKKcFKyF/ci3zNylMZPXKr8CNCy6dxeX5R67N+dL6RLBfbl9Pr9T1C8Fd66jE9GBpPqwA2QDVTSFqUv5LYf4WHD+S/u3nsws3Ex2JfHTz+hrTy87aSJP16KIMKPYbP3GM1b2U+6DrHxj5rBzShiBvJ4fJauHvEtEHHzkj3tZBXrAM5hcutCSV+FIw0wlGpEKSjT7KQw/lky2sptkBV4F67Zokqnh2aJoeqmRLLcOKiZSArmlJtSBAOjAogWEUMMHDDaKNXnU6zkylIpBYCGpKsjKEcQdaOTdhogxAMDj/KcBnSOEAqVdzQDjnYAKMuhO6c0qsKyDjprSl8nycYYCBA8ORBw+lHM8smTpsgefy7edyMVXGdYurrVWPy4w7vvZQvS4/bND7xVKOLnZqUn33v8WYjw8c8ehfySzzuEeOqECaQFYLxgIhGfxwMTRM/lf5Pb6mRdmNW796R1IcejDm3+w23Kyy5elriFQkyIiL7n50s7IgiWcWHT+nMZoCOo125Y34RT17K1+F06KGCyYZlfszEsK+Or+MJB74lYYE3niaNaoJ/eGgwaaytNRRDEwO2f2T1rZJ/etP2xOIvAsi/F3K7mPn+a+BKkajwujYd/DCLg8YhJjYJrDwfLTHqeUpR249T1NF0qGCVacRnSZ6kjxNcgQAhVhKRWkLyC+2Uj3Uzz7ic28BnRGHywwGk1alRn7bT/jPt7NAOn4h4s6jGU8uUC8yhzrWeG7ZnY4t02/4WxGeKBgSvAcu//O2HBrcZTg0P/aCO+XuPF4EkeTlo3yWOJIEwcpfHzM4IqjICbwsHTfSy18q4vcB00Z8fhqIigBV4ua1kDBhrj0xYkLSCfEYjHLYKIhGASiXi8YmIoIYL0hLv3Xkl+gwS8JN+YGEz0VBinSmZeB++e6I0hRJDtRMXFfJFIwBePf2kLjtX/lvk0fH40XHyDnpcQGh5nNnrp9HYKcRO+C5l1oO7CZdJfHIHeWh3796pT+O71f0JE+OHFqxz9jj0kn6eDSvlN3WRFEKV1Qb6z7FgxWuow0I0oviYzUKZf5eDb14xicaEgcV/gVRP/DTNx/6k0E4sqgvDk1yDR96JiEf6NRfEwUhpWdEuMWLHqXpkklTVETw1AsKgXDHDRQRA+cAsB8gi5tEqLUp7cfvJJvGoTral3wuxM8GZd9C03t2RpkbQm9AnJ5yOVekvylVx1faESAHSTXgNBOaqwluCjExQqbhU0DUpDQtEw2RndgGPRDQAQeBHCMOmgvKYRE0Q1GKTENco6ZP6V6wF+VWAmkNPcxaub/scrobt2yB6bl/n2cZpzpUDbfvyUXsaFt5Z0MzHqvirbfZ53Uzbv8ny3tR/08q7vWhZ8jy/Kv7l7xd6LSflvr+5bs+PCF6HgSfiawBNPMj7dCtu08USyUJh8ctOWqKfZ3I7zjxzwt6uZcWvXnLFDhvmsi+++bpOnGZL3PCZgWchDgSj39PKJqyKfZGNis/nJe7y6Dvxjw849m2dPOaw9M2ixk464Ru0ey3oSuWn6ksjPmPDj0SVzA0JPP83SovTEoI4s7+B2HD/O3sx5PJGZyNRwWs0IC//HPnWDu8ufm/bt3fjn+EDRrKhd3g3YGKnxwpTboWt3X87EBE8i1u48l1iIIPo9XHoafb8ys0Udx+Aic2NUhxwGRdBKFaG3uS/2ahQgjMIoGQeyA/0+owY3txk3zaUmUctu7DGqV/0+I4fLfWxGPYYM6qAaRZndcNiOqxf/tX84o5ez39KA/cH7ti2d5NLL77LV+suXNg2sJ4sjYQuCkIeTwk3yWEokgQiqdZTOT9BfcQTUcFh5JHBUS+6nc+umeA0ds+hirb/2Lu9RHSlMPLNtWcgjPpZ1ZffqvZdfpT05EbQm/LEA+xK7a+PhB+lF9xY62nbubGU7JiJVmu3JbFQ4UB8Z5XGKd1cYqKaZ52iNkcxUvJ/8s+Dl+eAtK8OfCrD0S4ErZ1ZKiAAAEABJREFUdxy7X/LhMWrUb8OR1Q2jJvosDwpY4D0husWGyC2DiRRWKkH4Zu+sMIulS3oRP6CXlKKGA1dsHf09eOaSLQtm7P82bONqb1NUUqf4Qj1ZQR5Hsi6Q+6AvHy11GBCKESV4c0WzJZLMFi1Ldz8P69TNrg7jVuzcH7hg9P9udN97dn0fQ8J9Cs0oIlRcgx4/Obdz9aFHAiwjdueafVeS05+elAyrizvXH7r7GaFbYhQBE2dkKyxGxQHREERiCx+Ki45BrYx74Wv3XcvB+I9CV+6IjgcXCwoEwEzew5UuHbva9V9ynwfOqDfB22thAfNWHAfvFATxwfNX7Dp2Rza31M1HqkWTiI6CSqr1hdp+kLaqXgNxmQqTFFxN8DKlZ/lPg1zhA3Cdpl6ZKKOvZJnklG7AUa6k5XdNI71wA9M0uh6B9pWzqY4mKr0Yj1dkMTk2SygSP4T8/KwPT47PML57/jmPa/3n6fhHsTHR1+MfHpvZw2nRycunbzy+s9OjWfNefhuvZwhFgpSLqyb0aaFn4TB+8Yl3PJEw627AtMG2xg26jpwTnvAdw74nHJo9xAYsPlyL4QF3k1/dOR11/Mzd169jlziAVRzVb+P2vx33soUiMNrD5w21BQ2BpdrdVj5IfR2zyM3SuE7rEUFXzq/oR7F6g8bKG2pkO/TPXXczhSKRMP36pqmjXG2MUEpPzNkl/dlNJwadXje85MM6cRVat9/y2OSkU4ucGhub9/jr4JkDU+3waw258ex6XUYtjvkoEGE59wKn9LMEH9iyLSZHPYuLPX396f1dw4hEhxSGWJvKvlQR8nborWmAEE2Mklip0/OfoyEz2krfiKKmXv9Gr/FQAEhNXlfjKKO1Ok4MuPzs/r6pDk2MatRq7jhl380n5zaOtjUgG/Bs8nCSukkeS4mX4EW9o9R+ghGmMgJ020wIeZr87Gp09IV7Sa9u7xhpib9X0bV0mbEzLgcT8T/ELJ3g2NzUdvDUwHv4+duoeZ52dXQ6/BkWfersrr5Jp25L7tUA20g3tQYrj1NcioKZzVvTG0OGHAip3tJ57F+7H+BGvzu13H9YRxPgPygnNlSv7bSo+1F/d65v0W/1mVsH/GzxP7JPVBE7LK/QYnrQku76xFnJjt1w6O67l5Z0a+q08tL9gz4tuSVVSkdUkxXcXyVbF5R6i081wgC6kI4oThONl0ggSmlD6/ScfSju47ur/w5rZVzHetT2s8cWO9eTTjeEasoqxbatbb8pQQ++4cMqesn4Xk3r2AySDKt3xxeOsK+L0C4xSiaBU9IVFpSTckA0BWFiS3HRMeeadvIWL63Z9wKmDrQ2xIcguVKApu3MiHPR54/O7UA9WIDNCMei58ip/15NE4pEGO/NySV+wzqbsfEK8NRVMx+Bfir1oLf8Rr2+UAmgvAYqjM4GUlPllYHj8p4GI3u50a5MQCWVI6BKZaMdcFQrabld0yiCQUlcxfzKLQCjjJFC4afwKeNu2/j1IOYF3gXlVDdsaNW9bQvLFo3wRYNrYuU0wNW+Mf5/TVG9pt1dulrgh3hTzZ9oTXN7F/fB/Ts2qk5rIbthy5Ympi06Og0YMrBPh0alVyhvIgNPUINWNk3xq6p8P/Gxdl1rhwHubo6ltEanblunfp3N5T1BGcGoohESQ0EQdr02rWuVxBLVa2HTQu4bluJmFORLG2VUt4FNz36D3Ac5d7cxA7myWAnJnjqcTAdiiVAmjlL4KRaiOgI4xq16urn16WhuQLEiizvK79l1bPr1M89KNW5rhf8aQL5K+ZiJwcp9wLmqmaCwfDedBra9B/Tv1ryWqtuogVXvnlQz0Ky9s2vv9g3olw7CVO2yTVYgQ0d1voJSmk3zEUUjTKlK26RVd9chQ1y7WdbCl2Sl2jJrVr/EKGmkOy2zNbhw2omEN1B6kipFDVo6ujm2JH2fp9S/jKek6jWRSSaAbnVkODq1K30akDmiCkL9gNN0AKjqkCthZhS4llVE1iFnR2kPSy6vtBKwnAvhMR/iglfsu/E+X/K5jSA7IXq5/8nmU72Z3wyjVQIry0AARqgM8H69roLMuOA5K955bZzaQjUT+vXchR5VAgG4xFQC5HJS8UuIgQNOszAyTOZQQ4+lm32afNzr18PCsIZR3Xr1TWsZW42PNp21Y2YHHc1UwtYVQQBGqCKo/qwyhSlJ2daz920d0xJOzp81hlXObrjEVLmQ/NoGwQGnWXwZJnMIqt/eb1/cx/dPYo/u27Z+1dptEdcS39zdM8muEm5Oa+bR79oaRuh3jTyJ3+xGXfq0NSH5qI2kbRmKYNffigBcYn6rcP94Z+GA0ygGTJM5sVAdM2unoaPHTxg3yt2hjYm6L+OI+8B9ZRKAEapM2lAXJPDbEYBLzG8X8h/rMBxwDPlrlswxFFrOzaA4SAASgAQgAUgAEoAEIAEKAjCZowADiyEBSAASgAR+RgLQZkjg9yMAk7nfL+bQY0gAEoAEIAFIABL4hQjAZO4XCiZ0pXIJQG2QACQACUACkEBVIACTuaoQBWgDJAAJQAKQACQACfzKBCrUN5jMVSheKBwSgAQgAUgAEoAEIIGKJaBpMifIzyusWIvIpBfn5dP/E2SyTrAMK84vFMhjKM7LK5Y/r2rHv2WcseKCQsk/VamUePyYKVwprkElYgJwDwlAAr8dAabJnCD1TshyP1ebevU8DmZglYQJy0s8s/3vET2amtrMukafhQgynhxdN3PCyGHDvEaOGjHaf+HW8NhbJ1atPvalsowtVyZY3svja6eOHO7h5TF8xORFgceuX9u9Zm+CQmamRiGWdXhUQyNTx/WgV+HbS7sWjHFsbtp0yukfkIursRRhHueCt+e3Tpu4+QFJal/45vS6KSM8Pb18F4TH5/4MUccy7wYtnD17ileXxgYNu08Jfl6AVOTjh0zhinQIyoYEIAFIABKQEGCazKE1WjgPsshNSi8SSXpWwgvKNe00qHv1/97n0WUxWMaN9UOtbMZECrv/FXD4WERY6IHNk63TD/g4DlkS+SK9Ei7rRRkZeeWoBsu+urB335Wf+644eCTiSNiGsQ3j1wx2nBLy6pucErU6UYOe/qtXrpg9qAkH4dZqO8DZJONdrqA8o1duI4BJnIWp13bOG97Rtv+MoAtJucpuFMStH+i46JPbhvDwnb7aOwb2W3ojRw5WuVlajoIEL7d7jr5kOXdtUOTVQ+OqP9g5Y2lMfjnKVxH1Q6awihWwABKABCABSKD8CTBO5vSMTJpbWugzbV8+lmob1Kpna9WYTS0Ny7m2sP+A+U87B5w/9M/g1gZEU24tm+ErTp5f3atGXnZOhX+ChaWELdkcx6e2UcMaweNNf2763H/FqkHm+D/W5Jp19g08vXtEA8I1iSwmOlHT7uNnT3drro0gnJpGZq2bK0iQCKoaL+rjjLDrdB63Kiz4f204qiYXx63zW/K869xlzmYoWtN+5sL+aWt9F13JU21ZdUqKr2/fdEO7aTMwo1DD3utPnz4UvmyAbkXah+r9iClckR5B2ZAAJPAzEYC2ViQBVBPhHA7JlVQTAaVpq8WRz2KUJORdXei3/hGn/4IVg+oquaLTetraqY0KspVv4ihJKOsplntl7b+xOeWnBcu4ezuhGMOEWIlpqInbNG9LGfxS6WTTcSxR9cOOaOMMrOJwuQjHxKS2UphBTU7Mpp3x7E7OvQ3Fdbpd+/c0eBOy8XCqHELQriptwk9xT1JEOtrVxCZrWzh59m+pJz6pSDt/yBSuSIegbEgAEoAEIAEEKfvlg/f5yfkjB0PCT939UCC9eAoLczJlj7wiAjRWlCsuypF93VuYnXQtMmT/gaOXE7OUbqAVpz0+FxF8IOLSq2/UeZLwY+ja4NcCA0fPQWYkjnDbjnRvI5QTTGYqLy9LwSxBfrbCObCdlxF/7vjNT0BQwbubkaGHzsZLrcVyHweMGRv0qqgYl5KVJ/sqF4Vngozn56KufxTyUu8fDz189W0BkK68odUMalQTpYbP+ePIm5LvCXJtunU11cLbkuokFYzlvrseee6F5EtyKMLCu4ufggKJl8DXkt9EUFgt7kK9F6QnxEYG790TfOxyQqb8B+LU4GTCGMVZ1hrhsNGSE8lRwdWTsRkss2bNqksKEO3WrZqi326cuqj8Uauc29kFAkTuNDNTPEylRdn5UkcooJASBwZQNAc1sg0fYhkpGWBgY/w8EIDM3ELZxCGdEYIsAPjqOzAAeV/izx8Ji7r9QTynEN7nuJiwkMPX38qmHqGFMiJErdKOgcVKPar6KbQPEoAEIIHfjYDqtVEDAljaxcUDHCaGvWfpit6E+to26/F3TAq45GB5by5u9LI2rV3btNus48/TiRyn6PPTQ/52TfstPpeMfzWI9+bIXx5TDyTytYue7RjdzrLXgkvSH1bkx20f1sl11d3CapzUiAkDVzySXleVTMO+nou5lS/iWHboUEOpSnzKbu4/w118iacyVZiZfCtqoXNjY9MeKx8DO7Hst7eO/dOnoXFdp7UvBFhW3OEVnm3NbQdMD4l7sH14x65DfH1Hu9p1mhKTiSFY9t1DYY9zUQzLfRC8ZOHC5RHxQAJC6hmWGRex3MPa3Np1auD+pa5d+3iN8XadHEx276iGi6+XBafwxd4Rnbr47riTDoACd3T6//G/9lxVnYeu3yERvPfGmS1THZo17zliw1WSHwNg2c8Chjeta9n/z+3HLj0nNJBaDfSq2YQfjk226+BzLE3XiPsh1Ld9c6fVD0D2SA9OIpNpnCXNKV4EyY9fZGMs03r1ZHdw2XVMa3FE3xOfJSqOHCz7+bG/ncyNa5vaT496/U347c21HT62prWNGzrNOfowFaTO2Lc3sYudzdv5BMXhVEihUIeStLmK2YLX0RsWLdlx7QsmTL28ffHChUt23fgKsjmy3oK8+Kg1YzuZW/X12/MgMWJqz87OI3zGDu1m03PxndzkCL8uHVzG+/t6O7R1WHobYMd1UUQEr1J9kukEpqg2hCWQACQACUACVZhAGZI5YXLQ2FEHjOeGrp00fOjYBWHRq6wTNo4ctvpxMWpgNXz5vsV9DFis6o3t7RpycQC65tZ1der5bFjnZV0TKY5bNWaL3tz9qyd5efqvP7ZlCPvWWt+FF0A7LD3qfx7LCyYfi1gy3mPUX0ERM9tjFPfm+AnPEotELC356ziQQLJRm8qu29ZtnJ9LU46kF2psPWCcX/8m4sQANergOXehpyUH+3Znf1S12Vc/pn95uq6H1tvQrUfSMNSwi/+6FUObsVHDbtO2BgZumtiBS+VZYa0OXvOWj7HiiDJvPqq7+UVm2pvn8RF+ZDcUUUOXf6O2ezevjmU+2julZ6tOYzdfSQGJBoI/VHRO6t2ZRPCU7i4z1vh1qyZ3Mw7vLXliBR/uPBQN2X/rRsjiSR6dG7CprM6XdKB8Kb616Z89Ca19V/oPdx+zYNsfnQtuBe27XYzQg7XousgAABAASURBVMPFaRBnvDn1U5CaAvIuVN9A/H1JoiFbR4fLwjLTlX79ghp3mhi4zbcZB9FuaNXKiG1kPfif7XMd9FBdy75eDhbaCIIatbZuYOK8dNccBzM2xSClCiWffEyrMOS0HLEyYPvsvnXZ7Pr9520PDNw227kOSq4sVt96yOylI23ZSNHzY8eKRp989Tk9OWJ0o/y4rVPHbv4w6Oir9C8p1+bYFD3cvvUU8R1BqogQXJR25DovqFis1A2eQgKQACQACVQxAqVP5gpjN6y7Iuw2wMlALINtMXamR/3C+1vWHMd9RBt4+A00Ez4N339PnIhgqZGHPjuP74p/ybvgfMCelHq106+cwx8X7n3XM2YLPp2PQRDewy1LwnJ7jRtpLk6n2GZ9nWw4uEDVp+jbt3yQ53G52izVSvkSNaYiKEvsgqQPqsXhlEhEa9UCSal+J/9lEzoacxBuk36OLdm8T2/eK971kfSl8uw+qGfVrKHHYtV29hvXWpdjaN6qiRGFY0h1a7/QuLuhfznW1xZkPgz5s69VF98D8ZQXWXLBWoaGeiVuAP3iTZR1Y+WIucljg3eNbK4tLkIorRaHTtKK5IXTqIvrAK+B9jVxgAJUS1tLlJsl+RCaFpwmcSbRK1/E4/MQFoerrSVXiGEYIsKEYC9XSBxqdx7rZcVKOnnsEQ8/ZzcYOMhOK/N8+Anx37ARvDhyw8RrMP4FTEoooB8Jccrm6hgCcQhlBEAlu7YRmGLarT1n+9jX4SBsswHu3QyQQqPe82e7mldHUP12Lj0boXnvk/Gb4ghdRIAw+Y3SYvlG8BgSgATKiQAUAwlUIAH8Ilwq8cUPTsf+J6plKv4iFyFC197BTl+UfecKcYYY9PfzbIa8PrzrbA4oECYfOooNGdMKz194CXfjMkRFme/fiR/v8238twRuX+iO8OJPxLxEGjRrVg10ITaWtrYWSUqC17Fq6INsRVScX/KtL7xY5aneVJUu8gVslI2wWGxUYgVao6Y+S8QrKgZ5pHwz4pjSs8Z4tThplMgBBVjmk9OHI2SPw6eeZIBS8Ybqtxnx78XnceH/uFhUF2Y/2uvbf8wB/GtT4mrFvbJgcS0bVYmuKOv6P/09znfdtmVwQ7a4FdhTW41HCzSg3NiNPDafCJ5UP+HIykmeoxedB/mEUPYtRTY1OI3iTKmdqGDp61VniYQCgdzHg8IiHl+E6tWoUeIj0RbfcdqM8LLjvIoMvVUETrHPF66l1KyZdzH0CP6lSF5cxO2GHv0MQA01FFApyf9LQolQN1fHEBdH2RuvJMYeiyVTRniMILJztq5eNRThFRMjkjYiiPyDUicxVuVbwmNIABKABCCBqk1A5XLP1FxhauoXTCQAF82SHlwzs9oolvdNUqLdaeI4O+7n6N1HUzDew5Azxt6e9YmrqygnM1eE1Ovu6y//mDy+NyJ4m/xR/B0xiQy6F63Wti3BB4n85ISXxF0WqrYMTKXqSlYuzerI6ig9syBrLUg8+Ncob9lj1MzgJNBM+P55guR7bmjNNp6rYp7e2eXZhIulRq/YfJPRbR4ghGITFX5O/pRxd9v8g2/kMFNbTYSLQpa4uPjV4RmOfecl2M7Zf3jbyFbSe33iSsW9HDiN4qwoRfmMY2HREEWE36Q3BEG9MCs7V4igDczNyRIpdlNP7646H06ExeYjgqe7o2ou2e5Rv+hGaGiioOhmxBOrEY7E1yypoQANqht1c/UMEYSyt6oitSXFDCNCqZN0rKpVCxtAApAAJAAJ/DACpU7m2MbGRiiW9l7+d3Qsjhabxa5vLvWG03yMb58auZf2Bj+6sP9W67FuRmJ1LP2aeqLUW1eeyedgWG7iSwTV4nJYgk/Jr79LZdC8orVdhvUyYAnenIt+TJHkCPPzCjD1pspuctBoY1RF6dlHsu6cVhP3nDore5zaM6k1aFb8aO/u6/hdI3CMb6iele/OraMbsoWfEl/m4iWlf6L1PYJ2T2z69eSfo1fel/2WltpquYyPVGnuxb/cfGKaLw9f4mqhS9qCvFCjOJOLkJayzbrZN+NgH9+8FUiLBB8/pmIc805dG5AmUuwGw0Y66qfFHDr76cyO++0mDh3oM7wZ9uhQyI2zEa/tvO2Jr3gi1FCkahReqZurY4iLoeyNV2r0ZB4RSp2kY1UjI2BjSAASgAQggUolIM6uSqFSu0PfHnVYRXfPXyj5+w/8tM9fWc1cBsrEoXWHTnQ348ftHLfwZQ8fB+nlntvGvr0R9mLn/KAEWdJS+Gh7wFlEy7ZdGy6SE3soEnxgJxODiDBMSPKpJmrmveB/7XSFL3cv3PlSNZ3D0i/vPQISRm01prJ0dXUQpPi71BasmMcTIZhI7nO7ElNUjvBEEJN+OYvSM9Lvu6GGlt2d+8kezt0tDXHxWMalk5cVO+i3bduUjdZu0LAG3oD4hE2mkyhhvGPVdv03ZEEn5N6K0X/EpIldpLaaBLq8pqI7R08mY+ZWNsS9LHGNSKSmE95MszjjPaif3PYjPGw4/8Xdey9Jm7Avj59+Qlt5eNuJ0zKVrmidwSOdDTPPbBq/9avbhA5crt0Ybxs0KdR/SYqDtzVH3J4airheaU/dnBQHiB4mwse1WAxlb3E1870GEaHUqTj0mOuGLSEBSAASgAR+EAGNkjk+n48gfB7YAWsN3P6Z3bNG9ulN2x+LsyAs+1LM7Wru86fZgVrpVtN54qgW6Ke3BoPG2kqukqBKz+V/k9vqZF2Y1bv3pHUhx6MObf7DbcrLLl4Iu9HIacProV9jZnktjH5TIMx/e3bHsecCUUFOtlgr6Cy/6XScF7p5cL282L8HeK45+yZfnJyAFsKsh/vmr0qyHm5viCJqTGWbNWtigL2/dOz6ZyHvy51d8zZczhJhWekZxK0e0feiYpFIKJD+JyyREAP5Co9HfEMJQXX1qnOwzKTnKUVpN05dT9Ol8MwS2IQIMSEi+p4v+xNmeBnZU/hf+D9zTqUS6ol64cdTZ55Ws5vs7wSyThWdGIVgHggX+CAcJKZACPYd/06VkA+E6nacF7LB1Sh5n++4HQnFoA6hioclHjJBesLde68kv2rAW5c8Wbq61Vj8uMO772UL0uP2zQ+8VSji52alJ997/FlIB07TOEtUioqL+SKRgC92SVKIcKz+t8yn4fOj4SBxB2W8hNDwOLPRS6e3o8jlEAQ1dBnpZpp3P7GBzwj8/4twWo0a1Vk77T/j/h7NZDfzKKEAHSTEKZvjDPEuCk8s82s2hmVlfJUkoFS98U58Hl+EEJHDz8BTiL93wAQglOAEQYjEUMTn8cDop40IaM0HY0I6hal0EmMVtIUbJFCuBKAwSAASqDgCTJM5Ydq98LX7ruVg/EehK3dEx2djCKfVjLDwf+xTN7i7/Llp396Nf44PFM2K2uWt+NkWt+P4cfZmzuOJi6bMD52O848c8LermXFr15yxQ4b5rIvvvm6Tpxm4zNYZsjVipUv9/FurBzU31G0w6LBBh5Yc5Put3fO2nEuW/1hWIkvbcmLErZiV7oZ3lgxo2cjSvrfbkCGuvbs7jA3hjl7pb69POKjGVF3n/83orPtiS98GusZd13wf/oezKSr6emnb4p3nrpzbufrQIwGWEbtzzb4ryelPTwatCX8swL5c3Ln+0N3PCKLfw6Wn0fcrM1vUcQwuMjdGqTzLex4TsCzkoUCUe3r5xFWRTwBAiQcqLyyuWQvD+7Mcu3nOXB8UHLJ73XRX13/5fmFH57UXfyVNXmeh8ZfTqoKFKbdD1+6+nIkJnkSs3Xnm7pPj25ccuC8Q5d/av3rfpVfFes1bNtIWpZ+f6TJ47o5Tz3O55PEA8Hj3Fjradu5sZTsmIlWSeJQYrG0/fkov48JbS7qZGHVfle0+z7spm3d5vtvaD9rZF2nBiTSNM1Lw8nzwlpXhTwVY+qXAlTuO3f8iMwc16rfhyOqGURN9lgcFLPCeEN1iQ+SWwcZoiaEqR/p9Rg1ubjNumktNoord2GNUr/p9Rg6XH7wahpKiuYoVWNaTyE3Tl0R+xoQfjy6ZGxB6+mkWhlD0Fry5smtZ8D2+KP/m7hV7Lyblv726b82OC1+EgifhawJPPMn4dCts08YTyUJh8slNW6KeFnakiohBrQzlKUyhU8ViAhHcQQKQACQACVRZAkwXbrZpJ+/FMR8FIiz7XsDUgdaGeEe0br/lsclJpxY5NTY27/HXwTMHptoRf6RC3l1204lBp9cNN8E7yJVzLYYH3E1+ded01PEzd1+/jl3iILn4ogZd/z798tX9CyeOn33w8mHIFL9lpx9/eHd524x+TblyAkoOuQ2c/wmP+/T55Y3DG2ZN9pkwbdmeM1djtoxqJffhH72punbzL794cO549LWnT47PsGvlseliwn+J0Wsn9evVb0rQg2+YiP8hesn4Xk3r2AyaGngvB5y/O75whH1dBGFbTI56Fhd7+vrT+7uGEakAqWeofhu3/+24ly0UYXnPw+cNtSUAlvggd6RtPy/yytUHic/Pr/Hu0LBm9dptPDZdib+w0pWQjjeU1+nR0oZEMLtel1HicOXcC5ziYm/rPj3wLlAu+O/s8vFOzXVNe6y9V4iJsKL3Z9f4D2gDgkZqNVDG7fBnWPSps7v6Jp26TdzFA2UlG9f6z9Pxj2Jjoq/HPzw2s4fTopOXT994fGenR6tW9ODYiKZxrt7Seexfux8Q7E8t9x/W0UR2Dw1BUL2206LuR/3dub5Fv9Vnbh3ws9UrMZL0SKfnP0dDZrSV3jZDTb3+jV7joTRKSaFQh5K0uYp21Mh26J+77mYKRSJh+vVNU0e52hihoBVpb06TXn4br2cIRYKUi6sm9GmhZ+EwfvGJdzyRMOtuwLTBtsYNuo6cE57wHcO+JxyaPcTGUIcqIuZckinMpZqFwB64QQKQACQACfwsBPCrSNls1a5r7TDA3c2xQyOKfy2JGrSyaapDpgStaW7v4j64f8dG1ZXs0G3Yoc+ggU7WplxEu2m33jYm5GmcvFCuYfNOvQcOGzbU1bF9Y325C31JIzpTuWZtnQe52DcGTqAGbXr2bGFIKqJEWMmRTt22Tv06m4OesjJqz2RNKA/Y9Vq0ANkVwqlp3qGXy+Ch7i7dWtZR9p9EJ6VAxhWkVrPr2PTrZ56VatzWSnxfUEkc18TKaYArAQ7kVE27u3S1kCeh1FrptBRxVpIgd6rTwLb3gP7dmtdiFDl2vTata5UMO1SvhU0LuexfJpcUiqxW5UDD5kr9y9ZbIkzDiJSLTolq+AIJQAKQwE9G4Bcxt+Rq9os4BN0oZwKCzLjgOSveeW2c2oJRklTO6qE4SAASgAQgAUgAEqAnAJM5ej6/fa0wJSnbeva+rWNakt5c/e35QACQAEMCsBkkAAlAAhVGACZzFYb21xDMbtSlT1sT6VfLfg2foBeQACQACUACkMCvRAAmc79SNHFf4BMSgAQgAUgAEoAEfisCMJn7rcINnYWPJHOIAAAQAElEQVQEIAFIABKABEoIwKNfgwBM5n6NOEIvIAFIABKABCABSOA3JQCTud808NBtSKByCUBtkAAkAAlAAhVFACZzFUUWyoUEIAFIABKABCABSKASCPxyyVwlMIMqIAFIABKABCABSAASqDIEYDJXZUIBDYEEIAFIABKoZAJQHSTwSxCAydwvEUboBCQACUACkAAkAAn8rgRgMve7Rh76XbkEoDZIABKABCABSKCCCMBkroLAQrGQACQACUACkAAkAAmUhoCmfWAypykx2B4SgAQgAUgAEoAEIIEqRAAmc1UoGNAUSAASgAQqlwDUBglAAr8CAZjM/QpRhD5AApAAJAAJQAKQwG9LACZzv23oK9dxqA0SgAQgAUgAEoAEKoYATOYqhiuUCglAApAAJAAJQAKlIwB7aUgAJnMaAoPNIQFIABKABCABSAASqEoEYDJXlaIBbYEEIIHKJQC1QQKQACTwCxCAydwvEEToAiQACUACkAAkAAn8vgRgMlc5sYdaIAFIABKABCABSAASqBACMJmrEKxQKCQACUACkAAkUFoCsB8koBkBmMxpxgu2hgQgAUgAEoAEIAFIoEoRgMlclQoHNAYSqFwCUBskAAlAApDAz08AJnM/fwyhB5AAJAAJQAKQACTwGxOopGTuNyYMXYcEIAFIABKABCABSKACCcBkrgLhQtGQACQACUACpSAAu0ACkIBGBGAypxEu2BgSgAQgAUgAEoAEIIGqRQAmc1UrHtCayiUAtUECkAAkAAlAAj89AZjM/fQhhA5AApAAJAAJQAKQQMUTqLoaYDJXdWMDLYMEIAFIABKABCABSEAtAZjMqUUEG0ACkAAkULkEoDZIABKABDQhAJM5TWjBtpAAJAAJQAKQACQACVQxAjCZq2IBqVxzoDZIABKABCABSAAS+NkJwGTuZ48gtB8SgAQgAUgAEqgMAlBHlSVQVZI5rDi/UFAGSsV5+TzG3Yvz85g3ppaKFRUUCKmrlWvK6qKyPKVzBQLlqktFmDA/rxBTUl/aUxXhpRVUxn7qfBIAn8uoQm13DCsvqmpV/fQNFIY7U28gYKakYDtIABL4yQhUdDInfH89bOe/K1eQPlYGXvyEZ0NY1uFRDY1MHdcnaJrPYXmJZ7b/PaJHU1ObWdeK1bDH8pPOBswd5dDMtOWfF4vUNFZXjWWEj2hkaNp9zTNGNpfeRTWGkBAoV13ywoRp98NWTRnYrn49t6CPeODU2Ka2Wl642sYV00CdT4LUOyHL/Vxt6tXzOJihSa4FRv6h3ZtWSQf+ylVr1m/eGRp9530emRTex4u7tx15oKBBmPH42IbZ44cNHDTU08vTc5TfPxtCzl4/sS7gUlkHb0WgLF9rqSwkGe5UTVXLsYw7Iet3XPxUHu/kVKXDEkgAEoAEfhyBik7m2I17jPQZXOvupsULl0Vl2zj3Jx7Ovbu2rvFfzNZ1kYl4KoQa9PRfvXLF7EFNOBqSQLmmnQZ1r/7f+zxcDlXnoowM/AqKapl0dO9VM/Xdt3JIRFAjhykrV6ycO6QZI5tL4aLEaiqnJOUkBDTRpVaJvDCWXlMn9xbfX3/5LpJoL8WLvEZ54aUQpbaLvC6Kxup8Qmu0cB5kkZuUXqShz2Dkjxg31OTB5sULl4YkGnfs2a193dwLi1yaW3ScdPClwhuPwicB/ivedp7o1clEOh8LE0IndbJy257S2nfTkZORhyMOh237owsv+g+XIQuPv8wmywcpHKyM4sqzlmS4M3cQNek6ZqLNvb/GBzwtYN4LtoQEIAFIoOoTkF48KtJS7UZdOjRmI4iuSat27YmHnX0v9+kBR1f25BYSl0jUtPv42dPdmmtrbIa2Qa16tla4dMquWErYks1xfFAPGptaWTYApoATfCvLk123h+/f0wc212EmRFMXS6xWIx84pUyAsS4mSuSEoXpGphbWLYzLMGiUNMoJV+NmKaqVdJFLUOcTqDdpbmmhXyqfOWb2HczZCMuoVU/Hrt0cPf8+cDZgsNbjXRPcZpyRJmTY52PTfC91XuDbRjaSeC93efcZH2nw99lzm3y6NBCXcwxbuc07fCFwSN3cjPSqlMxVrrUkw508sOSlqEGXv5dYR46eejS1KjEkNxaWQgKQACTAlECprlFMhcvaaWmR3L5i1x8+x8+apELWjeGBFodN3RLLvbL239gcImfEW7HpGuMNqsRT2Wo1RtESoOyroRKJnLIALJ1GiWINXzTRpc4nDqeUw5SlxdWStxutO8THpS7Kfxux53QuXoF9OTZr5o2OU0c0lI1hXvy/E2aeyu00Z9t0K3EehzcUP9mNRq79q833zHK4tSwWWOb9j7BWq0xzmNt6yl92V/6aeTQNpnNlDv9vJwA6DAlUVQKaJXOC9ITYyOC9e4KPXU7IpPtgU627WFExD63Zqo25+CqJ5b67HnnuRaG0Hy8j/tzxm5/ANavg3c3I0ENn47PAsbSWeC1Oe3wuIvhAxKVX32SZGlEht8NyHweMGRv0qqg4LyszMwv/2QMLYUkaYPlvrx89GH7uRZbSoi7MTroWGbL/wNHLiSpaJX3xF6zg/c2oc8/z8WPZk/f5yfkjB0PCT939UKAoVslFHrWHJFbL5MsfUBNQ0oUgWHbSpcMHDoRF33ye+OB+ArCZVIkg4/m5qOsfhbzU+8dDD199W4CrUxGGF4Inlp14KSIkNPruJ8lXuHg45EzwyCkkgiXIzwYnYBOfk2okFU4JkQYaMEhuI9WFIGrHr4pPcjIVDxkOEsVO4IxT16w2GxEVZqbnAki8B1uXR4mcBnXTBVXEhmVErth0r0DfcfyYFuK5QRTLdmzzcQv8LOVqqHwSZIG5evUdruRL/PkjYVG3P0jj9DkuJizk8PW3SiMU0dwnja2l0sEgstTDHcAhN510PCOInuNgJ+Hxldsfwi/PAXRwgwQggV+BAPNkTvjh2GS7Dj7H0nSNuB9Cfds3d1r9QJZ8aYqi+PrqVefE1xbeq3Nbpjo0a95zxIaruRiCZcUdXuHZ1tx2wPSQuAfbh3fsOsTXd7SrXacpMZmy7Cg/bvuwTq6r7hZW46RGTBi44hFpYoll3z0U9jgXxbDcB8FLFi5cHhEvW72/xwd4tOs0eKLvSJd2naeckYnmvTnyl8fUA4l87aJnO0a3s+y14JLCl9LFjvKSz22Z7tS0eXfvdZekH5chWNrFxQMcJoa9Z+mK3oT62jbr8XdMCriWIoiii2o8pLNarB3fUxJQ1IU3RQSJezwHzrmaX0OPHx80olO3v89n8pXRHLp+J2K5h7W5tevUwP1LXbv28Rrj7Tp57w2F2BDSiJ0o9+ayvu27Dxs/fvSgLq07+B5+K0SEmcm3ohY6NzY27bHyMQCNZb+9deyfPg2N6zqtfSFQdevhcxLhVBDVQCOMku1UdYHAqx2/ZD7JRCocMBskCl1kJwXJr1OFCGrcrHkdNlJ0ZV9oIsfWvqO2tB7LPB1x/ivGadW1a23yuYnqN2lqJrmNR+4TlhcftWZsJ3Orvn57HiRGTO3Z2XmEz9ih3Wx6Lr6Tmxzh16WDy3h/X2+Htg5Lb8tmcKl80sxahFQHo8hSDnecG5lYQWYcyXgOTsXbI4hORzsrJCFs/w3xEiQuhHtIABKABH5eAuQXDBJ/im9t+mdPQmvflf7D3ccs2PZH54JbQftuF5O0pCwq+PzswX3wuHPl8PLlR94TeQ6CcJv3m7HGr1s1yQ0z1KiD59yFnpYc7Nud/VHVZl/9mP7l6boeWm9Dtx4Rfy6CpUf9z2N5weRjEUvGe4z6KyhiZnuM9N4catjFf92Koc3YqGG3aVsDAzdN7MAljBPl3d53RPvvmylZaY/W9tRJDtseKf4WUnHcqjFb9ObuXz3Jy9N//bEtQ9i31vouvJBP9JLbcZv2m7F6ai99ic14jTA5aOyoA8ZzQ9dOGj507IKw6FXWCRtHDlv9GCBSdFGNh5RW41rETzoCirrw9kWxG1ckdZu3cMKQYT4Lgo8vd6zBQlSUTOrd2Wve8jFWHFHmzUd1N7/ITHvzPD5iSneF2CDShzDx3J0mm59+yf76KnJ6WzRh3+TJO98gddu6jfNzacqRtEKNrQeM8+vfhE2cq2ic2LmNinBqiGqgESpkO1VdHbhqxy+5TzKZJQdMB0lJD9kRlnF19bqYryKDztOn9dVFeA/OXUlFzJo1qy5rwX8e96xAxOLWbVBfzE1ag2W/eQjmjmx79glBKHxC9a2HzF460hYki8+PHSsaffLV5/TkiNGN8uO2Th27+cOgo6/Sv6Rcm2NT9HD71lN5hAIKn4g6mp1m1pJPrsIyTnhy02O1O5CMZz8zsTOogUUjY+S/y2cfgTcd4iK4hwQgAUjgpyUADGeczHEadXEd4DXQvibeQ4BqaWuJcrPoPoUEwhU3LDf57mXwuHT56s0nKeJfPkhaaBka6sklRmitWgYsln4n/2UTOhpzEG6Tfo4t2bxPb94LQHvewy1LwnJ7jRtpLr7asc36OtlIEwhQz2BjVe80eYVvxzpcRKeFq1MLdtH7ZEJ0wfmAPSn1aqdfOYc/Ltz7rmfMFnw6H3MfJGQqYjmGBnLfii+M3bDuirDbACcDlGjJthg706N+4f0ta44T54iii7QeijtQ79USUNSFZWdnJUXtOPEW94JtPnKap7mOHOwSPayaNfRYrNrOfuNa63IMzVs1McKxKgoTt2a39Jw9sg1wX9diyL/Bszpwc66FHHmNZ+coS+y/uB2CanE4pLok9YrCaSDiH4WXCZra8Uvqk8RM+ReNBom4I/bx9IqpkyeOcbdvP2hndodxm2OOz7blIljms2cfBaw6pnXFIxlvLMzOBrenERRVwIjXaFXj5t1ZM7xLp072znNOZ7N1EITGJ3ZtIzAStVt7zvaxr8NB2GYD3LsZIIVGvefPdjWvjqD67Vx6NkLz3icT946pfML10j01sZZKBz65aCNLP9xpxJKPZ8Ifdr36Jqjg/dOn+LgiSuAOEoAEIIGfmQDK1Hh2I4/NJ4In1U84snKS5+hF58FFQCjEL99MBSCoWfeJc+bOnfvP/KXbju0cZ1FyBUMQNqpgCBtlIywWG2WJhaM1auqzRLyiYnADjhd/IuYl0qBZs2riOgRhaWtrSRoiDB8omy1pierr67FExd+LcNEJd+MyREWZ79+JH+/zbfy3BG5f6N4YT2okHUpe2DIh4B7Jg9Ox/4lqmZpqyep17R3s9EXZd65IStiovItslI2wyD2UtKd8YUCAjcrp0nEa5dHgfbB3W2vXmXtupum7jhxkIlctpwdl4eXKLNkoXirXTPGQY+nqbKklePsyCf/BsGKd+jM2WiK8mAbiQ1w4u/TQEI3Gr8wnVQd4mg0SQgDa0HVBQOD2wP2XErOyk6/und6N+EEwlvb5K4awqlWvXoKcbWBQA0VERRmfMxQnF6pnZuU0yadXLRTh2A6a0LuVMULrEzG2WCwWInmw9PVwdnL61wAAEABJREFUNbJztq5eNRThFRNzisonSV/KFw2spedGE1n64U4rlnw8496wqlfXRRAs4/NnDD+FT6YEYDtIABKoogRKLqVqDSx+dXiGY995CbZz9h/eNrKVttoONA247UaP6lCS+NC0JKqkWR04EbxNLpe/VwtEERshWiQCuRwiysnMFSH1uvv6yz8mj++tkHcSvZR3wtTUL5hIwOPjciSVXDOz2iiW901ySv9CmEHfRFqrKQG0zqCdNy9uHtcm79KmiT1bth+795nsm1JSmWV5RU1MarFEfD6/rNdFOog5iqmN2F4NoIEOmoxfqU+gm9JW6kGCausZ6Ouy5cRhQgz/foBAiN9wlpRrWdlZg6RL+Pz+PZIgsarrVmMhqK6evkSOJj4hlA9Knyh7SCo0sJZSB+nkkoss/XDXTKzEbARh6WhzWYhIUPZBi8AHJAAJQAJVgADjZC734l9uPjHNl4cvcbXQLbPh8t/i1kwYqsXlsASfkl9/16wfg9Ys/Zp6otRbV57Jf5EGy018qT57ZBsbG6FY2nv5HwiyOFpsFru+OQPNGjUpBQG2aY/pe268enJsfi/9pINTRq68J++iRtpVG4sKC4pE7IZNxD9Mlt36UW2orqQEYklaKIVIfnNUnUS5es3Gr9QnOQGSwzIMEokE2Qu7lpEByCiKCgpK3gKgtdxGu5miWPaFiONfSjBI+7BYBF9ihyCa+SSVofpK6ZNqU8USDayl1KFuctEP91KKFRUV80QIy8CwliQrVvQLnkECkAAk8JMRYJrMFd05ejIZM7eyqV7ioIi4n1VyTn2EYfh1iXl7akmIlm27NlwkJ/ZQJPigt6SdCMOEopJTuSP8wifWL1dIeshtY9/eCHuxc35QQpG0QeGj7QFn88klS9uAV+0OfXvUYRXdPX8hB/cUlCAIP+3zV1Yzl4HEiaY7Gqs1JVB0cW9wMrixhepZDlkRHTalGZZ0+04abhCNErya4bMw/lky2sptkBX3/+ydCVwM7R/AZ2e2Q4qUTkLJTTlKURQ5S1JIOZMz5+sILyJH5MzRIUeIUiSUCLkipNzkisKbVLp0qD1m/zOzR7vbzuxuEv6e/czOzHP9ju/z7DO/nWMXgmgqKsrYRefvfH5oNQM7aKIcPhRKjVQQTTHhkHwvEV1yjl++T7U1yjlIOPi5Nwgb+RKGEKLXqb0WjH7NyxM6NQdrOq9bb68DFSX4+9/Eb5+rbQI/R06f+M1qb0l9ql1VLEd2a0l1SPtwUQ/3Ooplf/1azIGbGXdsAYI5sS4FSUAAEPgjCcgazGFH6UY0Znr0gdRiVn562KrglEoOs7QoPzP1US4WKFTlPL7z+BP/EC5OAi0u/oYdzCrKy7C1eCGRZjCZ2EUP/MCPJznfq6o5HDaLxavOYaPY4ZDBqMbSSOsJ88a2gL/GL3XziXtXwS5/fzEk5jmLU1FSjN9WhTcXfsMqqo3paOHr5zlVX26dT/6CYpcDIYjNwmwmqgmLhlTt58/uoVx0eemgQbO2hp+Jjdz1j+Ocl33dhH/Wi2hVe6Xu+K+3TZPihIDAR1wKaPHV+DuNnFfNM+dVFnGRykOsfi2rsTzBIgMBEV1oweWAbYm8H1hRatVSh67XsYs2hF+tE0UDsVE2xPleXi4UW2BaRYRhaXz59rUAf5wC22W9Cgu+oeO1fUkvPNxC9Nu1VUezr8Yk57IZeXf3r9x+rYiDFuUXECIluCUinAIiLlwKNMwYoUVMV56yCun45bWS5BOviBg0TAYxwOQaJPgTAhyIU/atlB/O8iQSG0ULW4smnNysbO6QIfIgCGnreSR6db8mb4ImTdqTJvjlG16p0IamQu4TG7OWA7GZBHeiDRv/QoWy+BnY9xvsQ8VkMHDDyHwiGrLyM+6lviF71klma8l04B8uqp6VMtypxEoez7hTzKys/1BVS5s++LiCIOrpC28A3oAAIFD/BIDEeiQgazCnZOk5Z4BWZYqvtY5Gv03FzivdjRHGtVWOWz6oayOMB372va3Mh/ver3X1jp2dHBmyZt3J9yyImXHYe0Xg8ZtZ/OMJ1w12zp3jWw5cK0RZj6O2hCa++vo6MXRz5EMWWpAU6h92PTP/ybl9/icesdC8K6HbIu/lwtoue6L87FuWp2x2at9MxcApWt2sEx36nnJg5e7ETK5MobVaf3sbje/Xl3TQHni0lJ0WtD78IRMtun5g86Frb748PssTnbR/Z3RaPqrce9XJI17mTQtS9i+f4jLGY+vTflsDxunLAoneeWHEiX8tP293tl8UEHZo5yLPYM7S2P3u+J+Hibn4SIqHWKApbHWVIXG7fI1PlARei+HEmzEzD7pZjfxne+jBXd5zopWW7Ftrp4zlCyup1MpLwNg8YHFKEzbM2HT6MRFEiBn+qhKCFDo6z3Q1+bzLwXbqxtDDwasnzb/V79DFbYObwZhECFIZOn9hH5UXu4cYqGhZ+X8f+89QXZjz9eretaE3sOtpwhqrWjHuiXQ8JpwCYqV0aIQBgpWILsOWfcnHL6VP7C+pJ7aE3SxBmQ+P+4XEPYUgGQcJOzv5ROjaNZFvWRDr7QnfdaEnxEc+BDezdx+uVf3y4TPRzw2sabPuSlr8hkHFu4d1Nh+7yC/w0OH9uzYsGmczI77xoFkbFw1Sw90k/Uy+L31xaP3RVCan/PaBjYeuvC5/fyPMP+RyHpv1+IR/8NnHBZ9SIgJ2ns1kszPPBeyOfVJMNvAxLYxUn4Hd+/Tp1n1yFO9H2rBMkUVGa0m5SetZDuUHniG5O3QrnsfXHs98uxkZj15UaA5zH6kJY1kU0xdWChZAABAABP4AAvhkJpOZiiaLEp4+TIqPS376IGZJf7s1564l3Hp0N9TVEIEUeyyJSoy7dGoF73fcoJoX0qb/eC//K/8x8VNr/yVtnzfRhntvlaAK0qLvxLXxH1kctCQ1eM6wjs07DJuzL+0bymF+iPP1HGCsbeo0Nzi1BEtnnfEZb6kHQbC61bKEl2/uXz575mLaywfhc2auT3j0Ieva3oXDjAVi+TuI0ezYZ+lJCclP7u+fMMBxYWg6LupD/LppA9vrdh/FE/0+duU4c20MhqLR2KB7mW/uJsSeuXDv7dskX1uxSIovl7ulKas0xloRCVhv2IakzNfn19i10TLsv/jYhSNzzZsShWIu9pDiIXblR9jqMQZYBqFBsKIg0EEMJwQpWfulfX4bv8axo5Z2l/H7rl/aOEyXa5YQGtdOpo7zQ1KL2Ry07PmJlaO7E8GZmOEdVTD42jbekekfs27sGNNZS9tkYuDFmLVDW9AFpqmYr7r2Ii3xTNzNJ4/PLDTv7BpwJeO/V3FbZtm2QiARt9q0Eu14TDgmngyiinRoAhuIHRFdBgjV+IUpfEJ0Ldy5w7M4NWjuSBNctkyDBBv57rM2XyZGPvNjot8sd/GRj3mr4eQ92yTv5pUM0S84mBKlNsOXH7mVlfPk+JIR3fWbqjVv23v06pMP3z9P3Ld0UGsubzKf3G0HzdyZXMDmsHKubJo2uIOqka3n2rNZDA676F7QvFHdtQysJiw/kfEdRb9nRHq7mOJ9rUgy8BXNFkXEnb+4f8jr83cws0gWWayFIMk6pPcsxXA3xk6tSRILq3UVGs/88cyznpV5+fqHrrOXOhOxHNX0xWsANoAAIAAI/OYEYDnsU9TpZjfCwbKNKtYIVjXuZ29lhO9iEmD1TgMdB3ZSxwqwVIMsKq3MBjuNtDPRVYSUjK0HmepgszqJYmW9HnbD+hjybCWpJJQNNzW0tHceNbx3a0GgJlQq2MXCU1jfyFjoJkKsSEnPxHaEs+NAs9Yyq8NaSVqUpVktKwGkVadOOrodetuNcBk5WMwuqUokWYblKel07ufg4uJg3VGTG1dgeYJFUb/HUCd7YpzA6l1tbDo0QwRlkCwaleoJorIoQvLxS5hH6RNRQ3gl4yARbiJpX7HHkl2z4VPBl0tQScWQsnYnSzsHlzFjXByHWndr1VScthSfJMokzZToE6JtOmyYYdFnrR7dSBvyC6RZi9WTqAPLl7pQD3d5xFbeCzvN8tqzzJz/QP4vmL6kugsqAAKAACAgD4EGDL/kMev3rVud9z6rEL8qxikrrzZ0HGPBPyJA0O9rNLDs9yWgZr0+Ymn57jUXCySHc7/aclZh+tHlG7Pcds7t8KtNqRf9FakBu/K9jq23Vq0XcUAIIAAIAAK/AwEQzMnVC+xXAaM6tzO29NxxeE88e3bo2v7ExUG5ZIDKgIAIAcUOnodDBjzativpU62rrSIVf0WCnfO62MQ7bM/kTsq/Qn396mTn3QnbcbOT/4EZncB3sPpFC6TVhQBoAwjUHwEQzMnFEum4IPpqdMDc/q1aj9x6xMdWA/CTix+oLJmAkpHz6s0ebRjEYyeSq/yiXKR138E9dMSv7v4iY35QLVpUoT1q1TIXYxDJ/SBJ0BwQAAR+NwIgGJGzR1RaWY32mOYxdmBH4TvB5BQCqgMCtQggGsZtKZ+2qdVC1gxQj0sA1jIy1hC6f5ObC9aAACAACPz5BEAw9+f3IfAAEAAEAAFAABAABP5iAvUYzP3FFIHrgAAgAAgAAoAAIAAI/CICIJj7ReCBWkAAEAAE/moCwHlAABCoNwIgmKs3lEAQIAAIAAKAACAACAACDU8ABHMNzxxobFgCQBsgAAgAAoAAIPB/TUC+YI5dXlb5037aFK0ur/yR39mqLitn1EdfoT/NQ5msqyc30Iqiop/XVzJ58ntVYmFj91dbhP7isfWr/Qf6AQFAABD47Qn8mQbKFsyxv9yP2DRnZM+WLRz3fWTL6Sk7OzkidIffRokvv+Arn3CBaFH0xFYaugO3Zcgbz6Flry4ELhvf31jXdOnNanHbMOWRBwI28XX7bfLftiv0eNzd7DJJIRvj45UDe0+miQhhFzyK2e7tOWak0+hxbuPGTZz57/bwi8lntwZdrRKp94MJajfkFs7ODh474dAXSU7WyGog12oU1mEPLUyPDKgZPH47wpKJAcMVhX5JObqdV7r5wE1upuia9flu+IaZDqYtWrge+8V/soAW3A3fFnLlU7185xD1EqQAAUAAEAAE/mICsgVzNFVjO+cO39/mfefIzwpp03+CxyjNewFrfdbHFpsOHU68hg6y6tLkv/g9W0+/wsM3WN3Ga7PfRm+ntvL+PimsqGvh1K/xf9lluBxx8zDl46eO1knbtdZnXfgrrd421r30Si+vsW9v1HvWsZcisV/l4yCvje/7zHCzEAipzDg+y6KbY2BOl+kBJ8+djo6Kjtj7T19G3D/2Lj5nXtbrL7xSuyGwqN52GtC1H7IZ1jQbN9GWfWXHWh8f34Pvu0326G9Q81NhsK6V29hWT0PW7bpGtxvTT5ImuEmHoU5Gpa/zq+owdiUJlDuvqqCA+9UB1rGaPMM0dbFn0JMKuaWABv93BIBDgAAgAAjUFwHZgjlYVUPXyKRD3X/SVKl1X7M22DFYRadzz9qrKx0AABAASURBVF7Ey9xygPOCoFN+NoqVxEEW1u3n6b3Asb38P86upK7Zons3XDoJFLq+pZkhAtE0OtsMtLIeOG7ZkYtBoxQe7Z/muPACPyBDc2PmTb/aZ/X0roJ/LWK83O8+2PO0+rKLiQEefQ24+fRmnR1XRl8OdtErLcinPu9FYg1ZtlQ3yBrWIb+BXauDhcJNEC0r73WTjBCI853BVBYfsUoajRWRHgt2Le3dTLyIEAKraui072ikJrGQqPFzV2hOhO+udCZPCazed5mvyelJc099rtfRwxMPNoAAIAAIAAJ/IwE5DnEIHfkBQgoKEk65IS3HLp9pIqFAXkUKlLbRFBQVhCXCei4e9now833UwYRSvADNi1m65FbvueNbCVxkPN0xbcn5Uovlexd048ZxeEXuG2k9Ycvirt8L8evD3Jx6WlO7UUcltZr9EtdqWSFXhor1TI9eSmjBhfDTuaJBEFp4PvpOV8+pXShHEZ1OWSyXLXJVRkuvb9mRVEJ8X+E1VOwyZ7H59cVLTkm5CM6rDjaAACAACAACgIAUAnIEcwJJaPGrq1Hhx+Puffqhu8bQqmoG3LRzV0PucRYtzUo+nfiikq+GUfA08cztT1jAVJF1+/TxyItPi7B9fimxrf7yKDHq6JGoq2++CR8tiTLqFV1Pvzl2pqeyML8UE8pI27MhlmPnZK3Cb4UWnN4YkFqhNtBzcgeuefwS7hYxnLp6ZkeREnbx65unww8fOXXtlbChP+qGZLGsgueJsckf2YzP988cj77xvoJrlixruV1j5WcknT566ODRmGsZhUKXsllFWP6NLJxf3tNLJyNi73zgjQdGbnp8RHh08vsK0cALkuAMo6yokOJVXM7VSO88deYQdajk0r7DxGV5vqfsT1FH0vtMHdcCj8LJLOVXFtsych9fOnks/MT5ex9EDZVMl0w6eQ+jpY+CJk/Z96aqGneyqIx/r5zqwFF27DN+gQ/4GWKGgSQgAAgAAr+MAFD8RxKQN5jjlN5eP6RXvzGenpOc+nYxmx79HjuY18nz6uTNmxK5R3/Gm8Tdc23btbcZv/1GKQqhRenRG8f1MOw+YkF4elrg2N5WLtOnT3Iwt5gTXyiIDsrTA8dYOGy6V9mI/jlq2siND7kHfRlNqch8+5kNwVrt2msjUNX1sOOv6N0teyvxW6OFCVGXvqL0zlZWzSUTgtXaGuvjAQTRhPHu5GLXuUdeMZWqnoVM6tlxwOqrBeiPuyFJLKswPWqDq4mhicPc4MPrHKwGu012d5h99DNhhwwr+Vxjf4iZbW7mEfNFRUPxw/HpvdrbbU6rhNCyp7H+UywMuw2ZeTDtVdRcmz5Dx3tMGW1tarP2bmlm1My+ZvaeXtPdbXvYrrtTE5xLYgRVJS6z6tmD9NVr6MYU7o2NsP642WMM4Or0w/tuC2RCrIzwYx+HT3NoBku2lAwI+uXK2hG2MyKyaSqcd8end2/Xf1l8DjaSURK6TMkcKAcqWnwvMuJRKYyipWlHfX18NkQ95Qdvyr3Nu0EZEYdvccc/mZUgHxAABAABQAAQkIWA5FCFtCX7VeLdtrue5BV/fXN6QQ84I2z27NB32EGQtIFYQUXus7T72Ovu9egNG05m81oqth+20H+mdSMatzasYTZuhc+4jnT0293DsY28b3zMz3uytb/C++N7TnIvTaH5sfNdN1TMjony9XSduHhf1JJeqOzn5tCCG5u3xn/lqPdZMG+ICsRIS7z+GdJv164xVz22Zj5Pf1bBoSnqGbQUBGxYNgShxe8eYOYLlmefsHNi1embJu9WXXF48yy3cV7bYna7IClbpvtcrvxBNySLTVIyc1u5YXI3Oqfw9kO9XS8Kv7x7/jRqpj5hngwruVyrTgn492BGl+l+XmOdJ6/e+0+fipR9YXeqYTUTF+91E7ojUNXzmJiqSefe5OZnRk1qXZ6+Z+6UXR+cTr3Jz8u5udy06kHgnvNlhFGSnblcrjwy5OWHj6Sv7Pv+NkqEAAhSHTLHo5si+31U8Dn+U6nV98JOslyn9VeBSCzlNRXbsDP3TZl4RGvF8S2zxo6esjoibpNJxs4JYzY/qoY1JdLVvCuZA2UPw836em3dOLodAjeznrcnODhghpkizxBY3ai1FvTftYsP+eEdr+Cv2gBnAQFAABAABOqJgJzBHNJpnPeErmowpGLksuPoUjPFkpvhJ9/yYjLpJqGlmfeuYa+r127cfpzDffKB10qhWTNVXjCH58Camuo0mpqF1/ppvbXokGLbYQM7IYxP77JZWCnjwW7fiNIBUycYckMtRH+InSkdK6Bc0I8JG+fOnjHZ2bKXU2ix2dRd8We8uytCaOGzZx9ZNG1dPa4wXAa7uBg7QwjBcC08Co0Uy+76j+1rYWE5dHlCMaKMQBWXgg7mtGiefz0Rf11O/a6qhbA+XYq/j51S+gE3KMTSmjZRpdGaD505tYsKvZlh57YaUp3HvSLecrlGb93XYYTbSMumOAcWrKCkwCkt4l5ERpprqMOQUpdx3h6W2nQI0R/hbK0OVWoMWuXtYNgYgtV62tu0hsuyM/ETXuSMCJtkXNFNPGfYqHG+Xth3jHs+uDTx0AWdSR4mmPcUltaSXpm0fet1tvUIO8wBvBAxmrLEtWXl/d3+Z4qwtAS6FNIpexiTJnlBWrTUgVnZT54UCU41S64IcgEBQAAQAAQAAakE8KO01EqSK9A7OgztqMB6//I1/1E9yfWEcmH9fjOWr1ix4t9V6/bGhE41qgmfIAiBRWxBYASi0RCYxm0ON2mqRuMwqqqxE3CMp2fjX0IG7do14pZBEE1JSYFXERJ/CdJwK4fVQcGBwYevvioqzrxxaIE18XQu+iX3KwrRGjVuXCMBUVdvAkOcqoLcAtFAFVbV72Y3y2OAJgzRuztNG9RZS5mRcS+9gFNVmJ3FfWWXm3rtDg70cW6DxRiYV3V0g1IsTMNZ1dgLyf6SxzUIae266+zRWS0zTvrNGjdpzSUsMGOzeUSIvqHRBEbQ1FRxgoI0oqLaCIYY1USPkTJi3N3tOd6d9DVh7sGnePjO9Q8xGO/lrEuruHtwPxYpo19ij9zqNmV8awQrpbIUKxZeqtMSkv7jaOrqKghyVSxtzdU4xXevP8CzatOlkk4xUHFhkt+0xo1VIAgtyBV7nENybZALCAACgAAgAAhQEcCDAqpyqjJYR0eTxmEymShVLbIyxZ6TJprVHE/JqvHz+VEdlma9z5T7l4uxZsQCK6mqq6ngh38iia1QNopfomWxa4IGSKGbuQkWmbCf30+tuT8Lq8tdaI1VsCvCsIqqGi6HU1JYyoFa9JvuJfya7TlIJFTltoQgmd2QTyxfvPStPK5h0qrfRC8cOGRlRvflh6P3TuishGXVYaFwpoW5/Ugn0pfjEFNtWo1CWN1+9sQOCszXx4MTCjOPh2cM8HQmInKsisyWsj9/zkM5LAYT+16AtSMWRX395jBa9q2ESElYySxduIclyOFl0ZSVFGkQh1XHzw5PCtgAAoBA/RMAEgGBP5HAjwRznMqKKg7Sqi3vcVQ53Rd9hECexrCCIp3G+pT59rs8rcjqIpoa6thxtaqioubgDms6TnLUhdHiy1Fn8mqHqjQaEWAQK4im1lSV8znl+jPh25/Q0lcvpQWc1G7UWSyZn7x8eVyDSq8sdvSIb7/hhK+DkQpPQF025M4grfqOcaN4OZnr4hGzQKlS71kzrBpzvpwL9NkaUew8fZAqt0gOSxEtLQ0Y/ZIt/Kwtja6A0JCWhm240sTXckgXbyo5zamqZnAgmnozTRHvJFcGuYAAIAAIAAKAACWBHwnmKp8+y4Q7Ozp149/XTaUJJf6WksPhUFWSrUyhe8+uilBJUuRp7LJfTRMOirJJpHPwc28QplxCOaLXqb0WjH7NyxM6NQdrOq9bb68DFSX4+9/Eb5+rUSO+p9jVspcG+iJ01b4MwbOJlQ8Dgy6WS1Am3JjajTqLFVYhaV8O16runjqXiRp2M21cIwiDWJOQdY/cGVklCOohhpNnOTSnlV3fF6kyfqoZb+jJY6mS2ZD+2rSqe5culwjidOaX3K+0dvYjTQV6hHfkkS7cDt/HI37u2MdT/Df769diDtzMuGMLEMzxmYAtIAAIAAKAQF0JyBvMfftaUM3VxXoVFnxDx2v7kl7cA2pVzuM7jz8J4hluJcEaLS7+hgU3FeVl2FqQK7zDYDKx604M7IQFnsv5XlXN4bBZLF51DhvFwggGoxpLI60nzBvbAv4av9TNJ+5dBbv8/cWQmOcsTkVJseS79/Cb/jkQp+ybxLBM0cLWogknNytbxHakreeR6NX9mrwJmjRpTxr/jyJw08TfqvbzZ/dQLrq8dNCgWVvDz8RG7vrHcc7Lvm74z9D9gBtUYtkoG+J8L+f9Bpu4QdLSMrtGU1FpRGOmRx9ILWblp4etCk6p5DBLi/IzUx/lspn4dUo2syYCZuPhOsriZ2ARDNZlTAYDj5hInZFma+1yWHPkHPe2CK3pQM+J7fihEJWluAgmNrggJoM7PNQd//W2aVKcEBD4iNvlaPHV+DuNnFfNMyeGci26VNJZFAMVgmAV1cZ0tPD185yqL7fOJ3OfxcYMYmZl/YeqWtr0IRRC1J8drD5YAAFAABAABP5qAlKclz2YU+joPNPV5PMuB9upG0MPB6+eNP9Wv0MXtw3m/okS44GffW8r8+G+94WvNhLK2dnJkSFr1p18z4KYGYe9VwQev5nFP+ITFSB2zp3jWw5cK0RZj6O2hCa++vo6MXRz5EMWWpAU6h92PTP/ybl9/icesdC8K6HbIu/lwtoue6L87FuWp2x2at9MxcApWt2sEx36nnJg5e7ETK5M3hpTfiJ07ZrItyyI9faE77rQE+LKIbiZvftwreqXD5+Jmg5r2qy7kha/YVDx7mGdzccu8gs8dHj/rg2LxtnMiG88aNbGRYPUuEqUe686ecTLvGlByv7lU1zGeGx92m9rwDh9uFKKGxxKNxiSxepWPI8PWh/+gMUpTdgwY9Ppx1RxJte+2msZXVOy9JwzQKsyxddaR6PfpmLnle7GCOPaKsct70tfHFp/NJXJKb99YOOhK6/L398I8w+5nMdmPT7hH3z2ccGnlIiAnWcz2ezMcwG7Y58Uo5Kd0Zd9+Ak5oWI129PCcOS00TXNSS39oK75JfXElrCbJSjz4XG/kLinmCB654URJ/61/Lzd2X5RQNihnYs8gzlLY/e7GyBomSS6pNLfFD08SDVQIUitv72NxvfrSzpoDzxaZci/v4+R8ehFheYw95GaOACKzw5mLFgAAUAAEAAEAAEpBPCDiZQqvGJY28Y7Mv1j1o0dYzpraZtMDLwYs3ZoC/yJTbyCYo8lUYlxl06t4F/4wjO5b6RN//Fe/lf+Y+Kn1v5L2j5voo3YXXZIi74T18Z/ZHHQktTgOcM6Nu8wbM6+tG8oh/khztdzgLG2qdPc4NQSLJ11xme8pR41RyF7AAAQAElEQVR2xkPdalnCyzf3L589czHt5YPwOTPXJzz6kHVt78JhxlytvDWm3H3W5suEcubHRL9Z7uLKMWEaTt6zTfJuXskQjTExEUpthi8/cisr58nxJSO66zdVa9629+jVJx++f564b+mg1nznIUWjsUH3Mt/cTYg9c+He27dJvrb4YVtFihsIBFO4oQhJFAurdXWcH5JazOZggceJlaO7c4NpzFY5F1lcUzRZlPD0YVJ8XPLTBzFL+tutOXct4daju6HutoNm7kwuYHNYOVc2TRvcQdXI1nPt2SwGh110L2jeqO5aBlYTlp/I+I6i3zMivV1McRsVJTKS02hudXqHWQfOrXdU56aINZmlroaKuhbu3MFVnBo0d6QJUR3WG7YhKfP1+TV2bbQM+y8+duHIXHP891dI6JJJn2TnIGWgIkazY5+lJyUkP7m/f4wBQiiHWJmXr3/oOnupMxHLQRSfHW59sAYEGpAAUAUIAAJ/IAFYTpuVdDr3c3BxcbDuqCkIZQgRsHqngY4DO/F+uovI+tkrlVZmg51G2pnoKkJKxtaDTHWw+KduOrHD6a7Z8KngyzV3UYkIUtbuZGnn4DJmjIvjUOturZqKus6tCjc1tLR3HjW8d+vG8kGldqPOYrlWSV1Lc01Rp5vdCAfLNqqYU7CqcT97KyN8V6pciRXqyxm4WeeuNaE0T5XclirpmdiOcHYcaNZaBo/kls6zCoKU9XrYDetjWKOj8l7YaZbXnmXm/GeDf8FnR2Ad2AEEAAFAABD48wlgh+g/34l68EDNen3E0vLday4WoPUgDYiQTuBvrVGRGrAr3+vYemvec7h/KwfgNyAACAACgEC9EQDBHB+lYgfPwyEDHm3blfSJnwW2gEC9EmDn3QnbcbOT/4EZnfhn5epVPhAGCAACgMD/KQHgFjUBEMwJ8VEycl692aMNQyjrT91F2syPPTmj5gmBP9WP/yu70aIK7VGrlrkYg0ju/6pfgTOAACAACPxqAiCYE+sBRMO4rVjWH5mElZuqKf+Rlv//Gg1rGRlr8B6C+P/18k/3DNgPCAACgMCfRwAEc39enwGLAQFAABAABAABQAAQEBAAwZwARcPuAG2AACAACAACgAAgAAjUBwEQzNUHRSADEAAEAAFAABD4eQSAZECAkgAI5ijxgEJAABAABAABQAAQAAR+bwIgmPu9+wdYBwg0LAGgDRAABAABQOCPI/BbBHNodUUl+zdGh1aXV9b6py8Se6vLyqpJin7X7Oqy8j/v11hY5WWVDQy0urzsz+Mkwujne/DzNYg49DMSP82FnyZYhMIv+GCI6P+tEvUDQ575X4r79WOQFCWg+O8k8LODObToSfzhPf4buS+/bUFHzz8pQiGISxstvLfPx9t7jlvfNuqt+s05+ryCm/87rdGi6ImtNHQHbsugjOcq31/dv3rywPa6xnMSGjrKqBsutOzVhcBl4/sb65ouvfnHBKCsz3fDN8x0MG3RwvVYw/xbB1r++mLQiom27XQ7LbpSVTfWv7bVz/fg52v46QR/mgs/TbAokgb+YLCzbhzZy53X/YKvfCL7Lo7m3TywCZ/8/XaERlx/11DTjBQY7A+3ThwIIOwibNu0ecv2XSFHTl19ll/r65qM879oZ9RKSTFIpD5a/OjE+gXTp4wePtjBbcH285m/4VFRxGCQ+D0I/OxgDtYwdZwyqW9R9Dofn3WRBb0nThphqsFTynoZOG7S1Y4rtuw7fSNyauO00IXr4st/DyxCVsDqNl6b/TZ6O7WlC+XW2lXU7DFiqE5BVimLU6vs98yAFXUtnPo1/i+7jDJK/c2Mh5t0GOpkVPo6v6qhOMMKOr2dBzT9nPWN7IglDVFVQUEZKq3STyjn6/1xD6QZ9/M1SLOg7uU8Sj/uAk+QuCU/LlhcosR0A38wEEPbyR6D2Qmb1/isXjhv5x3J33JYT4MXz1vls2bzZfpwjwkD2v7Ir2VL9JokUwoMpHU/96lj9B7sXuvje/ABvYOFTb+eLSpubRnby7DTSP9bNWcbMPEyzv9YTapFikFCTcuSfZyXZQxYG3r09NnQaZq31jlbuYa8/JOmaCFnwG5DEuDFVT9VJdzMrE8XVRpN1cTKvGmNwurkwIBbSsbt1GAIbjZoW0JC5In1I1R+qiV1Eg7r9vP0XuDYnnoiojfV0O/S3gCpk4pf00hJXbNF925t/iSTIQhW1dBp39EIGzQNBg3jpNuto0FdOaE5Eb670pkNZi5fkZDeH/SAL5Fi+/M1UCj/kaIaSj/oQo0gcXN+ULC4OJJ0w38wYLVuw22NlBQU2JkRu2PzJXxdKUsMjHjBoUFIi159G/RvT2SAQdfv29sYgWBd81HOdn37Dhy79MCFQ+7NP8Svcp0d9UXIGVi3nwzzP0T9ksEgQgBadCYg+G0Lsx6a2HSjZOSybfN4/cJEvx2X/4yrPYQPYPWLCMANohemKyA0mqKykpA69qf0xzkcZaVG3DwlI7txwzupchMNYlT9K0Ho2Cew/sX+TIkKf57JGA46nfIsKVajzgtJwzp3LVp6fcuOpJKGOo0oML+W3jp7IBApbefna5Bmgdzl4pTq7IK4IHFL6ixYXBB1uoE/GHAjZdXeTiMMaF8T9h56JX72iP0xYt9dk5EWChCkqET9VZjaqzqWSoOhqIhZJiQb1h4+brAOjOZdOnPju1B+ve1KMwhXxGYwGF/ijscXc8NJpc6djGC0IDurlJvGq4A3ICCRgLzBE1rx4V5cxJEjURef5NW6vUCiBkmZrPLiwoKcgm8cCGWWFWKv0krRscqqKMZyuUsR/7bzaqJqYWFxhWDaYOQ+vnTyWPiJ8/c+VPAlMMqKuA1LuE9V4MqIDF66tkFVuWnnLz4pQdGKrNsxx8JP3cgU+eigpVnJpxNfCH83kowBhmg1woVdIHkmgpWfkXT66KGDR2OuZRQKfKoRwd9jFTxPjE3+yGZ8vn/mePSN9xVEAVlrRsHTxDO38btYMHdOH4+8+LRI/Ppg9ZdHiVFHj0RdfYN1ASFMeCUJKlHOKsLsvZGFSWPkPb10MiL2zgfe1RVGbnp8RHh08ntBLxANRFZytyZzUEQqP8Eufn3zdPjhI6euvarlLr+O8Faoe4qx8SSULCwsI7ziZxWXY+1ogq5Fy98nnzp2IvGFyMUYSKKxaOmjoMlT9r2pqsbHpGAgY/KEF4lNsQqSux2CpLsqSa9UD2QRjFmFL5KHv1QNZI5CDKlDVrJG3BYyGmjx66vRR45ExN1+/irtfgbeiXh1obcESnVzQYIgITXErlTBMtKXMlURukRWkpjzRzY+KwoGpdjsKh0fVw1Nue/c6T0Vq9MOBt6o4Gbx1oxHBw4VjJ7bv/bFFkk2EY3ERvzbghLcRO6b+6GE0KpSbrpmNicbAYRIuVY0BTpCgyC6kiK2FrSsmf/ZlTIYROqdQKBgpzZkWHPsmh3/zHQyaQwTtdhf8go4iG67Dvx7k4hcsPqdCPw2tnCHjGzmsHMurBzpvPZGqUrj8svLrTtYeMV+xA7ssjUWrsV6G7d9jW/IzTyU/fla4FofH9/9t77yYzG8Ilr8LPqf/q20mmsZOmy49LqI0MLKfxI2rbtBn3lRxHEU/XJl7QjbGRHZNBXOu+PTu7frvyw+B6vILsxMifUZ2kZLt7/fIyzeRIvfp8T8O7iVlp7dlhfiERM761qw9+B2bSxc1p1NOTy+p9kIj2kergO79XALe421hRhvEnfPtW3X3mb89hv8AE82DJgLQWON9ToOXxQYc/V5PmYY7ljNm/0hZra5mUfMFxUNxQ/Hp/dqb7c5TThc5NZEC9OjNriaGJo4zA0+vM7BarDbZHeH2Uc/S26NFqVHbxzXw7D7iAXh6WmBY3tbuUyfPsnB3GJOfKEAb3l64BgLh033KhvRP0dNG7nxoTATMqho2dNY/ykWht2GzDyY9ipqrk2foeM9poy2NrVZe7c0M2pmXzN7T6/p7rY9bNfdkeCF/K0lO8iFUmvNeHdysevcI6+YSlXPQib17Dhg9VVpz0agxc9jltkZajXXtVwQ+/Yb+9u7myEe3XWba7WyW37qwedqCEK/vUtaO9Swp8e+9BqF358Gufa0GDVj+gT7nn3mXOBRJTEWLb4XGfGoFEbR0rSjvj4+G6Ke4mOqRhq2J7kpWbejkCyuUuqV7AEkk2DMXgiSOvwla5DsKCTLkCXXSEqD9erguJHLb5Q3UWU+3TfewnrZpULxTyAVJflckKGbCXLYSrJgmehLm6ow6eILGXOps6sM+Gp0Ie1nzLPX4GRF7Y7KEcwyEFRyMeis3owZXZGamvgemU0SJjr7mbuid7qZ6DZvrmu99Mxz7rMJVblPIr3MjYetTcwsx7SRjgBcl7zvsttnr+ey6a2d3QYoc9uKzv9o2bsrlAZBJN5xhYmtJUOGm1rM3uE/sYsiUZv1LP7CW7qJx7R+SkQarAABcgKyB3PVDzaPnZ5iu+fgiknOY+dsnmNV/fjA0q3J2GGPXDpJCb3TeL+gQO8hegjScvjKwODgvd5DtYUtgbUsZ4cemNdVAUJamA3tqUtMCHSDnl20NBzW7JnVWxtmZ+6bMvGI1orjW2aNHT1ldUTcJpOMnRPGbH5Ujej1cJw6096YzlMOa5mMmDpzeFtCBi9PsEEMB87ZuHyELox+jI8qmHH9c0nRu/iFPejZMYvnhb5jQ4rthy30n2ndqOaLGgkGgUTeDnYm4e4DjsvhlFvha2e59ql1w1V1SsC/BzO6TPfzGus8efXef/pUpOwLu1MLJqxp5rZyw+RudE7h7Yd6u14Ufnn3/GnUTE3JrWENs3ErfMZ1pKPf7h6ObeR942N+3pOt/RXeH99zknsXCJofO991Q8XsmChfT9eJi/dFLemF1lwBJIcKq5m4eK+b0B2Bqp7HxFRNOvcmNz8zalLr8vQ9c6fs+uB06k1+Xs7N5aZVDwL3nC/jMRBs5G8tIx5CQ3X6psm7VVcc3jzLbZzXtpjdLkjKluk+l4ky0hWsZTEjeO/0dnRIqVW3zhqIhsmofwNX2KrCKh2HuNkaKUEQrNHFxEBn6Lr9y215Ujhld8JOKi27nVP05eEWG+XMiMDTxI1CZMbCzfp6bd04uh0CN7Oetyc4OGCGGXeK5snDNiRNSbpdnynZ1XJMktBCrpfMA0hmhiTDXzBwyTSQOIpRljZkyTWSGI3RqEraufG19UqfaS5jPFYfPbNhYBOaEB/uLikluV2Q3s1cjWSCyehjjnAbEmvqqYqoIrYiZS5tdmXIgE9IF6w9er67EVx8OXj/U/43Q3b28ZAHVnPcWoiBJ7VJwkT37PS6WRvC1g5Wp9Eat7E0b0V8eFQMTfSUW3hs3+pm0hQmHwFC5sm0W533IHql8+TDxaZTg2ID7Jvxjkai8z+s3m0spUFk3kkyQZYxWnYp5Fh2t6VB3mbYhCRJCMgDBGoI8AZtTQbJHlpybvvuJ51dx7en4zXgLNbbYwAAEABJREFU5g5eC52HDbdsRSTxrPp+q1guWDC06bekiJP/8b5Ul105/ajXREctzObKpO1br7OtR9ipYwlMM2I0ZYlry8r7u/3PFGFJCKZx8/F97A0r0OliswqWy1toKo0b0WB9x2VL7fSVIEUDB/9d09shpckRJ98SNRSaNVPlNybFQNTkrzhFt/zGr8iccnT/hPYkn0J6674OI9xGWhIPhLBgBSUFTmkR9wwkXwp/S2vaRJVGaz505tQuKvRmhp3batApWsOamtjkp2bhtX5aby06pNh22MBOCOPTu2x8mmU82O0bUTpg6gRDbmiL6A+xM6XzFVFBRSEIaa6B0VbqMs7bw1KbDiH6I5yt1aFKjUGrvB0MG0OwWk97m9ZwWXZmDq+/+HKJrXytKRwkpAmtKi4FHcxp0Tz/eiL+upz6XVULYX26FC9UhWRXqc8Ut2601+diHhInzBCDkU7mCoWXTpzNw7yFINaLk7d03EbpCUYSrbHF7I3Te2srQsodHOw6IFXZmQRVOYwVt4SiqYRuJ3P1viCWEpcvlibzgEywWHOIdPgLxhCZBgpHIaohS6GRzGiMBlpcXPQ6NuTsexwMYjhh3jhDZZq4M2TpurhAJkskn0wwhSMi7SGIfKqCJLyomFPOrnLja9x/3sw+KswnYXsulBKGMNJDj5S5zh2kSqSEVlQ2SRjxEGzgOnOkPvvJicOpeF9CEPr5dGTuUE8rFUwoKTisTNaF/e7U4rH2PVu3NHMPgZfcz0oPm9lD9Okq4fkfojaIyjtxg6RDZn+KDL7abt3R1X1qYRQXBtKAADY2ZYTAfHDjbomyrh52OCdaIAZO/rHngya25UYFRF49r+AWbgvGta64GnKAONiihXGRz6wmDW2KqalOS0j6j6Opq6uAJbiLiqWtuRqn+O71B9y0vGu6ggKN10a5t/0APYT59kUGNwOBYe4OBJFi4FeAIE5R8r/DXS9Z7d09qhU5HKS1666zR2e1zDjpN2vcpDWXsACIzZYUBGGCuZEp3zosA6JqjcAIRKMhMK8+3KSpGo3DqKrGTsAxnp6NfwkZtGvXCBeCv2lKSgK3CahkUPGHMQmhNBpPMATR1FQbYwlsgYgXoqLaCIYY1bgqIkNkJVdrKgdFpEKMjHvpBZyqwuws7iu73NRrd3Cgj7NoNYkpetfxbub0N6ePp1Rh5Wju5Zs5TZuWXTl+Er/hkJEedaeV6zB1rIS/wAjC24XV1FRpnOrvVRhVyt7g1SfbUPlZq9tJXW0jiKXI9PDzYUSSB6SC+c34W9Lhz5cKQTDC35edEcWQJddIajRGQ9luoqtB9lH3HiYOSw7e/qLmMMFJR/AZ5jtDuoUR+V0gFSZcACOSBFM5ItxasC9pqhIUCu1QDS6IYnaF5MeHtPOYO0KLk3M6MCKbjV07jw+KbzVzepfa45LaJhreSTQhF7Bd9eEzx7WD3kbvv1iCpdiZkadQl8mdccnk4LCKsi5I27E7T8Wf3+3aEim5EbTrKnGuXbQxAuNmCfLIDZJrJpAKmZ0Znaiycv/8LkoC1WAHEKAgIDJMKeqxi4pK2VWlJfhRj6Ja/RapDlgw3Rx5EbY3oRhFc2Oic4ZOsiJuZmB//pyHclgMJn4s5elU1NdvDqNl3/CPPC+rrhukpQF2PobNxE9micqQAQOnMjfzU8G9vauOvSMJzrgiq99ELxw4ZGVG9+WHo/dO6CznJ1b21vyoDtPKep9JcZMjJVRKVzDR9b7I6iCnpLCUA7XoN91L+DXbc5AsFiHG49ytlD+cjUgqh1hPDsQ29Q10bVl16/jxV6yq21GPu40f2JhEDEGVw+GNP1mNlSBMjqakrhrxYwQJ8kmzhDwgFSzeWIbhL9RESAOWK4ejREOsCbaQayQ1GqMBazuF3r6ya2rXsqsBM2w69Zpy6FntOzkx6VIXwpL66GZxTUKCqRwRb1YrzZ+qahUQGZTMSWdXqA74YC3nBZPb07/dCApJq8w+tu/ZgPljdCUeXChtIqwWWylZzJhqrpgbd+BUDsp4EH5By31cS2LAk4MTkyA1ieiPDQj2MIbeH53vfYZ7Xp6iDalBWBvZvZMGGc2/VWC2cirvGgom+nddgF2/CwGJnzcJxiHNmjWBqx6lpAjfyMHOe/ky72ce5ukdp891aJZ3Zm/4+7eRMeUjJ/Qg7puAEC0tDRj9ki388CSNroDQkJaGbQjrxb7eEXmyr1AUhRBdg5a1WpBiqKkJt3Tdd2CG8ddziyb53Rd9vqumElR6ZbGjR3z7DSd8HYzwKwZCRTLs1rE1rKBIp7E+Zb6V+OA9JVT8m7AMhtVXFdkdpKk1VeV8Trn+jLhUytOPlr56ydul3iAGYyYMVPsSH3nx04WQ+z1njB7pMbYd+jAy/NbFqLfm7pbc4UYt40f6UnY/MRtIXaWI0LFm0hdSweJNSYd/nnhN8bRcjgo1JtdIajSXBqLbf8HBW28ex6waoPb62JwJfqnCA0RIg8y7dXVBmgIpjkhpzpuqJNWSZjDZ7IrLkh+fkqXXbGtV1qvwHRu3HGW6z+0n8XuQNJtw3eJvevvJ0wc3Kb166OjDy4dTukxx5D3ZSQ5OXIL0NKztsG3/vC70T5H/LD6VS9xmQd6IzCB5ZwJKyMzMcl1r4gwkuSGgBBAQIiBrMKdg2qeXGudzzI7QF/xJEc1L2Hb4MSxL2IRyUOwkhuAbLqEfm4VQDsTBwiYiKXkFa49ZOKFt1e3gxStOK41xa0d8I4MgJbMh/bVpVfcuXS4RfO6YX3K/0trZjzTFJNFUVLAzeNhVMGwfX9BqBoMDoRxBZTxT9M3Ea/CyqjMzP0EtBwzrzkvXbEgx1FSBIFpzhx3hqy2g1I2T/onnPngAib2q7p46l4kadjMVmvFE8Yg1EEnWtbVC955dFaGSpMjTOcIhONYHbI4UqDJFNSJG/khCDgcVu1r20kBfhK7alyE4a1z5MDDoomz6Ye1RE4Y2K7wQ4Lnnq+M0M0VF88nupvDr416+ObbuJnRZhEgxFv98YGNdoiQpTcXakLpajvWeWF0IotILib5IBYtWgyDS4Q+L1xRLy+eoUGOBxlrzDqnRGI2qK4eOZmJDHFbt6LIxLmJOO/T1nbsSP4myU5LiguyChLwjdqkcISqIryRNVeJ1sLQUg7EaJLMrJBkf1qDWwkGxWYs3qyJtJs931oO+nN5y1njmVO691RBv0sVqEW2l20RUE1vBeqNnOOsz00On+rzs72HL//JLDk6sPUmS+6nETCM+PrD6gA0Hl/VSyolaPPcY/vNLJK3wbBKD5PJOGmREy9yyY81tRLha8AYEqAhIm4X5bWEtlwUeHRXKklc7OC0PiY6N2rfazX4LbcRI/HEECKrKeXzn8SfB0ZTfir+tKi79zuF8L/uG33rFy0QLv2IXT4sKvmKTLi9L0ka577xZVopvE5JbuvHOruO11B3/9bZpUpwQEPiIqxQtvhp/p5HzqnnmeNiB6Ldrq45mX41JzmUz8u7uX7n9WhEHLcovqH3hFJeGvdnZTx7xfh0FzT1z7Ao6YOmiAbxZg8FkQtg1XSwchEgxYCIg9Dt+uxhxdVal98rw7Q4amWHTp4ZkcO/cxWsI3li02YjGTI8+kFrMyk8PWxWcUslhlhblZ6Y+yhVU4u+wUTbE+V5eLjCeqjXre1U1h8Nm8f9VjMNGORwOg4HfyIa0njBvbAv4a/xSN5+4dxXs8vcXQ2KeszgVJcV4x0iBCjEZ2GVtwj2eZWw8EkdZfLuwyRHTxWQweLM7rxZvw5SjNZWD+HBhYj2Cm4OLVrWfP7uHctHlpYMGzdoafiY2ctc/jnNe9nXDyyBWfsa91DeSHywhKkBwM/sJjrpl918ZeIxvg0AQvfPEiX2UvvynNdyV/9UBr0hoZLNw5XhSmCqlsbCKamM6Wvj6eU7Vl1vnk8UCCpqKCvkwqNXtEJmrHWsHnXAtvRQekArGXRV+kw5/LbwWhQYahaNsDsWQpdBIQQMtuBywLZH38zRKrVrq0PU6dhF5Xh63F4JgcUp1daGWIK78mjWFYFL6EroVFyhxqsILsDehBvukYbsQjYo5XgF7S55dJePDqosv7JKSktLSUt7nHW7mMM+jiwJiPH6+C/ewgMVyhYUlHIjzrQRbY62pbIKg2iMea0IsTYfOmNgB/vRe3WlK95rBTjoCiDaQMAxujsiaXVRciplWJrAfamy58tCafk1yz/0zaf1t3q/2Yk0Y2GzDm/+xFHeRaBC1d5CoQVIgs4shGC7jo+UqBWtAgIoATFUoUqZq63cyeGInxU+JW+e4jZ685orm4kMb+hNnlhgP/Ox7W5kP973PP2snaIkWPT1/ZOuiPclVEKciadssv0Pxj4tYRY9PByzwPZ2Lsj+e8l0RdDzhSRFvQhA0FOwgRh7zRunpj5zspClkLL3zwogT/1p+3u5svygg7NDORZ7BnKWx+915vwGiMnT+wj4qL3YPMVDRsvL/Pvafobow5+vVvWtDb3CvwgjE83ZoChkhEz19gw/v3zzdxb/I4+gRr/bYoZ2dc+f4lgPXClHW46gtoYmvKiESDGjR4zOBvkfuszjlKYc3h119U63avlNrJU7+pSX2o1aEnH/O08PbKFl6zhmgVZnia62j0W9TsfNKd2OEcW2V45YP6tq8KsQGLXseH7Q+/AGLU5qwYcam04+JKYa09Zuihwc3Rz5koQVJof5h1zPzn5zb53/iEQvNuxK6LfJeLkfbZU+Un33L8pTNTu2bqRg4RaubdaJD31MOrNydmMmggMp6d33/+qOpTE757QMbD115Xf7+Rph/yOU8NuvxCf/gs48LPqVEBOw8m8lmZ54L2B37hLCTcAFfydu6sjcpHs2C1BNbwm6WoMyHx/1C4p4WQ8q9V5084mXetCBl//IpLmM8tj7ttzVgnD6ml5HqM7B7nz7duk+O+owlSRa1wRNHtTedOs8ef7QGgpA2rhMHtBw8YSxvKEFQ5asLe9eHP2SiRdcPbD507c2Xx2d5VJP274xOKyU3VhuB1Prb22h8v76kg/bAo1WG/GMczxSyjvR/lZdau9shMldhnjjhjYhe3cJEKg/yyQQLC+Tukwz/ujNSKr4SSjVk2WQaqWkwMw+6WY38Z3vowV3ec6KVluxba6fM9UBkLUyplJ2GMf8J3Sxl/OSjJCNYUrdi1pNNVV9EPxgQ2eDC5xhsasMkYYvk2RWSjo+dnRwR4rP+1LtH4av9Dpy6Q5zrV+w1c86I4V5z++Ks2bmppw9sXHnkCQtifz7rtyIw4vo7iGzey6LnS5joMAN5i2Jvz6mW+kM9iS9cvDyKEcAWg1EsaELssD/cigr19Tn2mgWx3kau9Q09cTOL+EqqZLJkv98QjW8pG+wtHeduPnbn8W2x+Z9oj60kGURBXFPMIEwCFWQ077CHuVUfC6/TtX7nCW8J3oCABAIkE4aEmhCk0nVa+JPMZzfi4i6nvn5zJ2RCR/wzi78i1HQAAAbrSURBVFVV7LEkKjHu0qkVtX5HC4I1TEZ4LDv65BvK4aDfnkaumubYXYOu0X30ov33CtkcDjs/OWDuRAdT3m0QmLBaC4zAdKPRHkPUREtgvWEbkjJfn19j10bLsP/iYxeOzBX651cV81XXXqQlnom7+eTxmYXmnV0DrmT89ypuyyxbyY+Ywm2mHIpcNtCgqY753JP3r20arkeQQVr0nbg2/iOLg5akBs8Z1hE/VycRA6zR3XlB8L1iNof138UNnnbtVXT7b0mtRDloVfZFf68RXUWNhxRNFiU8fZgUH5f89EHMkv52a85dS7j16G6oq+gNr7BaV8f5IamYWCysO7FydHfuDyCRtZ5k5zBnXxrGmvkhztdzgLG2qdPc4NQSlMPMOuMz3lIPgWB1q2UJL9/cv3z2zMW0lw/C58xcn/DoQ9a1vQuHGWPnNEmh0tsOmLkzuYDNYeVc2TRtcAdVI1vPtWezGBx20b2geaO6axlYTVh+IuM7in7PiPR2MeXayXda7tbKpHgUdS3cuT1SnBo0d6RJM0yHotHYoHuZb+4mxJ65cO/t2yRfWy0Yy4YUzRZFxJ2/uH/I6/N38DTJW9nm31PhC3vQecWwrtuOOH/XmscfVTraLwxNxyl+iF83bWB73e6jeFTfx64cZ65Nbix2zESMZsc+S09KSH5yf/8YQXzIU0U2DPZPGTZKQrdjrchcxYpEFxG97btQe4A1lVmwxOEP1ZlR587DpAxZ8nkHIjNaydov7fPb+DWOHbW0u4zfd/3SxmGS78YXpjRhgOPP6WZpbLCxSuYI1jG1FrKpSuyDAZENLtE5RtLsKgs+pE3/CV5bkz4zGJln184Y27cFghuKtJ4dG/ePMXdfz2L0DN9z7xgoh8POSw6YN2FAWyWymcutm6mkiQ6XyX0jxjP2JWwdW/Op5GaTgEPEYOCzBLcBsUZa93ObtSnxE4PD4TD/u7RplruNIe/jj3SYk4hNc+i31wlB/07q29261vxPSMC+9PEMwnqPlwNREBeftiCIEjKsMz7kyvkLlwOcxY56AlVgBxAQJyA8FMXLJKXpWp1tHB0H9zZUR4SKYfVOAx0HdlKXV5qQCNJdND8u+oPtxD68wFG0npKeie0IZ8eBZq1Va+lW1O8x1Mnesg1WAqt3tbHp0EzYZFE5eArR7Nzf0cVpUC8DPGTDc8jfkjGQ15dUoqjTzW6EA2EfBKsa97O3MsJMlVRTUt6PtFZpZTbYaaSdia4ipGRsPchUBwvjhHRQQRWq9pN35XQQbmpoae88anjv1o1rRgKibTpsmGHRZ60e3aisRVp07SJ02hdW7WDagTjlTNVIpIzSWGW9HnbD+hiSdC5lUxEl/IREV/mFQltqvUIV+buyCobqNPzld5RvF7Yl1yjJaKRVp046uh16241wGTnYTMLcgEnkL/JQonRBHkF85cJbSY4IlwvtyzxVURqMC5Q4u8qDDxci31uqTZLFweqdTY2VJZXJAU5S87rmSTZIZu+kQFZpZWk/rJceL8Ssq42g3d9EoObA95t5jZZ+fPEqtxItvr3jMHP8tB6i8Ua9Got9PYMgbEXcB1uvkoGwX0uAVZh+dPnGLLedczv8WkN+WDsQAAhgBLBZql6mqgacXTGrwQIIAAI/n8BvGsyhheGTu3brZNBcq+e/VQt2e+K3pv8kGKyvb7IKUTT37SvR+7x+kjogtuEIsHNeF5t4h+2Z3EniN/qGMwRoAgTqgUB9TVUNOLvWg9dABCAACMhCQDSYk6VFg9SBNd0CL548ejz2Znry7lG1bjWqNxuq3lyNusgYvCFw778W2OXcFPyn/+tNOBD0iwkgrfsO7qEDrlT84m4A6uuDQD1OVQ01u9aH20AGIAAIyEbgNw3mIEjZwGrMZLdhXTWpb3STzUvSWsrt7SZOm+VFvGZNc7f6eWEjqQmgABAABAABaQTqdaqqv9lVmtmgHBAABBqGwG8bzDWM+0ALIAAIAAKAACAACAACfzYBEMz92f33l1gP3AQEAAFAABAABAABMgIgmCMjA/IBAUAAEAAEAAFA4M8j8BdaDIK5v7DTgcuAACAACAACgAAg8P9DAARz/z99CTwBBACBhiUAtAECgAAg8FsQAMHcb9ENwAhAABAABAABQAAQAATqRgAEc3Xj1rCtgDZAABAABAABQAAQAARICIBgjgQMyAYEAAFAABAABP5EAsDmv48ACOb+vj4HHgMCgAAgAAgAAoDA/xEBEMz9H3UmcAUQaFgCQBsgAAgAAoDA70AABHO/Qy8AGwABQAAQAAQAAUAAEKgjgT8imKujb6AZIAAIAAKAACAACAAC//cEQDD3f9/FwEFAABAABP4qAsBZQOCvI/A/AAAA//8P+Nk2AAAABklEQVQDABeRn8NzydNQ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data:image/png;base64,iVBORw0KGgoAAAANSUhEUgAAA0QAAAFdCAIAAACsPToDAAAQAElEQVR4AeydB1zTWhfA07QURFBAEcQJLhwMB4obQUVBVBwMJyqiqJ++99Snz733c4O4BUFwgApucW/FhYqguB+IIEuG0JF+N+mgI0lTlqi3vzRN7jjjf+69OU1bQEXwAQlAApAAJAAJQAKQACTw0xJAEfiABCABSAASgAQYEYCNIAFIoCoSgMlcVYwKtAkSgAQgAUgAEoAEIAGGBGAyxxAUbFa5BKA2SAASgAQgAUgAEmBGACZzzDjBVpAAJAAJQAKQACRQNQn89lbBZO63HwIQACQACUACkAAkAAn8zARgMvczRw/aDglAApVLAGqDBCABSKAKEoDJXBUMCjQJEoAEIAFIABKABCABpgRgMseUVOW2g9ogAUgAEoAEIAFIABJgRAAmc4wwwUaQACQACUACkEBVJQDt+t0JwGTudx8B0H9IABKABCABSAAS+KkJwGTupw4fNB4SqFwCUBskAAlAApBA1SMAk7mqFxNoESQACUACkAAkAAlAAowJVNFkjrH9sCEkAAlAApAAJAAJQAK/NQGYzP3W4YfOQwKQACTwCxCALkACvzkBmMz95gMAug8JQAKQACQACUACPzcBmMz93PGD1lcuAagNEoAEIAFIABKocgRgMlflQgINggQgAUgAEoAEIIGfn0DleQCTucpjDTVBApAAJAAJQAKQACRQ7gRgMlfuSKFASAASgAQqlwDUBglAAr83AZjM/d7xh95DApAAJAAJQAKQwE9OACZzP3kAK9d8qA0SgAQgAUgAEoAEqhoBmMxVtYhAeyABSAASgAQggV+BAPSh0gjAZK7SUENFkAAkAAlAApAAJAAJlD8BmMyVP1MoERKABCqXANQGCUACkMBvTQAmc791+KHzkAAkAAlAApAAJPCzE4DJnCYRhG0hAUgAEoAEIAFIABKoYgRgMlfFAgLNgQQgAUgAEvg1CEAvIIHKIgCTucoiDfVAApAAJAAJQAKQACRQAQRgMlcBUKFISKByCUBtkAAkAAlAAr8zAZjM/c7Rh75DApAAJAAJQAKQwE9PQKNk7qf3FjoACUACkAAkAAlAApDAL0YAJnO/WEChO5AAJAAJVBEC0AxIABKoJAIwmask0FANJAAJQAKQACQACUACFUEAJnMVQRXKrFwCUBskAAlAApAAJPAbE4DJ3G8cfOg6JAAJQAKQACTwuxH4Ff2FydyvGFXoEyQACUACkAAkAAn8NgRgMvfbhBo6CglAApVLAGqDBCABSKByCMBkrnI4Qy2QACQACUACkAAkAAlUCAGYzFUI1soVCrVBApAAJAAJQAKQwO9LACZzv2/soeeQACQACUACvx8B6PEvSAAmc79gUKFLkAAkAAlAApAAJPD7EIDJ3O8Ta+gpJFC5BKA2SAASgAQggUohAJO5SsEMlUACkAAkAAlAApAAJFAxBH6FZK5iyECpkAAkAAlAApAAJAAJ/AQEYDL3EwQJmggJQAKQACRQXgSgHEjg1yMAk7lfL6bQI0gAEoAEIAFIABL4jQjAZO43CjZ0tXIJQG2QACQACUACkEBlEIDJXGVQhjogAUgAEoAEIAFIABKgJlCmGpjMlQkf7AwJQAKQACQACUACkMCPJQCTuR/LH2qHBCABSKByCUBtkAAk8MsRgMncLxdS6BAkAAlAApAAJAAJ/E4EYDL3O0W7cn39RbVh2fGn9m9bs6LksXLVmnUbA/cdi43/XFT5Thcnhv81uM+AiYEP8rDK166JRmHqjQMbVhLcVm47916o2he02C9psWLzqTcC1RYVVYJlPowIjHicW0EIgWNqXKd1jFl3+ZEAeuxXISnfgFYfeWX+s6jdRx5nVhAicp2wFBKABJgRgMkcM06wFSQgIYAaWg8YO6ZbzuGlC/HHspN5Nt2tjDNOLh7R17Zx485TD70qlrSsqBfhx8uxz6WJTtGlDbO2nIw9vffvZcdyK0pj+chlm3Uf3PRV0GKAbfHGmLdSD+SEs826Dm70YhvRYt2JRJIWco3L7RDLvr1u6PDt/N7ubWtW0IKo3nVabxh1VxgJZCQVGsjpUxhPcuXKh3pWA/uydngO23ivonJeZY3w/PciAL0tC4EKWrvKYhLsCwlUdQJoTVvrJhyxldVNrbq4jlt9ZMfoBijvy90d44ctvlORN+iEn8JnTd33kifWjnBt+w9oVUOrWmPnQV30JWVV90W3bl36fAmtbm5uUqmrUuHD9UPct+tP3TCyuXZFglPrOr1y9d2VRoIqSaUGEn1K40lSSv7CaTR0uS9346BhW59W9DsWcgNgKSQACVAQqNRlk8IGWAwJ/HQEWGxUce7U7N7DFk8GRMUJR8LuVNilrujZ1vF/RKWVfNSFmg3d+SyrMO9tpG8LSXpZlWGyEBa9eSgLPOiblLVWvn/e1YU+S27V9p7qVguVL6+AY5Y61+l1qu2uPBJUSCo3wPWpjCe8kOaJmgyZOrzGtXk+S28V0DSDVZAAJFDJBCp6Aatkd6A6SOBHEdDiaqEsXLmouOi7CBHkZ2dKHjmFQgTBchNjDx++nCy7BArzPzw4ezRk796wmHsfC/GOCs/iz4/PHQk+EBJ5NSkbdMfrsLwngd4D5lzKxES8Alx6TmGxWEtObk5mdr7Cp5Ik/XEZ4Fn48V5MWHBI1PW3FF+y4+VlSSzPzC4QILzUBzGHQo9eTswuSSHVeYflvrt9Miz44JFzcSlUtylFeW+vR4YcPHIpIUviIDCOaiMxWskGXnr8uUPBB4/f+iBGjOW8unI0+EB4bGJOid1K4gXPts7Z8YLfqLerLZeoUu+6klbVuJbRdTXDgrCSjJzELpKRQHRBpANSroHqeMrLy5FGHn/Nw9+TSARnZhLDGEG4HQc5N+A93TIn4KXCgJOogS+QACTwQwjAZK7CsEPBvxUBwcsXr4tFwGXUuEefTlzh1+eH/9e5bm3wqOu09lH8Hs+2tn29vPp5rHsiQLC0y8sH27ksv50tyH+8d/rgzi1tvPa+xK+coD/I+7JurXO1tJ54PL3g7ubRjlaWTkuvZ2OCFzvHjVx49hNfhIjyLsy2b9vWbsSOB8+i5zrWMwZa6rT+47wkbcJI++OisYyrK/u1bD/1TB7nS+gYW5uh25+IMx+8UvoUZr6InNmDMN3Edtx8vy4d+nqPHe3R27qV4+LL4q+/03onTD01u3uLlh47k1mc97s9LJt0/+PYW+mnwhIloqIXQYNsO7iNmTDWs7dNc/s/olMoEzoKo7HMF+FTOpoC12vX7TljtX+P9j2GjPEZM6S7Vfc5l17GzOndwX6At8+4EX3b2k89nUGazxVd37n34XeRdktbK/ymKoKod53Wc6RsrqsZFmJ0FOSwrJckI0HchdirNCAZT95bT++b0J6IfO06lp5b733mIVj26wsrBzZt2H3m8VffCIrabe2sqyGF9/buuqsUVUIR3EECkMCPIACTuR9BHer8xQgIM+5snLfnOR9Ba9pOClw3rBbKNrX38e5qhM8vUeHjzQujtVs20gE37jBMhKUe9PdaEp0sauY0zHvKmqk9dZHC5COzFx/PIagIP4VNGjbvXGG/ef9O85s+pA2Hn35t9YL971mt/Q9HzWqLf5TKqjEgMOnjx7dnZnbr7O3j1IhNdJTsqPoLEWHyrrEeiy4KBy5dP3nkn0t9mv93cpbP6vuyJFIigF3Xfszonma4UGHq5YdNdyd9/XhuWksOP+3ayvFzzuaCZmxq7wQvt40a/e/tzOZjl/0zxnvmOn+bjJtbx3qsvC/JNEFvsIlyM2pOuPBfduq1Oe10hJlx2yZOP/QZlKtulEajJp18POz1WaAL/+Wl53b7kr4+WdmVCzLdJ5uGDQ033/QwPeHfXjosUdGrgztPkd2dK34QfeGjEGHXrtdAF0gBm3rXaTxHyuA6yJLUDAtgHbGRksMQtI6dykgg2kt3Kg04quPp7HyvP/b+61mPGLUC/SbWDbkIatx2sIttC48Vm8baGuIVCKLTqIEJigjenj0Rx5OKh6/lQACKgATKQEA8O8sgAHaFBH5rAlhS+J8jh/ksu2kwYMbKkGvxdwKHNMDzIAAFZRPTS5D8uu7fR0Ojr10K3Xlo/182oqS4p1mYKO/eseOvBQharRr+CZ8o/7/36ULQifdg2+oTaUK2ectW1RBO84Ge3Wpp6Zg1t6iJZy2gXmUDH+/Kl1H3L765dcOFDIzT3NYW5C6cho3qoqLi5xFhd5WzOSBOIhStM+jPaW312UY9xw9tpQXuXH2M3H9a8mkruXfNrmzceD1HhHAaNm0K/GLXbdJYnwXS2aDNp4BY2YaaOHgPaqKL1uw0dqgNB9yMTD+z/6isVu6A1mhUS0sLx6LVZvQ/Y1rpchpaWuA/rxAhjYbO9rWpyTFpZmEE6kW8lPf/gXRJTix+iKU/iv8gRBDUoJahJGJ4MZ3reD3oQB5X3kVK1/EEWNwX9CZz/ROC8GmHhbQ3QkoOdAcNJJaDI4pNbQNgXa1Bf02wBpET5V7cH/YO4EF4T6587j7eVZLJAdFsQyMcs+D940dfVbGCBnCDBCCBSidAXG0qXStUCAn8KgTQFt6bwo6fPht9eM/GeaO7NdRRcQw16ebUXhthm3Ye4TesrSGq3X3m5kU+w8f8s2hM04w74afixV+YEwgEIgQRJMdeTRYAGVpcLthzrGdeTsvLeb1nMMPv51P3x15duQ3uQyHCV4dmjPT29p649ym4VAs/Jb6k/kMTLK5ONSLP4Vg0bQSSOXDbK/4+uAEJLJNuqIJ31Z9dvvkZiGXp6Ovj9iOojg5xQzLz3jVpD4VXdoOGZkRCxnv1TKFCfCJgZjRL8tsCNoewFpGcsrQ4bBaCIKKi4u+qWYcgJVX8QxJtnWqgkdJG6rpCG0XPDQVPqV1/rNBRciLvegKC0A4LSRf5F6Xu8lVlOuZYT5jUqwYLERXc2hV0rxgpvHXklc3IztolQlk61YgzYdqnT/hQLamBR5AAJPCjCMBk7keRh3p/FwLs2qam4OZTibucxgMX7d09q+Xt6W27z32mW0ec/4lEIJdDhGmfie93iTLS0kBShHfiaGuz8VdGT+r+wowM4gtvqJnrsoPh4eFHbn7kA53F5yfXYbAKaOlV1ybyovy8b7idMmMUvcO+fs3G0yYWuGcmlgpU4G2xnGz8RfXJ0iayVgQRStxVaFI2o2WiJEbIzsUHfJ44FUFR8S9XxKUqeznXFeoUPUfoXM9S6Cg9kXMd951uWEi7yL8qdZevKtMxu6HXlCFmIHr8Vwe3nXx3LjylyygrxQGMEgNSxCsmviVaJm2wMyQACZQLATBly0WOqhBYAglAAgQBtvjaRxwTu4InOzw72I/cnjo05NRKx7ryk5Bd07AGfi748PBBKn6JJzow31H3Z+npV8fTMeHbhASF768xE45hRA6H1jAs+byN6KngHVqrlgFuPiK5NwY+PeTzEfBAjWqBPdnG5xEN2A0sSGrLaDSJxJIitGZN4ht3Jeq3hAAAEABJREFUiPieaEmF8lGJ64o1Cp4jdK7XVuwoPStxnfCdZlhIeyi8KnVXqCvTiUG/KWNbgxuxWHr06rEBeX08zYnkTSaTJ4lp9Rr6ihWyFvAAEoAEKpmAeOGtZKVQHSTwGxPg3V056o9jyd9r9P1zZhdxOlFCg9O6aycT/ApZdDtkf7z4zhGoBfkG2CNsVDxhye804S2o+3NbdrDB8zAsOzb8uPjzRQTBMuPuJZJ8Zw4XJf/ECrJzvoNsDq1p27E18fmpfG3JMdfGsZspMF9UVFCI36FDhAX5RL/anXqUtAJHGEZUI1j21xw+EMy16j8AFCtvZTJaWZjSOce8ubkuSG9Fhfn5YmOUGohP5V0Xl5Dv6Vy3ke9C5npzBKEdFnL9KbrLtWB+yEbJxxO33cRJPcHQFBXGJ9ZxH2IqbiWVK8zLLwAhY+k0atpY4Y6dtEEpX2E3SAASKD0BxVlaejmwJyTwWxEoLiyS3Dcr+v6dwnPJnRNRcXGRXLKAfbl39zX+K8Ci1Hefct6dPf+E6C8q+k6kPzp9pk/vXAPkGLzHG31nnnhbKMxLPrV81vZHhQjCqmFUA796ir5//vjf5xtbAy7mgSRAfGcL4RXjQhHq/vr9J4+25LIQLOPknHHrr38uFny5uWne4f9qgnswCPlDlJf6MQu3nffo0UuQWXIsvHxdaorbkntXve9ff3U3YImK3r/C/1+X4G3yR56Ipd9p2kyFXA37lv4FOIQgefcfAMFaFqMXTbMm5GJ8Hp7cAb8If2iNlrYV8fjFuJXgo1oiKCI+j4efg3L8e4gIIpAwIjTIdrpdurXVxhPa9HS8taycOCB1nahB+GJpSnFFaFyXICO6k7rOQdQMC6IrvqPojlfxxHZJR4KUjvQcIFVsQD6ecEkIu+EI/0Egh2PXHzxW7qcPRB2CfU3PBsC41t261BCXwD0kAAn8aAIwmfvREYD6K5lAWdVh2fGn9q+ftfM2kTshgviDC1fvPnYP/9q/nGjhpyvbDtzAr3mIMPnE+k1n34BciKhH6/bsa2fAQkRF91YP9QmvMWGaI37DTPAicPLfp8AdM06bv8JCZtgba4nyH211b2ZgaOV3zWrGlI66CILWHjJjsi34GJZ3Y651x3VI9y45V7dvPf0eF43lXNu79uwbIULdv3r35Ye2ebbUQ4Wfz83t2aBGHYctWn6L3BU+5kUUH9yCBwGLN+zYNGN+xH/cxi4rDqxw1AMtqL1DOK2mHzr0T686CbumzwsImP/nrpd1es0JP/oPnjaBngjCqtaoz8Tx7Z6smbh81+6VfvNOIR0m7j65dZAxWIuEqdeCNp4EToAUC/fndDKP0mhhyqXNe28QX+ATJp8KOvww6VrAgWti4m9PBYbceX55U+BFIk0Tfji/6+ADlS+usRu4D++uz8Ky3yVLv5+IlDzIXafxvGyuqxsWwDBacp8UR8Kp25cVSSa9UWyADxWV8dRd9g/hUEPXKaNa6DQd7uNYHaiW37CsN+++YqzqXYYPVfr4Vb4VPIYEIIFKJQAW0ErVB5VBAj85AdTQesC42fvicjDwYadIhBW+PLpg4rBOdcGHi3KesRv0mn3inUAEHlhR4tE5/aX/yhVBOLZzzz+9czb60pPk5yfm9ek4+diTu2eOn7nz9MbmAeBmCAJuiwzadOvd6/vnTkaduvL41avL6webiz/aRGv123j3Zdy56FNXnz87Od26egOHv44kFQMlIpHg46nF/ZvgVrAbUvXXtfELf/bh5c0zx0+cvf709bOj09vro3JWKx+ytJsNXfiPR4dWLoujHr5+eXpOV/E34mi8A+bX7b/y8pt355f0MDPrvuj827eXV7vWw+0C0jlNR++9//Tcrj0X40/Psa9T29Y/Iv7NnV1j24BUFVSzzXpOB/5guEO4P674nzehMJpdz2nemU9iwt/j945u36LnzOPv8d90iLDvz4N9O7dx/Of0R3F9ccLBCXZGQIHixm40+u8xTTmC+BvXifuP8rUUrtN6jrBL77q6YaGOnNJIGNDFUZFkiyYkQwVVGk/in+KIMWi369vXZczYjuKRJy4j9nm3bz/jcxqNmDW2sSSqRDHcQQK/KIGfxC26lfwncQGaCQn8bASqN+zUz83R2lR8odRpYNd/cP9OjcQJjdgXtHojO+eB7q49WksaiYvBXtusrbOba7emBrRzl7o/26h51/6DB/XrYlkL/8gWSFSz6Ta0cx7k5mhbT/5Sr6YPom3SpscAd/cBPdqYiJ0Ud0CNWne0xP9IGVq9oV2fwe6uDjYNdGkdEffT2GhxN7V7fcdlWyc1L7oWeYq4hafcvpJdr04zLEpLTtkllXPF8VT84cqBoGOPwQ1O3oNrxU7erZTHCJZ55sjFbxY+W5b3M2AQOBV1sAASgAQqhACcjhWCFQqFBH5qAiLxb1cRTPI7hZ/aGTrjUaN+ayPWdH66af3NAnG7H+a6WP0P3WNpIf4Dx/uPmLj9xZcz0cW9PRX/uQiwreDu+g332q44tGmgCbx2AB5wgwSqCgE4IatKJKAdkEBVIcD7/OJ1BgaswbLfvkrDv5EHjn/ZrbrtjKPn53P2/rP3SS72e7muHFNUr6G5KQcRJIRO9Y1u6jNI8S9VYzlxQX9t5888d3yWHf7NSeXe8BwSgAR+HAGYzP049j9GM9QKCdATEH64fY09cE1AYGBgwNrB7NioO0o/7qDv/jPW6rbwXLt/pQMnPfHm7+a6Yrj0nLfevh9zMGjVuqAdfsofsX7P0um9LvTfES2VfxKhKAOeQQKQwA8gAJO5HwAdqoQEqjABdiOHsZP8pY9JEzw6K/24owrbXgbTUP0mbZq1cvwdXZenxja2HTByzFD7etrypcRxdYs2TfHvOxIncPfbEICO/hwEYDL3c8QJWgkJQAKQACQACUACkAApAZjMkWKBhZAAJFC5BKA2SAASgAQggdISgMlcacnBfpAAJAAJQAKQACQACVQBAr9dMlcFmEMTIAFIABKABCABSAASKDcCMJkrN5RQECQACUACkMAvRgC6Awn8FARgMvdThAkaCQlAApAAJAAJQAKQADkBmMyRc4GlkEDlEoDaIAFIABKABCCBUhKAyVwpwcFukAAkAAlAApAAJAAJ/AgCyjphMqdMBJ5DApAAJAAJQAKQACTwExGAydxPFCxoKiQACUAClUsAaoMEIIGfgQBM5n6GKEEbIQFIABKABCABSAASoCAAkzkKMLC4cglAbZAAJAAJQAKQACRQOgIwmSsdN9gLEoAEIAFIABKABH4MAahViQBM5pSAwFNIABKABCABSAASgAR+JgIwmfuZogVthQQggcolALVBApAAJPATEIDJ3E8QJGgiJAAJQAKQACQACUACVARgMkdFpnLLoTZIABKABCABSAASgARKRQAmc6XCBjtBApAAJAAJQAI/igDUCwkoEoDJnCIPeAYJQAKQACQACUACkMBPRQAmcz9VuKCxkEDlEoDaIAFIABKABKo+AZjMVf0YQQshAUgAEoAEIAFIABKgJFBFkjlK+2AFJAAJQAKQACQACUACkAANAZjM0cCBVZAAJAAJQAJVkAA0CRKABBQIwGROAQc8gQQgAUgAEoAEIAFI4OciAJO5nyte0NrKJQC1QQKQACQACUACVZ4ATOaqfIiggZAAJAAJQAKQACRQ9Qn8OAthMvfj2EPNkAAkAAlAApAAJAAJlJkATObKjBAKgAQgAUigcglAbZAAJAAJyBOAyZw8DXgMCUACkAAkAAlAApDAT0YAJnM/WcAq11yoDRKABCABSAASgASqOgGYzFX1CEH7IAFIABKABCCBn4EAtPGHEYDJ3A9DDxVDApAAJAAJQAKQACRQdgK/SjJXnJfPKzuNypJQXtYW5+dRe40V5xcKmHpEK4mpENiuogkI8vMKK1rHTyG//IxUQqrRrCk/K6CkSiBQXstu6U398RaU3nbYs6oTYJrMCd+e3rJyBc1jU0wy48yh/KBgeYlntv89okdTU5tZ14rLT27FSCova7H8pLMBc0c5NDNt+efFIlJbsazDoxoamTquT6CNCgNJpOJhYeUSEKTeCVnu52pTr57HwQyscnX/otrIkDKcNb8okV/VrfJadkvP58dbUHrbaXoWJp5YOXGwY4+e/Tz+2H7js8q6VPjm9LopIzw9vXwXhMfnKlfT19KohVUUBJgmc8WPD60PS9Bt1a13v/79+zb7FLp04bKYAjv8xLGTBfYoZN2hx9Q3iSiUl70Y5Zp2GtS9+n/v82hzllIqKsrIyFMegqUURXQrL2tRLZOO7r1qpr77JiTkkuxQg57+q1eumD2oCYekVlbEQJKsLTz4cQTQGi2cB1nkJqUXiX6cEb+WZjKkDGfNrwXil/emvJZdCagiza8K5WyBxJAf+8J7udtnzMZ4bqOW9QTPT26d3t91wc0COZMK4tYPdFz0yW1DePhOX+0dA/stvZFTcjGlr5UTAw+ZE2CazAm/m44M3PPXEAf7Du3bt2tuosNCWNXrtmnXvn3HLn1GLDq4c5Rp4Q9I5hBtg1r1bK0as5l7zLgllhK2ZHMcn3F7Bg3Ly1ogx9TKsgGd16hp9/Gzp7s116Y3i4EkegGwtjIIoHpGJs0tLfSZTtfKsOkn10GKlOGs+cld/93MB4tcuV0k1F0VyNmWpwXkGiq5VPjxyMFP46KvHg7YEhB+/fbeoabfn+7aeV72MVFx3Dq/Jc+7zl3mbIaiNe1nLuyfttZ30ZU8sZn0teI2cK8xAaZXB7a19+jOupTiq3fx8balvQdE2bXsFVocuqymlPKx3Ctr/43NKf8bIeVlLbvcvC4/SaVkDbsxIsDh/KgZxsi8n7ERRPozRq00NmuVy3JZlqtC+VhQGt8roA/LyHX2gv6m4vSB3dDdo0cNFoKADSEeOTGbdsazOzn3NhS30O3av6fBm5CNh1PxavpavAV8loaAmLX6nrrWHdrQ3eTRbt3RRg8Xw/v85PyRgyHhp+5+KCi5q4rXyJ68vKxM4pFTSHxMKMjPJk4zJeegIS8j/tzxm59AdcG7m5Ghh87GZ4FjUFGyFac9PhcRfCDi0qtvqhmXMDvpWmTI/gNHLyfKdxRkPD8Xdf2jkJd6/3jo4atvC3BxWHbSpcMHDoRF33ye+OB+Qj4ow3IfB4wZG/SqqBg3NUvyKwNBekJsZPDePcHHLidkyn+sW1ZrgUawCQokGDIzswsEiNxpZmYe8ZZHWpSN28iSTR0s/+31owfDz73IkgeO5b67HnnuhcL35bGCD3ejww4ciDj79EvJfVR1koBtSpswM/FyZPD+/RFnHqYSlsnVU1ESZAF6V9+BMPK+xJ8/EhZ1+4OkK+9zXExYyOHrb5UHDEUUEZKIyRkgO6SyBCEdBqAblT5QVbIVfX5w6uzTHAwreHfz2MGQo1eTVb4NglBOAsrODOZEiQkIIj7W2EFxN2LPUz/DyLyQDkEwYbPVDVL5KULoVN5R2Wmx4zUAABAASURBVM/ANiVRZKYSTTQVhSnNGvX9GQ0akiHLIOJK4/R1Rg7ALtnEKwKCFeWKC0rWThWD5GKWKV3LkOI8cT88igQpyU6uMV4ld0q6CuG9qMKIkHiNtyd5ki9M4oZliS3ZRYIBeFyxqknkVwXQVoU4KJNuZBZI6xRfqTCWYuGkXoAYjGeatb3EYFTP0JBbcsr/XsxqOsKnt464qODqydgMllmzZtXF5wii3bpVU/TbjVMXQQF9LWhAspXmioOUghx5KJUmImXeQGJ4ZRYxTeaY2ISlXVw8wGFi2HuWruhNqK9tsx5/x6SAi7dSX2Fm8q2ohc6NjU17rMS/Z4dlv7117J8+DY3rOq19IcCy4g6v8Gxrbjtgekjcg+3DO3Yd4us72tWu05SYTFmukh+3fVgn11V3C6txUiMmDFzxSP66wXtz5C+PqQcS+dpFz3aMbmfZa8GlDAzLjItY7mFtbu06NXD/UteufbzGeLtODk4VJO7xHDjnan4NPX580IhO3f4+nynEsu8eCnuci2JY7oPgJQsXLo+I5wk/HJts18HnWJquEfdDqG/75k6rH4A8qezWyuBg2c+P/e1kblzb1H561Otvwm9vru3wsTWtbdzQac7Rh6nFYGn89iZ2sbN5O5+gOFkv5Ht8gEe7ToMn+o50add5yhmCEe/VuS1THZo17zliw1VZpiFMOTNvoPviq7m61fMvzOnWopN/1EeF4JBJKtEjOxK8PTq5k93Y8E9auvxHGwdZNrXp2X+I9wj/nY95CDklLC8+as3YTuZWff32PEiMmNqzs/MIn7FDu9n0XHwnNznCr0sHl/H+vt4ObR2W3gZMxZpIo4hXkUUML1d8kluCUA0DBKHUVyJX+O5y4Ow+zRp3GrL0xK39I9p1GOAzwcfD0aqt174kWWpMNQnoO9PPiRITSo40dlDWlcmYpfJCo0GaLlNJckBuPxPblIRRmspkIZGXpTRrmJjCYNDgGsiGLH3Eycapi9/mw/96WZvWrm3abdbx5+nEkCv6/PSQv13TfovPJeeD5ZHMIEH2s8N/9GhoXNvY3HX5+aQsYtIL0p/um2DboPO0iBdZuInSp0YBBp3IwwgqEITMa6JCaUezMJUpthQXCXrwYtvITOKTXBVAazLiIBCgBkEoLCDqFHfkGEu1cJaFGd3armiwwpkwOeICa07wql764mJB8uMX2RjLtF49trgAQdh1TGtxRN8Tn4FxQVsr7SD3SmcVOTikVOTIQimgyBt4JHmDnMk/5pA2mdPIJGFy0NhRB4znhq6dNHzo2AVh0ausEzaOHLb6MUhDFASx67Z1G+fn0lT6mRFqbD1gnF//JuLAo0YdPOcu9LTkYN/u7I+qNvvqx/QvT9f10HobuvVIGjFLsPSo/3ksL5h8LGLJeI9RfwVFzGyPldybK45bNWaL3tz9qyd5efqvP7ZlCPvWWt+FF9BaHbzmLR9jxRFl3nxUd/OLzLQ3z+Mj/IxiN65I6jZv4YQhw3wWBB9f7ojfLEYNu/ivWzG0GRs17DZta2DgpokdRLc2/bMnobXvSv/h7mMWbPujc8GtoH23i5GyWisHBjXuNDFwm28zDqLd0KqVEdvIevA/2+c66KG6ln29HCy0EQQ1am3dwMR56a45DpJ+orzb+45o/30zJSvt0dqeOslh2yPTASNu834z1vh1q8aSNAMvxQ9XD/e95bB1z9zR7sOnrJ7StfjJ7lnrroMa8UYhSVwptxe+2+3vt48/InDHHyM8/dYc3uDCf37nP8s/D+yY1JZbTE4J1bceMnvpSFs2UvT82LGi0SdffU5PjhjdKD9u69Sxmz8MOvoq/UvKtTk2RQ+3bz0l/lYFRRTzEaSILGJyBooPKSxBKIaBGbU+sTxizzZ3nLJizgBTFPsYE5Ex8UpqTtabmBltOe+P/TVt5xviGkk9Ceg7I7RzgtCuuNPUQbne6scstRcaDVIzOaXKhxT2q7dNSRCNqWoXEiVRSrNGvSkUg0ZJLMWQVbMKkixXzyKXTlqxb3EfAxaremN7u4bEjRFdc+u6OvV8Nqzzsq6JkhsUW81+8s7d09poIex6HZzbmRLrLKdBu9bGRq6Ltk7qWEfeYI0CjCAUYcQlMpuoCMXChF80yhJb6osEPXjccnKTbuqqXBW4CDnxC2CdQqgtwHUoPikwlmLhLAsz2rVd0WDZGZaXfGr1cJe/z715evtJNrj24DWC1JR0IYLqGxgQYw0vQtg6OlwWlgne4NHXEo3ld7RWUYADuq3L55ITq02eN1wmyRvkrf4hx+WWzBXGblh3RdhtgJOBWCTbYuxMj/qF97esOU7mGMoSN5PUoVocTknqgdaqBVYs/U7+yyZ0NOYg3Cb9HFuyeZ/evBeA5ryHW5aE5fYaN9JcPFLYZn2dbDiggtgKzgfsSalXO/3KOfxx4d53PWO24NP5GLySVbOGHotV29lvXGtdjqF5qyZGHCw7OyspaseJt/jiwTYfOc3TXKfEDryT+Mlp1MV1gNdA+5q41QJUS1tLlJslfo8LEoRSWysWXrLX7jzWy4qVdPLYI+JtN7vBwEF2Wpnnw098IaaJ4MWRGyZeg+viRhCdWNU7TV7h27EOF9Fp4erUgl30PplgBCq1DA31ZJ5gOSc3bHnaymNEcwIUWtvVf4Z7v/72DUFD8UYjSdxAsi+6ffFWLsusYWMUL0ANe/Ww4fBfPXpM3ACkocSubQQGhnZrz9k+9nU4CNtsgHs3A6TQqPf82a7m1cHka+fSsxGa9z6ZuJVLFcX7xQiziNFYgpAMA0p9uJMKT5Zu9Wos1Mzt71lOZtoIt4Hrms2+zdi518OOvAbZHM0kwO9/0HTGldDOCbyB3FNDB+V6Eoe0M0yNF5oOUkKh8o7GflrblOSoMVUTUYRkhVmD0E9tqkFDCJLfUQ9Z2oiTjFMEbeDhN9BM+DR8/z18xUIQLDXy0Gfn8V11gUIqg8Cs0bWfPt255rfYsCP/gWEK2iJ5FyMftx/lZkzMY7yg5KlBgFXCWLIuUntdogmhXJg4CEIXW7Ac0saW/iIBAkt9+aEzSc5y4pCSOIKos4DoL93RYNRs4aRhhuuiZYbQru14d5Wn8P2F/QfOPkwp5GfFh88a5BWYhF+hgfN8HsLicLW15HpgGIaIMHz08Whr5boQh7RW0YBDNCNHE0qSichocBPmV+aOZC6XSn3xg9Ox/4lqmZqWxE/X3sFOX5R954rmAtkoG2Gx2ChL3BWtUVOfJeIVFYMbcLz4EzEvkQbNmlUT1yEIS1tbS9IQ4SXcjcsQFWW+fyd+vM+38d8SuH2hO4I/UGIKS9viJTpOozwavA/2bmvtOnPPzTR915GDTMiQsBt5bD4RPKl+wpGVkzxHLzoPUg6hEB+YuJBSW4t3Vnxy2ozwsuO8igy9VQQqsM8XrqXUrJl3MfQI/vVBXlzE7YYe/QxAjXRD2WzJIaqvr8cSFX8vAoyIIjZa4gj/4dU7OTqmdUE+Ja5rMGhN1KmAUU2IM2KHsiklEfWSHbtWbQOWKPXje7Cc4kVaWhwENTAxrY4ro6NERJPFksFn6etVBydgw8UgCFtXrxqK8IqJGFNFsTEHYRYxOksQlWFAOWoaI+QPjpZsxOl0dOlVl81//SKhGKGbBA9lkkg7y2oZHmjmoKpQNvUMU+uFpoNUVTsIN82EorFNSZRaU5mLkkhmo/hAlpwAM6kxUQ4aWWfpAbMhK21d8qoyTvEqg/5+ns2Q14d3nc0Bp8LkQ0exIWNagdyHeu0DswZB63lN92xUcGnHbuJ9IpYZfehZ19HONYEM1Y15gGmGISOvKRcmNv1kwv/GAJsmNrQXCVWH5UtoTJJvhh9TDoHGCP1lCu8s/6TBiGiycNLNB0IfDTMw2OnWdqK78o7duN/0FQHH7iTeDxrSCM26un33fR5oQ6ztIqFAILlIgCJEWMTji1C9GghCX4soP0p9xdGIHE0oEdULBsOrkLIrFX2usHSVQZkwNfULJhKAgJUI4ZqZ1UaxvG8lJaU9kmZ1oL/gbbLiV71AWckmysnMFSH1uvv6yz8mj+9d0kThCK0zaOfNi5vHtcm7tGliz5btx+59JvvWlkJDpPjV4RmOfecl2M7Zf3jbyFbairUKZ4ytVeglPmE39fTuqvPhRFhsPiJ4ujuq5pLtHvWLboSGJgqKbkY8sRrhKPtOqbiDbE9oFYmkuZysHD8QZmXlCotyc/AMET+nf9JJ0nGcPsux5svQjZEfwJsw3rtjMQ917aZNdcbvDACpGlACrak2yihasBEiYgwipokl1PqoLJQrZ9dvAG6VCvkAB90kwC+9cr0kh3KdJSWMXzRxUL1QIubiZuq9KP0gFWsg9sztl7ON6FmyU29qSVviiFoUUa12J9efctCoCGE6ZFU6khZod5o4zo77OXr30RSM9zDkjLG3Z33ifRilQWDWAEl6vab72rFf7Nt2OhvDPh87nOI8uqvk++qgVnHTIMCUYWTkNc3CRBtb6ftoebPlYkN/kZDvpHpMY5JyY2riiKYWUGJU1kl7TseMtKMcMwRRs7aTCiAKUT0r363z+9QUfnr7Dk+zORYWDVFE+C1L8tkVaCTMys4VghvL5ghCXwvaKm5qrCofcAhNKBXNEZ8xGtzippW4R8tJF9vY2AjF0t7L/yKRxdFis9j1QfxIlLBIypgUoVpcDkvwKfn1d7LWLP2aeqLUW1ee4W8QpA2w3MSX0mPVV7Zpj+l7brx6cmx+L/2kg1NGrrwn31fSPvfiX24+Mc2Xhy9xtZDkLZIa+hd6a8n6shsMG+monxZz6OynMzvut5s4dKDP8GbYo0MhN85GvLbztie+KUPWka6MbWhYAy16fOsW/mUOaUPhl5c0WKStlF+5baYHb/c2e3tg6vDhQ4ZMO2++/Nzp+R3FV4XSUlLWQRlFcRrPIGKaWUKtT9kysnMMfH7ANm1Qn4PQTQKKm3zSzoRgDeaEZg4S0pnuGHhR9kFaPvYzMJWp1xq3oxw0ZJKohqwGEZeJ5TQf49unRu6lvcGPLuy/1Xqsm5F4Eac0SDxrEI6l71RXwy/Ht4W8fX3oWP7AkW2p1xKmAaYPI5XXMlcQyoXpi5A2tpwSEWRH6pddavA0JimroiaOqLdAXhg9RvmW9Md0zOh7ErV0azvRgHqHmnTp3EzLsFYt/H0F26ybfTMO9vHNW4G0h+Djx1SMY96pK4LQ10o7lLzSWcUcXIk80iOaUJK2B26o5A0UDSuvWLwOaKoPE//iQFRyG1W7Q98edVhFd89fKPkzz/y0z19ZzVwGkkhn6eqC6z/4UFBShxXzeCIEkxMoqVB50bJt14aL5MQeigQfdZbUijBMCG5KcdvYtzfCXuycH5QguwtV+Gh7wNmSlgpHRRf3BieDt3monuWQFdFhU5phSbfvpBFNWGCPges0eEGK7hw9mYyZW9nI3RajuAmGNy950ltb0k7uCK0zeKSzYeaZTeO3fnWb0IElJofUAAAQAElEQVTLtRvjbYMmhfovSXHwtlazisnJkT/UsuncXl+UeuzfnS+kmSr25fT6/U/kGzE7FibvmbrNYGXs2VPHj0adOhu5xa9TLckgKjUlZc2UUcwXIeQRKxmIhCwNLaHWR0hT3fHx0SopLk5O/oTU79XPlovQTQIbSXMEIe0MajWZExo6CKQz35h4UdZBWk72MzGVueOataQcNCpiyIcsaKZJxEFz6YbWHTrR3Ywft3Pcwpc9fBykby4pDQKzhuiK1hk2Y2STopuBf82N1B7m1Qy/7hIVJDtmAaYLI6XX8tooFyaURRtb6jSUkK5u2aUDT2MSkC1/VUCoiSPqLACiSjY6jCWtGBzRMWPQnWZtV9tb8CUt27T3AHtwWUcQbvsRHjac/+LuvQfXVrwr9uXx009oKw9vO3BGXwsaKG40VpUbOLpQKlojPiMd3OKqH7iXXIc1s0CYnQlSNtG33NySi6iB2z+ze9bIPr1p+2NxGoVlX4q5Xc19/jQ8fsry2WbNmhhg7y8du/5ZyPtyZ9e8DZezRFhWegaRyou+FxWLREKBAKRneE+REAOpE4+Hf5+K3WjktOH10K8xs7wWRr8pEOa/Pbvj2HOBqCAnG7/Dq+fyv8ltdbIuzOrde9K6kONRhzb/4TblZRcvXAwixISI6Ht+PqGEKMEyLmxaf07y3y61G9Y34dS1bI3/vAvV1avOwTKTnqcUpd04dfN7tWosftzh3feyBelx++YH3ioU8XOz0pPvPf4MJBYVi0pnLWGD8g41dBnpZpp3P7GBzwj8X1twWo0a1Vk77T/j/h7y6y+fD/wVCiSzBZFnREjkgXrwuTfIkREENR4y3cdSK+/6AtdBc3YcjooIWuDlspY1QJxnq5NEiJPsBE8OBJx+FLN88qQpssefi/fdSAVJIktXl5oSH/8EnvgwUiJJiCfKmEAaC5A3YyIRn8fDhxRVFC05CHnElIYxrSUkw4BSn8RWpRfh+6ePv+J2Igj2+fjBi1ivWX/2wq+pNJNAdvmh7Ew/J4AJRJz4PBB2RFMHQW+FjW6GIUy8YDBIBekJd++9KvmkRd4AOvtpbZMXAo7VmKpWlBxSIA1s8rMGoZ3aCNmgkS01QJRsIx+yoFpNxFWXK9CH2Go6TxzVAv301mDQWNuSt3dUBoFZQ/RCEJ0u0yZ15b4+fb2+l+SzWUmF6guDACO0w5BPtbQicg/KhckYVTcM6WKr5iIBbg5RX37oTEIVrgrX03QprjaWiDoL5BggtBiFYMKLEKYLJ818QMCDjhmC0K3toLPChuW8unsr/rP4Uo9gmbfWrLzZYfmSAZIvdHOs/rfMp+Hzo+Hij8h4CaHhcWajl05vRyyD9LUKeuitYtFdccC7Zj5zcpSTB5ijOhFJpzRo+WM3paugWmMEb6+FBcxbcfw/ISKID56/YtexO6nifILTakZY+D/2qRvcXf7ctG/vxj/HB4pmRe3yJv+nU7rO/5vRWffFlr4NdI27rvk+/A9nU1T09dK2xTvPXTm3c/WhRwIsI3bnmn1XktOfngxaE/5YgH25uHP9obuf0TpDtkasdKmff2v1oOaGug0GHTbo0JKDfL+1e96Wc8mITsf5Rw7429XMuLVrztghw3zWxXdft8nTDMt7HhOwLOShQJR7evnEVZGyn1Hzk/d4dR34x4adezbPnnJYe2bQYicdnIJ+D5eeRt+vzGxRxzG4qEW/CVN6GRfeWtLNxKj7qmz3ed5N2bzL893WftDOLpO1uCbVp36fUYOb24yb5iL+fjK7sceoXvX7jBwuQ1mYeGbbspBHfCzryu7Vey+/SntyQsIodtfGww8+f7odunb35UxM8CRi7c5ziYUIouew8kjgqJbcT+fWTfEaOmbRxVp/7V3eozqiRlK6snGc5i5e3fQ/XgndtUP22LzMt4/TnCsF2vbjySm9zX2xa1nwPb4o/+buFXsvJuW/vbpvzY4LX4SCJ+FrAk88yfh0K2zTxhPJQmHyyU1bop5mYxRRJEYrVcTkTKW05B0nnXQY0OmTkys5ZGkl7Bg1fkng/l2rfYesyfIJPuDfnE3UMZgE1J2p58TVdyn3wtfuu5aD8R+FrtwRHV9IhZrKQcI6ya4wiX7MChl4gSBqBinv3kJH286drWzHREgWCIl24oUyQK+yHtHOfvFaQ8ggdjSmqnHzPyWk2cIUxVnzVQ0mqqWGsEtxRzVkKSO+48zFE6TLlUQut+P4cfZmzuOJd3uSMpCrka99qKwBwrbwmTa4rtnAMYNqyZWW1MsfqQkw3pQyjB8M6rARKq/xnrIn1cIEGpQ+tp9FtBcJHkIJfufVj0IakxSuCubGKPW6QX+ZAm99gYPSjRIjWDj3LtNo4SwDM4RubZeaKnkVvjswuU9328Zmlt1chgx27jF4feHkI8Fj8HsP4haoUb8NR1Y3jJroszwoYIH3hOgWGyK3DAYpOlFNX0s0ke3orKIE90Ev70q5XHJMC5jnDTKTf9SB2imtZBjHoufIqf9eTROKRBjvzcklfsM6m4mvY+D+T91+y2OTk04tcmpsbN7jr4NnDky1I/6Wh5IM4lTXbv7lFw/OHY++9vTJ8Rl2rTw2XUz4LzF67aR+vfpNCXrwDRPxP0QvGd+raR2bQVMD7+WA83fHF46wrwv0GHT9+/TLV/cvnDh+9sHLhyFT/Jadfvzh3eVtM/o1BbK5FsMD7ia/unM66viZu69fxy5xAGMI1W/j9r8d97KFIpDWhc8bamtIeK7dbeWD1Ncxi9wsjeu0HhF05fyKfqZEBVj2Jkc9i4s9ff3p/V3DGlSz/vN0/KPYmOjr8Q+PzezhtOjk5dM3Ht/Z6dGqVRmtBQarbjo9/zkaMqMtR1KDmnr9G73GQ/Y7W0TX0mXGzjicyYeYpRMcm5vaDpYwehs1z9OuboMuoxbHfBSIsJx7gVP6WericnTbTAh5mvzsanT0hXtJr27vGGmJJ61qJOE3KfHOsifG4xVZTI7NEorEDyE/P+sDCKDx3fPPeVwKSt4Ovf02Xs8QigQpF1dN6NNCz8Jh/OIT73giYdbdgGmDbY0bdB05JzzhO4Z9Tzg0e4gNHhsuWRSBGdQRA5WyjcoSLysbsmEA+lHpA1UqG9p47N5Dfzs2qGliN/XI/cur+tcVjxm8IapuEtB0ppwTDub1OnmLI5p9L2DqQGtDzR3EjRM/dVvQj1kwn9V6ASTRD1Juhz/Dok+d3dU36dTtYtBaaaOyf7STK+3sB7YpSaI0VY2b9ZWRsuspzpraajABO5gNGpohSxVxf5c+g0mWK6BSsrGbTgw6vW54yZIgLldrEMpGORZDffpK/ryruBfFnj7ARCeqMHqYs2m8JrrKduQLE1Fd2tjWZSMozUWCiyBU4Cc5NARDjNIktoX8VQG0RKiJq7GAcFCyo8JYmoWz1MwQ2rVdYqnkhd1kevSzO2cjdq2YPf3Ppfsu3DixbngLxR8Fonptp0Xdj/q7c32LfqvP3DrgZ0v8hyiJAPpaSSPihdYqKnAezZr3KpdLjsZ5A2HzD9qh5a1Xu661wwB3N8cOjfTUyeaatXUe5GLfGDREDdr07NnCEJ8dDA3Sbdihz6CBTtamXES7abfeNiZghpZ0RWua27u4D+7fsVF1WivYDVu2NDFt0dFpwJCBfZRN1qnb1qlfZ3NgHi6Ya2LlNMCVsBZB9Zp2d+lqIanBa9U86a1V7cyu16a13HtnVK+FTQu57+updmBWwjFu1dPNrU9HcwMNSMuJFn4KnzLuto1fDzzdIspRTnXDhlbd27awbNEIzz3LRImQKLcjiyJtxOT6IqWwhEyfvEi5Y3atVj3chgzq3b4BkSnL1eCH2vSTgKazBnOiFA7itjF/qvECoR+k7Do2/fqZZ6Uat7VSXOWlBpSn/epMleqsgFf1g4Z+yGoQcXnrUYNWNk115Eukx3QGYenRhz84jOpM2lEqQPZKH2BJM6ow0nst6Sx9oVuYyhBb2mVXDXgqk3QUrgqEAzTEaS0gOkt2VBgl1Rq+aCsvQOr7q1/bFWSgeo07ObsPGzaoX3ebemRrINFap4Ft7wH9uzUnfhdBlMjv6GuJluqtKl9wNKEk7JHsNBrckj4V/0Kb6lS8eqjhZyKA5VwIj/kQF7xi3433+ZIPvATZCdHL/U82n+otuaX5MzlUClvBDUkEATtRKfri/UrfuTQKf2AfQWZc8JwV77w2Tm1RuncOP9D2X001lvvxReLnQiz75r/7+SMm0PyM9VfzHPrDkEDVXNurplUMkVZ6M5jMVTryn1chauixdLNPk497/XpYGNYwqluvvmktY6vx0aazdszswOzN/s/rPGG54Ourd5kY9vl1ovRf1xDFzHZl6sxMxQ9uJademJKUbT1739YxLX+LgSHneZU7xDJDxrSxatmgtnG7f4qmbxlf8s2mKmcqNOhHEaiaa3vVtOpHxUidXpjMqSME60sIoPrt/fbFfXz/JPbovm3rV63dFnEt8c3dPZPspP9aoqTpL3hU9OpSxFlen+Xbt/3TCXxcdQv/rxyM3SxTZ8Zaqk5DdqMufdqa4J+8Vx2bflNL0Fpe288eCQ6NuhZ3fctg2a+oflMa0G1yAlVzba+aVpET/OGlP2My98Oh/eYG6JhZOw0dPX7CuFHuDm1MyL8Q9Ssi0mnuNGrCJH/iMWmCd1eNLotl6vwr0oQ+VR4BnQZdh43x6teG/KtLlWcH1FTVCVTNtb1qWlXlYgmTuSoXEmgQJAAJQAKQQPkRgJIggV+fAEzmfv0YQw8hAUgAEoAEIAFI4BcmAJO5Xzi40LXKJQC1QQKQACQACUACP4IATOZ+BHWoExKABCABSAASgAR+ZwLl6jtM5soVJxQGCUACkAAkAAlAApBA5RIot2ROmJ9XiFWu7Wq0FefnKf4LPDXtpdVYcX6hQHpS2lesuKBQ8md1SytC835YeViuuVrY44cQKO34/iHGqlMqAMuHujawHillzGnJYXCpouVT0ZU/hH9FOwXl/wACZU7mhGn3w1ZNGdiufj23oI+Vnr6QEMPyk84GzB3l0My05Z8Xi0ga0BZhWYdHNTQydVyfUMp8Dsu8G7Rw9uwpXl0aGzTsPiX4eQGtvvKrLLPl5WdK1ZQkeLlrYVBpw1p1XCrb+C5nP7DMuEObVq6QPlb+u++63F/fw9JuBW+Q1K7efY1MtyD1TshyP1ebevU8DmZUrTeDZOb+oLKKiTlcqn5QOCVqmfDHMh8ELxrvOcxrhIf3hIUHHijPkcI3p9dNGeHp6eW7IDw+F04gCdrf86XMyRxLr6mTe4vvr798L9U/OGJCvSgjI4/BMJU0Q7VMOrr3qpn67ltpUkvUoKf/6pUrZg9qUqq/dyp4ud1z9CXLuWuDIq8eGlf9wc4ZS2PymfhY9jaklkuYlF06EwlVu03xnV3/rt+0+05x1TaT0jppKMs2vinFl64CrdXBc5SD8OK/ixcuXLLnrdUYnx5yf30PNe3qxqveMAAAEABJREFUNbxh/I6lmy9znIZ1J1OB1mjhPMgiNym9qMKWDzK18mVSsPJlVeRYalpFxLyKLVVSV6sI+Yo3gwF/LPPsn46eodXGbz8ccShi+8RqB4c6Tj9Tks8VxK0f6Ljok9uG8PCdvto7BvZbeiMHq3jLoYYqSqDMyRyqZ2RqYd3CuMyCqABhKWFLNsfxqaql5SXNtA1qmVpZyl1TpE0YvaKm3cfPnu7WvFR/C7f4+vZNN7SbNtNHEdSw9/rTpw+FLxtA+V+IGdnDvJGq5SVMmEv5RVti2ad2RiQXJx/ZczbnZ3RRLpRlG9/l7jzbuOvspaMt2IjoO4+vo7wMaBtV57LbTt88q6OhchVhCVg+TJpbWoAJQ5xW/k4ObOUrp9coZ1r5x7xqLVVyrtIz+WVqGfAXJAQu2sMbumxmN2M2gqC17P+a5Zy9b8W+1+K7FMVx6/yWPO86d5mzGYrWtJ+5sH/aWt9FV/J+JkTQ1vIkQLrCaqyAzQGjTeNeTDpguVfW/hubo+5tu3KzijOIzmjhp7gnKSId7WpiqtoWTp79W+qJT+j6VUydMpOK0fJzSBWmHNkbW6irJfocvS/y80/37lUllD9mfFPFWrebn097bSzjTIgyWyzz1OHbbcaPa017n5vDoa2mUlsO5Spgy0FmOYlQMa1cY16llioVV8sJYRUWw4Q/L+nlG15BTq7sCz8sXV0dYWb6VyKZy4nZtDOe3cm5t+Rdkm7X/j0N3oRsPJz60y1vVThOP5VpmmUagvSE2MjgvXuCj11OyJSNMTmHsezESxEhodF3P6l8W433+cn5IwdDwk/d/VAgHW68vKxM4pEj/rWAID+bOM0Un2O5jwPGjA16VVSMt8ui+j0DSTMWwpJYheW/vX70YPi5F1lSpZIKRJiddC0yZP+Bo5cTs4jpIa7Act9djzz3olB8hiCCjOfnoq5/FPJS7x8PPXz1LcV34HDTM1IyvokQjJ+HO5FbKFZIxkxYmIM3ET/zxKiwolzxeY6YBa6fjBleTm6UvOUkTIiOFE4TdeQ7YWbi5cjg/fsjzjxMFVta0o7MN7xWkAXGydV3gCrvS/z5I2FRtz9IuvI+x8WEhRy+/lY2BvD24EllGJaddOnwgQNh0TefJz64n1C6z6wFCcH7kpw3rnE1QHJj9x2UvLUFWmVbKSxGKKPDy4g/d/wm/uWxgnc3I0MPnY3PAihkusABHVRQrbBhJLOApX58UwAtjaMK5pCdcFqN8+trgOScD9qfKL8sCD9FHIjrPM6zHvFej2q0kElEqOmST0hK4byMeIpgkIFVtUVQIFmTMjOzCwSI3GlmpnjqSouy88W+U5qCMB7MZKaVPuZKTlWtpYrMVcJgigFM1Knu6GYUVUBKMRc0M4p8haDkr+QVt1lzc9Z/R1dteSi+GPESLt380mzQ0PZc0LDg6snYDJZZs2bVwQmxabdu1RT9duPURdqPHkrDCdEcFAUn0rnLeFaAizFVAqK5hTQrTPmu30RwKmXHPJkTfjg22a6Dz7E0XSPuh1Df9s2dVj8QDzKJoaLcm8v6tu8+bPz40YO6tO7ge/it9AqGpV1cPMBhYth7lq7oTaivbbMef8ekgEphZvKtqIXOjY1Ne6x8zEPAWvf21rF/+jQ0ruu09oUAy757KOxxLophuQ+ClyxcuDwiHrSRKCt5oWv2PT7Ao12nwRN9R7q06zzlTKY4vQJ9eW+O/OUx9UAiX7vo2Y7R7Sx7LbiUgSG8V+e2THVo1rzniA1XczEEy4yLWO5hbW7tOjVw/1LXrn28xni7Tg4mfecjeB29YdGSHde+YMLUy9sXL1y4ZNeNrxgFMyzvzcWNXtamtWubdpt1/Hk64VbR56eH/O2a9lt8LjkfWEjFjNyovTcULSdFR+400EW5Cd4endzJbmz4Jy1d/qONgyyb2vTsP8R7hP9OEC1y37C8+Kg1YzuZW/X12/MgMWJqz87OI3zGDu1m03PxndzkCL8uHVzG+/t6O7R1WHpbNnooDRMk7vEcOOdqfg09fnzQiE7d/j6fCYYNpblUFYU3d4d9H+4/eqzfkAbo9wfB++MI4uLmpbKYMjpZcYdXeLY1tx0wPSTuwfbhHbsO8fUd7WrXaUqMbPDRQRWbJL/HSEMpaUE1vkmBlspRiSJ1L6iZ5+RhDdDiuP1BN2VhRQQJIQc/9p/gCu4dkI8WCrGUdCkmJJ98acJog0ELtsQwLPv5sb+dzI1rm9pPj3r9TfjtzbUdPramtY0bOs05+jC1GKxa397ELnY2b+cTFJcupPGT+WCmNU2jmJf4UXJUvksVWFI1C9feG2fkFlkKV0kHcIkLSkd0M4o8IKWaCxoZRQUFQcj5K7mEn3La+P3t0aDwxiJXt6VX09Jj50893mjtocVddEClIPnxi2yMZVpP/D4JlCDsOqa1OKLvic8S8TOyp+ackNKAIuVEft0KTuUxXuLJI1kqCxGq6NAvGWKmdBTFLX7UnnEyV3xr0z97Elr7rvQf7j5mwbY/OhfcCtp3G6xlUsuFiefuNNn89Ev211eR09uiCfsmT975Br/0CpODxo46YDw3dO2k4UPHLgiLXmWdsHHksNWPi9l127qN83NpKv2QBTW2HjDOr38T4n08ghp28V+3YmgzNmrYbdrWwMBNEzvgb0mk+qSvlM1Eebf3HdH++2ZKVtqjtT11ksO2R6aDpQf0K45bNWaL3tz9qyd5efqvP7ZlCPvWWt+FFxBu834z1vh1q8YCbcCG1urgNW/5GCuOKPPmo7qbX2SmvXkeH+FnRsaM03LEyoDts/vWZbPr95+3PTBw22znOnwKZqiB1fDl+xb3MWCxqje2t2tIuKVrbl1Xp57PhnVe1jURamYoqVFTuitaToKOwmk8cQS+km3Cd7v9/fbxRwTu+GOEp9+awxtc+M/v/Gf554Edk9pyKcYDqm89ZPbSkbZspOj5sWNFo0+++pyeHDG6UX7c1qljN38YdPRV+peUa3Nsih5u33pK/PUOasOKYjeuSOo2b+GEIcN8FgQfX+5YQxIZMmspy7Cs07tP1x030Y6r5zRpVEstftKh3bElbpfCYproGHXwnLvQ05KDfbuzP6ra7Ksf0788XddD623o1iNpxOCjhUriA+XwRijHNwXQUjhKYg9VkV7fKT5WXOHbiMCT4G0R0ar47r4jAo8JPXQRhGK0EM2UdzR0Sce+X6075EsTShsMarAKBqHGnSYGbvNtxkG0G1q1MmIbWQ/+Z/tcBz1U17Kvl4OFNoKgRq2tG5g4L901x8FMQDHjgUgNBjO1aZrGvGSYAwskG6fliHJcqlBNwzWlu4vcIkvqKsUAltiv/EI7oygGXinmAoVRZIQRmvUbQUj5o8pe4efgLVJQ5Jr+dTIvL3Wxar+Yt/DC0SnW4jtxgtSUdCGC6hsYiC+WeHO2jg6XhWWmp+Mnqs/ScAIarDVczyk4FZLPXaPLTJd4ikiWwkKa6NAvGThTWop4gx/4JB1EZPZwGnVxHeA10L4m3kOAamlriXKz5D89Yrf0nD2yjT6K6FoM+Td4VgduzrWQI+ADrcLYDeuuCLsNcDLAeyII22LsTI/6hfe3rDlOfPKJssTlEqWoFofDkhyX7YVVvdPkFb4d63ARnRauTi3YRe+T3wtwkQXnA/ak1KudfuUc/rhw77ueMVvw6XwMXodoGRrqyeln1ayhx2LVdvYb11qXY2jeqokRh2jGaEfHDG3g4TfQTPg0fP89cUaMpUYe+uw8viu49CE0zHDF5EYpWY43lHtSOX1fro3SYdHti7dyWWYNG6N4BWrYq4cNh//q0WNw0xJBaHxj1zYCsdZu7Tnbx74OB2GbDXDvZoAUGvWeP9vVvDqYfe1cejZC894n43dnERrDsOzsrKSoHSfe4oTY5iOneZrryMUGt0r9E3zUt/eu3cQx5mDV47YbP6FLdSzl+N7j0oyDEKCZxWqig9aqBbJ0/U7+yyZ0NOYg3Cb9HFuyeZ/eiAcfLVTCGKY7qvFNBRSXq5mjeA/GT471+Ik99UVfzwQdFN+Szz2394zJaB9rfMLQjBZlBTR0s0BbkrFPJ5w+GEAek02781gvK1bSyWOPiDu67AYDB9lpZZ4PP/GFyM8FL47cMPEaXBdF6GZFuQxmTWNOM7sVHadlWMqlCl/eScIFFJduqQIdyTbaGUXjl2ZzgWpWkRJWM4ZlXqg/0GvnM3dM98YmaOZ/90KXbjxPLJl4Nx6fh7A4XG0t/ETyxDAMEWFCYlBKiuReSssJ0QgUJSewhpMMBuazgiaSmllId3XFVxj6JYOWohztH3GIMlXKbuSx+UTwpPoJR1ZO8hy9CB9VQiF+441MAMfS1dlSS/D2ZRK/+MHp2P9EtUxNS0adrr2Dnb4o+86Vh2p/o0omnHEZygbXb6I1qq+vxxIVfy/Cf0jBS7gblyEqynz/Tvx4n2/jvyVw+0J3oinCRhWYiHNNjVMIQhY9M4P+fp7NkNeHdxG/rxQmHzqKDRnTCr/00TEjBJMbxUYVLCdaSneUTjeWtlB9ZdeqbcASpX58L1kdtLQ4CGpgYlodV0PnG4uNshAWiyUVydLXqw5OwCYuYevqVUMRXnExCAedYTpOozwavA/2bmvtOnPPzTR915GDTHDdYinM9oLnB/Z/cpk8qBbREWSEvv2MkOzz+w69lx+8mlisNjpslA28xxkQJqI1auqzRLwi3FsEYdNBJdoz3qFstqSt/PimBEq01cRRogPzHbvBCH93U1bBnT277heDDzKiDtywGjuiEWEj3WhR1EBH9yHeVHXs0wqnDQYuj8mT02aElx3nVWTorSLQHPt84VpKzZp5F0OPfAKDiBcXcbuhRz8DUIPQmFIegxlBUDbBE+hiFHOa2Q1EyG00hoNWpVuqiOVdNVxAnvIiixfJnvQDWNZMdkA7o+j80mQuUBpFRljtGJbZruYASzv1l8vcwnn3X8Suc62bd+9fj/4zz2XiyzGxpIqEAgF+IpEiLOLxRahejRqSc6WXUnNCNABFzQm/sKkOBuazgi6SmliIqI0O7ZJBS1GJeGWfEpc4ZkqLXx2e4dh3XoLtnP2Ht41spU3XCzUxqcUS8fl8TJia+gUTCcAwK2nPNTOrjWJ533LAUlhSWpFHILlAEJEIJA/gJSczV4TU6+7rL/+YPL53BRhAy0y708RxdtzP0buPpmC8hyFnjL096xNLNR2zUhoponLaglqgjuP0WY41X4ZujPwA7mjy3h2LeahrN22qs664C61v4iYM9nSGoXUG7bx5cfO4NnmXNk3s2bL92L3PSr6QxUA2aFJ4Y8+RXOP0nRO8xY+R00/xG9VmFdw6cCAeOAVaaLxpHB1i8EnVqIEqbabhK6FCPL5VgeLDvGKGt6KVqIHL5FEttPhJoYGnM5NDQxJ6jXeX/ckipqOFji7lN7uZCgf2EqTAq2Ybu6mnd1edDyfCwOfzgqe7o2ou2e5Rv+hGaGiioOhmxJBf5XAAABAASURBVBOrEY7iT7/AB8pUq2Q5DGZFmwlP1MScZnYrCqMxHG9YqqWqlMu7pgNYzYzSYGzgnlI8KY0iI1yqMayqGEs5OGVieIP/LXI0NrKfFRm706MR71ngHyvxLzdxLCwaoojwm9yHY8Ks7FwhgjYwN1cVhZf8YE7ElQ23Q+Gpyawon0giGkeHmGhSq9VQlDb7Ia+Mk7nci3+5+cQ0Xx6+xNVCcjWnMVhUWFAkYjdsYs5hGxsboVjae/mfL7I4WmwWu755YzxbR1g0ciqiiqVfU0+UeuvKM56cdCw38aXcafkcqmPGaT7Gt0+N3Et7gx9d2H+r9Vg3I3E46JiV0jJKpz/SCOS2mR683dvs7YGpw4cPGTLtvPnyc6fnd8S/f4sg6nyjEatQpcYwtmmP6XtuvHpybH4v/aSDU0auvCcfNQVJJCdYZvSuy1ZLj4bLPSIi9/m35fKfhe65qmlmKNZQxujQQRUrKNueEmjZxDLqrd1x0sSu1UVpJ7cvXBeW7e7bW0/SjflooaNLdhcEKGAuHDQu5cZuMGyko35azKGzn87suN9u4tCBPsObYY8Ohdw4G/Haztue+NqrullRtsFMYzllzOlmt4I8dQxLs1SJl3cFNUxOKJ2h6kw3o9T5RSVTuZzSKDLCpRjDyvrAOfYlOuxcZquuXQ2Iq4J2i3F7Q6a3Rt5ePp8gQNhm3eybcbCPb94KQFNiE3z8mIpxzDt1bUCcqu5+LCehqkHiEtVZIS5X2pdXJJEyRoeOopLJlX1KjBMGSovuHD2ZjJlb2UjfgYI+4neF4IDYFHaF8c+S0VZug6y42h369qjDKrp7/kLJH6fmp33+ymrmMtAGLIH4385BEPAJqKQ/VszjiRBMJL19jKd6GCY9kzRSfWHYDO/IbWPf3gh7sXN+UAL+oQlehBQ+2h5wljgqyw7YiYkQkdRa9czQukMnupvx43aOW/iyh4+DNEmmY6aBffJMKJ0m/wKvWIswec/UbQYrY8+eOn406tTZyC1+ncSfViKIet/EItTu6Qwrurg3OBksAqie5ZAV0WFTmmFJt++kqRUpayB8F7r3Vd8pJbeHiBpOmwm+vfSxD0d3yb6qT5Qz3ZUxOjRQqS2QDyV1K6KGEihRW8E7tvmYSa61WXlXgg7pjhjXAcxvQqEGo4WOrg0hTHmngXDlrgjxThJMW0TtA60zeKSzYeaZTeO3fnWb0IHLtRvjbYMmhfovSXHwJr4XCETQmaLxYC6PmFPObuBzhS9V+PIOoDDYFFzVeADTzCi6gDCwq6QJpVFkhBmMYSX+JYrkjsCFRITwikvevep1HNCrAaqtg7+d5rYf4WHD+S/unvTrItiXx08/oa08vO2ks05OFHH4YzkRn4oRdsjvSGeFfAPpcblFEmEQHalSslcaimTNK7OMaTIHcq5qLH7c4d33sgXpcfvmB94qFPFzs9KT7z3+DC63uMnfvmYU468IIkjcF3jVxH/DzPZgXBm4/TO7Z43s05u2PxbnTlj2pZjb1dznTyNGHdusWRMD7P2lY9c/C3lf7uyat+FylgjLSs8g3nGgunrVOVhm0vOUorQbp66LfxAoViK/V2nG5/MRRCiQWIaIhBjIPHm8YmJE6bn8b3JbnawLs3r3nrQu5HjUoc1/uE152cVLLJEHuoKPhUFGSZwLMSEi+p4v+RNSRBHlDsv8mo1hWRlfxXpZurqUzKQyajpPHNUC/fTWYNBYW+I+JVFBw4yoJzdK0XJUEV1+P3KnLQmBpDvBkwMBpx/FLJ88aYrs8efifTdSwfLCovFNyMc/VBfyiQgSkoV4fosJpAXESibi83h4jk4VDWAYlnFh0/pzGXgrBNFuWN+EU9eydR1cYlHKk9tPPonHE35O9sRyLm8I/NhtcCd87ZNvwK43eJA9F/saszHgabG4gq+JxWqiI/peVCzCv85CDDbwsb4Qkxt8dFDFtqjuUcVQgllAN76pgBJyNXIUEaQn3L33Sv5nToQQmh1aa+AU7yZsVk3H8aOasaUNWXSjBUEIb4BlRHMaumA1AbNaeULSCqcPBqoCljCBdIcauox0M827n9jAZ0Rj4Bmn1ahRnbXT/jPu7yFzlEXjJ59yMJOrUzGNoESxplHFHEwiUumIBkuVeDFDEI2XKvJwEfaIlyqeeJFFlVzVpV2fif7yO7oZxaIJSLktU/LGiI/VjWFEmb+4m+IeNXH1cKwRf/JIgmSRQoQfHj3/3tlzSDP8SsGx+t8yn4bPj4aLP2HiJYSGx5mNXjq9HYFdURRxVlpOYH5qsDpSjkTcZtXrFukST5irtKOLpGYWImqiQ79k0FFUMrnST5kmc9r246f0Mi68taSbiVH3Vdnu87ybsnmX57ut/WBQh61l6e7nYZ262dVh3Iqd+wMXjP7fje57z67vY0hI57SaERb+j33qBneXPzft27vxz/GBollRu7wl/3BL1/l/MzrrvtjSt4Gucdc134f/4WyKir5e2rZ459WPQkS/h0tPo+9XZrao4xhcZG5MCCSBJN8sV/ggYFnIIz6WdWX36r2XX6U9ORG0JvyxAPsSu2vj4QfpGKLTcf6RA/52NTNu7Zozdsgwn3Xx3ddt8jRDhCm3Q9fuvpyJCZ5ErN15LuHL8xgg6aFAlHt6+cRVkU+yxWkFiX4Ey3oSuWn6ksjPmPDj0SVzA0JPP83SomEmk8HtOH6cvZnzeOICISulZoblkRmlZHki/gGiPBOATpfcaSqiwBROcxevbvofr4Tu2iF7bF7m28dpzpUCyvHwNvfF3mXB9/ii/Ju7V+y9mJT/9uq+NTsufBEKnoSvCTzxJOPTrbBNG08kC4XJJzdtiXqajVFEgzCMn7zHq+vAPzbs3LN59pTD2jODFjvpIAjv4UqXjl3t+i+5zwNmkm1Yxp39f3tO2Pv6v9gAEFH8zxdLmwnfXtr577EXAkRU9HCdl9eC/dffXNmlmcXU0UEKk87tXH3okQDLiN25Zt+V5PSnJyWD7+LO9YfufkbooEpNVHlVCKVp5rltdOObcngLNHT0y52FjradO1vZjolIlV7RVUxTKdDtOnl8J/OBE4bK/QkfytHyQR+LC1+771oOxn8UunJHdDwQR02XfOxTC9fOvkgbDMbLC7AKbPp9Rg1ubjNumktNcIIg7MYeo3rV7zNyuGQhA4XUpoBVEiEfzKAb6aZRzGknkZJ4TZcqkLiKJXArZKkCshVcBYs8xYoAWpJtdDOKMiDlu0ypmEU9hkEeR3KpwFQkgAJ24wl7Dv5PZ88Ql/9t2BOyd9Ps4RMv2O0MmdESz4sQBDXqt+HI6oZRE32WBwUs8J4Q3WJD5JbBlJdI2pWHktMHvTwNV0cu+XUGIb1uAS9JZgUoVdnK0UKMJjrq1m8h3WhTMbqSC1Cm+rjWf56OfxQbE309/uGxmT2cFp28fPrG4zs7PczZCFqn5+xDcR/fXf13WCvjOtajtp89tti5nnjI4fLRuv2WxyYnnVrk1NjYvMdfB88cmGpH/IkTvBLRtZt/+cWDc8ejrz19cnyGXSuPTRcT/kuMXjvJoSEbYVtMjnoWF3v6+tP7u4aVrJpER7mdfLORvdxm7IzLwUT8DzFLJzg2N7UdPDXwHn7+Nmqep10dFPTjWgwPuJv86s7pqONn7r5+HbvEAZ8E7HpdRi2O+SgQYTn3Aqf0a2XSxu1/O+5lC0XgKhI+b6itODkF3VU31Mh26J+77mYKRSJh+vVNU0e52hihdMxkIthNJwadXjdc+WeaVMxQfTKjlCy3xD+wlWdCoCN3WmaIygHG4xVZTI7NAj6BW0vAMX5+1gcQIuO755/zqHzzdujtt/F6hlAkSLm4akKfFnoWDuMXn3jHEwmz7gZMG2xr3KDryDnhCd8x7HvCodlDbAxBOLgWZNFAEO1uKx+kvo5Z5GZpXKf1iKAr51f0MwXNEW7bmRHnos8fnduB6l0oatx53IbzH3lYwYsjiyY6gjEq845t4eS//lKKALiEFSYdXzGuR5NeGltMFR1Et0W/KUEPvmFg8EUvGd+raR2bQZLB9+74whH2dRFaqDIjlQ4UQtm8tQvt+AZ9yYFyNHTUpOOfYdGnzu7qm3QK/841kMto47SYtPvkMjcD+cZUo8Wjab1O3uIpl30vYOpAa6ITFV3ysY9QCm/Vij4YbKbLC2EVguj0/OdoyIy2HMkpaur1b/QaD/mZS2mKOZtqMEuEqbxoFHMUQchjriIWTwKq1FIFLFRwlVjkGTsDetPOKKqAlOcyBWxQ3ajGMAV/VQF4Cbtu/1WXE65vGmZpWN2k3eiA8+fWuRF88EogSa/ttKj7UX93rm/Rb/WZWwf8bKXfURXXK+5LxcmjWXONV0fS4FHMXeazgiqSpbEQoYyOuvWbTUtREXiln4FVgLFOromV0wBX+8Z6oBOq17S7S1cL/FDaX9ukVXfXIUNcu1nWki530ir8VbuutcMAdzfHDo3kO+E1YCEya+s8yIWQjBq06dmzhSFbXIHvdeq2derX2Vy1F15Z8mTYrKQDWtPc3sV9cP+OjaoDh0rKy/VIDTNcF2rQyqapDn6k8tSmYabSmKRARwUdc6eFn8KnjLtt49cDT7cI2SinumFDq+5tW1i2aIRHmIFvRD9GOzLD2A1btjQxbdHRacCQgX3kxw1q0NLRzbGl+JvBjMRXRCNtzaOjHiqVoToqoaRqKSknAyqpYvrCrmPTr595VqpxWyttpn1AO9SwVRtigIDjkk3T0aKtCV1NhZeYhehoAJZdr01r6bdGgQhUr4VNC7kvEYMiBKEyhXIwE71Id5qYRggoU8ypDCcki3cVt1SRuMrMGfUzioFfYu+Y7JkZJZWkrckYlnZSftWpa91zwNChA3pa1yW7Sug0sO09oH+35rXYyh0VzqsoJ41mRblGEkGoo6NATv5EPUX51pV9XHFpTGV7AvWVKwEs50J4zIe44BX7brzPl3zIJshOiF7uf7L5VG/iBlm56vsthP1kUAWZccFzVrzz2ji1Bfu3iA908mcj8JPNqB+GF3IqD/RVnCJM5sojyL+gDNTQY+lmnyYf9/r1sDCsYVS3Xn3TWsZW46NNZ+2Y2YHsHeIvyKDcXfq5oApTkrKtZ+/bOqYljHe5DwUEQaDMshP4uWZU2f0trQTIqbTk5PtVcYowmZMPFjwuIYDqt/fbF/fx/ZPYo/u2rV+1dlvEtcQ3d/dMsvvBH26WWPgTHv1UUNmNuvRpa4J/oP4TkoYm/x4EfqoZ9QNDAjmVB/yqTREmc+UR46oso2y26ZhZOw0dPX7CuFHuDm1MNPnmVNn0/tK9IdRfOrzQuUonAGcUM+SQEzNO9K2qKkWYzNHHDdZCApAAJAAJQAK/DQHo6M9JACZzP2fcoNWQACQACUACkAAkAAkQBGAyR2CAO0gAEqhcAlAbJAAJQAKQQHkRgMlceZGEciABSAASgAQgAUgAEvgBBH75ZO4HMIUqIQFIABKABCABSAAg/XDpAAAQAElEQVQSqDQCMJmrNNRQESQACUACkEAVJwDNgwR+SgIVl8wV5+fxfkokv4XRgvy8wt/CUaT8PMWK8wsF5QOt/IwqH3s0kFIR8xorLiiU/JcRDSwpY1Os/MLJ1BLsR/jJ1DjYrnQEyiWoFTGrSufOz93rJ15Yyw6+3JM5LD/pbMDcUQ7NTFv+ebGo7AaWWoIw9XLQyhXSx8otp9/KXS4K35xeN2WEp6eX74Lw+Fys1Ep+uo6C1Dshy/1cberV8ziYUVa/he+uHti2hkC8MvDiJzm+ClywL9d2r8Jbrfx3Z9iVN8UKlRV2wsBT4Ycb4bs3EaYR5q1avXbD5h0Hjl56lq7yPgTLOjyqoZGp4/qEsuRzckaVHX+FoSMTXDHzGsu8G7Rw9uwpXl0aGzTsPiX4eQGZ7gooK59wMjaMsZ9Y1tPjm+f/NXvpv3svvy+ZUL/teiUhrDGWosSoJb7DhwzxmB50N0t1nSt+stVvbswX1QqJPkYvjINKLa1iZhW1vl+2pjwXViz3/sHV+AVB4blq780MGb6qOR/LPZlDtUw6uveqmfruW8lSJGNQiQdFdzdOnb5goeSxZH+STh3p/5csiFs/0HHRJ7cN4eE7fbV3DOy39EZO2aZ1JfpVRlVojRbOgyxyk9KLRGWUBLqzzR3G+PQRnl69aOGCGdM23ibP3QXxgX9Nm79w0eoLnP4+I3s1qaS/PMzAU3aj7t7jhtV9uGXxwiV7HnJadOrZvV29ghtrh7c3bzlwzQ2FiwBq0NN/9coVswc1Kcu/RGBgFOBalbaijIw8fHJUxLwWvNzuOfqS5dy1QZFXD42r/mDnjKUx+ZXjPGk4pb6WtwkM/Sx8ETLJvvOU2Fqei9cunjnBsbFkwfqd1ysQCs2xYOmRk/pPj+/275Htg9NWuE8I+ah4LSp6sHZObMvRziZlufoxDCpwgGariFlFo+7XrSrHhVWYEr5o6nxJ4iB7WbTh7McfPR/Vha8sw5lctrZBLVMrywYSx8nbVHgplnZke8Lwi8lvJY83t9f30hNrLY5b57fkede5y5zNULSm/cyF/dPW+i66kieu/dX3qJ6RSXNLC/3yijuqb9XfwUJbS0uYHLYlKh1T5Zd3bnvYCxELYddr36VpJSVyCHgw9JRj1qVjUzaCmtoNdnfq0sVx+KzdZ/Z61/4QM99jckSanD+oaffxs6e7NS+TCwyNAuZXjQ1LCVuyOY6PG1P+87r4+vZNN7SbNgODETXsvf706UPhywbo4roq4akaTjlfy1c/Ez+xzGuLnB3+ShgQfGbbaOuaaIkFv/V6VSoswrfBmw+nt3Ub1JBj5uZu//1MQEii3O30gjur/nnotu5/rbklkDU/YhJUBlLLf1YxUPoLNim/hVWQdOg0b8Ke2McJyW8k2cPLA151jXq5Oxvg4KrwfJRbNXBLy+nJ5vzYXE7wNGhPwQDfbk3MJY9GdapLPM2J2bQznt3JubehuEC3a/+eBm9CNh5OlbtwlxOGqiqGwynL3SUlr9BqOnodBw1owPp6ette+UWTaCf8GBZ0x3pgJy0E4WqXKQ8ixGm6Y+IplwuMkxOM1unv2ccExb6cP371u1x5uR0yMarclJVFEJZ7Ze2/sTkl93DLdV4LP8U9SRHpaFcTT0RtCyfP/i31xCdlsbp0fVV8LZ0Ykl4M/BS+2j3Gc3VSl7Wh8+3lEzkgrfLXK6C0imylxMJ//ixRqGtgWA24wTUxMcReP3sh+9pE/s2VC58P+9ffsmxLIIOgAu3MtnKdVcxU/pqtymNhFaa+aTwz8t/xTrYtm1iIswezlPv3+L2G9icyhqo8H1FmYRUUZGdKHtkFAkTuNDMzj/h0TVqUnQ/eBLEQlkQulv/2+tGD4edeKHxmhVfyPj85f+RgSPipux8KFPIoQVZCbOTVd+DOOO9L/PkjYVG3PxAaEIT3OS4mLOTw9beKHXBp8k8s88S/exI+XFy7fNeZl9lAjlxlwdWTsRkss2bNqksLtVu3aop+u3HqYo60RO5V6hXwXa3f0m7C7KRrkSH7Dxy9nJglp1yQ8fxc1PWPQl7q/eOhh6++LZC0p2guqZV70ZiLIB2ADN67J/jY5YRMEBU5WaqHjM1Q7YqwdLpM9W3HLX6wZ/tVqVviZrzHu/dmDJ3aQ/V+C6VxSpxeZ+QA+JJNPNQQrChXXJBTKAVcFvPFpsrtWVocNhjAHG0u2MvKsdx31yPPvShEEGEhE5soPZRJlB5g2UmXDh84EBZ983nig/sJpJ80ajISxbGm1s9EH4LlPg4YMzboVVFxXlZmZhbxayaW+nnNLBCC/OzMjJSMbyIE4+fhscwtFK8BZEYzw40vD1QrCtnUKwknQuorHhxmzuAtwdpEppzST6KPZCf8sO+veeeybaYuH9uILSmTvmi4XhHdhJmJlyOD9++POPMwVbJyEuX4jowvXo5ovLqAaUC60CnNX/E6x2jEEXaU7EqPRZurLRLw+cSI4gsELA5XS3ydw/KuLV302vvfieBefIki6iPya5TaoGoyV4FyBrOKYniBzqWIG+gFNg2NBD2oIo6Qhhx0YDZ9NPWAcggDjaobMxtK+rEbunk6EGmbtKz49onzeQ7u/QzwMVSa+SgVVOGvuIHqlWDZz4/97WRuXNvUfnrU62/Cb2+u7fCxNa1t3NBpztGHqcVgOfz2Jnaxs3k7n6C4dOkFFvkeH+DRrtPgib4jXdp1nnImk5hdQBuWdnHxAIeJYe9ZuqI3ob62zXr8HZMCemF58VFrxnYyt+rrt+dBYsTUnp2dR/iMHdrNpufiO7nJEX5dOriM9/f1dmjrsPQ2uKYCSWSb8FNk2OXM3PgTgUsnudo06+S772m+VLMg+fGLbIxlWq+ebNVk1zGtxRF9T3yWqCpMI7/x7rw3R/7ymHogka9d9GzH6HaWvRZcysCwzLiI5R7W5tauUwP3L3Xt2sdrjLfr5GBwK5C0OS5H8VkKLsIPxybbdfA5lqZrxP0Q6tu+udPqB5TIGJqhaJTCGbv5xGkuRqJ3EVsiUqSsQYOcswEn6k6c2EYGG5SBDTeOxDgyTi5+mw9v9LI2rV3btNus48/FP0wo+vz0kL9d036LzyXjkS27+cAmuS3v5okrn4WcRu5evXTExbxX57ZMdWjWvOeIDVdzMSzvzUVamxCEwkOxNMW9IHGP58A5V/Nr6PHjg0Z06vb3+UwwFRTbgPml0Qyk089U391DYY9zUQzLfRC8ZOHC5RHxspsblPOacSAEr6M3LFqy49oXTJh6efvihQuX7LrxFaOAphY3GHCUKwrp1Nt744xcOBEsm8xXxs4gVMoRhNxPpdjy4nZsvpDN7Tp6lPGzUwe2bdoWfCYhG/iEN9NwvQIa3x6d3MlubPgnLV3+o42DLJva9Ow/xHuE/87HPKpBUYrVBSTOJAudgBR2cCqzEYe7K/8sPRZu+x4daxR+/gQuRNjXN2+yuLad2mkB0VjO5YVLP43Z4GOutB6BOpWtDEHV+KohVl65V0uNjSSdD2RLtivjS5vmI49iiRADVNmTmqzSSk1B8b0T53OluZzG81GN8PKtZpbMocadJgZu823GQbQbWrUyYhtZD/5n+1wHPVTXsq+Xg4U2gqBGra0bmDgv3TXHwUw8VUR5t/cd0f77ZkpW2qO1PXWSw7ZHir9SJUwOGjvqgPHc0LWThg8duyAsepV1wsaRw1Y/Lkb1rYfMXjrSlo0UPT92rGj0yVef05MjRjfKj9s6dezmD4OOvkr/knJtjk3Rw+1bT1F+yY3dyO946vfctPgLu+e4mfMe7fXr7b4lXvwWVZCaAqY4qm9gIDYSh8nW0eGysMz0dPxE8amR3whSHLdqzBa9uftXT/Ly9F9/bMsQ9q21vgsvFNbq4DVv+Rgrjijz5qO6m19kpr15Hh/hZ8Ynb65oAn6mOZfiW5v+2ZPQ2nel/3D3MQu2/dG54FbQvtsg6cbFKT0prFZqpeYUrTP0f94WaPaFwF3x4htDCCJ8H7rjYdcpXvVYip2pjENJOD2LXDpp+b7FfQxYrOqN7e0aEt9z0TW3rqtTz2fDOi/rmiiF+fmKOhmeFX95eHie+5j92TbjAqI2uRhKpge3eb8Za/y6VRM7ghpYDae1CaHykMSKotiNK5K6zVs4YcgwnwXBx5c71hArUWqq0Ug0o9HPVJ9hF/91K4Y2Y6OG3aZtDQzcNLEDgR5BKOe1BoHgtByxMmD77L512ez6/edtDwzcNtu5Dp9izKrFjdKsKCRDKj5iSncXuXAiKImvFM4oRQU/pVaOIKR+onivkifvcVTMKz5LP/fC339uP3f/3okNk93a2QwJJFYsDdcr4bvd/n77+CMCd/wxwtNvzeENLvznd/6z/PPAjkltuVSDQvPVhWKhi9UmXeeMmI3wEiLEURmwoHW8lixxeH9g6f4T+xYEvmg3m7jjiWVdWLDy64T1o1XufhL6FHdlCqpGc1Wil3JWUVtSirhJlOEvGhpJMR/KdmnT0ANwgaVYInCHVJ4UJqu0oy/gPThxLsdBcl8O0XA+0osu91qllYVGvnbnsV5WrKSTxx4Rb9HZDQYOstPKPB9+4gvxLlLw4sgNE6/BdWUCWdU7TV7h27EOF9Fp4erUgl30Pvk9fpkvjN2w7oqw2wAn4rYlgrAtxs70qF94f8ua41lAPbu2EajQbu0528e+Dgdhmw1w72aAFBr1nj/b1bw6guq3c+nZCM17n5wiBK2pN10Tqz6+a07EXf7X2Tj70pJZe/HPbcE7Sj4PAbfdtbXkemIYhogwIeGGXLHkkLnfBecD9qTUq51+5Rz+uHDvu54xW/DpfMx9kESxatbQY7FqO/uNa63LMTRv1cSIQ9VcolfpRTMunEZdXAd4DRR/AUeAamlriXKzskiJaWaGklVyp9V7TPPrrMt/um/rmVyimBe380Cex9TeesSZ3I7OOBJOCNrAw2+gmfBp+P57gCQQhKVGHvrsPL6rLjimMv8+qNNgE745+tdwl3aN6nfw3oHOvP8ubp9fW31UXoCWoaEeS1ZAaxNC56FMhPgAy87OSoraceIt7hrbfOQ0T3OdEjXiNpI985FIo18DfRK1Si9U87rMgaAxmn4I0K0oYFKTDSkEUQynko8IlTPK7RCERrlqY5ISLPvx4zcCtpnzP/uORuzdHhh6+VrQIMOU6NmTNj0HyyVPo/Wq6PbFW7kss4aNUVwTatirhw2H/+rRY+KPL9Hx1Wx1oaIDFjoS2KUacWXDwrWeHnNnl4vgw/feAXfOL+6sj2AZZ+aty/Nf792AjWDp1zaMc3N1d3P33XYzE4wQHJbCkyaoKl8XUugoO2E+V8VdqGaVGks0i5tYVcmeuZE0EUdIQk7VvES17EgjD+iGsEyi5EADGyQ9yF54cSfOZveU5nKlyR/IpFZQGTHrmcnmtBnhZcd5FRl6qwh0wD5fuJZSs2bexdAj+B8Y48VF3G7o0c8A1Eg3lC29+4XqbPedxgAAEABJREFU6+uxRMXf8T+HUfzgdOx/olqmpiXplK69g52+KPvOlYd4VxYbZSEsFgs/xp8sfb3q4ARs+BmCsHX1qqEIr7i45HvZ4gqyParfYcaBjUNN82/GXMD/rBohTCQUCOSmsLCIxxehejVqkAkAZUz95iXcjcsQFWW+fyd+vM+38d8SuH2he2P8u7YoC0fNAvIkG2VzSb3yi0Zc2I08Np8InlQ/4cjKSZ6jF50Hma9QSJrLaWqGslkl5+xmPlMHGItSIreHvRciWFZMQExDP9/WuPMljfAjWuNUOOE9DPr7eTZDXh/edTYHnAqTDx3FhoxphUumNL8xaKjBxm4yfOPRmFNbPOqzc64GbL4kvomsIICN4hGUFVHbhCC0HsokEAc6TqM8GrwP9m5r7Tpzz800fdeRg0wU9BCtxDumI5FOvyb6xFqV9yibbF6XPRD00Khx064ofGA96ZBC2Cg5ZtABoXQGr1R40ilXaEh1gmWkg/wArd/aqrbYHnZj779Ht2AXPjxx8jWi4XrFrlXbgCVK/fhesrxpaXEQ1MDEtDoumpavJqsLJR18oVOFXaoRV2YsXDP74ZNn/G9kz8bgLR/2JfqfjYJp64aBew3CN0Gjh24R+oQcCxkn/NfdOzBZZV2kC+pDfERRBVOunPFclfRB2WSzSq0lmsRNoknuhamRtBFHVEJO2VxOtexQEw9oh7BMInGgkQ1ED7Id79GJs5lyuZyG85FMZAWW4bOcqXh2U0/vrjofToTF5iOCp7ujai7Z7lG/6EZoaKKg6GbEE6sRjrJfFSiJBOkZgohEePolTE39gokEIH8qacM1M6uNYnnf8Ct1SWk5HaGm7j6udYVZGWDNRDgWFg1RRPhN7i6VMCs7Vwje+pubUylk6LcoJzNXhNTr7usv/5g8vreFdJoqKKBsrtCq1CfFrw7PcOw7L8F2zv7D20a2Ap+Ek4sqRzNQY/fpY5pzvl0N2PGg8P3BoGe9/jfMlHSAMTVOZrJ2p4nj7Lifo3cfTcF4D0POGHt71ieoUppvIevL/IBtNnxToE9T5G3w/2YfF99wpulMaRPeh7GHaJ1BO29e3DyuTd6lTRN7tmw/du8zyu82IgxHIjCAUr9G+oAg2k1uXpdHICiNxo2gxE27oqhcqHFRap+Uzqj0pFOu0pisgKWjDeYmq5puyW1frm33TrVQLONzmqbrlY7j9FmONV+Gboz8IAB3Ed4di3moazdtqjPIZ3DdtHzxBsyelHTIF7pSjbjyxIJ9jpyzFf1j1WD8XZLgecieK9/bOfauxTZ07NuBd3X3gSeAlYLndEHNYTqimM9VBd3gRG5WlYslQCTVxtBIDSNO2ZzKDObljIdwudjAe3Ly7NeeQ/oZSK9ipcofmHtXxpZSKxmJYTcYNtJRPy3m0NlPZ3bcbzdx6ECf4c2wR4dCbpyNeG3nbS/5Vg2tLLaxsRGKpb2X/0Uqi6PFZrHrm2t4N4VWj1wlalynVs3GTeuBOzlss272zTjYxzdvZRNY8PFjKsYx79S1gVwXxUNmfrP0a+qJUm9decaT643lJr78SDL/EfCmm6I5Ug6P3It/ufnENF8evsTVQrKSU0iltJqiPW2xtr3/5G56gsSQf1esDeZ7T+1Omt0zN65EGaf5GN8+NXIv7Q1+dGH/rdZj3YzEI5fS/I8lfTU4Quu4rt81rTXn06E//jr6WXJ/g6o/lU0IopmHbNMe0/fcePXk2Pxe+kkHp4xceU9+BCloZzYS1ehX1aego3QnZQ+EOmhUuNl0KwqY86Xwh9IZFVl0ylUakxWwzVo2AwtiRlqqbEVC0Fq1DFDUyNgY0XS94raZHrzd2+ztganDhw8ZMu28+fJzp+d3FP+MRx1fMutIyyjpkC90QIbqiKMc4aA1vpUfFmFKxN+B1WetHlCHWDF4r1+9w/QMjUAGjXAMDfWxD6/fKBtDF1T87iNuoPonw7lKK6h8LKFRwcxIDSNO2ZzGEEZVGgzh8rCBF3/yTHqPIc6yXE7j+cjIq3JrRAxwxtLQOoNHOhtmntk0futXtwkduFy7Md42aFKo/5IUB29rRgundoe+Peqwiu6ev1DyXxf4aZ+/spq5DLRhbIgmDbEvD56who7vXxPvxG0/wsOG81/cvfeSDAv78vjpJ7SVh7cdTSrKyG9uG/v2RtiLnfODEvDPoXFtSOGj7QFn8/E7ksSp/I6yuXyjUh4X3Tl6Mhkzt7KRS6ZExI1RFYFlN0OEAdGSvIfdeMz/3OsiaZFrTzT1G9dcMiIwEV4NWhHaNTCOaC/eoXWHTnQ348ftHLfwZQ8fB2mGSmk+8x9AYJjEOiJMqEGv5Xv+bq+dEvHX1IPi71mKDSDZU9iEaOJh0cW9wclgLKJ6lkNWRIdNaYYl3b6TRqJMXMRoJNLpJ9Unlq26Z4EiMR5wQL9pHgggGBMhIoI+kE1nNKgGGwVu2hWFZlIDifKbvK+Uzsh3II7plBMNEETJT0mp7EW35xCXuljyrZv/gVEgLsWysnLRpk7OzRGEq9l6JUzeM3WbwcrYs6eOH406dTZyix+4xycWqp6vuJ36PSUd8oWOdMRRj3CJ/nLCIvwYNnuP0byV/WpJrnRs/Cs/fMnfLeHx+CxdveqSKolmBKELqo14RKkJKiGK0VwlWlLu5C2RNpJdLcWWSItL+crISA0jTtm8lDZKu2kyhMvBBsGL6DNfFHI5RNP5KLW8cl6Vx7Earaihy0g307z7iQ18RjRmIwin1ahRnbXT/jPu79EMnEp7g8mCIEKBdHUSCTFwJefxiK+5Gbj9M7tnjezTm7Y/Fuc8WPalmNvV3OdPE6dTfPwTWCG/5H2qEF/uMYG0gJhGIj6Ph1+CpQrlXovvb/Tq5734eBLxF8+wrHtbZp9qtXZZXyKXAxZb/W+ZT8PnR8PFN9B4CaHhcWajl05vRzs1GPmt5/K/yW11si7M6t170rqQ41GHNv/hNuVlFy9LPKcRYkJE9D0f/yt8EmOpmkuqlV/4GnBh6epWY/HjDu++ly1Ij9s3P/BWoYifm5WefO/xZxAUIjxAHqGC3oyilCe3n3wSB4porrIT5uTk5ObmSqKBGrpO82mtxW464n9DjFFxYywzMwdctb/lgD0ooTMOjBoVTqALsdV0njiqBfrprcGgsbY4UaIQoTLfkqhW8JQoUdnhH7MD6/JkLiDV7eftXdS9xueTf4xedlP6RyLAp1Z8PiIS8HhEzicRQ24TnYfK+LGMC5vWn8sQ49NuWN+EU9eydR2JeJIXlMEMpNNPqo9EDyhCwXWOg2UmPU8pSrtx6noahhA4KeY1fSCAOOUNy/yajWFZGV8BElDHoh+zoAWCkONWt6IISYcUTyGcqKKv+f3IpzJhhcKORrmknZKfktKSl5qu8xb1q3Fv97YbeUQhlnH2yDWd4Yv/6IgvSRxN1ivBkwMBpx/FLJ88aYrs8efifTdSwb0nFi1fsBqIEKarLmWowbRUhU064ogRLkhPuHvvFfnvspDywCJ8FzLrQN2Fy6Q/tgN8tTr271Wn8N1rkDoLP7x4laPfsUd7nDOoKtlogippqy6ohCwmcxU0pJtV6izRKG5Al+rGyEi6iCOqIadqrqodQTTwgH4IA1FgSuPyCDW0Nqi/rCGI4MWJM597DCn5jJUQq9F8JHpU3k5yvWWuUL/PqMHNbcZNcxEnR+zGHqN61e8zcngDaS5XmHhm27KQR3ws68ru1Xsvv0p7ciJoTfhjAfYldtfGww/SMU6rGWHh/9inbnB3+XPTvr0b/xwfKJoVtcsbSBC8ubJrWfA9vij/5u4Vey8m5b+9um/NjgtfhIIn4WsCTzzJ+HQrbNPGE8lCYfLJTVuinpZcaeUcEGa/vnV42dB2LeycB/Tv57Nfa3rIWmdpYoEgqFG/DUdWN4ya6LM8KGCB94ToFhsitwwuqZeTJH+o1m/QWKfj/CMH/O1qZtzaNWfskGE+6+K7r9vkaYbkPY8JWBbyUCDKPb184qrIJxKzqZoDSUqbplwKO46f0su48NaSbiZG3Vdlu8/zbsrmXZ7vtvaDPhYXvnbftRyM/yh05Y7oeGAKjRm8hytdOna167/kPrgaKNkEToXvr4ftWLjs6JvHIQtW7j56OwW/LHPb+00Z0N9/ahf8wx3h53uRu1fMO/BUgAhTT6ycuz3syhvEnsK4d5x0Uk5AE7FxO44fZ2/mPJ54G0GU4DsK81Fh2j1lT/Hm8k/hhxsRO5csPJgkQASvDy1esjP82jviPYO29cxdK/safbu13MXeberqg7ef3Axdu/tyJiZ4ErF257nEkm+1kdqkTeWhCn7cGn7yHq+uA//YsHPP5tlTDmvPDFrspIOXUz3Vj0Rq/QbgIkqiT06V/KF+D5eeRt+vzGxRxzG4yDTzHP28pgqEvETJMZb1JHLT9CWRnzHhx6NL5gaEnn6apUUJzaCOdG1BSHGDt5RUKwqWRzb1hCm3FcKJW6Xgq7mxLsVUxpsqPmmWM4TMT0yxOzhjN/U9cHieWZSP29T1uwKXjx26lvfn0R3D64rXZk3WK05zF69u+h+vhO7aIXtsXubbx2nOlQLqQaGXd13DVZc81KYFZLCBgyQjDoxw3r2FjradO1vZjolIxRcO0FBhKzMW4Zu9s8Isli7pJf9PNVDDgSu2jv4ePHPJlgUz9n8btnG1N8n3esseVLEraudq4Y++WgI71RoJ2pBHvKyXNg2va4ktfCguawa1MlRWeyqTEUTNZQ24CzbBy5NnUnoO6S8/eEAxosl8xNtX4hPVWJdOz3+OhsxoC96EEV1RU69/o9d44N8tJc4RXUuXGTvjcjAR/0PM0gmOzU1tB08NvIefv42a52mHf3MBrdtveWxy0qlFTo2NzXv8dfDMgal2BDNOk15+G69nCEWClIurJvRpoWfhMH7xiXc8kTDrbsC0wbbGDbqOnBOe8B3Dviccmj3ExpDEfO3Oy28k3r8YGRKwYvG/oWeig6Z1kd5iFxuIoHptp0Xdj/q7c32LfqvP3DrgZ6vy1zMkLeVfdNT4TbTlWgwPuJv86s7pqONn7r5+HbvEAWSJqH4bt//tuJctFIFrS/i8obYys0mbE4IUdxpz0bH+83T8o9iY6OvxD4/N7OG06OTl0zce39np0bReJ+/FMR8FIiz7XsDUgdaEKZRmcNvOjDgXff7o3A6SN6SKZrEb9xjpvy42lcdLPrF44vAu9YiLLrvR5KjoP5qKj+t2Gjpxyck3PEwkEn65vmnayF5NtLkUxnlZ2VBwkqhlN50YdHrd8JKxJi4nN59tSuKpuIN0z27U3WvSqnOfeOC+Mf+/86smefc0l4xrdosp58A4xL4lnQ74Z3QX226jxNRy7gVO6Wcp/ZAXCCK1icpDFfwIot1t5YPU1zGL3CyN67QeEXTl/Ip+JBcXoKhkUz8SKfWbszXRx7aYHPUsLvb09af3dw1r3lrtvCYPRInhsiPUyHbon7vuZgrBqJ5Od/4AABAASURBVEi/vmnqKFcbI5TGaFlHhBQ3eIdGsaKQTz12vS4K4cTFK/gK3lcijJ1BKJczsPCT+IlrU3qixg6LLiRcWzegmXFjxwUnbkVM66BfsrShjNcrjMcrspgcmwW4giEN4PLzsz48OT7D+O755zxKvs2aa77qktEhh005wrkd/gyLPnV2V9+kUxR/AbNsWLC8QovpQUu66yvBZjccuvvupSXdmjqtvHT/oE9L0qWtHIJKqFU3V3V/8NWSkZFEI7KIIxQhBx1Im4NyhY2j4fXexJbismbOJVvtqWxQc1mTmKjfa27oUreS78tJisFiw3g+yrpUzkHJksFYH7tem9Zy6RGq18Kmhdx3sxjJAY2061o7DHB3c+zQSK8URgAB1JtuvQ693YcOcu7Sopbk2qzaVqeBbe8B/bs1r8VWrSMvYeo3WtPc3sV9cP+OjVS+jEEmWMPmZCJIy7gmVk4DXO0b43RRvabdXbpa4IekbUEhuRmoQUtHN8eWJCMadCnDpqFxUk2oQSubpjrSM/lXcvPlW1TUMYVNTD1kN2zZ0sS0RUenAUMG9mE4F5iMRCr9GurTqdvWqV9nc7qRowi2TIGgMlpOBQVuvIV2GVcUHRVfNXBGu4zKEbR6o479B7u7dG1hRLYkMVivhJ/Cp4y7bePXw1C6oKKc6oYNrbq3bWHZohG+EjLgi4Nk+GRIh3LEsevY9OtnnpVq3NZKm1Jl6bGgBla9e5KvFoi2WXtn197tG6hZocscVARhMlcpnS+pKAdLSoSpHDE1kmHEpfI1bC7tRvuq6RAmtYHJZY3TuPtQJ0vKxIbBfKT1oyIqpdO+ImRDmZAAJAAJQAKVQgDLuRAe8yEueMW+G+/zJZ9bCrITopf7n2w+1Vvd7d5KMVFRiSAzLnjOindeG6e2IEtfFRsj8BQSgARoCcBkjhYPrIQEIAFI4GcggBp6LN3s0+TjXr8eFoY1jOrWq29ay9hqfLTprB0zO5Dezv6xXglTkrKtZ+/bOqZlFTTux6KB2iGBUhCAyVwpoMEuvywB6Bgk8LMSQPXb++2L+/j+SezRfdvWr1q7LeJa4pu7eybZlfu3JMqFELtRlz5tTfBPf8tFHBQCCfzmBGAy95sPAOg+JAAJ/EIEdMysnYaOHj9h3Ch3hzYm1F9G+4Vchq5AAj+OQNXRDJO5qhMLaAkkAAlAApAAJAAJQAIaE4DJnMbIYAdIABKABCqXANQGCUACkAAdAZjM0dGBdZAAJAAJQAKQACQACVRxAjCZq+IBqlzzoDZIABKABCABSAAS+NkIwGTuZ4sYtBcSgAQgAUgAEqgKBKANVYYATOZKQoEVFxRK/thmSWFFH2HF+YWCilYC5f+iBIrz83iV4xqDcVp5xlSOy1ItmGbrwg/DIMzPK1T9z69SL2hescpagzDNSNKYzKxKAIgwa1lOrX5Y7MvJfjoxmgXvVyZBR+lH1v2yyVzhwx2+Lr3dpu19nKd2gcMy7wYtnD17ileXxgYNu08Jfl5QSSHBsg6Pamhk6rg+AeZz5Y0cy0s8Hbhg8uiRo0d4DfcY/b9VYXc//yqUsfykswFzRzk0M23558Wi8ianKo92nJbJmIK357dOm7j5AUlKWvjm9LopIzw9vXwXhMfnyk/iosSoJb7DhwzxmB50N0u+AiEexU+2+s2N+aJaQdRqsNNoXSgTBg2MUm0qTLsftmrKwHb167kFfdT43ShtbFWVla5EI5KlUyHfS5B6J2S5n6tNvXoeBzPKOg6Eb09vWbmC5rEp5lVO5c5HeV8r/liT4P24WVDxHKq8hl82mRMW5GYXFX8+PXda4Cv6KAhebvccfcly7tqgyKuHxlV/sHPG0ph8+i7lVYsa9PRfvXLF7EFNSv52ZlFGhvr0s7wM+EXlCD6emdfbetDOnC6ztx88eCji8N6lrpzIse3tJ4YmVkLuU0aq6kcAqmXS0b1XzdR33zS+dpfKNrJxikjNLKUxwtRrO+cN72jbf0bQhaRckZJdBXHrBzou+uS2ITx8p6/2joH9lt7IwYg2WHrkpP7T47v9e2T74LQV7hNClPKXogdr58S2HO1sUtaljeG6UEYMhE9l27H0mjq5t/j++st3ZYpM5JLGlklH5m0YkmQuUF1LtEYL50EWuUnpRaUhoiS9+PGh9WEJuq269e7Xv3/fZp9Cly5cFlNgh584drLAHoWsO/RUVLnzUclCmlPp6KRpoqaKYfAkikq5GKixAVYzIlDWFY+Rkh/RSL/H3MjLV49MtRIWkrzrl7Oo+Pr2TTe0mzbTRxHUsPf606cPhS8boCvXoCIPUdPu42dPd2su+9ueWErYks1x/IrU+avLFn46NtFp6PaiCYePzHNpUhMf4ai+Rb+/I47PrnF0fG/v3UlV+gYdoxGgbVDL1MqyAbuyYqkyThE5M0tnDLtO53GrwoL/16bkfYzMm+K4dX5Lnnedu8zZDEVr2s9c2D9tre+iK3mggfBt8ObD6W3dBjXkmLm5238/ExCSKBfPgjur/nnotu5/rbmgbZk2ZutCmTGUyUZxZ1TPyNTCuoUxPtLFJRrtVWOrUXf1jZmRVC+HeQtAxKS5pQVY0pn3oWwp/G46MnDPX0Mc7Du0b9+uuYkOC2FVr9umXfv2Hbv0GbHo4M5RpoWsSp6PlMYqVsiNTsUK5mfMgleiqHSLAXN7YEtqAqVcAKgFVqEaLP1KwAWj8aNb09kk/BT3JEWko11NTELbwsmzf0s98Qldvwqpw3KvrP03Nqcc3k5WiHk/g1Dhp9AZU0Pe1fFa9KetjoLB3Fb+i8Y2Sjs5y3+b/OVfoc0PP9FgBLA5lZbLqWBRMbMUxnC4XIRjYlJbda7lxGzaGc/u5NzbUFyn27V/T4M3IRsPp2II//mzRKGugWE1YBPXxMQQe/3shezdWv7NlQufD/vX35IDasu2MVoXygND2cyU9S5FAGR9K/aAEckKMIHDKfsowM1iW3uP7kz57h6p3sXH2xbXVOUioDI6cW80fDIKnrKiKkdCQ6d/1uaohoYLMxMvRwbv3x9x5mGq8gdWgvSE2MjgvXuCj11OyJR7t4wIskDF1XfgIyHel/jzR8Kibn+Q9OV9josJCzl8/W2B+DMUqTXC7KRrkSH7Dxy9nJgFukmLBRnPz0Vd/yjkpd4/Hnr46tsCvALLTrp0+MCBsOibzxMf3E+QfkLKuxuw5EKbtXt8m1Je8wT52ZkZKRnfRAjGz8sEj9xCsRlknggLc0ALyZYnth8ryhUX5JT8coL3+cn5IwdDwk/d/aDoFLnxue+uR557UQgcwXIfB4wZG/SqqDgvKzMzq+Sb7RQwQBeyrTQR0jxACBOjBAXZYjyZmdkFAkTuNDNTTFBalC2NGhl5wkuKKBN1cjvBk10bT6Ujpn3ce1SXKxYf6nQe3K8h+u369oAbRQzDSeGmUixfpTN3VDwxBGRzhWoEYAUf7kaHHTgQcfbpF1nigoAbBGK3ECz/7fWjB8PPvSD5ApmkidKLlDsIj9rIEAZjJeMUITOztMZw2KorUMHVk7EZLLNmzWQR1G7dqin67capi+CjVm2utkjA5xMTlS8QsDhcLbEILO/a0kWvvf+dSD3hlSggCPlkpVwXFPqXEgP5iCrFDFQwpuQEy068FBESGn33k3iNKqkh14yAeMrWILwxLyP+3PGbn8CyW/DuZmToobPx8ksw3oJuicHrS540JCms0RQE6UQqMUDpiEKpUivFU13rDm1kn5woVhFn2q072uiBIwZTgLF6pfVFfKEDOqgEYCrXQLLRCQSQb+U8DcqTBGEw3YCjGgCaDiSgiIIuaTBUiQMBP3gTr4PMjBC8PTq5k93Y8E9auvxHGwdZNrXp2X+I9wj/nY95iPDDscl2HXyOpekacT+E+rZv7rT6AchQsLz4qDVjO5lb9fXb8yAxYmrPzs4jfMYO7WbTc/Gd3OQIvy4dXMb7+3o7tHVYehs0J+zgvTnyl8fUA4l87aJnO0a3s+y14FIGhmXGRSz3sDa3dp0auH+pa9c+XmO8XScHp/IS93gOnHM1v4YePz5oRKduf5/PBKsQLodr/7/AdePa0vyTacHr6A2Lluy49gUTpl7evnjhwiW7bnzFKD15c3Gjl7Vp7dqm3WYdf55OXFSLPj895G/XtN/ic8n54OqCpV1cPMBhYth7lq7oTaivbbMef8ekAHPIjd9748yWqQ7NmvccseFqLoZl3z0U9jgXxbDcB8FLFi5cHhGPqyCFgbtH+tQ8QqUJEMLQKCz7+bG/ncyNa5vaT496/U347c21HT62prWNGzrNOfowtRhcRr69iV3sbN7OJygO+ENBHtQIKKMMKuU3YfL5iy/5CKeFrY3ibTlxI602NpZcRPjx8rnHmWrCCTqQukkWSxe/9XsYO5pOOVdIR4Aw5cy8ge6Lr+bqVs+/MKdbi07+UYpfEvseH+DRrtPgib4jXdp1nnImE4xDYDv9plFk/nt1Tm6cIhQDVaywNMaIe5bsBcmPX2RjLNN69WTvwth1TGtxRN8TnyUKuO17dKxR+PlTuhDBvr55k8W17dROC3TGci4vXPppzAYfc1kvUEqzUU1WBCFfF5RElQoD2YgSlGKJVLJFdirKvbmsb/vuw8aPHz2oS+sOvoffgtWHqCXTDEYKTyG2WFbc4RWebc1tB0wPiXuwfXjHrkN8fUe72nWaEiMbVnRLDKFJfkdFktQazZci6gVD3gjpMalSaWX5vVJNAYbqydYXV3ChwxBKASSrI590LSFzsgKnQRlJSKylG3DkA0DzgQRUkdKlCgZ11gEk/biNeTInfLfb328ff0Tgjj9GePqtObzBhf/8zn+Wfx7YMaktt/jWpn/2JLT2Xek/3H3Mgm1/dC64FbTvdjGC6lsPmb10pC0bKXp+7FjR6JOvPqcnR4xulB+3derYzR8GHX2V/iXl2hyboofbt57CvxKDFMetGrNFb+7+1ZO8PP3XH9syhH1rre/CC4W1OnjNWz7GiiPKvPmo7uYXmWlvnsdH+Bld3rgiqdu8hROGDPNZEHx8uWMNFnOWnJYjVgZsn923Lptdv/+87YGB22Y71+FTeWJgNXz5vsV9DFis6o3t7RoS38nRNbeuq1PPZ8M6L+uaqDA5aOyoA8ZzQ9dOGj507IKw6FXWCRtHDlv9uBglNX5Kd5cZa/y6VRNbjBp28V+3YmgzNmrYbdrWwMBNEztwqWDkk/tYmghpHiAqo1RtQo07TQzc5tuMg2g3tGplxDayHvzP9rkOeqiuZV8vBwttBEGNWls3MHFeumuOA4JQjSEEKYplGmV+cvIHIcLSNqpNmsSj+nXq6KMgm0t+r6cmnFRuksXyWdTq2YwdNaPyk2wEFD9cPdz3lsPWPXNHuw+fsnpK1+Inu2etu14shS3Ku73viPbfN1Oy0h6t7amTHLY9Mh1co6XVVK8aRaZx835y4xQhM1Osp5TGiDuX7AWpKSBTQ/UNDErSMraODpdzg/5TAAAQAElEQVSFZaanY2gdryVLHN4fWLr/xL4FgS/azV4+thEbwbIuLFj5dcL60eC4RBLNEfVkRRDSdQFVElYKDORLW6zGS6SSJSWnwsRzd5psfvol++uryOlt0YR9kyfvfCME9eSaL+QjXIXYokYdPOcu9LTkYN/u7I+qNvvqx/QvT9f10HobuvVIGjGsaJcYoEhpIydJYY3GSxHVRFIyQnxKoVRcWW57yilAoV51JSdbX8CFzoxPfl0ElpOtjtSjE3SQ2ypuGmhKQs4o+UPaAUcxADQeSAjVYl8RWYe8d+V8rLBG0couun3xVi7LrGFjogtq2KuHDYf/6tFj4o8GcBp1cR3gNdC+Jl4pQLW0tUS5WZK78+zaRuDKqt3ac7aPfR0OwjYb4N7NACk06j1/tqt5dZDvtXPp2QjNe5+M38QqOB+wJ6Ve7fQr5/DHhXvf9YzZgk/nY+4D21g1a+ixWLWd/ca11uUYmrdqYsTBsrOzkqJ2nHiLX97Y5iOneZrrsEDT0m90nqANPPwGmgmfhu+/h+tDECw18tBn5/FddYG+wtgN664Iuw1wAs6CU4RtMXamR/3C+1vWHM8C5yTGg1ItQ0M9anspYYi1g/4KW2kjpFGAECqjFEyRnWh3HutlxUo6eewRfp8RYTcYOMhOK/N8+IkvxMVB8OLIDROvwXXxYUNNnnmUMV4xT4QgWtpEri2zQnbA0q0GxodIwOeBaxxtOOncJIslc0ep/ZSZKTnAck5u2PK0lceI5hy8BK3t6j/DvV9/+4bEKV7Eqt5p8grfjnW4iE4LV6cW7KL3ye+Jj0XxSvonc4OBHPpxChrgWxmMwbvLnjw+D2FxuNpashIw0zAMEWFCsEe41tNj7uxyEXz43jvgzvnFnfURLOPMvHV5/uu9G7ARLP3ahnFuru5u7r7bbmYSg0xOjPSQbrJS9ZH2VfdKhYFmRGk2AykNYLf0nD2yDXi3omsx5N/gWR24OddCjrxGKKcsvqgiiGJs0Vq1wPtV/U7+yyZ0NOYg3Cb9HFuyeZ/eiIcV7RJDaZdiBQ0HRCMQzCcSNQJF08p8pmns75Ou5CTrCw005qujint000ClsWYFmpKgkE474GgGgEYDiXaCkASjDMQp3CyfYpSxGHat2gYsUerH95LFTkuLg6AGJqbVcRHsRh6bTwRPqp9wZOUkz9GLzoO8TCgE10tCOouNshAWi0WcgB1LX686OAEbOAEbW1evGorwiotFCC/hblyGqCjz/Tvx432+jf+WwO0L3RuDdgjKwnXJ+oEiHadRHg3eB3u3tXaduedmmr7ryEEmeBtQVcqN1hPEoL+fZzPk9eFdZ3OAfGHyoaPYkDGt8Gtr8YPTsf+JapmaaoEK8aZr72CnL8q+c+Uhfq5qPF7KRqnNpYaBK8R7Kz5LHSENAkQdIUVbZGecNiO87DivIkNvFYEy7POFayk1a+ZdDD2CfymHFxdxu6FHPwNQgyDU5JlHmV2rliGKiIry8sl/ECwqLCwSIahhndpEmKjDScmeMJUslowdpfaTkC234z+8eidHx7Su5O0BSIUHrYk6FTCqScktK5QtPUb19fVYouLvwD85ETSHjA3GZbBR6nGK1xNPlF1qY4j+4h2xPIiEAgEmPsf3wiIeX4Tq1aghVsA1sx8+ecb/RvZsDN5GYV+i/9komLZuGHhLIHwTNHroFqFPyLGQccJ/3b0Dk6WLEC5F9qSdrOQjR9ZX/QHKFluJgDeqJTGhHVGazED1BuAtOJauzpZagrcvk6inLLGoIggblY8tG2WDxRpfsnExCFqjpj5LxCsCizM4V1li5C8CoJ7BRssB0QQE84lEjYCBwRo1QdlsSXv5+Ujpc2PylVxlfaEUAJQxXx1BY4WNdhootCzFCcrWiASFBtoBRzcANBlIlHSJCaISDKT0xCm8LKdi+WlML1LHcfosx5ovQzdGfgDv/XnvjsU81LWbNtUZLKd4x+JXh2c49p2XYDtn/+FtI1tp42WaP0U5mbkipF53X3/5x+TxvS3IZaF1Bu28eXHzuDZ5lzZN7Nmy/di9z6RfvSPvwKCU1hPtThPH2XE/R+8+moLxHoacMfb2rE8MWmFq6hdMJADXnBIVXDOz2iiW9w1P/EpKGR9RwyA0qsj5sRFSMUdSwG7q6d1V58OJsNh8RPB0d1TNJds96hfdCA1NFBTdjHhiNcJR9j13KvLMo6zVpn0b8EaB/+H1WzBIJRaUvGDZn1JyMZauTcf24lt3lOGkZF8iTPmIuaNUfipLFGZl5QqLcnPwNFi5TvUcvGNCEJEI3JhUrSMtYW4waXfaQo2NKZHGsbBoiCLCb9I7+6BGmJWdK0TQBubmKhc/7HPknK3oH6sG42/iBM9D9lz53s6xdy22oWPfDryruw88EYD+yhvtZCVN/5QlMDyXw1CKEcVQCXkz1MSkFkvE5/MRSs0Ui6qiPMIFaZGaJUbajO6V0hq6ThR1TCcSNQIKweVRTIATz0dKny3IV3IV9ZQCQEvmqyNorLDRTgOFlmU7YUKCQoOaAcd4AFCIFxdT0qWYIKUnLtZXUXvmyRzCbTM9eLu32dsDU4cPHzJk2nnz5edOz+8o/p557sW/3Hximi8PX+JqIcnuSmUxS7+mnij11pVnPLnuWG7iy49y54qHbNMe0/fcePXk2Pxe+kkHp4xceU++r2JbBmfqPOE0H+Pbp0bupb3Bjy7sv9V6rJuRGCHb2NgIxdLey/8ul8XRYrPY9c2JBJ+BbqUm1DAorjc/NEJKxpecshsMG+monxZz6OynMzvut5s4dKDP8GbYo0MhN85GvLbzthenVQhCQx7cPWAWZdTQZXjfWig/6eY1/M5fiRHio4K7917w0Vp9RwyqI44aQhVOSvZiQaR7ho7S+qkgmG1oWAMtenzrlvxXa4RfXr78QjEAFHqrP2FosHpB5dqCbdbNvhkH+/imJB8XfPyYinHMO3UFn6Mq6BKmRPwdWH3W6gHiePJev3qH6Rka4W8lOYaG+tiH12/IVgPayaqSLypoLPVJaUZUqZWBjqLCgiIRu2ETc4RSM/WiCvqTb3RLDHkP5VJKa5Qbqj1nPpGoEahVUi4NKH1W/C0TtS5KAeIuqtdAcbmaPe00UNO3lNVqHFGVSjfgNBgAqoLlSiiNop4gqsTJ1hk5HZVxKLmmMVElTN4zdZvBytizp44fjTp1NnKLX6daku5Fd46eTMbMrWxkN1k0u0cgU89tY9/eCHuxc35Qgux2ROGj7QFn5S9nstYIUnRxb3AyuLKhepZDVkSHTWmGJd2+I/6urlwrukMMPESICP8yDt5MvSdo3aET3c34cTvHLXzZw8dBmrpqd+jbow6r6O75Czmyj4f4aZ+/spq5DLTBJTN6skArYBDYg40aBsXdlx8aIWAwxYbWGTzS2TDzzKbxW7+6TejA5dqN8bZBk0L9l6Q4eFtLr5005DWIMmo8fOHsLjWLbx3Y81A2giR2CT8e3nc6o0aPuUs98ds44lKKcFKyF/ci3zNylMZPXKr8CNCy6dxeX5R67N+dL6RLBfbl9Pr9T1C8Fd66jE9GBpPqwA2QDVTSFqUv5LYf4WHD+S/u3nsws3Ex2JfHTz+hrTy87aSJP16KIMKPYbP3GM1b2U+6DrHxj5rBzShiBvJ4fJauHvEtEHHzkj3tZBXrAM5hcutCSV+FIw0wlGpEKSjT7KQw/lky2sptkBV4F67Zokqnh2aJoeqmRLLcOKiZSArmlJtSBAOjAogWEUMMHDDaKNXnU6zkylIpBYCGpKsjKEcQdaOTdhogxAMDj/KcBnSOEAqVdzQDjnYAKMuhO6c0qsKyDjprSl8nycYYCBA8ORBw+lHM8smTpsgefy7edyMVXGdYurrVWPy4w7vvZQvS4/bND7xVKOLnZqUn33v8WYjw8c8ehfySzzuEeOqECaQFYLxgIhGfxwMTRM/lf5Pb6mRdmNW796R1IcejDm3+w23Kyy5elriFQkyIiL7n50s7IgiWcWHT+nMZoCOo125Y34RT17K1+F06KGCyYZlfszEsK+Or+MJB74lYYE3niaNaoJ/eGgwaaytNRRDEwO2f2T1rZJ/etP2xOIvAsi/F3K7mPn+a+BKkajwujYd/DCLg8YhJjYJrDwfLTHqeUpR249T1NF0qGCVacRnSZ6kjxNcgQAhVhKRWkLyC+2Uj3Uzz7ic28BnRGHywwGk1alRn7bT/jPt7NAOn4h4s6jGU8uUC8yhzrWeG7ZnY4t02/4WxGeKBgSvAcu//O2HBrcZTg0P/aCO+XuPF4EkeTlo3yWOJIEwcpfHzM4IqjICbwsHTfSy18q4vcB00Z8fhqIigBV4ua1kDBhrj0xYkLSCfEYjHLYKIhGASiXi8YmIoIYL0hLv3Xkl+gwS8JN+YGEz0VBinSmZeB++e6I0hRJDtRMXFfJFIwBePf2kLjtX/lvk0fH40XHyDnpcQGh5nNnrp9HYKcRO+C5l1oO7CZdJfHIHeWh3796pT+O71f0JE+OHFqxz9jj0kn6eDSvlN3WRFEKV1Qb6z7FgxWuow0I0oviYzUKZf5eDb14xicaEgcV/gVRP/DTNx/6k0E4sqgvDk1yDR96JiEf6NRfEwUhpWdEuMWLHqXpkklTVETw1AsKgXDHDRQRA+cAsB8gi5tEqLUp7cfvJJvGoTral3wuxM8GZd9C03t2RpkbQm9AnJ5yOVekvylVx1faESAHSTXgNBOaqwluCjExQqbhU0DUpDQtEw2RndgGPRDQAQeBHCMOmgvKYRE0Q1GKTENco6ZP6V6wF+VWAmkNPcxaub/scrobt2yB6bl/n2cZpzpUDbfvyUXsaFt5Z0MzHqvirbfZ53Uzbv8ny3tR/08q7vWhZ8jy/Kv7l7xd6LSflvr+5bs+PCF6HgSfiawBNPMj7dCtu08USyUJh8ctOWqKfZ3I7zjxzwt6uZcWvXnLFDhvmsi+++bpOnGZL3PCZgWchDgSj39PKJqyKfZGNis/nJe7y6Dvxjw849m2dPOaw9M2ixk464Ru0ey3oSuWn6ksjPmPDj0SVzA0JPP83SovTEoI4s7+B2HD/O3sx5PJGZyNRwWs0IC//HPnWDu8ufm/bt3fjn+EDRrKhd3g3YGKnxwpTboWt3X87EBE8i1u48l1iIIPo9XHoafb8ys0Udx+Aic2NUhxwGRdBKFaG3uS/2ahQgjMIoGQeyA/0+owY3txk3zaUmUctu7DGqV/0+I4fLfWxGPYYM6qAaRZndcNiOqxf/tX84o5ez39KA/cH7ti2d5NLL77LV+suXNg2sJ4sjYQuCkIeTwk3yWEokgQiqdZTOT9BfcQTUcFh5JHBUS+6nc+umeA0ds+hirb/2Lu9RHSlMPLNtWcgjPpZ1ZffqvZdfpT05EbQm/LEA+xK7a+PhB+lF9xY62nbubGU7JiJVmu3JbFQ4UB8Z5XGKd1cYqKaZ52iNkcxUvJ/8s+Dl+eAtK8OfCrD0S4ErZ1ZKiAAAEABJREFUdxy7X/LhMWrUb8OR1Q2jJvosDwpY4D0husWGyC2DiRRWKkH4Zu+sMIulS3oRP6CXlKKGA1dsHf09eOaSLQtm7P82bONqb1NUUqf4Qj1ZQR5Hsi6Q+6AvHy11GBCKESV4c0WzJZLMFi1Ldz8P69TNrg7jVuzcH7hg9P9udN97dn0fQ8J9Cs0oIlRcgx4/Obdz9aFHAiwjdueafVeS05+elAyrizvXH7r7GaFbYhQBE2dkKyxGxQHREERiCx+Ki45BrYx74Wv3XcvB+I9CV+6IjgcXCwoEwEzew5UuHbva9V9ynwfOqDfB22thAfNWHAfvFATxwfNX7Dp2Rza31M1HqkWTiI6CSqr1hdp+kLaqXgNxmQqTFFxN8DKlZ/lPg1zhA3Cdpl6ZKKOvZJnklG7AUa6k5XdNI71wA9M0uh6B9pWzqY4mKr0Yj1dkMTk2SygSP4T8/KwPT47PML57/jmPa/3n6fhHsTHR1+MfHpvZw2nRycunbzy+s9OjWfNefhuvZwhFgpSLqyb0aaFn4TB+8Yl3PJEw627AtMG2xg26jpwTnvAdw74nHJo9xAYsPlyL4QF3k1/dOR11/Mzd169jlziAVRzVb+P2vx33soUiMNrD5w21BQ2BpdrdVj5IfR2zyM3SuE7rEUFXzq/oR7F6g8bKG2pkO/TPXXczhSKRMP36pqmjXG2MUEpPzNkl/dlNJwadXje85MM6cRVat9/y2OSkU4ucGhub9/jr4JkDU+3waw258ex6XUYtjvkoEGE59wKn9LMEH9iyLSZHPYuLPX396f1dw4hEhxSGWJvKvlQR8nborWmAEE2Mklip0/OfoyEz2krfiKKmXv9Gr/FQAEhNXlfjKKO1Ok4MuPzs/r6pDk2MatRq7jhl380n5zaOtjUgG/Bs8nCSukkeS4mX4EW9o9R+ghGmMgJ020wIeZr87Gp09IV7Sa9u7xhpib9X0bV0mbEzLgcT8T/ELJ3g2NzUdvDUwHv4+duoeZ52dXQ6/BkWfersrr5Jp25L7tUA20g3tQYrj1NcioKZzVvTG0OGHAip3tJ57F+7H+BGvzu13H9YRxPgPygnNlSv7bSo+1F/d65v0W/1mVsH/GzxP7JPVBE7LK/QYnrQku76xFnJjt1w6O67l5Z0a+q08tL9gz4tuSVVSkdUkxXcXyVbF5R6i081wgC6kI4oThONl0ggSmlD6/ScfSju47ur/w5rZVzHetT2s8cWO9eTTjeEasoqxbatbb8pQQ++4cMqesn4Xk3r2AySDKt3xxeOsK+L0C4xSiaBU9IVFpSTckA0BWFiS3HRMeeadvIWL63Z9wKmDrQ2xIcguVKApu3MiHPR54/O7UA9WIDNCMei58ip/15NE4pEGO/NySV+wzqbsfEK8NRVMx+Bfir1oLf8Rr2+UAmgvAYqjM4GUlPllYHj8p4GI3u50a5MQCWVI6BKZaMdcFQrabld0yiCQUlcxfzKLQCjjJFC4afwKeNu2/j1IOYF3gXlVDdsaNW9bQvLFo3wRYNrYuU0wNW+Mf5/TVG9pt1dulrgh3hTzZ9oTXN7F/fB/Ts2qk5rIbthy5Ympi06Og0YMrBPh0alVyhvIgNPUINWNk3xq6p8P/Gxdl1rhwHubo6ltEanblunfp3N5T1BGcGoohESQ0EQdr02rWuVxBLVa2HTQu4bluJmFORLG2VUt4FNz36D3Ac5d7cxA7myWAnJnjqcTAdiiVAmjlL4KRaiOgI4xq16urn16WhuQLEiizvK79l1bPr1M89KNW5rhf8aQL5K+ZiJwcp9wLmqmaCwfDedBra9B/Tv1ryWqtuogVXvnlQz0Ky9s2vv9g3olw7CVO2yTVYgQ0d1voJSmk3zEUUjTKlK26RVd9chQ1y7WdbCl2Sl2jJrVr/EKGmkOy2zNbhw2omEN1B6kipFDVo6ujm2JH2fp9S/jKek6jWRSSaAbnVkODq1K30akDmiCkL9gNN0AKjqkCthZhS4llVE1iFnR2kPSy6vtBKwnAvhMR/iglfsu/E+X/K5jSA7IXq5/8nmU72Z3wyjVQIry0AARqgM8H69roLMuOA5K955bZzaQjUT+vXchR5VAgG4xFQC5HJS8UuIgQNOszAyTOZQQ4+lm32afNzr18PCsIZR3Xr1TWsZW42PNp21Y2YHHc1UwtYVQQBGqCKo/qwyhSlJ2daz920d0xJOzp81hlXObrjEVLmQ/NoGwQGnWXwZJnMIqt/eb1/cx/dPYo/u27Z+1dptEdcS39zdM8muEm5Oa+bR79oaRuh3jTyJ3+xGXfq0NSH5qI2kbRmKYNffigBcYn6rcP94Z+GA0ygGTJM5sVAdM2unoaPHTxg3yt2hjYm6L+OI+8B9ZRKAEapM2lAXJPDbEYBLzG8X8h/rMBxwDPlrlswxFFrOzaA4SAASgAQgAUgAEoAEIAEKAjCZowADiyEBSAASgAR+RgLQZkjg9yMAk7nfL+bQY0gAEoAEIAFIABL4hQjAZO4XCiZ0pXIJQG2QACQACUACkEBVIACTuaoQBWgDJAAJQAKQACQACfzKBCrUN5jMVSheKBwSgAQgAUgAEoAEIIGKJaBpMifIzyusWIvIpBfn5dP/E2SyTrAMK84vFMhjKM7LK5Y/r2rHv2WcseKCQsk/VamUePyYKVwprkElYgJwDwlAAr8dAabJnCD1TshyP1ebevU8DmZglYQJy0s8s/3vET2amtrMukafhQgynhxdN3PCyGHDvEaOGjHaf+HW8NhbJ1atPvalsowtVyZY3svja6eOHO7h5TF8xORFgceuX9u9Zm+CQmamRiGWdXhUQyNTx/WgV+HbS7sWjHFsbtp0yukfkIursRRhHueCt+e3Tpu4+QFJal/45vS6KSM8Pb18F4TH5/4MUccy7wYtnD17ileXxgYNu08Jfl6AVOTjh0zhinQIyoYEIAFIABKQEGCazKE1WjgPsshNSi8SSXpWwgvKNe00qHv1/97n0WUxWMaN9UOtbMZECrv/FXD4WERY6IHNk63TD/g4DlkS+SK9Ei7rRRkZeeWoBsu+urB335Wf+644eCTiSNiGsQ3j1wx2nBLy6pucErU6UYOe/qtXrpg9qAkH4dZqO8DZJONdrqA8o1duI4BJnIWp13bOG97Rtv+MoAtJucpuFMStH+i46JPbhvDwnb7aOwb2W3ojRw5WuVlajoIEL7d7jr5kOXdtUOTVQ+OqP9g5Y2lMfjnKVxH1Q6awihWwABKABCABSKD8CTBO5vSMTJpbWugzbV8+lmob1Kpna9WYTS0Ny7m2sP+A+U87B5w/9M/g1gZEU24tm+ErTp5f3atGXnZOhX+ChaWELdkcx6e2UcMaweNNf2763H/FqkHm+D/W5Jp19g08vXtEA8I1iSwmOlHT7uNnT3drro0gnJpGZq2bK0iQCKoaL+rjjLDrdB63Kiz4f204qiYXx63zW/K869xlzmYoWtN+5sL+aWt9F13JU21ZdUqKr2/fdEO7aTMwo1DD3utPnz4UvmyAbkXah+r9iClckR5B2ZAAJPAzEYC2ViQBVBPhHA7JlVQTAaVpq8WRz2KUJORdXei3/hGn/4IVg+oquaLTetraqY0KspVv4ihJKOsplntl7b+xOeWnBcu4ezuhGMOEWIlpqInbNG9LGfxS6WTTcSxR9cOOaOMMrOJwuQjHxKS2UphBTU7Mpp3x7E7OvQ3Fdbpd+/c0eBOy8XCqHELQriptwk9xT1JEOtrVxCZrWzh59m+pJz6pSDt/yBSuSIegbEgAEoAEIAEEKfvlg/f5yfkjB0PCT939UCC9eAoLczJlj7wiAjRWlCsuypF93VuYnXQtMmT/gaOXE7OUbqAVpz0+FxF8IOLSq2/UeZLwY+ja4NcCA0fPQWYkjnDbjnRvI5QTTGYqLy9LwSxBfrbCObCdlxF/7vjNT0BQwbubkaGHzsZLrcVyHweMGRv0qqgYl5KVJ/sqF4Vngozn56KufxTyUu8fDz189W0BkK68odUMalQTpYbP+ePIm5LvCXJtunU11cLbkuokFYzlvrseee6F5EtyKMLCu4ufggKJl8DXkt9EUFgt7kK9F6QnxEYG790TfOxyQqb8B+LU4GTCGMVZ1hrhsNGSE8lRwdWTsRkss2bNqksKEO3WrZqi326cuqj8Uauc29kFAkTuNDNTPEylRdn5UkcooJASBwZQNAc1sg0fYhkpGWBgY/w8EIDM3ELZxCGdEYIsAPjqOzAAeV/izx8Ji7r9QTynEN7nuJiwkMPX38qmHqGFMiJErdKOgcVKPar6KbQPEoAEIIHfjYDqtVEDAljaxcUDHCaGvWfpit6E+to26/F3TAq45GB5by5u9LI2rV3btNus48/TiRyn6PPTQ/52TfstPpeMfzWI9+bIXx5TDyTytYue7RjdzrLXgkvSH1bkx20f1sl11d3CapzUiAkDVzySXleVTMO+nou5lS/iWHboUEOpSnzKbu4/w118iacyVZiZfCtqoXNjY9MeKx8DO7Hst7eO/dOnoXFdp7UvBFhW3OEVnm3NbQdMD4l7sH14x65DfH1Hu9p1mhKTiSFY9t1DYY9zUQzLfRC8ZOHC5RHxQAJC6hmWGRex3MPa3Np1auD+pa5d+3iN8XadHEx276iGi6+XBafwxd4Rnbr47riTDoACd3T6//G/9lxVnYeu3yERvPfGmS1THZo17zliw1WSHwNg2c8Chjeta9n/z+3HLj0nNJBaDfSq2YQfjk226+BzLE3XiPsh1Ld9c6fVD0D2SA9OIpNpnCXNKV4EyY9fZGMs03r1ZHdw2XVMa3FE3xOfJSqOHCz7+bG/ncyNa5vaT496/U347c21HT62prWNGzrNOfowFaTO2Lc3sYudzdv5BMXhVEihUIeStLmK2YLX0RsWLdlx7QsmTL28ffHChUt23fgKsjmy3oK8+Kg1YzuZW/X12/MgMWJqz87OI3zGDu1m03PxndzkCL8uHVzG+/t6O7R1WHobYMd1UUQEr1J9kukEpqg2hCWQACQACUACVZhAGZI5YXLQ2FEHjOeGrp00fOjYBWHRq6wTNo4ctvpxMWpgNXz5vsV9DFis6o3t7RpycQC65tZ1der5bFjnZV0TKY5bNWaL3tz9qyd5efqvP7ZlCPvWWt+FF0A7LD3qfx7LCyYfi1gy3mPUX0ERM9tjFPfm+AnPEotELC356ziQQLJRm8qu29ZtnJ9LU46kF2psPWCcX/8m4sQANergOXehpyUH+3Znf1S12Vc/pn95uq6H1tvQrUfSMNSwi/+6FUObsVHDbtO2BgZumtiBS+VZYa0OXvOWj7HiiDJvPqq7+UVm2pvn8RF+ZDcUUUOXf6O2ezevjmU+2julZ6tOYzdfSQGJBoI/VHRO6t2ZRPCU7i4z1vh1qyZ3Mw7vLXliBR/uPBQN2X/rRsjiSR6dG7CprM6XdKB8Kb616Z89Ca19V/oPdx+zYNsfnQtuBe27XYzQg7XousgAABAASURBVMPFaRBnvDn1U5CaAvIuVN9A/H1JoiFbR4fLwjLTlX79ghp3mhi4zbcZB9FuaNXKiG1kPfif7XMd9FBdy75eDhbaCIIatbZuYOK8dNccBzM2xSClCiWffEyrMOS0HLEyYPvsvnXZ7Pr9520PDNw227kOSq4sVt96yOylI23ZSNHzY8eKRp989Tk9OWJ0o/y4rVPHbv4w6Oir9C8p1+bYFD3cvvUU8R1BqogQXJR25DovqFis1A2eQgKQACQACVQxAqVP5gpjN6y7Iuw2wMlALINtMXamR/3C+1vWHMd9RBt4+A00Ez4N339PnIhgqZGHPjuP74p/ybvgfMCelHq106+cwx8X7n3XM2YLPp2PQRDewy1LwnJ7jRtpLk6n2GZ9nWw4uEDVp+jbt3yQ53G52izVSvkSNaYiKEvsgqQPqsXhlEhEa9UCSal+J/9lEzoacxBuk36OLdm8T2/eK971kfSl8uw+qGfVrKHHYtV29hvXWpdjaN6qiRGFY0h1a7/QuLuhfznW1xZkPgz5s69VF98D8ZQXWXLBWoaGeiVuAP3iTZR1Y+WIucljg3eNbK4tLkIorRaHTtKK5IXTqIvrAK+B9jVxgAJUS1tLlJsl+RCaFpwmcSbRK1/E4/MQFoerrSVXiGEYIsKEYC9XSBxqdx7rZcVKOnnsEQ8/ZzcYOMhOK/N8+Anx37ARvDhyw8RrMP4FTEoooB8Jccrm6hgCcQhlBEAlu7YRmGLarT1n+9jX4SBsswHu3QyQQqPe82e7mldHUP12Lj0boXnvk/Gb4ghdRIAw+Y3SYvlG8BgSgATKiQAUAwlUIAH8Ilwq8cUPTsf+J6plKv4iFyFC197BTl+UfecKcYYY9PfzbIa8PrzrbA4oECYfOooNGdMKz194CXfjMkRFme/fiR/v8238twRuX+iO8OJPxLxEGjRrVg10ITaWtrYWSUqC17Fq6INsRVScX/KtL7xY5aneVJUu8gVslI2wWGxUYgVao6Y+S8QrKgZ5pHwz4pjSs8Z4tThplMgBBVjmk9OHI2SPw6eeZIBS8Ybqtxnx78XnceH/uFhUF2Y/2uvbf8wB/GtT4mrFvbJgcS0bVYmuKOv6P/09znfdtmVwQ7a4FdhTW41HCzSg3NiNPDafCJ5UP+HIykmeoxedB/mEUPYtRTY1OI3iTKmdqGDp61VniYQCgdzHg8IiHl+E6tWoUeIj0RbfcdqM8LLjvIoMvVUETrHPF66l1KyZdzH0CP6lSF5cxO2GHv0MQA01FFApyf9LQolQN1fHEBdH2RuvJMYeiyVTRniMILJztq5eNRThFRMjkjYiiPyDUicxVuVbwmNIABKABCCBqk1A5XLP1FxhauoXTCQAF82SHlwzs9oolvdNUqLdaeI4O+7n6N1HUzDew5Azxt6e9YmrqygnM1eE1Ovu6y//mDy+NyJ4m/xR/B0xiQy6F63Wti3BB4n85ISXxF0WqrYMTKXqSlYuzerI6ig9syBrLUg8+Ncob9lj1MzgJNBM+P55guR7bmjNNp6rYp7e2eXZhIulRq/YfJPRbR4ghGITFX5O/pRxd9v8g2/kMFNbTYSLQpa4uPjV4RmOfecl2M7Zf3jbyFbSe33iSsW9HDiN4qwoRfmMY2HREEWE36Q3BEG9MCs7V4igDczNyRIpdlNP7646H06ExeYjgqe7o2ou2e5Rv+hGaGiioOhmxBOrEY7E1yypoQANqht1c/UMEYSyt6oitSXFDCNCqZN0rKpVCxtAApAAJAAJ/DACpU7m2MbGRiiW9l7+d3Qsjhabxa5vLvWG03yMb58auZf2Bj+6sP9W67FuRmJ1LP2aeqLUW1eeyedgWG7iSwTV4nJYgk/Jr79LZdC8orVdhvUyYAnenIt+TJHkCPPzCjD1pspuctBoY1RF6dlHsu6cVhP3nDore5zaM6k1aFb8aO/u6/hdI3CMb6iele/OraMbsoWfEl/m4iWlf6L1PYJ2T2z69eSfo1fel/2WltpquYyPVGnuxb/cfGKaLw9f4mqhS9qCvFCjOJOLkJayzbrZN+NgH9+8FUiLBB8/pmIc805dG5AmUuwGw0Y66qfFHDr76cyO++0mDh3oM7wZ9uhQyI2zEa/tvO2Jr3gi1FCkahReqZurY4iLoeyNV2r0ZB4RSp2kY1UjI2BjSAASgAQggUolIM6uSqFSu0PfHnVYRXfPXyj5+w/8tM9fWc1cBsrEoXWHTnQ348ftHLfwZQ8fB+nlntvGvr0R9mLn/KAEWdJS+Gh7wFlEy7ZdGy6SE3soEnxgJxODiDBMSPKpJmrmveB/7XSFL3cv3PlSNZ3D0i/vPQISRm01prJ0dXUQpPi71BasmMcTIZhI7nO7ElNUjvBEEJN+OYvSM9Lvu6GGlt2d+8kezt0tDXHxWMalk5cVO+i3bduUjdZu0LAG3oD4hE2mkyhhvGPVdv03ZEEn5N6K0X/EpIldpLaaBLq8pqI7R08mY+ZWNsS9LHGNSKSmE95MszjjPaif3PYjPGw4/8Xdey9Jm7Avj59+Qlt5eNuJ0zKVrmidwSOdDTPPbBq/9avbhA5crt0Ybxs0KdR/SYqDtzVH3J4airheaU/dnBQHiB4mwse1WAxlb3E1870GEaHUqTj0mOuGLSEBSAASgAR+EAGNkjk+n48gfB7YAWsN3P6Z3bNG9ulN2x+LsyAs+1LM7Wru86fZgVrpVtN54qgW6Ke3BoPG2kqukqBKz+V/k9vqZF2Y1bv3pHUhx6MObf7DbcrLLl4Iu9HIacProV9jZnktjH5TIMx/e3bHsecCUUFOtlgr6Cy/6XScF7p5cL282L8HeK45+yZfnJyAFsKsh/vmr0qyHm5viCJqTGWbNWtigL2/dOz6ZyHvy51d8zZczhJhWekZxK0e0feiYpFIKJD+JyyREAP5Co9HfEMJQXX1qnOwzKTnKUVpN05dT9Ol8MwS2IQIMSEi+p4v+xNmeBnZU/hf+D9zTqUS6ol64cdTZ55Ws5vs7wSyThWdGIVgHggX+CAcJKZACPYd/06VkA+E6nacF7LB1Sh5n++4HQnFoA6hioclHjJBesLde68kv2rAW5c8Wbq61Vj8uMO772UL0uP2zQ+8VSji52alJ997/FlIB07TOEtUioqL+SKRgC92SVKIcKz+t8yn4fOj4SBxB2W8hNDwOLPRS6e3o8jlEAQ1dBnpZpp3P7GBzwj8/4twWo0a1Vk77T/j/h7NZDfzKKEAHSTEKZvjDPEuCk8s82s2hmVlfJUkoFS98U58Hl+EEJHDz8BTiL93wAQglOAEQYjEUMTn8cDop40IaM0HY0I6hal0EmMVtIUbJFCuBKAwSAASqDgCTJM5Ydq98LX7ruVg/EehK3dEx2djCKfVjLDwf+xTN7i7/Llp396Nf44PFM2K2uWt+NkWt+P4cfZmzuOJi6bMD52O848c8LermXFr15yxQ4b5rIvvvm6Tpxm4zNYZsjVipUv9/FurBzU31G0w6LBBh5Yc5Put3fO2nEuW/1hWIkvbcmLErZiV7oZ3lgxo2cjSvrfbkCGuvbs7jA3hjl7pb69POKjGVF3n/83orPtiS98GusZd13wf/oezKSr6emnb4p3nrpzbufrQIwGWEbtzzb4ryelPTwatCX8swL5c3Ln+0N3PCKLfw6Wn0fcrM1vUcQwuMjdGqTzLex4TsCzkoUCUe3r5xFWRTwBAiQcqLyyuWQvD+7Mcu3nOXB8UHLJ73XRX13/5fmFH57UXfyVNXmeh8ZfTqoKFKbdD1+6+nIkJnkSs3Xnm7pPj25ccuC8Q5d/av3rfpVfFes1bNtIWpZ+f6TJ47o5Tz3O55PEA8Hj3Fjradu5sZTsmIlWSeJQYrG0/fkov48JbS7qZGHVfle0+z7spm3d5vtvaD9rZF2nBiTSNM1Lw8nzwlpXhTwVY+qXAlTuO3f8iMwc16rfhyOqGURN9lgcFLPCeEN1iQ+SWwcZoiaEqR/p9Rg1ubjNumktNoord2GNUr/p9Rg6XH7wahpKiuYoVWNaTyE3Tl0R+xoQfjy6ZGxB6+mkWhlD0Fry5smtZ8D2+KP/m7hV7Lyblv726b82OC1+EgifhawJPPMn4dCts08YTyUJh8slNW6KeFnakiohBrQzlKUyhU8ViAhHcQQKQACQACVRZAkwXbrZpJ+/FMR8FIiz7XsDUgdaGeEe0br/lsclJpxY5NTY27/HXwTMHptoRf6RC3l1204lBp9cNN8E7yJVzLYYH3E1+ded01PEzd1+/jl3iILn4ogZd/z798tX9CyeOn33w8mHIFL9lpx9/eHd524x+TblyAkoOuQ2c/wmP+/T55Y3DG2ZN9pkwbdmeM1djtoxqJffhH72punbzL794cO549LWnT47PsGvlseliwn+J0Wsn9evVb0rQg2+YiP8hesn4Xk3r2AyaGngvB5y/O75whH1dBGFbTI56Fhd7+vrT+7uGEakAqWeofhu3/+24ly0UYXnPw+cNtSUAlvggd6RtPy/yytUHic/Pr/Hu0LBm9dptPDZdib+w0pWQjjeU1+nR0oZEMLtel1HicOXcC5ziYm/rPj3wLlAu+O/s8vFOzXVNe6y9V4iJsKL3Z9f4D2gDgkZqNVDG7fBnWPSps7v6Jp26TdzFA2UlG9f6z9Pxj2Jjoq/HPzw2s4fTopOXT994fGenR6tW9ODYiKZxrt7Seexfux8Q7E8t9x/W0UR2Dw1BUL2206LuR/3dub5Fv9Vnbh3ws9UrMZL0SKfnP0dDZrSV3jZDTb3+jV7joTRKSaFQh5K0uYp21Mh26J+77mYKRSJh+vVNU0e52hihoBVpb06TXn4br2cIRYKUi6sm9GmhZ+EwfvGJdzyRMOtuwLTBtsYNuo6cE57wHcO+JxyaPcTGUIcqIuZckinMpZqFwB64QQKQACQACfwsBPCrSNls1a5r7TDA3c2xQyOKfy2JGrSyaapDpgStaW7v4j64f8dG1ZXs0G3Yoc+ggU7WplxEu2m33jYm5GmcvFCuYfNOvQcOGzbU1bF9Y325C31JIzpTuWZtnQe52DcGTqAGbXr2bGFIKqJEWMmRTt22Tv06m4OesjJqz2RNKA/Y9Vq0ANkVwqlp3qGXy+Ch7i7dWtZR9p9EJ6VAxhWkVrPr2PTrZ56VatzWSnxfUEkc18TKaYArAQ7kVE27u3S1kCeh1FrptBRxVpIgd6rTwLb3gP7dmtdiFDl2vTata5UMO1SvhU0LuexfJpcUiqxW5UDD5kr9y9ZbIkzDiJSLTolq+AIJQAKQwE9G4Bcxt+Rq9os4BN0oZwKCzLjgOSveeW2c2oJRklTO6qE4SAASgAQgAUgAEqAnAJM5ej6/fa0wJSnbeva+rWNakt5c/e35QACQAEMCsBkkAAlAAhVGACZzFYb21xDMbtSlT1sT6VfLfg2foBeQACQACUACkMCvRAAmc79SNHFf4BMSgAQgAUgAEoAEfisCMJn7rcINnYWPJHOIAAAQAElEQVQEIAFIABKABEoIwKNfgwBM5n6NOEIvIAFIABKABCABSOA3JQCTud808NBtSKByCUBtkAAkAAlAAhVFACZzFUUWyoUEIAFIABKABCABSKASCPxyyVwlMIMqIAFIABKABCABSAASqDIEYDJXZUIBDYEEIAFIABKoZAJQHSTwSxCAydwvEUboBCQACUACkAAkAAn8rgRgMve7Rh76XbkEoDZIABKABCABSKCCCMBkroLAQrGQACQACUACkAAkAAmUhoCmfWAypykx2B4SgAQgAUgAEoAEIIEqRAAmc1UoGNAUSAASgAQqlwDUBglAAr8CAZjM/QpRhD5AApAAJAAJQAKQwG9LACZzv23oK9dxqA0SgAQgAUgAEoAEKoYATOYqhiuUCglAApAAJAAJQAKlIwB7aUgAJnMaAoPNIQFIABKABCABSAASqEoEYDJXlaIBbYEEIIHKJQC1QQKQACTwCxCAydwvEEToAiQACUACkAAkAAn8vgRgMlc5sYdaIAFIABKABCABSAASqBACMJmrEKxQKCQACUACkAAkUFoCsB8koBkBmMxpxgu2hgQgAUgAEoAEIAFIoEoRgMlclQoHNAYSqFwCUBskAAlAApDAz08AJnM/fwyhB5AAJAAJQAKQACTwGxOopGTuNyYMXYcEIAFIABKABCABSKACCcBkrgLhQtGQACQACUACpSAAu0ACkIBGBGAypxEu2BgSgAQgAUgAEoAEIIGqRQAmc1UrHtCayiUAtUECkAAkAAlAAj89AZjM/fQhhA5AApAAJAAJQAKQQMUTqLoaYDJXdWMDLYMEIAFIABKABCABSEAtAZjMqUUEG0ACkAAkULkEoDZIABKABDQhAJM5TWjBtpAAJAAJQAKQACQACVQxAjCZq2IBqVxzoDZIABKABCABSAAS+NkJwGTuZ48gtB8SgAQgAUgAEqgMAlBHlSVQVZI5rDi/UFAGSsV5+TzG3Yvz85g3ppaKFRUUCKmrlWvK6qKyPKVzBQLlqktFmDA/rxBTUl/aUxXhpRVUxn7qfBIAn8uoQm13DCsvqmpV/fQNFIY7U28gYKakYDtIABL4yQhUdDInfH89bOe/K1eQPlYGXvyEZ0NY1uFRDY1MHdcnaJrPYXmJZ7b/PaJHU1ObWdeK1bDH8pPOBswd5dDMtOWfF4vUNFZXjWWEj2hkaNp9zTNGNpfeRTWGkBAoV13ywoRp98NWTRnYrn49t6CPeODU2Ka2Wl642sYV00CdT4LUOyHL/Vxt6tXzOJihSa4FRv6h3ZtWSQf+ylVr1m/eGRp9530emRTex4u7tx15oKBBmPH42IbZ44cNHDTU08vTc5TfPxtCzl4/sS7gUlkHb0WgLF9rqSwkGe5UTVXLsYw7Iet3XPxUHu/kVKXDEkgAEoAEfhyBik7m2I17jPQZXOvupsULl0Vl2zj3Jx7Ovbu2rvFfzNZ1kYl4KoQa9PRfvXLF7EFNOBqSQLmmnQZ1r/7f+zxcDlXnoowM/AqKapl0dO9VM/Xdt3JIRFAjhykrV6ycO6QZI5tL4aLEaiqnJOUkBDTRpVaJvDCWXlMn9xbfX3/5LpJoL8WLvEZ54aUQpbaLvC6Kxup8Qmu0cB5kkZuUXqShz2Dkjxg31OTB5sULl4YkGnfs2a193dwLi1yaW3ScdPClwhuPwicB/ivedp7o1clEOh8LE0IndbJy257S2nfTkZORhyMOh237owsv+g+XIQuPv8wmywcpHKyM4sqzlmS4M3cQNek6ZqLNvb/GBzwtYN4LtoQEIAFIoOoTkF48KtJS7UZdOjRmI4iuSat27YmHnX0v9+kBR1f25BYSl0jUtPv42dPdmmtrbIa2Qa16tla4dMquWErYks1xfFAPGptaWTYApoATfCvLk123h+/f0wc212EmRFMXS6xWIx84pUyAsS4mSuSEoXpGphbWLYzLMGiUNMoJV+NmKaqVdJFLUOcTqDdpbmmhXyqfOWb2HczZCMuoVU/Hrt0cPf8+cDZgsNbjXRPcZpyRJmTY52PTfC91XuDbRjaSeC93efcZH2nw99lzm3y6NBCXcwxbuc07fCFwSN3cjPSqlMxVrrUkw508sOSlqEGXv5dYR46eejS1KjEkNxaWQgKQACTAlECprlFMhcvaaWmR3L5i1x8+x8+apELWjeGBFodN3RLLvbL239gcImfEW7HpGuMNqsRT2Wo1RtESoOyroRKJnLIALJ1GiWINXzTRpc4nDqeUw5SlxdWStxutO8THpS7Kfxux53QuXoF9OTZr5o2OU0c0lI1hXvy/E2aeyu00Z9t0K3EehzcUP9mNRq79q833zHK4tSwWWOb9j7BWq0xzmNt6yl92V/6aeTQNpnNlDv9vJwA6DAlUVQKaJXOC9ITYyOC9e4KPXU7IpPtgU627WFExD63Zqo25+CqJ5b67HnnuRaG0Hy8j/tzxm5/ANavg3c3I0ENn47PAsbSWeC1Oe3wuIvhAxKVX32SZGlEht8NyHweMGRv0qqg4LyszMwv/2QMLYUkaYPlvrx89GH7uRZbSoi7MTroWGbL/wNHLiSpaJX3xF6zg/c2oc8/z8WPZk/f5yfkjB0PCT939UKAoVslFHrWHJFbL5MsfUBNQ0oUgWHbSpcMHDoRF33ye+OB+ArCZVIkg4/m5qOsfhbzU+8dDD199W4CrUxGGF4Inlp14KSIkNPruJ8lXuHg45EzwyCkkgiXIzwYnYBOfk2okFU4JkQYaMEhuI9WFIGrHr4pPcjIVDxkOEsVO4IxT16w2GxEVZqbnAki8B1uXR4mcBnXTBVXEhmVErth0r0DfcfyYFuK5QRTLdmzzcQv8LOVqqHwSZIG5evUdruRL/PkjYVG3P0jj9DkuJizk8PW3SiMU0dwnja2l0sEgstTDHcAhN510PCOInuNgJ+Hxldsfwi/PAXRwgwQggV+BAPNkTvjh2GS7Dj7H0nSNuB9Cfds3d1r9QJZ8aYqi+PrqVefE1xbeq3Nbpjo0a95zxIaruRiCZcUdXuHZ1tx2wPSQuAfbh3fsOsTXd7SrXacpMZmy7Cg/bvuwTq6r7hZW46RGTBi44hFpYoll3z0U9jgXxbDcB8FLFi5cHhEvW72/xwd4tOs0eKLvSJd2naeckYnmvTnyl8fUA4l87aJnO0a3s+y14JLCl9LFjvKSz22Z7tS0eXfvdZekH5chWNrFxQMcJoa9Z+mK3oT62jbr8XdMCriWIoiii2o8pLNarB3fUxJQ1IU3RQSJezwHzrmaX0OPHx80olO3v89n8pXRHLp+J2K5h7W5tevUwP1LXbv28Rrj7Tp57w2F2BDSiJ0o9+ayvu27Dxs/fvSgLq07+B5+K0SEmcm3ohY6NzY27bHyMQCNZb+9deyfPg2N6zqtfSFQdevhcxLhVBDVQCOMku1UdYHAqx2/ZD7JRCocMBskCl1kJwXJr1OFCGrcrHkdNlJ0ZV9oIsfWvqO2tB7LPB1x/ivGadW1a23yuYnqN2lqJrmNR+4TlhcftWZsJ3Orvn57HiRGTO3Z2XmEz9ih3Wx6Lr6Tmxzh16WDy3h/X2+Htg5Lb8tmcKl80sxahFQHo8hSDnecG5lYQWYcyXgOTsXbI4hORzsrJCFs/w3xEiQuhHtIABKABH5eAuQXDBJ/im9t+mdPQmvflf7D3ccs2PZH54JbQftuF5O0pCwq+PzswX3wuHPl8PLlR94TeQ6CcJv3m7HGr1s1yQ0z1KiD59yFnpYc7Nud/VHVZl/9mP7l6boeWm9Dtx4Rfy6CpUf9z2N5weRjEUvGe4z6KyhiZnuM9N4catjFf92Koc3YqGG3aVsDAzdN7MAljBPl3d53RPvvmylZaY/W9tRJDtseKf4WUnHcqjFb9ObuXz3Jy9N//bEtQ9i31vouvJBP9JLbcZv2m7F6ai99ic14jTA5aOyoA8ZzQ9dOGj507IKw6FXWCRtHDlv9GCBSdFGNh5RW41rETzoCirrw9kWxG1ckdZu3cMKQYT4Lgo8vd6zBQlSUTOrd2Wve8jFWHFHmzUd1N7/ITHvzPD5iSneF2CDShzDx3J0mm59+yf76KnJ6WzRh3+TJO98gddu6jfNzacqRtEKNrQeM8+vfhE2cq2ic2LmNinBqiGqgESpkO1VdHbhqxy+5TzKZJQdMB0lJD9kRlnF19bqYryKDztOn9dVFeA/OXUlFzJo1qy5rwX8e96xAxOLWbVBfzE1ag2W/eQjmjmx79glBKHxC9a2HzF460hYki8+PHSsaffLV5/TkiNGN8uO2Th27+cOgo6/Sv6Rcm2NT9HD71lN5hAIKn4g6mp1m1pJPrsIyTnhy02O1O5CMZz8zsTOogUUjY+S/y2cfgTcd4iK4hwQgAUjgpyUADGeczHEadXEd4DXQvibeQ4BqaWuJcrPoPoUEwhU3LDf57mXwuHT56s0nKeJfPkhaaBka6sklRmitWgYsln4n/2UTOhpzEG6Tfo4t2bxPb94LQHvewy1LwnJ7jRtpLr7asc36OtlIEwhQz2BjVe80eYVvxzpcRKeFq1MLdtH7ZEJ0wfmAPSn1aqdfOYc/Ltz7rmfMFnw6H3MfJGQqYjmGBnLfii+M3bDuirDbACcDlGjJthg706N+4f0ta44T54iii7QeijtQ79USUNSFZWdnJUXtOPEW94JtPnKap7mOHOwSPayaNfRYrNrOfuNa63IMzVs1McKxKgoTt2a39Jw9sg1wX9diyL/Bszpwc66FHHmNZ+coS+y/uB2CanE4pLok9YrCaSDiH4WXCZra8Uvqk8RM+ReNBom4I/bx9IqpkyeOcbdvP2hndodxm2OOz7blIljms2cfBaw6pnXFIxlvLMzOBrenERRVwIjXaFXj5t1ZM7xLp072znNOZ7N1EITGJ3ZtIzAStVt7zvaxr8NB2GYD3LsZIIVGvefPdjWvjqD67Vx6NkLz3icT946pfML10j01sZZKBz65aCNLP9xpxJKPZ8Ifdr36Jqjg/dOn+LgiSuAOEoAEIIGfmQDK1Hh2I4/NJ4In1U84snKS5+hF58FFQCjEL99MBSCoWfeJc+bOnfvP/KXbju0cZ1FyBUMQNqpgCBtlIywWG2WJhaM1auqzRLyiYnADjhd/IuYl0qBZs2riOgRhaWtrSRoiDB8omy1pierr67FExd+LcNEJd+MyREWZ79+JH+/zbfy3BG5f6N4YT2okHUpe2DIh4B7Jg9Ox/4lqmZpqyep17R3s9EXZd65IStiovItslI2wyD2UtKd8YUCAjcrp0nEa5dHgfbB3W2vXmXtupum7jhxkIlctpwdl4eXKLNkoXirXTPGQY+nqbKklePsyCf/BsGKd+jM2WiK8mAbiQ1w4u/TQEI3Gr8wnVQd4mg0SQgDa0HVBQOD2wP2XErOyk6/und6N+EEwlvb5K4awqlWvXoKcbWBQA0VERRmfMxQnF6pnZuU0yadXLRTh2A6a0LuVMULrEzG2WCwWInmw9PVwdnL61wAAEABJREFUNbJztq5eNRThFRNzisonSV/KFw2spedGE1n64U4rlnw8496wqlfXRRAs4/NnDD+FT6YEYDtIABKoogRKLqVqDSx+dXiGY995CbZz9h/eNrKVttoONA247UaP6lCS+NC0JKqkWR04EbxNLpe/VwtEERshWiQCuRwiysnMFSH1uvv6yz8mj++tkHcSvZR3wtTUL5hIwOPjciSVXDOz2iiW901ySv9CmEHfRFqrKQG0zqCdNy9uHtcm79KmiT1bth+795nsm1JSmWV5RU1MarFEfD6/rNdFOog5iqmN2F4NoIEOmoxfqU+gm9JW6kGCausZ6Ouy5cRhQgz/foBAiN9wlpRrWdlZg6RL+Pz+PZIgsarrVmMhqK6evkSOJj4hlA9Knyh7SCo0sJZSB+nkkoss/XDXTKzEbARh6WhzWYhIUPZBi8AHJAAJQAJVgADjZC734l9uPjHNl4cvcbXQLbPh8t/i1kwYqsXlsASfkl9/16wfg9Ys/Zp6otRbV57Jf5EGy018qT57ZBsbG6FY2nv5HwiyOFpsFru+OQPNGjUpBQG2aY/pe268enJsfi/9pINTRq68J++iRtpVG4sKC4pE7IZNxD9Mlt36UW2orqQEYklaKIVIfnNUnUS5es3Gr9QnOQGSwzIMEokE2Qu7lpEByCiKCgpK3gKgtdxGu5miWPaFiONfSjBI+7BYBF9ihyCa+SSVofpK6ZNqU8USDayl1KFuctEP91KKFRUV80QIy8CwliQrVvQLnkECkAAk8JMRYJrMFd05ejIZM7eyqV7ioIi4n1VyTn2EYfh1iXl7akmIlm27NlwkJ/ZQJPigt6SdCMOEopJTuSP8wifWL1dIeshtY9/eCHuxc35QQpG0QeGj7QFn88klS9uAV+0OfXvUYRXdPX8hB/cUlCAIP+3zV1Yzl4HEiaY7Gqs1JVB0cW9wMrixhepZDlkRHTalGZZ0+04abhCNErya4bMw/lky2sptkBX3/+ydCVwM7R/AZ2e2Q4qUTkLJTTlKURQ5S1JIOZMz5+sILyJH5MzRIUeIUiSUCLkipNzkisKbVLp0qD1m/zOzR7vbzuxuEv6e/czOzHP9ju/z7DO/nWMXgmgqKsrYRefvfH5oNQM7aKIcPhRKjVQQTTHhkHwvEV1yjl++T7U1yjlIOPi5Nwgb+RKGEKLXqb0WjH7NyxM6NQdrOq9bb68DFSX4+9/Eb5+rbQI/R06f+M1qb0l9ql1VLEd2a0l1SPtwUQ/3Ooplf/1azIGbGXdsAYI5sS4FSUAAEPgjCcgazGFH6UY0Znr0gdRiVn562KrglEoOs7QoPzP1US4WKFTlPL7z+BP/EC5OAi0u/oYdzCrKy7C1eCGRZjCZ2EUP/MCPJznfq6o5HDaLxavOYaPY4ZDBqMbSSOsJ88a2gL/GL3XziXtXwS5/fzEk5jmLU1FSjN9WhTcXfsMqqo3paOHr5zlVX26dT/6CYpcDIYjNwmwmqgmLhlTt58/uoVx0eemgQbO2hp+Jjdz1j+Ocl33dhH/Wi2hVe6Xu+K+3TZPihIDAR1wKaPHV+DuNnFfNM+dVFnGRykOsfi2rsTzBIgMBEV1oweWAbYm8H1hRatVSh67XsYs2hF+tE0UDsVE2xPleXi4UW2BaRYRhaXz59rUAf5wC22W9Cgu+oeO1fUkvPNxC9Nu1VUezr8Yk57IZeXf3r9x+rYiDFuUXECIluCUinAIiLlwKNMwYoUVMV56yCun45bWS5BOviBg0TAYxwOQaJPgTAhyIU/atlB/O8iQSG0ULW4smnNysbO6QIfIgCGnreSR6db8mb4ImTdqTJvjlG16p0IamQu4TG7OWA7GZBHeiDRv/QoWy+BnY9xvsQ8VkMHDDyHwiGrLyM+6lviF71klma8l04B8uqp6VMtypxEoez7hTzKys/1BVS5s++LiCIOrpC28A3oAAIFD/BIDEeiQgazCnZOk5Z4BWZYqvtY5Gv03FzivdjRHGtVWOWz6oayOMB372va3Mh/ver3X1jp2dHBmyZt3J9yyImXHYe0Xg8ZtZ/OMJ1w12zp3jWw5cK0RZj6O2hCa++vo6MXRz5EMWWpAU6h92PTP/ybl9/icesdC8K6HbIu/lwtoue6L87FuWp2x2at9MxcApWt2sEx36nnJg5e7ETK5MobVaf3sbje/Xl3TQHni0lJ0WtD78IRMtun5g86Frb748PssTnbR/Z3RaPqrce9XJI17mTQtS9i+f4jLGY+vTflsDxunLAoneeWHEiX8tP293tl8UEHZo5yLPYM7S2P3u+J+Hibn4SIqHWKApbHWVIXG7fI1PlARei+HEmzEzD7pZjfxne+jBXd5zopWW7Ftrp4zlCyup1MpLwNg8YHFKEzbM2HT6MRFEiBn+qhKCFDo6z3Q1+bzLwXbqxtDDwasnzb/V79DFbYObwZhECFIZOn9hH5UXu4cYqGhZ+X8f+89QXZjz9eretaE3sOtpwhqrWjHuiXQ8JpwCYqV0aIQBgpWILsOWfcnHL6VP7C+pJ7aE3SxBmQ+P+4XEPYUgGQcJOzv5ROjaNZFvWRDr7QnfdaEnxEc+BDezdx+uVf3y4TPRzw2sabPuSlr8hkHFu4d1Nh+7yC/w0OH9uzYsGmczI77xoFkbFw1Sw90k/Uy+L31xaP3RVCan/PaBjYeuvC5/fyPMP+RyHpv1+IR/8NnHBZ9SIgJ2ns1kszPPBeyOfVJMNvAxLYxUn4Hd+/Tp1n1yFO9H2rBMkUVGa0m5SetZDuUHniG5O3QrnsfXHs98uxkZj15UaA5zH6kJY1kU0xdWChZAABAABP4AAvhkJpOZiiaLEp4+TIqPS376IGZJf7s1564l3Hp0N9TVEIEUeyyJSoy7dGoF73fcoJoX0qb/eC//K/8x8VNr/yVtnzfRhntvlaAK0qLvxLXxH1kctCQ1eM6wjs07DJuzL+0bymF+iPP1HGCsbeo0Nzi1BEtnnfEZb6kHQbC61bKEl2/uXz575mLaywfhc2auT3j0Ieva3oXDjAVi+TuI0ezYZ+lJCclP7u+fMMBxYWg6LupD/LppA9vrdh/FE/0+duU4c20MhqLR2KB7mW/uJsSeuXDv7dskX1uxSIovl7ulKas0xloRCVhv2IakzNfn19i10TLsv/jYhSNzzZsShWIu9pDiIXblR9jqMQZYBqFBsKIg0EEMJwQpWfulfX4bv8axo5Z2l/H7rl/aOEyXa5YQGtdOpo7zQ1KL2Ry07PmJlaO7E8GZmOEdVTD42jbekekfs27sGNNZS9tkYuDFmLVDW9AFpqmYr7r2Ii3xTNzNJ4/PLDTv7BpwJeO/V3FbZtm2QiARt9q0Eu14TDgmngyiinRoAhuIHRFdBgjV+IUpfEJ0Ldy5w7M4NWjuSBNctkyDBBv57rM2XyZGPvNjot8sd/GRj3mr4eQ92yTv5pUM0S84mBKlNsOXH7mVlfPk+JIR3fWbqjVv23v06pMP3z9P3Ld0UGsubzKf3G0HzdyZXMDmsHKubJo2uIOqka3n2rNZDA676F7QvFHdtQysJiw/kfEdRb9nRHq7mOJ9rUgy8BXNFkXEnb+4f8jr83cws0gWWayFIMk6pPcsxXA3xk6tSRILq3UVGs/88cyznpV5+fqHrrOXOhOxHNX0xWsANoAAIAAI/OYEYDnsU9TpZjfCwbKNKtYIVjXuZ29lhO9iEmD1TgMdB3ZSxwqwVIMsKq3MBjuNtDPRVYSUjK0HmepgszqJYmW9HnbD+hjybCWpJJQNNzW0tHceNbx3a0GgJlQq2MXCU1jfyFjoJkKsSEnPxHaEs+NAs9Yyq8NaSVqUpVktKwGkVadOOrodetuNcBk5WMwuqUokWYblKel07ufg4uJg3VGTG1dgeYJFUb/HUCd7YpzA6l1tbDo0QwRlkCwaleoJorIoQvLxS5hH6RNRQ3gl4yARbiJpX7HHkl2z4VPBl0tQScWQsnYnSzsHlzFjXByHWndr1VScthSfJMokzZToE6JtOmyYYdFnrR7dSBvyC6RZi9WTqAPLl7pQD3d5xFbeCzvN8tqzzJz/QP4vmL6kugsqAAKAACAgD4EGDL/kMev3rVud9z6rEL8qxikrrzZ0HGPBPyJA0O9rNLDs9yWgZr0+Ymn57jUXCySHc7/aclZh+tHlG7Pcds7t8KtNqRf9FakBu/K9jq23Vq0XcUAIIAAIAAK/AwEQzMnVC+xXAaM6tzO29NxxeE88e3bo2v7ExUG5ZIDKgIAIAcUOnodDBjzativpU62rrSIVf0WCnfO62MQ7bM/kTsq/Qn396mTn3QnbcbOT/4EZncB3sPpFC6TVhQBoAwjUHwEQzMnFEum4IPpqdMDc/q1aj9x6xMdWA/CTix+oLJmAkpHz6s0ebRjEYyeSq/yiXKR138E9dMSv7v4iY35QLVpUoT1q1TIXYxDJ/SBJ0BwQAAR+NwIgGJGzR1RaWY32mOYxdmBH4TvB5BQCqgMCtQggGsZtKZ+2qdVC1gxQj0sA1jIy1hC6f5ObC9aAACAACPz5BEAw9+f3IfAAEAAEAAFAABAABP5iAvUYzP3FFIHrgAAgAAgAAoAAIAAI/CICIJj7ReCBWkAAEAAE/moCwHlAABCoNwIgmKs3lEAQIAAIAAKAACAACAACDU8ABHMNzxxobFgCQBsgAAgAAoAAIPB/TUC+YI5dXlb5037aFK0ur/yR39mqLitn1EdfoT/NQ5msqyc30Iqiop/XVzJ58ntVYmFj91dbhP7isfWr/Qf6AQFAABD47Qn8mQbKFsyxv9yP2DRnZM+WLRz3fWTL6Sk7OzkidIffRokvv+Arn3CBaFH0xFYaugO3Zcgbz6Flry4ELhvf31jXdOnNanHbMOWRBwI28XX7bfLftiv0eNzd7DJJIRvj45UDe0+miQhhFzyK2e7tOWak0+hxbuPGTZz57/bwi8lntwZdrRKp94MJajfkFs7ODh474dAXSU7WyGog12oU1mEPLUyPDKgZPH47wpKJAcMVhX5JObqdV7r5wE1upuia9flu+IaZDqYtWrge+8V/soAW3A3fFnLlU7185xD1EqQAAUAAEAAE/mICsgVzNFVjO+cO39/mfefIzwpp03+CxyjNewFrfdbHFpsOHU68hg6y6tLkv/g9W0+/wsM3WN3Ga7PfRm+ntvL+PimsqGvh1K/xf9lluBxx8zDl46eO1knbtdZnXfgrrd421r30Si+vsW9v1HvWsZcisV/l4yCvje/7zHCzEAipzDg+y6KbY2BOl+kBJ8+djo6Kjtj7T19G3D/2Lj5nXtbrL7xSuyGwqN52GtC1H7IZ1jQbN9GWfWXHWh8f34Pvu0326G9Q81NhsK6V29hWT0PW7bpGtxvTT5ImuEmHoU5Gpa/zq+owdiUJlDuvqqCA+9UB1rGaPMM0dbFn0JMKuaWABv93BIBDgAAgAAjUFwHZgjlYVUPXyKRD3X/SVKl1X7M22DFYRadzz9qrKx0AABAASURBVF7Ey9xygPOCoFN+NoqVxEEW1u3n6b3Asb38P86upK7Zons3XDoJFLq+pZkhAtE0OtsMtLIeOG7ZkYtBoxQe7Z/muPACPyBDc2PmTb/aZ/X0roJ/LWK83O8+2PO0+rKLiQEefQ24+fRmnR1XRl8OdtErLcinPu9FYg1ZtlQ3yBrWIb+BXauDhcJNEC0r73WTjBCI853BVBYfsUoajRWRHgt2Le3dTLyIEAKraui072ikJrGQqPFzV2hOhO+udCZPCazed5mvyelJc099rtfRwxMPNoAAIAAIAAJ/IwE5DnEIHfkBQgoKEk65IS3HLp9pIqFAXkUKlLbRFBQVhCXCei4e9now833UwYRSvADNi1m65FbvueNbCVxkPN0xbcn5Uovlexd048ZxeEXuG2k9Ycvirt8L8evD3Jx6WlO7UUcltZr9EtdqWSFXhor1TI9eSmjBhfDTuaJBEFp4PvpOV8+pXShHEZ1OWSyXLXJVRkuvb9mRVEJ8X+E1VOwyZ7H59cVLTkm5CM6rDjaAACAACAACgIAUAnIEcwJJaPGrq1Hhx+Puffqhu8bQqmoG3LRzV0PucRYtzUo+nfiikq+GUfA08cztT1jAVJF1+/TxyItPi7B9fimxrf7yKDHq6JGoq2++CR8tiTLqFV1Pvzl2pqeyML8UE8pI27MhlmPnZK3Cb4UWnN4YkFqhNtBzcgeuefwS7hYxnLp6ZkeREnbx65unww8fOXXtlbChP+qGZLGsgueJsckf2YzP988cj77xvoJrlixruV1j5WcknT566ODRmGsZhUKXsllFWP6NLJxf3tNLJyNi73zgjQdGbnp8RHh08vsK0cALkuAMo6yokOJVXM7VSO88deYQdajk0r7DxGV5vqfsT1FH0vtMHdcCj8LJLOVXFtsych9fOnks/MT5ex9EDZVMl0w6eQ+jpY+CJk/Z96aqGneyqIx/r5zqwFF27DN+gQ/4GWKGgSQgAAgAAr+MAFD8RxKQN5jjlN5eP6RXvzGenpOc+nYxmx79HjuY18nz6uTNmxK5R3/Gm8Tdc23btbcZv/1GKQqhRenRG8f1MOw+YkF4elrg2N5WLtOnT3Iwt5gTXyiIDsrTA8dYOGy6V9mI/jlq2siND7kHfRlNqch8+5kNwVrt2msjUNX1sOOv6N0teyvxW6OFCVGXvqL0zlZWzSUTgtXaGuvjAQTRhPHu5GLXuUdeMZWqnoVM6tlxwOqrBeiPuyFJLKswPWqDq4mhicPc4MPrHKwGu012d5h99DNhhwwr+Vxjf4iZbW7mEfNFRUPxw/HpvdrbbU6rhNCyp7H+UywMuw2ZeTDtVdRcmz5Dx3tMGW1tarP2bmlm1My+ZvaeXtPdbXvYrrtTE5xLYgRVJS6z6tmD9NVr6MYU7o2NsP642WMM4Or0w/tuC2RCrIzwYx+HT3NoBku2lAwI+uXK2hG2MyKyaSqcd8end2/Xf1l8DjaSURK6TMkcKAcqWnwvMuJRKYyipWlHfX18NkQ95Qdvyr3Nu0EZEYdvccc/mZUgHxAABAABQAAQkIWA5FCFtCX7VeLdtrue5BV/fXN6QQ84I2z27NB32EGQtIFYQUXus7T72Ovu9egNG05m81oqth+20H+mdSMatzasYTZuhc+4jnT0293DsY28b3zMz3uytb/C++N7TnIvTaH5sfNdN1TMjony9XSduHhf1JJeqOzn5tCCG5u3xn/lqPdZMG+ICsRIS7z+GdJv164xVz22Zj5Pf1bBoSnqGbQUBGxYNgShxe8eYOYLlmefsHNi1embJu9WXXF48yy3cV7bYna7IClbpvtcrvxBNySLTVIyc1u5YXI3Oqfw9kO9XS8Kv7x7/jRqpj5hngwruVyrTgn492BGl+l+XmOdJ6/e+0+fipR9YXeqYTUTF+91E7ojUNXzmJiqSefe5OZnRk1qXZ6+Z+6UXR+cTr3Jz8u5udy06kHgnvNlhFGSnblcrjwy5OWHj6Sv7Pv+NkqEAAhSHTLHo5si+31U8Dn+U6nV98JOslyn9VeBSCzlNRXbsDP3TZl4RGvF8S2zxo6esjoibpNJxs4JYzY/qoY1JdLVvCuZA2UPw836em3dOLodAjeznrcnODhghpkizxBY3ai1FvTftYsP+eEdr+Cv2gBnAQFAABAABOqJgJzBHNJpnPeErmowpGLksuPoUjPFkpvhJ9/yYjLpJqGlmfeuYa+r127cfpzDffKB10qhWTNVXjCH58Camuo0mpqF1/ppvbXokGLbYQM7IYxP77JZWCnjwW7fiNIBUycYckMtRH+InSkdK6Bc0I8JG+fOnjHZ2bKXU2ix2dRd8We8uytCaOGzZx9ZNG1dPa4wXAa7uBg7QwjBcC08Co0Uy+76j+1rYWE5dHlCMaKMQBWXgg7mtGiefz0Rf11O/a6qhbA+XYq/j51S+gE3KMTSmjZRpdGaD505tYsKvZlh57YaUp3HvSLecrlGb93XYYTbSMumOAcWrKCkwCkt4l5ERpprqMOQUpdx3h6W2nQI0R/hbK0OVWoMWuXtYNgYgtV62tu0hsuyM/ETXuSMCJtkXNFNPGfYqHG+Xth3jHs+uDTx0AWdSR4mmPcUltaSXpm0fet1tvUIO8wBvBAxmrLEtWXl/d3+Z4qwtAS6FNIpexiTJnlBWrTUgVnZT54UCU41S64IcgEBQAAQAAQAAakE8KO01EqSK9A7OgztqMB6//I1/1E9yfWEcmH9fjOWr1ix4t9V6/bGhE41qgmfIAiBRWxBYASi0RCYxm0ON2mqRuMwqqqxE3CMp2fjX0IG7do14pZBEE1JSYFXERJ/CdJwK4fVQcGBwYevvioqzrxxaIE18XQu+iX3KwrRGjVuXCMBUVdvAkOcqoLcAtFAFVbV72Y3y2OAJgzRuztNG9RZS5mRcS+9gFNVmJ3FfWWXm3rtDg70cW6DxRiYV3V0g1IsTMNZ1dgLyf6SxzUIae266+zRWS0zTvrNGjdpzSUsMGOzeUSIvqHRBEbQ1FRxgoI0oqLaCIYY1USPkTJi3N3tOd6d9DVh7sGnePjO9Q8xGO/lrEuruHtwPxYpo19ij9zqNmV8awQrpbIUKxZeqtMSkv7jaOrqKghyVSxtzdU4xXevP8CzatOlkk4xUHFhkt+0xo1VIAgtyBV7nENybZALCAACgAAgAAhQEcCDAqpyqjJYR0eTxmEymShVLbIyxZ6TJprVHE/JqvHz+VEdlma9z5T7l4uxZsQCK6mqq6ngh38iia1QNopfomWxa4IGSKGbuQkWmbCf30+tuT8Lq8tdaI1VsCvCsIqqGi6HU1JYyoFa9JvuJfya7TlIJFTltoQgmd2QTyxfvPStPK5h0qrfRC8cOGRlRvflh6P3TuishGXVYaFwpoW5/Ugn0pfjEFNtWo1CWN1+9sQOCszXx4MTCjOPh2cM8HQmInKsisyWsj9/zkM5LAYT+16AtSMWRX395jBa9q2ESElYySxduIclyOFl0ZSVFGkQh1XHzw5PCtgAAoBA/RMAEgGBP5HAjwRznMqKKg7Sqi3vcVQ53Rd9hECexrCCIp3G+pT59rs8rcjqIpoa6thxtaqioubgDms6TnLUhdHiy1Fn8mqHqjQaEWAQK4im1lSV8znl+jPh25/Q0lcvpQWc1G7UWSyZn7x8eVyDSq8sdvSIb7/hhK+DkQpPQF025M4grfqOcaN4OZnr4hGzQKlS71kzrBpzvpwL9NkaUew8fZAqt0gOSxEtLQ0Y/ZIt/Kwtja6A0JCWhm240sTXckgXbyo5zamqZnAgmnozTRHvJFcGuYAAIAAIAAKAACWBHwnmKp8+y4Q7Ozp149/XTaUJJf6WksPhUFWSrUyhe8+uilBJUuRp7LJfTRMOirJJpHPwc28QplxCOaLXqb0WjH7NyxM6NQdrOq9bb68DFSX4+9/Eb5+rUSO+p9jVspcG+iJ01b4MwbOJlQ8Dgy6WS1Am3JjajTqLFVYhaV8O16runjqXiRp2M21cIwiDWJOQdY/cGVklCOohhpNnOTSnlV3fF6kyfqoZb+jJY6mS2ZD+2rSqe5culwjidOaX3K+0dvYjTQV6hHfkkS7cDt/HI37u2MdT/Df769diDtzMuGMLEMzxmYAtIAAIAAKAQF0JyBvMfftaUM3VxXoVFnxDx2v7kl7cA2pVzuM7jz8J4hluJcEaLS7+hgU3FeVl2FqQK7zDYDKx604M7IQFnsv5XlXN4bBZLF51DhvFwggGoxpLI60nzBvbAv4av9TNJ+5dBbv8/cWQmOcsTkVJseS79/Cb/jkQp+ybxLBM0cLWogknNytbxHakreeR6NX9mrwJmjRpTxr/jyJw08TfqvbzZ/dQLrq8dNCgWVvDz8RG7vrHcc7Lvm74z9D9gBtUYtkoG+J8L+f9Bpu4QdLSMrtGU1FpRGOmRx9ILWblp4etCk6p5DBLi/IzUx/lspn4dUo2syYCZuPhOsriZ2ARDNZlTAYDj5hInZFma+1yWHPkHPe2CK3pQM+J7fihEJWluAgmNrggJoM7PNQd//W2aVKcEBD4iNvlaPHV+DuNnFfNMyeGci26VNJZFAMVgmAV1cZ0tPD185yqL7fOJ3OfxcYMYmZl/YeqWtr0IRRC1J8drD5YAAFAABAABP5qAlKclz2YU+joPNPV5PMuB9upG0MPB6+eNP9Wv0MXtw3m/okS44GffW8r8+G+94WvNhLK2dnJkSFr1p18z4KYGYe9VwQev5nFP+ITFSB2zp3jWw5cK0RZj6O2hCa++vo6MXRz5EMWWpAU6h92PTP/ybl9/icesdC8K6HbIu/lwtoue6L87FuWp2x2at9MxcApWt2sEx36nnJg5e7ETK5M3hpTfiJ07ZrItyyI9faE77rQE+LKIbiZvftwreqXD5+Jmg5r2qy7kha/YVDx7mGdzccu8gs8dHj/rg2LxtnMiG88aNbGRYPUuEqUe686ecTLvGlByv7lU1zGeGx92m9rwDh9uFKKGxxKNxiSxepWPI8PWh/+gMUpTdgwY9Ppx1RxJte+2msZXVOy9JwzQKsyxddaR6PfpmLnle7GCOPaKsct70tfHFp/NJXJKb99YOOhK6/L398I8w+5nMdmPT7hH3z2ccGnlIiAnWcz2ezMcwG7Y58Uo5Kd0Zd9+Ak5oWI129PCcOS00TXNSS39oK75JfXElrCbJSjz4XG/kLinmCB654URJ/61/Lzd2X5RQNihnYs8gzlLY/e7GyBomSS6pNLfFD08SDVQIUitv72NxvfrSzpoDzxaZci/v4+R8ehFheYw95GaOACKzw5mLFgAAUAAEAAEAAEpBPCDiZQqvGJY28Y7Mv1j1o0dYzpraZtMDLwYs3ZoC/yJTbyCYo8lUYlxl06t4F/4wjO5b6RN//Fe/lf+Y+Kn1v5L2j5voo3YXXZIi74T18Z/ZHHQktTgOcM6Nu8wbM6+tG8oh/khztdzgLG2qdPc4NQSLJ11xme8pR41RyF7AAAQAElEQVR2xkPdalnCyzf3L589czHt5YPwOTPXJzz6kHVt78JhxlytvDWm3H3W5suEcubHRL9Z7uLKMWEaTt6zTfJuXskQjTExEUpthi8/cisr58nxJSO66zdVa9629+jVJx++f564b+mg1nznIUWjsUH3Mt/cTYg9c+He27dJvrb4YVtFihsIBFO4oQhJFAurdXWcH5JazOZggceJlaO7c4NpzFY5F1lcUzRZlPD0YVJ8XPLTBzFL+tutOXct4daju6HutoNm7kwuYHNYOVc2TRvcQdXI1nPt2SwGh110L2jeqO5aBlYTlp/I+I6i3zMivV1McRsVJTKS02hudXqHWQfOrXdU56aINZmlroaKuhbu3MFVnBo0d6QJUR3WG7YhKfP1+TV2bbQM+y8+duHIXHP891dI6JJJn2TnIGWgIkazY5+lJyUkP7m/f4wBQiiHWJmXr3/oOnupMxHLQRSfHW59sAYEGpAAUAUIAAJ/IAFYTpuVdDr3c3BxcbDuqCkIZQgRsHqngY4DO/F+uovI+tkrlVZmg51G2pnoKkJKxtaDTHWw+KduOrHD6a7Z8KngyzV3UYkIUtbuZGnn4DJmjIvjUOturZqKus6tCjc1tLR3HjW8d+vG8kGldqPOYrlWSV1Lc01Rp5vdCAfLNqqYU7CqcT97KyN8V6pciRXqyxm4WeeuNaE0T5XclirpmdiOcHYcaNZaBo/kls6zCoKU9XrYDetjWKOj8l7YaZbXnmXm/GeDf8FnR2Ad2AEEAAFAABD48wlgh+g/34l68EDNen3E0vLday4WoPUgDYiQTuBvrVGRGrAr3+vYemvec7h/KwfgNyAACAACgEC9EQDBHB+lYgfPwyEDHm3blfSJnwW2gEC9EmDn3QnbcbOT/4EZnfhn5epVPhAGCAACgMD/KQHgFjUBEMwJ8VEycl692aMNQyjrT91F2syPPTmj5gmBP9WP/yu70aIK7VGrlrkYg0ju/6pfgTOAACAACPxqAiCYE+sBRMO4rVjWH5mElZuqKf+Rlv//Gg1rGRlr8B6C+P/18k/3DNgPCAACgMCfRwAEc39enwGLAQFAABAABAABQAAQEBAAwZwARcPuAG2AACAACAACgAAgAAjUBwEQzNUHRSADEAAEAAFAABD4eQSAZECAkgAI5ijxgEJAABAABAABQAAQAAR+bwIgmPu9+wdYBwg0LAGgDRAABAABQOCPI/BbBHNodUUl+zdGh1aXV9b6py8Se6vLyqpJin7X7Oqy8j/v11hY5WWVDQy0urzsz+Mkwujne/DzNYg49DMSP82FnyZYhMIv+GCI6P+tEvUDQ575X4r79WOQFCWg+O8k8LODObToSfzhPf4buS+/bUFHzz8pQiGISxstvLfPx9t7jlvfNuqt+s05+ryCm/87rdGi6ImtNHQHbsugjOcq31/dv3rywPa6xnMSGjrKqBsutOzVhcBl4/sb65ouvfnHBKCsz3fDN8x0MG3RwvVYw/xbB1r++mLQiom27XQ7LbpSVTfWv7bVz/fg52v46QR/mgs/TbAokgb+YLCzbhzZy53X/YKvfCL7Lo7m3TywCZ/8/XaERlx/11DTjBQY7A+3ThwIIOwibNu0ecv2XSFHTl19ll/r65qM879oZ9RKSTFIpD5a/OjE+gXTp4wePtjBbcH285m/4VFRxGCQ+D0I/OxgDtYwdZwyqW9R9Dofn3WRBb0nThphqsFTynoZOG7S1Y4rtuw7fSNyauO00IXr4st/DyxCVsDqNl6b/TZ6O7WlC+XW2lXU7DFiqE5BVimLU6vs98yAFXUtnPo1/i+7jDJK/c2Mh5t0GOpkVPo6v6qhOMMKOr2dBzT9nPWN7IglDVFVQUEZKq3STyjn6/1xD6QZ9/M1SLOg7uU8Sj/uAk+QuCU/LlhcosR0A38wEEPbyR6D2Qmb1/isXjhv5x3J33JYT4MXz1vls2bzZfpwjwkD2v7Ir2VL9JokUwoMpHU/96lj9B7sXuvje/ABvYOFTb+eLSpubRnby7DTSP9bNWcbMPEyzv9YTapFikFCTcuSfZyXZQxYG3r09NnQaZq31jlbuYa8/JOmaCFnwG5DEuDFVT9VJdzMrE8XVRpN1cTKvGmNwurkwIBbSsbt1GAIbjZoW0JC5In1I1R+qiV1Eg7r9vP0XuDYnnoiojfV0O/S3gCpk4pf00hJXbNF925t/iSTIQhW1dBp39EIGzQNBg3jpNuto0FdOaE5Eb670pkNZi5fkZDeH/SAL5Fi+/M1UCj/kaIaSj/oQo0gcXN+ULC4OJJ0w38wYLVuw22NlBQU2JkRu2PzJXxdKUsMjHjBoUFIi159G/RvT2SAQdfv29sYgWBd81HOdn37Dhy79MCFQ+7NP8Svcp0d9UXIGVi3nwzzP0T9ksEgQgBadCYg+G0Lsx6a2HSjZOSybfN4/cJEvx2X/4yrPYQPYPWLCMANohemKyA0mqKykpA69qf0xzkcZaVG3DwlI7txwzupchMNYlT9K0Ho2Cew/sX+TIkKf57JGA46nfIsKVajzgtJwzp3LVp6fcuOpJKGOo0oML+W3jp7IBApbefna5Bmgdzl4pTq7IK4IHFL6ixYXBB1uoE/GHAjZdXeTiMMaF8T9h56JX72iP0xYt9dk5EWChCkqET9VZjaqzqWSoOhqIhZJiQb1h4+brAOjOZdOnPju1B+ve1KMwhXxGYwGF/ijscXc8NJpc6djGC0IDurlJvGq4A3ICCRgLzBE1rx4V5cxJEjURef5NW6vUCiBkmZrPLiwoKcgm8cCGWWFWKv0krRscqqKMZyuUsR/7bzaqJqYWFxhWDaYOQ+vnTyWPiJ8/c+VPAlMMqKuA1LuE9V4MqIDF66tkFVuWnnLz4pQdGKrNsxx8JP3cgU+eigpVnJpxNfCH83kowBhmg1woVdIHkmgpWfkXT66KGDR2OuZRQKfKoRwd9jFTxPjE3+yGZ8vn/mePSN9xVEAVlrRsHTxDO38btYMHdOH4+8+LRI/Ppg9ZdHiVFHj0RdfYN1ASFMeCUJKlHOKsLsvZGFSWPkPb10MiL2zgfe1RVGbnp8RHh08ntBLxANRFZytyZzUEQqP8Eufn3zdPjhI6euvarlLr+O8Faoe4qx8SSULCwsI7ziZxWXY+1ogq5Fy98nnzp2IvGFyMUYSKKxaOmjoMlT9r2pqsbHpGAgY/KEF4lNsQqSux2CpLsqSa9UD2QRjFmFL5KHv1QNZI5CDKlDVrJG3BYyGmjx66vRR45ExN1+/irtfgbeiXh1obcESnVzQYIgITXErlTBMtKXMlURukRWkpjzRzY+KwoGpdjsKh0fVw1Nue/c6T0Vq9MOBt6o4Gbx1oxHBw4VjJ7bv/bFFkk2EY3ERvzbghLcRO6b+6GE0KpSbrpmNicbAYRIuVY0BTpCgyC6kiK2FrSsmf/ZlTIYROqdQKBgpzZkWHPsmh3/zHQyaQwTtdhf8go4iG67Dvx7k4hcsPqdCPw2tnCHjGzmsHMurBzpvPZGqUrj8svLrTtYeMV+xA7ssjUWrsV6G7d9jW/IzTyU/fla4FofH9/9t77yYzG8Ilr8LPqf/q20mmsZOmy49LqI0MLKfxI2rbtBn3lRxHEU/XJl7QjbGRHZNBXOu+PTu7frvyw+B6vILsxMifUZ2kZLt7/fIyzeRIvfp8T8O7iVlp7dlhfiERM761qw9+B2bSxc1p1NOTy+p9kIj2kergO79XALe421hRhvEnfPtW3X3mb89hv8AE82DJgLQWON9ToOXxQYc/V5PmYY7ljNm/0hZra5mUfMFxUNxQ/Hp/dqb7c5TThc5NZEC9OjNriaGJo4zA0+vM7BarDbZHeH2Uc/S26NFqVHbxzXw7D7iAXh6WmBY3tbuUyfPsnB3GJOfKEAb3l64BgLh033KhvRP0dNG7nxoTATMqho2dNY/ykWht2GzDyY9ipqrk2foeM9poy2NrVZe7c0M2pmXzN7T6/p7rY9bNfdkeCF/K0lO8iFUmvNeHdysevcI6+YSlXPQib17Dhg9VVpz0agxc9jltkZajXXtVwQ+/Yb+9u7myEe3XWba7WyW37qwedqCEK/vUtaO9Swp8e+9BqF358Gufa0GDVj+gT7nn3mXOBRJTEWLb4XGfGoFEbR0rSjvj4+G6Ke4mOqRhq2J7kpWbejkCyuUuqV7AEkk2DMXgiSOvwla5DsKCTLkCXXSEqD9erguJHLb5Q3UWU+3TfewnrZpULxTyAVJflckKGbCXLYSrJgmehLm6ow6eILGXOps6sM+Gp0Ie1nzLPX4GRF7Y7KEcwyEFRyMeis3owZXZGamvgemU0SJjr7mbuid7qZ6DZvrmu99Mxz7rMJVblPIr3MjYetTcwsx7SRjgBcl7zvsttnr+ey6a2d3QYoc9uKzv9o2bsrlAZBJN5xhYmtJUOGm1rM3uE/sYsiUZv1LP7CW7qJx7R+SkQarAABcgKyB3PVDzaPnZ5iu+fgiknOY+dsnmNV/fjA0q3J2GGPXDpJCb3TeL+gQO8hegjScvjKwODgvd5DtYUtgbUsZ4cemNdVAUJamA3tqUtMCHSDnl20NBzW7JnVWxtmZ+6bMvGI1orjW2aNHT1ldUTcJpOMnRPGbH5Ujej1cJw6096YzlMOa5mMmDpzeFtCBi9PsEEMB87ZuHyELox+jI8qmHH9c0nRu/iFPejZMYvnhb5jQ4rthy30n2ndqOaLGgkGgUTeDnYm4e4DjsvhlFvha2e59ql1w1V1SsC/BzO6TPfzGus8efXef/pUpOwLu1MLJqxp5rZyw+RudE7h7Yd6u14Ufnn3/GnUTE3JrWENs3ErfMZ1pKPf7h6ObeR942N+3pOt/RXeH99zknsXCJofO991Q8XsmChfT9eJi/dFLemF1lwBJIcKq5m4eK+b0B2Bqp7HxFRNOvcmNz8zalLr8vQ9c6fs+uB06k1+Xs7N5aZVDwL3nC/jMRBs5G8tIx5CQ3X6psm7VVcc3jzLbZzXtpjdLkjKluk+l4ky0hWsZTEjeO/0dnRIqVW3zhqIhsmofwNX2KrCKh2HuNkaKUEQrNHFxEBn6Lr9y215Ujhld8JOKi27nVP05eEWG+XMiMDTxI1CZMbCzfp6bd04uh0CN7Oetyc4OGCGGXeK5snDNiRNSbpdnynZ1XJMktBCrpfMA0hmhiTDXzBwyTSQOIpRljZkyTWSGI3RqEraufG19UqfaS5jPFYfPbNhYBOaEB/uLikluV2Q3s1cjWSCyehjjnAbEmvqqYqoIrYiZS5tdmXIgE9IF6w9er67EVx8OXj/U/43Q3b28ZAHVnPcWoiBJ7VJwkT37PS6WRvC1g5Wp9Eat7E0b0V8eFQMTfSUW3hs3+pm0hQmHwFC5sm0W533IHql8+TDxaZTg2ID7Jvxjkai8z+s3m0spUFk3kkyQZYxWnYp5Fh2t6VB3mbYhCRJCMgDBGoI8AZtTQbJHlpybvvuJ51dx7en4zXgLNbbYwAAEABJREFU5g5eC52HDbdsRSTxrPp+q1guWDC06bekiJP/8b5Ul105/ajXREctzObKpO1br7OtR9ipYwlMM2I0ZYlry8r7u/3PFGFJCKZx8/F97A0r0OliswqWy1toKo0b0WB9x2VL7fSVIEUDB/9d09shpckRJ98SNRSaNVPlNybFQNTkrzhFt/zGr8iccnT/hPYkn0J6674OI9xGWhIPhLBgBSUFTmkR9wwkXwp/S2vaRJVGaz505tQuKvRmhp3batApWsOamtjkp2bhtX5aby06pNh22MBOCOPTu2x8mmU82O0bUTpg6gRDbmiL6A+xM6XzFVFBRSEIaa6B0VbqMs7bw1KbDiH6I5yt1aFKjUGrvB0MG0OwWk97m9ZwWXZmDq+/+HKJrXytKRwkpAmtKi4FHcxp0Tz/eiL+upz6XVULYX26FC9UhWRXqc8Ut2601+diHhInzBCDkU7mCoWXTpzNw7yFINaLk7d03EbpCUYSrbHF7I3Te2srQsodHOw6IFXZmQRVOYwVt4SiqYRuJ3P1viCWEpcvlibzgEywWHOIdPgLxhCZBgpHIaohS6GRzGiMBlpcXPQ6NuTsexwMYjhh3jhDZZq4M2TpurhAJkskn0wwhSMi7SGIfKqCJLyomFPOrnLja9x/3sw+KswnYXsulBKGMNJDj5S5zh2kSqSEVlQ2SRjxEGzgOnOkPvvJicOpeF9CEPr5dGTuUE8rFUwoKTisTNaF/e7U4rH2PVu3NHMPgZfcz0oPm9lD9Okq4fkfojaIyjtxg6RDZn+KDL7abt3R1X1qYRQXBtKAADY2ZYTAfHDjbomyrh52OCdaIAZO/rHngya25UYFRF49r+AWbgvGta64GnKAONiihXGRz6wmDW2KqalOS0j6j6Opq6uAJbiLiqWtuRqn+O71B9y0vGu6ggKN10a5t/0APYT59kUGNwOBYe4OBJFi4FeAIE5R8r/DXS9Z7d09qhU5HKS1666zR2e1zDjpN2vcpDWXsACIzZYUBGGCuZEp3zosA6JqjcAIRKMhMK8+3KSpGo3DqKrGTsAxnp6NfwkZtGvXCBeCv2lKSgK3CahkUPGHMQmhNBpPMATR1FQbYwlsgYgXoqLaCIYY1bgqIkNkJVdrKgdFpEKMjHvpBZyqwuws7iu73NRrd3Cgj7NoNYkpetfxbub0N6ePp1Rh5Wju5Zs5TZuWXTl+Er/hkJEedaeV6zB1rIS/wAjC24XV1FRpnOrvVRhVyt7g1SfbUPlZq9tJXW0jiKXI9PDzYUSSB6SC+c34W9Lhz5cKQTDC35edEcWQJddIajRGQ9luoqtB9lH3HiYOSw7e/qLmMMFJR/AZ5jtDuoUR+V0gFSZcACOSBFM5ItxasC9pqhIUCu1QDS6IYnaF5MeHtPOYO0KLk3M6MCKbjV07jw+KbzVzepfa45LaJhreSTQhF7Bd9eEzx7WD3kbvv1iCpdiZkadQl8mdccnk4LCKsi5I27E7T8Wf3+3aEim5EbTrKnGuXbQxAuNmCfLIDZJrJpAKmZ0Znaiycv/8LkoC1WAHEKAgIDJMKeqxi4pK2VWlJfhRj6Ja/RapDlgw3Rx5EbY3oRhFc2Oic4ZOsiJuZmB//pyHclgMJn4s5elU1NdvDqNl3/CPPC+rrhukpQF2PobNxE9micqQAQOnMjfzU8G9vauOvSMJzrgiq99ELxw4ZGVG9+WHo/dO6CznJ1b21vyoDtPKep9JcZMjJVRKVzDR9b7I6iCnpLCUA7XoN91L+DXbc5AsFiHG49ytlD+cjUgqh1hPDsQ29Q10bVl16/jxV6yq21GPu40f2JhEDEGVw+GNP1mNlSBMjqakrhrxYwQJ8kmzhDwgFSzeWIbhL9RESAOWK4ejREOsCbaQayQ1GqMBazuF3r6ya2rXsqsBM2w69Zpy6FntOzkx6VIXwpL66GZxTUKCqRwRb1YrzZ+qahUQGZTMSWdXqA74YC3nBZPb07/dCApJq8w+tu/ZgPljdCUeXChtIqwWWylZzJhqrpgbd+BUDsp4EH5By31cS2LAk4MTkyA1ieiPDQj2MIbeH53vfYZ7Xp6iDalBWBvZvZMGGc2/VWC2cirvGgom+nddgF2/CwGJnzcJxiHNmjWBqx6lpAjfyMHOe/ky72ce5ukdp891aJZ3Zm/4+7eRMeUjJ/Qg7puAEC0tDRj9ki388CSNroDQkJaGbQjrxb7eEXmyr1AUhRBdg5a1WpBiqKkJt3Tdd2CG8ddziyb53Rd9vqumElR6ZbGjR3z7DSd8HYzwKwZCRTLs1rE1rKBIp7E+Zb6V+OA9JVT8m7AMhtVXFdkdpKk1VeV8Trn+jLhUytOPlr56ydul3iAGYyYMVPsSH3nx04WQ+z1njB7pMbYd+jAy/NbFqLfm7pbc4UYt40f6UnY/MRtIXaWI0LFm0hdSweJNSYd/nnhN8bRcjgo1JtdIajSXBqLbf8HBW28ex6waoPb62JwJfqnCA0RIg8y7dXVBmgIpjkhpzpuqJNWSZjDZ7IrLkh+fkqXXbGtV1qvwHRu3HGW6z+0n8XuQNJtw3eJvevvJ0wc3Kb166OjDy4dTukxx5D3ZSQ5OXIL0NKztsG3/vC70T5H/LD6VS9xmQd6IzCB5ZwJKyMzMcl1r4gwkuSGgBBAQIiBrMKdg2qeXGudzzI7QF/xJEc1L2Hb4MSxL2IRyUOwkhuAbLqEfm4VQDsTBwiYiKXkFa49ZOKFt1e3gxStOK41xa0d8I4MgJbMh/bVpVfcuXS4RfO6YX3K/0trZjzTFJNFUVLAzeNhVMGwfX9BqBoMDoRxBZTxT9M3Ea/CyqjMzP0EtBwzrzkvXbEgx1FSBIFpzhx3hqy2g1I2T/onnPngAib2q7p46l4kadjMVmvFE8Yg1EEnWtbVC955dFaGSpMjTOcIhONYHbI4UqDJFNSJG/khCDgcVu1r20kBfhK7alyE4a1z5MDDoomz6Ye1RE4Y2K7wQ4Lnnq+M0M0VF88nupvDr416+ObbuJnRZhEgxFv98YGNdoiQpTcXakLpajvWeWF0IotILib5IBYtWgyDS4Q+L1xRLy+eoUGOBxlrzDqnRGI2qK4eOZmJDHFbt6LIxLmJOO/T1nbsSP4myU5LiguyChLwjdqkcISqIryRNVeJ1sLQUg7EaJLMrJBkf1qDWwkGxWYs3qyJtJs931oO+nN5y1njmVO691RBv0sVqEW2l20RUE1vBeqNnOOsz00On+rzs72HL//JLDk6sPUmS+6nETCM+PrD6gA0Hl/VSyolaPPcY/vNLJK3wbBKD5PJOGmREy9yyY81tRLha8AYEqAhIm4X5bWEtlwUeHRXKklc7OC0PiY6N2rfazX4LbcRI/HEECKrKeXzn8SfB0ZTfir+tKi79zuF8L/uG33rFy0QLv2IXT4sKvmKTLi9L0ka577xZVopvE5JbuvHOruO11B3/9bZpUpwQEPiIqxQtvhp/p5HzqnnmeNiB6Ldrq45mX41JzmUz8u7uX7n9WhEHLcovqH3hFJeGvdnZTx7xfh0FzT1z7Ao6YOmiAbxZg8FkQtg1XSwchEgxYCIg9Dt+uxhxdVal98rw7Q4amWHTp4ZkcO/cxWsI3li02YjGTI8+kFrMyk8PWxWcUslhlhblZ6Y+yhVU4u+wUTbE+V5eLjCeqjXre1U1h8Nm8f9VjMNGORwOg4HfyIa0njBvbAv4a/xSN5+4dxXs8vcXQ2KeszgVJcV4x0iBCjEZ2GVtwj2eZWw8EkdZfLuwyRHTxWQweLM7rxZvw5SjNZWD+HBhYj2Cm4OLVrWfP7uHctHlpYMGzdoafiY2ctc/jnNe9nXDyyBWfsa91DeSHywhKkBwM/sJjrpl918ZeIxvg0AQvfPEiX2UvvynNdyV/9UBr0hoZLNw5XhSmCqlsbCKamM6Wvj6eU7Vl1vnk8UCCpqKCvkwqNXtEJmrHWsHnXAtvRQekArGXRV+kw5/LbwWhQYahaNsDsWQpdBIQQMtuBywLZH38zRKrVrq0PU6dhF5Xh63F4JgcUp1daGWIK78mjWFYFL6EroVFyhxqsILsDehBvukYbsQjYo5XgF7S55dJePDqosv7JKSktLSUt7nHW7mMM+jiwJiPH6+C/ewgMVyhYUlHIjzrQRbY62pbIKg2iMea0IsTYfOmNgB/vRe3WlK95rBTjoCiDaQMAxujsiaXVRciplWJrAfamy58tCafk1yz/0zaf1t3q/2Yk0Y2GzDm/+xFHeRaBC1d5CoQVIgs4shGC7jo+UqBWtAgIoATFUoUqZq63cyeGInxU+JW+e4jZ685orm4kMb+hNnlhgP/Ox7W5kP973PP2snaIkWPT1/ZOuiPclVEKciadssv0Pxj4tYRY9PByzwPZ2Lsj+e8l0RdDzhSRFvQhA0FOwgRh7zRunpj5zspClkLL3zwogT/1p+3u5svygg7NDORZ7BnKWx+915vwGiMnT+wj4qL3YPMVDRsvL/Pvafobow5+vVvWtDb3CvwgjE83ZoChkhEz19gw/v3zzdxb/I4+gRr/bYoZ2dc+f4lgPXClHW46gtoYmvKiESDGjR4zOBvkfuszjlKYc3h119U63avlNrJU7+pSX2o1aEnH/O08PbKFl6zhmgVZnia62j0W9TsfNKd2OEcW2V45YP6tq8KsQGLXseH7Q+/AGLU5qwYcam04+JKYa09Zuihwc3Rz5koQVJof5h1zPzn5zb53/iEQvNuxK6LfJeLkfbZU+Un33L8pTNTu2bqRg4RaubdaJD31MOrNydmMmggMp6d33/+qOpTE757QMbD115Xf7+Rph/yOU8NuvxCf/gs48LPqVEBOw8m8lmZ54L2B37hLCTcAFfydu6sjcpHs2C1BNbwm6WoMyHx/1C4p4WQ8q9V5084mXetCBl//IpLmM8tj7ttzVgnD6ml5HqM7B7nz7duk+O+owlSRa1wRNHtTedOs8ef7QGgpA2rhMHtBw8YSxvKEFQ5asLe9eHP2SiRdcPbD507c2Xx2d5VJP274xOKyU3VhuB1Prb22h8v76kg/bAo1WG/GMczxSyjvR/lZdau9shMldhnjjhjYhe3cJEKg/yyQQLC+Tukwz/ujNSKr4SSjVk2WQaqWkwMw+6WY38Z3vowV3ec6KVluxba6fM9UBkLUyplJ2GMf8J3Sxl/OSjJCNYUrdi1pNNVV9EPxgQ2eDC5xhsasMkYYvk2RWSjo+dnRwR4rP+1LtH4av9Dpy6Q5zrV+w1c86I4V5z++Ks2bmppw9sXHnkCQtifz7rtyIw4vo7iGzey6LnS5joMAN5i2Jvz6mW+kM9iS9cvDyKEcAWg1EsaELssD/cigr19Tn2mgWx3kau9Q09cTOL+EqqZLJkv98QjW8pG+wtHeduPnbn8W2x+Z9oj60kGURBXFPMIEwCFWQ077CHuVUfC6/TtX7nCW8J3oCABAIkE4aEmhCk0nVa+JPMZzfi4i6nvn5zJ2RCR/wzi78i1HQAAAbrSURBVFVV7LEkKjHu0qkVtX5HC4I1TEZ4LDv65BvK4aDfnkaumubYXYOu0X30ov33CtkcDjs/OWDuRAdT3m0QmLBaC4zAdKPRHkPUREtgvWEbkjJfn19j10bLsP/iYxeOzBX651cV81XXXqQlnom7+eTxmYXmnV0DrmT89ypuyyxbyY+Ywm2mHIpcNtCgqY753JP3r20arkeQQVr0nbg2/iOLg5akBs8Z1hE/VycRA6zR3XlB8L1iNof138UNnnbtVXT7b0mtRDloVfZFf68RXUWNhxRNFiU8fZgUH5f89EHMkv52a85dS7j16G6oq+gNr7BaV8f5IamYWCysO7FydHfuDyCRtZ5k5zBnXxrGmvkhztdzgLG2qdPc4NQSlMPMOuMz3lIPgWB1q2UJL9/cv3z2zMW0lw/C58xcn/DoQ9a1vQuHGWPnNEmh0tsOmLkzuYDNYeVc2TRtcAdVI1vPtWezGBx20b2geaO6axlYTVh+IuM7in7PiPR2MeXayXda7tbKpHgUdS3cuT1SnBo0d6RJM0yHotHYoHuZb+4mxJ65cO/t2yRfWy0Yy4YUzRZFxJ2/uH/I6/N38DTJW9nm31PhC3vQecWwrtuOOH/XmscfVTraLwxNxyl+iF83bWB73e6jeFTfx64cZ65Nbix2zESMZsc+S09KSH5yf/8YQXzIU0U2DPZPGTZKQrdjrchcxYpEFxG97btQe4A1lVmwxOEP1ZlR587DpAxZ8nkHIjNaydov7fPb+DWOHbW0u4zfd/3SxmGS78YXpjRhgOPP6WZpbLCxSuYI1jG1FrKpSuyDAZENLtE5RtLsKgs+pE3/CV5bkz4zGJln184Y27cFghuKtJ4dG/ePMXdfz2L0DN9z7xgoh8POSw6YN2FAWyWymcutm6mkiQ6XyX0jxjP2JWwdW/Op5GaTgEPEYOCzBLcBsUZa93ObtSnxE4PD4TD/u7RplruNIe/jj3SYk4hNc+i31wlB/07q29261vxPSMC+9PEMwnqPlwNREBeftiCIEjKsMz7kyvkLlwOcxY56AlVgBxAQJyA8FMXLJKXpWp1tHB0H9zZUR4SKYfVOAx0HdlKXV5qQCNJdND8u+oPtxD68wFG0npKeie0IZ8eBZq1Va+lW1O8x1Mnesg1WAqt3tbHp0EzYZFE5eArR7Nzf0cVpUC8DPGTDc8jfkjGQ15dUoqjTzW6EA2EfBKsa97O3MsJMlVRTUt6PtFZpZTbYaaSdia4ipGRsPchUBwvjhHRQQRWq9pN35XQQbmpoae88anjv1o1rRgKibTpsmGHRZ60e3aisRVp07SJ02hdW7WDagTjlTNVIpIzSWGW9HnbD+hiSdC5lUxEl/IREV/mFQltqvUIV+buyCobqNPzld5RvF7Yl1yjJaKRVp046uh16241wGTnYTMLcgEnkL/JQonRBHkF85cJbSY4IlwvtyzxVURqMC5Q4u8qDDxci31uqTZLFweqdTY2VJZXJAU5S87rmSTZIZu+kQFZpZWk/rJceL8Ssq42g3d9EoObA95t5jZZ+fPEqtxItvr3jMHP8tB6i8Ua9Got9PYMgbEXcB1uvkoGwX0uAVZh+dPnGLLedczv8WkN+WDsQAAhgBLBZql6mqgacXTGrwQIIAAI/n8BvGsyhheGTu3brZNBcq+e/VQt2e+K3pv8kGKyvb7IKUTT37SvR+7x+kjogtuEIsHNeF5t4h+2Z3EniN/qGMwRoAgTqgUB9TVUNOLvWg9dABCAACMhCQDSYk6VFg9SBNd0CL548ejz2Znry7lG1bjWqNxuq3lyNusgYvCFw778W2OXcFPyn/+tNOBD0iwkgrfsO7qEDrlT84m4A6uuDQD1OVQ01u9aH20AGIAAIyEbgNw3mIEjZwGrMZLdhXTWpb3STzUvSWsrt7SZOm+VFvGZNc7f6eWEjqQmgABAABAABaQTqdaqqv9lVmtmgHBAABBqGwG8bzDWM+0ALIAAIAAKAACAACAACfzYBEMz92f33l1gP3AQEAAFAABAABAABMgIgmCMjA/IBAUAAEAAEAAFA4M8j8BdaDIK5v7DTgcuAACAACAACgAAg8P9DAARz/z99CTwBBACBhiUAtAECgAAg8FsQAMHcb9ENwAhAABAABAABQAAQAATqRgAEc3Xj1rCtgDZAABAABAABQAAQAARICIBgjgQMyAYEAAFAABAABP5EAsDmv48ACOb+vj4HHgMCgAAgAAgAAoDA/xEBEMz9H3UmcAUQaFgCQBsgAAgAAoDA70AABHO/Qy8AGwABQAAQAAQAAUAAEKgjgT8imKujb6AZIAAIAAKAACAACAAC//cEQDD3f9/FwEFAABAABP4qAsBZQOCvI/A/AAAA//8P+Nk2AAAABklEQVQDABeRn8NzydNQ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424" y="1123950"/>
            <a:ext cx="9868063" cy="411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90545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74" y="1519238"/>
            <a:ext cx="11332493" cy="41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5207931"/>
      </p:ext>
    </p:extLst>
  </p:cSld>
  <p:clrMapOvr>
    <a:masterClrMapping/>
  </p:clrMapOvr>
</p:sld>
</file>

<file path=ppt/theme/theme1.xml><?xml version="1.0" encoding="utf-8"?>
<a:theme xmlns:a="http://schemas.openxmlformats.org/drawingml/2006/main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1752</Words>
  <Application>Microsoft Office PowerPoint</Application>
  <PresentationFormat>Custom</PresentationFormat>
  <Paragraphs>893</Paragraphs>
  <Slides>38</Slides>
  <Notes>35</Notes>
  <HiddenSlides>1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0" baseType="lpstr">
      <vt:lpstr>dan-berkeley-nlp-v1</vt:lpstr>
      <vt:lpstr>MSPhotoEd.3</vt:lpstr>
      <vt:lpstr>Artificial Intelligence </vt:lpstr>
      <vt:lpstr>Today</vt:lpstr>
      <vt:lpstr>Uncertainty</vt:lpstr>
      <vt:lpstr>Random Variables</vt:lpstr>
      <vt:lpstr>Praobability Distributions</vt:lpstr>
      <vt:lpstr>Probability Distributions</vt:lpstr>
      <vt:lpstr>Probability Distributions</vt:lpstr>
      <vt:lpstr>Joint Distributions</vt:lpstr>
      <vt:lpstr>Probabilistic Models</vt:lpstr>
      <vt:lpstr>Events</vt:lpstr>
      <vt:lpstr>Quiz: Events</vt:lpstr>
      <vt:lpstr>Marginal Distributions</vt:lpstr>
      <vt:lpstr>Quiz: Marginal Distributions</vt:lpstr>
      <vt:lpstr>Conditional Probabilities</vt:lpstr>
      <vt:lpstr>Quiz: Conditional Probabilities</vt:lpstr>
      <vt:lpstr>Conditional Distributions</vt:lpstr>
      <vt:lpstr>Normalization Trick</vt:lpstr>
      <vt:lpstr>Normalization Trick</vt:lpstr>
      <vt:lpstr>Normalization Trick</vt:lpstr>
      <vt:lpstr>Quiz: Normalization Trick</vt:lpstr>
      <vt:lpstr>To Normalize</vt:lpstr>
      <vt:lpstr>Normalization Trick</vt:lpstr>
      <vt:lpstr>Full Joint Probability Distribution</vt:lpstr>
      <vt:lpstr>Probabilistic Inference</vt:lpstr>
      <vt:lpstr>Inference by Enumeration</vt:lpstr>
      <vt:lpstr>Inference by Enumeration</vt:lpstr>
      <vt:lpstr>Inference by Enumeration</vt:lpstr>
      <vt:lpstr>The Product Rule</vt:lpstr>
      <vt:lpstr>The Product Rule</vt:lpstr>
      <vt:lpstr>The Chain Rule</vt:lpstr>
      <vt:lpstr>Bayes Rule</vt:lpstr>
      <vt:lpstr>Bayes’ Rule</vt:lpstr>
      <vt:lpstr>PowerPoint Presentation</vt:lpstr>
      <vt:lpstr>Quiz: Bayes’ Rule</vt:lpstr>
      <vt:lpstr>PowerPoint Presentation</vt:lpstr>
      <vt:lpstr>Inference with Bayes’ Rule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</dc:title>
  <dc:creator>Preferred Customer</dc:creator>
  <cp:lastModifiedBy>Dr. Nahid Ferdous Aurna</cp:lastModifiedBy>
  <cp:revision>4</cp:revision>
  <dcterms:created xsi:type="dcterms:W3CDTF">2004-08-27T04:16:05Z</dcterms:created>
  <dcterms:modified xsi:type="dcterms:W3CDTF">2026-05-06T06:46:31Z</dcterms:modified>
</cp:coreProperties>
</file>