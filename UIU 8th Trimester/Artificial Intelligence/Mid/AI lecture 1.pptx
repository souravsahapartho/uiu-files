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Corbel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itki/Muy9C1TVnnJlVpJuCBwJ0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Corbel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orbel-italic.fntdata"/><Relationship Id="rId30" Type="http://schemas.openxmlformats.org/officeDocument/2006/relationships/font" Target="fonts/Corbel-bold.fntdata"/><Relationship Id="rId11" Type="http://schemas.openxmlformats.org/officeDocument/2006/relationships/slide" Target="slides/slide7.xml"/><Relationship Id="rId33" Type="http://customschemas.google.com/relationships/presentationmetadata" Target="metadata"/><Relationship Id="rId10" Type="http://schemas.openxmlformats.org/officeDocument/2006/relationships/slide" Target="slides/slide6.xml"/><Relationship Id="rId32" Type="http://schemas.openxmlformats.org/officeDocument/2006/relationships/font" Target="fonts/Corbel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Future_of_Go_Summit" TargetMode="External"/><Relationship Id="rId3" Type="http://schemas.openxmlformats.org/officeDocument/2006/relationships/hyperlink" Target="https://en.wikipedia.org/wiki/AlphaGo_Master" TargetMode="External"/><Relationship Id="rId4" Type="http://schemas.openxmlformats.org/officeDocument/2006/relationships/hyperlink" Target="https://en.wikipedia.org/wiki/Ke_Jie" TargetMode="External"/><Relationship Id="rId5" Type="http://schemas.openxmlformats.org/officeDocument/2006/relationships/hyperlink" Target="https://en.wikipedia.org/wiki/AlphaGo_versus_Ke_Jie" TargetMode="External"/><Relationship Id="rId6" Type="http://schemas.openxmlformats.org/officeDocument/2006/relationships/hyperlink" Target="https://en.wikipedia.org/wiki/Board_game" TargetMode="External"/><Relationship Id="rId7" Type="http://schemas.openxmlformats.org/officeDocument/2006/relationships/hyperlink" Target="https://en.wikipedia.org/wiki/Go_(game)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bm.com/cloud/learn/natural-language-processin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driverless robotic car named STANLEY sped through the rough terrain of the Mojave dessert at 22 mph, finishing the 132-mile course first to win the 2005 DARPA Grand Challenge. 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2018, Waymo test vehicles passed the landmark of 10 million miles driven on public roads without a serious accident, with the human driver stepping in to take over control only once every 6,000 miles. Soon after, the company began offering a commercial robotic taxi service. In October 2020, Waymo launched a geo-fenced driverless ride hailing service in Phoenix, Arizona. The cars are being monitored in real-time by a team of remote engineers, and there are cases where the remote engineers need to intervene</a:t>
            </a:r>
            <a:endParaRPr/>
          </a:p>
        </p:txBody>
      </p:sp>
      <p:sp>
        <p:nvSpPr>
          <p:cNvPr id="157" name="Google Shape;1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1200"/>
              <a:buFont typeface="Arial"/>
              <a:buChar char="•"/>
            </a:pPr>
            <a:r>
              <a:rPr b="0" i="0" lang="en-US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At the 2017 </a:t>
            </a:r>
            <a:r>
              <a:rPr b="0" i="0" lang="en-US" u="sng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Future of Go Summit</a:t>
            </a:r>
            <a:r>
              <a:rPr b="0" i="0" lang="en-US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, the </a:t>
            </a:r>
            <a:r>
              <a:rPr b="0" i="0" lang="en-US" u="sng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Master</a:t>
            </a:r>
            <a:r>
              <a:rPr b="0" i="0" lang="en-US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 version of AlphaGo beat </a:t>
            </a:r>
            <a:r>
              <a:rPr b="0" i="0" lang="en-US" u="sng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 Jie</a:t>
            </a:r>
            <a:r>
              <a:rPr b="0" i="0" lang="en-US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, the number one ranked player in the world at the time, in a </a:t>
            </a:r>
            <a:r>
              <a:rPr b="0" i="0" lang="en-US" u="sng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three-game match</a:t>
            </a:r>
            <a:r>
              <a:rPr b="0" i="0" lang="en-US" u="none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</a:rPr>
              <a:t> in</a:t>
            </a:r>
            <a:r>
              <a:rPr b="0" i="0" lang="en-US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 the </a:t>
            </a:r>
            <a:r>
              <a:rPr b="0" i="0" lang="en-US" u="sng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board game</a:t>
            </a:r>
            <a:r>
              <a:rPr b="0" i="0" lang="en-US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u="sng" strike="noStrike">
                <a:solidFill>
                  <a:srgbClr val="0645AD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</a:t>
            </a:r>
            <a:endParaRPr b="0" i="0" u="none" strike="noStrike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ALPHAZERO, used no input from humans (except for the rules of the game), and was able to learn through self-play alone to defeat all opponents, human and machine, at Go, chess, and shogi in 2018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Human champions have been beaten by AI systems at games as diverse as Jeopardy, poker etc.</a:t>
            </a:r>
            <a:endParaRPr/>
          </a:p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“Natural language processing strives to build machines that understand and respond to text or voice data—and respond with text or speech of their own—in much the same way humans do” - </a:t>
            </a:r>
            <a:r>
              <a:rPr lang="en-US" sz="800" u="sng">
                <a:solidFill>
                  <a:schemeClr val="hlink"/>
                </a:solidFill>
                <a:hlinkClick r:id="rId2"/>
              </a:rPr>
              <a:t>https://www.ibm.com/cloud/learn/natural-language-processing</a:t>
            </a:r>
            <a:r>
              <a:rPr lang="en-US" sz="800"/>
              <a:t> 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Because the spammers are continually updating their tactics, it is difficult for a static programmed approach to keep up</a:t>
            </a:r>
            <a:endParaRPr/>
          </a:p>
          <a:p>
            <a:pPr indent="-952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b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EUROPA planning toolkit (Barreiro et al., 2012) is used for daily operations of NASA’s Mars</a:t>
            </a:r>
            <a:b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rovers and the SEXTANT system (Winternitz, 2017) allows autonomous navigation in deep</a:t>
            </a:r>
            <a:b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>
                <a:solidFill>
                  <a:srgbClr val="242021"/>
                </a:solidFill>
                <a:latin typeface="Arial"/>
                <a:ea typeface="Arial"/>
                <a:cs typeface="Arial"/>
                <a:sym typeface="Arial"/>
              </a:rPr>
              <a:t>space, beyond the global GPS system.</a:t>
            </a: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239" name="Google Shape;2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https://www.slideshare.net/imamhossain75054/presentations/2</a:t>
            </a:r>
            <a:endParaRPr/>
          </a:p>
        </p:txBody>
      </p:sp>
      <p:sp>
        <p:nvSpPr>
          <p:cNvPr id="309" name="Google Shape;30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2209800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b="0" sz="960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2209799" y="3694375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b="0" sz="32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ctrTitle"/>
          </p:nvPr>
        </p:nvSpPr>
        <p:spPr>
          <a:xfrm>
            <a:off x="854532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b="0" sz="960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854532" y="3693674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b="0" sz="32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" type="body"/>
          </p:nvPr>
        </p:nvSpPr>
        <p:spPr>
          <a:xfrm>
            <a:off x="1120000" y="1825625"/>
            <a:ext cx="502521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7"/>
          <p:cNvSpPr txBox="1"/>
          <p:nvPr>
            <p:ph idx="2" type="body"/>
          </p:nvPr>
        </p:nvSpPr>
        <p:spPr>
          <a:xfrm>
            <a:off x="6319840" y="1825625"/>
            <a:ext cx="50339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1120000" y="1681163"/>
            <a:ext cx="502521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1120000" y="2505075"/>
            <a:ext cx="502521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3" type="body"/>
          </p:nvPr>
        </p:nvSpPr>
        <p:spPr>
          <a:xfrm>
            <a:off x="6319840" y="1681163"/>
            <a:ext cx="50355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4" type="body"/>
          </p:nvPr>
        </p:nvSpPr>
        <p:spPr>
          <a:xfrm>
            <a:off x="6319840" y="2505075"/>
            <a:ext cx="503554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9788" y="4367160"/>
            <a:ext cx="10515600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/>
          <p:nvPr>
            <p:ph idx="2" type="pic"/>
          </p:nvPr>
        </p:nvSpPr>
        <p:spPr>
          <a:xfrm>
            <a:off x="839788" y="987425"/>
            <a:ext cx="10515600" cy="337973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839788" y="5186516"/>
            <a:ext cx="1051401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>
            <a:off x="839788" y="365125"/>
            <a:ext cx="10515600" cy="353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>
            <a:off x="839788" y="4489399"/>
            <a:ext cx="10514012" cy="1501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3"/>
          <p:cNvSpPr txBox="1"/>
          <p:nvPr>
            <p:ph type="title"/>
          </p:nvPr>
        </p:nvSpPr>
        <p:spPr>
          <a:xfrm>
            <a:off x="1446212" y="365125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4400"/>
              <a:buFont typeface="Corbe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33"/>
          <p:cNvSpPr txBox="1"/>
          <p:nvPr>
            <p:ph idx="2" type="body"/>
          </p:nvPr>
        </p:nvSpPr>
        <p:spPr>
          <a:xfrm>
            <a:off x="838200" y="4501729"/>
            <a:ext cx="10512424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3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839788" y="2326967"/>
            <a:ext cx="10515600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839788" y="4850581"/>
            <a:ext cx="1051401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" type="body"/>
          </p:nvPr>
        </p:nvSpPr>
        <p:spPr>
          <a:xfrm>
            <a:off x="1337282" y="188595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35"/>
          <p:cNvSpPr txBox="1"/>
          <p:nvPr>
            <p:ph idx="2" type="body"/>
          </p:nvPr>
        </p:nvSpPr>
        <p:spPr>
          <a:xfrm>
            <a:off x="1356798" y="257175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35"/>
          <p:cNvSpPr txBox="1"/>
          <p:nvPr>
            <p:ph idx="3" type="body"/>
          </p:nvPr>
        </p:nvSpPr>
        <p:spPr>
          <a:xfrm>
            <a:off x="4587994" y="188595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5"/>
          <p:cNvSpPr txBox="1"/>
          <p:nvPr>
            <p:ph idx="4" type="body"/>
          </p:nvPr>
        </p:nvSpPr>
        <p:spPr>
          <a:xfrm>
            <a:off x="4577441" y="257175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35"/>
          <p:cNvSpPr txBox="1"/>
          <p:nvPr>
            <p:ph idx="5" type="body"/>
          </p:nvPr>
        </p:nvSpPr>
        <p:spPr>
          <a:xfrm>
            <a:off x="7829035" y="188595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5"/>
          <p:cNvSpPr txBox="1"/>
          <p:nvPr>
            <p:ph idx="6" type="body"/>
          </p:nvPr>
        </p:nvSpPr>
        <p:spPr>
          <a:xfrm>
            <a:off x="7829035" y="257175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6"/>
          <p:cNvSpPr txBox="1"/>
          <p:nvPr>
            <p:ph idx="1" type="body"/>
          </p:nvPr>
        </p:nvSpPr>
        <p:spPr>
          <a:xfrm>
            <a:off x="1332085" y="4297503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b="0" sz="2400">
                <a:solidFill>
                  <a:srgbClr val="EDED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36"/>
          <p:cNvSpPr/>
          <p:nvPr>
            <p:ph idx="2" type="pic"/>
          </p:nvPr>
        </p:nvSpPr>
        <p:spPr>
          <a:xfrm>
            <a:off x="1332085" y="2256354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15" name="Google Shape;115;p36"/>
          <p:cNvSpPr txBox="1"/>
          <p:nvPr>
            <p:ph idx="3" type="body"/>
          </p:nvPr>
        </p:nvSpPr>
        <p:spPr>
          <a:xfrm>
            <a:off x="1332085" y="4873765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6" name="Google Shape;116;p36"/>
          <p:cNvSpPr txBox="1"/>
          <p:nvPr>
            <p:ph idx="4" type="body"/>
          </p:nvPr>
        </p:nvSpPr>
        <p:spPr>
          <a:xfrm>
            <a:off x="4568997" y="4297503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b="0" sz="2400">
                <a:solidFill>
                  <a:srgbClr val="EDED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36"/>
          <p:cNvSpPr/>
          <p:nvPr>
            <p:ph idx="5" type="pic"/>
          </p:nvPr>
        </p:nvSpPr>
        <p:spPr>
          <a:xfrm>
            <a:off x="4568996" y="2256354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18" name="Google Shape;118;p36"/>
          <p:cNvSpPr txBox="1"/>
          <p:nvPr>
            <p:ph idx="6" type="body"/>
          </p:nvPr>
        </p:nvSpPr>
        <p:spPr>
          <a:xfrm>
            <a:off x="4567644" y="4873764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36"/>
          <p:cNvSpPr txBox="1"/>
          <p:nvPr>
            <p:ph idx="7" type="body"/>
          </p:nvPr>
        </p:nvSpPr>
        <p:spPr>
          <a:xfrm>
            <a:off x="7804322" y="4297503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b="0" sz="2400">
                <a:solidFill>
                  <a:srgbClr val="EDED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36"/>
          <p:cNvSpPr/>
          <p:nvPr>
            <p:ph idx="8" type="pic"/>
          </p:nvPr>
        </p:nvSpPr>
        <p:spPr>
          <a:xfrm>
            <a:off x="7804321" y="2256354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1" name="Google Shape;121;p36"/>
          <p:cNvSpPr txBox="1"/>
          <p:nvPr>
            <p:ph idx="9" type="body"/>
          </p:nvPr>
        </p:nvSpPr>
        <p:spPr>
          <a:xfrm>
            <a:off x="7804197" y="4873762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2" name="Google Shape;12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7"/>
          <p:cNvSpPr txBox="1"/>
          <p:nvPr>
            <p:ph idx="1" type="body"/>
          </p:nvPr>
        </p:nvSpPr>
        <p:spPr>
          <a:xfrm rot="5400000">
            <a:off x="4061231" y="-1115606"/>
            <a:ext cx="4351338" cy="10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  <a:defRPr b="0" i="0" sz="5400" u="none" cap="none" strike="noStrike">
                <a:solidFill>
                  <a:srgbClr val="ECF5D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E9F6F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E9F6F9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E9F6F9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E9F6F9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hyperlink" Target="https://en.wikipedia.org/wiki/Stanley_(vehicle)" TargetMode="External"/><Relationship Id="rId6" Type="http://schemas.openxmlformats.org/officeDocument/2006/relationships/hyperlink" Target="https://waymo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hyperlink" Target="https://www.amazon.in/iRobot-Roomba-Vacuum-Cleaning-Robot/dp/B084BJWFN6" TargetMode="External"/><Relationship Id="rId5" Type="http://schemas.openxmlformats.org/officeDocument/2006/relationships/image" Target="../media/image3.jpg"/><Relationship Id="rId6" Type="http://schemas.openxmlformats.org/officeDocument/2006/relationships/hyperlink" Target="https://robots.ieee.org/robots/packbot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0.jpg"/><Relationship Id="rId5" Type="http://schemas.openxmlformats.org/officeDocument/2006/relationships/hyperlink" Target="https://www.theguardian.com/technology/2016/mar/15/alphago-what-does-google-advanced-software-go-next" TargetMode="External"/><Relationship Id="rId6" Type="http://schemas.openxmlformats.org/officeDocument/2006/relationships/hyperlink" Target="https://www.britannica.com/topic/Deep-Blu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hyperlink" Target="https://translate.google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.jpg"/><Relationship Id="rId5" Type="http://schemas.openxmlformats.org/officeDocument/2006/relationships/hyperlink" Target="https://zayzay.com/news/skype-now-real-time-translation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4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hyperlink" Target="https://imagecolorizer.com/" TargetMode="External"/><Relationship Id="rId9" Type="http://schemas.openxmlformats.org/officeDocument/2006/relationships/hyperlink" Target="https://www.kaggle.com/c/deepfake-detection-challenge/discussion/121223" TargetMode="External"/><Relationship Id="rId5" Type="http://schemas.openxmlformats.org/officeDocument/2006/relationships/image" Target="../media/image17.gif"/><Relationship Id="rId6" Type="http://schemas.openxmlformats.org/officeDocument/2006/relationships/hyperlink" Target="https://youtu.be/0sR1rU3gLzQ" TargetMode="External"/><Relationship Id="rId7" Type="http://schemas.openxmlformats.org/officeDocument/2006/relationships/image" Target="../media/image15.jpg"/><Relationship Id="rId8" Type="http://schemas.openxmlformats.org/officeDocument/2006/relationships/hyperlink" Target="https://towardsdatascience.com/image-segmentation-with-six-lines-0f-code-acb870a462e8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hyperlink" Target="https://youtu.be/QizsAE4fBpQ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forbes.com/sites/bernardmarr/2018/12/31/the-most-amazing-artificial-intelligence-milestones-so-far/?sh=e8ea0297753e" TargetMode="External"/><Relationship Id="rId4" Type="http://schemas.openxmlformats.org/officeDocument/2006/relationships/hyperlink" Target="https://www.javatpoint.com/history-of-artificial-intelligenc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Relationship Id="rId4" Type="http://schemas.openxmlformats.org/officeDocument/2006/relationships/hyperlink" Target="http://aima.cs.berkeley.edu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norvig.com/bio.html" TargetMode="External"/><Relationship Id="rId4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youtube.com/watch?v=WXuK6gekU1Y" TargetMode="External"/><Relationship Id="rId4" Type="http://schemas.openxmlformats.org/officeDocument/2006/relationships/hyperlink" Target="https://theconversation.com/why-the-feds-are-investigating-teslas-autopilot-and-what-that-means-for-the-future-of-self-driving-cars-1663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/>
          <p:nvPr>
            <p:ph type="ctrTitle"/>
          </p:nvPr>
        </p:nvSpPr>
        <p:spPr>
          <a:xfrm>
            <a:off x="2209800" y="4213078"/>
            <a:ext cx="91440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ct val="100000"/>
              <a:buFont typeface="Corbel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142" name="Google Shape;142;p1"/>
          <p:cNvSpPr txBox="1"/>
          <p:nvPr>
            <p:ph idx="1" type="subTitle"/>
          </p:nvPr>
        </p:nvSpPr>
        <p:spPr>
          <a:xfrm>
            <a:off x="2209799" y="3459175"/>
            <a:ext cx="9144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What is AI?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What AI can do today?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is AI?</a:t>
            </a:r>
            <a:endParaRPr/>
          </a:p>
        </p:txBody>
      </p:sp>
      <p:sp>
        <p:nvSpPr>
          <p:cNvPr id="153" name="Google Shape;153;p3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The term artificial intelligence was first used in 1956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Dartmouth College professor John McCarthy coined the term "artificial intelligence" and organized an intensive summer workshop bringing together leading experts in the field.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The field of artificial intelligence, or AI attempts to build intelligent entities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160" name="Google Shape;160;p4"/>
          <p:cNvSpPr txBox="1"/>
          <p:nvPr>
            <p:ph idx="1" type="body"/>
          </p:nvPr>
        </p:nvSpPr>
        <p:spPr>
          <a:xfrm>
            <a:off x="838200" y="1825625"/>
            <a:ext cx="589510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Robotic vehicles: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A driverless robotic car STANLEY sped through the rough terrain of the Mojave dessert to win the 2005 DARPA Grand Challenge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In October 2020, Waymo launched a geo-fenced driverless ride hailing service in Phoenix, Arizona. The cars are being monitored in real-time by a team of remote engineers, and there are cases where the remote engineers need to intervene.</a:t>
            </a:r>
            <a:endParaRPr/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19952" r="10190" t="0"/>
          <a:stretch/>
        </p:blipFill>
        <p:spPr>
          <a:xfrm>
            <a:off x="6862928" y="3726224"/>
            <a:ext cx="4969719" cy="2320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7306" y="958022"/>
            <a:ext cx="3565341" cy="232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 txBox="1"/>
          <p:nvPr/>
        </p:nvSpPr>
        <p:spPr>
          <a:xfrm>
            <a:off x="8267306" y="3226830"/>
            <a:ext cx="362426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Stanley parked after the 2005 DARPA Grand Challenge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9269942" y="958022"/>
            <a:ext cx="263236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https://en.wikipedia.org/wiki/Stanley_(vehicle)</a:t>
            </a:r>
            <a:r>
              <a:rPr b="0" i="0" lang="en-US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0681146" y="3674689"/>
            <a:ext cx="128112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https://waymo.com/</a:t>
            </a:r>
            <a:endParaRPr b="0" i="0" sz="1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838200" y="1825625"/>
            <a:ext cx="629227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Robotics: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Roomba robotic vacuum cleaners for home use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PackBot to handle hazardous materials, clear explosives, and identify the location of snipers</a:t>
            </a:r>
            <a:endParaRPr/>
          </a:p>
        </p:txBody>
      </p:sp>
      <p:grpSp>
        <p:nvGrpSpPr>
          <p:cNvPr id="172" name="Google Shape;172;p5"/>
          <p:cNvGrpSpPr/>
          <p:nvPr/>
        </p:nvGrpSpPr>
        <p:grpSpPr>
          <a:xfrm>
            <a:off x="8513028" y="897056"/>
            <a:ext cx="2391294" cy="2564543"/>
            <a:chOff x="8554593" y="819323"/>
            <a:chExt cx="2391294" cy="2564543"/>
          </a:xfrm>
        </p:grpSpPr>
        <p:pic>
          <p:nvPicPr>
            <p:cNvPr id="173" name="Google Shape;173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37720" y="819323"/>
              <a:ext cx="2308167" cy="23081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5"/>
            <p:cNvSpPr txBox="1"/>
            <p:nvPr/>
          </p:nvSpPr>
          <p:spPr>
            <a:xfrm>
              <a:off x="8554593" y="2625665"/>
              <a:ext cx="2308167" cy="5539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sng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https://www.amazon.in/iRobot-Roomba-Vacuum-Cleaning-Robot/dp/B084BJWFN6</a:t>
              </a:r>
              <a:r>
                <a:rPr b="0" i="0" lang="en-US" sz="1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5"/>
            <p:cNvSpPr txBox="1"/>
            <p:nvPr/>
          </p:nvSpPr>
          <p:spPr>
            <a:xfrm>
              <a:off x="9385441" y="3076089"/>
              <a:ext cx="81272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Roomba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5"/>
          <p:cNvGrpSpPr/>
          <p:nvPr/>
        </p:nvGrpSpPr>
        <p:grpSpPr>
          <a:xfrm>
            <a:off x="7864307" y="3429000"/>
            <a:ext cx="3688737" cy="3036077"/>
            <a:chOff x="7665063" y="3529457"/>
            <a:chExt cx="3688737" cy="3036077"/>
          </a:xfrm>
        </p:grpSpPr>
        <p:pic>
          <p:nvPicPr>
            <p:cNvPr descr="PackBot - ROBOTS: Your Guide to the World of Robotics" id="177" name="Google Shape;17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65063" y="3529457"/>
              <a:ext cx="3688737" cy="27665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5"/>
            <p:cNvSpPr txBox="1"/>
            <p:nvPr/>
          </p:nvSpPr>
          <p:spPr>
            <a:xfrm>
              <a:off x="8442036" y="6110129"/>
              <a:ext cx="2346036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sng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https://robots.ieee.org/robots/packbot/</a:t>
              </a:r>
              <a:r>
                <a:rPr b="0" i="0" lang="en-US" sz="1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7665064" y="6257757"/>
              <a:ext cx="36887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PackBot</a:t>
              </a:r>
              <a:endPara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186" name="Google Shape;186;p6"/>
          <p:cNvSpPr txBox="1"/>
          <p:nvPr>
            <p:ph idx="1" type="body"/>
          </p:nvPr>
        </p:nvSpPr>
        <p:spPr>
          <a:xfrm>
            <a:off x="1120001" y="1825625"/>
            <a:ext cx="6296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Game playing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Deep Blue defeated world chess champion Garry Kasparov in 1997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ALPHAGO beat human in the board game Go in 2017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ALPHAZERO learned through self-play alone to defeat all opponents, human and machine, at Go, chess, and shogi in 2018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Human champions have been beaten by AI systems at games as diverse as Jeopardy, poker etc.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125778" y="1488094"/>
            <a:ext cx="3419678" cy="2183502"/>
            <a:chOff x="7818671" y="645816"/>
            <a:chExt cx="4033891" cy="2916430"/>
          </a:xfrm>
        </p:grpSpPr>
        <p:pic>
          <p:nvPicPr>
            <p:cNvPr descr="Deep Blue | computer chess-playing system | Britannica" id="188" name="Google Shape;18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18671" y="645816"/>
              <a:ext cx="4033891" cy="2609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6"/>
            <p:cNvSpPr txBox="1"/>
            <p:nvPr/>
          </p:nvSpPr>
          <p:spPr>
            <a:xfrm>
              <a:off x="9253565" y="3192914"/>
              <a:ext cx="116410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Deep Blue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6"/>
          <p:cNvGrpSpPr/>
          <p:nvPr/>
        </p:nvGrpSpPr>
        <p:grpSpPr>
          <a:xfrm>
            <a:off x="8125778" y="3891996"/>
            <a:ext cx="3419678" cy="2350654"/>
            <a:chOff x="7818671" y="3850177"/>
            <a:chExt cx="4033891" cy="2733089"/>
          </a:xfrm>
        </p:grpSpPr>
        <p:pic>
          <p:nvPicPr>
            <p:cNvPr descr="AlphaGo: its creator on the computer that learns by thinking | Artificial  intelligence (AI) | The Guardian" id="191" name="Google Shape;191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18671" y="3850177"/>
              <a:ext cx="4033891" cy="2420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6"/>
            <p:cNvSpPr txBox="1"/>
            <p:nvPr/>
          </p:nvSpPr>
          <p:spPr>
            <a:xfrm>
              <a:off x="9397835" y="6213934"/>
              <a:ext cx="101983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AlphaGo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6"/>
          <p:cNvSpPr txBox="1"/>
          <p:nvPr/>
        </p:nvSpPr>
        <p:spPr>
          <a:xfrm>
            <a:off x="8021924" y="6176963"/>
            <a:ext cx="35235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https://www.theguardian.com/technology/2016/mar/15/alphago-what-does-google-advanced-software-go-next</a:t>
            </a:r>
            <a:r>
              <a:rPr b="0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8857674" y="3247393"/>
            <a:ext cx="235513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https://www.britannica.com/topic/Deep-Blue</a:t>
            </a:r>
            <a:r>
              <a:rPr b="0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201" name="Google Shape;201;p7"/>
          <p:cNvSpPr txBox="1"/>
          <p:nvPr>
            <p:ph idx="1" type="body"/>
          </p:nvPr>
        </p:nvSpPr>
        <p:spPr>
          <a:xfrm>
            <a:off x="838200" y="1825625"/>
            <a:ext cx="554412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Natural Language Processing (NLP)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Machine Translation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Speech Recognition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Spam filtering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…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207" name="Google Shape;207;p8"/>
          <p:cNvSpPr txBox="1"/>
          <p:nvPr>
            <p:ph idx="1" type="body"/>
          </p:nvPr>
        </p:nvSpPr>
        <p:spPr>
          <a:xfrm>
            <a:off x="838200" y="1825625"/>
            <a:ext cx="554412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Machine translation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Enable the reading of documents in over 100 languages, including the native languages of over 99% of humans, and render hundreds of billions of words per day for hundreds of millions of users. While not perfect, they are generally adequate for understanding. Code Automation</a:t>
            </a:r>
            <a:endParaRPr/>
          </a:p>
        </p:txBody>
      </p:sp>
      <p:pic>
        <p:nvPicPr>
          <p:cNvPr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4764" y="2199054"/>
            <a:ext cx="5260733" cy="268156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  <p:sp>
        <p:nvSpPr>
          <p:cNvPr id="209" name="Google Shape;209;p8"/>
          <p:cNvSpPr txBox="1"/>
          <p:nvPr/>
        </p:nvSpPr>
        <p:spPr>
          <a:xfrm>
            <a:off x="10187709" y="2199054"/>
            <a:ext cx="181032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https://translate.google.com/</a:t>
            </a:r>
            <a:endParaRPr b="0" i="0" sz="1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216" name="Google Shape;216;p9"/>
          <p:cNvSpPr txBox="1"/>
          <p:nvPr>
            <p:ph idx="1" type="body"/>
          </p:nvPr>
        </p:nvSpPr>
        <p:spPr>
          <a:xfrm>
            <a:off x="838200" y="1825624"/>
            <a:ext cx="5433291" cy="4667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Speech recognition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About a third of computer interaction worldwide is now done by voice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Skype provides real-time speech-to-speech translation in ten languages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Alexa, Siri, Cortana, and Google offer assistants that can answer questions and carry out tasks for the user 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Google Duplex service uses speech recognition and speech synthesis to make restaurant reservations for users</a:t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7455" r="7455" t="0"/>
          <a:stretch/>
        </p:blipFill>
        <p:spPr>
          <a:xfrm>
            <a:off x="7583259" y="1306666"/>
            <a:ext cx="4146839" cy="2332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&amp;#39;s Duplex calling service arrives on Pixel phones in the US" id="218" name="Google Shape;21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3259" y="4001654"/>
            <a:ext cx="4146839" cy="233259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8153400" y="3451127"/>
            <a:ext cx="332494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https://zayzay.com/news/skype-now-real-time-translation/</a:t>
            </a:r>
            <a:r>
              <a:rPr b="0" i="0" lang="en-US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225" name="Google Shape;225;p10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Code automation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comment to code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text to app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231" name="Google Shape;231;p11"/>
          <p:cNvSpPr txBox="1"/>
          <p:nvPr>
            <p:ph idx="1" type="body"/>
          </p:nvPr>
        </p:nvSpPr>
        <p:spPr>
          <a:xfrm>
            <a:off x="838199" y="1825625"/>
            <a:ext cx="660630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Image understanding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Image captioning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Facial recognition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Optical character recognition (OCR)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and many more…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Computer Vision</a:t>
            </a:r>
            <a:endParaRPr/>
          </a:p>
        </p:txBody>
      </p:sp>
      <p:grpSp>
        <p:nvGrpSpPr>
          <p:cNvPr id="232" name="Google Shape;232;p11"/>
          <p:cNvGrpSpPr/>
          <p:nvPr/>
        </p:nvGrpSpPr>
        <p:grpSpPr>
          <a:xfrm>
            <a:off x="7644766" y="324922"/>
            <a:ext cx="4224233" cy="2731532"/>
            <a:chOff x="6690138" y="1268845"/>
            <a:chExt cx="4224233" cy="2731532"/>
          </a:xfrm>
        </p:grpSpPr>
        <p:pic>
          <p:nvPicPr>
            <p:cNvPr id="233" name="Google Shape;23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97255" y="1268845"/>
              <a:ext cx="3810000" cy="2362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11"/>
            <p:cNvSpPr txBox="1"/>
            <p:nvPr/>
          </p:nvSpPr>
          <p:spPr>
            <a:xfrm>
              <a:off x="6690138" y="3631045"/>
              <a:ext cx="422423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A person riding a motorcycle on a dirt road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Google Lens | googblogs.com" id="235" name="Google Shape;23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1882" y="3144322"/>
            <a:ext cx="381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 txBox="1"/>
          <p:nvPr>
            <p:ph type="title"/>
          </p:nvPr>
        </p:nvSpPr>
        <p:spPr>
          <a:xfrm>
            <a:off x="838200" y="379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sp>
        <p:nvSpPr>
          <p:cNvPr id="242" name="Google Shape;242;p12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Autonomous planning and scheduling: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EUROPA planning toolkit used for daily operations of NASA’s Mars rovers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SEXTANT – autonomous navigation in deep space, beyond the global GPS system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Uber and  Google Maps provide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/>
              <a:t>Quick driving directions considering </a:t>
            </a:r>
            <a:r>
              <a:rPr lang="en-US">
                <a:solidFill>
                  <a:srgbClr val="92D050"/>
                </a:solidFill>
              </a:rPr>
              <a:t>current and predicted future traffic </a:t>
            </a:r>
            <a:r>
              <a:rPr lang="en-US"/>
              <a:t>conditions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Recommendations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Used by Amazon, Facebook, Netflix, Spotify, YouTube, Walmart, and many more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Medicine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Equal or exceed expert doctors at diagnosing many conditions, e.g., Alzheimer’s disease, metastatic cancer, skin diseases etc.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What can AI do today? </a:t>
            </a:r>
            <a:endParaRPr/>
          </a:p>
        </p:txBody>
      </p:sp>
      <p:grpSp>
        <p:nvGrpSpPr>
          <p:cNvPr id="249" name="Google Shape;249;p13"/>
          <p:cNvGrpSpPr/>
          <p:nvPr/>
        </p:nvGrpSpPr>
        <p:grpSpPr>
          <a:xfrm>
            <a:off x="1668210" y="4137086"/>
            <a:ext cx="3855606" cy="2045484"/>
            <a:chOff x="7634141" y="2969451"/>
            <a:chExt cx="3936621" cy="2076071"/>
          </a:xfrm>
        </p:grpSpPr>
        <p:pic>
          <p:nvPicPr>
            <p:cNvPr descr="repair scratched pictures" id="250" name="Google Shape;250;p13"/>
            <p:cNvPicPr preferRelativeResize="0"/>
            <p:nvPr/>
          </p:nvPicPr>
          <p:blipFill rotWithShape="1">
            <a:blip r:embed="rId3">
              <a:alphaModFix/>
            </a:blip>
            <a:srcRect b="40060" l="0" r="0" t="1"/>
            <a:stretch/>
          </p:blipFill>
          <p:spPr>
            <a:xfrm>
              <a:off x="7634141" y="3016251"/>
              <a:ext cx="3936621" cy="20292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3"/>
            <p:cNvSpPr txBox="1"/>
            <p:nvPr/>
          </p:nvSpPr>
          <p:spPr>
            <a:xfrm>
              <a:off x="8773305" y="2969451"/>
              <a:ext cx="1658290" cy="2499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sng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https://imagecolorizer.com</a:t>
              </a:r>
              <a:endParaRPr b="0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52" name="Google Shape;252;p13"/>
          <p:cNvGrpSpPr/>
          <p:nvPr/>
        </p:nvGrpSpPr>
        <p:grpSpPr>
          <a:xfrm>
            <a:off x="1668209" y="1575791"/>
            <a:ext cx="3855607" cy="2538111"/>
            <a:chOff x="1119999" y="2394599"/>
            <a:chExt cx="5712692" cy="3760614"/>
          </a:xfrm>
        </p:grpSpPr>
        <p:pic>
          <p:nvPicPr>
            <p:cNvPr descr="Deepfake Detection Challenge | Kaggle" id="253" name="Google Shape;253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20000" y="2394599"/>
              <a:ext cx="5712691" cy="3213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13"/>
            <p:cNvSpPr txBox="1"/>
            <p:nvPr/>
          </p:nvSpPr>
          <p:spPr>
            <a:xfrm>
              <a:off x="1119999" y="5607989"/>
              <a:ext cx="5712691" cy="547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Deep Fake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13"/>
          <p:cNvSpPr txBox="1"/>
          <p:nvPr/>
        </p:nvSpPr>
        <p:spPr>
          <a:xfrm>
            <a:off x="6165462" y="5117801"/>
            <a:ext cx="4546692" cy="958075"/>
          </a:xfrm>
          <a:prstGeom prst="rect">
            <a:avLst/>
          </a:prstGeom>
          <a:gradFill>
            <a:gsLst>
              <a:gs pos="0">
                <a:srgbClr val="474747"/>
              </a:gs>
              <a:gs pos="50000">
                <a:schemeClr val="dk1"/>
              </a:gs>
              <a:gs pos="100000">
                <a:schemeClr val="dk1"/>
              </a:gs>
            </a:gsLst>
            <a:lin ang="540000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AI Clones Your Voice After Listening for 5 Seconds 🤐 </a:t>
            </a:r>
            <a:r>
              <a:rPr b="0" i="0" lang="en-US" sz="1800" u="sng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https://youtu.be/0sR1rU3gLzQ</a:t>
            </a:r>
            <a:r>
              <a:rPr b="0" i="0" lang="en-U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6" name="Google Shape;256;p13"/>
          <p:cNvGrpSpPr/>
          <p:nvPr/>
        </p:nvGrpSpPr>
        <p:grpSpPr>
          <a:xfrm>
            <a:off x="5871605" y="1525306"/>
            <a:ext cx="5047483" cy="3418714"/>
            <a:chOff x="5871605" y="1525306"/>
            <a:chExt cx="5047483" cy="3418714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6165463" y="1545455"/>
              <a:ext cx="4546691" cy="3398565"/>
              <a:chOff x="6258167" y="2411898"/>
              <a:chExt cx="4546691" cy="3398565"/>
            </a:xfrm>
          </p:grpSpPr>
          <p:pic>
            <p:nvPicPr>
              <p:cNvPr descr="Image Segmentation With 5 Lines 0f Code | by Ayoola Olafenwa (she/her) |  Towards Data Science" id="258" name="Google Shape;258;p13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258167" y="2411898"/>
                <a:ext cx="4546691" cy="302923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13"/>
              <p:cNvSpPr txBox="1"/>
              <p:nvPr/>
            </p:nvSpPr>
            <p:spPr>
              <a:xfrm>
                <a:off x="6258167" y="5441131"/>
                <a:ext cx="454669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chemeClr val="lt1"/>
                    </a:solidFill>
                    <a:latin typeface="Corbel"/>
                    <a:ea typeface="Corbel"/>
                    <a:cs typeface="Corbel"/>
                    <a:sym typeface="Corbel"/>
                  </a:rPr>
                  <a:t>image segmentation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0" name="Google Shape;260;p13"/>
            <p:cNvSpPr txBox="1"/>
            <p:nvPr/>
          </p:nvSpPr>
          <p:spPr>
            <a:xfrm>
              <a:off x="5871605" y="1525306"/>
              <a:ext cx="5047483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sng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https://towardsdatascience.com/image-segmentation-with-six-lines-0f-code-acb870a462e8</a:t>
              </a:r>
              <a:endParaRPr b="0" i="0" sz="1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261" name="Google Shape;261;p13"/>
          <p:cNvSpPr txBox="1"/>
          <p:nvPr/>
        </p:nvSpPr>
        <p:spPr>
          <a:xfrm>
            <a:off x="1534946" y="1525306"/>
            <a:ext cx="42033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https://www.kaggle.com/c/deepfake-detection-challenge/discussion/121223</a:t>
            </a:r>
            <a:endParaRPr b="0" i="0" sz="1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AI vs ML vs DL</a:t>
            </a:r>
            <a:endParaRPr/>
          </a:p>
        </p:txBody>
      </p:sp>
      <p:sp>
        <p:nvSpPr>
          <p:cNvPr id="267" name="Google Shape;267;p14"/>
          <p:cNvSpPr txBox="1"/>
          <p:nvPr>
            <p:ph idx="1" type="body"/>
          </p:nvPr>
        </p:nvSpPr>
        <p:spPr>
          <a:xfrm>
            <a:off x="838200" y="1825625"/>
            <a:ext cx="595976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Artificial Intelligence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build intelligent programs and machines that can creatively solve problems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Machine Learning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provides systems the ability to automatically learn and improve from experience without being explicitly programmed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Deep Learning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uses the neural networks</a:t>
            </a:r>
            <a:endParaRPr/>
          </a:p>
        </p:txBody>
      </p:sp>
      <p:grpSp>
        <p:nvGrpSpPr>
          <p:cNvPr id="268" name="Google Shape;268;p14"/>
          <p:cNvGrpSpPr/>
          <p:nvPr/>
        </p:nvGrpSpPr>
        <p:grpSpPr>
          <a:xfrm>
            <a:off x="7093527" y="2087245"/>
            <a:ext cx="4682836" cy="3828098"/>
            <a:chOff x="6542376" y="1042122"/>
            <a:chExt cx="5270933" cy="4140546"/>
          </a:xfrm>
        </p:grpSpPr>
        <p:pic>
          <p:nvPicPr>
            <p:cNvPr descr="Severalizing AI vs ML vs DL vs Data Science – HC Techzoo" id="269" name="Google Shape;26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42376" y="1042122"/>
              <a:ext cx="5270933" cy="38635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14"/>
            <p:cNvSpPr txBox="1"/>
            <p:nvPr/>
          </p:nvSpPr>
          <p:spPr>
            <a:xfrm>
              <a:off x="6542377" y="4905669"/>
              <a:ext cx="527093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https://hctechzoo.xyz/wp-content/uploads/2020/08/z-1.png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14"/>
          <p:cNvSpPr txBox="1"/>
          <p:nvPr/>
        </p:nvSpPr>
        <p:spPr>
          <a:xfrm>
            <a:off x="838200" y="6311900"/>
            <a:ext cx="46439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More resources: </a:t>
            </a:r>
            <a:r>
              <a:rPr b="0" i="0" lang="en-US" sz="18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https://youtu.be/QizsAE4fBpQ</a:t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Brief Timeline of AI</a:t>
            </a:r>
            <a:endParaRPr/>
          </a:p>
        </p:txBody>
      </p:sp>
      <p:sp>
        <p:nvSpPr>
          <p:cNvPr id="277" name="Google Shape;277;p15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1956 – The Dartmouth Conference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Dartmouth College professor John McCarthy coined the term “artificial intelligence”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 sz="2000"/>
              <a:t>1991 – The birth of the Internet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1997 – Deep Blue defeats world chess champion Garry Kasparov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2002 –AI entered the home in the form of Roomba, a vacuum cleaner.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2005 – The DARPA Grand Challenge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A driverless robotic car STANLEY sped through the rough terrain of the Mojave dessert to win the 2005 DARPA Grand Challenge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2011 – IBM Watson’s Jeopardy! Victory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Cognitive computing engine Watson won the TV game show Jeopardy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2016 – AlphaGo goes where no machine has gone before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2018 – Self-driving cars hit the roads</a:t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838200" y="6382327"/>
            <a:ext cx="90782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source: </a:t>
            </a:r>
            <a:r>
              <a:rPr b="0" i="0" lang="en-US" sz="12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https://www.forbes.com/sites/bernardmarr/2018/12/31/the-most-amazing-artificial-intelligence-milestones-so-far/?sh=e8ea0297753e</a:t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https://www.javatpoint.com/history-of-artificial-intelligence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History of Artificial Intelligence</a:t>
            </a:r>
            <a:br>
              <a:rPr lang="en-US"/>
            </a:br>
            <a:r>
              <a:rPr lang="en-US" sz="2000"/>
              <a:t>(AIMA 1.3)</a:t>
            </a:r>
            <a:endParaRPr/>
          </a:p>
        </p:txBody>
      </p:sp>
      <p:sp>
        <p:nvSpPr>
          <p:cNvPr id="284" name="Google Shape;284;p16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1.3.1 The inception of artificial intelligence (1943–1956)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1.3.2 Early enthusiasm, great expectations (1952–1969)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1.3.3 A dose of reality (1966–1973)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1.3.4 Expert systems (1969–1986)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1.3.5 The return of neural networks (1986–present)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1.3.6 Probabilistic reasoning and machine learning (1987–present)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1.3.7 Big data (2001–present)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1.3.8 Deep learning (2011–present)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838200" y="6382327"/>
            <a:ext cx="17536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source: AIMA, 4</a:t>
            </a:r>
            <a:r>
              <a:rPr b="0" baseline="3000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b="0" i="0" lang="en-US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Edition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Risks and Benefits of AI </a:t>
            </a:r>
            <a:br>
              <a:rPr lang="en-US"/>
            </a:br>
            <a:r>
              <a:rPr lang="en-US" sz="2000"/>
              <a:t>(AIMA 1.5)</a:t>
            </a:r>
            <a:endParaRPr/>
          </a:p>
        </p:txBody>
      </p:sp>
      <p:sp>
        <p:nvSpPr>
          <p:cNvPr id="292" name="Google Shape;292;p17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Lethal autonomous weapons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Surveillance and persuasion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2016 US presidential election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Models trained on biased Data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Impact on employment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Safety-critical applications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8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2777" y="136525"/>
            <a:ext cx="4790786" cy="62058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8"/>
          <p:cNvSpPr txBox="1"/>
          <p:nvPr/>
        </p:nvSpPr>
        <p:spPr>
          <a:xfrm>
            <a:off x="4591915" y="5995904"/>
            <a:ext cx="28725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http://aima.cs.berkeley.edu/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Who is Peter Norvig?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4756599" y="5741700"/>
            <a:ext cx="28712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https://norvig.com/bio.html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XPRIZE Foundation Bio - Peter Norvig" id="305" name="Google Shape;3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1854" y="1665303"/>
            <a:ext cx="3528292" cy="4101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Good Resources to Explore!</a:t>
            </a:r>
            <a:endParaRPr/>
          </a:p>
        </p:txBody>
      </p:sp>
      <p:sp>
        <p:nvSpPr>
          <p:cNvPr id="312" name="Google Shape;312;p20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b="0" i="0" lang="en-US">
                <a:latin typeface="Roboto"/>
                <a:ea typeface="Roboto"/>
                <a:cs typeface="Roboto"/>
                <a:sym typeface="Roboto"/>
              </a:rPr>
              <a:t>AlphaGo - The Movie | Full award-winning documentary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https://www.youtube.com/watch?v=WXuK6gekU1Y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Char char="•"/>
            </a:pPr>
            <a:r>
              <a:rPr lang="en-US" sz="1600" u="sng">
                <a:solidFill>
                  <a:schemeClr val="hlink"/>
                </a:solidFill>
                <a:hlinkClick r:id="rId4"/>
              </a:rPr>
              <a:t>https://theconversation.com/why-the-feds-are-investigating-teslas-autopilot-and-what-that-means-for-the-future-of-self-driving-cars-166307</a:t>
            </a:r>
            <a:r>
              <a:rPr lang="en-US" sz="1600"/>
              <a:t>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pth">
  <a:themeElements>
    <a:clrScheme name="Depth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2021-07-02T18:31:02Z</dcterms:created>
  <dc:creator>Fariha Tabassum Islam - 1018052029</dc:creator>
</cp:coreProperties>
</file>