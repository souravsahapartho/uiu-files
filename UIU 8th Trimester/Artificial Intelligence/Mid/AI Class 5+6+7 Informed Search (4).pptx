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i08tq8pS2aNSR1b6LylkhRQLii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F2C68E-0FCC-4BEB-9A5C-581C7032EADC}">
  <a:tblStyle styleId="{49F2C68E-0FCC-4BEB-9A5C-581C7032EA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customschemas.google.com/relationships/presentationmetadata" Target="meta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427" y="0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any search problem, you know the goal.  Now, you have an idea of how far away you are from the goal.</a:t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Notes: these images licensed from iStockphoto for UC Berkeley use.</a:t>
            </a:r>
            <a:endParaRPr/>
          </a:p>
        </p:txBody>
      </p:sp>
      <p:sp>
        <p:nvSpPr>
          <p:cNvPr id="234" name="Google Shape;234;p15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974924" y="4561576"/>
            <a:ext cx="5365352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5a5f0e809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5a5f0e809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5a5f0e809_0_0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1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2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2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2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2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2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p2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Semi-lattice: x &lt;= y &lt;-&gt; x = x ^ y</a:t>
            </a:r>
            <a:endParaRPr/>
          </a:p>
        </p:txBody>
      </p:sp>
      <p:sp>
        <p:nvSpPr>
          <p:cNvPr id="470" name="Google Shape;470;p29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a464f938d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a464f938d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da464f938d_0_0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a464f938d_0_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a464f938d_0_7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da464f938d_0_7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3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3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3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3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3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3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p3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p3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9054157b4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g3a9054157b4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9054157b4_0_42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a9054157b4_0_42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a9054157b4_0_42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9054157b4_0_4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a9054157b4_0_49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a9054157b4_0_49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9054157b4_0_5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a9054157b4_0_57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a9054157b4_0_57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p3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8" name="Google Shape;728;p3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p4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2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2" name="Google Shape;42;p46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3" name="Google Shape;43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7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0" name="Google Shape;50;p47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47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49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4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50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5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1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10" Type="http://schemas.openxmlformats.org/officeDocument/2006/relationships/image" Target="../media/image39.png"/><Relationship Id="rId9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3.png"/><Relationship Id="rId7" Type="http://schemas.openxmlformats.org/officeDocument/2006/relationships/image" Target="../media/image34.png"/><Relationship Id="rId8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0" y="27940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 188: Artificial Intelligence</a:t>
            </a:r>
            <a:br>
              <a:rPr lang="en-US"/>
            </a:br>
            <a:endParaRPr sz="36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sz="4300"/>
              <a:t>Informed Search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4704" y="1974760"/>
            <a:ext cx="7010399" cy="351138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0" y="5486400"/>
            <a:ext cx="12192000" cy="13157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California,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685800" y="1214436"/>
            <a:ext cx="106426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2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-3428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Char char="▪"/>
            </a:pPr>
            <a:r>
              <a:rPr lang="en-US" sz="3600"/>
              <a:t>Informed Search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Heuristics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Greedy Search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A* Search</a:t>
            </a:r>
            <a:endParaRPr/>
          </a:p>
          <a:p>
            <a:pPr indent="-50786" lvl="2" marL="114294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Char char="▪"/>
            </a:pPr>
            <a:r>
              <a:rPr lang="en-US" sz="3600"/>
              <a:t>Graph Search</a:t>
            </a:r>
            <a:endParaRPr/>
          </a:p>
          <a:p>
            <a:pPr indent="-50786" lvl="2" marL="114294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825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  <a:p>
            <a:pPr indent="-1142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-1142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0380" y="1297622"/>
            <a:ext cx="5682419" cy="441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Search</a:t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873" y="76200"/>
            <a:ext cx="8067052" cy="60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Search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457200" y="1600200"/>
            <a:ext cx="7696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Search problem: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States (configurations of the world)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Actions and costs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Successor function (world dynamics)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Start state and goal test</a:t>
            </a:r>
            <a:endParaRPr/>
          </a:p>
          <a:p>
            <a:pPr indent="-247632" lvl="0" marL="342882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Search tree: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Nodes: represent plans for reaching states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Plans have costs (sum of action costs)</a:t>
            </a:r>
            <a:endParaRPr/>
          </a:p>
          <a:p>
            <a:pPr indent="-247632" lvl="0" marL="342882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Search algorithm: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Systematically builds a search tree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Chooses an ordering of the fringe (unexplored nodes)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Optimal: finds least-cost plans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277" y="514350"/>
            <a:ext cx="616444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Uninformed Search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-457200"/>
            <a:ext cx="9753599" cy="731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8353425" y="4494213"/>
            <a:ext cx="1912937" cy="1771651"/>
          </a:xfrm>
          <a:prstGeom prst="ellipse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745536" y="1412875"/>
            <a:ext cx="1616075" cy="2381251"/>
          </a:xfrm>
          <a:custGeom>
            <a:rect b="b" l="l" r="r" t="t"/>
            <a:pathLst>
              <a:path extrusionOk="0" h="1500" w="1018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1600201"/>
            <a:ext cx="71627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Strategy: expand lowest path cost</a:t>
            </a:r>
            <a:endParaRPr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good: UCS is complete and optimal!</a:t>
            </a:r>
            <a:endParaRPr/>
          </a:p>
          <a:p>
            <a:pPr indent="-1333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bad: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Explores options in every “direction”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 information about goal location</a:t>
            </a:r>
            <a:endParaRPr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30" name="Google Shape;130;p6"/>
          <p:cNvSpPr/>
          <p:nvPr/>
        </p:nvSpPr>
        <p:spPr>
          <a:xfrm>
            <a:off x="9256712" y="5270501"/>
            <a:ext cx="163513" cy="153988"/>
          </a:xfrm>
          <a:prstGeom prst="ellipse">
            <a:avLst/>
          </a:prstGeom>
          <a:solidFill>
            <a:srgbClr val="008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8994774" y="5386389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0183812" y="5292726"/>
            <a:ext cx="163513" cy="153988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0244136" y="5410201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251825" y="1560514"/>
            <a:ext cx="2927351" cy="2554287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374186" y="1916113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850437" y="1906589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9504361" y="1766889"/>
            <a:ext cx="274639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098086" y="2955926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618662" y="3511550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572624" y="2301877"/>
            <a:ext cx="179387" cy="1196975"/>
          </a:xfrm>
          <a:custGeom>
            <a:rect b="b" l="l" r="r" t="t"/>
            <a:pathLst>
              <a:path extrusionOk="0" h="754" w="113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990136" y="2498725"/>
            <a:ext cx="222251" cy="436563"/>
          </a:xfrm>
          <a:custGeom>
            <a:rect b="b" l="l" r="r" t="t"/>
            <a:pathLst>
              <a:path extrusionOk="0" h="275" w="140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605962" y="1490664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034462" y="2395539"/>
            <a:ext cx="1181100" cy="557212"/>
          </a:xfrm>
          <a:custGeom>
            <a:rect b="b" l="l" r="r" t="t"/>
            <a:pathLst>
              <a:path extrusionOk="0" h="351" w="744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290050" y="2127251"/>
            <a:ext cx="747712" cy="293688"/>
          </a:xfrm>
          <a:custGeom>
            <a:rect b="b" l="l" r="r" t="t"/>
            <a:pathLst>
              <a:path extrusionOk="0" h="185" w="471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888412" y="4929189"/>
            <a:ext cx="869951" cy="869951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0528300" y="2495551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0401300" y="2100263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0201274" y="1722439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315200" y="6248400"/>
            <a:ext cx="4841875" cy="646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contours UCS empty (L3D1)]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contours UCS pacman small maze (L3D3)]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</a:t>
            </a:r>
            <a:endParaRPr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691" y="1603435"/>
            <a:ext cx="6463617" cy="426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Heuristics</a:t>
            </a:r>
            <a:endParaRPr/>
          </a:p>
        </p:txBody>
      </p:sp>
      <p:pic>
        <p:nvPicPr>
          <p:cNvPr descr="Z:\Shared with PC\smallMaze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498849"/>
            <a:ext cx="6623051" cy="297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457200" y="1219200"/>
            <a:ext cx="6858000" cy="170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66" lvl="0" marL="3428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heuristic 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66" lvl="1" marL="80002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function that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close a state is to a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66" lvl="1" marL="80002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for a particular search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66" lvl="1" marL="80002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Manhattan distance, Euclidean distance for pathing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8"/>
          <p:cNvGrpSpPr/>
          <p:nvPr/>
        </p:nvGrpSpPr>
        <p:grpSpPr>
          <a:xfrm>
            <a:off x="903293" y="4078286"/>
            <a:ext cx="3025775" cy="1924051"/>
            <a:chOff x="1573306" y="4155142"/>
            <a:chExt cx="3025588" cy="1922929"/>
          </a:xfrm>
        </p:grpSpPr>
        <p:sp>
          <p:nvSpPr>
            <p:cNvPr id="165" name="Google Shape;165;p8"/>
            <p:cNvSpPr/>
            <p:nvPr/>
          </p:nvSpPr>
          <p:spPr>
            <a:xfrm>
              <a:off x="1573306" y="4578757"/>
              <a:ext cx="3025588" cy="1499314"/>
            </a:xfrm>
            <a:custGeom>
              <a:rect b="b" l="l" r="r" t="t"/>
              <a:pathLst>
                <a:path extrusionOk="0" h="1479177" w="3065929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"/>
            <p:cNvSpPr txBox="1"/>
            <p:nvPr/>
          </p:nvSpPr>
          <p:spPr>
            <a:xfrm>
              <a:off x="2164976" y="4155142"/>
              <a:ext cx="441119" cy="369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"/>
            <p:cNvSpPr txBox="1"/>
            <p:nvPr/>
          </p:nvSpPr>
          <p:spPr>
            <a:xfrm>
              <a:off x="1591236" y="4953001"/>
              <a:ext cx="312887" cy="369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8"/>
          <p:cNvGrpSpPr/>
          <p:nvPr/>
        </p:nvGrpSpPr>
        <p:grpSpPr>
          <a:xfrm>
            <a:off x="984257" y="4495801"/>
            <a:ext cx="2978143" cy="1506537"/>
            <a:chOff x="1653989" y="4572529"/>
            <a:chExt cx="2978334" cy="1505542"/>
          </a:xfrm>
        </p:grpSpPr>
        <p:cxnSp>
          <p:nvCxnSpPr>
            <p:cNvPr id="169" name="Google Shape;169;p8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0" name="Google Shape;170;p8"/>
            <p:cNvSpPr txBox="1"/>
            <p:nvPr/>
          </p:nvSpPr>
          <p:spPr>
            <a:xfrm>
              <a:off x="3016625" y="5356413"/>
              <a:ext cx="620787" cy="369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9223" y="1524000"/>
            <a:ext cx="3407831" cy="2300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4116375"/>
            <a:ext cx="3476133" cy="2374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Heuristic Function</a:t>
            </a:r>
            <a:endParaRPr/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9" y="1640445"/>
            <a:ext cx="8329612" cy="4090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/>
          <p:nvPr/>
        </p:nvSpPr>
        <p:spPr>
          <a:xfrm>
            <a:off x="8991600" y="5943600"/>
            <a:ext cx="1143000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458200" y="1600200"/>
            <a:ext cx="1905000" cy="426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-457200"/>
            <a:ext cx="9753599" cy="731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7315200" y="914400"/>
            <a:ext cx="48768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>
            <p:ph type="title"/>
          </p:nvPr>
        </p:nvSpPr>
        <p:spPr>
          <a:xfrm>
            <a:off x="0" y="-25400"/>
            <a:ext cx="944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1066800" y="1439861"/>
            <a:ext cx="8229600" cy="4884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Expand the node that seems closest…</a:t>
            </a:r>
            <a:endParaRPr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What can go wrong?</a:t>
            </a:r>
            <a:endParaRPr/>
          </a:p>
        </p:txBody>
      </p:sp>
      <p:pic>
        <p:nvPicPr>
          <p:cNvPr id="194" name="Google Shape;19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0177" y="2268535"/>
            <a:ext cx="1122363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3993" y="2311399"/>
            <a:ext cx="6535737" cy="13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2394" y="2362200"/>
            <a:ext cx="7877175" cy="2128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9218" y="2343153"/>
            <a:ext cx="7880351" cy="2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200" y="3962400"/>
            <a:ext cx="3238498" cy="242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 rotWithShape="1">
          <a:blip r:embed="rId8">
            <a:alphaModFix/>
          </a:blip>
          <a:srcRect b="0" l="0" r="21802" t="0"/>
          <a:stretch/>
        </p:blipFill>
        <p:spPr>
          <a:xfrm>
            <a:off x="7339093" y="0"/>
            <a:ext cx="4852907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8094662" y="3833812"/>
            <a:ext cx="2884488" cy="2263775"/>
          </a:xfrm>
          <a:custGeom>
            <a:rect b="b" l="l" r="r" t="t"/>
            <a:pathLst>
              <a:path extrusionOk="0" h="1714" w="1817">
                <a:moveTo>
                  <a:pt x="938" y="164"/>
                </a:moveTo>
                <a:cubicBezTo>
                  <a:pt x="1096" y="407"/>
                  <a:pt x="1716" y="1413"/>
                  <a:pt x="1817" y="1625"/>
                </a:cubicBezTo>
                <a:cubicBezTo>
                  <a:pt x="1741" y="1629"/>
                  <a:pt x="1331" y="1650"/>
                  <a:pt x="1054" y="1649"/>
                </a:cubicBezTo>
                <a:cubicBezTo>
                  <a:pt x="1021" y="1539"/>
                  <a:pt x="1101" y="1279"/>
                  <a:pt x="1036" y="1021"/>
                </a:cubicBezTo>
                <a:cubicBezTo>
                  <a:pt x="1008" y="965"/>
                  <a:pt x="973" y="949"/>
                  <a:pt x="897" y="973"/>
                </a:cubicBezTo>
                <a:cubicBezTo>
                  <a:pt x="855" y="963"/>
                  <a:pt x="618" y="1676"/>
                  <a:pt x="586" y="1654"/>
                </a:cubicBezTo>
                <a:cubicBezTo>
                  <a:pt x="468" y="1651"/>
                  <a:pt x="44" y="1714"/>
                  <a:pt x="47" y="1649"/>
                </a:cubicBezTo>
                <a:cubicBezTo>
                  <a:pt x="0" y="1570"/>
                  <a:pt x="165" y="1427"/>
                  <a:pt x="302" y="1181"/>
                </a:cubicBezTo>
                <a:cubicBezTo>
                  <a:pt x="348" y="1005"/>
                  <a:pt x="762" y="338"/>
                  <a:pt x="868" y="169"/>
                </a:cubicBezTo>
                <a:cubicBezTo>
                  <a:pt x="974" y="0"/>
                  <a:pt x="924" y="165"/>
                  <a:pt x="938" y="164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sp>
        <p:nvSpPr>
          <p:cNvPr id="207" name="Google Shape;207;p13"/>
          <p:cNvSpPr txBox="1"/>
          <p:nvPr>
            <p:ph idx="1" type="body"/>
          </p:nvPr>
        </p:nvSpPr>
        <p:spPr>
          <a:xfrm>
            <a:off x="457200" y="1600200"/>
            <a:ext cx="7086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Strategy: expand a node that you think is closest to a goal state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Heuristic: estimate of distance to nearest goal for each state</a:t>
            </a:r>
            <a:endParaRPr/>
          </a:p>
          <a:p>
            <a:pPr indent="-209536" lvl="1" marL="742913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 common case: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Best-first takes you straight to the (wrong) goal</a:t>
            </a:r>
            <a:endParaRPr/>
          </a:p>
          <a:p>
            <a:pPr indent="-266682" lvl="0" marL="34288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66682" lvl="0" marL="34288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Worst-case: like a badly-guided DFS</a:t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9348787" y="1219200"/>
            <a:ext cx="846139" cy="1774825"/>
          </a:xfrm>
          <a:custGeom>
            <a:rect b="b" l="l" r="r" t="t"/>
            <a:pathLst>
              <a:path extrusionOk="0" h="1118" w="533">
                <a:moveTo>
                  <a:pt x="100" y="137"/>
                </a:moveTo>
                <a:cubicBezTo>
                  <a:pt x="172" y="245"/>
                  <a:pt x="395" y="656"/>
                  <a:pt x="464" y="788"/>
                </a:cubicBezTo>
                <a:cubicBezTo>
                  <a:pt x="533" y="920"/>
                  <a:pt x="513" y="858"/>
                  <a:pt x="513" y="928"/>
                </a:cubicBezTo>
                <a:cubicBezTo>
                  <a:pt x="472" y="988"/>
                  <a:pt x="380" y="1118"/>
                  <a:pt x="281" y="991"/>
                </a:cubicBezTo>
                <a:cubicBezTo>
                  <a:pt x="260" y="823"/>
                  <a:pt x="60" y="284"/>
                  <a:pt x="30" y="142"/>
                </a:cubicBezTo>
                <a:cubicBezTo>
                  <a:pt x="0" y="0"/>
                  <a:pt x="32" y="29"/>
                  <a:pt x="100" y="137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8001000" y="1322386"/>
            <a:ext cx="2927351" cy="2108200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9123363" y="1677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9599613" y="1668461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9253537" y="1528763"/>
            <a:ext cx="274639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9236076" y="148272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9637711" y="1281112"/>
            <a:ext cx="298451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9847263" y="2592387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9355137" y="125253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080376" y="3959223"/>
            <a:ext cx="2927351" cy="2062163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202737" y="4314825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678988" y="4305299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9332912" y="4165600"/>
            <a:ext cx="274639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9315451" y="4119561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9717087" y="3917950"/>
            <a:ext cx="298451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9466263" y="5335587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9434513" y="3889375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</a:t>
            </a:r>
            <a:endParaRPr/>
          </a:p>
        </p:txBody>
      </p:sp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069"/>
            <a:ext cx="12034725" cy="752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2495837" y="5435501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5757675" y="5435501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8610599" y="5435489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1" y="2233026"/>
            <a:ext cx="8077198" cy="2487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246;p16"/>
          <p:cNvCxnSpPr>
            <a:stCxn id="247" idx="6"/>
            <a:endCxn id="248" idx="2"/>
          </p:cNvCxnSpPr>
          <p:nvPr/>
        </p:nvCxnSpPr>
        <p:spPr>
          <a:xfrm>
            <a:off x="5029200" y="4038600"/>
            <a:ext cx="1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p16"/>
          <p:cNvCxnSpPr>
            <a:stCxn id="250" idx="4"/>
            <a:endCxn id="247" idx="0"/>
          </p:cNvCxnSpPr>
          <p:nvPr/>
        </p:nvCxnSpPr>
        <p:spPr>
          <a:xfrm flipH="1">
            <a:off x="4800600" y="3352800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Combining UCS and Greedy</a:t>
            </a:r>
            <a:endParaRPr/>
          </a:p>
        </p:txBody>
      </p:sp>
      <p:sp>
        <p:nvSpPr>
          <p:cNvPr id="252" name="Google Shape;252;p16"/>
          <p:cNvSpPr txBox="1"/>
          <p:nvPr>
            <p:ph idx="1" type="body"/>
          </p:nvPr>
        </p:nvSpPr>
        <p:spPr>
          <a:xfrm>
            <a:off x="22098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▪"/>
            </a:pPr>
            <a:r>
              <a:rPr lang="en-US" sz="230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Uniform-cost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orders by path cost, or </a:t>
            </a:r>
            <a:r>
              <a:rPr i="1"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backward cost 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Char char="▪"/>
            </a:pPr>
            <a:r>
              <a:rPr lang="en-US" sz="23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orders by goal proximity, or </a:t>
            </a:r>
            <a:r>
              <a:rPr i="1"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forward cost 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h(n)</a:t>
            </a:r>
            <a:endParaRPr i="1"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Char char="▪"/>
            </a:pPr>
            <a:r>
              <a:rPr lang="en-US" sz="23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orders by the sum: f(n) = g(n) + h(n)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572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7526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45720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4008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1981200" y="4191001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1676400" y="5181601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4800600" y="4343401"/>
            <a:ext cx="685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1066800" y="36417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3276600" y="2286001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1066800" y="4572001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1524000" y="42513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5562600" y="36417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304800" y="4191001"/>
            <a:ext cx="838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6172200" y="4343401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6"/>
          <p:cNvCxnSpPr>
            <a:stCxn id="253" idx="6"/>
            <a:endCxn id="254" idx="2"/>
          </p:cNvCxnSpPr>
          <p:nvPr/>
        </p:nvCxnSpPr>
        <p:spPr>
          <a:xfrm>
            <a:off x="914400" y="4038600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16"/>
          <p:cNvCxnSpPr>
            <a:stCxn id="254" idx="4"/>
            <a:endCxn id="255" idx="0"/>
          </p:cNvCxnSpPr>
          <p:nvPr/>
        </p:nvCxnSpPr>
        <p:spPr>
          <a:xfrm>
            <a:off x="1981200" y="4267200"/>
            <a:ext cx="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16"/>
          <p:cNvCxnSpPr>
            <a:stCxn id="254" idx="0"/>
            <a:endCxn id="250" idx="1"/>
          </p:cNvCxnSpPr>
          <p:nvPr/>
        </p:nvCxnSpPr>
        <p:spPr>
          <a:xfrm rot="-5400000">
            <a:off x="3229200" y="1714500"/>
            <a:ext cx="847500" cy="3343500"/>
          </a:xfrm>
          <a:prstGeom prst="curvedConnector3">
            <a:avLst>
              <a:gd fmla="val 13486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16"/>
          <p:cNvCxnSpPr>
            <a:stCxn id="255" idx="2"/>
            <a:endCxn id="270" idx="6"/>
          </p:cNvCxnSpPr>
          <p:nvPr/>
        </p:nvCxnSpPr>
        <p:spPr>
          <a:xfrm rot="10800000">
            <a:off x="914400" y="4953000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16"/>
          <p:cNvSpPr/>
          <p:nvPr/>
        </p:nvSpPr>
        <p:spPr>
          <a:xfrm>
            <a:off x="457200" y="47244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16"/>
          <p:cNvCxnSpPr>
            <a:stCxn id="254" idx="6"/>
            <a:endCxn id="247" idx="2"/>
          </p:cNvCxnSpPr>
          <p:nvPr/>
        </p:nvCxnSpPr>
        <p:spPr>
          <a:xfrm>
            <a:off x="2209800" y="4038600"/>
            <a:ext cx="236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" name="Google Shape;272;p16"/>
          <p:cNvSpPr txBox="1"/>
          <p:nvPr/>
        </p:nvSpPr>
        <p:spPr>
          <a:xfrm>
            <a:off x="304800" y="51657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3124200" y="36417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5257800" y="2895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5715000" y="2895601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4724400" y="3200401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" name="Google Shape;276;p16"/>
          <p:cNvGrpSpPr/>
          <p:nvPr/>
        </p:nvGrpSpPr>
        <p:grpSpPr>
          <a:xfrm>
            <a:off x="914400" y="4038601"/>
            <a:ext cx="1066800" cy="915988"/>
            <a:chOff x="1392" y="2544"/>
            <a:chExt cx="672" cy="577"/>
          </a:xfrm>
        </p:grpSpPr>
        <p:cxnSp>
          <p:nvCxnSpPr>
            <p:cNvPr id="277" name="Google Shape;277;p16"/>
            <p:cNvCxnSpPr/>
            <p:nvPr/>
          </p:nvCxnSpPr>
          <p:spPr>
            <a:xfrm>
              <a:off x="1392" y="2544"/>
              <a:ext cx="528" cy="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8" name="Google Shape;278;p16"/>
            <p:cNvCxnSpPr/>
            <p:nvPr/>
          </p:nvCxnSpPr>
          <p:spPr>
            <a:xfrm>
              <a:off x="2064" y="2688"/>
              <a:ext cx="0" cy="288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9" name="Google Shape;279;p16"/>
            <p:cNvCxnSpPr/>
            <p:nvPr/>
          </p:nvCxnSpPr>
          <p:spPr>
            <a:xfrm rot="10800000">
              <a:off x="1392" y="3120"/>
              <a:ext cx="528" cy="1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80" name="Google Shape;280;p16"/>
          <p:cNvGrpSpPr/>
          <p:nvPr/>
        </p:nvGrpSpPr>
        <p:grpSpPr>
          <a:xfrm>
            <a:off x="914400" y="2962276"/>
            <a:ext cx="5486400" cy="1076325"/>
            <a:chOff x="1392" y="1872"/>
            <a:chExt cx="3456" cy="678"/>
          </a:xfrm>
        </p:grpSpPr>
        <p:cxnSp>
          <p:nvCxnSpPr>
            <p:cNvPr id="281" name="Google Shape;281;p16"/>
            <p:cNvCxnSpPr/>
            <p:nvPr/>
          </p:nvCxnSpPr>
          <p:spPr>
            <a:xfrm>
              <a:off x="3984" y="2550"/>
              <a:ext cx="864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2" name="Google Shape;282;p16"/>
            <p:cNvCxnSpPr/>
            <p:nvPr/>
          </p:nvCxnSpPr>
          <p:spPr>
            <a:xfrm flipH="1">
              <a:off x="3840" y="2118"/>
              <a:ext cx="432" cy="288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3" name="Google Shape;283;p16"/>
            <p:cNvCxnSpPr/>
            <p:nvPr/>
          </p:nvCxnSpPr>
          <p:spPr>
            <a:xfrm>
              <a:off x="1392" y="2550"/>
              <a:ext cx="528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4" name="Google Shape;284;p16"/>
            <p:cNvCxnSpPr/>
            <p:nvPr/>
          </p:nvCxnSpPr>
          <p:spPr>
            <a:xfrm rot="-5400000">
              <a:off x="2850" y="1086"/>
              <a:ext cx="534" cy="2106"/>
            </a:xfrm>
            <a:prstGeom prst="curvedConnector3">
              <a:avLst>
                <a:gd fmla="val 449438" name="adj1"/>
              </a:avLst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85" name="Google Shape;285;p16"/>
          <p:cNvGrpSpPr/>
          <p:nvPr/>
        </p:nvGrpSpPr>
        <p:grpSpPr>
          <a:xfrm>
            <a:off x="914400" y="4038600"/>
            <a:ext cx="5486400" cy="0"/>
            <a:chOff x="1392" y="2544"/>
            <a:chExt cx="3456" cy="0"/>
          </a:xfrm>
        </p:grpSpPr>
        <p:cxnSp>
          <p:nvCxnSpPr>
            <p:cNvPr id="286" name="Google Shape;286;p16"/>
            <p:cNvCxnSpPr/>
            <p:nvPr/>
          </p:nvCxnSpPr>
          <p:spPr>
            <a:xfrm>
              <a:off x="3984" y="2544"/>
              <a:ext cx="864" cy="0"/>
            </a:xfrm>
            <a:prstGeom prst="straightConnector1">
              <a:avLst/>
            </a:prstGeom>
            <a:noFill/>
            <a:ln cap="flat" cmpd="sng" w="38100">
              <a:solidFill>
                <a:srgbClr val="CC00C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7" name="Google Shape;287;p16"/>
            <p:cNvCxnSpPr/>
            <p:nvPr/>
          </p:nvCxnSpPr>
          <p:spPr>
            <a:xfrm>
              <a:off x="1392" y="2544"/>
              <a:ext cx="528" cy="0"/>
            </a:xfrm>
            <a:prstGeom prst="straightConnector1">
              <a:avLst/>
            </a:prstGeom>
            <a:noFill/>
            <a:ln cap="flat" cmpd="sng" w="38100">
              <a:solidFill>
                <a:srgbClr val="CC00C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8" name="Google Shape;288;p16"/>
            <p:cNvCxnSpPr/>
            <p:nvPr/>
          </p:nvCxnSpPr>
          <p:spPr>
            <a:xfrm>
              <a:off x="2208" y="2544"/>
              <a:ext cx="1488" cy="0"/>
            </a:xfrm>
            <a:prstGeom prst="straightConnector1">
              <a:avLst/>
            </a:prstGeom>
            <a:noFill/>
            <a:ln cap="flat" cmpd="sng" w="38100">
              <a:solidFill>
                <a:srgbClr val="CC00C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89" name="Google Shape;289;p16"/>
          <p:cNvSpPr txBox="1"/>
          <p:nvPr/>
        </p:nvSpPr>
        <p:spPr>
          <a:xfrm>
            <a:off x="9296400" y="6457892"/>
            <a:ext cx="28194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Teg Grenager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9753600" y="2362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9220200" y="2971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8686800" y="3886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8686800" y="4800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0896600" y="3886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9448800" y="3886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0896600" y="4800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9448800" y="4800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0896600" y="5715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16"/>
          <p:cNvCxnSpPr>
            <a:stCxn id="290" idx="4"/>
            <a:endCxn id="291" idx="7"/>
          </p:cNvCxnSpPr>
          <p:nvPr/>
        </p:nvCxnSpPr>
        <p:spPr>
          <a:xfrm flipH="1">
            <a:off x="9610500" y="2819400"/>
            <a:ext cx="371700" cy="219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6"/>
          <p:cNvCxnSpPr>
            <a:stCxn id="291" idx="4"/>
            <a:endCxn id="295" idx="0"/>
          </p:cNvCxnSpPr>
          <p:nvPr/>
        </p:nvCxnSpPr>
        <p:spPr>
          <a:xfrm>
            <a:off x="9448800" y="3429000"/>
            <a:ext cx="22860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16"/>
          <p:cNvCxnSpPr>
            <a:stCxn id="294" idx="4"/>
            <a:endCxn id="296" idx="0"/>
          </p:cNvCxnSpPr>
          <p:nvPr/>
        </p:nvCxnSpPr>
        <p:spPr>
          <a:xfrm>
            <a:off x="11125200" y="43434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6"/>
          <p:cNvCxnSpPr>
            <a:stCxn id="295" idx="4"/>
            <a:endCxn id="297" idx="0"/>
          </p:cNvCxnSpPr>
          <p:nvPr/>
        </p:nvCxnSpPr>
        <p:spPr>
          <a:xfrm>
            <a:off x="9677400" y="43434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6"/>
          <p:cNvCxnSpPr>
            <a:stCxn id="294" idx="0"/>
            <a:endCxn id="291" idx="4"/>
          </p:cNvCxnSpPr>
          <p:nvPr/>
        </p:nvCxnSpPr>
        <p:spPr>
          <a:xfrm rot="10800000">
            <a:off x="9448800" y="3429000"/>
            <a:ext cx="167640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6"/>
          <p:cNvCxnSpPr>
            <a:stCxn id="291" idx="4"/>
            <a:endCxn id="292" idx="0"/>
          </p:cNvCxnSpPr>
          <p:nvPr/>
        </p:nvCxnSpPr>
        <p:spPr>
          <a:xfrm flipH="1">
            <a:off x="8915400" y="3429000"/>
            <a:ext cx="53340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6"/>
          <p:cNvCxnSpPr>
            <a:stCxn id="292" idx="4"/>
            <a:endCxn id="293" idx="0"/>
          </p:cNvCxnSpPr>
          <p:nvPr/>
        </p:nvCxnSpPr>
        <p:spPr>
          <a:xfrm>
            <a:off x="8915400" y="43434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6"/>
          <p:cNvCxnSpPr>
            <a:stCxn id="296" idx="4"/>
            <a:endCxn id="298" idx="0"/>
          </p:cNvCxnSpPr>
          <p:nvPr/>
        </p:nvCxnSpPr>
        <p:spPr>
          <a:xfrm>
            <a:off x="11125200" y="52578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6"/>
          <p:cNvSpPr txBox="1"/>
          <p:nvPr/>
        </p:nvSpPr>
        <p:spPr>
          <a:xfrm>
            <a:off x="10287000" y="22098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0 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8458200" y="2797316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1 h=5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7848600" y="37338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2 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7848600" y="4626116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3 h=7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9829800" y="38100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4 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9829800" y="46482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6 h=0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11277600" y="3711716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9 h=1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11277600" y="4702316"/>
            <a:ext cx="9144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10 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1277600" y="5562600"/>
            <a:ext cx="9144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12 h=0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5a5f0e809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22" name="Google Shape;322;g3c5a5f0e809_0_0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state space graph where S is the start state and G is the goal state. h represents the heuristic values of the states. Show the expansion path, solution path and the associated actual path cost for greedy best first search, A* tree search.</a:t>
            </a:r>
            <a:endParaRPr sz="3700"/>
          </a:p>
        </p:txBody>
      </p:sp>
      <p:pic>
        <p:nvPicPr>
          <p:cNvPr id="323" name="Google Shape;323;g3c5a5f0e80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625" y="2443450"/>
            <a:ext cx="25622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When should A* terminate?</a:t>
            </a:r>
            <a:endParaRPr/>
          </a:p>
        </p:txBody>
      </p:sp>
      <p:sp>
        <p:nvSpPr>
          <p:cNvPr id="329" name="Google Shape;329;p17"/>
          <p:cNvSpPr txBox="1"/>
          <p:nvPr>
            <p:ph idx="1" type="body"/>
          </p:nvPr>
        </p:nvSpPr>
        <p:spPr>
          <a:xfrm>
            <a:off x="2209800" y="1447800"/>
            <a:ext cx="9728200" cy="4105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Should we stop when we enqueue a goal?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No: only stop when we dequeue a goal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3276600" y="3505200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5867400" y="4419600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867400" y="2528888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8382000" y="3519488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7"/>
          <p:cNvCxnSpPr/>
          <p:nvPr/>
        </p:nvCxnSpPr>
        <p:spPr>
          <a:xfrm>
            <a:off x="6477000" y="2819400"/>
            <a:ext cx="19050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17"/>
          <p:cNvCxnSpPr/>
          <p:nvPr/>
        </p:nvCxnSpPr>
        <p:spPr>
          <a:xfrm flipH="1">
            <a:off x="3886200" y="2819400"/>
            <a:ext cx="19812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36" name="Google Shape;336;p17"/>
          <p:cNvCxnSpPr/>
          <p:nvPr/>
        </p:nvCxnSpPr>
        <p:spPr>
          <a:xfrm>
            <a:off x="3886200" y="3962400"/>
            <a:ext cx="19812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" name="Google Shape;337;p17"/>
          <p:cNvCxnSpPr/>
          <p:nvPr/>
        </p:nvCxnSpPr>
        <p:spPr>
          <a:xfrm flipH="1">
            <a:off x="6477000" y="3962400"/>
            <a:ext cx="19050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38" name="Google Shape;338;p17"/>
          <p:cNvSpPr txBox="1"/>
          <p:nvPr/>
        </p:nvSpPr>
        <p:spPr>
          <a:xfrm>
            <a:off x="4572000" y="2667000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7315200" y="4433888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7315200" y="2681288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4572000" y="4419600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5867400" y="50408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5867400" y="21452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7620000" y="35930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3962400" y="35930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Is A* Optimal?</a:t>
            </a:r>
            <a:endParaRPr/>
          </a:p>
        </p:txBody>
      </p:sp>
      <p:sp>
        <p:nvSpPr>
          <p:cNvPr id="351" name="Google Shape;351;p18"/>
          <p:cNvSpPr txBox="1"/>
          <p:nvPr>
            <p:ph idx="1" type="body"/>
          </p:nvPr>
        </p:nvSpPr>
        <p:spPr>
          <a:xfrm>
            <a:off x="2209800" y="5181599"/>
            <a:ext cx="9575800" cy="9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went wrong?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Actual bad goal cost &lt; estimated good goal cost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 need estimates to be less than actual costs!</a:t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5791200" y="1752598"/>
            <a:ext cx="609600" cy="571501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8763000" y="3238499"/>
            <a:ext cx="609600" cy="571501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2819400" y="3124198"/>
            <a:ext cx="609600" cy="571501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3886200" y="1752599"/>
            <a:ext cx="457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 txBox="1"/>
          <p:nvPr/>
        </p:nvSpPr>
        <p:spPr>
          <a:xfrm>
            <a:off x="7848600" y="1752599"/>
            <a:ext cx="457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5715000" y="1295399"/>
            <a:ext cx="9144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9448800" y="3288269"/>
            <a:ext cx="9144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0" y="4038600"/>
            <a:ext cx="12192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3505200" y="3200399"/>
            <a:ext cx="7620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18"/>
          <p:cNvCxnSpPr>
            <a:stCxn id="354" idx="2"/>
            <a:endCxn id="353" idx="2"/>
          </p:cNvCxnSpPr>
          <p:nvPr/>
        </p:nvCxnSpPr>
        <p:spPr>
          <a:xfrm flipH="1" rot="-5400000">
            <a:off x="6038850" y="781049"/>
            <a:ext cx="114300" cy="5943600"/>
          </a:xfrm>
          <a:prstGeom prst="curvedConnector3">
            <a:avLst>
              <a:gd fmla="val 792311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62" name="Google Shape;362;p18"/>
          <p:cNvCxnSpPr>
            <a:stCxn id="354" idx="0"/>
            <a:endCxn id="352" idx="1"/>
          </p:cNvCxnSpPr>
          <p:nvPr/>
        </p:nvCxnSpPr>
        <p:spPr>
          <a:xfrm rot="-5400000">
            <a:off x="3914850" y="1247848"/>
            <a:ext cx="1085700" cy="2667000"/>
          </a:xfrm>
          <a:prstGeom prst="curved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63" name="Google Shape;363;p18"/>
          <p:cNvCxnSpPr>
            <a:stCxn id="352" idx="3"/>
            <a:endCxn id="353" idx="0"/>
          </p:cNvCxnSpPr>
          <p:nvPr/>
        </p:nvCxnSpPr>
        <p:spPr>
          <a:xfrm>
            <a:off x="6400800" y="2038349"/>
            <a:ext cx="2667000" cy="1200300"/>
          </a:xfrm>
          <a:prstGeom prst="curved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pic>
        <p:nvPicPr>
          <p:cNvPr id="369" name="Google Shape;3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6543" y="1219379"/>
            <a:ext cx="6398914" cy="483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Idea: Admissibility</a:t>
            </a:r>
            <a:endParaRPr/>
          </a:p>
        </p:txBody>
      </p:sp>
      <p:sp>
        <p:nvSpPr>
          <p:cNvPr id="375" name="Google Shape;375;p2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76" name="Google Shape;3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68" y="1143000"/>
            <a:ext cx="5555264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1595" y="1143152"/>
            <a:ext cx="5397497" cy="40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0"/>
          <p:cNvSpPr txBox="1"/>
          <p:nvPr/>
        </p:nvSpPr>
        <p:spPr>
          <a:xfrm>
            <a:off x="457200" y="5257800"/>
            <a:ext cx="55626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dmissible (pessimistic) heuristics break optimality by trapping good plans on the fringe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6477000" y="5257800"/>
            <a:ext cx="55626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Admissible (optimistic) heuristics slow down bad plans but never outweigh true costs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385" name="Google Shape;385;p21"/>
          <p:cNvSpPr txBox="1"/>
          <p:nvPr>
            <p:ph idx="1" type="body"/>
          </p:nvPr>
        </p:nvSpPr>
        <p:spPr>
          <a:xfrm>
            <a:off x="457200" y="1219200"/>
            <a:ext cx="11277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A heuristic </a:t>
            </a:r>
            <a:r>
              <a:rPr i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/>
              <a:t> is </a:t>
            </a:r>
            <a:r>
              <a:rPr i="1" lang="en-US">
                <a:solidFill>
                  <a:srgbClr val="C00000"/>
                </a:solidFill>
              </a:rPr>
              <a:t>admissible</a:t>
            </a:r>
            <a:r>
              <a:rPr i="1" lang="en-US"/>
              <a:t> </a:t>
            </a:r>
            <a:r>
              <a:rPr lang="en-US"/>
              <a:t>(optimistic) if:</a:t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/>
              <a:t>	where               is the true cost to a nearest goal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Example: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Coming up with admissible heuristics is most of what’s involved in using A* in practice.</a:t>
            </a:r>
            <a:endParaRPr/>
          </a:p>
        </p:txBody>
      </p:sp>
      <p:pic>
        <p:nvPicPr>
          <p:cNvPr descr="txp_fig" id="386" name="Google Shape;3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133600"/>
            <a:ext cx="3130785" cy="403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87" name="Google Shape;3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2949575"/>
            <a:ext cx="979488" cy="403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21"/>
          <p:cNvGrpSpPr/>
          <p:nvPr/>
        </p:nvGrpSpPr>
        <p:grpSpPr>
          <a:xfrm>
            <a:off x="3314701" y="3962400"/>
            <a:ext cx="2663825" cy="1196975"/>
            <a:chOff x="4724400" y="4114800"/>
            <a:chExt cx="2663541" cy="1197700"/>
          </a:xfrm>
        </p:grpSpPr>
        <p:pic>
          <p:nvPicPr>
            <p:cNvPr descr="Z:\Shared with PC\smallMaze.png" id="389" name="Google Shape;389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24400" y="4114800"/>
              <a:ext cx="2663541" cy="1197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90" name="Google Shape;390;p21"/>
            <p:cNvCxnSpPr/>
            <p:nvPr/>
          </p:nvCxnSpPr>
          <p:spPr>
            <a:xfrm flipH="1">
              <a:off x="4952976" y="4553215"/>
              <a:ext cx="1125418" cy="19062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" name="Google Shape;391;p21"/>
            <p:cNvSpPr txBox="1"/>
            <p:nvPr/>
          </p:nvSpPr>
          <p:spPr>
            <a:xfrm>
              <a:off x="5105401" y="4648200"/>
              <a:ext cx="548590" cy="523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2" name="Google Shape;392;p21"/>
            <p:cNvCxnSpPr/>
            <p:nvPr/>
          </p:nvCxnSpPr>
          <p:spPr>
            <a:xfrm rot="5400000">
              <a:off x="4648785" y="4876468"/>
              <a:ext cx="609969" cy="1588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Creating Heuristics</a:t>
            </a:r>
            <a:endParaRPr/>
          </a:p>
        </p:txBody>
      </p:sp>
      <p:pic>
        <p:nvPicPr>
          <p:cNvPr id="398" name="Google Shape;3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1600200"/>
            <a:ext cx="5714999" cy="458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Creating Admissible Heuristics</a:t>
            </a:r>
            <a:endParaRPr/>
          </a:p>
        </p:txBody>
      </p:sp>
      <p:sp>
        <p:nvSpPr>
          <p:cNvPr id="404" name="Google Shape;404;p23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Most of the work in solving hard search problems optimally is in coming up with admissible heuristics</a:t>
            </a:r>
            <a:endParaRPr/>
          </a:p>
          <a:p>
            <a:pPr indent="-126986" lvl="3" marL="160012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Often, admissible heuristics are solutions to </a:t>
            </a:r>
            <a:r>
              <a:rPr i="1" lang="en-US" sz="2800"/>
              <a:t>relaxed problems, </a:t>
            </a:r>
            <a:r>
              <a:rPr lang="en-US" sz="2800"/>
              <a:t>where new actions are available</a:t>
            </a:r>
            <a:endParaRPr i="1" sz="2800"/>
          </a:p>
          <a:p>
            <a:pPr indent="-101586" lvl="2" marL="114294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Inadmissible heuristics are often useful too</a:t>
            </a:r>
            <a:endParaRPr/>
          </a:p>
        </p:txBody>
      </p:sp>
      <p:grpSp>
        <p:nvGrpSpPr>
          <p:cNvPr id="405" name="Google Shape;405;p23"/>
          <p:cNvGrpSpPr/>
          <p:nvPr/>
        </p:nvGrpSpPr>
        <p:grpSpPr>
          <a:xfrm>
            <a:off x="6553200" y="3919078"/>
            <a:ext cx="3657600" cy="1643522"/>
            <a:chOff x="5067016" y="4038600"/>
            <a:chExt cx="2663541" cy="1197700"/>
          </a:xfrm>
        </p:grpSpPr>
        <p:pic>
          <p:nvPicPr>
            <p:cNvPr descr="Z:\Shared with PC\smallMaze.png" id="406" name="Google Shape;40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7016" y="4038600"/>
              <a:ext cx="2663541" cy="1197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7" name="Google Shape;407;p23"/>
            <p:cNvCxnSpPr/>
            <p:nvPr/>
          </p:nvCxnSpPr>
          <p:spPr>
            <a:xfrm flipH="1">
              <a:off x="5236861" y="4473838"/>
              <a:ext cx="1125417" cy="19062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8" name="Google Shape;408;p23"/>
            <p:cNvSpPr txBox="1"/>
            <p:nvPr/>
          </p:nvSpPr>
          <p:spPr>
            <a:xfrm>
              <a:off x="5388658" y="4569096"/>
              <a:ext cx="399537" cy="38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9" name="Google Shape;409;p23"/>
            <p:cNvCxnSpPr/>
            <p:nvPr/>
          </p:nvCxnSpPr>
          <p:spPr>
            <a:xfrm rot="5400000">
              <a:off x="4931082" y="4797091"/>
              <a:ext cx="609969" cy="1588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10" name="Google Shape;410;p23"/>
          <p:cNvGrpSpPr/>
          <p:nvPr/>
        </p:nvGrpSpPr>
        <p:grpSpPr>
          <a:xfrm>
            <a:off x="2438400" y="3886200"/>
            <a:ext cx="2819399" cy="1786100"/>
            <a:chOff x="2743201" y="4111625"/>
            <a:chExt cx="2170113" cy="1374775"/>
          </a:xfrm>
        </p:grpSpPr>
        <p:pic>
          <p:nvPicPr>
            <p:cNvPr id="411" name="Google Shape;411;p23"/>
            <p:cNvPicPr preferRelativeResize="0"/>
            <p:nvPr/>
          </p:nvPicPr>
          <p:blipFill rotWithShape="1">
            <a:blip r:embed="rId4">
              <a:alphaModFix/>
            </a:blip>
            <a:srcRect b="0" l="0" r="22440" t="0"/>
            <a:stretch/>
          </p:blipFill>
          <p:spPr>
            <a:xfrm>
              <a:off x="2743201" y="4111625"/>
              <a:ext cx="2170113" cy="1374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2" name="Google Shape;412;p23"/>
            <p:cNvCxnSpPr/>
            <p:nvPr/>
          </p:nvCxnSpPr>
          <p:spPr>
            <a:xfrm>
              <a:off x="2895600" y="4492623"/>
              <a:ext cx="1295400" cy="685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3" name="Google Shape;413;p23"/>
          <p:cNvSpPr txBox="1"/>
          <p:nvPr/>
        </p:nvSpPr>
        <p:spPr>
          <a:xfrm>
            <a:off x="1752600" y="4191000"/>
            <a:ext cx="990600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8 Puzzle</a:t>
            </a:r>
            <a:endParaRPr/>
          </a:p>
        </p:txBody>
      </p:sp>
      <p:sp>
        <p:nvSpPr>
          <p:cNvPr id="419" name="Google Shape;419;p24"/>
          <p:cNvSpPr txBox="1"/>
          <p:nvPr>
            <p:ph idx="1" type="body"/>
          </p:nvPr>
        </p:nvSpPr>
        <p:spPr>
          <a:xfrm>
            <a:off x="685800" y="4495800"/>
            <a:ext cx="6781800" cy="163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are the states?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many states?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are the actions?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many successors from the start state?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should the costs be?</a:t>
            </a:r>
            <a:endParaRPr/>
          </a:p>
        </p:txBody>
      </p:sp>
      <p:grpSp>
        <p:nvGrpSpPr>
          <p:cNvPr id="420" name="Google Shape;420;p24"/>
          <p:cNvGrpSpPr/>
          <p:nvPr/>
        </p:nvGrpSpPr>
        <p:grpSpPr>
          <a:xfrm>
            <a:off x="3424733" y="838200"/>
            <a:ext cx="5338267" cy="4584642"/>
            <a:chOff x="6387246" y="1371600"/>
            <a:chExt cx="6033354" cy="5181600"/>
          </a:xfrm>
        </p:grpSpPr>
        <p:pic>
          <p:nvPicPr>
            <p:cNvPr id="421" name="Google Shape;42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87246" y="1371600"/>
              <a:ext cx="5789731" cy="4838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24"/>
            <p:cNvSpPr/>
            <p:nvPr/>
          </p:nvSpPr>
          <p:spPr>
            <a:xfrm>
              <a:off x="10515600" y="4724400"/>
              <a:ext cx="1905000" cy="182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3" name="Google Shape;4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618" y="1220185"/>
            <a:ext cx="2969363" cy="254342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4"/>
          <p:cNvSpPr txBox="1"/>
          <p:nvPr/>
        </p:nvSpPr>
        <p:spPr>
          <a:xfrm>
            <a:off x="1219200" y="3733800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9525000" y="3733800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8745" y="1219462"/>
            <a:ext cx="3044108" cy="254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4"/>
          <p:cNvSpPr txBox="1"/>
          <p:nvPr/>
        </p:nvSpPr>
        <p:spPr>
          <a:xfrm>
            <a:off x="6019800" y="3733800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Puzzle I</a:t>
            </a:r>
            <a:endParaRPr/>
          </a:p>
        </p:txBody>
      </p:sp>
      <p:sp>
        <p:nvSpPr>
          <p:cNvPr id="433" name="Google Shape;433;p25"/>
          <p:cNvSpPr txBox="1"/>
          <p:nvPr>
            <p:ph idx="1" type="body"/>
          </p:nvPr>
        </p:nvSpPr>
        <p:spPr>
          <a:xfrm>
            <a:off x="381000" y="1295400"/>
            <a:ext cx="6324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Heuristic: Number of tiles misplaced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Why is it admissible?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h(start) =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This is a </a:t>
            </a:r>
            <a:r>
              <a:rPr i="1" lang="en-US" sz="2800"/>
              <a:t>relaxed-problem</a:t>
            </a:r>
            <a:r>
              <a:rPr lang="en-US" sz="2800"/>
              <a:t> heuristic</a:t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2133600" y="2286000"/>
            <a:ext cx="990600" cy="584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5" name="Google Shape;435;p25"/>
          <p:cNvGraphicFramePr/>
          <p:nvPr/>
        </p:nvGraphicFramePr>
        <p:xfrm>
          <a:off x="6400800" y="41125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{49F2C68E-0FCC-4BEB-9A5C-581C7032EADC}</a:tableStyleId>
              </a:tblPr>
              <a:tblGrid>
                <a:gridCol w="990600"/>
                <a:gridCol w="1295400"/>
                <a:gridCol w="1295400"/>
                <a:gridCol w="1447800"/>
              </a:tblGrid>
              <a:tr h="7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nodes expanded when the optimal path has…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 hMerge="1"/>
                <a:tc hMerge="1"/>
              </a:tr>
              <a:tr h="39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…4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…8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…12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UCS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6,300</a:t>
                      </a:r>
                      <a:endParaRPr b="0" baseline="3000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 x 10</a:t>
                      </a:r>
                      <a:r>
                        <a:rPr b="0" baseline="3000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pic>
        <p:nvPicPr>
          <p:cNvPr id="436" name="Google Shape;4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890" y="3489471"/>
            <a:ext cx="5510086" cy="31381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25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438" name="Google Shape;438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1" y="1219446"/>
              <a:ext cx="6113461" cy="254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25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Start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5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Goal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25"/>
          <p:cNvSpPr txBox="1"/>
          <p:nvPr/>
        </p:nvSpPr>
        <p:spPr>
          <a:xfrm>
            <a:off x="9067800" y="6553200"/>
            <a:ext cx="3124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from Andrew Moore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Puzzle II</a:t>
            </a:r>
            <a:endParaRPr/>
          </a:p>
        </p:txBody>
      </p:sp>
      <p:sp>
        <p:nvSpPr>
          <p:cNvPr id="447" name="Google Shape;447;p26"/>
          <p:cNvSpPr txBox="1"/>
          <p:nvPr>
            <p:ph idx="1" type="body"/>
          </p:nvPr>
        </p:nvSpPr>
        <p:spPr>
          <a:xfrm>
            <a:off x="457200" y="1600201"/>
            <a:ext cx="5867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if we had an easier 8-puzzle where any tile could slide any direction at any time, ignoring other tiles?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Total </a:t>
            </a:r>
            <a:r>
              <a:rPr i="1" lang="en-US" sz="2400"/>
              <a:t>Manhattan </a:t>
            </a:r>
            <a:r>
              <a:rPr lang="en-US" sz="2400"/>
              <a:t>distance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is it admissible?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h(start) =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48" name="Google Shape;448;p26"/>
          <p:cNvSpPr txBox="1"/>
          <p:nvPr/>
        </p:nvSpPr>
        <p:spPr>
          <a:xfrm>
            <a:off x="2133600" y="4648200"/>
            <a:ext cx="4800600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 + 1 + 2 + … = 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9" name="Google Shape;449;p26"/>
          <p:cNvGraphicFramePr/>
          <p:nvPr/>
        </p:nvGraphicFramePr>
        <p:xfrm>
          <a:off x="5791200" y="42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{49F2C68E-0FCC-4BEB-9A5C-581C7032EADC}</a:tableStyleId>
              </a:tblPr>
              <a:tblGrid>
                <a:gridCol w="1853025"/>
                <a:gridCol w="1295400"/>
                <a:gridCol w="1295400"/>
                <a:gridCol w="1447800"/>
              </a:tblGrid>
              <a:tr h="7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nodes expanded when the optimal path has…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 hMerge="1"/>
                <a:tc hMerge="1"/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…4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…8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…12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MANHATTAN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grpSp>
        <p:nvGrpSpPr>
          <p:cNvPr id="450" name="Google Shape;450;p26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451" name="Google Shape;45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401" y="1219446"/>
              <a:ext cx="6113461" cy="254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26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Start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6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Goal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Puzzle III</a:t>
            </a:r>
            <a:endParaRPr/>
          </a:p>
        </p:txBody>
      </p:sp>
      <p:sp>
        <p:nvSpPr>
          <p:cNvPr id="459" name="Google Shape;459;p27"/>
          <p:cNvSpPr txBox="1"/>
          <p:nvPr>
            <p:ph idx="1" type="body"/>
          </p:nvPr>
        </p:nvSpPr>
        <p:spPr>
          <a:xfrm>
            <a:off x="406400" y="1397001"/>
            <a:ext cx="11099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How about using the </a:t>
            </a:r>
            <a:r>
              <a:rPr i="1" lang="en-US" sz="2800"/>
              <a:t>actual cost</a:t>
            </a:r>
            <a:r>
              <a:rPr lang="en-US" sz="2800"/>
              <a:t> as a heuristic?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Would it be admissible?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Would we save on nodes expanded?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What’s wrong with it?</a:t>
            </a:r>
            <a:endParaRPr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With A*: a trade-off between quality of estimate and work per node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 heuristics get closer to the true cost, you will expand fewer nodes but usually do more work per node to compute the heuristic itself</a:t>
            </a:r>
            <a:endParaRPr/>
          </a:p>
        </p:txBody>
      </p:sp>
      <p:pic>
        <p:nvPicPr>
          <p:cNvPr id="460" name="Google Shape;4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1138" y="1880138"/>
            <a:ext cx="5021261" cy="19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8"/>
          <p:cNvSpPr txBox="1"/>
          <p:nvPr>
            <p:ph type="title"/>
          </p:nvPr>
        </p:nvSpPr>
        <p:spPr>
          <a:xfrm>
            <a:off x="0" y="25908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/>
              <a:t>Semi-Lattice of Heuristics</a:t>
            </a:r>
            <a:endParaRPr/>
          </a:p>
        </p:txBody>
      </p:sp>
      <p:sp>
        <p:nvSpPr>
          <p:cNvPr id="466" name="Google Shape;466;p28"/>
          <p:cNvSpPr/>
          <p:nvPr/>
        </p:nvSpPr>
        <p:spPr>
          <a:xfrm>
            <a:off x="0" y="914400"/>
            <a:ext cx="121920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Trivial Heuristics, Dominance</a:t>
            </a:r>
            <a:endParaRPr/>
          </a:p>
        </p:txBody>
      </p:sp>
      <p:sp>
        <p:nvSpPr>
          <p:cNvPr id="473" name="Google Shape;473;p29"/>
          <p:cNvSpPr txBox="1"/>
          <p:nvPr>
            <p:ph idx="1" type="body"/>
          </p:nvPr>
        </p:nvSpPr>
        <p:spPr>
          <a:xfrm>
            <a:off x="1219200" y="1524000"/>
            <a:ext cx="5715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Dominance: h</a:t>
            </a:r>
            <a:r>
              <a:rPr baseline="-25000" lang="en-US" sz="2400"/>
              <a:t>a</a:t>
            </a:r>
            <a:r>
              <a:rPr lang="en-US" sz="2400"/>
              <a:t> ≥ h</a:t>
            </a:r>
            <a:r>
              <a:rPr baseline="-25000" lang="en-US" sz="2400"/>
              <a:t>c</a:t>
            </a:r>
            <a:r>
              <a:rPr lang="en-US" sz="2400"/>
              <a:t> if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Heuristics form a semi-lattice: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Max of admissible heuristics is admissible</a:t>
            </a:r>
            <a:endParaRPr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Trivial heuristics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Bottom of lattice is the zero heuristic (what does this give us?)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Top of lattice is the exact heuristic</a:t>
            </a:r>
            <a:endParaRPr/>
          </a:p>
        </p:txBody>
      </p:sp>
      <p:pic>
        <p:nvPicPr>
          <p:cNvPr descr="txp_fig" id="474" name="Google Shape;4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1" y="3886200"/>
            <a:ext cx="4379913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75" name="Google Shape;4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975" y="2133601"/>
            <a:ext cx="3098800" cy="352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29"/>
          <p:cNvGrpSpPr/>
          <p:nvPr/>
        </p:nvGrpSpPr>
        <p:grpSpPr>
          <a:xfrm>
            <a:off x="8229600" y="1716338"/>
            <a:ext cx="2133600" cy="4227262"/>
            <a:chOff x="9344024" y="1905002"/>
            <a:chExt cx="1781176" cy="3529011"/>
          </a:xfrm>
        </p:grpSpPr>
        <p:pic>
          <p:nvPicPr>
            <p:cNvPr descr="txp_fig" id="477" name="Google Shape;477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25023" y="1905002"/>
              <a:ext cx="862013" cy="24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478" name="Google Shape;478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01223" y="5257800"/>
              <a:ext cx="720725" cy="176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479" name="Google Shape;479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344024" y="3505200"/>
              <a:ext cx="350839" cy="298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480" name="Google Shape;480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791825" y="3505201"/>
              <a:ext cx="333375" cy="350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481" name="Google Shape;481;p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344024" y="4349749"/>
              <a:ext cx="350839" cy="29845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2" name="Google Shape;482;p29"/>
            <p:cNvCxnSpPr/>
            <p:nvPr/>
          </p:nvCxnSpPr>
          <p:spPr>
            <a:xfrm rot="10800000">
              <a:off x="9572623" y="4800600"/>
              <a:ext cx="457200" cy="3048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29"/>
            <p:cNvCxnSpPr/>
            <p:nvPr/>
          </p:nvCxnSpPr>
          <p:spPr>
            <a:xfrm flipH="1" rot="10800000">
              <a:off x="10334623" y="3962400"/>
              <a:ext cx="533400" cy="11430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29"/>
            <p:cNvCxnSpPr/>
            <p:nvPr/>
          </p:nvCxnSpPr>
          <p:spPr>
            <a:xfrm rot="10800000">
              <a:off x="9496423" y="3962400"/>
              <a:ext cx="0" cy="3048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29"/>
            <p:cNvCxnSpPr/>
            <p:nvPr/>
          </p:nvCxnSpPr>
          <p:spPr>
            <a:xfrm flipH="1" rot="10800000">
              <a:off x="9496423" y="3124200"/>
              <a:ext cx="685800" cy="2286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29"/>
            <p:cNvCxnSpPr/>
            <p:nvPr/>
          </p:nvCxnSpPr>
          <p:spPr>
            <a:xfrm rot="10800000">
              <a:off x="10182223" y="3124200"/>
              <a:ext cx="762000" cy="2286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29"/>
            <p:cNvCxnSpPr/>
            <p:nvPr/>
          </p:nvCxnSpPr>
          <p:spPr>
            <a:xfrm rot="10800000">
              <a:off x="10182223" y="2286000"/>
              <a:ext cx="0" cy="2286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descr="txp_fig" id="488" name="Google Shape;488;p2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20224" y="2732089"/>
              <a:ext cx="1560513" cy="295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a464f938d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da464f938d_0_0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6" name="Google Shape;496;g3da464f938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850"/>
            <a:ext cx="12192000" cy="66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a464f938d_0_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da464f938d_0_7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g3da464f938d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450" y="159987"/>
            <a:ext cx="10610100" cy="653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Search</a:t>
            </a:r>
            <a:endParaRPr/>
          </a:p>
        </p:txBody>
      </p:sp>
      <p:sp>
        <p:nvSpPr>
          <p:cNvPr id="510" name="Google Shape;510;p3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11" name="Google Shape;5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00552"/>
            <a:ext cx="9932986" cy="440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 txBox="1"/>
          <p:nvPr>
            <p:ph idx="1" type="body"/>
          </p:nvPr>
        </p:nvSpPr>
        <p:spPr>
          <a:xfrm>
            <a:off x="406400" y="1295400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Failure to detect repeated states can cause exponentially more work.  </a:t>
            </a:r>
            <a:endParaRPr/>
          </a:p>
        </p:txBody>
      </p:sp>
      <p:sp>
        <p:nvSpPr>
          <p:cNvPr id="517" name="Google Shape;517;p31"/>
          <p:cNvSpPr/>
          <p:nvPr/>
        </p:nvSpPr>
        <p:spPr>
          <a:xfrm>
            <a:off x="6172200" y="2041711"/>
            <a:ext cx="4889500" cy="3880103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936947" y="2035612"/>
            <a:ext cx="3886200" cy="3886200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1"/>
          <p:cNvSpPr txBox="1"/>
          <p:nvPr/>
        </p:nvSpPr>
        <p:spPr>
          <a:xfrm>
            <a:off x="6184898" y="2198192"/>
            <a:ext cx="4876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1"/>
          <p:cNvSpPr txBox="1"/>
          <p:nvPr/>
        </p:nvSpPr>
        <p:spPr>
          <a:xfrm>
            <a:off x="1165547" y="2121992"/>
            <a:ext cx="3429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Search: Extra Work!</a:t>
            </a:r>
            <a:endParaRPr/>
          </a:p>
        </p:txBody>
      </p:sp>
      <p:pic>
        <p:nvPicPr>
          <p:cNvPr id="522" name="Google Shape;522;p31"/>
          <p:cNvPicPr preferRelativeResize="0"/>
          <p:nvPr/>
        </p:nvPicPr>
        <p:blipFill rotWithShape="1">
          <a:blip r:embed="rId3">
            <a:alphaModFix/>
          </a:blip>
          <a:srcRect b="2207" l="610" r="64739" t="2839"/>
          <a:stretch/>
        </p:blipFill>
        <p:spPr>
          <a:xfrm>
            <a:off x="1371600" y="2514600"/>
            <a:ext cx="3048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1"/>
          <p:cNvPicPr preferRelativeResize="0"/>
          <p:nvPr/>
        </p:nvPicPr>
        <p:blipFill rotWithShape="1">
          <a:blip r:embed="rId4">
            <a:alphaModFix/>
          </a:blip>
          <a:srcRect b="15456" l="48026" r="2597" t="5048"/>
          <a:stretch/>
        </p:blipFill>
        <p:spPr>
          <a:xfrm>
            <a:off x="6477000" y="2819400"/>
            <a:ext cx="43434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Graph Search</a:t>
            </a:r>
            <a:endParaRPr/>
          </a:p>
        </p:txBody>
      </p:sp>
      <p:sp>
        <p:nvSpPr>
          <p:cNvPr id="529" name="Google Shape;529;p32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In BFS, for example, we shouldn’t bother expanding the circled nodes (why?)</a:t>
            </a:r>
            <a:endParaRPr/>
          </a:p>
        </p:txBody>
      </p:sp>
      <p:grpSp>
        <p:nvGrpSpPr>
          <p:cNvPr id="530" name="Google Shape;530;p32"/>
          <p:cNvGrpSpPr/>
          <p:nvPr/>
        </p:nvGrpSpPr>
        <p:grpSpPr>
          <a:xfrm>
            <a:off x="3352800" y="2435610"/>
            <a:ext cx="5486400" cy="3355590"/>
            <a:chOff x="48" y="2332"/>
            <a:chExt cx="3456" cy="2406"/>
          </a:xfrm>
        </p:grpSpPr>
        <p:sp>
          <p:nvSpPr>
            <p:cNvPr id="531" name="Google Shape;531;p32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2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2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2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2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2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2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8" name="Google Shape;538;p32"/>
            <p:cNvCxnSpPr>
              <a:stCxn id="534" idx="2"/>
              <a:endCxn id="533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32"/>
            <p:cNvCxnSpPr>
              <a:stCxn id="534" idx="2"/>
              <a:endCxn id="537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0" name="Google Shape;540;p32"/>
            <p:cNvCxnSpPr>
              <a:stCxn id="533" idx="2"/>
              <a:endCxn id="532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32"/>
            <p:cNvCxnSpPr>
              <a:stCxn id="537" idx="2"/>
              <a:endCxn id="536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42" name="Google Shape;542;p32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543" name="Google Shape;543;p3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3" name="Google Shape;553;p32"/>
              <p:cNvCxnSpPr>
                <a:stCxn id="543" idx="2"/>
                <a:endCxn id="545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32"/>
              <p:cNvCxnSpPr>
                <a:stCxn id="543" idx="2"/>
                <a:endCxn id="547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32"/>
              <p:cNvCxnSpPr>
                <a:stCxn id="545" idx="2"/>
                <a:endCxn id="544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32"/>
              <p:cNvCxnSpPr>
                <a:stCxn id="545" idx="2"/>
                <a:endCxn id="548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32"/>
              <p:cNvCxnSpPr>
                <a:stCxn id="547" idx="2"/>
                <a:endCxn id="546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32"/>
              <p:cNvCxnSpPr>
                <a:stCxn id="544" idx="2"/>
                <a:endCxn id="549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32"/>
              <p:cNvCxnSpPr>
                <a:stCxn id="546" idx="2"/>
                <a:endCxn id="550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32"/>
              <p:cNvCxnSpPr>
                <a:stCxn id="546" idx="2"/>
                <a:endCxn id="551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1" name="Google Shape;561;p32"/>
              <p:cNvCxnSpPr>
                <a:stCxn id="550" idx="2"/>
                <a:endCxn id="552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62" name="Google Shape;562;p32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3" name="Google Shape;563;p32"/>
            <p:cNvCxnSpPr>
              <a:stCxn id="535" idx="2"/>
              <a:endCxn id="562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64" name="Google Shape;564;p32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565" name="Google Shape;565;p3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3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3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3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3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5" name="Google Shape;575;p32"/>
              <p:cNvCxnSpPr>
                <a:stCxn id="565" idx="2"/>
                <a:endCxn id="567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32"/>
              <p:cNvCxnSpPr>
                <a:stCxn id="565" idx="2"/>
                <a:endCxn id="569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32"/>
              <p:cNvCxnSpPr>
                <a:stCxn id="567" idx="2"/>
                <a:endCxn id="566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32"/>
              <p:cNvCxnSpPr>
                <a:stCxn id="567" idx="2"/>
                <a:endCxn id="570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32"/>
              <p:cNvCxnSpPr>
                <a:stCxn id="569" idx="2"/>
                <a:endCxn id="568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32"/>
              <p:cNvCxnSpPr>
                <a:stCxn id="566" idx="2"/>
                <a:endCxn id="571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32"/>
              <p:cNvCxnSpPr>
                <a:stCxn id="568" idx="2"/>
                <a:endCxn id="572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32"/>
              <p:cNvCxnSpPr>
                <a:stCxn id="568" idx="2"/>
                <a:endCxn id="573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32"/>
              <p:cNvCxnSpPr>
                <a:stCxn id="572" idx="2"/>
                <a:endCxn id="574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584" name="Google Shape;584;p32"/>
            <p:cNvCxnSpPr>
              <a:stCxn id="534" idx="2"/>
              <a:endCxn id="565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32"/>
            <p:cNvCxnSpPr>
              <a:stCxn id="531" idx="2"/>
              <a:endCxn id="534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6" name="Google Shape;586;p32"/>
            <p:cNvCxnSpPr>
              <a:stCxn id="531" idx="2"/>
              <a:endCxn id="543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32"/>
            <p:cNvCxnSpPr>
              <a:stCxn id="531" idx="2"/>
              <a:endCxn id="535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8" name="Google Shape;588;p32"/>
          <p:cNvSpPr/>
          <p:nvPr/>
        </p:nvSpPr>
        <p:spPr>
          <a:xfrm>
            <a:off x="4892676" y="34071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6122989" y="3959610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2"/>
          <p:cNvSpPr/>
          <p:nvPr/>
        </p:nvSpPr>
        <p:spPr>
          <a:xfrm>
            <a:off x="4054476" y="39405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6564314" y="3956435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Search</a:t>
            </a:r>
            <a:endParaRPr/>
          </a:p>
        </p:txBody>
      </p:sp>
      <p:sp>
        <p:nvSpPr>
          <p:cNvPr id="597" name="Google Shape;597;p33"/>
          <p:cNvSpPr txBox="1"/>
          <p:nvPr>
            <p:ph idx="1" type="body"/>
          </p:nvPr>
        </p:nvSpPr>
        <p:spPr>
          <a:xfrm>
            <a:off x="2362200" y="1371600"/>
            <a:ext cx="8153400" cy="4722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Idea: never </a:t>
            </a:r>
            <a:r>
              <a:rPr lang="en-US" sz="2400">
                <a:solidFill>
                  <a:srgbClr val="FF0000"/>
                </a:solidFill>
              </a:rPr>
              <a:t>expand</a:t>
            </a:r>
            <a:r>
              <a:rPr lang="en-US" sz="2400"/>
              <a:t> a state twice</a:t>
            </a:r>
            <a:endParaRPr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to implement: 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Tree search + set of expanded states (“closed set”)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Expand the search tree node-by-node, but…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Before expanding a node, check to make sure its state has never been expanded before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If not new, skip it, if new add to closed set</a:t>
            </a:r>
            <a:endParaRPr sz="2400"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Important: </a:t>
            </a:r>
            <a:r>
              <a:rPr lang="en-US" sz="2400">
                <a:solidFill>
                  <a:srgbClr val="FF0000"/>
                </a:solidFill>
              </a:rPr>
              <a:t>store the closed set as a set</a:t>
            </a:r>
            <a:r>
              <a:rPr lang="en-US" sz="2400"/>
              <a:t>, not a list</a:t>
            </a:r>
            <a:endParaRPr sz="1900"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Can graph search wreck completeness?  Why/why not?</a:t>
            </a:r>
            <a:endParaRPr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about optimality?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A* Graph Search Gone Wrong?</a:t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1363498" y="2819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3116098" y="2133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2506498" y="4191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4792498" y="2895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4792498" y="5105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34"/>
          <p:cNvCxnSpPr>
            <a:stCxn id="603" idx="7"/>
            <a:endCxn id="604" idx="2"/>
          </p:cNvCxnSpPr>
          <p:nvPr/>
        </p:nvCxnSpPr>
        <p:spPr>
          <a:xfrm flipH="1" rot="10800000">
            <a:off x="2013906" y="2514592"/>
            <a:ext cx="1102200" cy="41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09" name="Google Shape;609;p34"/>
          <p:cNvCxnSpPr>
            <a:stCxn id="603" idx="5"/>
            <a:endCxn id="605" idx="1"/>
          </p:cNvCxnSpPr>
          <p:nvPr/>
        </p:nvCxnSpPr>
        <p:spPr>
          <a:xfrm>
            <a:off x="2013906" y="3469808"/>
            <a:ext cx="604200" cy="83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10" name="Google Shape;610;p34"/>
          <p:cNvCxnSpPr>
            <a:stCxn id="605" idx="7"/>
            <a:endCxn id="606" idx="3"/>
          </p:cNvCxnSpPr>
          <p:nvPr/>
        </p:nvCxnSpPr>
        <p:spPr>
          <a:xfrm flipH="1" rot="10800000">
            <a:off x="3156906" y="3545992"/>
            <a:ext cx="1747200" cy="75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11" name="Google Shape;611;p34"/>
          <p:cNvCxnSpPr>
            <a:stCxn id="604" idx="6"/>
            <a:endCxn id="606" idx="1"/>
          </p:cNvCxnSpPr>
          <p:nvPr/>
        </p:nvCxnSpPr>
        <p:spPr>
          <a:xfrm>
            <a:off x="3878098" y="2514600"/>
            <a:ext cx="1026000" cy="49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12" name="Google Shape;612;p34"/>
          <p:cNvCxnSpPr>
            <a:stCxn id="606" idx="4"/>
            <a:endCxn id="607" idx="0"/>
          </p:cNvCxnSpPr>
          <p:nvPr/>
        </p:nvCxnSpPr>
        <p:spPr>
          <a:xfrm>
            <a:off x="5173498" y="3657600"/>
            <a:ext cx="0" cy="144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613" name="Google Shape;613;p34"/>
          <p:cNvSpPr txBox="1"/>
          <p:nvPr/>
        </p:nvSpPr>
        <p:spPr>
          <a:xfrm>
            <a:off x="2531898" y="2678670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4"/>
          <p:cNvSpPr txBox="1"/>
          <p:nvPr/>
        </p:nvSpPr>
        <p:spPr>
          <a:xfrm>
            <a:off x="2303298" y="3581398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4"/>
          <p:cNvSpPr txBox="1"/>
          <p:nvPr/>
        </p:nvSpPr>
        <p:spPr>
          <a:xfrm>
            <a:off x="4259098" y="2819398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4"/>
          <p:cNvSpPr txBox="1"/>
          <p:nvPr/>
        </p:nvSpPr>
        <p:spPr>
          <a:xfrm>
            <a:off x="3954298" y="3957637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4"/>
          <p:cNvSpPr txBox="1"/>
          <p:nvPr/>
        </p:nvSpPr>
        <p:spPr>
          <a:xfrm>
            <a:off x="5249698" y="4186237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34"/>
          <p:cNvGrpSpPr/>
          <p:nvPr/>
        </p:nvGrpSpPr>
        <p:grpSpPr>
          <a:xfrm>
            <a:off x="1477798" y="2971799"/>
            <a:ext cx="3986139" cy="3341389"/>
            <a:chOff x="1638925" y="2743200"/>
            <a:chExt cx="3984928" cy="3341100"/>
          </a:xfrm>
        </p:grpSpPr>
        <p:sp>
          <p:nvSpPr>
            <p:cNvPr id="619" name="Google Shape;619;p34"/>
            <p:cNvSpPr txBox="1"/>
            <p:nvPr/>
          </p:nvSpPr>
          <p:spPr>
            <a:xfrm>
              <a:off x="1638925" y="3429001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4"/>
            <p:cNvSpPr txBox="1"/>
            <p:nvPr/>
          </p:nvSpPr>
          <p:spPr>
            <a:xfrm>
              <a:off x="2743200" y="4800600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4"/>
            <p:cNvSpPr txBox="1"/>
            <p:nvPr/>
          </p:nvSpPr>
          <p:spPr>
            <a:xfrm>
              <a:off x="3315325" y="2743200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4"/>
            <p:cNvSpPr txBox="1"/>
            <p:nvPr/>
          </p:nvSpPr>
          <p:spPr>
            <a:xfrm>
              <a:off x="4267200" y="3119735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4"/>
            <p:cNvSpPr txBox="1"/>
            <p:nvPr/>
          </p:nvSpPr>
          <p:spPr>
            <a:xfrm>
              <a:off x="5029200" y="5715000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34"/>
          <p:cNvSpPr txBox="1"/>
          <p:nvPr/>
        </p:nvSpPr>
        <p:spPr>
          <a:xfrm>
            <a:off x="8229601" y="2362200"/>
            <a:ext cx="1047578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(0+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p34"/>
          <p:cNvGrpSpPr/>
          <p:nvPr/>
        </p:nvGrpSpPr>
        <p:grpSpPr>
          <a:xfrm>
            <a:off x="7239001" y="2823863"/>
            <a:ext cx="2995207" cy="919284"/>
            <a:chOff x="5638800" y="2133354"/>
            <a:chExt cx="2995208" cy="918925"/>
          </a:xfrm>
        </p:grpSpPr>
        <p:sp>
          <p:nvSpPr>
            <p:cNvPr id="626" name="Google Shape;626;p34"/>
            <p:cNvSpPr txBox="1"/>
            <p:nvPr/>
          </p:nvSpPr>
          <p:spPr>
            <a:xfrm>
              <a:off x="5638800" y="2590794"/>
              <a:ext cx="1084251" cy="461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(1+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4"/>
            <p:cNvSpPr txBox="1"/>
            <p:nvPr/>
          </p:nvSpPr>
          <p:spPr>
            <a:xfrm>
              <a:off x="7560427" y="2590789"/>
              <a:ext cx="1073581" cy="461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(1+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34"/>
            <p:cNvCxnSpPr>
              <a:stCxn id="624" idx="2"/>
              <a:endCxn id="627" idx="0"/>
            </p:cNvCxnSpPr>
            <p:nvPr/>
          </p:nvCxnSpPr>
          <p:spPr>
            <a:xfrm>
              <a:off x="7153190" y="2133354"/>
              <a:ext cx="944100" cy="45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629" name="Google Shape;629;p34"/>
            <p:cNvCxnSpPr>
              <a:stCxn id="624" idx="2"/>
              <a:endCxn id="626" idx="0"/>
            </p:cNvCxnSpPr>
            <p:nvPr/>
          </p:nvCxnSpPr>
          <p:spPr>
            <a:xfrm flipH="1">
              <a:off x="6180890" y="2133354"/>
              <a:ext cx="972300" cy="45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630" name="Google Shape;630;p34"/>
          <p:cNvGrpSpPr/>
          <p:nvPr/>
        </p:nvGrpSpPr>
        <p:grpSpPr>
          <a:xfrm>
            <a:off x="7237991" y="3743147"/>
            <a:ext cx="1070275" cy="914580"/>
            <a:chOff x="5637791" y="3052286"/>
            <a:chExt cx="1069765" cy="914581"/>
          </a:xfrm>
        </p:grpSpPr>
        <p:sp>
          <p:nvSpPr>
            <p:cNvPr id="631" name="Google Shape;631;p34"/>
            <p:cNvSpPr txBox="1"/>
            <p:nvPr/>
          </p:nvSpPr>
          <p:spPr>
            <a:xfrm>
              <a:off x="5637791" y="3505201"/>
              <a:ext cx="1069765" cy="4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 (2+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2" name="Google Shape;632;p34"/>
            <p:cNvCxnSpPr>
              <a:stCxn id="626" idx="2"/>
              <a:endCxn id="631" idx="0"/>
            </p:cNvCxnSpPr>
            <p:nvPr/>
          </p:nvCxnSpPr>
          <p:spPr>
            <a:xfrm flipH="1">
              <a:off x="6172568" y="3052286"/>
              <a:ext cx="8100" cy="45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633" name="Google Shape;633;p34"/>
          <p:cNvGrpSpPr/>
          <p:nvPr/>
        </p:nvGrpSpPr>
        <p:grpSpPr>
          <a:xfrm>
            <a:off x="7239002" y="4657727"/>
            <a:ext cx="1100331" cy="909802"/>
            <a:chOff x="5638805" y="3966836"/>
            <a:chExt cx="1099952" cy="910124"/>
          </a:xfrm>
        </p:grpSpPr>
        <p:sp>
          <p:nvSpPr>
            <p:cNvPr id="634" name="Google Shape;634;p34"/>
            <p:cNvSpPr txBox="1"/>
            <p:nvPr/>
          </p:nvSpPr>
          <p:spPr>
            <a:xfrm>
              <a:off x="5638805" y="4415132"/>
              <a:ext cx="1099952" cy="461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 (5+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5" name="Google Shape;635;p34"/>
            <p:cNvCxnSpPr>
              <a:stCxn id="631" idx="2"/>
              <a:endCxn id="634" idx="0"/>
            </p:cNvCxnSpPr>
            <p:nvPr/>
          </p:nvCxnSpPr>
          <p:spPr>
            <a:xfrm>
              <a:off x="6172748" y="3966836"/>
              <a:ext cx="15900" cy="448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636" name="Google Shape;636;p34"/>
          <p:cNvGrpSpPr/>
          <p:nvPr/>
        </p:nvGrpSpPr>
        <p:grpSpPr>
          <a:xfrm>
            <a:off x="9142996" y="3743142"/>
            <a:ext cx="1070275" cy="909982"/>
            <a:chOff x="7543375" y="3052260"/>
            <a:chExt cx="1069766" cy="910305"/>
          </a:xfrm>
        </p:grpSpPr>
        <p:sp>
          <p:nvSpPr>
            <p:cNvPr id="637" name="Google Shape;637;p34"/>
            <p:cNvSpPr txBox="1"/>
            <p:nvPr/>
          </p:nvSpPr>
          <p:spPr>
            <a:xfrm>
              <a:off x="7543375" y="3500736"/>
              <a:ext cx="1069766" cy="46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 (3+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8" name="Google Shape;638;p34"/>
            <p:cNvCxnSpPr>
              <a:stCxn id="627" idx="2"/>
              <a:endCxn id="637" idx="0"/>
            </p:cNvCxnSpPr>
            <p:nvPr/>
          </p:nvCxnSpPr>
          <p:spPr>
            <a:xfrm flipH="1">
              <a:off x="8078333" y="3052260"/>
              <a:ext cx="19200" cy="448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639" name="Google Shape;639;p34"/>
          <p:cNvGrpSpPr/>
          <p:nvPr/>
        </p:nvGrpSpPr>
        <p:grpSpPr>
          <a:xfrm>
            <a:off x="9126745" y="4653124"/>
            <a:ext cx="1100331" cy="914237"/>
            <a:chOff x="7526555" y="3962569"/>
            <a:chExt cx="1099952" cy="914240"/>
          </a:xfrm>
        </p:grpSpPr>
        <p:sp>
          <p:nvSpPr>
            <p:cNvPr id="640" name="Google Shape;640;p34"/>
            <p:cNvSpPr txBox="1"/>
            <p:nvPr/>
          </p:nvSpPr>
          <p:spPr>
            <a:xfrm>
              <a:off x="7526555" y="4415142"/>
              <a:ext cx="1099952" cy="461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 (6+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1" name="Google Shape;641;p34"/>
            <p:cNvCxnSpPr>
              <a:stCxn id="637" idx="2"/>
              <a:endCxn id="640" idx="0"/>
            </p:cNvCxnSpPr>
            <p:nvPr/>
          </p:nvCxnSpPr>
          <p:spPr>
            <a:xfrm flipH="1">
              <a:off x="8076554" y="3962569"/>
              <a:ext cx="1200" cy="452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sp>
        <p:nvSpPr>
          <p:cNvPr id="642" name="Google Shape;642;p34"/>
          <p:cNvSpPr txBox="1"/>
          <p:nvPr/>
        </p:nvSpPr>
        <p:spPr>
          <a:xfrm>
            <a:off x="2125499" y="1295400"/>
            <a:ext cx="2759406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7745370" y="1311833"/>
            <a:ext cx="1838576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Consistency of Heuristics</a:t>
            </a:r>
            <a:endParaRPr/>
          </a:p>
        </p:txBody>
      </p:sp>
      <p:sp>
        <p:nvSpPr>
          <p:cNvPr id="649" name="Google Shape;649;p35"/>
          <p:cNvSpPr txBox="1"/>
          <p:nvPr>
            <p:ph idx="1" type="body"/>
          </p:nvPr>
        </p:nvSpPr>
        <p:spPr>
          <a:xfrm>
            <a:off x="4876800" y="1295400"/>
            <a:ext cx="69342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Main idea: estimated heuristic costs ≤ actual costs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Admissibility: heuristic cost ≤ actual cost to goal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h(A)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≤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actual cost from A to G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Consistency: heuristic “arc” cost ≤ actual cost for each arc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h(A) – h(C)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cost(A to C)</a:t>
            </a:r>
            <a:endParaRPr sz="105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82" lvl="0" marL="342882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333399"/>
              </a:buClr>
              <a:buSzPts val="1000"/>
              <a:buNone/>
            </a:pPr>
            <a:r>
              <a:t/>
            </a:r>
            <a:endParaRPr sz="1000">
              <a:solidFill>
                <a:srgbClr val="333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333399"/>
              </a:buClr>
              <a:buSzPts val="2400"/>
              <a:buChar char="▪"/>
            </a:pPr>
            <a:r>
              <a:rPr lang="en-US" sz="2400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Consequences of consistency: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99"/>
              </a:buClr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f value along a path never decreases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99"/>
              </a:buClr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h(A)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cost(A to C)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h(C)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99"/>
              </a:buClr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A* graph search is optimal</a:t>
            </a:r>
            <a:endParaRPr/>
          </a:p>
          <a:p>
            <a:pPr indent="-215882" lvl="0" marL="34288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35"/>
          <p:cNvCxnSpPr>
            <a:endCxn id="651" idx="1"/>
          </p:cNvCxnSpPr>
          <p:nvPr/>
        </p:nvCxnSpPr>
        <p:spPr>
          <a:xfrm>
            <a:off x="1676511" y="2281350"/>
            <a:ext cx="1124400" cy="4386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52" name="Google Shape;652;p35"/>
          <p:cNvCxnSpPr>
            <a:stCxn id="651" idx="4"/>
            <a:endCxn id="653" idx="0"/>
          </p:cNvCxnSpPr>
          <p:nvPr/>
        </p:nvCxnSpPr>
        <p:spPr>
          <a:xfrm>
            <a:off x="3124200" y="3500439"/>
            <a:ext cx="0" cy="1528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654" name="Google Shape;654;p35"/>
          <p:cNvSpPr txBox="1"/>
          <p:nvPr/>
        </p:nvSpPr>
        <p:spPr>
          <a:xfrm>
            <a:off x="3276600" y="3886200"/>
            <a:ext cx="340654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5"/>
          <p:cNvSpPr/>
          <p:nvPr/>
        </p:nvSpPr>
        <p:spPr>
          <a:xfrm>
            <a:off x="762000" y="1824039"/>
            <a:ext cx="914400" cy="91440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5"/>
          <p:cNvSpPr/>
          <p:nvPr/>
        </p:nvSpPr>
        <p:spPr>
          <a:xfrm>
            <a:off x="2667000" y="2586039"/>
            <a:ext cx="914400" cy="91440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2667000" y="5029200"/>
            <a:ext cx="914400" cy="91440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5"/>
          <p:cNvSpPr txBox="1"/>
          <p:nvPr/>
        </p:nvSpPr>
        <p:spPr>
          <a:xfrm>
            <a:off x="609600" y="2819400"/>
            <a:ext cx="730697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5"/>
          <p:cNvSpPr txBox="1"/>
          <p:nvPr/>
        </p:nvSpPr>
        <p:spPr>
          <a:xfrm>
            <a:off x="3657600" y="2819400"/>
            <a:ext cx="730697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5"/>
          <p:cNvSpPr txBox="1"/>
          <p:nvPr/>
        </p:nvSpPr>
        <p:spPr>
          <a:xfrm>
            <a:off x="1905000" y="2509837"/>
            <a:ext cx="340654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35"/>
          <p:cNvCxnSpPr>
            <a:stCxn id="655" idx="5"/>
            <a:endCxn id="653" idx="1"/>
          </p:cNvCxnSpPr>
          <p:nvPr/>
        </p:nvCxnSpPr>
        <p:spPr>
          <a:xfrm>
            <a:off x="1542489" y="2604528"/>
            <a:ext cx="1258500" cy="255870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round/>
            <a:headEnd len="sm" w="sm" type="none"/>
            <a:tailEnd len="lg" w="lg" type="triangle"/>
          </a:ln>
        </p:spPr>
      </p:cxnSp>
      <p:cxnSp>
        <p:nvCxnSpPr>
          <p:cNvPr id="660" name="Google Shape;660;p35"/>
          <p:cNvCxnSpPr>
            <a:stCxn id="655" idx="6"/>
            <a:endCxn id="651" idx="1"/>
          </p:cNvCxnSpPr>
          <p:nvPr/>
        </p:nvCxnSpPr>
        <p:spPr>
          <a:xfrm>
            <a:off x="1676400" y="2281239"/>
            <a:ext cx="1124400" cy="438600"/>
          </a:xfrm>
          <a:prstGeom prst="straightConnector1">
            <a:avLst/>
          </a:prstGeom>
          <a:noFill/>
          <a:ln cap="flat" cmpd="sng" w="57150">
            <a:solidFill>
              <a:srgbClr val="008000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661" name="Google Shape;661;p35"/>
          <p:cNvSpPr txBox="1"/>
          <p:nvPr/>
        </p:nvSpPr>
        <p:spPr>
          <a:xfrm>
            <a:off x="609600" y="3200400"/>
            <a:ext cx="730697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35"/>
          <p:cNvCxnSpPr/>
          <p:nvPr/>
        </p:nvCxnSpPr>
        <p:spPr>
          <a:xfrm>
            <a:off x="609600" y="3019425"/>
            <a:ext cx="838200" cy="63808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Optimality of A* Graph Search</a:t>
            </a:r>
            <a:endParaRPr/>
          </a:p>
        </p:txBody>
      </p:sp>
      <p:pic>
        <p:nvPicPr>
          <p:cNvPr id="668" name="Google Shape;6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501" y="1753559"/>
            <a:ext cx="5862797" cy="422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7"/>
          <p:cNvSpPr/>
          <p:nvPr/>
        </p:nvSpPr>
        <p:spPr>
          <a:xfrm>
            <a:off x="8518525" y="2362200"/>
            <a:ext cx="1616075" cy="2381251"/>
          </a:xfrm>
          <a:custGeom>
            <a:rect b="b" l="l" r="r" t="t"/>
            <a:pathLst>
              <a:path extrusionOk="0" h="1500" w="1018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Optimality of A* Graph Search</a:t>
            </a:r>
            <a:endParaRPr/>
          </a:p>
        </p:txBody>
      </p:sp>
      <p:sp>
        <p:nvSpPr>
          <p:cNvPr id="675" name="Google Shape;675;p37"/>
          <p:cNvSpPr txBox="1"/>
          <p:nvPr>
            <p:ph idx="1" type="body"/>
          </p:nvPr>
        </p:nvSpPr>
        <p:spPr>
          <a:xfrm>
            <a:off x="838200" y="1600200"/>
            <a:ext cx="6248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Sketch: consider what A* does with a consistent heuristic:</a:t>
            </a:r>
            <a:endParaRPr/>
          </a:p>
          <a:p>
            <a:pPr indent="-196836" lvl="1" marL="742913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Fact 1: In tree search, A* expands nodes in increasing total f value (f-contours)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Fact 2: For every state s, nodes that reach s optimally are expanded before nodes that reach s suboptimally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6836" lvl="1" marL="742913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Result: A* graph search is optimal</a:t>
            </a:r>
            <a:endParaRPr/>
          </a:p>
        </p:txBody>
      </p:sp>
      <p:sp>
        <p:nvSpPr>
          <p:cNvPr id="676" name="Google Shape;676;p37"/>
          <p:cNvSpPr/>
          <p:nvPr/>
        </p:nvSpPr>
        <p:spPr>
          <a:xfrm>
            <a:off x="8001000" y="2533651"/>
            <a:ext cx="2927351" cy="2554287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7"/>
          <p:cNvSpPr/>
          <p:nvPr/>
        </p:nvSpPr>
        <p:spPr>
          <a:xfrm>
            <a:off x="9123363" y="2889250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9599613" y="2879726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7"/>
          <p:cNvSpPr txBox="1"/>
          <p:nvPr/>
        </p:nvSpPr>
        <p:spPr>
          <a:xfrm>
            <a:off x="9253538" y="2740026"/>
            <a:ext cx="274637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7"/>
          <p:cNvSpPr/>
          <p:nvPr/>
        </p:nvSpPr>
        <p:spPr>
          <a:xfrm>
            <a:off x="9847263" y="3929063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9367838" y="4484688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9321800" y="3275014"/>
            <a:ext cx="179388" cy="1196975"/>
          </a:xfrm>
          <a:custGeom>
            <a:rect b="b" l="l" r="r" t="t"/>
            <a:pathLst>
              <a:path extrusionOk="0" h="754" w="113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9739311" y="3471862"/>
            <a:ext cx="222251" cy="436563"/>
          </a:xfrm>
          <a:custGeom>
            <a:rect b="b" l="l" r="r" t="t"/>
            <a:pathLst>
              <a:path extrusionOk="0" h="275" w="140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9355138" y="2463801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7"/>
          <p:cNvSpPr/>
          <p:nvPr/>
        </p:nvSpPr>
        <p:spPr>
          <a:xfrm>
            <a:off x="8783637" y="3368676"/>
            <a:ext cx="1181100" cy="557212"/>
          </a:xfrm>
          <a:custGeom>
            <a:rect b="b" l="l" r="r" t="t"/>
            <a:pathLst>
              <a:path extrusionOk="0" h="351" w="744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9039226" y="3100388"/>
            <a:ext cx="747713" cy="293688"/>
          </a:xfrm>
          <a:custGeom>
            <a:rect b="b" l="l" r="r" t="t"/>
            <a:pathLst>
              <a:path extrusionOk="0" h="185" w="471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7"/>
          <p:cNvSpPr txBox="1"/>
          <p:nvPr/>
        </p:nvSpPr>
        <p:spPr>
          <a:xfrm>
            <a:off x="10277475" y="3468689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≤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7"/>
          <p:cNvSpPr txBox="1"/>
          <p:nvPr/>
        </p:nvSpPr>
        <p:spPr>
          <a:xfrm>
            <a:off x="10150475" y="3073401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≤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7"/>
          <p:cNvSpPr txBox="1"/>
          <p:nvPr/>
        </p:nvSpPr>
        <p:spPr>
          <a:xfrm>
            <a:off x="9950449" y="2695577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g3a9054157b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550" y="546400"/>
            <a:ext cx="8074226" cy="62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a9054157b4_0_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Testing</a:t>
            </a:r>
            <a:endParaRPr/>
          </a:p>
        </p:txBody>
      </p:sp>
      <p:sp>
        <p:nvSpPr>
          <p:cNvPr id="701" name="Google Shape;701;g3a9054157b4_0_42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2" name="Google Shape;702;g3a9054157b4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5" y="1207675"/>
            <a:ext cx="11266726" cy="4840151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g3a9054157b4_0_42"/>
          <p:cNvSpPr/>
          <p:nvPr/>
        </p:nvSpPr>
        <p:spPr>
          <a:xfrm>
            <a:off x="7754075" y="3883025"/>
            <a:ext cx="3536400" cy="20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9054157b4_0_4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Testing</a:t>
            </a:r>
            <a:endParaRPr/>
          </a:p>
        </p:txBody>
      </p:sp>
      <p:sp>
        <p:nvSpPr>
          <p:cNvPr id="710" name="Google Shape;710;g3a9054157b4_0_49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1" name="Google Shape;711;g3a9054157b4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5" y="1207675"/>
            <a:ext cx="11266726" cy="484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9054157b4_0_5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Testing</a:t>
            </a:r>
            <a:endParaRPr/>
          </a:p>
        </p:txBody>
      </p:sp>
      <p:pic>
        <p:nvPicPr>
          <p:cNvPr id="718" name="Google Shape;718;g3a9054157b4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00" y="1397000"/>
            <a:ext cx="11067609" cy="47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8"/>
          <p:cNvSpPr txBox="1"/>
          <p:nvPr>
            <p:ph type="title"/>
          </p:nvPr>
        </p:nvSpPr>
        <p:spPr>
          <a:xfrm>
            <a:off x="0" y="-49295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Optimality</a:t>
            </a:r>
            <a:endParaRPr/>
          </a:p>
        </p:txBody>
      </p:sp>
      <p:sp>
        <p:nvSpPr>
          <p:cNvPr id="724" name="Google Shape;724;p38"/>
          <p:cNvSpPr txBox="1"/>
          <p:nvPr>
            <p:ph idx="1" type="body"/>
          </p:nvPr>
        </p:nvSpPr>
        <p:spPr>
          <a:xfrm>
            <a:off x="406400" y="1397001"/>
            <a:ext cx="63754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Tree search: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A* is optimal if heuristic is admissible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UCS is a special case (h = 0)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Graph search: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A* optimal if heuristic is consistent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UCS optimal (h = 0 is consistent)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Consistency implies admissibility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general, most natural admissible heuristics tend to be consistent, especially if from relaxed problems</a:t>
            </a:r>
            <a:endParaRPr/>
          </a:p>
        </p:txBody>
      </p:sp>
      <p:pic>
        <p:nvPicPr>
          <p:cNvPr id="725" name="Google Shape;7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853" y="2009404"/>
            <a:ext cx="4720694" cy="340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A*: Summary</a:t>
            </a:r>
            <a:endParaRPr/>
          </a:p>
        </p:txBody>
      </p:sp>
      <p:pic>
        <p:nvPicPr>
          <p:cNvPr id="731" name="Google Shape;7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9590" y="1553037"/>
            <a:ext cx="4865218" cy="453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A*: Summary</a:t>
            </a:r>
            <a:endParaRPr/>
          </a:p>
        </p:txBody>
      </p:sp>
      <p:sp>
        <p:nvSpPr>
          <p:cNvPr id="737" name="Google Shape;737;p4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A* uses both backward costs and (estimates of) forward costs</a:t>
            </a:r>
            <a:endParaRPr/>
          </a:p>
          <a:p>
            <a:pPr indent="-126989" lvl="4" marL="205729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A* is optimal with admissible / consistent heuristics</a:t>
            </a:r>
            <a:endParaRPr/>
          </a:p>
          <a:p>
            <a:pPr indent="-126989" lvl="4" marL="205729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Heuristic design is key: often use relaxed problems</a:t>
            </a:r>
            <a:endParaRPr/>
          </a:p>
        </p:txBody>
      </p:sp>
      <p:pic>
        <p:nvPicPr>
          <p:cNvPr id="738" name="Google Shape;7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1" y="3886363"/>
            <a:ext cx="8077197" cy="2487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