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12192000"/>
  <p:notesSz cx="6858000" cy="9144000"/>
  <p:embeddedFontLst>
    <p:embeddedFont>
      <p:font typeface="Merriweather Sans"/>
      <p:regular r:id="rId47"/>
      <p:bold r:id="rId48"/>
      <p:italic r:id="rId49"/>
      <p:boldItalic r:id="rId50"/>
    </p:embeddedFont>
    <p:embeddedFont>
      <p:font typeface="Roboto"/>
      <p:regular r:id="rId51"/>
      <p:bold r:id="rId52"/>
      <p:italic r:id="rId53"/>
      <p:boldItalic r:id="rId54"/>
    </p:embeddedFont>
    <p:embeddedFont>
      <p:font typeface="Corbel"/>
      <p:regular r:id="rId55"/>
      <p:bold r:id="rId56"/>
      <p:italic r:id="rId57"/>
      <p:boldItalic r:id="rId58"/>
    </p:embeddedFont>
    <p:embeddedFont>
      <p:font typeface="Helvetica Neue"/>
      <p:regular r:id="rId59"/>
      <p:bold r:id="rId60"/>
      <p:italic r:id="rId61"/>
      <p:boldItalic r:id="rId62"/>
    </p:embeddedFont>
    <p:embeddedFont>
      <p:font typeface="Open Sans"/>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7" roundtripDataSignature="AMtx7mie3sXPFxL2NoSTZdOPzKhVi4Uw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33E0F7-F4F8-482A-8395-181CD3639285}">
  <a:tblStyle styleId="{C133E0F7-F4F8-482A-8395-181CD3639285}" styleName="Table_0">
    <a:wholeTbl>
      <a:tcTxStyle b="off" i="off">
        <a:font>
          <a:latin typeface="Corbel"/>
          <a:ea typeface="Corbel"/>
          <a:cs typeface="Corbel"/>
        </a:font>
        <a:schemeClr val="lt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5">
              <a:alpha val="20000"/>
            </a:schemeClr>
          </a:solidFill>
        </a:fill>
      </a:tcStyle>
    </a:band1H>
    <a:band2H>
      <a:tcTxStyle b="off" i="off"/>
    </a:band2H>
    <a:band1V>
      <a:tcTxStyle b="off" i="off"/>
      <a:tcStyle>
        <a:fill>
          <a:solidFill>
            <a:schemeClr val="accent5">
              <a:alpha val="20000"/>
            </a:schemeClr>
          </a:solidFill>
        </a:fill>
      </a:tcStyle>
    </a:band1V>
    <a:band2V>
      <a:tcTxStyle b="off" i="off"/>
    </a:band2V>
    <a:lastCol>
      <a:tcTxStyle b="on" i="off"/>
    </a:lastCol>
    <a:firstCol>
      <a:tcTxStyle b="on" i="off"/>
    </a:firstCol>
    <a:lastRow>
      <a:tcTxStyle b="on" i="off"/>
      <a:tcStyle>
        <a:tcBdr>
          <a:top>
            <a:ln cap="flat" cmpd="sng" w="12700">
              <a:solidFill>
                <a:schemeClr val="accent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chemeClr val="accent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C8631BE5-2B57-4E50-9BEA-459FA9045C7C}" styleName="Table_1">
    <a:wholeTbl>
      <a:tcTxStyle b="off" i="off">
        <a:font>
          <a:latin typeface="Corbel"/>
          <a:ea typeface="Corbel"/>
          <a:cs typeface="Corbe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EE8"/>
          </a:solidFill>
        </a:fill>
      </a:tcStyle>
    </a:wholeTbl>
    <a:band1H>
      <a:tcTxStyle b="off" i="off"/>
      <a:tcStyle>
        <a:fill>
          <a:solidFill>
            <a:srgbClr val="D1DBCD"/>
          </a:solidFill>
        </a:fill>
      </a:tcStyle>
    </a:band1H>
    <a:band2H>
      <a:tcTxStyle b="off" i="off"/>
    </a:band2H>
    <a:band1V>
      <a:tcTxStyle b="off" i="off"/>
      <a:tcStyle>
        <a:fill>
          <a:solidFill>
            <a:srgbClr val="D1DBCD"/>
          </a:solidFill>
        </a:fill>
      </a:tcStyle>
    </a:band1V>
    <a:band2V>
      <a:tcTxStyle b="off" i="off"/>
    </a:band2V>
    <a:lastCol>
      <a:tcTxStyle b="on" i="off">
        <a:font>
          <a:latin typeface="Corbel"/>
          <a:ea typeface="Corbel"/>
          <a:cs typeface="Corbel"/>
        </a:font>
        <a:schemeClr val="lt1"/>
      </a:tcTxStyle>
      <a:tcStyle>
        <a:fill>
          <a:solidFill>
            <a:schemeClr val="accent4"/>
          </a:solidFill>
        </a:fill>
      </a:tcStyle>
    </a:lastCol>
    <a:firstCol>
      <a:tcTxStyle b="on" i="off">
        <a:font>
          <a:latin typeface="Corbel"/>
          <a:ea typeface="Corbel"/>
          <a:cs typeface="Corbel"/>
        </a:font>
        <a:schemeClr val="lt1"/>
      </a:tcTxStyle>
      <a:tcStyle>
        <a:fill>
          <a:solidFill>
            <a:schemeClr val="accent4"/>
          </a:solidFill>
        </a:fill>
      </a:tcStyle>
    </a:firstCol>
    <a:lastRow>
      <a:tcTxStyle b="on" i="off">
        <a:font>
          <a:latin typeface="Corbel"/>
          <a:ea typeface="Corbel"/>
          <a:cs typeface="Corbel"/>
        </a:font>
        <a:schemeClr val="lt1"/>
      </a:tcTxStyle>
      <a:tcStyle>
        <a:tcBdr>
          <a:top>
            <a:ln cap="flat" cmpd="sng" w="38100">
              <a:solidFill>
                <a:schemeClr val="lt1"/>
              </a:solidFill>
              <a:prstDash val="solid"/>
              <a:round/>
              <a:headEnd len="sm" w="sm" type="none"/>
              <a:tailEnd len="sm" w="sm" type="none"/>
            </a:ln>
          </a:top>
        </a:tcBdr>
        <a:fill>
          <a:solidFill>
            <a:schemeClr val="accent4"/>
          </a:solidFill>
        </a:fill>
      </a:tcStyle>
    </a:lastRow>
    <a:seCell>
      <a:tcTxStyle b="off" i="off"/>
    </a:seCell>
    <a:swCell>
      <a:tcTxStyle b="off" i="off"/>
    </a:swCell>
    <a:firstRow>
      <a:tcTxStyle b="on" i="off">
        <a:font>
          <a:latin typeface="Corbel"/>
          <a:ea typeface="Corbel"/>
          <a:cs typeface="Corbel"/>
        </a:font>
        <a:schemeClr val="lt1"/>
      </a:tcTxStyle>
      <a:tcStyle>
        <a:tcBdr>
          <a:bottom>
            <a:ln cap="flat" cmpd="sng" w="38100">
              <a:solidFill>
                <a:schemeClr val="lt1"/>
              </a:solidFill>
              <a:prstDash val="solid"/>
              <a:round/>
              <a:headEnd len="sm" w="sm" type="none"/>
              <a:tailEnd len="sm" w="sm" type="none"/>
            </a:ln>
          </a:bottom>
        </a:tcBdr>
        <a:fill>
          <a:solidFill>
            <a:schemeClr val="accent4"/>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erriweatherSans-bold.fntdata"/><Relationship Id="rId47" Type="http://schemas.openxmlformats.org/officeDocument/2006/relationships/font" Target="fonts/MerriweatherSans-regular.fntdata"/><Relationship Id="rId49" Type="http://schemas.openxmlformats.org/officeDocument/2006/relationships/font" Target="fonts/Merriweather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HelveticaNeue-boldItalic.fntdata"/><Relationship Id="rId61" Type="http://schemas.openxmlformats.org/officeDocument/2006/relationships/font" Target="fonts/HelveticaNeue-italic.fntdata"/><Relationship Id="rId20" Type="http://schemas.openxmlformats.org/officeDocument/2006/relationships/slide" Target="slides/slide15.xml"/><Relationship Id="rId64" Type="http://schemas.openxmlformats.org/officeDocument/2006/relationships/font" Target="fonts/OpenSans-bold.fntdata"/><Relationship Id="rId63" Type="http://schemas.openxmlformats.org/officeDocument/2006/relationships/font" Target="fonts/OpenSans-regular.fntdata"/><Relationship Id="rId22" Type="http://schemas.openxmlformats.org/officeDocument/2006/relationships/slide" Target="slides/slide17.xml"/><Relationship Id="rId66" Type="http://schemas.openxmlformats.org/officeDocument/2006/relationships/font" Target="fonts/OpenSans-boldItalic.fntdata"/><Relationship Id="rId21" Type="http://schemas.openxmlformats.org/officeDocument/2006/relationships/slide" Target="slides/slide16.xml"/><Relationship Id="rId65" Type="http://schemas.openxmlformats.org/officeDocument/2006/relationships/font" Target="fonts/OpenSans-italic.fntdata"/><Relationship Id="rId24" Type="http://schemas.openxmlformats.org/officeDocument/2006/relationships/slide" Target="slides/slide19.xml"/><Relationship Id="rId23" Type="http://schemas.openxmlformats.org/officeDocument/2006/relationships/slide" Target="slides/slide18.xml"/><Relationship Id="rId67" Type="http://customschemas.google.com/relationships/presentationmetadata" Target="metadata"/><Relationship Id="rId60" Type="http://schemas.openxmlformats.org/officeDocument/2006/relationships/font" Target="fonts/HelveticaNeue-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regular.fntdata"/><Relationship Id="rId50" Type="http://schemas.openxmlformats.org/officeDocument/2006/relationships/font" Target="fonts/MerriweatherSans-boldItalic.fntdata"/><Relationship Id="rId53" Type="http://schemas.openxmlformats.org/officeDocument/2006/relationships/font" Target="fonts/Roboto-italic.fntdata"/><Relationship Id="rId52" Type="http://schemas.openxmlformats.org/officeDocument/2006/relationships/font" Target="fonts/Roboto-bold.fntdata"/><Relationship Id="rId11" Type="http://schemas.openxmlformats.org/officeDocument/2006/relationships/slide" Target="slides/slide6.xml"/><Relationship Id="rId55" Type="http://schemas.openxmlformats.org/officeDocument/2006/relationships/font" Target="fonts/Corbel-regular.fntdata"/><Relationship Id="rId10" Type="http://schemas.openxmlformats.org/officeDocument/2006/relationships/slide" Target="slides/slide5.xml"/><Relationship Id="rId54" Type="http://schemas.openxmlformats.org/officeDocument/2006/relationships/font" Target="fonts/Roboto-boldItalic.fntdata"/><Relationship Id="rId13" Type="http://schemas.openxmlformats.org/officeDocument/2006/relationships/slide" Target="slides/slide8.xml"/><Relationship Id="rId57" Type="http://schemas.openxmlformats.org/officeDocument/2006/relationships/font" Target="fonts/Corbel-italic.fntdata"/><Relationship Id="rId12" Type="http://schemas.openxmlformats.org/officeDocument/2006/relationships/slide" Target="slides/slide7.xml"/><Relationship Id="rId56" Type="http://schemas.openxmlformats.org/officeDocument/2006/relationships/font" Target="fonts/Corbel-bold.fntdata"/><Relationship Id="rId15" Type="http://schemas.openxmlformats.org/officeDocument/2006/relationships/slide" Target="slides/slide10.xml"/><Relationship Id="rId59" Type="http://schemas.openxmlformats.org/officeDocument/2006/relationships/font" Target="fonts/HelveticaNeue-regular.fntdata"/><Relationship Id="rId14" Type="http://schemas.openxmlformats.org/officeDocument/2006/relationships/slide" Target="slides/slide9.xml"/><Relationship Id="rId58" Type="http://schemas.openxmlformats.org/officeDocument/2006/relationships/font" Target="fonts/Corbel-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65" name="Google Shape;165;p4:notes"/>
          <p:cNvSpPr txBox="1"/>
          <p:nvPr>
            <p:ph idx="1" type="body"/>
          </p:nvPr>
        </p:nvSpPr>
        <p:spPr>
          <a:xfrm>
            <a:off x="709613" y="4860925"/>
            <a:ext cx="5680075" cy="46069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700">
                <a:latin typeface="Merriweather Sans"/>
                <a:ea typeface="Merriweather Sans"/>
                <a:cs typeface="Merriweather Sans"/>
                <a:sym typeface="Merriweather Sans"/>
              </a:rPr>
              <a:t>Example of utilities.  10 for A, 1 for each Friday with friends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36dd9cfa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36dd9cfa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a36dd9cfa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36dd9cfa9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36dd9cfa9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a36dd9cfa9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i="0" lang="en-US">
                <a:solidFill>
                  <a:srgbClr val="5F6368"/>
                </a:solidFill>
                <a:latin typeface="arial"/>
                <a:ea typeface="arial"/>
                <a:cs typeface="arial"/>
                <a:sym typeface="arial"/>
              </a:rPr>
              <a:t>CAPTCHA</a:t>
            </a:r>
            <a:r>
              <a:rPr b="0" i="0" lang="en-US">
                <a:solidFill>
                  <a:srgbClr val="4D5156"/>
                </a:solidFill>
                <a:latin typeface="arial"/>
                <a:ea typeface="arial"/>
                <a:cs typeface="arial"/>
                <a:sym typeface="arial"/>
              </a:rPr>
              <a:t>, an acronym for Completely Automated Public </a:t>
            </a:r>
            <a:r>
              <a:rPr b="1" i="0" lang="en-US">
                <a:solidFill>
                  <a:srgbClr val="5F6368"/>
                </a:solidFill>
                <a:latin typeface="arial"/>
                <a:ea typeface="arial"/>
                <a:cs typeface="arial"/>
                <a:sym typeface="arial"/>
              </a:rPr>
              <a:t>Turing test</a:t>
            </a:r>
            <a:r>
              <a:rPr b="0" i="0" lang="en-US">
                <a:solidFill>
                  <a:srgbClr val="4D5156"/>
                </a:solidFill>
                <a:latin typeface="arial"/>
                <a:ea typeface="arial"/>
                <a:cs typeface="arial"/>
                <a:sym typeface="arial"/>
              </a:rPr>
              <a:t> to tell Computers and Humans Apart</a:t>
            </a:r>
            <a:endParaRPr/>
          </a:p>
        </p:txBody>
      </p:sp>
      <p:sp>
        <p:nvSpPr>
          <p:cNvPr id="190" name="Google Shape;1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i="0" lang="en-US">
                <a:solidFill>
                  <a:srgbClr val="5F6368"/>
                </a:solidFill>
                <a:latin typeface="arial"/>
                <a:ea typeface="arial"/>
                <a:cs typeface="arial"/>
                <a:sym typeface="arial"/>
              </a:rPr>
              <a:t>CAPTCHA</a:t>
            </a:r>
            <a:r>
              <a:rPr b="0" i="0" lang="en-US">
                <a:solidFill>
                  <a:srgbClr val="4D5156"/>
                </a:solidFill>
                <a:latin typeface="arial"/>
                <a:ea typeface="arial"/>
                <a:cs typeface="arial"/>
                <a:sym typeface="arial"/>
              </a:rPr>
              <a:t>, an acronym for Completely Automated Public </a:t>
            </a:r>
            <a:r>
              <a:rPr b="1" i="0" lang="en-US">
                <a:solidFill>
                  <a:srgbClr val="5F6368"/>
                </a:solidFill>
                <a:latin typeface="arial"/>
                <a:ea typeface="arial"/>
                <a:cs typeface="arial"/>
                <a:sym typeface="arial"/>
              </a:rPr>
              <a:t>Turing test</a:t>
            </a:r>
            <a:r>
              <a:rPr b="0" i="0" lang="en-US">
                <a:solidFill>
                  <a:srgbClr val="4D5156"/>
                </a:solidFill>
                <a:latin typeface="arial"/>
                <a:ea typeface="arial"/>
                <a:cs typeface="arial"/>
                <a:sym typeface="arial"/>
              </a:rPr>
              <a:t> to tell Computers and Humans Apart</a:t>
            </a:r>
            <a:endParaRPr/>
          </a:p>
          <a:p>
            <a:pPr indent="0" lvl="0" marL="0" rtl="0" algn="l">
              <a:lnSpc>
                <a:spcPct val="100000"/>
              </a:lnSpc>
              <a:spcBef>
                <a:spcPts val="0"/>
              </a:spcBef>
              <a:spcAft>
                <a:spcPts val="0"/>
              </a:spcAft>
              <a:buSzPts val="1400"/>
              <a:buNone/>
            </a:pPr>
            <a:r>
              <a:t/>
            </a:r>
            <a:endParaRPr b="0" i="0">
              <a:solidFill>
                <a:srgbClr val="4D5156"/>
              </a:solidFill>
              <a:latin typeface="arial"/>
              <a:ea typeface="arial"/>
              <a:cs typeface="arial"/>
              <a:sym typeface="arial"/>
            </a:endParaRPr>
          </a:p>
          <a:p>
            <a:pPr indent="0" lvl="0" marL="0" rtl="0" algn="l">
              <a:lnSpc>
                <a:spcPct val="100000"/>
              </a:lnSpc>
              <a:spcBef>
                <a:spcPts val="0"/>
              </a:spcBef>
              <a:spcAft>
                <a:spcPts val="0"/>
              </a:spcAft>
              <a:buSzPts val="1400"/>
              <a:buNone/>
            </a:pPr>
            <a:r>
              <a:rPr lang="en-US"/>
              <a:t>Yet AI researchers have devoted little effort to passing the Turing Test, believing that it is more important to study the underlying principles of intelligence than to duplicate an exemplar. The quest for “artificial flight” succeeded when the Wright brothers and others stopped imitating birds and started using wind tunnels and learning about aerodynamics. Aeronautical engineering texts do not define the goal of their field as making “machines that fly so exactly like pigeons that they can fool even other pigeons.”</a:t>
            </a:r>
            <a:endParaRPr/>
          </a:p>
        </p:txBody>
      </p:sp>
      <p:sp>
        <p:nvSpPr>
          <p:cNvPr id="199" name="Google Shape;1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By specifying the agent’s choice of action for every possible percept sequence, we have said more or less everything. </a:t>
            </a:r>
            <a:endParaRPr/>
          </a:p>
          <a:p>
            <a:pPr indent="0" lvl="0" marL="0" rtl="0" algn="l">
              <a:lnSpc>
                <a:spcPct val="100000"/>
              </a:lnSpc>
              <a:spcBef>
                <a:spcPts val="0"/>
              </a:spcBef>
              <a:spcAft>
                <a:spcPts val="0"/>
              </a:spcAft>
              <a:buSzPts val="1400"/>
              <a:buNone/>
            </a:pPr>
            <a:r>
              <a:t/>
            </a:r>
            <a:endParaRPr/>
          </a:p>
        </p:txBody>
      </p:sp>
      <p:sp>
        <p:nvSpPr>
          <p:cNvPr id="231" name="Google Shape;23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800">
                <a:solidFill>
                  <a:srgbClr val="000000"/>
                </a:solidFill>
                <a:latin typeface="Times"/>
                <a:ea typeface="Times"/>
                <a:cs typeface="Times"/>
                <a:sym typeface="Times"/>
              </a:rPr>
              <a:t>Some “real” environments are actually quite simple. For example, a robot designed</a:t>
            </a:r>
            <a:br>
              <a:rPr b="0" i="0" lang="en-US" sz="1800">
                <a:solidFill>
                  <a:srgbClr val="000000"/>
                </a:solidFill>
                <a:latin typeface="Times"/>
                <a:ea typeface="Times"/>
                <a:cs typeface="Times"/>
                <a:sym typeface="Times"/>
              </a:rPr>
            </a:br>
            <a:r>
              <a:rPr b="0" i="0" lang="en-US" sz="1800">
                <a:solidFill>
                  <a:srgbClr val="000000"/>
                </a:solidFill>
                <a:latin typeface="Times"/>
                <a:ea typeface="Times"/>
                <a:cs typeface="Times"/>
                <a:sym typeface="Times"/>
              </a:rPr>
              <a:t>to inspect parts as they come by on a conveyor belt can make use of a number of simplifying</a:t>
            </a:r>
            <a:br>
              <a:rPr b="0" i="0" lang="en-US" sz="1800">
                <a:solidFill>
                  <a:srgbClr val="000000"/>
                </a:solidFill>
                <a:latin typeface="Times"/>
                <a:ea typeface="Times"/>
                <a:cs typeface="Times"/>
                <a:sym typeface="Times"/>
              </a:rPr>
            </a:br>
            <a:r>
              <a:rPr b="0" i="0" lang="en-US" sz="1800">
                <a:solidFill>
                  <a:srgbClr val="000000"/>
                </a:solidFill>
                <a:latin typeface="Times"/>
                <a:ea typeface="Times"/>
                <a:cs typeface="Times"/>
                <a:sym typeface="Times"/>
              </a:rPr>
              <a:t>assumptions: that the lighting is always just so, that the only thing on the conveyor belt will</a:t>
            </a:r>
            <a:br>
              <a:rPr b="0" i="0" lang="en-US" sz="1800">
                <a:solidFill>
                  <a:srgbClr val="000000"/>
                </a:solidFill>
                <a:latin typeface="Times"/>
                <a:ea typeface="Times"/>
                <a:cs typeface="Times"/>
                <a:sym typeface="Times"/>
              </a:rPr>
            </a:br>
            <a:r>
              <a:rPr b="0" i="0" lang="en-US" sz="1800">
                <a:solidFill>
                  <a:srgbClr val="000000"/>
                </a:solidFill>
                <a:latin typeface="Times"/>
                <a:ea typeface="Times"/>
                <a:cs typeface="Times"/>
                <a:sym typeface="Times"/>
              </a:rPr>
              <a:t>be parts of a kind that it knows about, and that only two actions (accept or reject) are possible.</a:t>
            </a:r>
            <a:r>
              <a:rPr lang="en-US"/>
              <a: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b="0" i="0" lang="en-US" sz="1800">
                <a:solidFill>
                  <a:srgbClr val="000000"/>
                </a:solidFill>
                <a:latin typeface="Times"/>
                <a:ea typeface="Times"/>
                <a:cs typeface="Times"/>
                <a:sym typeface="Times"/>
              </a:rPr>
              <a:t>Imagine a softbot Web site operator designed to scan Internet news sources and</a:t>
            </a:r>
            <a:br>
              <a:rPr b="0" i="0" lang="en-US" sz="1800">
                <a:solidFill>
                  <a:srgbClr val="000000"/>
                </a:solidFill>
                <a:latin typeface="Times"/>
                <a:ea typeface="Times"/>
                <a:cs typeface="Times"/>
                <a:sym typeface="Times"/>
              </a:rPr>
            </a:br>
            <a:r>
              <a:rPr b="0" i="0" lang="en-US" sz="1800">
                <a:solidFill>
                  <a:srgbClr val="000000"/>
                </a:solidFill>
                <a:latin typeface="Times"/>
                <a:ea typeface="Times"/>
                <a:cs typeface="Times"/>
                <a:sym typeface="Times"/>
              </a:rPr>
              <a:t>show the interesting items to its users, while selling advertising space to generate revenue.</a:t>
            </a:r>
            <a:br>
              <a:rPr b="0" i="0" lang="en-US" sz="1800">
                <a:solidFill>
                  <a:srgbClr val="000000"/>
                </a:solidFill>
                <a:latin typeface="Times"/>
                <a:ea typeface="Times"/>
                <a:cs typeface="Times"/>
                <a:sym typeface="Times"/>
              </a:rPr>
            </a:br>
            <a:r>
              <a:rPr b="0" i="0" lang="en-US" sz="1800">
                <a:solidFill>
                  <a:srgbClr val="000000"/>
                </a:solidFill>
                <a:latin typeface="Times"/>
                <a:ea typeface="Times"/>
                <a:cs typeface="Times"/>
                <a:sym typeface="Times"/>
              </a:rPr>
              <a:t>To do well, that operator will need some natural language processing abilities, it will need</a:t>
            </a:r>
            <a:br>
              <a:rPr b="0" i="0" lang="en-US" sz="1800">
                <a:solidFill>
                  <a:srgbClr val="000000"/>
                </a:solidFill>
                <a:latin typeface="Times"/>
                <a:ea typeface="Times"/>
                <a:cs typeface="Times"/>
                <a:sym typeface="Times"/>
              </a:rPr>
            </a:br>
            <a:r>
              <a:rPr b="0" i="0" lang="en-US" sz="1800">
                <a:solidFill>
                  <a:srgbClr val="000000"/>
                </a:solidFill>
                <a:latin typeface="Times"/>
                <a:ea typeface="Times"/>
                <a:cs typeface="Times"/>
                <a:sym typeface="Times"/>
              </a:rPr>
              <a:t>to learn what each user and advertiser is interested in, and it will need to change its plans</a:t>
            </a:r>
            <a:br>
              <a:rPr b="0" i="0" lang="en-US" sz="1800">
                <a:solidFill>
                  <a:srgbClr val="000000"/>
                </a:solidFill>
                <a:latin typeface="Times"/>
                <a:ea typeface="Times"/>
                <a:cs typeface="Times"/>
                <a:sym typeface="Times"/>
              </a:rPr>
            </a:br>
            <a:r>
              <a:rPr b="0" i="0" lang="en-US" sz="1800">
                <a:solidFill>
                  <a:srgbClr val="000000"/>
                </a:solidFill>
                <a:latin typeface="Times"/>
                <a:ea typeface="Times"/>
                <a:cs typeface="Times"/>
                <a:sym typeface="Times"/>
              </a:rPr>
              <a:t>dynamically—for example, when the connection for one news source goes down or when a</a:t>
            </a:r>
            <a:br>
              <a:rPr b="0" i="0" lang="en-US" sz="1800">
                <a:solidFill>
                  <a:srgbClr val="000000"/>
                </a:solidFill>
                <a:latin typeface="Times"/>
                <a:ea typeface="Times"/>
                <a:cs typeface="Times"/>
                <a:sym typeface="Times"/>
              </a:rPr>
            </a:br>
            <a:r>
              <a:rPr b="0" i="0" lang="en-US" sz="1800">
                <a:solidFill>
                  <a:srgbClr val="000000"/>
                </a:solidFill>
                <a:latin typeface="Times"/>
                <a:ea typeface="Times"/>
                <a:cs typeface="Times"/>
                <a:sym typeface="Times"/>
              </a:rPr>
              <a:t>new one comes online</a:t>
            </a:r>
            <a:r>
              <a:rPr lang="en-US"/>
              <a:t> </a:t>
            </a:r>
            <a:br>
              <a:rPr lang="en-US"/>
            </a:br>
            <a:br>
              <a:rPr lang="en-US"/>
            </a:br>
            <a:endParaRPr/>
          </a:p>
          <a:p>
            <a:pPr indent="0" lvl="0" marL="0" rtl="0" algn="l">
              <a:lnSpc>
                <a:spcPct val="100000"/>
              </a:lnSpc>
              <a:spcBef>
                <a:spcPts val="0"/>
              </a:spcBef>
              <a:spcAft>
                <a:spcPts val="0"/>
              </a:spcAft>
              <a:buSzPts val="1400"/>
              <a:buNone/>
            </a:pPr>
            <a:r>
              <a:t/>
            </a:r>
            <a:endParaRPr/>
          </a:p>
        </p:txBody>
      </p:sp>
      <p:sp>
        <p:nvSpPr>
          <p:cNvPr id="299" name="Google Shape;2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i="0" lang="en-US">
                <a:solidFill>
                  <a:srgbClr val="333333"/>
                </a:solidFill>
                <a:latin typeface="Arial"/>
                <a:ea typeface="Arial"/>
                <a:cs typeface="Arial"/>
                <a:sym typeface="Arial"/>
              </a:rPr>
              <a:t>Internet shopping agent:</a:t>
            </a:r>
            <a:endParaRPr/>
          </a:p>
          <a:p>
            <a:pPr indent="0" lvl="0" marL="0" rtl="0" algn="l">
              <a:lnSpc>
                <a:spcPct val="100000"/>
              </a:lnSpc>
              <a:spcBef>
                <a:spcPts val="0"/>
              </a:spcBef>
              <a:spcAft>
                <a:spcPts val="0"/>
              </a:spcAft>
              <a:buSzPts val="1400"/>
              <a:buNone/>
            </a:pPr>
            <a:r>
              <a:rPr b="1" i="0" lang="en-US">
                <a:solidFill>
                  <a:srgbClr val="333333"/>
                </a:solidFill>
                <a:latin typeface="Arial"/>
                <a:ea typeface="Arial"/>
                <a:cs typeface="Arial"/>
                <a:sym typeface="Arial"/>
              </a:rPr>
              <a:t>PEAS description</a:t>
            </a:r>
            <a:endParaRPr b="0" i="0">
              <a:solidFill>
                <a:srgbClr val="333333"/>
              </a:solidFill>
              <a:latin typeface="Arial"/>
              <a:ea typeface="Arial"/>
              <a:cs typeface="Arial"/>
              <a:sym typeface="Arial"/>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Performance measure: price, quality, appropriateness, efficiency</a:t>
            </a:r>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Environment: current and future WWW sites, vendors, shippers</a:t>
            </a:r>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Actuators: display to user, follow URL, fill in form</a:t>
            </a:r>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Sensors: HTML pages (text, graphics, scripts)</a:t>
            </a:r>
            <a:endParaRPr/>
          </a:p>
          <a:p>
            <a:pPr indent="0" lvl="0" marL="0" rtl="0" algn="l">
              <a:lnSpc>
                <a:spcPct val="100000"/>
              </a:lnSpc>
              <a:spcBef>
                <a:spcPts val="0"/>
              </a:spcBef>
              <a:spcAft>
                <a:spcPts val="0"/>
              </a:spcAft>
              <a:buSzPts val="1400"/>
              <a:buNone/>
            </a:pPr>
            <a:r>
              <a:rPr b="1" i="0" lang="en-US">
                <a:solidFill>
                  <a:srgbClr val="333333"/>
                </a:solidFill>
                <a:latin typeface="Arial"/>
                <a:ea typeface="Arial"/>
                <a:cs typeface="Arial"/>
                <a:sym typeface="Arial"/>
              </a:rPr>
              <a:t>Environment Characteristics:</a:t>
            </a:r>
            <a:endParaRPr b="0" i="0">
              <a:solidFill>
                <a:srgbClr val="333333"/>
              </a:solidFill>
              <a:latin typeface="Arial"/>
              <a:ea typeface="Arial"/>
              <a:cs typeface="Arial"/>
              <a:sym typeface="Arial"/>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Fully observable: No</a:t>
            </a:r>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Deterministic: Partly // partially observable</a:t>
            </a:r>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Episodic: No // sequential</a:t>
            </a:r>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Static: Semi // the world changes partly while the agent is thinking</a:t>
            </a:r>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Discrete: Yes</a:t>
            </a:r>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Single-agent: No // multi-agent</a:t>
            </a:r>
            <a:endParaRPr/>
          </a:p>
          <a:p>
            <a:pPr indent="0" lvl="0" marL="0" rtl="0" algn="l">
              <a:lnSpc>
                <a:spcPct val="100000"/>
              </a:lnSpc>
              <a:spcBef>
                <a:spcPts val="0"/>
              </a:spcBef>
              <a:spcAft>
                <a:spcPts val="0"/>
              </a:spcAft>
              <a:buSzPts val="1400"/>
              <a:buNone/>
            </a:pPr>
            <a:r>
              <a:t/>
            </a:r>
            <a:endParaRPr b="0" i="0">
              <a:solidFill>
                <a:srgbClr val="333333"/>
              </a:solidFill>
              <a:latin typeface="Arial"/>
              <a:ea typeface="Arial"/>
              <a:cs typeface="Arial"/>
              <a:sym typeface="Arial"/>
            </a:endParaRPr>
          </a:p>
          <a:p>
            <a:pPr indent="0" lvl="0" marL="0" rtl="0" algn="l">
              <a:lnSpc>
                <a:spcPct val="100000"/>
              </a:lnSpc>
              <a:spcBef>
                <a:spcPts val="0"/>
              </a:spcBef>
              <a:spcAft>
                <a:spcPts val="0"/>
              </a:spcAft>
              <a:buSzPts val="1400"/>
              <a:buNone/>
            </a:pPr>
            <a:r>
              <a:rPr b="1" i="0" lang="en-US">
                <a:solidFill>
                  <a:srgbClr val="333333"/>
                </a:solidFill>
                <a:latin typeface="Open Sans"/>
                <a:ea typeface="Open Sans"/>
                <a:cs typeface="Open Sans"/>
                <a:sym typeface="Open Sans"/>
              </a:rPr>
              <a:t>PEAS for Robot Soccer Player:</a:t>
            </a:r>
            <a:endParaRPr/>
          </a:p>
          <a:p>
            <a:pPr indent="0" lvl="0" marL="0" rtl="0" algn="l">
              <a:lnSpc>
                <a:spcPct val="100000"/>
              </a:lnSpc>
              <a:spcBef>
                <a:spcPts val="0"/>
              </a:spcBef>
              <a:spcAft>
                <a:spcPts val="0"/>
              </a:spcAft>
              <a:buSzPts val="1400"/>
              <a:buNone/>
            </a:pPr>
            <a:r>
              <a:rPr b="1" i="0" lang="en-US">
                <a:solidFill>
                  <a:srgbClr val="333333"/>
                </a:solidFill>
                <a:latin typeface="Arial"/>
                <a:ea typeface="Arial"/>
                <a:cs typeface="Arial"/>
                <a:sym typeface="Arial"/>
              </a:rPr>
              <a:t>Performance Measure (P):</a:t>
            </a:r>
            <a:r>
              <a:rPr b="0" i="0" lang="en-US">
                <a:solidFill>
                  <a:srgbClr val="333333"/>
                </a:solidFill>
                <a:latin typeface="Arial"/>
                <a:ea typeface="Arial"/>
                <a:cs typeface="Arial"/>
                <a:sym typeface="Arial"/>
              </a:rPr>
              <a:t> To Play, Make Goal &amp; Win the Game.</a:t>
            </a:r>
            <a:endParaRPr/>
          </a:p>
          <a:p>
            <a:pPr indent="0" lvl="0" marL="0" rtl="0" algn="l">
              <a:lnSpc>
                <a:spcPct val="100000"/>
              </a:lnSpc>
              <a:spcBef>
                <a:spcPts val="0"/>
              </a:spcBef>
              <a:spcAft>
                <a:spcPts val="0"/>
              </a:spcAft>
              <a:buSzPts val="1400"/>
              <a:buNone/>
            </a:pPr>
            <a:r>
              <a:rPr b="1" i="0" lang="en-US">
                <a:solidFill>
                  <a:srgbClr val="333333"/>
                </a:solidFill>
                <a:latin typeface="Arial"/>
                <a:ea typeface="Arial"/>
                <a:cs typeface="Arial"/>
                <a:sym typeface="Arial"/>
              </a:rPr>
              <a:t>Environment (E):</a:t>
            </a:r>
            <a:r>
              <a:rPr b="0" i="0" lang="en-US">
                <a:solidFill>
                  <a:srgbClr val="333333"/>
                </a:solidFill>
                <a:latin typeface="Arial"/>
                <a:ea typeface="Arial"/>
                <a:cs typeface="Arial"/>
                <a:sym typeface="Arial"/>
              </a:rPr>
              <a:t> Soccer, Team Members, Opponents, Referee, Audience and Soccer Field.</a:t>
            </a:r>
            <a:endParaRPr/>
          </a:p>
          <a:p>
            <a:pPr indent="0" lvl="0" marL="0" rtl="0" algn="l">
              <a:lnSpc>
                <a:spcPct val="100000"/>
              </a:lnSpc>
              <a:spcBef>
                <a:spcPts val="0"/>
              </a:spcBef>
              <a:spcAft>
                <a:spcPts val="0"/>
              </a:spcAft>
              <a:buSzPts val="1400"/>
              <a:buNone/>
            </a:pPr>
            <a:r>
              <a:rPr b="1" i="0" lang="en-US">
                <a:solidFill>
                  <a:srgbClr val="333333"/>
                </a:solidFill>
                <a:latin typeface="Arial"/>
                <a:ea typeface="Arial"/>
                <a:cs typeface="Arial"/>
                <a:sym typeface="Arial"/>
              </a:rPr>
              <a:t>Actuators (A):</a:t>
            </a:r>
            <a:r>
              <a:rPr b="0" i="0" lang="en-US">
                <a:solidFill>
                  <a:srgbClr val="333333"/>
                </a:solidFill>
                <a:latin typeface="Arial"/>
                <a:ea typeface="Arial"/>
                <a:cs typeface="Arial"/>
                <a:sym typeface="Arial"/>
              </a:rPr>
              <a:t> Navigator, Legs of Robot, View Detector for Robot.</a:t>
            </a:r>
            <a:endParaRPr/>
          </a:p>
          <a:p>
            <a:pPr indent="0" lvl="0" marL="0" rtl="0" algn="l">
              <a:lnSpc>
                <a:spcPct val="100000"/>
              </a:lnSpc>
              <a:spcBef>
                <a:spcPts val="0"/>
              </a:spcBef>
              <a:spcAft>
                <a:spcPts val="0"/>
              </a:spcAft>
              <a:buSzPts val="1400"/>
              <a:buNone/>
            </a:pPr>
            <a:r>
              <a:rPr b="1" i="0" lang="en-US">
                <a:solidFill>
                  <a:srgbClr val="333333"/>
                </a:solidFill>
                <a:latin typeface="Arial"/>
                <a:ea typeface="Arial"/>
                <a:cs typeface="Arial"/>
                <a:sym typeface="Arial"/>
              </a:rPr>
              <a:t>Sensors (S):</a:t>
            </a:r>
            <a:r>
              <a:rPr b="0" i="0" lang="en-US">
                <a:solidFill>
                  <a:srgbClr val="333333"/>
                </a:solidFill>
                <a:latin typeface="Arial"/>
                <a:ea typeface="Arial"/>
                <a:cs typeface="Arial"/>
                <a:sym typeface="Arial"/>
              </a:rPr>
              <a:t> Camera, Communicators and Orientation &amp; Touch Sensors.</a:t>
            </a:r>
            <a:endParaRPr/>
          </a:p>
          <a:p>
            <a:pPr indent="0" lvl="0" marL="0" rtl="0" algn="l">
              <a:lnSpc>
                <a:spcPct val="100000"/>
              </a:lnSpc>
              <a:spcBef>
                <a:spcPts val="0"/>
              </a:spcBef>
              <a:spcAft>
                <a:spcPts val="0"/>
              </a:spcAft>
              <a:buSzPts val="1400"/>
              <a:buNone/>
            </a:pPr>
            <a:r>
              <a:rPr b="0" i="0" lang="en-US">
                <a:solidFill>
                  <a:srgbClr val="333333"/>
                </a:solidFill>
                <a:latin typeface="Open Sans"/>
                <a:ea typeface="Open Sans"/>
                <a:cs typeface="Open Sans"/>
                <a:sym typeface="Open Sans"/>
              </a:rPr>
              <a:t>Environment:</a:t>
            </a:r>
            <a:endParaRPr/>
          </a:p>
          <a:p>
            <a:pPr indent="0" lvl="0" marL="0" rtl="0" algn="l">
              <a:lnSpc>
                <a:spcPct val="100000"/>
              </a:lnSpc>
              <a:spcBef>
                <a:spcPts val="0"/>
              </a:spcBef>
              <a:spcAft>
                <a:spcPts val="0"/>
              </a:spcAft>
              <a:buSzPts val="1400"/>
              <a:buNone/>
            </a:pPr>
            <a:r>
              <a:rPr b="0" i="0" lang="en-US">
                <a:solidFill>
                  <a:srgbClr val="333333"/>
                </a:solidFill>
                <a:latin typeface="Arial"/>
                <a:ea typeface="Arial"/>
                <a:cs typeface="Arial"/>
                <a:sym typeface="Arial"/>
              </a:rPr>
              <a:t>Partially Observable, Stochastic, Sequential, Dynamic, Continuous and Multi Agent.</a:t>
            </a:r>
            <a:endParaRPr/>
          </a:p>
          <a:p>
            <a:pPr indent="0" lvl="0" marL="0" rtl="0" algn="l">
              <a:lnSpc>
                <a:spcPct val="100000"/>
              </a:lnSpc>
              <a:spcBef>
                <a:spcPts val="0"/>
              </a:spcBef>
              <a:spcAft>
                <a:spcPts val="0"/>
              </a:spcAft>
              <a:buSzPts val="1400"/>
              <a:buNone/>
            </a:pPr>
            <a:r>
              <a:t/>
            </a:r>
            <a:endParaRPr b="0" i="0">
              <a:solidFill>
                <a:srgbClr val="333333"/>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306" name="Google Shape;30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cc3cf20d3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cc3cf20d3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3cc3cf20d3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cc3cf20d30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cc3cf20d30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3cc3cf20d30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because one can never predict the behavior of traffic exactly; moreover, one’s tires blow out and one’s engine seizes up without warning. </a:t>
            </a:r>
            <a:endParaRPr/>
          </a:p>
          <a:p>
            <a:pPr indent="0" lvl="0" marL="0" marR="0" rtl="0" algn="l">
              <a:lnSpc>
                <a:spcPct val="100000"/>
              </a:lnSpc>
              <a:spcBef>
                <a:spcPts val="0"/>
              </a:spcBef>
              <a:spcAft>
                <a:spcPts val="0"/>
              </a:spcAft>
              <a:buClr>
                <a:schemeClr val="dk1"/>
              </a:buClr>
              <a:buSzPts val="1200"/>
              <a:buFont typeface="Calibri"/>
              <a:buNone/>
            </a:pPr>
            <a:r>
              <a:rPr lang="en-US"/>
              <a:t>The vacuum world as we described it is deterministic, but variations can include stochastic elements such as randomly appearing dirt and an unreliable suction mechanism</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rtl="0" algn="l">
              <a:lnSpc>
                <a:spcPct val="100000"/>
              </a:lnSpc>
              <a:spcBef>
                <a:spcPts val="0"/>
              </a:spcBef>
              <a:spcAft>
                <a:spcPts val="0"/>
              </a:spcAft>
              <a:buSzPts val="1400"/>
              <a:buNone/>
            </a:pPr>
            <a:r>
              <a:t/>
            </a:r>
            <a:endParaRPr/>
          </a:p>
        </p:txBody>
      </p:sp>
      <p:sp>
        <p:nvSpPr>
          <p:cNvPr id="352" name="Google Shape;35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5" name="Google Shape;42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when the knowledge is less than 100% certain – for example, we can guess from a customer’s buying pattern that he likes coffee without being 100% certain</a:t>
            </a:r>
            <a:endParaRPr/>
          </a:p>
          <a:p>
            <a:pPr indent="0" lvl="0" marL="0" rtl="0" algn="l">
              <a:lnSpc>
                <a:spcPct val="100000"/>
              </a:lnSpc>
              <a:spcBef>
                <a:spcPts val="0"/>
              </a:spcBef>
              <a:spcAft>
                <a:spcPts val="0"/>
              </a:spcAft>
              <a:buSzPts val="1400"/>
              <a:buNone/>
            </a:pPr>
            <a:r>
              <a:t/>
            </a:r>
            <a:endParaRPr/>
          </a:p>
        </p:txBody>
      </p:sp>
      <p:sp>
        <p:nvSpPr>
          <p:cNvPr id="433" name="Google Shape;43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some situations, there is no provably correct thing to do, but something must still be done- example?	</a:t>
            </a:r>
            <a:endParaRPr/>
          </a:p>
        </p:txBody>
      </p:sp>
      <p:sp>
        <p:nvSpPr>
          <p:cNvPr id="441" name="Google Shape;44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8" name="Google Shape;44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9"/>
          <p:cNvSpPr txBox="1"/>
          <p:nvPr>
            <p:ph type="ctrTitle"/>
          </p:nvPr>
        </p:nvSpPr>
        <p:spPr>
          <a:xfrm>
            <a:off x="2209800" y="4464028"/>
            <a:ext cx="9144000" cy="1641490"/>
          </a:xfrm>
          <a:prstGeom prst="rect">
            <a:avLst/>
          </a:prstGeom>
          <a:noFill/>
          <a:ln>
            <a:noFill/>
          </a:ln>
        </p:spPr>
        <p:txBody>
          <a:bodyPr anchorCtr="0" anchor="t" bIns="45700" lIns="91425" spcFirstLastPara="1" rIns="91425" wrap="square" tIns="45700">
            <a:normAutofit/>
          </a:bodyPr>
          <a:lstStyle>
            <a:lvl1pPr lvl="0" algn="r">
              <a:lnSpc>
                <a:spcPct val="90000"/>
              </a:lnSpc>
              <a:spcBef>
                <a:spcPts val="0"/>
              </a:spcBef>
              <a:spcAft>
                <a:spcPts val="0"/>
              </a:spcAft>
              <a:buClr>
                <a:srgbClr val="E2E2E2"/>
              </a:buClr>
              <a:buSzPts val="9600"/>
              <a:buFont typeface="Corbel"/>
              <a:buNone/>
              <a:defRPr b="0" sz="9600">
                <a:solidFill>
                  <a:srgbClr val="E2E2E2"/>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9"/>
          <p:cNvSpPr txBox="1"/>
          <p:nvPr>
            <p:ph idx="1" type="subTitle"/>
          </p:nvPr>
        </p:nvSpPr>
        <p:spPr>
          <a:xfrm>
            <a:off x="2209799" y="3694375"/>
            <a:ext cx="9144000" cy="754025"/>
          </a:xfrm>
          <a:prstGeom prst="rect">
            <a:avLst/>
          </a:prstGeom>
          <a:noFill/>
          <a:ln>
            <a:noFill/>
          </a:ln>
        </p:spPr>
        <p:txBody>
          <a:bodyPr anchorCtr="0" anchor="b" bIns="45700" lIns="91425" spcFirstLastPara="1" rIns="91425" wrap="square" tIns="45700">
            <a:normAutofit/>
          </a:bodyPr>
          <a:lstStyle>
            <a:lvl1pPr lvl="0" algn="r">
              <a:lnSpc>
                <a:spcPct val="90000"/>
              </a:lnSpc>
              <a:spcBef>
                <a:spcPts val="1000"/>
              </a:spcBef>
              <a:spcAft>
                <a:spcPts val="0"/>
              </a:spcAft>
              <a:buClr>
                <a:schemeClr val="lt2"/>
              </a:buClr>
              <a:buSzPts val="3200"/>
              <a:buNone/>
              <a:defRPr b="0" sz="3200">
                <a:solidFill>
                  <a:schemeClr val="lt2"/>
                </a:solidFill>
                <a:latin typeface="Corbel"/>
                <a:ea typeface="Corbel"/>
                <a:cs typeface="Corbel"/>
                <a:sym typeface="Corbel"/>
              </a:defRPr>
            </a:lvl1pPr>
            <a:lvl2pPr lvl="1" algn="ctr">
              <a:lnSpc>
                <a:spcPct val="90000"/>
              </a:lnSpc>
              <a:spcBef>
                <a:spcPts val="500"/>
              </a:spcBef>
              <a:spcAft>
                <a:spcPts val="0"/>
              </a:spcAft>
              <a:buClr>
                <a:srgbClr val="EDEDED"/>
              </a:buClr>
              <a:buSzPts val="2000"/>
              <a:buNone/>
              <a:defRPr sz="2000"/>
            </a:lvl2pPr>
            <a:lvl3pPr lvl="2" algn="ctr">
              <a:lnSpc>
                <a:spcPct val="90000"/>
              </a:lnSpc>
              <a:spcBef>
                <a:spcPts val="500"/>
              </a:spcBef>
              <a:spcAft>
                <a:spcPts val="0"/>
              </a:spcAft>
              <a:buClr>
                <a:srgbClr val="EDEDED"/>
              </a:buClr>
              <a:buSzPts val="1800"/>
              <a:buNone/>
              <a:defRPr sz="1800"/>
            </a:lvl3pPr>
            <a:lvl4pPr lvl="3" algn="ctr">
              <a:lnSpc>
                <a:spcPct val="90000"/>
              </a:lnSpc>
              <a:spcBef>
                <a:spcPts val="500"/>
              </a:spcBef>
              <a:spcAft>
                <a:spcPts val="0"/>
              </a:spcAft>
              <a:buClr>
                <a:srgbClr val="EDEDED"/>
              </a:buClr>
              <a:buSzPts val="1600"/>
              <a:buNone/>
              <a:defRPr sz="1600"/>
            </a:lvl4pPr>
            <a:lvl5pPr lvl="4" algn="ctr">
              <a:lnSpc>
                <a:spcPct val="90000"/>
              </a:lnSpc>
              <a:spcBef>
                <a:spcPts val="500"/>
              </a:spcBef>
              <a:spcAft>
                <a:spcPts val="0"/>
              </a:spcAft>
              <a:buClr>
                <a:srgbClr val="EDEDED"/>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8" name="Google Shape;1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0"/>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 name="Google Shape;24;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1"/>
          <p:cNvSpPr txBox="1"/>
          <p:nvPr>
            <p:ph idx="1" type="body"/>
          </p:nvPr>
        </p:nvSpPr>
        <p:spPr>
          <a:xfrm>
            <a:off x="1120000" y="1825625"/>
            <a:ext cx="5025216"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0" name="Google Shape;30;p41"/>
          <p:cNvSpPr txBox="1"/>
          <p:nvPr>
            <p:ph idx="2" type="body"/>
          </p:nvPr>
        </p:nvSpPr>
        <p:spPr>
          <a:xfrm>
            <a:off x="6319840" y="1825625"/>
            <a:ext cx="503396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 name="Google Shape;31;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43"/>
          <p:cNvSpPr txBox="1"/>
          <p:nvPr>
            <p:ph type="ctrTitle"/>
          </p:nvPr>
        </p:nvSpPr>
        <p:spPr>
          <a:xfrm>
            <a:off x="854532" y="4464028"/>
            <a:ext cx="9144000" cy="16414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E2E2E2"/>
              </a:buClr>
              <a:buSzPts val="9600"/>
              <a:buFont typeface="Corbel"/>
              <a:buNone/>
              <a:defRPr b="0" sz="9600">
                <a:solidFill>
                  <a:srgbClr val="E2E2E2"/>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3"/>
          <p:cNvSpPr txBox="1"/>
          <p:nvPr>
            <p:ph idx="1" type="subTitle"/>
          </p:nvPr>
        </p:nvSpPr>
        <p:spPr>
          <a:xfrm>
            <a:off x="854532" y="3693674"/>
            <a:ext cx="9144000" cy="754025"/>
          </a:xfrm>
          <a:prstGeom prst="rect">
            <a:avLst/>
          </a:prstGeom>
          <a:noFill/>
          <a:ln>
            <a:noFill/>
          </a:ln>
        </p:spPr>
        <p:txBody>
          <a:bodyPr anchorCtr="0" anchor="b" bIns="45700" lIns="91425" spcFirstLastPara="1" rIns="91425" wrap="square" tIns="45700">
            <a:normAutofit/>
          </a:bodyPr>
          <a:lstStyle>
            <a:lvl1pPr lvl="0" algn="l">
              <a:lnSpc>
                <a:spcPct val="90000"/>
              </a:lnSpc>
              <a:spcBef>
                <a:spcPts val="1000"/>
              </a:spcBef>
              <a:spcAft>
                <a:spcPts val="0"/>
              </a:spcAft>
              <a:buClr>
                <a:schemeClr val="lt2"/>
              </a:buClr>
              <a:buSzPts val="3200"/>
              <a:buNone/>
              <a:defRPr b="0" sz="3200">
                <a:solidFill>
                  <a:schemeClr val="lt2"/>
                </a:solidFill>
                <a:latin typeface="Corbel"/>
                <a:ea typeface="Corbel"/>
                <a:cs typeface="Corbel"/>
                <a:sym typeface="Corbel"/>
              </a:defRPr>
            </a:lvl1pPr>
            <a:lvl2pPr lvl="1" algn="ctr">
              <a:lnSpc>
                <a:spcPct val="90000"/>
              </a:lnSpc>
              <a:spcBef>
                <a:spcPts val="500"/>
              </a:spcBef>
              <a:spcAft>
                <a:spcPts val="0"/>
              </a:spcAft>
              <a:buClr>
                <a:srgbClr val="EDEDED"/>
              </a:buClr>
              <a:buSzPts val="2000"/>
              <a:buNone/>
              <a:defRPr sz="2000"/>
            </a:lvl2pPr>
            <a:lvl3pPr lvl="2" algn="ctr">
              <a:lnSpc>
                <a:spcPct val="90000"/>
              </a:lnSpc>
              <a:spcBef>
                <a:spcPts val="500"/>
              </a:spcBef>
              <a:spcAft>
                <a:spcPts val="0"/>
              </a:spcAft>
              <a:buClr>
                <a:srgbClr val="EDEDED"/>
              </a:buClr>
              <a:buSzPts val="1800"/>
              <a:buNone/>
              <a:defRPr sz="1800"/>
            </a:lvl3pPr>
            <a:lvl4pPr lvl="3" algn="ctr">
              <a:lnSpc>
                <a:spcPct val="90000"/>
              </a:lnSpc>
              <a:spcBef>
                <a:spcPts val="500"/>
              </a:spcBef>
              <a:spcAft>
                <a:spcPts val="0"/>
              </a:spcAft>
              <a:buClr>
                <a:srgbClr val="EDEDED"/>
              </a:buClr>
              <a:buSzPts val="1600"/>
              <a:buNone/>
              <a:defRPr sz="1600"/>
            </a:lvl4pPr>
            <a:lvl5pPr lvl="4" algn="ctr">
              <a:lnSpc>
                <a:spcPct val="90000"/>
              </a:lnSpc>
              <a:spcBef>
                <a:spcPts val="500"/>
              </a:spcBef>
              <a:spcAft>
                <a:spcPts val="0"/>
              </a:spcAft>
              <a:buClr>
                <a:srgbClr val="EDEDED"/>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41" name="Google Shape;41;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4"/>
          <p:cNvSpPr txBox="1"/>
          <p:nvPr>
            <p:ph idx="1" type="body"/>
          </p:nvPr>
        </p:nvSpPr>
        <p:spPr>
          <a:xfrm>
            <a:off x="1120000" y="1681163"/>
            <a:ext cx="5025216"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228600" lvl="1" marL="914400" algn="l">
              <a:lnSpc>
                <a:spcPct val="90000"/>
              </a:lnSpc>
              <a:spcBef>
                <a:spcPts val="500"/>
              </a:spcBef>
              <a:spcAft>
                <a:spcPts val="0"/>
              </a:spcAft>
              <a:buClr>
                <a:srgbClr val="EDEDED"/>
              </a:buClr>
              <a:buSzPts val="2000"/>
              <a:buNone/>
              <a:defRPr b="1" sz="2000"/>
            </a:lvl2pPr>
            <a:lvl3pPr indent="-228600" lvl="2" marL="1371600" algn="l">
              <a:lnSpc>
                <a:spcPct val="90000"/>
              </a:lnSpc>
              <a:spcBef>
                <a:spcPts val="500"/>
              </a:spcBef>
              <a:spcAft>
                <a:spcPts val="0"/>
              </a:spcAft>
              <a:buClr>
                <a:srgbClr val="EDEDED"/>
              </a:buClr>
              <a:buSzPts val="1800"/>
              <a:buNone/>
              <a:defRPr b="1" sz="1800"/>
            </a:lvl3pPr>
            <a:lvl4pPr indent="-228600" lvl="3" marL="1828800" algn="l">
              <a:lnSpc>
                <a:spcPct val="90000"/>
              </a:lnSpc>
              <a:spcBef>
                <a:spcPts val="500"/>
              </a:spcBef>
              <a:spcAft>
                <a:spcPts val="0"/>
              </a:spcAft>
              <a:buClr>
                <a:srgbClr val="EDEDED"/>
              </a:buClr>
              <a:buSzPts val="1600"/>
              <a:buNone/>
              <a:defRPr b="1" sz="1600"/>
            </a:lvl4pPr>
            <a:lvl5pPr indent="-228600" lvl="4" marL="2286000" algn="l">
              <a:lnSpc>
                <a:spcPct val="90000"/>
              </a:lnSpc>
              <a:spcBef>
                <a:spcPts val="500"/>
              </a:spcBef>
              <a:spcAft>
                <a:spcPts val="0"/>
              </a:spcAft>
              <a:buClr>
                <a:srgbClr val="EDEDED"/>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7" name="Google Shape;47;p44"/>
          <p:cNvSpPr txBox="1"/>
          <p:nvPr>
            <p:ph idx="2" type="body"/>
          </p:nvPr>
        </p:nvSpPr>
        <p:spPr>
          <a:xfrm>
            <a:off x="1120000" y="2505075"/>
            <a:ext cx="5025216"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8" name="Google Shape;48;p44"/>
          <p:cNvSpPr txBox="1"/>
          <p:nvPr>
            <p:ph idx="3" type="body"/>
          </p:nvPr>
        </p:nvSpPr>
        <p:spPr>
          <a:xfrm>
            <a:off x="6319840" y="1681163"/>
            <a:ext cx="50355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9" name="Google Shape;49;p44"/>
          <p:cNvSpPr txBox="1"/>
          <p:nvPr>
            <p:ph idx="4" type="body"/>
          </p:nvPr>
        </p:nvSpPr>
        <p:spPr>
          <a:xfrm>
            <a:off x="6319840" y="2505075"/>
            <a:ext cx="503554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0" name="Google Shape;50;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EDEDED"/>
              </a:buClr>
              <a:buSzPts val="3200"/>
              <a:buFont typeface="Corbe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1" name="Google Shape;61;p46"/>
          <p:cNvSpPr txBox="1"/>
          <p:nvPr>
            <p:ph idx="2" type="body"/>
          </p:nvPr>
        </p:nvSpPr>
        <p:spPr>
          <a:xfrm>
            <a:off x="1120000" y="2057400"/>
            <a:ext cx="3652025"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600"/>
              <a:buNone/>
              <a:defRPr sz="1600">
                <a:solidFill>
                  <a:schemeClr val="lt2"/>
                </a:solidFill>
              </a:defRPr>
            </a:lvl1pPr>
            <a:lvl2pPr indent="-228600" lvl="1" marL="914400" algn="l">
              <a:lnSpc>
                <a:spcPct val="90000"/>
              </a:lnSpc>
              <a:spcBef>
                <a:spcPts val="500"/>
              </a:spcBef>
              <a:spcAft>
                <a:spcPts val="0"/>
              </a:spcAft>
              <a:buClr>
                <a:srgbClr val="EDEDED"/>
              </a:buClr>
              <a:buSzPts val="1400"/>
              <a:buNone/>
              <a:defRPr sz="1400"/>
            </a:lvl2pPr>
            <a:lvl3pPr indent="-228600" lvl="2" marL="1371600" algn="l">
              <a:lnSpc>
                <a:spcPct val="90000"/>
              </a:lnSpc>
              <a:spcBef>
                <a:spcPts val="500"/>
              </a:spcBef>
              <a:spcAft>
                <a:spcPts val="0"/>
              </a:spcAft>
              <a:buClr>
                <a:srgbClr val="EDEDED"/>
              </a:buClr>
              <a:buSzPts val="1200"/>
              <a:buNone/>
              <a:defRPr sz="1200"/>
            </a:lvl3pPr>
            <a:lvl4pPr indent="-228600" lvl="3" marL="1828800" algn="l">
              <a:lnSpc>
                <a:spcPct val="90000"/>
              </a:lnSpc>
              <a:spcBef>
                <a:spcPts val="500"/>
              </a:spcBef>
              <a:spcAft>
                <a:spcPts val="0"/>
              </a:spcAft>
              <a:buClr>
                <a:srgbClr val="EDEDED"/>
              </a:buClr>
              <a:buSzPts val="1000"/>
              <a:buNone/>
              <a:defRPr sz="1000"/>
            </a:lvl4pPr>
            <a:lvl5pPr indent="-228600" lvl="4" marL="2286000" algn="l">
              <a:lnSpc>
                <a:spcPct val="90000"/>
              </a:lnSpc>
              <a:spcBef>
                <a:spcPts val="500"/>
              </a:spcBef>
              <a:spcAft>
                <a:spcPts val="0"/>
              </a:spcAft>
              <a:buClr>
                <a:srgbClr val="EDEDED"/>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2" name="Google Shape;6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EDEDED"/>
              </a:buClr>
              <a:buSzPts val="3200"/>
              <a:buFont typeface="Corbe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7"/>
          <p:cNvSpPr/>
          <p:nvPr>
            <p:ph idx="2" type="pic"/>
          </p:nvPr>
        </p:nvSpPr>
        <p:spPr>
          <a:xfrm>
            <a:off x="5183188" y="987425"/>
            <a:ext cx="6172200" cy="4873625"/>
          </a:xfrm>
          <a:prstGeom prst="rect">
            <a:avLst/>
          </a:prstGeom>
          <a:noFill/>
          <a:ln>
            <a:noFill/>
          </a:ln>
        </p:spPr>
      </p:sp>
      <p:sp>
        <p:nvSpPr>
          <p:cNvPr id="68" name="Google Shape;68;p47"/>
          <p:cNvSpPr txBox="1"/>
          <p:nvPr>
            <p:ph idx="1" type="body"/>
          </p:nvPr>
        </p:nvSpPr>
        <p:spPr>
          <a:xfrm>
            <a:off x="1120000" y="2057400"/>
            <a:ext cx="3652025"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600"/>
              <a:buNone/>
              <a:defRPr sz="1600">
                <a:solidFill>
                  <a:schemeClr val="lt2"/>
                </a:solidFill>
              </a:defRPr>
            </a:lvl1pPr>
            <a:lvl2pPr indent="-228600" lvl="1" marL="914400" algn="l">
              <a:lnSpc>
                <a:spcPct val="90000"/>
              </a:lnSpc>
              <a:spcBef>
                <a:spcPts val="500"/>
              </a:spcBef>
              <a:spcAft>
                <a:spcPts val="0"/>
              </a:spcAft>
              <a:buClr>
                <a:srgbClr val="EDEDED"/>
              </a:buClr>
              <a:buSzPts val="1400"/>
              <a:buNone/>
              <a:defRPr sz="1400"/>
            </a:lvl2pPr>
            <a:lvl3pPr indent="-228600" lvl="2" marL="1371600" algn="l">
              <a:lnSpc>
                <a:spcPct val="90000"/>
              </a:lnSpc>
              <a:spcBef>
                <a:spcPts val="500"/>
              </a:spcBef>
              <a:spcAft>
                <a:spcPts val="0"/>
              </a:spcAft>
              <a:buClr>
                <a:srgbClr val="EDEDED"/>
              </a:buClr>
              <a:buSzPts val="1200"/>
              <a:buNone/>
              <a:defRPr sz="1200"/>
            </a:lvl3pPr>
            <a:lvl4pPr indent="-228600" lvl="3" marL="1828800" algn="l">
              <a:lnSpc>
                <a:spcPct val="90000"/>
              </a:lnSpc>
              <a:spcBef>
                <a:spcPts val="500"/>
              </a:spcBef>
              <a:spcAft>
                <a:spcPts val="0"/>
              </a:spcAft>
              <a:buClr>
                <a:srgbClr val="EDEDED"/>
              </a:buClr>
              <a:buSzPts val="1000"/>
              <a:buNone/>
              <a:defRPr sz="1000"/>
            </a:lvl4pPr>
            <a:lvl5pPr indent="-228600" lvl="4" marL="2286000" algn="l">
              <a:lnSpc>
                <a:spcPct val="90000"/>
              </a:lnSpc>
              <a:spcBef>
                <a:spcPts val="500"/>
              </a:spcBef>
              <a:spcAft>
                <a:spcPts val="0"/>
              </a:spcAft>
              <a:buClr>
                <a:srgbClr val="EDEDED"/>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9" name="Google Shape;69;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2" name="Shape 72"/>
        <p:cNvGrpSpPr/>
        <p:nvPr/>
      </p:nvGrpSpPr>
      <p:grpSpPr>
        <a:xfrm>
          <a:off x="0" y="0"/>
          <a:ext cx="0" cy="0"/>
          <a:chOff x="0" y="0"/>
          <a:chExt cx="0" cy="0"/>
        </a:xfrm>
      </p:grpSpPr>
      <p:sp>
        <p:nvSpPr>
          <p:cNvPr id="73" name="Google Shape;73;p48"/>
          <p:cNvSpPr txBox="1"/>
          <p:nvPr>
            <p:ph type="title"/>
          </p:nvPr>
        </p:nvSpPr>
        <p:spPr>
          <a:xfrm>
            <a:off x="839788" y="4367160"/>
            <a:ext cx="10515600"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EDEDED"/>
              </a:buClr>
              <a:buSzPts val="3200"/>
              <a:buFont typeface="Corbe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8"/>
          <p:cNvSpPr/>
          <p:nvPr>
            <p:ph idx="2" type="pic"/>
          </p:nvPr>
        </p:nvSpPr>
        <p:spPr>
          <a:xfrm>
            <a:off x="839788" y="987425"/>
            <a:ext cx="10515600" cy="3379735"/>
          </a:xfrm>
          <a:prstGeom prst="rect">
            <a:avLst/>
          </a:prstGeom>
          <a:noFill/>
          <a:ln>
            <a:noFill/>
          </a:ln>
        </p:spPr>
      </p:sp>
      <p:sp>
        <p:nvSpPr>
          <p:cNvPr id="75" name="Google Shape;75;p48"/>
          <p:cNvSpPr txBox="1"/>
          <p:nvPr>
            <p:ph idx="1" type="body"/>
          </p:nvPr>
        </p:nvSpPr>
        <p:spPr>
          <a:xfrm>
            <a:off x="839788" y="5186516"/>
            <a:ext cx="10514012" cy="68247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600"/>
              <a:buNone/>
              <a:defRPr sz="1600">
                <a:solidFill>
                  <a:schemeClr val="lt2"/>
                </a:solidFill>
              </a:defRPr>
            </a:lvl1pPr>
            <a:lvl2pPr indent="-228600" lvl="1" marL="914400" algn="l">
              <a:lnSpc>
                <a:spcPct val="90000"/>
              </a:lnSpc>
              <a:spcBef>
                <a:spcPts val="500"/>
              </a:spcBef>
              <a:spcAft>
                <a:spcPts val="0"/>
              </a:spcAft>
              <a:buClr>
                <a:srgbClr val="EDEDED"/>
              </a:buClr>
              <a:buSzPts val="1400"/>
              <a:buNone/>
              <a:defRPr sz="1400"/>
            </a:lvl2pPr>
            <a:lvl3pPr indent="-228600" lvl="2" marL="1371600" algn="l">
              <a:lnSpc>
                <a:spcPct val="90000"/>
              </a:lnSpc>
              <a:spcBef>
                <a:spcPts val="500"/>
              </a:spcBef>
              <a:spcAft>
                <a:spcPts val="0"/>
              </a:spcAft>
              <a:buClr>
                <a:srgbClr val="EDEDED"/>
              </a:buClr>
              <a:buSzPts val="1200"/>
              <a:buNone/>
              <a:defRPr sz="1200"/>
            </a:lvl3pPr>
            <a:lvl4pPr indent="-228600" lvl="3" marL="1828800" algn="l">
              <a:lnSpc>
                <a:spcPct val="90000"/>
              </a:lnSpc>
              <a:spcBef>
                <a:spcPts val="500"/>
              </a:spcBef>
              <a:spcAft>
                <a:spcPts val="0"/>
              </a:spcAft>
              <a:buClr>
                <a:srgbClr val="EDEDED"/>
              </a:buClr>
              <a:buSzPts val="1000"/>
              <a:buNone/>
              <a:defRPr sz="1000"/>
            </a:lvl4pPr>
            <a:lvl5pPr indent="-228600" lvl="4" marL="2286000" algn="l">
              <a:lnSpc>
                <a:spcPct val="90000"/>
              </a:lnSpc>
              <a:spcBef>
                <a:spcPts val="500"/>
              </a:spcBef>
              <a:spcAft>
                <a:spcPts val="0"/>
              </a:spcAft>
              <a:buClr>
                <a:srgbClr val="EDEDED"/>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6" name="Google Shape;76;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79" name="Shape 79"/>
        <p:cNvGrpSpPr/>
        <p:nvPr/>
      </p:nvGrpSpPr>
      <p:grpSpPr>
        <a:xfrm>
          <a:off x="0" y="0"/>
          <a:ext cx="0" cy="0"/>
          <a:chOff x="0" y="0"/>
          <a:chExt cx="0" cy="0"/>
        </a:xfrm>
      </p:grpSpPr>
      <p:sp>
        <p:nvSpPr>
          <p:cNvPr id="80" name="Google Shape;80;p49"/>
          <p:cNvSpPr txBox="1"/>
          <p:nvPr>
            <p:ph type="title"/>
          </p:nvPr>
        </p:nvSpPr>
        <p:spPr>
          <a:xfrm>
            <a:off x="839788" y="365125"/>
            <a:ext cx="10515600" cy="3534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3200"/>
              <a:buFont typeface="Corbe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9"/>
          <p:cNvSpPr txBox="1"/>
          <p:nvPr>
            <p:ph idx="1" type="body"/>
          </p:nvPr>
        </p:nvSpPr>
        <p:spPr>
          <a:xfrm>
            <a:off x="839788" y="4489399"/>
            <a:ext cx="10514012" cy="150182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600"/>
              <a:buNone/>
              <a:defRPr sz="1600"/>
            </a:lvl1pPr>
            <a:lvl2pPr indent="-228600" lvl="1" marL="914400" algn="l">
              <a:lnSpc>
                <a:spcPct val="90000"/>
              </a:lnSpc>
              <a:spcBef>
                <a:spcPts val="500"/>
              </a:spcBef>
              <a:spcAft>
                <a:spcPts val="0"/>
              </a:spcAft>
              <a:buClr>
                <a:srgbClr val="EDEDED"/>
              </a:buClr>
              <a:buSzPts val="1400"/>
              <a:buNone/>
              <a:defRPr sz="1400"/>
            </a:lvl2pPr>
            <a:lvl3pPr indent="-228600" lvl="2" marL="1371600" algn="l">
              <a:lnSpc>
                <a:spcPct val="90000"/>
              </a:lnSpc>
              <a:spcBef>
                <a:spcPts val="500"/>
              </a:spcBef>
              <a:spcAft>
                <a:spcPts val="0"/>
              </a:spcAft>
              <a:buClr>
                <a:srgbClr val="EDEDED"/>
              </a:buClr>
              <a:buSzPts val="1200"/>
              <a:buNone/>
              <a:defRPr sz="1200"/>
            </a:lvl3pPr>
            <a:lvl4pPr indent="-228600" lvl="3" marL="1828800" algn="l">
              <a:lnSpc>
                <a:spcPct val="90000"/>
              </a:lnSpc>
              <a:spcBef>
                <a:spcPts val="500"/>
              </a:spcBef>
              <a:spcAft>
                <a:spcPts val="0"/>
              </a:spcAft>
              <a:buClr>
                <a:srgbClr val="EDEDED"/>
              </a:buClr>
              <a:buSzPts val="1000"/>
              <a:buNone/>
              <a:defRPr sz="1000"/>
            </a:lvl4pPr>
            <a:lvl5pPr indent="-228600" lvl="4" marL="2286000" algn="l">
              <a:lnSpc>
                <a:spcPct val="90000"/>
              </a:lnSpc>
              <a:spcBef>
                <a:spcPts val="500"/>
              </a:spcBef>
              <a:spcAft>
                <a:spcPts val="0"/>
              </a:spcAft>
              <a:buClr>
                <a:srgbClr val="EDEDED"/>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5" name="Shape 85"/>
        <p:cNvGrpSpPr/>
        <p:nvPr/>
      </p:nvGrpSpPr>
      <p:grpSpPr>
        <a:xfrm>
          <a:off x="0" y="0"/>
          <a:ext cx="0" cy="0"/>
          <a:chOff x="0" y="0"/>
          <a:chExt cx="0" cy="0"/>
        </a:xfrm>
      </p:grpSpPr>
      <p:sp>
        <p:nvSpPr>
          <p:cNvPr id="86" name="Google Shape;86;p50"/>
          <p:cNvSpPr txBox="1"/>
          <p:nvPr>
            <p:ph type="title"/>
          </p:nvPr>
        </p:nvSpPr>
        <p:spPr>
          <a:xfrm>
            <a:off x="1446212" y="365125"/>
            <a:ext cx="9302752" cy="299290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4400"/>
              <a:buFont typeface="Corbel"/>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50"/>
          <p:cNvSpPr txBox="1"/>
          <p:nvPr>
            <p:ph idx="1" type="body"/>
          </p:nvPr>
        </p:nvSpPr>
        <p:spPr>
          <a:xfrm>
            <a:off x="1720644" y="3365557"/>
            <a:ext cx="875229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DEDED"/>
              </a:buClr>
              <a:buSzPts val="1400"/>
              <a:buNone/>
              <a:defRPr sz="1400"/>
            </a:lvl2pPr>
            <a:lvl3pPr indent="-228600" lvl="2" marL="1371600" algn="l">
              <a:lnSpc>
                <a:spcPct val="90000"/>
              </a:lnSpc>
              <a:spcBef>
                <a:spcPts val="500"/>
              </a:spcBef>
              <a:spcAft>
                <a:spcPts val="0"/>
              </a:spcAft>
              <a:buClr>
                <a:srgbClr val="EDEDED"/>
              </a:buClr>
              <a:buSzPts val="1200"/>
              <a:buNone/>
              <a:defRPr sz="1200"/>
            </a:lvl3pPr>
            <a:lvl4pPr indent="-228600" lvl="3" marL="1828800" algn="l">
              <a:lnSpc>
                <a:spcPct val="90000"/>
              </a:lnSpc>
              <a:spcBef>
                <a:spcPts val="500"/>
              </a:spcBef>
              <a:spcAft>
                <a:spcPts val="0"/>
              </a:spcAft>
              <a:buClr>
                <a:srgbClr val="EDEDED"/>
              </a:buClr>
              <a:buSzPts val="1000"/>
              <a:buNone/>
              <a:defRPr sz="1000"/>
            </a:lvl4pPr>
            <a:lvl5pPr indent="-228600" lvl="4" marL="2286000" algn="l">
              <a:lnSpc>
                <a:spcPct val="90000"/>
              </a:lnSpc>
              <a:spcBef>
                <a:spcPts val="500"/>
              </a:spcBef>
              <a:spcAft>
                <a:spcPts val="0"/>
              </a:spcAft>
              <a:buClr>
                <a:srgbClr val="EDEDED"/>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8" name="Google Shape;88;p50"/>
          <p:cNvSpPr txBox="1"/>
          <p:nvPr>
            <p:ph idx="2" type="body"/>
          </p:nvPr>
        </p:nvSpPr>
        <p:spPr>
          <a:xfrm>
            <a:off x="838200" y="4501729"/>
            <a:ext cx="10512424" cy="148949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600"/>
              <a:buNone/>
              <a:defRPr sz="1600"/>
            </a:lvl1pPr>
            <a:lvl2pPr indent="-228600" lvl="1" marL="914400" algn="l">
              <a:lnSpc>
                <a:spcPct val="90000"/>
              </a:lnSpc>
              <a:spcBef>
                <a:spcPts val="500"/>
              </a:spcBef>
              <a:spcAft>
                <a:spcPts val="0"/>
              </a:spcAft>
              <a:buClr>
                <a:srgbClr val="EDEDED"/>
              </a:buClr>
              <a:buSzPts val="1400"/>
              <a:buNone/>
              <a:defRPr sz="1400"/>
            </a:lvl2pPr>
            <a:lvl3pPr indent="-228600" lvl="2" marL="1371600" algn="l">
              <a:lnSpc>
                <a:spcPct val="90000"/>
              </a:lnSpc>
              <a:spcBef>
                <a:spcPts val="500"/>
              </a:spcBef>
              <a:spcAft>
                <a:spcPts val="0"/>
              </a:spcAft>
              <a:buClr>
                <a:srgbClr val="EDEDED"/>
              </a:buClr>
              <a:buSzPts val="1200"/>
              <a:buNone/>
              <a:defRPr sz="1200"/>
            </a:lvl3pPr>
            <a:lvl4pPr indent="-228600" lvl="3" marL="1828800" algn="l">
              <a:lnSpc>
                <a:spcPct val="90000"/>
              </a:lnSpc>
              <a:spcBef>
                <a:spcPts val="500"/>
              </a:spcBef>
              <a:spcAft>
                <a:spcPts val="0"/>
              </a:spcAft>
              <a:buClr>
                <a:srgbClr val="EDEDED"/>
              </a:buClr>
              <a:buSzPts val="1000"/>
              <a:buNone/>
              <a:defRPr sz="1000"/>
            </a:lvl4pPr>
            <a:lvl5pPr indent="-228600" lvl="4" marL="2286000" algn="l">
              <a:lnSpc>
                <a:spcPct val="90000"/>
              </a:lnSpc>
              <a:spcBef>
                <a:spcPts val="500"/>
              </a:spcBef>
              <a:spcAft>
                <a:spcPts val="0"/>
              </a:spcAft>
              <a:buClr>
                <a:srgbClr val="EDEDED"/>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50"/>
          <p:cNvSpPr txBox="1"/>
          <p:nvPr/>
        </p:nvSpPr>
        <p:spPr>
          <a:xfrm>
            <a:off x="1111044" y="786824"/>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8000"/>
              <a:buFont typeface="Corbel"/>
              <a:buNone/>
            </a:pPr>
            <a:r>
              <a:rPr b="0" i="0" lang="en-US" sz="8000" u="none" cap="none" strike="noStrike">
                <a:solidFill>
                  <a:schemeClr val="lt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93" name="Google Shape;93;p50"/>
          <p:cNvSpPr txBox="1"/>
          <p:nvPr/>
        </p:nvSpPr>
        <p:spPr>
          <a:xfrm>
            <a:off x="10437812"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orbel"/>
              <a:buNone/>
            </a:pPr>
            <a:r>
              <a:rPr b="0" i="0" lang="en-US" sz="8000" u="none" cap="none" strike="noStrike">
                <a:solidFill>
                  <a:schemeClr val="lt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4" name="Shape 94"/>
        <p:cNvGrpSpPr/>
        <p:nvPr/>
      </p:nvGrpSpPr>
      <p:grpSpPr>
        <a:xfrm>
          <a:off x="0" y="0"/>
          <a:ext cx="0" cy="0"/>
          <a:chOff x="0" y="0"/>
          <a:chExt cx="0" cy="0"/>
        </a:xfrm>
      </p:grpSpPr>
      <p:sp>
        <p:nvSpPr>
          <p:cNvPr id="95" name="Google Shape;95;p51"/>
          <p:cNvSpPr txBox="1"/>
          <p:nvPr>
            <p:ph type="title"/>
          </p:nvPr>
        </p:nvSpPr>
        <p:spPr>
          <a:xfrm>
            <a:off x="839788" y="2326967"/>
            <a:ext cx="10515600"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EDEDED"/>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1"/>
          <p:cNvSpPr txBox="1"/>
          <p:nvPr>
            <p:ph idx="1" type="body"/>
          </p:nvPr>
        </p:nvSpPr>
        <p:spPr>
          <a:xfrm>
            <a:off x="839788" y="4850581"/>
            <a:ext cx="10514012" cy="114064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600"/>
              <a:buNone/>
              <a:defRPr sz="1600"/>
            </a:lvl1pPr>
            <a:lvl2pPr indent="-228600" lvl="1" marL="914400" algn="l">
              <a:lnSpc>
                <a:spcPct val="90000"/>
              </a:lnSpc>
              <a:spcBef>
                <a:spcPts val="500"/>
              </a:spcBef>
              <a:spcAft>
                <a:spcPts val="0"/>
              </a:spcAft>
              <a:buClr>
                <a:srgbClr val="EDEDED"/>
              </a:buClr>
              <a:buSzPts val="1400"/>
              <a:buNone/>
              <a:defRPr sz="1400"/>
            </a:lvl2pPr>
            <a:lvl3pPr indent="-228600" lvl="2" marL="1371600" algn="l">
              <a:lnSpc>
                <a:spcPct val="90000"/>
              </a:lnSpc>
              <a:spcBef>
                <a:spcPts val="500"/>
              </a:spcBef>
              <a:spcAft>
                <a:spcPts val="0"/>
              </a:spcAft>
              <a:buClr>
                <a:srgbClr val="EDEDED"/>
              </a:buClr>
              <a:buSzPts val="1200"/>
              <a:buNone/>
              <a:defRPr sz="1200"/>
            </a:lvl3pPr>
            <a:lvl4pPr indent="-228600" lvl="3" marL="1828800" algn="l">
              <a:lnSpc>
                <a:spcPct val="90000"/>
              </a:lnSpc>
              <a:spcBef>
                <a:spcPts val="500"/>
              </a:spcBef>
              <a:spcAft>
                <a:spcPts val="0"/>
              </a:spcAft>
              <a:buClr>
                <a:srgbClr val="EDEDED"/>
              </a:buClr>
              <a:buSzPts val="1000"/>
              <a:buNone/>
              <a:defRPr sz="1000"/>
            </a:lvl4pPr>
            <a:lvl5pPr indent="-228600" lvl="4" marL="2286000" algn="l">
              <a:lnSpc>
                <a:spcPct val="90000"/>
              </a:lnSpc>
              <a:spcBef>
                <a:spcPts val="500"/>
              </a:spcBef>
              <a:spcAft>
                <a:spcPts val="0"/>
              </a:spcAft>
              <a:buClr>
                <a:srgbClr val="EDEDED"/>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7" name="Google Shape;97;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0" name="Shape 100"/>
        <p:cNvGrpSpPr/>
        <p:nvPr/>
      </p:nvGrpSpPr>
      <p:grpSpPr>
        <a:xfrm>
          <a:off x="0" y="0"/>
          <a:ext cx="0" cy="0"/>
          <a:chOff x="0" y="0"/>
          <a:chExt cx="0" cy="0"/>
        </a:xfrm>
      </p:grpSpPr>
      <p:sp>
        <p:nvSpPr>
          <p:cNvPr id="101" name="Google Shape;101;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52"/>
          <p:cNvSpPr txBox="1"/>
          <p:nvPr>
            <p:ph idx="1" type="body"/>
          </p:nvPr>
        </p:nvSpPr>
        <p:spPr>
          <a:xfrm>
            <a:off x="1337282" y="1885950"/>
            <a:ext cx="2946866"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228600" lvl="1" marL="914400" algn="l">
              <a:lnSpc>
                <a:spcPct val="90000"/>
              </a:lnSpc>
              <a:spcBef>
                <a:spcPts val="500"/>
              </a:spcBef>
              <a:spcAft>
                <a:spcPts val="0"/>
              </a:spcAft>
              <a:buClr>
                <a:srgbClr val="EDEDED"/>
              </a:buClr>
              <a:buSzPts val="2000"/>
              <a:buNone/>
              <a:defRPr b="1" sz="2000"/>
            </a:lvl2pPr>
            <a:lvl3pPr indent="-228600" lvl="2" marL="1371600" algn="l">
              <a:lnSpc>
                <a:spcPct val="90000"/>
              </a:lnSpc>
              <a:spcBef>
                <a:spcPts val="500"/>
              </a:spcBef>
              <a:spcAft>
                <a:spcPts val="0"/>
              </a:spcAft>
              <a:buClr>
                <a:srgbClr val="EDEDED"/>
              </a:buClr>
              <a:buSzPts val="1800"/>
              <a:buNone/>
              <a:defRPr b="1" sz="1800"/>
            </a:lvl3pPr>
            <a:lvl4pPr indent="-228600" lvl="3" marL="1828800" algn="l">
              <a:lnSpc>
                <a:spcPct val="90000"/>
              </a:lnSpc>
              <a:spcBef>
                <a:spcPts val="500"/>
              </a:spcBef>
              <a:spcAft>
                <a:spcPts val="0"/>
              </a:spcAft>
              <a:buClr>
                <a:srgbClr val="EDEDED"/>
              </a:buClr>
              <a:buSzPts val="1600"/>
              <a:buNone/>
              <a:defRPr b="1" sz="1600"/>
            </a:lvl4pPr>
            <a:lvl5pPr indent="-228600" lvl="4" marL="2286000" algn="l">
              <a:lnSpc>
                <a:spcPct val="90000"/>
              </a:lnSpc>
              <a:spcBef>
                <a:spcPts val="500"/>
              </a:spcBef>
              <a:spcAft>
                <a:spcPts val="0"/>
              </a:spcAft>
              <a:buClr>
                <a:srgbClr val="EDEDED"/>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3" name="Google Shape;103;p52"/>
          <p:cNvSpPr txBox="1"/>
          <p:nvPr>
            <p:ph idx="2" type="body"/>
          </p:nvPr>
        </p:nvSpPr>
        <p:spPr>
          <a:xfrm>
            <a:off x="1356798" y="2571750"/>
            <a:ext cx="2927350"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DEDED"/>
              </a:buClr>
              <a:buSzPts val="1200"/>
              <a:buNone/>
              <a:defRPr sz="1200"/>
            </a:lvl2pPr>
            <a:lvl3pPr indent="-228600" lvl="2" marL="1371600" algn="l">
              <a:lnSpc>
                <a:spcPct val="90000"/>
              </a:lnSpc>
              <a:spcBef>
                <a:spcPts val="500"/>
              </a:spcBef>
              <a:spcAft>
                <a:spcPts val="0"/>
              </a:spcAft>
              <a:buClr>
                <a:srgbClr val="EDEDED"/>
              </a:buClr>
              <a:buSzPts val="1000"/>
              <a:buNone/>
              <a:defRPr sz="1000"/>
            </a:lvl3pPr>
            <a:lvl4pPr indent="-228600" lvl="3" marL="1828800" algn="l">
              <a:lnSpc>
                <a:spcPct val="90000"/>
              </a:lnSpc>
              <a:spcBef>
                <a:spcPts val="500"/>
              </a:spcBef>
              <a:spcAft>
                <a:spcPts val="0"/>
              </a:spcAft>
              <a:buClr>
                <a:srgbClr val="EDEDED"/>
              </a:buClr>
              <a:buSzPts val="900"/>
              <a:buNone/>
              <a:defRPr sz="900"/>
            </a:lvl4pPr>
            <a:lvl5pPr indent="-228600" lvl="4" marL="2286000" algn="l">
              <a:lnSpc>
                <a:spcPct val="90000"/>
              </a:lnSpc>
              <a:spcBef>
                <a:spcPts val="500"/>
              </a:spcBef>
              <a:spcAft>
                <a:spcPts val="0"/>
              </a:spcAft>
              <a:buClr>
                <a:srgbClr val="EDEDED"/>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4" name="Google Shape;104;p52"/>
          <p:cNvSpPr txBox="1"/>
          <p:nvPr>
            <p:ph idx="3" type="body"/>
          </p:nvPr>
        </p:nvSpPr>
        <p:spPr>
          <a:xfrm>
            <a:off x="4587994" y="1885950"/>
            <a:ext cx="2936241"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5" name="Google Shape;105;p52"/>
          <p:cNvSpPr txBox="1"/>
          <p:nvPr>
            <p:ph idx="4" type="body"/>
          </p:nvPr>
        </p:nvSpPr>
        <p:spPr>
          <a:xfrm>
            <a:off x="4577441" y="2571750"/>
            <a:ext cx="2946794"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DEDED"/>
              </a:buClr>
              <a:buSzPts val="1200"/>
              <a:buNone/>
              <a:defRPr sz="1200"/>
            </a:lvl2pPr>
            <a:lvl3pPr indent="-228600" lvl="2" marL="1371600" algn="l">
              <a:lnSpc>
                <a:spcPct val="90000"/>
              </a:lnSpc>
              <a:spcBef>
                <a:spcPts val="500"/>
              </a:spcBef>
              <a:spcAft>
                <a:spcPts val="0"/>
              </a:spcAft>
              <a:buClr>
                <a:srgbClr val="EDEDED"/>
              </a:buClr>
              <a:buSzPts val="1000"/>
              <a:buNone/>
              <a:defRPr sz="1000"/>
            </a:lvl3pPr>
            <a:lvl4pPr indent="-228600" lvl="3" marL="1828800" algn="l">
              <a:lnSpc>
                <a:spcPct val="90000"/>
              </a:lnSpc>
              <a:spcBef>
                <a:spcPts val="500"/>
              </a:spcBef>
              <a:spcAft>
                <a:spcPts val="0"/>
              </a:spcAft>
              <a:buClr>
                <a:srgbClr val="EDEDED"/>
              </a:buClr>
              <a:buSzPts val="900"/>
              <a:buNone/>
              <a:defRPr sz="900"/>
            </a:lvl4pPr>
            <a:lvl5pPr indent="-228600" lvl="4" marL="2286000" algn="l">
              <a:lnSpc>
                <a:spcPct val="90000"/>
              </a:lnSpc>
              <a:spcBef>
                <a:spcPts val="500"/>
              </a:spcBef>
              <a:spcAft>
                <a:spcPts val="0"/>
              </a:spcAft>
              <a:buClr>
                <a:srgbClr val="EDEDED"/>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52"/>
          <p:cNvSpPr txBox="1"/>
          <p:nvPr>
            <p:ph idx="5" type="body"/>
          </p:nvPr>
        </p:nvSpPr>
        <p:spPr>
          <a:xfrm>
            <a:off x="7829035" y="1885950"/>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7" name="Google Shape;107;p52"/>
          <p:cNvSpPr txBox="1"/>
          <p:nvPr>
            <p:ph idx="6" type="body"/>
          </p:nvPr>
        </p:nvSpPr>
        <p:spPr>
          <a:xfrm>
            <a:off x="7829035" y="2571750"/>
            <a:ext cx="2932113"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DEDED"/>
              </a:buClr>
              <a:buSzPts val="1200"/>
              <a:buNone/>
              <a:defRPr sz="1200"/>
            </a:lvl2pPr>
            <a:lvl3pPr indent="-228600" lvl="2" marL="1371600" algn="l">
              <a:lnSpc>
                <a:spcPct val="90000"/>
              </a:lnSpc>
              <a:spcBef>
                <a:spcPts val="500"/>
              </a:spcBef>
              <a:spcAft>
                <a:spcPts val="0"/>
              </a:spcAft>
              <a:buClr>
                <a:srgbClr val="EDEDED"/>
              </a:buClr>
              <a:buSzPts val="1000"/>
              <a:buNone/>
              <a:defRPr sz="1000"/>
            </a:lvl3pPr>
            <a:lvl4pPr indent="-228600" lvl="3" marL="1828800" algn="l">
              <a:lnSpc>
                <a:spcPct val="90000"/>
              </a:lnSpc>
              <a:spcBef>
                <a:spcPts val="500"/>
              </a:spcBef>
              <a:spcAft>
                <a:spcPts val="0"/>
              </a:spcAft>
              <a:buClr>
                <a:srgbClr val="EDEDED"/>
              </a:buClr>
              <a:buSzPts val="900"/>
              <a:buNone/>
              <a:defRPr sz="900"/>
            </a:lvl4pPr>
            <a:lvl5pPr indent="-228600" lvl="4" marL="2286000" algn="l">
              <a:lnSpc>
                <a:spcPct val="90000"/>
              </a:lnSpc>
              <a:spcBef>
                <a:spcPts val="500"/>
              </a:spcBef>
              <a:spcAft>
                <a:spcPts val="0"/>
              </a:spcAft>
              <a:buClr>
                <a:srgbClr val="EDEDED"/>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1" name="Shape 111"/>
        <p:cNvGrpSpPr/>
        <p:nvPr/>
      </p:nvGrpSpPr>
      <p:grpSpPr>
        <a:xfrm>
          <a:off x="0" y="0"/>
          <a:ext cx="0" cy="0"/>
          <a:chOff x="0" y="0"/>
          <a:chExt cx="0" cy="0"/>
        </a:xfrm>
      </p:grpSpPr>
      <p:sp>
        <p:nvSpPr>
          <p:cNvPr id="112" name="Google Shape;112;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53"/>
          <p:cNvSpPr txBox="1"/>
          <p:nvPr>
            <p:ph idx="1" type="body"/>
          </p:nvPr>
        </p:nvSpPr>
        <p:spPr>
          <a:xfrm>
            <a:off x="1332085" y="4297503"/>
            <a:ext cx="294005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EDEDED"/>
              </a:buClr>
              <a:buSzPts val="2400"/>
              <a:buNone/>
              <a:defRPr b="0" sz="2400">
                <a:solidFill>
                  <a:srgbClr val="EDEDED"/>
                </a:solidFill>
              </a:defRPr>
            </a:lvl1pPr>
            <a:lvl2pPr indent="-228600" lvl="1" marL="914400" algn="l">
              <a:lnSpc>
                <a:spcPct val="90000"/>
              </a:lnSpc>
              <a:spcBef>
                <a:spcPts val="500"/>
              </a:spcBef>
              <a:spcAft>
                <a:spcPts val="0"/>
              </a:spcAft>
              <a:buClr>
                <a:srgbClr val="EDEDED"/>
              </a:buClr>
              <a:buSzPts val="2000"/>
              <a:buNone/>
              <a:defRPr b="1" sz="2000"/>
            </a:lvl2pPr>
            <a:lvl3pPr indent="-228600" lvl="2" marL="1371600" algn="l">
              <a:lnSpc>
                <a:spcPct val="90000"/>
              </a:lnSpc>
              <a:spcBef>
                <a:spcPts val="500"/>
              </a:spcBef>
              <a:spcAft>
                <a:spcPts val="0"/>
              </a:spcAft>
              <a:buClr>
                <a:srgbClr val="EDEDED"/>
              </a:buClr>
              <a:buSzPts val="1800"/>
              <a:buNone/>
              <a:defRPr b="1" sz="1800"/>
            </a:lvl3pPr>
            <a:lvl4pPr indent="-228600" lvl="3" marL="1828800" algn="l">
              <a:lnSpc>
                <a:spcPct val="90000"/>
              </a:lnSpc>
              <a:spcBef>
                <a:spcPts val="500"/>
              </a:spcBef>
              <a:spcAft>
                <a:spcPts val="0"/>
              </a:spcAft>
              <a:buClr>
                <a:srgbClr val="EDEDED"/>
              </a:buClr>
              <a:buSzPts val="1600"/>
              <a:buNone/>
              <a:defRPr b="1" sz="1600"/>
            </a:lvl4pPr>
            <a:lvl5pPr indent="-228600" lvl="4" marL="2286000" algn="l">
              <a:lnSpc>
                <a:spcPct val="90000"/>
              </a:lnSpc>
              <a:spcBef>
                <a:spcPts val="500"/>
              </a:spcBef>
              <a:spcAft>
                <a:spcPts val="0"/>
              </a:spcAft>
              <a:buClr>
                <a:srgbClr val="EDEDED"/>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4" name="Google Shape;114;p53"/>
          <p:cNvSpPr/>
          <p:nvPr>
            <p:ph idx="2" type="pic"/>
          </p:nvPr>
        </p:nvSpPr>
        <p:spPr>
          <a:xfrm>
            <a:off x="1332085" y="2256354"/>
            <a:ext cx="2940050"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15" name="Google Shape;115;p53"/>
          <p:cNvSpPr txBox="1"/>
          <p:nvPr>
            <p:ph idx="3" type="body"/>
          </p:nvPr>
        </p:nvSpPr>
        <p:spPr>
          <a:xfrm>
            <a:off x="1332085" y="4873765"/>
            <a:ext cx="2940050" cy="65918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DEDED"/>
              </a:buClr>
              <a:buSzPts val="1200"/>
              <a:buNone/>
              <a:defRPr sz="1200"/>
            </a:lvl2pPr>
            <a:lvl3pPr indent="-228600" lvl="2" marL="1371600" algn="l">
              <a:lnSpc>
                <a:spcPct val="90000"/>
              </a:lnSpc>
              <a:spcBef>
                <a:spcPts val="500"/>
              </a:spcBef>
              <a:spcAft>
                <a:spcPts val="0"/>
              </a:spcAft>
              <a:buClr>
                <a:srgbClr val="EDEDED"/>
              </a:buClr>
              <a:buSzPts val="1000"/>
              <a:buNone/>
              <a:defRPr sz="1000"/>
            </a:lvl3pPr>
            <a:lvl4pPr indent="-228600" lvl="3" marL="1828800" algn="l">
              <a:lnSpc>
                <a:spcPct val="90000"/>
              </a:lnSpc>
              <a:spcBef>
                <a:spcPts val="500"/>
              </a:spcBef>
              <a:spcAft>
                <a:spcPts val="0"/>
              </a:spcAft>
              <a:buClr>
                <a:srgbClr val="EDEDED"/>
              </a:buClr>
              <a:buSzPts val="900"/>
              <a:buNone/>
              <a:defRPr sz="900"/>
            </a:lvl4pPr>
            <a:lvl5pPr indent="-228600" lvl="4" marL="2286000" algn="l">
              <a:lnSpc>
                <a:spcPct val="90000"/>
              </a:lnSpc>
              <a:spcBef>
                <a:spcPts val="500"/>
              </a:spcBef>
              <a:spcAft>
                <a:spcPts val="0"/>
              </a:spcAft>
              <a:buClr>
                <a:srgbClr val="EDEDED"/>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6" name="Google Shape;116;p53"/>
          <p:cNvSpPr txBox="1"/>
          <p:nvPr>
            <p:ph idx="4" type="body"/>
          </p:nvPr>
        </p:nvSpPr>
        <p:spPr>
          <a:xfrm>
            <a:off x="4568997" y="4297503"/>
            <a:ext cx="293052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EDEDED"/>
              </a:buClr>
              <a:buSzPts val="2400"/>
              <a:buNone/>
              <a:defRPr b="0" sz="2400">
                <a:solidFill>
                  <a:srgbClr val="EDEDED"/>
                </a:solidFill>
              </a:defRPr>
            </a:lvl1pPr>
            <a:lvl2pPr indent="-228600" lvl="1" marL="914400" algn="l">
              <a:lnSpc>
                <a:spcPct val="90000"/>
              </a:lnSpc>
              <a:spcBef>
                <a:spcPts val="500"/>
              </a:spcBef>
              <a:spcAft>
                <a:spcPts val="0"/>
              </a:spcAft>
              <a:buClr>
                <a:srgbClr val="EDEDED"/>
              </a:buClr>
              <a:buSzPts val="2000"/>
              <a:buNone/>
              <a:defRPr b="1" sz="2000"/>
            </a:lvl2pPr>
            <a:lvl3pPr indent="-228600" lvl="2" marL="1371600" algn="l">
              <a:lnSpc>
                <a:spcPct val="90000"/>
              </a:lnSpc>
              <a:spcBef>
                <a:spcPts val="500"/>
              </a:spcBef>
              <a:spcAft>
                <a:spcPts val="0"/>
              </a:spcAft>
              <a:buClr>
                <a:srgbClr val="EDEDED"/>
              </a:buClr>
              <a:buSzPts val="1800"/>
              <a:buNone/>
              <a:defRPr b="1" sz="1800"/>
            </a:lvl3pPr>
            <a:lvl4pPr indent="-228600" lvl="3" marL="1828800" algn="l">
              <a:lnSpc>
                <a:spcPct val="90000"/>
              </a:lnSpc>
              <a:spcBef>
                <a:spcPts val="500"/>
              </a:spcBef>
              <a:spcAft>
                <a:spcPts val="0"/>
              </a:spcAft>
              <a:buClr>
                <a:srgbClr val="EDEDED"/>
              </a:buClr>
              <a:buSzPts val="1600"/>
              <a:buNone/>
              <a:defRPr b="1" sz="1600"/>
            </a:lvl4pPr>
            <a:lvl5pPr indent="-228600" lvl="4" marL="2286000" algn="l">
              <a:lnSpc>
                <a:spcPct val="90000"/>
              </a:lnSpc>
              <a:spcBef>
                <a:spcPts val="500"/>
              </a:spcBef>
              <a:spcAft>
                <a:spcPts val="0"/>
              </a:spcAft>
              <a:buClr>
                <a:srgbClr val="EDEDED"/>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7" name="Google Shape;117;p53"/>
          <p:cNvSpPr/>
          <p:nvPr>
            <p:ph idx="5" type="pic"/>
          </p:nvPr>
        </p:nvSpPr>
        <p:spPr>
          <a:xfrm>
            <a:off x="4568996" y="2256354"/>
            <a:ext cx="2930525"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18" name="Google Shape;118;p53"/>
          <p:cNvSpPr txBox="1"/>
          <p:nvPr>
            <p:ph idx="6" type="body"/>
          </p:nvPr>
        </p:nvSpPr>
        <p:spPr>
          <a:xfrm>
            <a:off x="4567644" y="4873764"/>
            <a:ext cx="2934406" cy="65918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DEDED"/>
              </a:buClr>
              <a:buSzPts val="1200"/>
              <a:buNone/>
              <a:defRPr sz="1200"/>
            </a:lvl2pPr>
            <a:lvl3pPr indent="-228600" lvl="2" marL="1371600" algn="l">
              <a:lnSpc>
                <a:spcPct val="90000"/>
              </a:lnSpc>
              <a:spcBef>
                <a:spcPts val="500"/>
              </a:spcBef>
              <a:spcAft>
                <a:spcPts val="0"/>
              </a:spcAft>
              <a:buClr>
                <a:srgbClr val="EDEDED"/>
              </a:buClr>
              <a:buSzPts val="1000"/>
              <a:buNone/>
              <a:defRPr sz="1000"/>
            </a:lvl3pPr>
            <a:lvl4pPr indent="-228600" lvl="3" marL="1828800" algn="l">
              <a:lnSpc>
                <a:spcPct val="90000"/>
              </a:lnSpc>
              <a:spcBef>
                <a:spcPts val="500"/>
              </a:spcBef>
              <a:spcAft>
                <a:spcPts val="0"/>
              </a:spcAft>
              <a:buClr>
                <a:srgbClr val="EDEDED"/>
              </a:buClr>
              <a:buSzPts val="900"/>
              <a:buNone/>
              <a:defRPr sz="900"/>
            </a:lvl4pPr>
            <a:lvl5pPr indent="-228600" lvl="4" marL="2286000" algn="l">
              <a:lnSpc>
                <a:spcPct val="90000"/>
              </a:lnSpc>
              <a:spcBef>
                <a:spcPts val="500"/>
              </a:spcBef>
              <a:spcAft>
                <a:spcPts val="0"/>
              </a:spcAft>
              <a:buClr>
                <a:srgbClr val="EDEDED"/>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9" name="Google Shape;119;p53"/>
          <p:cNvSpPr txBox="1"/>
          <p:nvPr>
            <p:ph idx="7" type="body"/>
          </p:nvPr>
        </p:nvSpPr>
        <p:spPr>
          <a:xfrm>
            <a:off x="7804322" y="4297503"/>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EDEDED"/>
              </a:buClr>
              <a:buSzPts val="2400"/>
              <a:buNone/>
              <a:defRPr b="0" sz="2400">
                <a:solidFill>
                  <a:srgbClr val="EDEDED"/>
                </a:solidFill>
              </a:defRPr>
            </a:lvl1pPr>
            <a:lvl2pPr indent="-228600" lvl="1" marL="914400" algn="l">
              <a:lnSpc>
                <a:spcPct val="90000"/>
              </a:lnSpc>
              <a:spcBef>
                <a:spcPts val="500"/>
              </a:spcBef>
              <a:spcAft>
                <a:spcPts val="0"/>
              </a:spcAft>
              <a:buClr>
                <a:srgbClr val="EDEDED"/>
              </a:buClr>
              <a:buSzPts val="2000"/>
              <a:buNone/>
              <a:defRPr b="1" sz="2000"/>
            </a:lvl2pPr>
            <a:lvl3pPr indent="-228600" lvl="2" marL="1371600" algn="l">
              <a:lnSpc>
                <a:spcPct val="90000"/>
              </a:lnSpc>
              <a:spcBef>
                <a:spcPts val="500"/>
              </a:spcBef>
              <a:spcAft>
                <a:spcPts val="0"/>
              </a:spcAft>
              <a:buClr>
                <a:srgbClr val="EDEDED"/>
              </a:buClr>
              <a:buSzPts val="1800"/>
              <a:buNone/>
              <a:defRPr b="1" sz="1800"/>
            </a:lvl3pPr>
            <a:lvl4pPr indent="-228600" lvl="3" marL="1828800" algn="l">
              <a:lnSpc>
                <a:spcPct val="90000"/>
              </a:lnSpc>
              <a:spcBef>
                <a:spcPts val="500"/>
              </a:spcBef>
              <a:spcAft>
                <a:spcPts val="0"/>
              </a:spcAft>
              <a:buClr>
                <a:srgbClr val="EDEDED"/>
              </a:buClr>
              <a:buSzPts val="1600"/>
              <a:buNone/>
              <a:defRPr b="1" sz="1600"/>
            </a:lvl4pPr>
            <a:lvl5pPr indent="-228600" lvl="4" marL="2286000" algn="l">
              <a:lnSpc>
                <a:spcPct val="90000"/>
              </a:lnSpc>
              <a:spcBef>
                <a:spcPts val="500"/>
              </a:spcBef>
              <a:spcAft>
                <a:spcPts val="0"/>
              </a:spcAft>
              <a:buClr>
                <a:srgbClr val="EDEDED"/>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0" name="Google Shape;120;p53"/>
          <p:cNvSpPr/>
          <p:nvPr>
            <p:ph idx="8" type="pic"/>
          </p:nvPr>
        </p:nvSpPr>
        <p:spPr>
          <a:xfrm>
            <a:off x="7804321" y="2256354"/>
            <a:ext cx="2932113"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1" name="Google Shape;121;p53"/>
          <p:cNvSpPr txBox="1"/>
          <p:nvPr>
            <p:ph idx="9" type="body"/>
          </p:nvPr>
        </p:nvSpPr>
        <p:spPr>
          <a:xfrm>
            <a:off x="7804197" y="4873762"/>
            <a:ext cx="2935997" cy="65918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DEDED"/>
              </a:buClr>
              <a:buSzPts val="1200"/>
              <a:buNone/>
              <a:defRPr sz="1200"/>
            </a:lvl2pPr>
            <a:lvl3pPr indent="-228600" lvl="2" marL="1371600" algn="l">
              <a:lnSpc>
                <a:spcPct val="90000"/>
              </a:lnSpc>
              <a:spcBef>
                <a:spcPts val="500"/>
              </a:spcBef>
              <a:spcAft>
                <a:spcPts val="0"/>
              </a:spcAft>
              <a:buClr>
                <a:srgbClr val="EDEDED"/>
              </a:buClr>
              <a:buSzPts val="1000"/>
              <a:buNone/>
              <a:defRPr sz="1000"/>
            </a:lvl3pPr>
            <a:lvl4pPr indent="-228600" lvl="3" marL="1828800" algn="l">
              <a:lnSpc>
                <a:spcPct val="90000"/>
              </a:lnSpc>
              <a:spcBef>
                <a:spcPts val="500"/>
              </a:spcBef>
              <a:spcAft>
                <a:spcPts val="0"/>
              </a:spcAft>
              <a:buClr>
                <a:srgbClr val="EDEDED"/>
              </a:buClr>
              <a:buSzPts val="900"/>
              <a:buNone/>
              <a:defRPr sz="900"/>
            </a:lvl4pPr>
            <a:lvl5pPr indent="-228600" lvl="4" marL="2286000" algn="l">
              <a:lnSpc>
                <a:spcPct val="90000"/>
              </a:lnSpc>
              <a:spcBef>
                <a:spcPts val="500"/>
              </a:spcBef>
              <a:spcAft>
                <a:spcPts val="0"/>
              </a:spcAft>
              <a:buClr>
                <a:srgbClr val="EDEDED"/>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2" name="Google Shape;122;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54"/>
          <p:cNvSpPr txBox="1"/>
          <p:nvPr>
            <p:ph idx="1" type="body"/>
          </p:nvPr>
        </p:nvSpPr>
        <p:spPr>
          <a:xfrm rot="5400000">
            <a:off x="4061231" y="-1115606"/>
            <a:ext cx="4351338" cy="10233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8" name="Google Shape;128;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5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DEDE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5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DEDED"/>
              </a:buClr>
              <a:buSzPts val="1800"/>
              <a:buChar char="•"/>
              <a:defRPr/>
            </a:lvl2pPr>
            <a:lvl3pPr indent="-342900" lvl="2" marL="1371600" algn="l">
              <a:lnSpc>
                <a:spcPct val="90000"/>
              </a:lnSpc>
              <a:spcBef>
                <a:spcPts val="500"/>
              </a:spcBef>
              <a:spcAft>
                <a:spcPts val="0"/>
              </a:spcAft>
              <a:buClr>
                <a:srgbClr val="EDEDED"/>
              </a:buClr>
              <a:buSzPts val="1800"/>
              <a:buChar char="•"/>
              <a:defRPr/>
            </a:lvl3pPr>
            <a:lvl4pPr indent="-342900" lvl="3" marL="1828800" algn="l">
              <a:lnSpc>
                <a:spcPct val="90000"/>
              </a:lnSpc>
              <a:spcBef>
                <a:spcPts val="500"/>
              </a:spcBef>
              <a:spcAft>
                <a:spcPts val="0"/>
              </a:spcAft>
              <a:buClr>
                <a:srgbClr val="EDEDED"/>
              </a:buClr>
              <a:buSzPts val="1800"/>
              <a:buChar char="•"/>
              <a:defRPr/>
            </a:lvl4pPr>
            <a:lvl5pPr indent="-342900" lvl="4" marL="2286000" algn="l">
              <a:lnSpc>
                <a:spcPct val="90000"/>
              </a:lnSpc>
              <a:spcBef>
                <a:spcPts val="500"/>
              </a:spcBef>
              <a:spcAft>
                <a:spcPts val="0"/>
              </a:spcAft>
              <a:buClr>
                <a:srgbClr val="EDEDED"/>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4" name="Google Shape;134;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EDEDED"/>
              </a:buClr>
              <a:buSzPts val="5400"/>
              <a:buFont typeface="Corbel"/>
              <a:buNone/>
              <a:defRPr b="0" i="0" sz="5400" u="none" cap="none" strike="noStrike">
                <a:solidFill>
                  <a:srgbClr val="EDEDED"/>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8"/>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EDEDED"/>
              </a:buClr>
              <a:buSzPts val="2800"/>
              <a:buFont typeface="Arial"/>
              <a:buChar char="•"/>
              <a:defRPr b="0" i="0" sz="2800" u="none" cap="none" strike="noStrike">
                <a:solidFill>
                  <a:srgbClr val="EDEDED"/>
                </a:solidFill>
                <a:latin typeface="Corbel"/>
                <a:ea typeface="Corbel"/>
                <a:cs typeface="Corbel"/>
                <a:sym typeface="Corbel"/>
              </a:defRPr>
            </a:lvl1pPr>
            <a:lvl2pPr indent="-381000" lvl="1" marL="914400" marR="0" rtl="0" algn="l">
              <a:lnSpc>
                <a:spcPct val="90000"/>
              </a:lnSpc>
              <a:spcBef>
                <a:spcPts val="500"/>
              </a:spcBef>
              <a:spcAft>
                <a:spcPts val="0"/>
              </a:spcAft>
              <a:buClr>
                <a:srgbClr val="EDEDED"/>
              </a:buClr>
              <a:buSzPts val="2400"/>
              <a:buFont typeface="Arial"/>
              <a:buChar char="•"/>
              <a:defRPr b="0" i="0" sz="2400" u="none" cap="none" strike="noStrike">
                <a:solidFill>
                  <a:srgbClr val="EDEDED"/>
                </a:solidFill>
                <a:latin typeface="Corbel"/>
                <a:ea typeface="Corbel"/>
                <a:cs typeface="Corbel"/>
                <a:sym typeface="Corbel"/>
              </a:defRPr>
            </a:lvl2pPr>
            <a:lvl3pPr indent="-355600" lvl="2" marL="1371600" marR="0" rtl="0" algn="l">
              <a:lnSpc>
                <a:spcPct val="90000"/>
              </a:lnSpc>
              <a:spcBef>
                <a:spcPts val="500"/>
              </a:spcBef>
              <a:spcAft>
                <a:spcPts val="0"/>
              </a:spcAft>
              <a:buClr>
                <a:srgbClr val="EDEDED"/>
              </a:buClr>
              <a:buSzPts val="2000"/>
              <a:buFont typeface="Arial"/>
              <a:buChar char="•"/>
              <a:defRPr b="0" i="0" sz="2000" u="none" cap="none" strike="noStrike">
                <a:solidFill>
                  <a:srgbClr val="EDEDED"/>
                </a:solidFill>
                <a:latin typeface="Corbel"/>
                <a:ea typeface="Corbel"/>
                <a:cs typeface="Corbel"/>
                <a:sym typeface="Corbel"/>
              </a:defRPr>
            </a:lvl3pPr>
            <a:lvl4pPr indent="-342900" lvl="3" marL="1828800" marR="0" rtl="0" algn="l">
              <a:lnSpc>
                <a:spcPct val="90000"/>
              </a:lnSpc>
              <a:spcBef>
                <a:spcPts val="500"/>
              </a:spcBef>
              <a:spcAft>
                <a:spcPts val="0"/>
              </a:spcAft>
              <a:buClr>
                <a:srgbClr val="EDEDED"/>
              </a:buClr>
              <a:buSzPts val="1800"/>
              <a:buFont typeface="Arial"/>
              <a:buChar char="•"/>
              <a:defRPr b="0" i="0" sz="1800" u="none" cap="none" strike="noStrike">
                <a:solidFill>
                  <a:srgbClr val="EDEDED"/>
                </a:solidFill>
                <a:latin typeface="Corbel"/>
                <a:ea typeface="Corbel"/>
                <a:cs typeface="Corbel"/>
                <a:sym typeface="Corbel"/>
              </a:defRPr>
            </a:lvl4pPr>
            <a:lvl5pPr indent="-342900" lvl="4" marL="2286000" marR="0" rtl="0" algn="l">
              <a:lnSpc>
                <a:spcPct val="90000"/>
              </a:lnSpc>
              <a:spcBef>
                <a:spcPts val="500"/>
              </a:spcBef>
              <a:spcAft>
                <a:spcPts val="0"/>
              </a:spcAft>
              <a:buClr>
                <a:srgbClr val="EDEDED"/>
              </a:buClr>
              <a:buSzPts val="1800"/>
              <a:buFont typeface="Arial"/>
              <a:buChar char="•"/>
              <a:defRPr b="0" i="0" sz="1800" u="none" cap="none" strike="noStrike">
                <a:solidFill>
                  <a:srgbClr val="EDEDED"/>
                </a:solidFill>
                <a:latin typeface="Corbel"/>
                <a:ea typeface="Corbel"/>
                <a:cs typeface="Corbel"/>
                <a:sym typeface="Corbe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9pPr>
          </a:lstStyle>
          <a:p/>
        </p:txBody>
      </p:sp>
      <p:sp>
        <p:nvSpPr>
          <p:cNvPr id="12" name="Google Shape;1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EDEDED"/>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3" name="Google Shape;1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EDEDED"/>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4" name="Google Shape;1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EDEDED"/>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aima.eecs.berkeley.edu/slides-pdf/" TargetMode="External"/><Relationship Id="rId4" Type="http://schemas.openxmlformats.org/officeDocument/2006/relationships/hyperlink" Target="https://www.slideshare.net/imamhossain75054/presentations/2"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www.youtube.com/watch?v=J6PBD-wNEDs&amp;list=PLVYtzYiUdm4ThHyh_pnhNQwdmN_OmryLc" TargetMode="External"/><Relationship Id="rId4" Type="http://schemas.openxmlformats.org/officeDocument/2006/relationships/hyperlink" Target="https://www.youtube.com/watch?v=16Dir4QqCUg&amp;list=PLsOUugYMBBJENfZ3XAToMsg44W7LeUVhF" TargetMode="External"/><Relationship Id="rId5" Type="http://schemas.openxmlformats.org/officeDocument/2006/relationships/hyperlink" Target="https://www.youtube.com/watch?v=TjZBTDzGeGg&amp;list=PLUl4u3cNGP63gFHB6xb-kVBiQHYe_4hSi" TargetMode="External"/><Relationship Id="rId6" Type="http://schemas.openxmlformats.org/officeDocument/2006/relationships/hyperlink" Target="https://www.slideshare.net/imamhossain75054" TargetMode="External"/><Relationship Id="rId7" Type="http://schemas.openxmlformats.org/officeDocument/2006/relationships/hyperlink" Target="https://www.slideshare.net/imamhossain75054/presentations/2"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2221750" y="2564328"/>
            <a:ext cx="9144000" cy="1641600"/>
          </a:xfrm>
          <a:prstGeom prst="rect">
            <a:avLst/>
          </a:prstGeom>
          <a:noFill/>
          <a:ln>
            <a:noFill/>
          </a:ln>
        </p:spPr>
        <p:txBody>
          <a:bodyPr anchorCtr="0" anchor="t" bIns="45700" lIns="91425" spcFirstLastPara="1" rIns="91425" wrap="square" tIns="45700">
            <a:normAutofit fontScale="90000"/>
          </a:bodyPr>
          <a:lstStyle/>
          <a:p>
            <a:pPr indent="0" lvl="0" marL="0" rtl="0" algn="r">
              <a:lnSpc>
                <a:spcPct val="90000"/>
              </a:lnSpc>
              <a:spcBef>
                <a:spcPts val="0"/>
              </a:spcBef>
              <a:spcAft>
                <a:spcPts val="0"/>
              </a:spcAft>
              <a:buClr>
                <a:srgbClr val="E2E2E2"/>
              </a:buClr>
              <a:buSzPct val="100000"/>
              <a:buFont typeface="Corbel"/>
              <a:buNone/>
            </a:pPr>
            <a:r>
              <a:rPr lang="en-US"/>
              <a:t>Artificial Intelligence</a:t>
            </a:r>
            <a:endParaRPr/>
          </a:p>
        </p:txBody>
      </p:sp>
      <p:sp>
        <p:nvSpPr>
          <p:cNvPr id="142" name="Google Shape;142;p1"/>
          <p:cNvSpPr txBox="1"/>
          <p:nvPr>
            <p:ph idx="1" type="subTitle"/>
          </p:nvPr>
        </p:nvSpPr>
        <p:spPr>
          <a:xfrm>
            <a:off x="2221749" y="1794675"/>
            <a:ext cx="9144000" cy="75390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lt2"/>
              </a:buClr>
              <a:buSzPts val="3200"/>
              <a:buNone/>
            </a:pPr>
            <a:r>
              <a:rPr lang="en-US"/>
              <a:t>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Why Study AI?</a:t>
            </a:r>
            <a:endParaRPr/>
          </a:p>
        </p:txBody>
      </p:sp>
      <p:sp>
        <p:nvSpPr>
          <p:cNvPr id="148" name="Google Shape;148;p2"/>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A student in physics might reasonably feel that all the good ideas have already been taken by Galileo, Newton, Einstein, and the rest. AI, on the other hand, still has openings for several full-time Einsteins and Edisons.</a:t>
            </a:r>
            <a:endParaRPr/>
          </a:p>
        </p:txBody>
      </p:sp>
      <p:sp>
        <p:nvSpPr>
          <p:cNvPr id="149" name="Google Shape;14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What is AI?</a:t>
            </a:r>
            <a:endParaRPr/>
          </a:p>
        </p:txBody>
      </p:sp>
      <p:sp>
        <p:nvSpPr>
          <p:cNvPr id="155" name="Google Shape;155;p3"/>
          <p:cNvSpPr txBox="1"/>
          <p:nvPr>
            <p:ph idx="1" type="body"/>
          </p:nvPr>
        </p:nvSpPr>
        <p:spPr>
          <a:xfrm>
            <a:off x="1120000" y="1825625"/>
            <a:ext cx="49760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Views of AI falls into four categories</a:t>
            </a:r>
            <a:endParaRPr/>
          </a:p>
          <a:p>
            <a:pPr indent="-50800" lvl="0" marL="228600" rtl="0" algn="l">
              <a:lnSpc>
                <a:spcPct val="90000"/>
              </a:lnSpc>
              <a:spcBef>
                <a:spcPts val="1000"/>
              </a:spcBef>
              <a:spcAft>
                <a:spcPts val="0"/>
              </a:spcAft>
              <a:buClr>
                <a:srgbClr val="EDEDED"/>
              </a:buClr>
              <a:buSzPts val="2800"/>
              <a:buNone/>
            </a:pPr>
            <a:r>
              <a:t/>
            </a:r>
            <a:endParaRPr/>
          </a:p>
          <a:p>
            <a:pPr indent="-50800" lvl="0" marL="228600" rtl="0" algn="l">
              <a:lnSpc>
                <a:spcPct val="90000"/>
              </a:lnSpc>
              <a:spcBef>
                <a:spcPts val="1000"/>
              </a:spcBef>
              <a:spcAft>
                <a:spcPts val="0"/>
              </a:spcAft>
              <a:buClr>
                <a:srgbClr val="EDEDED"/>
              </a:buClr>
              <a:buSzPts val="2800"/>
              <a:buNone/>
            </a:pPr>
            <a:r>
              <a:t/>
            </a:r>
            <a:endParaRPr/>
          </a:p>
          <a:p>
            <a:pPr indent="-50800" lvl="0" marL="228600" rtl="0" algn="l">
              <a:lnSpc>
                <a:spcPct val="90000"/>
              </a:lnSpc>
              <a:spcBef>
                <a:spcPts val="1000"/>
              </a:spcBef>
              <a:spcAft>
                <a:spcPts val="0"/>
              </a:spcAft>
              <a:buClr>
                <a:srgbClr val="EDEDED"/>
              </a:buClr>
              <a:buSzPts val="2800"/>
              <a:buNone/>
            </a:pPr>
            <a:r>
              <a:t/>
            </a:r>
            <a:endParaRPr/>
          </a:p>
          <a:p>
            <a:pPr indent="-50800" lvl="0" marL="228600" rtl="0" algn="l">
              <a:lnSpc>
                <a:spcPct val="90000"/>
              </a:lnSpc>
              <a:spcBef>
                <a:spcPts val="1000"/>
              </a:spcBef>
              <a:spcAft>
                <a:spcPts val="0"/>
              </a:spcAft>
              <a:buClr>
                <a:srgbClr val="EDEDED"/>
              </a:buClr>
              <a:buSzPts val="2800"/>
              <a:buNone/>
            </a:pPr>
            <a:r>
              <a:t/>
            </a:r>
            <a:endParaRPr/>
          </a:p>
          <a:p>
            <a:pPr indent="-228600" lvl="0" marL="228600" rtl="0" algn="l">
              <a:lnSpc>
                <a:spcPct val="90000"/>
              </a:lnSpc>
              <a:spcBef>
                <a:spcPts val="1000"/>
              </a:spcBef>
              <a:spcAft>
                <a:spcPts val="0"/>
              </a:spcAft>
              <a:buClr>
                <a:srgbClr val="EDEDED"/>
              </a:buClr>
              <a:buSzPts val="2800"/>
              <a:buChar char="•"/>
            </a:pPr>
            <a:r>
              <a:rPr lang="en-US"/>
              <a:t>A system is </a:t>
            </a:r>
            <a:r>
              <a:rPr b="1" lang="en-US">
                <a:solidFill>
                  <a:schemeClr val="accent3"/>
                </a:solidFill>
              </a:rPr>
              <a:t>rational</a:t>
            </a:r>
            <a:r>
              <a:rPr lang="en-US"/>
              <a:t> if it does the “right thing”, given what it knows.</a:t>
            </a:r>
            <a:endParaRPr/>
          </a:p>
        </p:txBody>
      </p:sp>
      <p:sp>
        <p:nvSpPr>
          <p:cNvPr id="156" name="Google Shape;15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57" name="Google Shape;157;p3"/>
          <p:cNvPicPr preferRelativeResize="0"/>
          <p:nvPr/>
        </p:nvPicPr>
        <p:blipFill rotWithShape="1">
          <a:blip r:embed="rId3">
            <a:alphaModFix/>
          </a:blip>
          <a:srcRect b="0" l="0" r="0" t="0"/>
          <a:stretch/>
        </p:blipFill>
        <p:spPr>
          <a:xfrm>
            <a:off x="6096000" y="1870075"/>
            <a:ext cx="6058739" cy="3984048"/>
          </a:xfrm>
          <a:prstGeom prst="rect">
            <a:avLst/>
          </a:prstGeom>
          <a:noFill/>
          <a:ln>
            <a:noFill/>
          </a:ln>
        </p:spPr>
      </p:pic>
      <p:graphicFrame>
        <p:nvGraphicFramePr>
          <p:cNvPr id="158" name="Google Shape;158;p3"/>
          <p:cNvGraphicFramePr/>
          <p:nvPr/>
        </p:nvGraphicFramePr>
        <p:xfrm>
          <a:off x="1554336" y="2793177"/>
          <a:ext cx="3000000" cy="3000000"/>
        </p:xfrm>
        <a:graphic>
          <a:graphicData uri="http://schemas.openxmlformats.org/drawingml/2006/table">
            <a:tbl>
              <a:tblPr bandRow="1" firstRow="1">
                <a:noFill/>
                <a:tableStyleId>{C133E0F7-F4F8-482A-8395-181CD3639285}</a:tableStyleId>
              </a:tblPr>
              <a:tblGrid>
                <a:gridCol w="2116825"/>
                <a:gridCol w="2116825"/>
              </a:tblGrid>
              <a:tr h="5486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Thinking Humanly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Thinking Rationally</a:t>
                      </a:r>
                      <a:endParaRPr sz="1400" u="none" cap="none" strike="noStrike"/>
                    </a:p>
                  </a:txBody>
                  <a:tcPr marT="45725" marB="45725" marR="91450" marL="91450"/>
                </a:tc>
              </a:tr>
              <a:tr h="548650">
                <a:tc>
                  <a:txBody>
                    <a:bodyPr/>
                    <a:lstStyle/>
                    <a:p>
                      <a:pPr indent="0" lvl="0" marL="0" marR="0" rtl="0" algn="l">
                        <a:lnSpc>
                          <a:spcPct val="100000"/>
                        </a:lnSpc>
                        <a:spcBef>
                          <a:spcPts val="0"/>
                        </a:spcBef>
                        <a:spcAft>
                          <a:spcPts val="0"/>
                        </a:spcAft>
                        <a:buClr>
                          <a:schemeClr val="lt1"/>
                        </a:buClr>
                        <a:buSzPts val="1800"/>
                        <a:buFont typeface="Corbel"/>
                        <a:buNone/>
                      </a:pPr>
                      <a:r>
                        <a:rPr b="1" lang="en-US" sz="1800" u="none" cap="none" strike="noStrike"/>
                        <a:t>Acting Humanly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lt1"/>
                        </a:buClr>
                        <a:buSzPts val="1800"/>
                        <a:buFont typeface="Corbel"/>
                        <a:buNone/>
                      </a:pPr>
                      <a:r>
                        <a:rPr b="1" lang="en-US" sz="1800" u="none" cap="none" strike="noStrike"/>
                        <a:t>Acting Rationally</a:t>
                      </a:r>
                      <a:endParaRPr sz="1400" u="none" cap="none" strike="noStrike"/>
                    </a:p>
                  </a:txBody>
                  <a:tcPr marT="45725" marB="45725" marR="91450" marL="91450"/>
                </a:tc>
              </a:tr>
            </a:tbl>
          </a:graphicData>
        </a:graphic>
      </p:graphicFrame>
      <p:sp>
        <p:nvSpPr>
          <p:cNvPr id="159" name="Google Shape;159;p3"/>
          <p:cNvSpPr txBox="1"/>
          <p:nvPr/>
        </p:nvSpPr>
        <p:spPr>
          <a:xfrm>
            <a:off x="0" y="2807975"/>
            <a:ext cx="1554336" cy="52322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1" lang="en-US" sz="1400" u="none" cap="none" strike="noStrike">
                <a:solidFill>
                  <a:schemeClr val="lt1"/>
                </a:solidFill>
                <a:latin typeface="Times"/>
                <a:ea typeface="Times"/>
                <a:cs typeface="Times"/>
                <a:sym typeface="Times"/>
              </a:rPr>
              <a:t>thought processes </a:t>
            </a:r>
            <a:r>
              <a:rPr b="0" i="0" lang="en-US" sz="1400" u="none" cap="none" strike="noStrike">
                <a:solidFill>
                  <a:schemeClr val="lt1"/>
                </a:solidFill>
                <a:latin typeface="Times"/>
                <a:ea typeface="Times"/>
                <a:cs typeface="Times"/>
                <a:sym typeface="Times"/>
              </a:rPr>
              <a:t>and </a:t>
            </a:r>
            <a:r>
              <a:rPr b="0" i="1" lang="en-US" sz="1400" u="none" cap="none" strike="noStrike">
                <a:solidFill>
                  <a:schemeClr val="lt1"/>
                </a:solidFill>
                <a:latin typeface="Times"/>
                <a:ea typeface="Times"/>
                <a:cs typeface="Times"/>
                <a:sym typeface="Times"/>
              </a:rPr>
              <a:t>reasoning</a:t>
            </a:r>
            <a:r>
              <a:rPr b="0" i="0" lang="en-US" sz="1400" u="none" cap="none" strike="noStrike">
                <a:solidFill>
                  <a:schemeClr val="lt1"/>
                </a:solidFill>
                <a:latin typeface="Corbel"/>
                <a:ea typeface="Corbel"/>
                <a:cs typeface="Corbel"/>
                <a:sym typeface="Corbel"/>
              </a:rPr>
              <a:t> </a:t>
            </a:r>
            <a:endParaRPr b="0" i="0" sz="1400" u="none" cap="none" strike="noStrike">
              <a:solidFill>
                <a:srgbClr val="000000"/>
              </a:solidFill>
              <a:latin typeface="Arial"/>
              <a:ea typeface="Arial"/>
              <a:cs typeface="Arial"/>
              <a:sym typeface="Arial"/>
            </a:endParaRPr>
          </a:p>
        </p:txBody>
      </p:sp>
      <p:sp>
        <p:nvSpPr>
          <p:cNvPr id="160" name="Google Shape;160;p3"/>
          <p:cNvSpPr txBox="1"/>
          <p:nvPr/>
        </p:nvSpPr>
        <p:spPr>
          <a:xfrm>
            <a:off x="35393" y="3473690"/>
            <a:ext cx="1518943"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1" lang="en-US" sz="1400" u="none" cap="none" strike="noStrike">
                <a:solidFill>
                  <a:schemeClr val="lt1"/>
                </a:solidFill>
                <a:latin typeface="Times"/>
                <a:ea typeface="Times"/>
                <a:cs typeface="Times"/>
                <a:sym typeface="Times"/>
              </a:rPr>
              <a:t>behavior</a:t>
            </a:r>
            <a:endParaRPr b="0" i="0" sz="1800" u="none" cap="none" strike="noStrike">
              <a:solidFill>
                <a:schemeClr val="lt1"/>
              </a:solidFill>
              <a:latin typeface="Corbel"/>
              <a:ea typeface="Corbel"/>
              <a:cs typeface="Corbel"/>
              <a:sym typeface="Corbel"/>
            </a:endParaRPr>
          </a:p>
        </p:txBody>
      </p:sp>
      <p:sp>
        <p:nvSpPr>
          <p:cNvPr id="161" name="Google Shape;161;p3"/>
          <p:cNvSpPr txBox="1"/>
          <p:nvPr/>
        </p:nvSpPr>
        <p:spPr>
          <a:xfrm>
            <a:off x="6096000" y="923597"/>
            <a:ext cx="301105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accent5"/>
                </a:solidFill>
                <a:latin typeface="Times"/>
                <a:ea typeface="Times"/>
                <a:cs typeface="Times"/>
                <a:sym typeface="Times"/>
              </a:rPr>
              <a:t>success measure in terms of fidelity to human performance</a:t>
            </a:r>
            <a:endParaRPr b="0" i="0" sz="1800" u="none" cap="none" strike="noStrike">
              <a:solidFill>
                <a:schemeClr val="accent5"/>
              </a:solidFill>
              <a:latin typeface="Corbel"/>
              <a:ea typeface="Corbel"/>
              <a:cs typeface="Corbel"/>
              <a:sym typeface="Corbel"/>
            </a:endParaRPr>
          </a:p>
        </p:txBody>
      </p:sp>
      <p:sp>
        <p:nvSpPr>
          <p:cNvPr id="162" name="Google Shape;162;p3"/>
          <p:cNvSpPr txBox="1"/>
          <p:nvPr/>
        </p:nvSpPr>
        <p:spPr>
          <a:xfrm>
            <a:off x="9107054" y="902295"/>
            <a:ext cx="3011054"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accent3"/>
                </a:solidFill>
                <a:latin typeface="Times"/>
                <a:ea typeface="Times"/>
                <a:cs typeface="Times"/>
                <a:sym typeface="Times"/>
              </a:rPr>
              <a:t>success measure against an ideal performance measure, called rationality</a:t>
            </a:r>
            <a:endParaRPr b="0" i="0" sz="1800" u="none" cap="none" strike="noStrike">
              <a:solidFill>
                <a:schemeClr val="accent3"/>
              </a:solidFill>
              <a:latin typeface="Corbel"/>
              <a:ea typeface="Corbel"/>
              <a:cs typeface="Corbel"/>
              <a:sym typeface="Corbe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
          <p:cNvSpPr txBox="1"/>
          <p:nvPr>
            <p:ph type="title"/>
          </p:nvPr>
        </p:nvSpPr>
        <p:spPr>
          <a:xfrm>
            <a:off x="838200" y="365125"/>
            <a:ext cx="10515600" cy="1325563"/>
          </a:xfrm>
          <a:prstGeom prst="rect">
            <a:avLst/>
          </a:prstGeom>
          <a:noFill/>
          <a:ln>
            <a:noFill/>
          </a:ln>
        </p:spPr>
        <p:txBody>
          <a:bodyPr anchorCtr="0" anchor="ctr" bIns="45700" lIns="91425" spcFirstLastPara="1" rIns="13207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Rational Decisions</a:t>
            </a:r>
            <a:endParaRPr/>
          </a:p>
        </p:txBody>
      </p:sp>
      <p:sp>
        <p:nvSpPr>
          <p:cNvPr id="168" name="Google Shape;16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9" name="Google Shape;169;p4"/>
          <p:cNvSpPr/>
          <p:nvPr/>
        </p:nvSpPr>
        <p:spPr>
          <a:xfrm>
            <a:off x="838200" y="1534460"/>
            <a:ext cx="9144000" cy="3073399"/>
          </a:xfrm>
          <a:prstGeom prst="rect">
            <a:avLst/>
          </a:prstGeom>
          <a:noFill/>
          <a:ln>
            <a:noFill/>
          </a:ln>
        </p:spPr>
        <p:txBody>
          <a:bodyPr anchorCtr="0" anchor="t" bIns="0" lIns="0" spcFirstLastPara="1" rIns="40625" wrap="square" tIns="0">
            <a:noAutofit/>
          </a:bodyPr>
          <a:lstStyle/>
          <a:p>
            <a:pPr indent="0" lvl="0" marL="39686"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  We’ll use the term </a:t>
            </a:r>
            <a:r>
              <a:rPr b="1" i="0" lang="en-US" sz="2400" u="none" cap="none" strike="noStrike">
                <a:solidFill>
                  <a:schemeClr val="lt1"/>
                </a:solidFill>
                <a:latin typeface="Calibri"/>
                <a:ea typeface="Calibri"/>
                <a:cs typeface="Calibri"/>
                <a:sym typeface="Calibri"/>
              </a:rPr>
              <a:t>rational</a:t>
            </a:r>
            <a:r>
              <a:rPr b="0" i="0" lang="en-US" sz="2400" u="none" cap="none" strike="noStrike">
                <a:solidFill>
                  <a:schemeClr val="lt1"/>
                </a:solidFill>
                <a:latin typeface="Calibri"/>
                <a:ea typeface="Calibri"/>
                <a:cs typeface="Calibri"/>
                <a:sym typeface="Calibri"/>
              </a:rPr>
              <a:t> in a very specific, technical way:</a:t>
            </a:r>
            <a:endParaRPr b="0" i="0" sz="1400" u="none" cap="none" strike="noStrike">
              <a:solidFill>
                <a:srgbClr val="000000"/>
              </a:solidFill>
              <a:latin typeface="Arial"/>
              <a:ea typeface="Arial"/>
              <a:cs typeface="Arial"/>
              <a:sym typeface="Arial"/>
            </a:endParaRPr>
          </a:p>
          <a:p>
            <a:pPr indent="-190500" lvl="1" marL="496864" marR="0" rtl="0" algn="l">
              <a:lnSpc>
                <a:spcPct val="100000"/>
              </a:lnSpc>
              <a:spcBef>
                <a:spcPts val="1000"/>
              </a:spcBef>
              <a:spcAft>
                <a:spcPts val="0"/>
              </a:spcAft>
              <a:buClr>
                <a:schemeClr val="lt1"/>
              </a:buClr>
              <a:buSzPts val="3000"/>
              <a:buFont typeface="Noto Sans Symbols"/>
              <a:buChar char="▪"/>
            </a:pPr>
            <a:r>
              <a:rPr b="0" i="0" lang="en-US" sz="2400" u="none" cap="none" strike="noStrike">
                <a:solidFill>
                  <a:schemeClr val="lt1"/>
                </a:solidFill>
                <a:latin typeface="Calibri"/>
                <a:ea typeface="Calibri"/>
                <a:cs typeface="Calibri"/>
                <a:sym typeface="Calibri"/>
              </a:rPr>
              <a:t> Rational: maximally achieving pre-defined goals</a:t>
            </a:r>
            <a:endParaRPr b="0" i="1" sz="2400" u="none" cap="none" strike="noStrike">
              <a:solidFill>
                <a:schemeClr val="lt1"/>
              </a:solidFill>
              <a:latin typeface="Calibri"/>
              <a:ea typeface="Calibri"/>
              <a:cs typeface="Calibri"/>
              <a:sym typeface="Calibri"/>
            </a:endParaRPr>
          </a:p>
          <a:p>
            <a:pPr indent="-190500" lvl="1" marL="496864" marR="0" rtl="0" algn="l">
              <a:lnSpc>
                <a:spcPct val="100000"/>
              </a:lnSpc>
              <a:spcBef>
                <a:spcPts val="1000"/>
              </a:spcBef>
              <a:spcAft>
                <a:spcPts val="0"/>
              </a:spcAft>
              <a:buClr>
                <a:schemeClr val="lt1"/>
              </a:buClr>
              <a:buSzPts val="3000"/>
              <a:buFont typeface="Noto Sans Symbols"/>
              <a:buChar char="▪"/>
            </a:pPr>
            <a:r>
              <a:rPr b="0" i="0" lang="en-US" sz="2400" u="none" cap="none" strike="noStrike">
                <a:solidFill>
                  <a:schemeClr val="lt1"/>
                </a:solidFill>
                <a:latin typeface="Calibri"/>
                <a:ea typeface="Calibri"/>
                <a:cs typeface="Calibri"/>
                <a:sym typeface="Calibri"/>
              </a:rPr>
              <a:t> Rationality</a:t>
            </a:r>
            <a:r>
              <a:rPr b="1" i="0" lang="en-US" sz="2400" u="none" cap="none" strike="noStrike">
                <a:solidFill>
                  <a:schemeClr val="lt1"/>
                </a:solidFill>
                <a:latin typeface="Calibri"/>
                <a:ea typeface="Calibri"/>
                <a:cs typeface="Calibri"/>
                <a:sym typeface="Calibri"/>
              </a:rPr>
              <a:t> </a:t>
            </a:r>
            <a:r>
              <a:rPr b="0" i="0" lang="en-US" sz="2400" u="none" cap="none" strike="noStrike">
                <a:solidFill>
                  <a:schemeClr val="lt1"/>
                </a:solidFill>
                <a:latin typeface="Calibri"/>
                <a:ea typeface="Calibri"/>
                <a:cs typeface="Calibri"/>
                <a:sym typeface="Calibri"/>
              </a:rPr>
              <a:t>only concerns what decisions are made </a:t>
            </a:r>
            <a:endParaRPr b="0" i="0" sz="1400" u="none" cap="none" strike="noStrike">
              <a:solidFill>
                <a:srgbClr val="000000"/>
              </a:solidFill>
              <a:latin typeface="Arial"/>
              <a:ea typeface="Arial"/>
              <a:cs typeface="Arial"/>
              <a:sym typeface="Arial"/>
            </a:endParaRPr>
          </a:p>
          <a:p>
            <a:pPr indent="0" lvl="1" marL="496864" marR="0" rtl="0" algn="l">
              <a:lnSpc>
                <a:spcPct val="100000"/>
              </a:lnSpc>
              <a:spcBef>
                <a:spcPts val="100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   (not the thought process behind them)</a:t>
            </a:r>
            <a:endParaRPr b="0" i="0" sz="1400" u="none" cap="none" strike="noStrike">
              <a:solidFill>
                <a:srgbClr val="000000"/>
              </a:solidFill>
              <a:latin typeface="Arial"/>
              <a:ea typeface="Arial"/>
              <a:cs typeface="Arial"/>
              <a:sym typeface="Arial"/>
            </a:endParaRPr>
          </a:p>
          <a:p>
            <a:pPr indent="-190500" lvl="1" marL="496864" marR="0" rtl="0" algn="l">
              <a:lnSpc>
                <a:spcPct val="100000"/>
              </a:lnSpc>
              <a:spcBef>
                <a:spcPts val="1000"/>
              </a:spcBef>
              <a:spcAft>
                <a:spcPts val="0"/>
              </a:spcAft>
              <a:buClr>
                <a:schemeClr val="lt1"/>
              </a:buClr>
              <a:buSzPts val="3000"/>
              <a:buFont typeface="Noto Sans Symbols"/>
              <a:buChar char="▪"/>
            </a:pPr>
            <a:r>
              <a:rPr b="0" i="0" lang="en-US" sz="2400" u="none" cap="none" strike="noStrike">
                <a:solidFill>
                  <a:schemeClr val="lt1"/>
                </a:solidFill>
                <a:latin typeface="Calibri"/>
                <a:ea typeface="Calibri"/>
                <a:cs typeface="Calibri"/>
                <a:sym typeface="Calibri"/>
              </a:rPr>
              <a:t> Goals are expressed in terms of the </a:t>
            </a:r>
            <a:r>
              <a:rPr b="1" i="0" lang="en-US" sz="2400" u="none" cap="none" strike="noStrike">
                <a:solidFill>
                  <a:schemeClr val="lt1"/>
                </a:solidFill>
                <a:latin typeface="Calibri"/>
                <a:ea typeface="Calibri"/>
                <a:cs typeface="Calibri"/>
                <a:sym typeface="Calibri"/>
              </a:rPr>
              <a:t>utility</a:t>
            </a:r>
            <a:r>
              <a:rPr b="0" i="0" lang="en-US" sz="2400" u="none" cap="none" strike="noStrike">
                <a:solidFill>
                  <a:schemeClr val="lt1"/>
                </a:solidFill>
                <a:latin typeface="Calibri"/>
                <a:ea typeface="Calibri"/>
                <a:cs typeface="Calibri"/>
                <a:sym typeface="Calibri"/>
              </a:rPr>
              <a:t> of outcomes</a:t>
            </a:r>
            <a:endParaRPr b="0" i="0" sz="1400" u="none" cap="none" strike="noStrike">
              <a:solidFill>
                <a:srgbClr val="000000"/>
              </a:solidFill>
              <a:latin typeface="Arial"/>
              <a:ea typeface="Arial"/>
              <a:cs typeface="Arial"/>
              <a:sym typeface="Arial"/>
            </a:endParaRPr>
          </a:p>
          <a:p>
            <a:pPr indent="-190500" lvl="1" marL="496864" marR="0" rtl="0" algn="l">
              <a:lnSpc>
                <a:spcPct val="100000"/>
              </a:lnSpc>
              <a:spcBef>
                <a:spcPts val="1000"/>
              </a:spcBef>
              <a:spcAft>
                <a:spcPts val="0"/>
              </a:spcAft>
              <a:buClr>
                <a:schemeClr val="lt1"/>
              </a:buClr>
              <a:buSzPts val="3000"/>
              <a:buFont typeface="Noto Sans Symbols"/>
              <a:buChar char="▪"/>
            </a:pPr>
            <a:r>
              <a:rPr b="0" i="0" lang="en-US" sz="2400" u="none" cap="none" strike="noStrike">
                <a:solidFill>
                  <a:schemeClr val="lt1"/>
                </a:solidFill>
                <a:latin typeface="Calibri"/>
                <a:ea typeface="Calibri"/>
                <a:cs typeface="Calibri"/>
                <a:sym typeface="Calibri"/>
              </a:rPr>
              <a:t> Being rational means </a:t>
            </a:r>
            <a:r>
              <a:rPr b="1" i="0" lang="en-US" sz="2400" u="none" cap="none" strike="noStrike">
                <a:solidFill>
                  <a:schemeClr val="lt1"/>
                </a:solidFill>
                <a:latin typeface="Calibri"/>
                <a:ea typeface="Calibri"/>
                <a:cs typeface="Calibri"/>
                <a:sym typeface="Calibri"/>
              </a:rPr>
              <a:t>maximizing your expected utility</a:t>
            </a:r>
            <a:endParaRPr b="0" i="0" sz="1400" u="none" cap="none" strike="noStrike">
              <a:solidFill>
                <a:srgbClr val="000000"/>
              </a:solidFill>
              <a:latin typeface="Arial"/>
              <a:ea typeface="Arial"/>
              <a:cs typeface="Arial"/>
              <a:sym typeface="Arial"/>
            </a:endParaRPr>
          </a:p>
        </p:txBody>
      </p:sp>
      <p:sp>
        <p:nvSpPr>
          <p:cNvPr id="170" name="Google Shape;170;p4"/>
          <p:cNvSpPr/>
          <p:nvPr/>
        </p:nvSpPr>
        <p:spPr>
          <a:xfrm>
            <a:off x="0" y="5146770"/>
            <a:ext cx="12192000" cy="952500"/>
          </a:xfrm>
          <a:prstGeom prst="rect">
            <a:avLst/>
          </a:prstGeom>
          <a:noFill/>
          <a:ln>
            <a:noFill/>
          </a:ln>
        </p:spPr>
        <p:txBody>
          <a:bodyPr anchorCtr="0" anchor="t" bIns="0" lIns="0" spcFirstLastPara="1" rIns="40625" wrap="square" tIns="0">
            <a:noAutofit/>
          </a:bodyPr>
          <a:lstStyle/>
          <a:p>
            <a:pPr indent="0" lvl="0" marL="39686" marR="0" rtl="0" algn="ctr">
              <a:lnSpc>
                <a:spcPct val="100000"/>
              </a:lnSpc>
              <a:spcBef>
                <a:spcPts val="0"/>
              </a:spcBef>
              <a:spcAft>
                <a:spcPts val="0"/>
              </a:spcAft>
              <a:buClr>
                <a:srgbClr val="000000"/>
              </a:buClr>
              <a:buSzPts val="2667"/>
              <a:buFont typeface="Arial"/>
              <a:buNone/>
            </a:pPr>
            <a:r>
              <a:rPr b="0" i="0" lang="en-US" sz="2667" u="none" cap="none" strike="noStrike">
                <a:solidFill>
                  <a:schemeClr val="lt1"/>
                </a:solidFill>
                <a:latin typeface="Calibri"/>
                <a:ea typeface="Calibri"/>
                <a:cs typeface="Calibri"/>
                <a:sym typeface="Calibri"/>
              </a:rPr>
              <a:t>A better title for this course would be:</a:t>
            </a:r>
            <a:endParaRPr b="0" i="0" sz="1400" u="none" cap="none" strike="noStrike">
              <a:solidFill>
                <a:srgbClr val="000000"/>
              </a:solidFill>
              <a:latin typeface="Arial"/>
              <a:ea typeface="Arial"/>
              <a:cs typeface="Arial"/>
              <a:sym typeface="Arial"/>
            </a:endParaRPr>
          </a:p>
          <a:p>
            <a:pPr indent="0" lvl="0" marL="39686" marR="0" rtl="0" algn="ctr">
              <a:lnSpc>
                <a:spcPct val="100000"/>
              </a:lnSpc>
              <a:spcBef>
                <a:spcPts val="1000"/>
              </a:spcBef>
              <a:spcAft>
                <a:spcPts val="0"/>
              </a:spcAft>
              <a:buClr>
                <a:srgbClr val="000000"/>
              </a:buClr>
              <a:buSzPts val="3733"/>
              <a:buFont typeface="Arial"/>
              <a:buNone/>
            </a:pPr>
            <a:r>
              <a:rPr b="1" i="0" lang="en-US" sz="3733" u="none" cap="none" strike="noStrike">
                <a:solidFill>
                  <a:srgbClr val="1212D2"/>
                </a:solidFill>
                <a:latin typeface="Calibri"/>
                <a:ea typeface="Calibri"/>
                <a:cs typeface="Calibri"/>
                <a:sym typeface="Calibri"/>
              </a:rPr>
              <a:t>Computational Rationality</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a36dd9cfa9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Identify the AI Type</a:t>
            </a:r>
            <a:endParaRPr/>
          </a:p>
        </p:txBody>
      </p:sp>
      <p:sp>
        <p:nvSpPr>
          <p:cNvPr id="177" name="Google Shape;177;g3a36dd9cfa9_0_0"/>
          <p:cNvSpPr txBox="1"/>
          <p:nvPr>
            <p:ph idx="1" type="body"/>
          </p:nvPr>
        </p:nvSpPr>
        <p:spPr>
          <a:xfrm>
            <a:off x="1120000" y="1825625"/>
            <a:ext cx="102339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Siri telling a joke → </a:t>
            </a:r>
            <a:endParaRPr/>
          </a:p>
          <a:p>
            <a:pPr indent="-342900" lvl="0" marL="457200" rtl="0" algn="l">
              <a:spcBef>
                <a:spcPts val="0"/>
              </a:spcBef>
              <a:spcAft>
                <a:spcPts val="0"/>
              </a:spcAft>
              <a:buSzPts val="1800"/>
              <a:buChar char="•"/>
            </a:pPr>
            <a:r>
              <a:rPr lang="en-US"/>
              <a:t>AI solving a math theorem logically → </a:t>
            </a:r>
            <a:endParaRPr/>
          </a:p>
          <a:p>
            <a:pPr indent="-342900" lvl="0" marL="457200" rtl="0" algn="l">
              <a:spcBef>
                <a:spcPts val="0"/>
              </a:spcBef>
              <a:spcAft>
                <a:spcPts val="0"/>
              </a:spcAft>
              <a:buSzPts val="1800"/>
              <a:buChar char="•"/>
            </a:pPr>
            <a:r>
              <a:rPr lang="en-US"/>
              <a:t>AI modeling human memory errors → </a:t>
            </a:r>
            <a:endParaRPr/>
          </a:p>
          <a:p>
            <a:pPr indent="-342900" lvl="0" marL="457200" rtl="0" algn="l">
              <a:spcBef>
                <a:spcPts val="0"/>
              </a:spcBef>
              <a:spcAft>
                <a:spcPts val="0"/>
              </a:spcAft>
              <a:buSzPts val="1800"/>
              <a:buChar char="•"/>
            </a:pPr>
            <a:r>
              <a:rPr lang="en-US"/>
              <a:t>Self-driving car deciding when to stop → </a:t>
            </a:r>
            <a:endParaRPr/>
          </a:p>
          <a:p>
            <a:pPr indent="-342900" lvl="0" marL="457200" rtl="0" algn="l">
              <a:spcBef>
                <a:spcPts val="0"/>
              </a:spcBef>
              <a:spcAft>
                <a:spcPts val="0"/>
              </a:spcAft>
              <a:buSzPts val="1800"/>
              <a:buChar char="•"/>
            </a:pPr>
            <a:r>
              <a:rPr lang="en-US"/>
              <a:t>ChatGPT writing in a friendly tone → </a:t>
            </a:r>
            <a:endParaRPr/>
          </a:p>
          <a:p>
            <a:pPr indent="-342900" lvl="0" marL="457200" rtl="0" algn="l">
              <a:spcBef>
                <a:spcPts val="0"/>
              </a:spcBef>
              <a:spcAft>
                <a:spcPts val="0"/>
              </a:spcAft>
              <a:buSzPts val="1800"/>
              <a:buChar char="•"/>
            </a:pPr>
            <a:r>
              <a:rPr lang="en-US"/>
              <a:t>Netflix recommending a movie → </a:t>
            </a:r>
            <a:endParaRPr/>
          </a:p>
          <a:p>
            <a:pPr indent="-406400" lvl="0" marL="457200" rtl="0" algn="l">
              <a:spcBef>
                <a:spcPts val="0"/>
              </a:spcBef>
              <a:spcAft>
                <a:spcPts val="0"/>
              </a:spcAft>
              <a:buClr>
                <a:schemeClr val="lt1"/>
              </a:buClr>
              <a:buSzPts val="2800"/>
              <a:buFont typeface="Corbel"/>
              <a:buChar char="•"/>
            </a:pPr>
            <a:r>
              <a:rPr lang="en-US">
                <a:solidFill>
                  <a:schemeClr val="lt1"/>
                </a:solidFill>
              </a:rPr>
              <a:t>Customer-service bot apologizing politely → </a:t>
            </a:r>
            <a:endParaRPr>
              <a:solidFill>
                <a:schemeClr val="lt1"/>
              </a:solidFill>
            </a:endParaRPr>
          </a:p>
          <a:p>
            <a:pPr indent="-406400" lvl="0" marL="457200" rtl="0" algn="l">
              <a:spcBef>
                <a:spcPts val="0"/>
              </a:spcBef>
              <a:spcAft>
                <a:spcPts val="0"/>
              </a:spcAft>
              <a:buClr>
                <a:schemeClr val="lt1"/>
              </a:buClr>
              <a:buSzPts val="2800"/>
              <a:buFont typeface="Corbel"/>
              <a:buChar char="•"/>
            </a:pPr>
            <a:r>
              <a:rPr lang="en-US">
                <a:solidFill>
                  <a:schemeClr val="lt1"/>
                </a:solidFill>
              </a:rPr>
              <a:t>Google Maps avoiding traffic → </a:t>
            </a:r>
            <a:endParaRPr>
              <a:solidFill>
                <a:schemeClr val="lt1"/>
              </a:solidFill>
            </a:endParaRPr>
          </a:p>
        </p:txBody>
      </p:sp>
      <p:sp>
        <p:nvSpPr>
          <p:cNvPr id="178" name="Google Shape;178;g3a36dd9cfa9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a36dd9cfa9_0_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Identify the AI Type</a:t>
            </a:r>
            <a:endParaRPr/>
          </a:p>
        </p:txBody>
      </p:sp>
      <p:sp>
        <p:nvSpPr>
          <p:cNvPr id="185" name="Google Shape;185;g3a36dd9cfa9_0_18"/>
          <p:cNvSpPr txBox="1"/>
          <p:nvPr>
            <p:ph idx="1" type="body"/>
          </p:nvPr>
        </p:nvSpPr>
        <p:spPr>
          <a:xfrm>
            <a:off x="1120000" y="1825625"/>
            <a:ext cx="102339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Siri telling a joke → Acting Humanly</a:t>
            </a:r>
            <a:endParaRPr/>
          </a:p>
          <a:p>
            <a:pPr indent="-342900" lvl="0" marL="457200" rtl="0" algn="l">
              <a:spcBef>
                <a:spcPts val="0"/>
              </a:spcBef>
              <a:spcAft>
                <a:spcPts val="0"/>
              </a:spcAft>
              <a:buSzPts val="1800"/>
              <a:buChar char="•"/>
            </a:pPr>
            <a:r>
              <a:rPr lang="en-US"/>
              <a:t>AI solving a math theorem logically → Thinking Rationally</a:t>
            </a:r>
            <a:endParaRPr/>
          </a:p>
          <a:p>
            <a:pPr indent="-342900" lvl="0" marL="457200" rtl="0" algn="l">
              <a:spcBef>
                <a:spcPts val="0"/>
              </a:spcBef>
              <a:spcAft>
                <a:spcPts val="0"/>
              </a:spcAft>
              <a:buSzPts val="1800"/>
              <a:buChar char="•"/>
            </a:pPr>
            <a:r>
              <a:rPr lang="en-US"/>
              <a:t>AI modeling human memory errors → Thinking Humanly</a:t>
            </a:r>
            <a:endParaRPr/>
          </a:p>
          <a:p>
            <a:pPr indent="-342900" lvl="0" marL="457200" rtl="0" algn="l">
              <a:spcBef>
                <a:spcPts val="0"/>
              </a:spcBef>
              <a:spcAft>
                <a:spcPts val="0"/>
              </a:spcAft>
              <a:buSzPts val="1800"/>
              <a:buChar char="•"/>
            </a:pPr>
            <a:r>
              <a:rPr lang="en-US"/>
              <a:t>Self-driving car deciding when to stop → Acting Rationally</a:t>
            </a:r>
            <a:endParaRPr/>
          </a:p>
          <a:p>
            <a:pPr indent="-342900" lvl="0" marL="457200" rtl="0" algn="l">
              <a:spcBef>
                <a:spcPts val="0"/>
              </a:spcBef>
              <a:spcAft>
                <a:spcPts val="0"/>
              </a:spcAft>
              <a:buSzPts val="1800"/>
              <a:buChar char="•"/>
            </a:pPr>
            <a:r>
              <a:rPr lang="en-US"/>
              <a:t>ChatGPT writing in a friendly tone → Acting Humanly</a:t>
            </a:r>
            <a:endParaRPr/>
          </a:p>
          <a:p>
            <a:pPr indent="-342900" lvl="0" marL="457200" rtl="0" algn="l">
              <a:spcBef>
                <a:spcPts val="0"/>
              </a:spcBef>
              <a:spcAft>
                <a:spcPts val="0"/>
              </a:spcAft>
              <a:buSzPts val="1800"/>
              <a:buChar char="•"/>
            </a:pPr>
            <a:r>
              <a:rPr lang="en-US"/>
              <a:t>Netflix recommending a movie → Acting Rationally</a:t>
            </a:r>
            <a:endParaRPr/>
          </a:p>
          <a:p>
            <a:pPr indent="-406400" lvl="0" marL="457200" rtl="0" algn="l">
              <a:spcBef>
                <a:spcPts val="0"/>
              </a:spcBef>
              <a:spcAft>
                <a:spcPts val="0"/>
              </a:spcAft>
              <a:buClr>
                <a:schemeClr val="lt1"/>
              </a:buClr>
              <a:buSzPts val="2800"/>
              <a:buFont typeface="Corbel"/>
              <a:buChar char="•"/>
            </a:pPr>
            <a:r>
              <a:rPr lang="en-US">
                <a:solidFill>
                  <a:schemeClr val="lt1"/>
                </a:solidFill>
              </a:rPr>
              <a:t>Customer-service bot apologizing politely → Acting Humanly</a:t>
            </a:r>
            <a:endParaRPr>
              <a:solidFill>
                <a:schemeClr val="lt1"/>
              </a:solidFill>
            </a:endParaRPr>
          </a:p>
          <a:p>
            <a:pPr indent="-406400" lvl="0" marL="457200" rtl="0" algn="l">
              <a:spcBef>
                <a:spcPts val="0"/>
              </a:spcBef>
              <a:spcAft>
                <a:spcPts val="0"/>
              </a:spcAft>
              <a:buClr>
                <a:schemeClr val="lt1"/>
              </a:buClr>
              <a:buSzPts val="2800"/>
              <a:buFont typeface="Corbel"/>
              <a:buChar char="•"/>
            </a:pPr>
            <a:r>
              <a:rPr lang="en-US">
                <a:solidFill>
                  <a:schemeClr val="lt1"/>
                </a:solidFill>
              </a:rPr>
              <a:t>Google Maps avoiding traffic → Acting Rationally</a:t>
            </a:r>
            <a:endParaRPr>
              <a:solidFill>
                <a:schemeClr val="lt1"/>
              </a:solidFill>
            </a:endParaRPr>
          </a:p>
        </p:txBody>
      </p:sp>
      <p:sp>
        <p:nvSpPr>
          <p:cNvPr id="186" name="Google Shape;186;g3a36dd9cfa9_0_1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Acting humanly</a:t>
            </a:r>
            <a:br>
              <a:rPr lang="en-US"/>
            </a:br>
            <a:r>
              <a:rPr lang="en-US" sz="3100">
                <a:solidFill>
                  <a:schemeClr val="accent5"/>
                </a:solidFill>
              </a:rPr>
              <a:t>The Turing Test approach</a:t>
            </a:r>
            <a:endParaRPr/>
          </a:p>
        </p:txBody>
      </p:sp>
      <p:sp>
        <p:nvSpPr>
          <p:cNvPr id="193" name="Google Shape;193;p5"/>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rgbClr val="EDEDED"/>
              </a:buClr>
              <a:buSzPct val="100000"/>
              <a:buChar char="•"/>
            </a:pPr>
            <a:r>
              <a:rPr lang="en-US"/>
              <a:t>A computer passes the test if a human interrogator, after posing some written questions, cannot tell whether the written responses come from a person or from a computer. </a:t>
            </a:r>
            <a:endParaRPr/>
          </a:p>
          <a:p>
            <a:pPr indent="-228600" lvl="1" marL="685800" rtl="0" algn="l">
              <a:lnSpc>
                <a:spcPct val="90000"/>
              </a:lnSpc>
              <a:spcBef>
                <a:spcPts val="500"/>
              </a:spcBef>
              <a:spcAft>
                <a:spcPts val="0"/>
              </a:spcAft>
              <a:buClr>
                <a:srgbClr val="EDEDED"/>
              </a:buClr>
              <a:buSzPct val="100000"/>
              <a:buChar char="•"/>
            </a:pPr>
            <a:r>
              <a:rPr lang="en-US"/>
              <a:t>Proposed by Alan Turing (1950)</a:t>
            </a:r>
            <a:endParaRPr/>
          </a:p>
          <a:p>
            <a:pPr indent="-228600" lvl="1" marL="685800" rtl="0" algn="l">
              <a:lnSpc>
                <a:spcPct val="90000"/>
              </a:lnSpc>
              <a:spcBef>
                <a:spcPts val="500"/>
              </a:spcBef>
              <a:spcAft>
                <a:spcPts val="0"/>
              </a:spcAft>
              <a:buClr>
                <a:schemeClr val="accent3"/>
              </a:buClr>
              <a:buSzPct val="100000"/>
              <a:buChar char="•"/>
            </a:pPr>
            <a:r>
              <a:rPr b="1" lang="en-US">
                <a:solidFill>
                  <a:schemeClr val="accent3"/>
                </a:solidFill>
              </a:rPr>
              <a:t>Total Turing Test </a:t>
            </a:r>
            <a:r>
              <a:rPr lang="en-US"/>
              <a:t>includes a video signal so that the interrogator can test the subject’s perceptual abilities, as well as the opportunity for the interrogator to pass physical objects “through the hatch.”</a:t>
            </a:r>
            <a:endParaRPr/>
          </a:p>
          <a:p>
            <a:pPr indent="-110490" lvl="1" marL="685800" rtl="0" algn="l">
              <a:lnSpc>
                <a:spcPct val="90000"/>
              </a:lnSpc>
              <a:spcBef>
                <a:spcPts val="500"/>
              </a:spcBef>
              <a:spcAft>
                <a:spcPts val="0"/>
              </a:spcAft>
              <a:buClr>
                <a:srgbClr val="EDEDED"/>
              </a:buClr>
              <a:buSzPct val="100000"/>
              <a:buNone/>
            </a:pPr>
            <a:r>
              <a:t/>
            </a:r>
            <a:endParaRPr/>
          </a:p>
          <a:p>
            <a:pPr indent="-228600" lvl="0" marL="228600" rtl="0" algn="l">
              <a:lnSpc>
                <a:spcPct val="90000"/>
              </a:lnSpc>
              <a:spcBef>
                <a:spcPts val="1000"/>
              </a:spcBef>
              <a:spcAft>
                <a:spcPts val="0"/>
              </a:spcAft>
              <a:buClr>
                <a:srgbClr val="EDEDED"/>
              </a:buClr>
              <a:buSzPct val="100000"/>
              <a:buChar char="•"/>
            </a:pPr>
            <a:r>
              <a:rPr lang="en-US"/>
              <a:t>The computer would need to possess the following capabilities</a:t>
            </a:r>
            <a:endParaRPr/>
          </a:p>
          <a:p>
            <a:pPr indent="-228600" lvl="1" marL="685800" rtl="0" algn="l">
              <a:lnSpc>
                <a:spcPct val="90000"/>
              </a:lnSpc>
              <a:spcBef>
                <a:spcPts val="500"/>
              </a:spcBef>
              <a:spcAft>
                <a:spcPts val="0"/>
              </a:spcAft>
              <a:buClr>
                <a:srgbClr val="EDEDED"/>
              </a:buClr>
              <a:buSzPct val="100000"/>
              <a:buChar char="•"/>
            </a:pPr>
            <a:r>
              <a:rPr lang="en-US"/>
              <a:t>Natural Language Processing </a:t>
            </a:r>
            <a:endParaRPr/>
          </a:p>
          <a:p>
            <a:pPr indent="-228600" lvl="1" marL="685800" rtl="0" algn="l">
              <a:lnSpc>
                <a:spcPct val="90000"/>
              </a:lnSpc>
              <a:spcBef>
                <a:spcPts val="500"/>
              </a:spcBef>
              <a:spcAft>
                <a:spcPts val="0"/>
              </a:spcAft>
              <a:buClr>
                <a:srgbClr val="EDEDED"/>
              </a:buClr>
              <a:buSzPct val="100000"/>
              <a:buChar char="•"/>
            </a:pPr>
            <a:r>
              <a:rPr lang="en-US"/>
              <a:t>Knowledge Representation</a:t>
            </a:r>
            <a:endParaRPr/>
          </a:p>
          <a:p>
            <a:pPr indent="-228600" lvl="1" marL="685800" rtl="0" algn="l">
              <a:lnSpc>
                <a:spcPct val="90000"/>
              </a:lnSpc>
              <a:spcBef>
                <a:spcPts val="500"/>
              </a:spcBef>
              <a:spcAft>
                <a:spcPts val="0"/>
              </a:spcAft>
              <a:buClr>
                <a:srgbClr val="EDEDED"/>
              </a:buClr>
              <a:buSzPct val="100000"/>
              <a:buChar char="•"/>
            </a:pPr>
            <a:r>
              <a:rPr lang="en-US"/>
              <a:t>Automated Reasoning </a:t>
            </a:r>
            <a:endParaRPr/>
          </a:p>
          <a:p>
            <a:pPr indent="-228600" lvl="1" marL="685800" rtl="0" algn="l">
              <a:lnSpc>
                <a:spcPct val="90000"/>
              </a:lnSpc>
              <a:spcBef>
                <a:spcPts val="500"/>
              </a:spcBef>
              <a:spcAft>
                <a:spcPts val="0"/>
              </a:spcAft>
              <a:buClr>
                <a:srgbClr val="EDEDED"/>
              </a:buClr>
              <a:buSzPct val="100000"/>
              <a:buChar char="•"/>
            </a:pPr>
            <a:r>
              <a:rPr lang="en-US"/>
              <a:t>Machine Learning </a:t>
            </a:r>
            <a:endParaRPr/>
          </a:p>
          <a:p>
            <a:pPr indent="-228662" lvl="1" marL="685800" rtl="0" algn="l">
              <a:lnSpc>
                <a:spcPct val="90000"/>
              </a:lnSpc>
              <a:spcBef>
                <a:spcPts val="500"/>
              </a:spcBef>
              <a:spcAft>
                <a:spcPts val="0"/>
              </a:spcAft>
              <a:buClr>
                <a:srgbClr val="EDEDED"/>
              </a:buClr>
              <a:buSzPct val="100000"/>
              <a:buChar char="•"/>
            </a:pPr>
            <a:r>
              <a:rPr lang="en-US" sz="2300"/>
              <a:t>To pass the total Turing Test, the computer will also need</a:t>
            </a:r>
            <a:endParaRPr/>
          </a:p>
          <a:p>
            <a:pPr indent="-228600" lvl="2" marL="1143000" rtl="0" algn="l">
              <a:lnSpc>
                <a:spcPct val="90000"/>
              </a:lnSpc>
              <a:spcBef>
                <a:spcPts val="500"/>
              </a:spcBef>
              <a:spcAft>
                <a:spcPts val="0"/>
              </a:spcAft>
              <a:buClr>
                <a:srgbClr val="EDEDED"/>
              </a:buClr>
              <a:buSzPct val="100000"/>
              <a:buChar char="•"/>
            </a:pPr>
            <a:r>
              <a:rPr lang="en-US"/>
              <a:t>Computer Vision</a:t>
            </a:r>
            <a:endParaRPr/>
          </a:p>
          <a:p>
            <a:pPr indent="-228600" lvl="2" marL="1143000" rtl="0" algn="l">
              <a:lnSpc>
                <a:spcPct val="90000"/>
              </a:lnSpc>
              <a:spcBef>
                <a:spcPts val="500"/>
              </a:spcBef>
              <a:spcAft>
                <a:spcPts val="0"/>
              </a:spcAft>
              <a:buClr>
                <a:srgbClr val="EDEDED"/>
              </a:buClr>
              <a:buSzPct val="100000"/>
              <a:buChar char="•"/>
            </a:pPr>
            <a:r>
              <a:rPr lang="en-US"/>
              <a:t>Robotics</a:t>
            </a:r>
            <a:endParaRPr/>
          </a:p>
        </p:txBody>
      </p:sp>
      <p:sp>
        <p:nvSpPr>
          <p:cNvPr id="194" name="Google Shape;19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95" name="Google Shape;195;p5"/>
          <p:cNvPicPr preferRelativeResize="0"/>
          <p:nvPr/>
        </p:nvPicPr>
        <p:blipFill rotWithShape="1">
          <a:blip r:embed="rId3">
            <a:alphaModFix/>
          </a:blip>
          <a:srcRect b="0" l="0" r="0" t="0"/>
          <a:stretch/>
        </p:blipFill>
        <p:spPr>
          <a:xfrm>
            <a:off x="7416799" y="4423106"/>
            <a:ext cx="4137891" cy="149568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Acting humanly</a:t>
            </a:r>
            <a:br>
              <a:rPr lang="en-US"/>
            </a:br>
            <a:r>
              <a:rPr lang="en-US" sz="3100">
                <a:solidFill>
                  <a:schemeClr val="accent5"/>
                </a:solidFill>
              </a:rPr>
              <a:t>The Turing Test approach</a:t>
            </a:r>
            <a:endParaRPr/>
          </a:p>
        </p:txBody>
      </p:sp>
      <p:sp>
        <p:nvSpPr>
          <p:cNvPr id="202" name="Google Shape;202;p6"/>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Problem </a:t>
            </a:r>
            <a:endParaRPr/>
          </a:p>
          <a:p>
            <a:pPr indent="-228600" lvl="1" marL="685800" rtl="0" algn="l">
              <a:lnSpc>
                <a:spcPct val="90000"/>
              </a:lnSpc>
              <a:spcBef>
                <a:spcPts val="500"/>
              </a:spcBef>
              <a:spcAft>
                <a:spcPts val="0"/>
              </a:spcAft>
              <a:buClr>
                <a:srgbClr val="EDEDED"/>
              </a:buClr>
              <a:buSzPts val="2400"/>
              <a:buChar char="•"/>
            </a:pPr>
            <a:r>
              <a:rPr lang="en-US"/>
              <a:t>Turing test is not reproducible, constructive or amendable to mathematical analysis</a:t>
            </a:r>
            <a:endParaRPr/>
          </a:p>
          <a:p>
            <a:pPr indent="-228600" lvl="0" marL="228600" rtl="0" algn="l">
              <a:lnSpc>
                <a:spcPct val="90000"/>
              </a:lnSpc>
              <a:spcBef>
                <a:spcPts val="1000"/>
              </a:spcBef>
              <a:spcAft>
                <a:spcPts val="0"/>
              </a:spcAft>
              <a:buClr>
                <a:srgbClr val="EDEDED"/>
              </a:buClr>
              <a:buSzPts val="2800"/>
              <a:buChar char="•"/>
            </a:pPr>
            <a:r>
              <a:rPr lang="en-US"/>
              <a:t>AI researchers have devoted little effort to passing the Turing Test, believing that it is more important to study the underlying principles of intelligence than to duplicate an exemplar. </a:t>
            </a:r>
            <a:endParaRPr/>
          </a:p>
        </p:txBody>
      </p:sp>
      <p:sp>
        <p:nvSpPr>
          <p:cNvPr id="203" name="Google Shape;20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04" name="Google Shape;204;p6"/>
          <p:cNvPicPr preferRelativeResize="0"/>
          <p:nvPr/>
        </p:nvPicPr>
        <p:blipFill rotWithShape="1">
          <a:blip r:embed="rId3">
            <a:alphaModFix/>
          </a:blip>
          <a:srcRect b="0" l="0" r="0" t="0"/>
          <a:stretch/>
        </p:blipFill>
        <p:spPr>
          <a:xfrm>
            <a:off x="7416799" y="4423106"/>
            <a:ext cx="4137891" cy="149568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This course concentrates on</a:t>
            </a:r>
            <a:endParaRPr/>
          </a:p>
        </p:txBody>
      </p:sp>
      <p:sp>
        <p:nvSpPr>
          <p:cNvPr id="210" name="Google Shape;210;p7"/>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General principles of rational agents</a:t>
            </a:r>
            <a:endParaRPr/>
          </a:p>
          <a:p>
            <a:pPr indent="-228600" lvl="0" marL="228600" rtl="0" algn="l">
              <a:lnSpc>
                <a:spcPct val="90000"/>
              </a:lnSpc>
              <a:spcBef>
                <a:spcPts val="1000"/>
              </a:spcBef>
              <a:spcAft>
                <a:spcPts val="0"/>
              </a:spcAft>
              <a:buClr>
                <a:srgbClr val="EDEDED"/>
              </a:buClr>
              <a:buSzPts val="2800"/>
              <a:buChar char="•"/>
            </a:pPr>
            <a:r>
              <a:rPr lang="en-US"/>
              <a:t>Components for constructing them</a:t>
            </a:r>
            <a:endParaRPr/>
          </a:p>
        </p:txBody>
      </p:sp>
      <p:sp>
        <p:nvSpPr>
          <p:cNvPr id="211" name="Google Shape;21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Agents and Environments</a:t>
            </a:r>
            <a:endParaRPr/>
          </a:p>
        </p:txBody>
      </p:sp>
      <p:sp>
        <p:nvSpPr>
          <p:cNvPr id="217" name="Google Shape;217;p8"/>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An </a:t>
            </a:r>
            <a:r>
              <a:rPr b="1" lang="en-US">
                <a:solidFill>
                  <a:schemeClr val="accent3"/>
                </a:solidFill>
              </a:rPr>
              <a:t>agent</a:t>
            </a:r>
            <a:r>
              <a:rPr lang="en-US"/>
              <a:t> is anything that can be viewed as perceiving its environment through sensors and acting upon that environment through actuators</a:t>
            </a:r>
            <a:endParaRPr/>
          </a:p>
        </p:txBody>
      </p:sp>
      <p:sp>
        <p:nvSpPr>
          <p:cNvPr id="218" name="Google Shape;21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19" name="Google Shape;219;p8"/>
          <p:cNvPicPr preferRelativeResize="0"/>
          <p:nvPr/>
        </p:nvPicPr>
        <p:blipFill rotWithShape="1">
          <a:blip r:embed="rId3">
            <a:alphaModFix/>
          </a:blip>
          <a:srcRect b="0" l="0" r="0" t="0"/>
          <a:stretch/>
        </p:blipFill>
        <p:spPr>
          <a:xfrm>
            <a:off x="3290711" y="3289101"/>
            <a:ext cx="5610577" cy="28878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Agents and Environments</a:t>
            </a:r>
            <a:endParaRPr/>
          </a:p>
        </p:txBody>
      </p:sp>
      <p:sp>
        <p:nvSpPr>
          <p:cNvPr id="225" name="Google Shape;225;p9"/>
          <p:cNvSpPr txBox="1"/>
          <p:nvPr>
            <p:ph idx="1" type="body"/>
          </p:nvPr>
        </p:nvSpPr>
        <p:spPr>
          <a:xfrm>
            <a:off x="1120000" y="1825625"/>
            <a:ext cx="102339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An </a:t>
            </a:r>
            <a:r>
              <a:rPr b="1" lang="en-US">
                <a:solidFill>
                  <a:schemeClr val="accent3"/>
                </a:solidFill>
              </a:rPr>
              <a:t>agent</a:t>
            </a:r>
            <a:r>
              <a:rPr lang="en-US"/>
              <a:t> is anything that can be viewed as perceiving its environment through sensors and acting upon that environment through actuators</a:t>
            </a:r>
            <a:endParaRPr/>
          </a:p>
        </p:txBody>
      </p:sp>
      <p:sp>
        <p:nvSpPr>
          <p:cNvPr id="226" name="Google Shape;22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227" name="Google Shape;227;p9"/>
          <p:cNvGraphicFramePr/>
          <p:nvPr/>
        </p:nvGraphicFramePr>
        <p:xfrm>
          <a:off x="1884312" y="3512127"/>
          <a:ext cx="3000000" cy="3000000"/>
        </p:xfrm>
        <a:graphic>
          <a:graphicData uri="http://schemas.openxmlformats.org/drawingml/2006/table">
            <a:tbl>
              <a:tblPr bandRow="1" firstRow="1">
                <a:noFill/>
                <a:tableStyleId>{C8631BE5-2B57-4E50-9BEA-459FA9045C7C}</a:tableStyleId>
              </a:tblPr>
              <a:tblGrid>
                <a:gridCol w="1354575"/>
                <a:gridCol w="1880750"/>
                <a:gridCol w="2473025"/>
                <a:gridCol w="2996800"/>
              </a:tblGrid>
              <a:tr h="516875">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A human agent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A robotic agent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A software agent</a:t>
                      </a:r>
                      <a:endParaRPr sz="1400" u="none" cap="none" strike="noStrike"/>
                    </a:p>
                  </a:txBody>
                  <a:tcPr marT="45725" marB="45725" marR="91450" marL="91450"/>
                </a:tc>
              </a:tr>
              <a:tr h="8921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Sensors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eyes, ears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cameras and infrared range finders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keystrokes, file contents, and network packets </a:t>
                      </a:r>
                      <a:endParaRPr sz="1400" u="none" cap="none" strike="noStrike"/>
                    </a:p>
                  </a:txBody>
                  <a:tcPr marT="45725" marB="45725" marR="91450" marL="91450"/>
                </a:tc>
              </a:tr>
              <a:tr h="8921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Actuators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hands, legs, vocal tract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various motors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displaying on the screen, writing files, and sending network packets</a:t>
                      </a:r>
                      <a:endParaRPr sz="1400" u="none" cap="none" strike="noStrike"/>
                    </a:p>
                  </a:txBody>
                  <a:tcPr marT="45725" marB="45725" marR="91450" marL="9145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Agents and Environments</a:t>
            </a:r>
            <a:endParaRPr/>
          </a:p>
        </p:txBody>
      </p:sp>
      <p:sp>
        <p:nvSpPr>
          <p:cNvPr id="234" name="Google Shape;234;p10"/>
          <p:cNvSpPr txBox="1"/>
          <p:nvPr>
            <p:ph idx="1" type="body"/>
          </p:nvPr>
        </p:nvSpPr>
        <p:spPr>
          <a:xfrm>
            <a:off x="1120000" y="1825625"/>
            <a:ext cx="10233900" cy="4351200"/>
          </a:xfrm>
          <a:prstGeom prst="rect">
            <a:avLst/>
          </a:prstGeom>
          <a:blipFill rotWithShape="1">
            <a:blip r:embed="rId3">
              <a:alphaModFix/>
            </a:blip>
            <a:stretch>
              <a:fillRect b="0" l="-1070" r="0" t="-3078"/>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235" name="Google Shape;23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Agents and Environments</a:t>
            </a:r>
            <a:br>
              <a:rPr lang="en-US"/>
            </a:br>
            <a:r>
              <a:rPr lang="en-US" sz="2700"/>
              <a:t>The vacuum-cleaner world</a:t>
            </a:r>
            <a:endParaRPr/>
          </a:p>
        </p:txBody>
      </p:sp>
      <p:pic>
        <p:nvPicPr>
          <p:cNvPr id="241" name="Google Shape;241;p11"/>
          <p:cNvPicPr preferRelativeResize="0"/>
          <p:nvPr>
            <p:ph idx="1" type="body"/>
          </p:nvPr>
        </p:nvPicPr>
        <p:blipFill rotWithShape="1">
          <a:blip r:embed="rId3">
            <a:alphaModFix/>
          </a:blip>
          <a:srcRect b="0" l="0" r="0" t="0"/>
          <a:stretch/>
        </p:blipFill>
        <p:spPr>
          <a:xfrm>
            <a:off x="1120775" y="2691635"/>
            <a:ext cx="5024438" cy="2619317"/>
          </a:xfrm>
          <a:prstGeom prst="rect">
            <a:avLst/>
          </a:prstGeom>
          <a:noFill/>
          <a:ln>
            <a:noFill/>
          </a:ln>
        </p:spPr>
      </p:pic>
      <p:sp>
        <p:nvSpPr>
          <p:cNvPr id="242" name="Google Shape;242;p11"/>
          <p:cNvSpPr txBox="1"/>
          <p:nvPr>
            <p:ph idx="2" type="body"/>
          </p:nvPr>
        </p:nvSpPr>
        <p:spPr>
          <a:xfrm>
            <a:off x="6319840" y="1825625"/>
            <a:ext cx="503396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rgbClr val="EDEDED"/>
              </a:buClr>
              <a:buSzPct val="100000"/>
              <a:buChar char="•"/>
            </a:pPr>
            <a:r>
              <a:rPr lang="en-US"/>
              <a:t>Two locations only</a:t>
            </a:r>
            <a:endParaRPr/>
          </a:p>
          <a:p>
            <a:pPr indent="-228600" lvl="0" marL="228600" rtl="0" algn="l">
              <a:lnSpc>
                <a:spcPct val="90000"/>
              </a:lnSpc>
              <a:spcBef>
                <a:spcPts val="1000"/>
              </a:spcBef>
              <a:spcAft>
                <a:spcPts val="0"/>
              </a:spcAft>
              <a:buClr>
                <a:srgbClr val="EDEDED"/>
              </a:buClr>
              <a:buSzPct val="100000"/>
              <a:buChar char="•"/>
            </a:pPr>
            <a:r>
              <a:rPr lang="en-US"/>
              <a:t>Perception</a:t>
            </a:r>
            <a:endParaRPr/>
          </a:p>
          <a:p>
            <a:pPr indent="-228600" lvl="1" marL="685800" rtl="0" algn="l">
              <a:lnSpc>
                <a:spcPct val="90000"/>
              </a:lnSpc>
              <a:spcBef>
                <a:spcPts val="500"/>
              </a:spcBef>
              <a:spcAft>
                <a:spcPts val="0"/>
              </a:spcAft>
              <a:buClr>
                <a:srgbClr val="EDEDED"/>
              </a:buClr>
              <a:buSzPct val="100000"/>
              <a:buChar char="•"/>
            </a:pPr>
            <a:r>
              <a:rPr lang="en-US"/>
              <a:t>Which square it is in</a:t>
            </a:r>
            <a:endParaRPr/>
          </a:p>
          <a:p>
            <a:pPr indent="-228600" lvl="1" marL="685800" rtl="0" algn="l">
              <a:lnSpc>
                <a:spcPct val="90000"/>
              </a:lnSpc>
              <a:spcBef>
                <a:spcPts val="500"/>
              </a:spcBef>
              <a:spcAft>
                <a:spcPts val="0"/>
              </a:spcAft>
              <a:buClr>
                <a:srgbClr val="EDEDED"/>
              </a:buClr>
              <a:buSzPct val="100000"/>
              <a:buChar char="•"/>
            </a:pPr>
            <a:r>
              <a:rPr lang="en-US"/>
              <a:t>Whether there is dirt in the square</a:t>
            </a:r>
            <a:endParaRPr/>
          </a:p>
          <a:p>
            <a:pPr indent="-228600" lvl="0" marL="228600" rtl="0" algn="l">
              <a:lnSpc>
                <a:spcPct val="90000"/>
              </a:lnSpc>
              <a:spcBef>
                <a:spcPts val="1000"/>
              </a:spcBef>
              <a:spcAft>
                <a:spcPts val="0"/>
              </a:spcAft>
              <a:buClr>
                <a:srgbClr val="EDEDED"/>
              </a:buClr>
              <a:buSzPct val="100000"/>
              <a:buChar char="•"/>
            </a:pPr>
            <a:r>
              <a:rPr lang="en-US"/>
              <a:t>Possible actions</a:t>
            </a:r>
            <a:endParaRPr/>
          </a:p>
          <a:p>
            <a:pPr indent="-342900" lvl="1" marL="800100" rtl="0" algn="l">
              <a:lnSpc>
                <a:spcPct val="90000"/>
              </a:lnSpc>
              <a:spcBef>
                <a:spcPts val="500"/>
              </a:spcBef>
              <a:spcAft>
                <a:spcPts val="0"/>
              </a:spcAft>
              <a:buClr>
                <a:srgbClr val="EDEDED"/>
              </a:buClr>
              <a:buSzPct val="100000"/>
              <a:buChar char="•"/>
            </a:pPr>
            <a:r>
              <a:rPr lang="en-US"/>
              <a:t>Move left</a:t>
            </a:r>
            <a:endParaRPr/>
          </a:p>
          <a:p>
            <a:pPr indent="-342900" lvl="1" marL="800100" rtl="0" algn="l">
              <a:lnSpc>
                <a:spcPct val="90000"/>
              </a:lnSpc>
              <a:spcBef>
                <a:spcPts val="500"/>
              </a:spcBef>
              <a:spcAft>
                <a:spcPts val="0"/>
              </a:spcAft>
              <a:buClr>
                <a:srgbClr val="EDEDED"/>
              </a:buClr>
              <a:buSzPct val="100000"/>
              <a:buChar char="•"/>
            </a:pPr>
            <a:r>
              <a:rPr lang="en-US"/>
              <a:t>Move right</a:t>
            </a:r>
            <a:endParaRPr/>
          </a:p>
          <a:p>
            <a:pPr indent="-342900" lvl="1" marL="800100" rtl="0" algn="l">
              <a:lnSpc>
                <a:spcPct val="90000"/>
              </a:lnSpc>
              <a:spcBef>
                <a:spcPts val="500"/>
              </a:spcBef>
              <a:spcAft>
                <a:spcPts val="0"/>
              </a:spcAft>
              <a:buClr>
                <a:srgbClr val="EDEDED"/>
              </a:buClr>
              <a:buSzPct val="100000"/>
              <a:buChar char="•"/>
            </a:pPr>
            <a:r>
              <a:rPr lang="en-US"/>
              <a:t>Suck up the dirt </a:t>
            </a:r>
            <a:endParaRPr/>
          </a:p>
          <a:p>
            <a:pPr indent="-342900" lvl="1" marL="800100" rtl="0" algn="l">
              <a:lnSpc>
                <a:spcPct val="90000"/>
              </a:lnSpc>
              <a:spcBef>
                <a:spcPts val="500"/>
              </a:spcBef>
              <a:spcAft>
                <a:spcPts val="0"/>
              </a:spcAft>
              <a:buClr>
                <a:srgbClr val="EDEDED"/>
              </a:buClr>
              <a:buSzPct val="100000"/>
              <a:buChar char="•"/>
            </a:pPr>
            <a:r>
              <a:rPr lang="en-US"/>
              <a:t>Do nothing</a:t>
            </a:r>
            <a:endParaRPr/>
          </a:p>
          <a:p>
            <a:pPr indent="-228600" lvl="0" marL="228600" rtl="0" algn="l">
              <a:lnSpc>
                <a:spcPct val="90000"/>
              </a:lnSpc>
              <a:spcBef>
                <a:spcPts val="1000"/>
              </a:spcBef>
              <a:spcAft>
                <a:spcPts val="0"/>
              </a:spcAft>
              <a:buClr>
                <a:srgbClr val="EDEDED"/>
              </a:buClr>
              <a:buSzPct val="100000"/>
              <a:buChar char="•"/>
            </a:pPr>
            <a:r>
              <a:rPr lang="en-US"/>
              <a:t>Agent function </a:t>
            </a:r>
            <a:endParaRPr/>
          </a:p>
          <a:p>
            <a:pPr indent="-285750" lvl="1" marL="742950" rtl="0" algn="l">
              <a:lnSpc>
                <a:spcPct val="90000"/>
              </a:lnSpc>
              <a:spcBef>
                <a:spcPts val="500"/>
              </a:spcBef>
              <a:spcAft>
                <a:spcPts val="0"/>
              </a:spcAft>
              <a:buClr>
                <a:srgbClr val="92D050"/>
              </a:buClr>
              <a:buSzPct val="100000"/>
              <a:buChar char="•"/>
            </a:pPr>
            <a:r>
              <a:rPr lang="en-US">
                <a:solidFill>
                  <a:srgbClr val="92D050"/>
                </a:solidFill>
              </a:rPr>
              <a:t>if</a:t>
            </a:r>
            <a:r>
              <a:rPr lang="en-US"/>
              <a:t> the current square is dirty, </a:t>
            </a:r>
            <a:r>
              <a:rPr lang="en-US">
                <a:solidFill>
                  <a:srgbClr val="92D050"/>
                </a:solidFill>
              </a:rPr>
              <a:t>then</a:t>
            </a:r>
            <a:r>
              <a:rPr lang="en-US"/>
              <a:t> suck</a:t>
            </a:r>
            <a:endParaRPr/>
          </a:p>
          <a:p>
            <a:pPr indent="-285750" lvl="1" marL="742950" rtl="0" algn="l">
              <a:lnSpc>
                <a:spcPct val="90000"/>
              </a:lnSpc>
              <a:spcBef>
                <a:spcPts val="500"/>
              </a:spcBef>
              <a:spcAft>
                <a:spcPts val="0"/>
              </a:spcAft>
              <a:buClr>
                <a:srgbClr val="92D050"/>
              </a:buClr>
              <a:buSzPct val="100000"/>
              <a:buChar char="•"/>
            </a:pPr>
            <a:r>
              <a:rPr lang="en-US">
                <a:solidFill>
                  <a:srgbClr val="92D050"/>
                </a:solidFill>
              </a:rPr>
              <a:t>else</a:t>
            </a:r>
            <a:r>
              <a:rPr lang="en-US"/>
              <a:t> move to the other square. </a:t>
            </a:r>
            <a:endParaRPr/>
          </a:p>
          <a:p>
            <a:pPr indent="-178435" lvl="0" marL="342900" rtl="0" algn="l">
              <a:lnSpc>
                <a:spcPct val="90000"/>
              </a:lnSpc>
              <a:spcBef>
                <a:spcPts val="1000"/>
              </a:spcBef>
              <a:spcAft>
                <a:spcPts val="0"/>
              </a:spcAft>
              <a:buClr>
                <a:srgbClr val="EDEDED"/>
              </a:buClr>
              <a:buSzPct val="100000"/>
              <a:buFont typeface="Arial"/>
              <a:buNone/>
            </a:pPr>
            <a:r>
              <a:t/>
            </a:r>
            <a:endParaRPr/>
          </a:p>
          <a:p>
            <a:pPr indent="-64135" lvl="0" marL="228600" rtl="0" algn="l">
              <a:lnSpc>
                <a:spcPct val="90000"/>
              </a:lnSpc>
              <a:spcBef>
                <a:spcPts val="1000"/>
              </a:spcBef>
              <a:spcAft>
                <a:spcPts val="0"/>
              </a:spcAft>
              <a:buClr>
                <a:srgbClr val="EDEDED"/>
              </a:buClr>
              <a:buSzPct val="100000"/>
              <a:buNone/>
            </a:pPr>
            <a:r>
              <a:t/>
            </a:r>
            <a:endParaRPr/>
          </a:p>
        </p:txBody>
      </p:sp>
      <p:sp>
        <p:nvSpPr>
          <p:cNvPr id="243" name="Google Shape;24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Agents and Environments</a:t>
            </a:r>
            <a:br>
              <a:rPr lang="en-US"/>
            </a:br>
            <a:r>
              <a:rPr lang="en-US" sz="2700"/>
              <a:t>The vacuum-cleaner world</a:t>
            </a:r>
            <a:endParaRPr/>
          </a:p>
        </p:txBody>
      </p:sp>
      <p:pic>
        <p:nvPicPr>
          <p:cNvPr id="249" name="Google Shape;249;p12"/>
          <p:cNvPicPr preferRelativeResize="0"/>
          <p:nvPr>
            <p:ph idx="1" type="body"/>
          </p:nvPr>
        </p:nvPicPr>
        <p:blipFill rotWithShape="1">
          <a:blip r:embed="rId3">
            <a:alphaModFix/>
          </a:blip>
          <a:srcRect b="0" l="0" r="0" t="0"/>
          <a:stretch/>
        </p:blipFill>
        <p:spPr>
          <a:xfrm>
            <a:off x="2480380" y="1825624"/>
            <a:ext cx="7228067" cy="3648641"/>
          </a:xfrm>
          <a:prstGeom prst="rect">
            <a:avLst/>
          </a:prstGeom>
          <a:noFill/>
          <a:ln>
            <a:noFill/>
          </a:ln>
        </p:spPr>
      </p:pic>
      <p:sp>
        <p:nvSpPr>
          <p:cNvPr id="250" name="Google Shape;25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1" name="Google Shape;251;p12"/>
          <p:cNvSpPr txBox="1"/>
          <p:nvPr/>
        </p:nvSpPr>
        <p:spPr>
          <a:xfrm>
            <a:off x="0" y="5499809"/>
            <a:ext cx="12192000"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1" lang="en-US" sz="2400" u="none" cap="none" strike="noStrike">
                <a:solidFill>
                  <a:srgbClr val="FFC000"/>
                </a:solidFill>
                <a:latin typeface="Corbel"/>
                <a:ea typeface="Corbel"/>
                <a:cs typeface="Corbel"/>
                <a:sym typeface="Corbel"/>
              </a:rPr>
              <a:t>What is the right way to fill out the table?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1" lang="en-US" sz="2400" u="none" cap="none" strike="noStrike">
                <a:solidFill>
                  <a:schemeClr val="accent6"/>
                </a:solidFill>
                <a:latin typeface="Corbel"/>
                <a:ea typeface="Corbel"/>
                <a:cs typeface="Corbel"/>
                <a:sym typeface="Corbel"/>
              </a:rPr>
              <a:t>What makes an agent good or bad, intelligent or stupid?</a:t>
            </a:r>
            <a:endParaRPr b="0" i="0" sz="1400" u="none" cap="none" strike="noStrike">
              <a:solidFill>
                <a:srgbClr val="000000"/>
              </a:solidFill>
              <a:latin typeface="Arial"/>
              <a:ea typeface="Arial"/>
              <a:cs typeface="Arial"/>
              <a:sym typeface="Arial"/>
            </a:endParaRPr>
          </a:p>
        </p:txBody>
      </p:sp>
      <p:pic>
        <p:nvPicPr>
          <p:cNvPr id="252" name="Google Shape;252;p12"/>
          <p:cNvPicPr preferRelativeResize="0"/>
          <p:nvPr/>
        </p:nvPicPr>
        <p:blipFill rotWithShape="1">
          <a:blip r:embed="rId4">
            <a:alphaModFix/>
          </a:blip>
          <a:srcRect b="0" l="0" r="0" t="0"/>
          <a:stretch/>
        </p:blipFill>
        <p:spPr>
          <a:xfrm>
            <a:off x="0" y="2507567"/>
            <a:ext cx="3535028" cy="184286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Agents and Environments</a:t>
            </a:r>
            <a:endParaRPr/>
          </a:p>
        </p:txBody>
      </p:sp>
      <p:sp>
        <p:nvSpPr>
          <p:cNvPr id="258" name="Google Shape;258;p13"/>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In a sense, all areas of engineering can be seen as designing artifacts that interact with the world; </a:t>
            </a:r>
            <a:r>
              <a:rPr lang="en-US">
                <a:solidFill>
                  <a:srgbClr val="92D050"/>
                </a:solidFill>
              </a:rPr>
              <a:t>AI operates the most interesting end of the spectrum, where the artifacts have significant computational resources and the task environment requires nontrivial decision making</a:t>
            </a:r>
            <a:br>
              <a:rPr lang="en-US"/>
            </a:br>
            <a:endParaRPr/>
          </a:p>
        </p:txBody>
      </p:sp>
      <p:sp>
        <p:nvSpPr>
          <p:cNvPr id="259" name="Google Shape;25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EDEDED"/>
              </a:buClr>
              <a:buSzPts val="4400"/>
              <a:buFont typeface="Corbel"/>
              <a:buNone/>
            </a:pPr>
            <a:r>
              <a:rPr lang="en-US" sz="4400"/>
              <a:t>Good Behavior: The Concept of Rationality</a:t>
            </a:r>
            <a:endParaRPr/>
          </a:p>
        </p:txBody>
      </p:sp>
      <p:sp>
        <p:nvSpPr>
          <p:cNvPr id="265" name="Google Shape;265;p14"/>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A </a:t>
            </a:r>
            <a:r>
              <a:rPr b="1" lang="en-US">
                <a:solidFill>
                  <a:schemeClr val="accent3"/>
                </a:solidFill>
              </a:rPr>
              <a:t>rational agent </a:t>
            </a:r>
            <a:r>
              <a:rPr lang="en-US"/>
              <a:t>is one that does the right thing.</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But, what does it mean to do the right thing?</a:t>
            </a:r>
            <a:endParaRPr/>
          </a:p>
          <a:p>
            <a:pPr indent="0" lvl="1" marL="457200" rtl="0" algn="l">
              <a:lnSpc>
                <a:spcPct val="90000"/>
              </a:lnSpc>
              <a:spcBef>
                <a:spcPts val="500"/>
              </a:spcBef>
              <a:spcAft>
                <a:spcPts val="0"/>
              </a:spcAft>
              <a:buClr>
                <a:srgbClr val="EDEDED"/>
              </a:buClr>
              <a:buSzPts val="2400"/>
              <a:buNone/>
            </a:pPr>
            <a:r>
              <a:t/>
            </a:r>
            <a:endParaRPr/>
          </a:p>
          <a:p>
            <a:pPr indent="0" lvl="0" marL="0" rtl="0" algn="l">
              <a:lnSpc>
                <a:spcPct val="90000"/>
              </a:lnSpc>
              <a:spcBef>
                <a:spcPts val="1000"/>
              </a:spcBef>
              <a:spcAft>
                <a:spcPts val="0"/>
              </a:spcAft>
              <a:buClr>
                <a:srgbClr val="EDEDED"/>
              </a:buClr>
              <a:buSzPts val="2800"/>
              <a:buNone/>
            </a:pPr>
            <a:r>
              <a:rPr lang="en-US"/>
              <a:t>Measure performance of the vacuum cleaner agent by </a:t>
            </a:r>
            <a:endParaRPr/>
          </a:p>
          <a:p>
            <a:pPr indent="0" lvl="1" marL="457200" rtl="0" algn="l">
              <a:lnSpc>
                <a:spcPct val="90000"/>
              </a:lnSpc>
              <a:spcBef>
                <a:spcPts val="500"/>
              </a:spcBef>
              <a:spcAft>
                <a:spcPts val="0"/>
              </a:spcAft>
              <a:buClr>
                <a:srgbClr val="EDEDED"/>
              </a:buClr>
              <a:buSzPts val="2400"/>
              <a:buNone/>
            </a:pPr>
            <a:r>
              <a:rPr lang="en-US"/>
              <a:t>the amount of dirt cleaned up in a single eight-hour shift?</a:t>
            </a:r>
            <a:endParaRPr/>
          </a:p>
          <a:p>
            <a:pPr indent="0" lvl="2" marL="914400" rtl="0" algn="l">
              <a:lnSpc>
                <a:spcPct val="90000"/>
              </a:lnSpc>
              <a:spcBef>
                <a:spcPts val="500"/>
              </a:spcBef>
              <a:spcAft>
                <a:spcPts val="0"/>
              </a:spcAft>
              <a:buClr>
                <a:srgbClr val="EDEDED"/>
              </a:buClr>
              <a:buSzPts val="2000"/>
              <a:buNone/>
            </a:pPr>
            <a:r>
              <a:rPr lang="en-US"/>
              <a:t> Or,</a:t>
            </a:r>
            <a:endParaRPr/>
          </a:p>
          <a:p>
            <a:pPr indent="0" lvl="1" marL="457200" rtl="0" algn="l">
              <a:lnSpc>
                <a:spcPct val="90000"/>
              </a:lnSpc>
              <a:spcBef>
                <a:spcPts val="500"/>
              </a:spcBef>
              <a:spcAft>
                <a:spcPts val="0"/>
              </a:spcAft>
              <a:buClr>
                <a:srgbClr val="EDEDED"/>
              </a:buClr>
              <a:buSzPts val="2400"/>
              <a:buNone/>
            </a:pPr>
            <a:r>
              <a:rPr lang="en-US"/>
              <a:t>One point could be awarded for each clean square at each time step (perhaps with a penalty for electricity consumed and noise generated)?</a:t>
            </a:r>
            <a:endParaRPr/>
          </a:p>
        </p:txBody>
      </p:sp>
      <p:sp>
        <p:nvSpPr>
          <p:cNvPr id="266" name="Google Shape;26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4400"/>
              <a:buFont typeface="Corbel"/>
              <a:buNone/>
            </a:pPr>
            <a:r>
              <a:rPr b="0" i="0" lang="en-US" sz="4400" u="none" cap="none" strike="noStrike">
                <a:solidFill>
                  <a:srgbClr val="ECF5D9"/>
                </a:solidFill>
                <a:latin typeface="Corbel"/>
                <a:ea typeface="Corbel"/>
                <a:cs typeface="Corbel"/>
                <a:sym typeface="Corbel"/>
              </a:rPr>
              <a:t>Good Behavior: The Concept of Rationality</a:t>
            </a:r>
            <a:endParaRPr/>
          </a:p>
        </p:txBody>
      </p:sp>
      <p:sp>
        <p:nvSpPr>
          <p:cNvPr id="272" name="Google Shape;272;p15"/>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A </a:t>
            </a:r>
            <a:r>
              <a:rPr b="1" lang="en-US">
                <a:solidFill>
                  <a:schemeClr val="accent3"/>
                </a:solidFill>
              </a:rPr>
              <a:t>rational agent </a:t>
            </a:r>
            <a:r>
              <a:rPr lang="en-US"/>
              <a:t>is one that does the right thing.</a:t>
            </a:r>
            <a:endParaRPr/>
          </a:p>
          <a:p>
            <a:pPr indent="-228600" lvl="1" marL="685800" rtl="0" algn="l">
              <a:lnSpc>
                <a:spcPct val="90000"/>
              </a:lnSpc>
              <a:spcBef>
                <a:spcPts val="500"/>
              </a:spcBef>
              <a:spcAft>
                <a:spcPts val="0"/>
              </a:spcAft>
              <a:buClr>
                <a:srgbClr val="EDEDED"/>
              </a:buClr>
              <a:buSzPts val="2400"/>
              <a:buChar char="•"/>
            </a:pPr>
            <a:r>
              <a:rPr lang="en-US"/>
              <a:t>But, what does it mean to do the right thing?</a:t>
            </a:r>
            <a:endParaRPr/>
          </a:p>
          <a:p>
            <a:pPr indent="0" lvl="1" marL="457200" rtl="0" algn="l">
              <a:lnSpc>
                <a:spcPct val="90000"/>
              </a:lnSpc>
              <a:spcBef>
                <a:spcPts val="500"/>
              </a:spcBef>
              <a:spcAft>
                <a:spcPts val="0"/>
              </a:spcAft>
              <a:buClr>
                <a:srgbClr val="EDEDED"/>
              </a:buClr>
              <a:buSzPts val="2400"/>
              <a:buNone/>
            </a:pPr>
            <a:r>
              <a:t/>
            </a:r>
            <a:endParaRPr/>
          </a:p>
          <a:p>
            <a:pPr indent="0" lvl="1" marL="457200" rtl="0" algn="l">
              <a:lnSpc>
                <a:spcPct val="90000"/>
              </a:lnSpc>
              <a:spcBef>
                <a:spcPts val="500"/>
              </a:spcBef>
              <a:spcAft>
                <a:spcPts val="0"/>
              </a:spcAft>
              <a:buClr>
                <a:srgbClr val="EDEDED"/>
              </a:buClr>
              <a:buSzPts val="2400"/>
              <a:buNone/>
            </a:pPr>
            <a:r>
              <a:rPr lang="en-US"/>
              <a:t>One point could be awarded for each clean square at each time step (perhaps with a penalty for electricity consumed and noise generated)?</a:t>
            </a:r>
            <a:endParaRPr/>
          </a:p>
          <a:p>
            <a:pPr indent="0" lvl="2" marL="914400" rtl="0" algn="l">
              <a:lnSpc>
                <a:spcPct val="90000"/>
              </a:lnSpc>
              <a:spcBef>
                <a:spcPts val="500"/>
              </a:spcBef>
              <a:spcAft>
                <a:spcPts val="0"/>
              </a:spcAft>
              <a:buClr>
                <a:srgbClr val="EDEDED"/>
              </a:buClr>
              <a:buSzPts val="2000"/>
              <a:buNone/>
            </a:pPr>
            <a:r>
              <a:t/>
            </a:r>
            <a:endParaRPr/>
          </a:p>
          <a:p>
            <a:pPr indent="0" lvl="2" marL="914400" rtl="0" algn="l">
              <a:lnSpc>
                <a:spcPct val="90000"/>
              </a:lnSpc>
              <a:spcBef>
                <a:spcPts val="500"/>
              </a:spcBef>
              <a:spcAft>
                <a:spcPts val="0"/>
              </a:spcAft>
              <a:buClr>
                <a:srgbClr val="EDEDED"/>
              </a:buClr>
              <a:buSzPts val="2000"/>
              <a:buNone/>
            </a:pPr>
            <a:r>
              <a:rPr lang="en-US"/>
              <a:t>The same average cleanliness can be achieved by two different agents, one of which does a mediocre job all the time while the other cleans energetically but takes long breaks. Which is preferable?</a:t>
            </a:r>
            <a:endParaRPr/>
          </a:p>
        </p:txBody>
      </p:sp>
      <p:sp>
        <p:nvSpPr>
          <p:cNvPr id="273" name="Google Shape;27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4400"/>
              <a:buFont typeface="Corbel"/>
              <a:buNone/>
            </a:pPr>
            <a:r>
              <a:rPr b="0" i="0" lang="en-US" sz="4400" u="none" cap="none" strike="noStrike">
                <a:solidFill>
                  <a:srgbClr val="ECF5D9"/>
                </a:solidFill>
                <a:latin typeface="Corbel"/>
                <a:ea typeface="Corbel"/>
                <a:cs typeface="Corbel"/>
                <a:sym typeface="Corbel"/>
              </a:rPr>
              <a:t>Good Behavior: The Concept of Rationality</a:t>
            </a:r>
            <a:endParaRPr/>
          </a:p>
        </p:txBody>
      </p:sp>
      <p:sp>
        <p:nvSpPr>
          <p:cNvPr id="279" name="Google Shape;279;p16"/>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EDEDED"/>
              </a:buClr>
              <a:buSzPts val="2800"/>
              <a:buNone/>
            </a:pPr>
            <a:r>
              <a:rPr lang="en-US"/>
              <a:t>What is rational at any given time depends on four things</a:t>
            </a:r>
            <a:endParaRPr/>
          </a:p>
          <a:p>
            <a:pPr indent="-228600" lvl="1" marL="685800" rtl="0" algn="l">
              <a:lnSpc>
                <a:spcPct val="90000"/>
              </a:lnSpc>
              <a:spcBef>
                <a:spcPts val="500"/>
              </a:spcBef>
              <a:spcAft>
                <a:spcPts val="0"/>
              </a:spcAft>
              <a:buClr>
                <a:srgbClr val="EDEDED"/>
              </a:buClr>
              <a:buSzPts val="2400"/>
              <a:buChar char="•"/>
            </a:pPr>
            <a:r>
              <a:rPr lang="en-US"/>
              <a:t>The performance measure that defines the criterion of success.</a:t>
            </a:r>
            <a:endParaRPr/>
          </a:p>
          <a:p>
            <a:pPr indent="-228600" lvl="1" marL="685800" rtl="0" algn="l">
              <a:lnSpc>
                <a:spcPct val="90000"/>
              </a:lnSpc>
              <a:spcBef>
                <a:spcPts val="500"/>
              </a:spcBef>
              <a:spcAft>
                <a:spcPts val="0"/>
              </a:spcAft>
              <a:buClr>
                <a:srgbClr val="EDEDED"/>
              </a:buClr>
              <a:buSzPts val="2400"/>
              <a:buChar char="•"/>
            </a:pPr>
            <a:r>
              <a:rPr lang="en-US"/>
              <a:t> The agent’s prior knowledge of the environment.</a:t>
            </a:r>
            <a:endParaRPr/>
          </a:p>
          <a:p>
            <a:pPr indent="-228600" lvl="1" marL="685800" rtl="0" algn="l">
              <a:lnSpc>
                <a:spcPct val="90000"/>
              </a:lnSpc>
              <a:spcBef>
                <a:spcPts val="500"/>
              </a:spcBef>
              <a:spcAft>
                <a:spcPts val="0"/>
              </a:spcAft>
              <a:buClr>
                <a:srgbClr val="EDEDED"/>
              </a:buClr>
              <a:buSzPts val="2400"/>
              <a:buChar char="•"/>
            </a:pPr>
            <a:r>
              <a:rPr lang="en-US"/>
              <a:t> The actions that the agent can perform.</a:t>
            </a:r>
            <a:endParaRPr/>
          </a:p>
          <a:p>
            <a:pPr indent="-228600" lvl="1" marL="685800" rtl="0" algn="l">
              <a:lnSpc>
                <a:spcPct val="90000"/>
              </a:lnSpc>
              <a:spcBef>
                <a:spcPts val="500"/>
              </a:spcBef>
              <a:spcAft>
                <a:spcPts val="0"/>
              </a:spcAft>
              <a:buClr>
                <a:srgbClr val="EDEDED"/>
              </a:buClr>
              <a:buSzPts val="2400"/>
              <a:buChar char="•"/>
            </a:pPr>
            <a:r>
              <a:rPr lang="en-US"/>
              <a:t> The agent’s percept sequence to date.</a:t>
            </a:r>
            <a:endParaRPr/>
          </a:p>
          <a:p>
            <a:pPr indent="-76200" lvl="1" marL="685800" rtl="0" algn="l">
              <a:lnSpc>
                <a:spcPct val="90000"/>
              </a:lnSpc>
              <a:spcBef>
                <a:spcPts val="500"/>
              </a:spcBef>
              <a:spcAft>
                <a:spcPts val="0"/>
              </a:spcAft>
              <a:buClr>
                <a:srgbClr val="EDEDED"/>
              </a:buClr>
              <a:buSzPts val="2400"/>
              <a:buNone/>
            </a:pPr>
            <a:r>
              <a:t/>
            </a:r>
            <a:endParaRPr/>
          </a:p>
          <a:p>
            <a:pPr indent="0" lvl="0" marL="0" rtl="0" algn="l">
              <a:lnSpc>
                <a:spcPct val="90000"/>
              </a:lnSpc>
              <a:spcBef>
                <a:spcPts val="1000"/>
              </a:spcBef>
              <a:spcAft>
                <a:spcPts val="0"/>
              </a:spcAft>
              <a:buClr>
                <a:srgbClr val="EDEDED"/>
              </a:buClr>
              <a:buSzPts val="2800"/>
              <a:buNone/>
            </a:pPr>
            <a:r>
              <a:rPr lang="en-US"/>
              <a:t>Definition of a rational agent:</a:t>
            </a:r>
            <a:endParaRPr/>
          </a:p>
          <a:p>
            <a:pPr indent="-228600" lvl="1" marL="685800" rtl="0" algn="l">
              <a:lnSpc>
                <a:spcPct val="90000"/>
              </a:lnSpc>
              <a:spcBef>
                <a:spcPts val="500"/>
              </a:spcBef>
              <a:spcAft>
                <a:spcPts val="0"/>
              </a:spcAft>
              <a:buClr>
                <a:schemeClr val="accent3"/>
              </a:buClr>
              <a:buSzPts val="2400"/>
              <a:buChar char="•"/>
            </a:pPr>
            <a:r>
              <a:rPr i="1" lang="en-US">
                <a:solidFill>
                  <a:schemeClr val="accent3"/>
                </a:solidFill>
              </a:rPr>
              <a:t>For each possible percept sequence, a rational agent should select an action that is expected to maximize its performance measure, given the evidence provided by the percept sequence and whatever built-in knowledge the agent has.</a:t>
            </a:r>
            <a:endParaRPr/>
          </a:p>
        </p:txBody>
      </p:sp>
      <p:sp>
        <p:nvSpPr>
          <p:cNvPr id="280" name="Google Shape;28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Rationality vs. Omniscience</a:t>
            </a:r>
            <a:endParaRPr/>
          </a:p>
        </p:txBody>
      </p:sp>
      <p:sp>
        <p:nvSpPr>
          <p:cNvPr id="286" name="Google Shape;286;p17"/>
          <p:cNvSpPr txBox="1"/>
          <p:nvPr>
            <p:ph idx="1" type="body"/>
          </p:nvPr>
        </p:nvSpPr>
        <p:spPr>
          <a:xfrm>
            <a:off x="1120000" y="1825625"/>
            <a:ext cx="10233900" cy="4351200"/>
          </a:xfrm>
          <a:prstGeom prst="rect">
            <a:avLst/>
          </a:prstGeom>
          <a:blipFill rotWithShape="1">
            <a:blip r:embed="rId3">
              <a:alphaModFix/>
            </a:blip>
            <a:stretch>
              <a:fillRect b="0" l="0" r="0" t="-223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287" name="Google Shape;28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Specifying the task environment</a:t>
            </a:r>
            <a:endParaRPr/>
          </a:p>
        </p:txBody>
      </p:sp>
      <p:sp>
        <p:nvSpPr>
          <p:cNvPr id="293" name="Google Shape;293;p18"/>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In designing an agent, the first step must always be to specify the task environment as fully as possible</a:t>
            </a:r>
            <a:endParaRPr/>
          </a:p>
          <a:p>
            <a:pPr indent="-228600" lvl="0" marL="228600" rtl="0" algn="l">
              <a:lnSpc>
                <a:spcPct val="90000"/>
              </a:lnSpc>
              <a:spcBef>
                <a:spcPts val="1000"/>
              </a:spcBef>
              <a:spcAft>
                <a:spcPts val="0"/>
              </a:spcAft>
              <a:buClr>
                <a:srgbClr val="EDEDED"/>
              </a:buClr>
              <a:buSzPts val="2800"/>
              <a:buChar char="•"/>
            </a:pPr>
            <a:r>
              <a:rPr lang="en-US"/>
              <a:t>PEAS (Performance, Environment, Actuators, Sensors)</a:t>
            </a:r>
            <a:endParaRPr/>
          </a:p>
          <a:p>
            <a:pPr indent="-50800" lvl="0" marL="228600" rtl="0" algn="l">
              <a:lnSpc>
                <a:spcPct val="90000"/>
              </a:lnSpc>
              <a:spcBef>
                <a:spcPts val="1000"/>
              </a:spcBef>
              <a:spcAft>
                <a:spcPts val="0"/>
              </a:spcAft>
              <a:buClr>
                <a:srgbClr val="EDEDED"/>
              </a:buClr>
              <a:buSzPts val="2800"/>
              <a:buNone/>
            </a:pPr>
            <a:r>
              <a:t/>
            </a:r>
            <a:endParaRPr/>
          </a:p>
        </p:txBody>
      </p:sp>
      <p:sp>
        <p:nvSpPr>
          <p:cNvPr id="294" name="Google Shape;29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295" name="Google Shape;295;p18"/>
          <p:cNvPicPr preferRelativeResize="0"/>
          <p:nvPr/>
        </p:nvPicPr>
        <p:blipFill rotWithShape="1">
          <a:blip r:embed="rId3">
            <a:alphaModFix/>
          </a:blip>
          <a:srcRect b="0" l="0" r="0" t="0"/>
          <a:stretch/>
        </p:blipFill>
        <p:spPr>
          <a:xfrm>
            <a:off x="1120000" y="3319080"/>
            <a:ext cx="8946140" cy="303727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302" name="Google Shape;302;p19"/>
          <p:cNvPicPr preferRelativeResize="0"/>
          <p:nvPr>
            <p:ph idx="4294967295" type="body"/>
          </p:nvPr>
        </p:nvPicPr>
        <p:blipFill rotWithShape="1">
          <a:blip r:embed="rId3">
            <a:alphaModFix/>
          </a:blip>
          <a:srcRect b="0" l="0" r="0" t="0"/>
          <a:stretch/>
        </p:blipFill>
        <p:spPr>
          <a:xfrm>
            <a:off x="2281237" y="268288"/>
            <a:ext cx="7629600" cy="6088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PEAS QUIZ!</a:t>
            </a:r>
            <a:endParaRPr/>
          </a:p>
        </p:txBody>
      </p:sp>
      <p:sp>
        <p:nvSpPr>
          <p:cNvPr id="309" name="Google Shape;309;p20"/>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6"/>
              </a:buClr>
              <a:buSzPts val="2800"/>
              <a:buChar char="•"/>
            </a:pPr>
            <a:r>
              <a:rPr lang="en-US">
                <a:solidFill>
                  <a:schemeClr val="accent6"/>
                </a:solidFill>
                <a:latin typeface="Corbel"/>
                <a:ea typeface="Corbel"/>
                <a:cs typeface="Corbel"/>
                <a:sym typeface="Corbel"/>
              </a:rPr>
              <a:t>What is the PEAS specification for a Robot Soccer Player? What are the environmental characteristics of this agent?</a:t>
            </a:r>
            <a:endParaRPr/>
          </a:p>
          <a:p>
            <a:pPr indent="-50800" lvl="0" marL="228600" rtl="0" algn="l">
              <a:lnSpc>
                <a:spcPct val="90000"/>
              </a:lnSpc>
              <a:spcBef>
                <a:spcPts val="1000"/>
              </a:spcBef>
              <a:spcAft>
                <a:spcPts val="0"/>
              </a:spcAft>
              <a:buClr>
                <a:srgbClr val="EDEDED"/>
              </a:buClr>
              <a:buSzPts val="2800"/>
              <a:buNone/>
            </a:pPr>
            <a:r>
              <a:t/>
            </a:r>
            <a:endParaRPr/>
          </a:p>
          <a:p>
            <a:pPr indent="-228600" lvl="0" marL="228600" rtl="0" algn="l">
              <a:lnSpc>
                <a:spcPct val="90000"/>
              </a:lnSpc>
              <a:spcBef>
                <a:spcPts val="1000"/>
              </a:spcBef>
              <a:spcAft>
                <a:spcPts val="0"/>
              </a:spcAft>
              <a:buClr>
                <a:schemeClr val="accent6"/>
              </a:buClr>
              <a:buSzPts val="2800"/>
              <a:buChar char="•"/>
            </a:pPr>
            <a:r>
              <a:rPr lang="en-US">
                <a:solidFill>
                  <a:schemeClr val="accent6"/>
                </a:solidFill>
                <a:latin typeface="Corbel"/>
                <a:ea typeface="Corbel"/>
                <a:cs typeface="Corbel"/>
                <a:sym typeface="Corbel"/>
              </a:rPr>
              <a:t>What is the PEAS specification for an Online Shopping Agent? What are the environmental characteristics of this agent?</a:t>
            </a:r>
            <a:endParaRPr/>
          </a:p>
          <a:p>
            <a:pPr indent="-50800" lvl="0" marL="228600" rtl="0" algn="l">
              <a:lnSpc>
                <a:spcPct val="90000"/>
              </a:lnSpc>
              <a:spcBef>
                <a:spcPts val="1000"/>
              </a:spcBef>
              <a:spcAft>
                <a:spcPts val="0"/>
              </a:spcAft>
              <a:buClr>
                <a:srgbClr val="EDEDED"/>
              </a:buClr>
              <a:buSzPts val="2800"/>
              <a:buNone/>
            </a:pPr>
            <a:r>
              <a:t/>
            </a:r>
            <a:endParaRPr/>
          </a:p>
          <a:p>
            <a:pPr indent="-50800" lvl="0" marL="228600" rtl="0" algn="l">
              <a:lnSpc>
                <a:spcPct val="90000"/>
              </a:lnSpc>
              <a:spcBef>
                <a:spcPts val="1000"/>
              </a:spcBef>
              <a:spcAft>
                <a:spcPts val="0"/>
              </a:spcAft>
              <a:buClr>
                <a:srgbClr val="EDEDED"/>
              </a:buClr>
              <a:buSzPts val="2800"/>
              <a:buNone/>
            </a:pPr>
            <a:r>
              <a:t/>
            </a:r>
            <a:endParaRPr/>
          </a:p>
        </p:txBody>
      </p:sp>
      <p:sp>
        <p:nvSpPr>
          <p:cNvPr id="310" name="Google Shape;31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cc3cf20d30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PEAS &amp; Problem Formulation</a:t>
            </a:r>
            <a:endParaRPr/>
          </a:p>
        </p:txBody>
      </p:sp>
      <p:sp>
        <p:nvSpPr>
          <p:cNvPr id="317" name="Google Shape;317;g3cc3cf20d30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318" name="Google Shape;318;g3cc3cf20d30_0_0"/>
          <p:cNvPicPr preferRelativeResize="0"/>
          <p:nvPr/>
        </p:nvPicPr>
        <p:blipFill>
          <a:blip r:embed="rId3">
            <a:alphaModFix/>
          </a:blip>
          <a:stretch>
            <a:fillRect/>
          </a:stretch>
        </p:blipFill>
        <p:spPr>
          <a:xfrm>
            <a:off x="926175" y="1690825"/>
            <a:ext cx="10328601" cy="23406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cc3cf20d30_0_9"/>
          <p:cNvSpPr txBox="1"/>
          <p:nvPr>
            <p:ph type="title"/>
          </p:nvPr>
        </p:nvSpPr>
        <p:spPr>
          <a:xfrm>
            <a:off x="264725" y="73550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Solution</a:t>
            </a:r>
            <a:endParaRPr/>
          </a:p>
        </p:txBody>
      </p:sp>
      <p:sp>
        <p:nvSpPr>
          <p:cNvPr id="325" name="Google Shape;325;g3cc3cf20d30_0_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326" name="Google Shape;326;g3cc3cf20d30_0_9"/>
          <p:cNvPicPr preferRelativeResize="0"/>
          <p:nvPr/>
        </p:nvPicPr>
        <p:blipFill>
          <a:blip r:embed="rId3">
            <a:alphaModFix/>
          </a:blip>
          <a:stretch>
            <a:fillRect/>
          </a:stretch>
        </p:blipFill>
        <p:spPr>
          <a:xfrm>
            <a:off x="3345375" y="365125"/>
            <a:ext cx="6750450" cy="62014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Properties of task environments</a:t>
            </a:r>
            <a:endParaRPr sz="2700"/>
          </a:p>
        </p:txBody>
      </p:sp>
      <p:sp>
        <p:nvSpPr>
          <p:cNvPr id="332" name="Google Shape;332;p21"/>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Fully observable vs. Partially observable</a:t>
            </a:r>
            <a:endParaRPr/>
          </a:p>
          <a:p>
            <a:pPr indent="-228600" lvl="0" marL="228600" rtl="0" algn="l">
              <a:lnSpc>
                <a:spcPct val="90000"/>
              </a:lnSpc>
              <a:spcBef>
                <a:spcPts val="1000"/>
              </a:spcBef>
              <a:spcAft>
                <a:spcPts val="0"/>
              </a:spcAft>
              <a:buClr>
                <a:srgbClr val="EDEDED"/>
              </a:buClr>
              <a:buSzPts val="2800"/>
              <a:buChar char="•"/>
            </a:pPr>
            <a:r>
              <a:rPr lang="en-US"/>
              <a:t>Single agent vs. Multi-agents</a:t>
            </a:r>
            <a:endParaRPr/>
          </a:p>
          <a:p>
            <a:pPr indent="-228600" lvl="0" marL="228600" rtl="0" algn="l">
              <a:lnSpc>
                <a:spcPct val="90000"/>
              </a:lnSpc>
              <a:spcBef>
                <a:spcPts val="1000"/>
              </a:spcBef>
              <a:spcAft>
                <a:spcPts val="0"/>
              </a:spcAft>
              <a:buClr>
                <a:srgbClr val="EDEDED"/>
              </a:buClr>
              <a:buSzPts val="2800"/>
              <a:buChar char="•"/>
            </a:pPr>
            <a:r>
              <a:rPr lang="en-US"/>
              <a:t>Deterministic vs. Stochastic</a:t>
            </a:r>
            <a:endParaRPr/>
          </a:p>
          <a:p>
            <a:pPr indent="-228600" lvl="0" marL="228600" rtl="0" algn="l">
              <a:lnSpc>
                <a:spcPct val="90000"/>
              </a:lnSpc>
              <a:spcBef>
                <a:spcPts val="1000"/>
              </a:spcBef>
              <a:spcAft>
                <a:spcPts val="0"/>
              </a:spcAft>
              <a:buClr>
                <a:srgbClr val="EDEDED"/>
              </a:buClr>
              <a:buSzPts val="2800"/>
              <a:buChar char="•"/>
            </a:pPr>
            <a:r>
              <a:rPr lang="en-US"/>
              <a:t>Episodic vs. Sequential</a:t>
            </a:r>
            <a:endParaRPr/>
          </a:p>
          <a:p>
            <a:pPr indent="-228600" lvl="0" marL="228600" rtl="0" algn="l">
              <a:lnSpc>
                <a:spcPct val="90000"/>
              </a:lnSpc>
              <a:spcBef>
                <a:spcPts val="1000"/>
              </a:spcBef>
              <a:spcAft>
                <a:spcPts val="0"/>
              </a:spcAft>
              <a:buClr>
                <a:srgbClr val="EDEDED"/>
              </a:buClr>
              <a:buSzPts val="2800"/>
              <a:buChar char="•"/>
            </a:pPr>
            <a:r>
              <a:rPr lang="en-US"/>
              <a:t>Static vs. Dynamic</a:t>
            </a:r>
            <a:endParaRPr/>
          </a:p>
          <a:p>
            <a:pPr indent="-228600" lvl="0" marL="228600" rtl="0" algn="l">
              <a:lnSpc>
                <a:spcPct val="90000"/>
              </a:lnSpc>
              <a:spcBef>
                <a:spcPts val="1000"/>
              </a:spcBef>
              <a:spcAft>
                <a:spcPts val="0"/>
              </a:spcAft>
              <a:buClr>
                <a:srgbClr val="EDEDED"/>
              </a:buClr>
              <a:buSzPts val="2800"/>
              <a:buChar char="•"/>
            </a:pPr>
            <a:r>
              <a:rPr lang="en-US"/>
              <a:t>Discrete vs. Continuous</a:t>
            </a:r>
            <a:endParaRPr/>
          </a:p>
          <a:p>
            <a:pPr indent="-228600" lvl="0" marL="228600" rtl="0" algn="l">
              <a:lnSpc>
                <a:spcPct val="90000"/>
              </a:lnSpc>
              <a:spcBef>
                <a:spcPts val="1000"/>
              </a:spcBef>
              <a:spcAft>
                <a:spcPts val="0"/>
              </a:spcAft>
              <a:buClr>
                <a:srgbClr val="EDEDED"/>
              </a:buClr>
              <a:buSzPts val="2800"/>
              <a:buChar char="•"/>
            </a:pPr>
            <a:r>
              <a:rPr lang="en-US"/>
              <a:t>Known vs. Unknown</a:t>
            </a:r>
            <a:endParaRPr/>
          </a:p>
        </p:txBody>
      </p:sp>
      <p:sp>
        <p:nvSpPr>
          <p:cNvPr id="333" name="Google Shape;33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Types of Environment</a:t>
            </a:r>
            <a:br>
              <a:rPr lang="en-US"/>
            </a:br>
            <a:r>
              <a:rPr lang="en-US" sz="2700">
                <a:solidFill>
                  <a:schemeClr val="accent5"/>
                </a:solidFill>
              </a:rPr>
              <a:t>Fully observable vs. partially observable</a:t>
            </a:r>
            <a:endParaRPr/>
          </a:p>
        </p:txBody>
      </p:sp>
      <p:sp>
        <p:nvSpPr>
          <p:cNvPr id="339" name="Google Shape;339;p22"/>
          <p:cNvSpPr txBox="1"/>
          <p:nvPr>
            <p:ph idx="1" type="body"/>
          </p:nvPr>
        </p:nvSpPr>
        <p:spPr>
          <a:xfrm>
            <a:off x="1120000" y="1825625"/>
            <a:ext cx="10233800" cy="4351338"/>
          </a:xfrm>
          <a:prstGeom prst="rect">
            <a:avLst/>
          </a:prstGeom>
          <a:blipFill rotWithShape="1">
            <a:blip r:embed="rId3">
              <a:alphaModFix/>
            </a:blip>
            <a:stretch>
              <a:fillRect b="0" l="0" r="0" t="-279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40" name="Google Shape;34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Types of Environment</a:t>
            </a:r>
            <a:br>
              <a:rPr lang="en-US"/>
            </a:br>
            <a:r>
              <a:rPr lang="en-US" sz="2700">
                <a:solidFill>
                  <a:schemeClr val="accent5"/>
                </a:solidFill>
              </a:rPr>
              <a:t>Single agent vs. multiagent</a:t>
            </a:r>
            <a:endParaRPr/>
          </a:p>
        </p:txBody>
      </p:sp>
      <p:sp>
        <p:nvSpPr>
          <p:cNvPr id="346" name="Google Shape;346;p23"/>
          <p:cNvSpPr txBox="1"/>
          <p:nvPr>
            <p:ph idx="1" type="body"/>
          </p:nvPr>
        </p:nvSpPr>
        <p:spPr>
          <a:xfrm>
            <a:off x="1120000" y="1825625"/>
            <a:ext cx="10233800" cy="4351338"/>
          </a:xfrm>
          <a:prstGeom prst="rect">
            <a:avLst/>
          </a:prstGeom>
          <a:blipFill rotWithShape="1">
            <a:blip r:embed="rId3">
              <a:alphaModFix/>
            </a:blip>
            <a:stretch>
              <a:fillRect b="0" l="0" r="0" t="-223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47" name="Google Shape;34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48" name="Google Shape;348;p23"/>
          <p:cNvSpPr txBox="1"/>
          <p:nvPr/>
        </p:nvSpPr>
        <p:spPr>
          <a:xfrm>
            <a:off x="1063047" y="5216235"/>
            <a:ext cx="10347705" cy="523220"/>
          </a:xfrm>
          <a:prstGeom prst="rect">
            <a:avLst/>
          </a:prstGeom>
          <a:no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accent6"/>
                </a:solidFill>
                <a:latin typeface="Corbel"/>
                <a:ea typeface="Corbel"/>
                <a:cs typeface="Corbel"/>
                <a:sym typeface="Corbel"/>
              </a:rPr>
              <a:t>Explain why automated car can be partially competitive multi-agent?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Types of Environment</a:t>
            </a:r>
            <a:br>
              <a:rPr lang="en-US"/>
            </a:br>
            <a:r>
              <a:rPr lang="en-US" sz="2700">
                <a:solidFill>
                  <a:schemeClr val="accent5"/>
                </a:solidFill>
              </a:rPr>
              <a:t>Deterministic vs. stochastic</a:t>
            </a:r>
            <a:endParaRPr/>
          </a:p>
        </p:txBody>
      </p:sp>
      <p:sp>
        <p:nvSpPr>
          <p:cNvPr id="355" name="Google Shape;355;p24"/>
          <p:cNvSpPr txBox="1"/>
          <p:nvPr>
            <p:ph idx="1" type="body"/>
          </p:nvPr>
        </p:nvSpPr>
        <p:spPr>
          <a:xfrm>
            <a:off x="1120000" y="1825625"/>
            <a:ext cx="10233800" cy="4351338"/>
          </a:xfrm>
          <a:prstGeom prst="rect">
            <a:avLst/>
          </a:prstGeom>
          <a:blipFill rotWithShape="1">
            <a:blip r:embed="rId3">
              <a:alphaModFix/>
            </a:blip>
            <a:stretch>
              <a:fillRect b="0" l="0" r="0" t="-223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56" name="Google Shape;35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57" name="Google Shape;357;p24"/>
          <p:cNvSpPr txBox="1"/>
          <p:nvPr/>
        </p:nvSpPr>
        <p:spPr>
          <a:xfrm>
            <a:off x="542392" y="5481827"/>
            <a:ext cx="1138901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accent6"/>
                </a:solidFill>
                <a:latin typeface="Corbel"/>
                <a:ea typeface="Corbel"/>
                <a:cs typeface="Corbel"/>
                <a:sym typeface="Corbel"/>
              </a:rPr>
              <a:t>If dirt appears randomly In our vacuum world, is it deterministic? </a:t>
            </a:r>
            <a:r>
              <a:rPr b="0" i="0" lang="en-US" sz="2800" u="none" cap="none" strike="noStrike">
                <a:solidFill>
                  <a:schemeClr val="accent3"/>
                </a:solidFill>
                <a:latin typeface="Corbel"/>
                <a:ea typeface="Corbel"/>
                <a:cs typeface="Corbel"/>
                <a:sym typeface="Corbel"/>
              </a:rPr>
              <a:t>No</a:t>
            </a:r>
            <a:r>
              <a:rPr b="0" i="0" lang="en-US" sz="2800" u="none" cap="none" strike="noStrike">
                <a:solidFill>
                  <a:schemeClr val="accent6"/>
                </a:solidFill>
                <a:latin typeface="Corbel"/>
                <a:ea typeface="Corbel"/>
                <a:cs typeface="Corbel"/>
                <a:sym typeface="Corbel"/>
              </a:rPr>
              <a:t> – Why?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Types of Environment</a:t>
            </a:r>
            <a:br>
              <a:rPr lang="en-US"/>
            </a:br>
            <a:r>
              <a:rPr lang="en-US" sz="2700">
                <a:solidFill>
                  <a:schemeClr val="accent5"/>
                </a:solidFill>
              </a:rPr>
              <a:t>Episodic vs. sequential</a:t>
            </a:r>
            <a:endParaRPr/>
          </a:p>
        </p:txBody>
      </p:sp>
      <p:sp>
        <p:nvSpPr>
          <p:cNvPr id="363" name="Google Shape;363;p25"/>
          <p:cNvSpPr txBox="1"/>
          <p:nvPr>
            <p:ph idx="1" type="body"/>
          </p:nvPr>
        </p:nvSpPr>
        <p:spPr>
          <a:xfrm>
            <a:off x="1120000" y="1825625"/>
            <a:ext cx="10233800" cy="4351338"/>
          </a:xfrm>
          <a:prstGeom prst="rect">
            <a:avLst/>
          </a:prstGeom>
          <a:blipFill rotWithShape="1">
            <a:blip r:embed="rId3">
              <a:alphaModFix/>
            </a:blip>
            <a:stretch>
              <a:fillRect b="0" l="0" r="0" t="-223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64" name="Google Shape;3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Types of Environment</a:t>
            </a:r>
            <a:br>
              <a:rPr lang="en-US"/>
            </a:br>
            <a:r>
              <a:rPr lang="en-US" sz="2700">
                <a:solidFill>
                  <a:schemeClr val="accent5"/>
                </a:solidFill>
              </a:rPr>
              <a:t>Static vs. dynamic</a:t>
            </a:r>
            <a:endParaRPr/>
          </a:p>
        </p:txBody>
      </p:sp>
      <p:sp>
        <p:nvSpPr>
          <p:cNvPr id="370" name="Google Shape;370;p26"/>
          <p:cNvSpPr txBox="1"/>
          <p:nvPr>
            <p:ph idx="1" type="body"/>
          </p:nvPr>
        </p:nvSpPr>
        <p:spPr>
          <a:xfrm>
            <a:off x="1120000" y="1825625"/>
            <a:ext cx="10233800" cy="4351338"/>
          </a:xfrm>
          <a:prstGeom prst="rect">
            <a:avLst/>
          </a:prstGeom>
          <a:blipFill rotWithShape="1">
            <a:blip r:embed="rId3">
              <a:alphaModFix/>
            </a:blip>
            <a:stretch>
              <a:fillRect b="0" l="0" r="0" t="-223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71" name="Google Shape;3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72" name="Google Shape;372;p26"/>
          <p:cNvSpPr txBox="1"/>
          <p:nvPr/>
        </p:nvSpPr>
        <p:spPr>
          <a:xfrm>
            <a:off x="2570035" y="5481827"/>
            <a:ext cx="7051930" cy="523220"/>
          </a:xfrm>
          <a:prstGeom prst="rect">
            <a:avLst/>
          </a:prstGeom>
          <a:no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accent6"/>
                </a:solidFill>
                <a:latin typeface="Corbel"/>
                <a:ea typeface="Corbel"/>
                <a:cs typeface="Corbel"/>
                <a:sym typeface="Corbel"/>
              </a:rPr>
              <a:t>Explain why chess with clock is semi dynamic?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Types of Environment</a:t>
            </a:r>
            <a:br>
              <a:rPr lang="en-US"/>
            </a:br>
            <a:r>
              <a:rPr lang="en-US" sz="2700">
                <a:solidFill>
                  <a:schemeClr val="accent5"/>
                </a:solidFill>
              </a:rPr>
              <a:t>Discrete vs. continuous</a:t>
            </a:r>
            <a:endParaRPr/>
          </a:p>
        </p:txBody>
      </p:sp>
      <p:sp>
        <p:nvSpPr>
          <p:cNvPr id="378" name="Google Shape;378;p27"/>
          <p:cNvSpPr txBox="1"/>
          <p:nvPr>
            <p:ph idx="1" type="body"/>
          </p:nvPr>
        </p:nvSpPr>
        <p:spPr>
          <a:xfrm>
            <a:off x="1120000" y="1825625"/>
            <a:ext cx="10233800" cy="4351338"/>
          </a:xfrm>
          <a:prstGeom prst="rect">
            <a:avLst/>
          </a:prstGeom>
          <a:blipFill rotWithShape="1">
            <a:blip r:embed="rId3">
              <a:alphaModFix/>
            </a:blip>
            <a:stretch>
              <a:fillRect b="0" l="0" r="0" t="-223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79" name="Google Shape;37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Types of Environment</a:t>
            </a:r>
            <a:endParaRPr sz="2700">
              <a:solidFill>
                <a:schemeClr val="accent5"/>
              </a:solidFill>
            </a:endParaRPr>
          </a:p>
        </p:txBody>
      </p:sp>
      <p:sp>
        <p:nvSpPr>
          <p:cNvPr id="385" name="Google Shape;385;p28"/>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The hardest case is </a:t>
            </a:r>
            <a:r>
              <a:rPr lang="en-US">
                <a:solidFill>
                  <a:schemeClr val="accent3"/>
                </a:solidFill>
              </a:rPr>
              <a:t>partially observable, multiagent, stochastic, sequential, dynamic, continuous, and unknown</a:t>
            </a:r>
            <a:endParaRPr/>
          </a:p>
          <a:p>
            <a:pPr indent="-228600" lvl="1" marL="685800" rtl="0" algn="l">
              <a:lnSpc>
                <a:spcPct val="90000"/>
              </a:lnSpc>
              <a:spcBef>
                <a:spcPts val="500"/>
              </a:spcBef>
              <a:spcAft>
                <a:spcPts val="0"/>
              </a:spcAft>
              <a:buClr>
                <a:srgbClr val="EDEDED"/>
              </a:buClr>
              <a:buSzPts val="2400"/>
              <a:buChar char="•"/>
            </a:pPr>
            <a:r>
              <a:rPr lang="en-US"/>
              <a:t>Taxi driving is hard in all these senses, except that for the most part the driver’s environment is known</a:t>
            </a:r>
            <a:endParaRPr/>
          </a:p>
          <a:p>
            <a:pPr indent="-50800" lvl="0" marL="228600" rtl="0" algn="l">
              <a:lnSpc>
                <a:spcPct val="90000"/>
              </a:lnSpc>
              <a:spcBef>
                <a:spcPts val="1000"/>
              </a:spcBef>
              <a:spcAft>
                <a:spcPts val="0"/>
              </a:spcAft>
              <a:buClr>
                <a:srgbClr val="EDEDED"/>
              </a:buClr>
              <a:buSzPts val="2800"/>
              <a:buNone/>
            </a:pPr>
            <a:r>
              <a:t/>
            </a:r>
            <a:endParaRPr>
              <a:solidFill>
                <a:schemeClr val="accent6"/>
              </a:solidFill>
            </a:endParaRPr>
          </a:p>
        </p:txBody>
      </p:sp>
      <p:sp>
        <p:nvSpPr>
          <p:cNvPr id="386" name="Google Shape;38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Types of Environment</a:t>
            </a:r>
            <a:endParaRPr/>
          </a:p>
        </p:txBody>
      </p:sp>
      <p:pic>
        <p:nvPicPr>
          <p:cNvPr id="392" name="Google Shape;392;p29"/>
          <p:cNvPicPr preferRelativeResize="0"/>
          <p:nvPr>
            <p:ph idx="1" type="body"/>
          </p:nvPr>
        </p:nvPicPr>
        <p:blipFill rotWithShape="1">
          <a:blip r:embed="rId3">
            <a:alphaModFix/>
          </a:blip>
          <a:srcRect b="0" l="0" r="0" t="0"/>
          <a:stretch/>
        </p:blipFill>
        <p:spPr>
          <a:xfrm>
            <a:off x="1288232" y="1517072"/>
            <a:ext cx="9615536" cy="4701454"/>
          </a:xfrm>
          <a:prstGeom prst="rect">
            <a:avLst/>
          </a:prstGeom>
          <a:noFill/>
          <a:ln>
            <a:noFill/>
          </a:ln>
        </p:spPr>
      </p:pic>
      <p:sp>
        <p:nvSpPr>
          <p:cNvPr id="393" name="Google Shape;39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94" name="Google Shape;394;p29"/>
          <p:cNvSpPr/>
          <p:nvPr/>
        </p:nvSpPr>
        <p:spPr>
          <a:xfrm>
            <a:off x="3971179" y="2049390"/>
            <a:ext cx="6868391" cy="3636818"/>
          </a:xfrm>
          <a:prstGeom prst="rect">
            <a:avLst/>
          </a:prstGeom>
          <a:solidFill>
            <a:schemeClr val="lt1"/>
          </a:solidFill>
          <a:ln cap="flat" cmpd="sng" w="12700">
            <a:solidFill>
              <a:srgbClr val="2F7E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accent6"/>
                </a:solidFill>
                <a:latin typeface="Corbel"/>
                <a:ea typeface="Corbel"/>
                <a:cs typeface="Corbel"/>
                <a:sym typeface="Corbel"/>
              </a:rPr>
              <a:t>Answers in this table depend on how the task environment is defined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Types of Environment</a:t>
            </a:r>
            <a:endParaRPr/>
          </a:p>
        </p:txBody>
      </p:sp>
      <p:pic>
        <p:nvPicPr>
          <p:cNvPr id="400" name="Google Shape;400;p30"/>
          <p:cNvPicPr preferRelativeResize="0"/>
          <p:nvPr>
            <p:ph idx="1" type="body"/>
          </p:nvPr>
        </p:nvPicPr>
        <p:blipFill rotWithShape="1">
          <a:blip r:embed="rId3">
            <a:alphaModFix/>
          </a:blip>
          <a:srcRect b="0" l="0" r="0" t="0"/>
          <a:stretch/>
        </p:blipFill>
        <p:spPr>
          <a:xfrm>
            <a:off x="1288232" y="1517072"/>
            <a:ext cx="9615536" cy="4701454"/>
          </a:xfrm>
          <a:prstGeom prst="rect">
            <a:avLst/>
          </a:prstGeom>
          <a:noFill/>
          <a:ln>
            <a:noFill/>
          </a:ln>
        </p:spPr>
      </p:pic>
      <p:sp>
        <p:nvSpPr>
          <p:cNvPr id="401" name="Google Shape;40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accent6"/>
              </a:buClr>
              <a:buSzPts val="4000"/>
              <a:buFont typeface="Corbel"/>
              <a:buNone/>
            </a:pPr>
            <a:r>
              <a:rPr lang="en-US" sz="4000">
                <a:solidFill>
                  <a:schemeClr val="accent6"/>
                </a:solidFill>
              </a:rPr>
              <a:t>Answers in this table depend on how the task environment is defined </a:t>
            </a:r>
            <a:endParaRPr sz="4000"/>
          </a:p>
        </p:txBody>
      </p:sp>
      <p:sp>
        <p:nvSpPr>
          <p:cNvPr id="407" name="Google Shape;407;p31"/>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rgbClr val="EDEDED"/>
              </a:buClr>
              <a:buSzPct val="100000"/>
              <a:buChar char="•"/>
            </a:pPr>
            <a:r>
              <a:rPr lang="en-US"/>
              <a:t>Medical-diagnosis task </a:t>
            </a:r>
            <a:endParaRPr/>
          </a:p>
          <a:p>
            <a:pPr indent="-228600" lvl="1" marL="685800" rtl="0" algn="l">
              <a:lnSpc>
                <a:spcPct val="90000"/>
              </a:lnSpc>
              <a:spcBef>
                <a:spcPts val="500"/>
              </a:spcBef>
              <a:spcAft>
                <a:spcPts val="0"/>
              </a:spcAft>
              <a:buClr>
                <a:srgbClr val="EDEDED"/>
              </a:buClr>
              <a:buSzPct val="100000"/>
              <a:buChar char="•"/>
            </a:pPr>
            <a:r>
              <a:rPr lang="en-US"/>
              <a:t>single-agent because the disease process in a patient is not profitably modeled as an agent; but a medical-diagnosis system might also have to deal with recalcitrant patients and skeptical staff, so the environment could have a multiagent aspect</a:t>
            </a:r>
            <a:endParaRPr/>
          </a:p>
          <a:p>
            <a:pPr indent="-228600" lvl="1" marL="685800" rtl="0" algn="l">
              <a:lnSpc>
                <a:spcPct val="90000"/>
              </a:lnSpc>
              <a:spcBef>
                <a:spcPts val="500"/>
              </a:spcBef>
              <a:spcAft>
                <a:spcPts val="0"/>
              </a:spcAft>
              <a:buClr>
                <a:srgbClr val="EDEDED"/>
              </a:buClr>
              <a:buSzPct val="100000"/>
              <a:buChar char="•"/>
            </a:pPr>
            <a:r>
              <a:rPr lang="en-US"/>
              <a:t>episodic if one conceives of the task as selecting a diagnosis given a list of symptoms; the problem is sequential if the task can include proposing a series of tests, evaluating progress over the course of treatment, and so on.</a:t>
            </a:r>
            <a:endParaRPr/>
          </a:p>
          <a:p>
            <a:pPr indent="-64135" lvl="0" marL="228600" rtl="0" algn="l">
              <a:lnSpc>
                <a:spcPct val="90000"/>
              </a:lnSpc>
              <a:spcBef>
                <a:spcPts val="1000"/>
              </a:spcBef>
              <a:spcAft>
                <a:spcPts val="0"/>
              </a:spcAft>
              <a:buClr>
                <a:srgbClr val="EDEDED"/>
              </a:buClr>
              <a:buSzPct val="100000"/>
              <a:buNone/>
            </a:pPr>
            <a:r>
              <a:t/>
            </a:r>
            <a:endParaRPr/>
          </a:p>
          <a:p>
            <a:pPr indent="-228600" lvl="0" marL="228600" rtl="0" algn="l">
              <a:lnSpc>
                <a:spcPct val="90000"/>
              </a:lnSpc>
              <a:spcBef>
                <a:spcPts val="1000"/>
              </a:spcBef>
              <a:spcAft>
                <a:spcPts val="0"/>
              </a:spcAft>
              <a:buClr>
                <a:srgbClr val="EDEDED"/>
              </a:buClr>
              <a:buSzPct val="100000"/>
              <a:buChar char="•"/>
            </a:pPr>
            <a:r>
              <a:rPr lang="en-US"/>
              <a:t>A </a:t>
            </a:r>
            <a:r>
              <a:rPr b="1" lang="en-US"/>
              <a:t>chess tournament</a:t>
            </a:r>
            <a:r>
              <a:rPr lang="en-US"/>
              <a:t> consists of a sequence of games; each game is an episode because (by and large) the contribution of the moves in one game to the agent’s overall performance is not affected by the moves in its previous game. On the other hand, decision making within a single game is certainly sequential.</a:t>
            </a:r>
            <a:endParaRPr/>
          </a:p>
        </p:txBody>
      </p:sp>
      <p:sp>
        <p:nvSpPr>
          <p:cNvPr id="408" name="Google Shape;40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References</a:t>
            </a:r>
            <a:endParaRPr/>
          </a:p>
        </p:txBody>
      </p:sp>
      <p:sp>
        <p:nvSpPr>
          <p:cNvPr id="414" name="Google Shape;414;p32"/>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AIMA Chapter 1 and 2</a:t>
            </a:r>
            <a:endParaRPr/>
          </a:p>
          <a:p>
            <a:pPr indent="-228600" lvl="1" marL="685800" rtl="0" algn="l">
              <a:lnSpc>
                <a:spcPct val="90000"/>
              </a:lnSpc>
              <a:spcBef>
                <a:spcPts val="500"/>
              </a:spcBef>
              <a:spcAft>
                <a:spcPts val="0"/>
              </a:spcAft>
              <a:buClr>
                <a:srgbClr val="EDEDED"/>
              </a:buClr>
              <a:buSzPts val="2400"/>
              <a:buChar char="•"/>
            </a:pPr>
            <a:r>
              <a:rPr lang="en-US"/>
              <a:t>1.1, 1.4</a:t>
            </a:r>
            <a:endParaRPr/>
          </a:p>
          <a:p>
            <a:pPr indent="-228600" lvl="1" marL="685800" rtl="0" algn="l">
              <a:lnSpc>
                <a:spcPct val="90000"/>
              </a:lnSpc>
              <a:spcBef>
                <a:spcPts val="500"/>
              </a:spcBef>
              <a:spcAft>
                <a:spcPts val="0"/>
              </a:spcAft>
              <a:buClr>
                <a:srgbClr val="EDEDED"/>
              </a:buClr>
              <a:buSzPts val="2400"/>
              <a:buChar char="•"/>
            </a:pPr>
            <a:r>
              <a:rPr lang="en-US"/>
              <a:t>2.1, 2.2, 2.3</a:t>
            </a:r>
            <a:endParaRPr/>
          </a:p>
          <a:p>
            <a:pPr indent="-228600" lvl="0" marL="228600" rtl="0" algn="l">
              <a:lnSpc>
                <a:spcPct val="90000"/>
              </a:lnSpc>
              <a:spcBef>
                <a:spcPts val="1000"/>
              </a:spcBef>
              <a:spcAft>
                <a:spcPts val="0"/>
              </a:spcAft>
              <a:buClr>
                <a:srgbClr val="EDEDED"/>
              </a:buClr>
              <a:buSzPts val="2800"/>
              <a:buChar char="•"/>
            </a:pPr>
            <a:r>
              <a:rPr lang="en-US"/>
              <a:t>AIMA slides: Lecture-1,2 </a:t>
            </a:r>
            <a:r>
              <a:rPr lang="en-US" u="sng">
                <a:solidFill>
                  <a:schemeClr val="hlink"/>
                </a:solidFill>
                <a:hlinkClick r:id="rId3"/>
              </a:rPr>
              <a:t>http://aima.eecs.berkeley.edu/slides-pdf/</a:t>
            </a:r>
            <a:endParaRPr/>
          </a:p>
          <a:p>
            <a:pPr indent="-228600" lvl="0" marL="228600" rtl="0" algn="l">
              <a:lnSpc>
                <a:spcPct val="90000"/>
              </a:lnSpc>
              <a:spcBef>
                <a:spcPts val="1000"/>
              </a:spcBef>
              <a:spcAft>
                <a:spcPts val="0"/>
              </a:spcAft>
              <a:buClr>
                <a:srgbClr val="EDEDED"/>
              </a:buClr>
              <a:buSzPts val="2800"/>
              <a:buChar char="•"/>
            </a:pPr>
            <a:r>
              <a:rPr lang="en-US" u="sng">
                <a:solidFill>
                  <a:schemeClr val="hlink"/>
                </a:solidFill>
                <a:hlinkClick r:id="rId4"/>
              </a:rPr>
              <a:t>Previous year questions </a:t>
            </a:r>
            <a:endParaRPr/>
          </a:p>
          <a:p>
            <a:pPr indent="-50800" lvl="0" marL="228600" rtl="0" algn="l">
              <a:lnSpc>
                <a:spcPct val="90000"/>
              </a:lnSpc>
              <a:spcBef>
                <a:spcPts val="1000"/>
              </a:spcBef>
              <a:spcAft>
                <a:spcPts val="0"/>
              </a:spcAft>
              <a:buClr>
                <a:srgbClr val="EDEDED"/>
              </a:buClr>
              <a:buSzPts val="2800"/>
              <a:buNone/>
            </a:pPr>
            <a:r>
              <a:t/>
            </a:r>
            <a:endParaRPr/>
          </a:p>
        </p:txBody>
      </p:sp>
      <p:sp>
        <p:nvSpPr>
          <p:cNvPr id="415" name="Google Shape;41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Some Excellent Resources!</a:t>
            </a:r>
            <a:endParaRPr/>
          </a:p>
        </p:txBody>
      </p:sp>
      <p:sp>
        <p:nvSpPr>
          <p:cNvPr id="421" name="Google Shape;421;p33"/>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b="0" i="0" lang="en-US" u="sng">
                <a:solidFill>
                  <a:schemeClr val="hlink"/>
                </a:solidFill>
                <a:latin typeface="Roboto"/>
                <a:ea typeface="Roboto"/>
                <a:cs typeface="Roboto"/>
                <a:sym typeface="Roboto"/>
                <a:hlinkClick r:id="rId3"/>
              </a:rPr>
              <a:t>2019 Berkeley CS 188 - Introduction to Artificial Intelligence</a:t>
            </a:r>
            <a:endParaRPr b="0" i="0">
              <a:latin typeface="Roboto"/>
              <a:ea typeface="Roboto"/>
              <a:cs typeface="Roboto"/>
              <a:sym typeface="Roboto"/>
            </a:endParaRPr>
          </a:p>
          <a:p>
            <a:pPr indent="-228600" lvl="0" marL="228600" rtl="0" algn="l">
              <a:lnSpc>
                <a:spcPct val="90000"/>
              </a:lnSpc>
              <a:spcBef>
                <a:spcPts val="1000"/>
              </a:spcBef>
              <a:spcAft>
                <a:spcPts val="0"/>
              </a:spcAft>
              <a:buClr>
                <a:srgbClr val="EDEDED"/>
              </a:buClr>
              <a:buSzPts val="2800"/>
              <a:buChar char="•"/>
            </a:pPr>
            <a:r>
              <a:rPr b="0" i="0" lang="en-US" u="sng">
                <a:solidFill>
                  <a:schemeClr val="hlink"/>
                </a:solidFill>
                <a:latin typeface="Roboto"/>
                <a:ea typeface="Roboto"/>
                <a:cs typeface="Roboto"/>
                <a:sym typeface="Roboto"/>
                <a:hlinkClick r:id="rId4"/>
              </a:rPr>
              <a:t>UC Berkeley CS 188 Introduction to Artificial Intelligence, Fall 2018</a:t>
            </a:r>
            <a:endParaRPr b="0" i="0">
              <a:latin typeface="Roboto"/>
              <a:ea typeface="Roboto"/>
              <a:cs typeface="Roboto"/>
              <a:sym typeface="Roboto"/>
            </a:endParaRPr>
          </a:p>
          <a:p>
            <a:pPr indent="-228600" lvl="0" marL="228600" rtl="0" algn="l">
              <a:lnSpc>
                <a:spcPct val="90000"/>
              </a:lnSpc>
              <a:spcBef>
                <a:spcPts val="1000"/>
              </a:spcBef>
              <a:spcAft>
                <a:spcPts val="0"/>
              </a:spcAft>
              <a:buClr>
                <a:srgbClr val="EDEDED"/>
              </a:buClr>
              <a:buSzPts val="2800"/>
              <a:buChar char="•"/>
            </a:pPr>
            <a:r>
              <a:rPr b="0" i="0" lang="en-US" u="sng">
                <a:solidFill>
                  <a:schemeClr val="hlink"/>
                </a:solidFill>
                <a:latin typeface="Roboto"/>
                <a:ea typeface="Roboto"/>
                <a:cs typeface="Roboto"/>
                <a:sym typeface="Roboto"/>
                <a:hlinkClick r:id="rId5"/>
              </a:rPr>
              <a:t>MIT 6.034 Artificial Intelligence, Fall 2010</a:t>
            </a:r>
            <a:endParaRPr b="0" i="0">
              <a:latin typeface="Roboto"/>
              <a:ea typeface="Roboto"/>
              <a:cs typeface="Roboto"/>
              <a:sym typeface="Roboto"/>
            </a:endParaRPr>
          </a:p>
          <a:p>
            <a:pPr indent="-228600" lvl="0" marL="228600" rtl="0" algn="l">
              <a:lnSpc>
                <a:spcPct val="90000"/>
              </a:lnSpc>
              <a:spcBef>
                <a:spcPts val="1000"/>
              </a:spcBef>
              <a:spcAft>
                <a:spcPts val="0"/>
              </a:spcAft>
              <a:buClr>
                <a:srgbClr val="008ED2"/>
              </a:buClr>
              <a:buSzPts val="2800"/>
              <a:buChar char="•"/>
            </a:pPr>
            <a:r>
              <a:rPr b="0" i="0" lang="en-US" u="sng" strike="noStrike">
                <a:solidFill>
                  <a:srgbClr val="008ED2"/>
                </a:solidFill>
                <a:latin typeface="Helvetica Neue"/>
                <a:ea typeface="Helvetica Neue"/>
                <a:cs typeface="Helvetica Neue"/>
                <a:sym typeface="Helvetica Neue"/>
                <a:hlinkClick r:id="rId6">
                  <a:extLst>
                    <a:ext uri="{A12FA001-AC4F-418D-AE19-62706E023703}">
                      <ahyp:hlinkClr val="tx"/>
                    </a:ext>
                  </a:extLst>
                </a:hlinkClick>
              </a:rPr>
              <a:t>Mohammad Imam Hossain</a:t>
            </a:r>
            <a:r>
              <a:rPr b="0" i="0" lang="en-US" u="none" strike="noStrike">
                <a:solidFill>
                  <a:srgbClr val="008ED2"/>
                </a:solidFill>
                <a:latin typeface="Helvetica Neue"/>
                <a:ea typeface="Helvetica Neue"/>
                <a:cs typeface="Helvetica Neue"/>
                <a:sym typeface="Helvetica Neue"/>
              </a:rPr>
              <a:t> </a:t>
            </a:r>
            <a:r>
              <a:rPr b="0" i="0" lang="en-US" u="sng">
                <a:solidFill>
                  <a:schemeClr val="hlink"/>
                </a:solidFill>
                <a:latin typeface="Roboto"/>
                <a:ea typeface="Roboto"/>
                <a:cs typeface="Roboto"/>
                <a:sym typeface="Roboto"/>
                <a:hlinkClick r:id="rId7"/>
              </a:rPr>
              <a:t>https://www.slideshare.net/imamhossain75054/presentations/2</a:t>
            </a:r>
            <a:r>
              <a:rPr b="0" i="0" lang="en-US">
                <a:latin typeface="Roboto"/>
                <a:ea typeface="Roboto"/>
                <a:cs typeface="Roboto"/>
                <a:sym typeface="Roboto"/>
              </a:rPr>
              <a:t> </a:t>
            </a:r>
            <a:endParaRPr/>
          </a:p>
          <a:p>
            <a:pPr indent="-50800" lvl="0" marL="228600" rtl="0" algn="l">
              <a:lnSpc>
                <a:spcPct val="90000"/>
              </a:lnSpc>
              <a:spcBef>
                <a:spcPts val="1000"/>
              </a:spcBef>
              <a:spcAft>
                <a:spcPts val="0"/>
              </a:spcAft>
              <a:buClr>
                <a:srgbClr val="EDEDED"/>
              </a:buClr>
              <a:buSzPts val="2800"/>
              <a:buNone/>
            </a:pPr>
            <a:r>
              <a:t/>
            </a:r>
            <a:endParaRPr/>
          </a:p>
        </p:txBody>
      </p:sp>
      <p:sp>
        <p:nvSpPr>
          <p:cNvPr id="422" name="Google Shape;422;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6" name="Shape 426"/>
        <p:cNvGrpSpPr/>
        <p:nvPr/>
      </p:nvGrpSpPr>
      <p:grpSpPr>
        <a:xfrm>
          <a:off x="0" y="0"/>
          <a:ext cx="0" cy="0"/>
          <a:chOff x="0" y="0"/>
          <a:chExt cx="0" cy="0"/>
        </a:xfrm>
      </p:grpSpPr>
      <p:sp>
        <p:nvSpPr>
          <p:cNvPr id="427" name="Google Shape;427;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Thinking humanly</a:t>
            </a:r>
            <a:br>
              <a:rPr lang="en-US"/>
            </a:br>
            <a:r>
              <a:rPr lang="en-US" sz="2800">
                <a:solidFill>
                  <a:schemeClr val="accent5"/>
                </a:solidFill>
              </a:rPr>
              <a:t>The cognitive modeling approach</a:t>
            </a:r>
            <a:endParaRPr>
              <a:solidFill>
                <a:schemeClr val="accent5"/>
              </a:solidFill>
            </a:endParaRPr>
          </a:p>
        </p:txBody>
      </p:sp>
      <p:sp>
        <p:nvSpPr>
          <p:cNvPr id="428" name="Google Shape;428;p34"/>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EDEDED"/>
              </a:buClr>
              <a:buSzPct val="100000"/>
              <a:buChar char="•"/>
            </a:pPr>
            <a:r>
              <a:rPr lang="en-US"/>
              <a:t>We need to get inside the actual workings of human minds through</a:t>
            </a:r>
            <a:endParaRPr/>
          </a:p>
          <a:p>
            <a:pPr indent="-228600" lvl="1" marL="685800" rtl="0" algn="l">
              <a:lnSpc>
                <a:spcPct val="90000"/>
              </a:lnSpc>
              <a:spcBef>
                <a:spcPts val="500"/>
              </a:spcBef>
              <a:spcAft>
                <a:spcPts val="0"/>
              </a:spcAft>
              <a:buClr>
                <a:srgbClr val="EDEDED"/>
              </a:buClr>
              <a:buSzPct val="100000"/>
              <a:buChar char="•"/>
            </a:pPr>
            <a:r>
              <a:rPr lang="en-US"/>
              <a:t>Introspection</a:t>
            </a:r>
            <a:endParaRPr/>
          </a:p>
          <a:p>
            <a:pPr indent="-228600" lvl="1" marL="685800" rtl="0" algn="l">
              <a:lnSpc>
                <a:spcPct val="90000"/>
              </a:lnSpc>
              <a:spcBef>
                <a:spcPts val="500"/>
              </a:spcBef>
              <a:spcAft>
                <a:spcPts val="0"/>
              </a:spcAft>
              <a:buClr>
                <a:srgbClr val="EDEDED"/>
              </a:buClr>
              <a:buSzPct val="100000"/>
              <a:buChar char="•"/>
            </a:pPr>
            <a:r>
              <a:rPr lang="en-US"/>
              <a:t>Psychological experiments</a:t>
            </a:r>
            <a:endParaRPr/>
          </a:p>
          <a:p>
            <a:pPr indent="-228600" lvl="2" marL="1143000" rtl="0" algn="l">
              <a:lnSpc>
                <a:spcPct val="90000"/>
              </a:lnSpc>
              <a:spcBef>
                <a:spcPts val="500"/>
              </a:spcBef>
              <a:spcAft>
                <a:spcPts val="0"/>
              </a:spcAft>
              <a:buClr>
                <a:srgbClr val="EDEDED"/>
              </a:buClr>
              <a:buSzPct val="100000"/>
              <a:buChar char="•"/>
            </a:pPr>
            <a:r>
              <a:rPr lang="en-US"/>
              <a:t>Now cognitive science</a:t>
            </a:r>
            <a:endParaRPr/>
          </a:p>
          <a:p>
            <a:pPr indent="-228600" lvl="1" marL="685800" rtl="0" algn="l">
              <a:lnSpc>
                <a:spcPct val="90000"/>
              </a:lnSpc>
              <a:spcBef>
                <a:spcPts val="500"/>
              </a:spcBef>
              <a:spcAft>
                <a:spcPts val="0"/>
              </a:spcAft>
              <a:buClr>
                <a:srgbClr val="EDEDED"/>
              </a:buClr>
              <a:buSzPct val="100000"/>
              <a:buChar char="•"/>
            </a:pPr>
            <a:r>
              <a:rPr lang="en-US"/>
              <a:t>Brain imaging</a:t>
            </a:r>
            <a:endParaRPr/>
          </a:p>
          <a:p>
            <a:pPr indent="-228600" lvl="2" marL="1143000" rtl="0" algn="l">
              <a:lnSpc>
                <a:spcPct val="90000"/>
              </a:lnSpc>
              <a:spcBef>
                <a:spcPts val="500"/>
              </a:spcBef>
              <a:spcAft>
                <a:spcPts val="0"/>
              </a:spcAft>
              <a:buClr>
                <a:srgbClr val="EDEDED"/>
              </a:buClr>
              <a:buSzPct val="100000"/>
              <a:buChar char="•"/>
            </a:pPr>
            <a:r>
              <a:rPr lang="en-US"/>
              <a:t>Now cognitive neuroscience</a:t>
            </a:r>
            <a:endParaRPr/>
          </a:p>
          <a:p>
            <a:pPr indent="-228600" lvl="0" marL="228600" rtl="0" algn="l">
              <a:lnSpc>
                <a:spcPct val="90000"/>
              </a:lnSpc>
              <a:spcBef>
                <a:spcPts val="1000"/>
              </a:spcBef>
              <a:spcAft>
                <a:spcPts val="0"/>
              </a:spcAft>
              <a:buClr>
                <a:srgbClr val="EDEDED"/>
              </a:buClr>
              <a:buSzPct val="100000"/>
              <a:buChar char="•"/>
            </a:pPr>
            <a:r>
              <a:rPr lang="en-US"/>
              <a:t>Once we have a sufficiently precise theory of the mind, it becomes possible to express the theory as a computer program. </a:t>
            </a:r>
            <a:endParaRPr/>
          </a:p>
          <a:p>
            <a:pPr indent="-77470" lvl="0" marL="228600" rtl="0" algn="l">
              <a:lnSpc>
                <a:spcPct val="90000"/>
              </a:lnSpc>
              <a:spcBef>
                <a:spcPts val="1000"/>
              </a:spcBef>
              <a:spcAft>
                <a:spcPts val="0"/>
              </a:spcAft>
              <a:buClr>
                <a:srgbClr val="EDEDED"/>
              </a:buClr>
              <a:buSzPct val="100000"/>
              <a:buNone/>
            </a:pPr>
            <a:r>
              <a:t/>
            </a:r>
            <a:endParaRPr/>
          </a:p>
          <a:p>
            <a:pPr indent="-228600" lvl="0" marL="228600" rtl="0" algn="l">
              <a:lnSpc>
                <a:spcPct val="90000"/>
              </a:lnSpc>
              <a:spcBef>
                <a:spcPts val="1000"/>
              </a:spcBef>
              <a:spcAft>
                <a:spcPts val="0"/>
              </a:spcAft>
              <a:buClr>
                <a:srgbClr val="EDEDED"/>
              </a:buClr>
              <a:buSzPct val="100000"/>
              <a:buChar char="•"/>
            </a:pPr>
            <a:r>
              <a:rPr lang="en-US"/>
              <a:t>The interdisciplinary field of cognitive science brings together computer models from AI and experimental techniques from psychology to construct precise and testable theories of the human mind.</a:t>
            </a:r>
            <a:endParaRPr/>
          </a:p>
          <a:p>
            <a:pPr indent="-228600" lvl="1" marL="685800" rtl="0" algn="l">
              <a:lnSpc>
                <a:spcPct val="90000"/>
              </a:lnSpc>
              <a:spcBef>
                <a:spcPts val="500"/>
              </a:spcBef>
              <a:spcAft>
                <a:spcPts val="0"/>
              </a:spcAft>
              <a:buClr>
                <a:srgbClr val="EDEDED"/>
              </a:buClr>
              <a:buSzPct val="100000"/>
              <a:buChar char="•"/>
            </a:pPr>
            <a:r>
              <a:rPr lang="en-US"/>
              <a:t>Computer vision, which incorporates neurophysiological evidence into computational models</a:t>
            </a:r>
            <a:endParaRPr/>
          </a:p>
        </p:txBody>
      </p:sp>
      <p:sp>
        <p:nvSpPr>
          <p:cNvPr id="429" name="Google Shape;42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4" name="Shape 434"/>
        <p:cNvGrpSpPr/>
        <p:nvPr/>
      </p:nvGrpSpPr>
      <p:grpSpPr>
        <a:xfrm>
          <a:off x="0" y="0"/>
          <a:ext cx="0" cy="0"/>
          <a:chOff x="0" y="0"/>
          <a:chExt cx="0" cy="0"/>
        </a:xfrm>
      </p:grpSpPr>
      <p:sp>
        <p:nvSpPr>
          <p:cNvPr id="435" name="Google Shape;435;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Thinking rationally</a:t>
            </a:r>
            <a:br>
              <a:rPr lang="en-US"/>
            </a:br>
            <a:r>
              <a:rPr lang="en-US" sz="2800">
                <a:solidFill>
                  <a:schemeClr val="accent5"/>
                </a:solidFill>
              </a:rPr>
              <a:t>The “laws of thought” approach</a:t>
            </a:r>
            <a:endParaRPr>
              <a:solidFill>
                <a:schemeClr val="accent5"/>
              </a:solidFill>
            </a:endParaRPr>
          </a:p>
        </p:txBody>
      </p:sp>
      <p:sp>
        <p:nvSpPr>
          <p:cNvPr id="436" name="Google Shape;436;p35"/>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rgbClr val="EDEDED"/>
              </a:buClr>
              <a:buSzPct val="100000"/>
              <a:buChar char="•"/>
            </a:pPr>
            <a:r>
              <a:rPr lang="en-US"/>
              <a:t>Aristotle was one of the first to attempt to codify “right thinking,” that is, irrefutable reasoning processes.</a:t>
            </a:r>
            <a:endParaRPr/>
          </a:p>
          <a:p>
            <a:pPr indent="-228600" lvl="1" marL="685800" rtl="0" algn="l">
              <a:lnSpc>
                <a:spcPct val="90000"/>
              </a:lnSpc>
              <a:spcBef>
                <a:spcPts val="500"/>
              </a:spcBef>
              <a:spcAft>
                <a:spcPts val="0"/>
              </a:spcAft>
              <a:buClr>
                <a:srgbClr val="EDEDED"/>
              </a:buClr>
              <a:buSzPct val="100000"/>
              <a:buChar char="•"/>
            </a:pPr>
            <a:r>
              <a:rPr lang="en-US"/>
              <a:t>Always yielded correct conclusions when given correct premises—for example, “Socrates is a man; all men are mortal; therefore, Socrates is mortal.” </a:t>
            </a:r>
            <a:endParaRPr/>
          </a:p>
          <a:p>
            <a:pPr indent="-228600" lvl="1" marL="685800" rtl="0" algn="l">
              <a:lnSpc>
                <a:spcPct val="90000"/>
              </a:lnSpc>
              <a:spcBef>
                <a:spcPts val="500"/>
              </a:spcBef>
              <a:spcAft>
                <a:spcPts val="0"/>
              </a:spcAft>
              <a:buClr>
                <a:srgbClr val="EDEDED"/>
              </a:buClr>
              <a:buSzPct val="100000"/>
              <a:buChar char="•"/>
            </a:pPr>
            <a:r>
              <a:rPr lang="en-US"/>
              <a:t>These laws of thought were supposed to govern the operation of the mind; </a:t>
            </a:r>
            <a:r>
              <a:rPr lang="en-US">
                <a:solidFill>
                  <a:schemeClr val="accent3"/>
                </a:solidFill>
              </a:rPr>
              <a:t>their study initiated the field called logic</a:t>
            </a:r>
            <a:endParaRPr/>
          </a:p>
          <a:p>
            <a:pPr indent="0" lvl="0" marL="0" rtl="0" algn="l">
              <a:lnSpc>
                <a:spcPct val="90000"/>
              </a:lnSpc>
              <a:spcBef>
                <a:spcPts val="1000"/>
              </a:spcBef>
              <a:spcAft>
                <a:spcPts val="0"/>
              </a:spcAft>
              <a:buClr>
                <a:srgbClr val="EDEDED"/>
              </a:buClr>
              <a:buSzPct val="100000"/>
              <a:buNone/>
            </a:pPr>
            <a:r>
              <a:t/>
            </a:r>
            <a:endParaRPr/>
          </a:p>
          <a:p>
            <a:pPr indent="-228600" lvl="0" marL="228600" rtl="0" algn="l">
              <a:lnSpc>
                <a:spcPct val="90000"/>
              </a:lnSpc>
              <a:spcBef>
                <a:spcPts val="1000"/>
              </a:spcBef>
              <a:spcAft>
                <a:spcPts val="0"/>
              </a:spcAft>
              <a:buClr>
                <a:srgbClr val="EDEDED"/>
              </a:buClr>
              <a:buSzPct val="100000"/>
              <a:buChar char="•"/>
            </a:pPr>
            <a:r>
              <a:rPr lang="en-US"/>
              <a:t>Obstacles </a:t>
            </a:r>
            <a:endParaRPr/>
          </a:p>
          <a:p>
            <a:pPr indent="-228600" lvl="1" marL="685800" rtl="0" algn="l">
              <a:lnSpc>
                <a:spcPct val="90000"/>
              </a:lnSpc>
              <a:spcBef>
                <a:spcPts val="500"/>
              </a:spcBef>
              <a:spcAft>
                <a:spcPts val="0"/>
              </a:spcAft>
              <a:buClr>
                <a:srgbClr val="EDEDED"/>
              </a:buClr>
              <a:buSzPct val="100000"/>
              <a:buChar char="•"/>
            </a:pPr>
            <a:r>
              <a:rPr lang="en-US"/>
              <a:t>It is </a:t>
            </a:r>
            <a:r>
              <a:rPr lang="en-US">
                <a:solidFill>
                  <a:schemeClr val="accent3"/>
                </a:solidFill>
              </a:rPr>
              <a:t>not easy to take informal knowledge and state it in the formal terms required by logical notation</a:t>
            </a:r>
            <a:r>
              <a:rPr lang="en-US"/>
              <a:t>, particularly when the knowledge is less than 100% certain</a:t>
            </a:r>
            <a:endParaRPr/>
          </a:p>
          <a:p>
            <a:pPr indent="-228600" lvl="1" marL="685800" rtl="0" algn="l">
              <a:lnSpc>
                <a:spcPct val="90000"/>
              </a:lnSpc>
              <a:spcBef>
                <a:spcPts val="500"/>
              </a:spcBef>
              <a:spcAft>
                <a:spcPts val="0"/>
              </a:spcAft>
              <a:buClr>
                <a:srgbClr val="EDEDED"/>
              </a:buClr>
              <a:buSzPct val="100000"/>
              <a:buChar char="•"/>
            </a:pPr>
            <a:r>
              <a:rPr lang="en-US"/>
              <a:t>There is a big difference between solving a problem “in principle” and solving it in practice. </a:t>
            </a:r>
            <a:r>
              <a:rPr lang="en-US">
                <a:solidFill>
                  <a:schemeClr val="accent3"/>
                </a:solidFill>
              </a:rPr>
              <a:t>Even problems with just a few hundred facts can exhaust the computational resources </a:t>
            </a:r>
            <a:r>
              <a:rPr lang="en-US"/>
              <a:t>of any computer unless it has some guidance as to which reasoning steps to try first. </a:t>
            </a:r>
            <a:endParaRPr/>
          </a:p>
        </p:txBody>
      </p:sp>
      <p:sp>
        <p:nvSpPr>
          <p:cNvPr id="437" name="Google Shape;43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2" name="Shape 442"/>
        <p:cNvGrpSpPr/>
        <p:nvPr/>
      </p:nvGrpSpPr>
      <p:grpSpPr>
        <a:xfrm>
          <a:off x="0" y="0"/>
          <a:ext cx="0" cy="0"/>
          <a:chOff x="0" y="0"/>
          <a:chExt cx="0" cy="0"/>
        </a:xfrm>
      </p:grpSpPr>
      <p:sp>
        <p:nvSpPr>
          <p:cNvPr id="443" name="Google Shape;44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Acting rationally</a:t>
            </a:r>
            <a:br>
              <a:rPr lang="en-US"/>
            </a:br>
            <a:r>
              <a:rPr lang="en-US" sz="2800">
                <a:solidFill>
                  <a:schemeClr val="accent5"/>
                </a:solidFill>
              </a:rPr>
              <a:t>The rational agent approach</a:t>
            </a:r>
            <a:endParaRPr>
              <a:solidFill>
                <a:schemeClr val="accent5"/>
              </a:solidFill>
            </a:endParaRPr>
          </a:p>
        </p:txBody>
      </p:sp>
      <p:sp>
        <p:nvSpPr>
          <p:cNvPr id="444" name="Google Shape;444;p36"/>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EDEDED"/>
              </a:buClr>
              <a:buSzPct val="100000"/>
              <a:buChar char="•"/>
            </a:pPr>
            <a:r>
              <a:rPr lang="en-US"/>
              <a:t>An </a:t>
            </a:r>
            <a:r>
              <a:rPr lang="en-US">
                <a:solidFill>
                  <a:schemeClr val="accent3"/>
                </a:solidFill>
              </a:rPr>
              <a:t>agent</a:t>
            </a:r>
            <a:r>
              <a:rPr lang="en-US"/>
              <a:t> is just something that acts </a:t>
            </a:r>
            <a:endParaRPr/>
          </a:p>
          <a:p>
            <a:pPr indent="-228600" lvl="0" marL="228600" rtl="0" algn="l">
              <a:lnSpc>
                <a:spcPct val="90000"/>
              </a:lnSpc>
              <a:spcBef>
                <a:spcPts val="1000"/>
              </a:spcBef>
              <a:spcAft>
                <a:spcPts val="0"/>
              </a:spcAft>
              <a:buClr>
                <a:srgbClr val="EDEDED"/>
              </a:buClr>
              <a:buSzPct val="100000"/>
              <a:buChar char="•"/>
            </a:pPr>
            <a:r>
              <a:rPr lang="en-US"/>
              <a:t>A </a:t>
            </a:r>
            <a:r>
              <a:rPr lang="en-US">
                <a:solidFill>
                  <a:schemeClr val="accent3"/>
                </a:solidFill>
              </a:rPr>
              <a:t>computer agent </a:t>
            </a:r>
            <a:r>
              <a:rPr lang="en-US"/>
              <a:t>is expected to </a:t>
            </a:r>
            <a:endParaRPr/>
          </a:p>
          <a:p>
            <a:pPr indent="-228600" lvl="1" marL="685800" rtl="0" algn="l">
              <a:lnSpc>
                <a:spcPct val="90000"/>
              </a:lnSpc>
              <a:spcBef>
                <a:spcPts val="500"/>
              </a:spcBef>
              <a:spcAft>
                <a:spcPts val="0"/>
              </a:spcAft>
              <a:buClr>
                <a:srgbClr val="EDEDED"/>
              </a:buClr>
              <a:buSzPct val="100000"/>
              <a:buChar char="•"/>
            </a:pPr>
            <a:r>
              <a:rPr lang="en-US"/>
              <a:t>operate autonomously</a:t>
            </a:r>
            <a:endParaRPr/>
          </a:p>
          <a:p>
            <a:pPr indent="-228600" lvl="1" marL="685800" rtl="0" algn="l">
              <a:lnSpc>
                <a:spcPct val="90000"/>
              </a:lnSpc>
              <a:spcBef>
                <a:spcPts val="500"/>
              </a:spcBef>
              <a:spcAft>
                <a:spcPts val="0"/>
              </a:spcAft>
              <a:buClr>
                <a:srgbClr val="EDEDED"/>
              </a:buClr>
              <a:buSzPct val="100000"/>
              <a:buChar char="•"/>
            </a:pPr>
            <a:r>
              <a:rPr lang="en-US"/>
              <a:t>perceive their environment</a:t>
            </a:r>
            <a:endParaRPr/>
          </a:p>
          <a:p>
            <a:pPr indent="-228600" lvl="1" marL="685800" rtl="0" algn="l">
              <a:lnSpc>
                <a:spcPct val="90000"/>
              </a:lnSpc>
              <a:spcBef>
                <a:spcPts val="500"/>
              </a:spcBef>
              <a:spcAft>
                <a:spcPts val="0"/>
              </a:spcAft>
              <a:buClr>
                <a:srgbClr val="EDEDED"/>
              </a:buClr>
              <a:buSzPct val="100000"/>
              <a:buChar char="•"/>
            </a:pPr>
            <a:r>
              <a:rPr lang="en-US"/>
              <a:t>persist over a prolonged time period</a:t>
            </a:r>
            <a:endParaRPr/>
          </a:p>
          <a:p>
            <a:pPr indent="-228600" lvl="1" marL="685800" rtl="0" algn="l">
              <a:lnSpc>
                <a:spcPct val="90000"/>
              </a:lnSpc>
              <a:spcBef>
                <a:spcPts val="500"/>
              </a:spcBef>
              <a:spcAft>
                <a:spcPts val="0"/>
              </a:spcAft>
              <a:buClr>
                <a:srgbClr val="EDEDED"/>
              </a:buClr>
              <a:buSzPct val="100000"/>
              <a:buChar char="•"/>
            </a:pPr>
            <a:r>
              <a:rPr lang="en-US"/>
              <a:t>adapt to change, and </a:t>
            </a:r>
            <a:endParaRPr/>
          </a:p>
          <a:p>
            <a:pPr indent="-228600" lvl="1" marL="685800" rtl="0" algn="l">
              <a:lnSpc>
                <a:spcPct val="90000"/>
              </a:lnSpc>
              <a:spcBef>
                <a:spcPts val="500"/>
              </a:spcBef>
              <a:spcAft>
                <a:spcPts val="0"/>
              </a:spcAft>
              <a:buClr>
                <a:srgbClr val="EDEDED"/>
              </a:buClr>
              <a:buSzPct val="100000"/>
              <a:buChar char="•"/>
            </a:pPr>
            <a:r>
              <a:rPr lang="en-US"/>
              <a:t>create and pursue goals. </a:t>
            </a:r>
            <a:endParaRPr/>
          </a:p>
          <a:p>
            <a:pPr indent="-228600" lvl="0" marL="228600" rtl="0" algn="l">
              <a:lnSpc>
                <a:spcPct val="90000"/>
              </a:lnSpc>
              <a:spcBef>
                <a:spcPts val="1000"/>
              </a:spcBef>
              <a:spcAft>
                <a:spcPts val="0"/>
              </a:spcAft>
              <a:buClr>
                <a:srgbClr val="EDEDED"/>
              </a:buClr>
              <a:buSzPct val="100000"/>
              <a:buChar char="•"/>
            </a:pPr>
            <a:r>
              <a:rPr lang="en-US"/>
              <a:t>A </a:t>
            </a:r>
            <a:r>
              <a:rPr lang="en-US">
                <a:solidFill>
                  <a:schemeClr val="accent3"/>
                </a:solidFill>
              </a:rPr>
              <a:t>rational</a:t>
            </a:r>
            <a:r>
              <a:rPr b="1" lang="en-US">
                <a:solidFill>
                  <a:schemeClr val="accent3"/>
                </a:solidFill>
              </a:rPr>
              <a:t> </a:t>
            </a:r>
            <a:r>
              <a:rPr lang="en-US">
                <a:solidFill>
                  <a:schemeClr val="accent3"/>
                </a:solidFill>
              </a:rPr>
              <a:t>agent</a:t>
            </a:r>
            <a:r>
              <a:rPr b="1" lang="en-US">
                <a:solidFill>
                  <a:schemeClr val="accent3"/>
                </a:solidFill>
              </a:rPr>
              <a:t> </a:t>
            </a:r>
            <a:r>
              <a:rPr lang="en-US"/>
              <a:t>is one that acts so as to achieve the best outcome or, when there is uncertainty, the best expected outcome.</a:t>
            </a:r>
            <a:endParaRPr/>
          </a:p>
          <a:p>
            <a:pPr indent="-121919" lvl="1" marL="685800" rtl="0" algn="l">
              <a:lnSpc>
                <a:spcPct val="90000"/>
              </a:lnSpc>
              <a:spcBef>
                <a:spcPts val="500"/>
              </a:spcBef>
              <a:spcAft>
                <a:spcPts val="0"/>
              </a:spcAft>
              <a:buClr>
                <a:srgbClr val="EDEDED"/>
              </a:buClr>
              <a:buSzPct val="100000"/>
              <a:buNone/>
            </a:pPr>
            <a:r>
              <a:t/>
            </a:r>
            <a:endParaRPr/>
          </a:p>
          <a:p>
            <a:pPr indent="-228600" lvl="0" marL="228600" rtl="0" algn="l">
              <a:lnSpc>
                <a:spcPct val="90000"/>
              </a:lnSpc>
              <a:spcBef>
                <a:spcPts val="1000"/>
              </a:spcBef>
              <a:spcAft>
                <a:spcPts val="0"/>
              </a:spcAft>
              <a:buClr>
                <a:srgbClr val="EDEDED"/>
              </a:buClr>
              <a:buSzPct val="100000"/>
              <a:buChar char="•"/>
            </a:pPr>
            <a:r>
              <a:rPr lang="en-US"/>
              <a:t>In the “laws of thought” approach to AI, the emphasis was on correct inferences. Making correct inferences is sometimes part of being a rational agent, but, correct inference is not all of rationality; in some situations, there is no provably correct thing to do, but something must still be done. There are also ways of acting rationally that cannot be said to involve inference. </a:t>
            </a:r>
            <a:endParaRPr/>
          </a:p>
          <a:p>
            <a:pPr indent="-228600" lvl="0" marL="228600" rtl="0" algn="l">
              <a:lnSpc>
                <a:spcPct val="90000"/>
              </a:lnSpc>
              <a:spcBef>
                <a:spcPts val="1000"/>
              </a:spcBef>
              <a:spcAft>
                <a:spcPts val="0"/>
              </a:spcAft>
              <a:buClr>
                <a:srgbClr val="EDEDED"/>
              </a:buClr>
              <a:buSzPct val="100000"/>
              <a:buChar char="•"/>
            </a:pPr>
            <a:r>
              <a:rPr lang="en-US"/>
              <a:t>All the skills needed for the Turing Test also allow an agent to act rationally. </a:t>
            </a:r>
            <a:endParaRPr/>
          </a:p>
        </p:txBody>
      </p:sp>
      <p:sp>
        <p:nvSpPr>
          <p:cNvPr id="445" name="Google Shape;445;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9" name="Shape 449"/>
        <p:cNvGrpSpPr/>
        <p:nvPr/>
      </p:nvGrpSpPr>
      <p:grpSpPr>
        <a:xfrm>
          <a:off x="0" y="0"/>
          <a:ext cx="0" cy="0"/>
          <a:chOff x="0" y="0"/>
          <a:chExt cx="0" cy="0"/>
        </a:xfrm>
      </p:grpSpPr>
      <p:sp>
        <p:nvSpPr>
          <p:cNvPr id="450" name="Google Shape;45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DEDED"/>
              </a:buClr>
              <a:buSzPts val="5400"/>
              <a:buFont typeface="Corbel"/>
              <a:buNone/>
            </a:pPr>
            <a:r>
              <a:rPr lang="en-US"/>
              <a:t>Acting rationally</a:t>
            </a:r>
            <a:br>
              <a:rPr lang="en-US"/>
            </a:br>
            <a:r>
              <a:rPr lang="en-US" sz="2800">
                <a:solidFill>
                  <a:schemeClr val="accent5"/>
                </a:solidFill>
              </a:rPr>
              <a:t>The rational agent approach</a:t>
            </a:r>
            <a:endParaRPr>
              <a:solidFill>
                <a:schemeClr val="accent5"/>
              </a:solidFill>
            </a:endParaRPr>
          </a:p>
        </p:txBody>
      </p:sp>
      <p:sp>
        <p:nvSpPr>
          <p:cNvPr id="451" name="Google Shape;451;p37"/>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rgbClr val="EDEDED"/>
              </a:buClr>
              <a:buSzPct val="100000"/>
              <a:buChar char="•"/>
            </a:pPr>
            <a:r>
              <a:rPr lang="en-US"/>
              <a:t>Advantages over the other approaches</a:t>
            </a:r>
            <a:endParaRPr/>
          </a:p>
          <a:p>
            <a:pPr indent="-228600" lvl="1" marL="685800" rtl="0" algn="l">
              <a:lnSpc>
                <a:spcPct val="90000"/>
              </a:lnSpc>
              <a:spcBef>
                <a:spcPts val="500"/>
              </a:spcBef>
              <a:spcAft>
                <a:spcPts val="0"/>
              </a:spcAft>
              <a:buClr>
                <a:schemeClr val="accent3"/>
              </a:buClr>
              <a:buSzPct val="100000"/>
              <a:buChar char="•"/>
            </a:pPr>
            <a:r>
              <a:rPr lang="en-US">
                <a:solidFill>
                  <a:schemeClr val="accent3"/>
                </a:solidFill>
              </a:rPr>
              <a:t>It is more general than the “laws of thought” approach </a:t>
            </a:r>
            <a:r>
              <a:rPr lang="en-US"/>
              <a:t>because correct inference is just one of several possible mechanisms for achieving rationality </a:t>
            </a:r>
            <a:endParaRPr/>
          </a:p>
          <a:p>
            <a:pPr indent="-228600" lvl="1" marL="685800" rtl="0" algn="l">
              <a:lnSpc>
                <a:spcPct val="90000"/>
              </a:lnSpc>
              <a:spcBef>
                <a:spcPts val="500"/>
              </a:spcBef>
              <a:spcAft>
                <a:spcPts val="0"/>
              </a:spcAft>
              <a:buClr>
                <a:schemeClr val="accent3"/>
              </a:buClr>
              <a:buSzPct val="100000"/>
              <a:buChar char="•"/>
            </a:pPr>
            <a:r>
              <a:rPr lang="en-US">
                <a:solidFill>
                  <a:schemeClr val="accent3"/>
                </a:solidFill>
              </a:rPr>
              <a:t>It is more amenable to scientific development </a:t>
            </a:r>
            <a:r>
              <a:rPr lang="en-US"/>
              <a:t>than are approaches based on human behavior or human thought. The standard of rationality is mathematically well defined and completely general, and can be “unpacked” to generate agent designs that provably achieve it. </a:t>
            </a:r>
            <a:endParaRPr/>
          </a:p>
          <a:p>
            <a:pPr indent="-87630" lvl="1" marL="685800" rtl="0" algn="l">
              <a:lnSpc>
                <a:spcPct val="90000"/>
              </a:lnSpc>
              <a:spcBef>
                <a:spcPts val="500"/>
              </a:spcBef>
              <a:spcAft>
                <a:spcPts val="0"/>
              </a:spcAft>
              <a:buClr>
                <a:srgbClr val="EDEDED"/>
              </a:buClr>
              <a:buSzPct val="100000"/>
              <a:buNone/>
            </a:pPr>
            <a:r>
              <a:t/>
            </a:r>
            <a:endParaRPr/>
          </a:p>
          <a:p>
            <a:pPr indent="-228600" lvl="0" marL="228600" rtl="0" algn="l">
              <a:lnSpc>
                <a:spcPct val="90000"/>
              </a:lnSpc>
              <a:spcBef>
                <a:spcPts val="1000"/>
              </a:spcBef>
              <a:spcAft>
                <a:spcPts val="0"/>
              </a:spcAft>
              <a:buClr>
                <a:srgbClr val="EDEDED"/>
              </a:buClr>
              <a:buSzPct val="100000"/>
              <a:buChar char="•"/>
            </a:pPr>
            <a:r>
              <a:rPr lang="en-US"/>
              <a:t>One important point to keep in mind: We will see before too long that achieving perfect rationality—always doing the right thing—is not feasible in complicated environments. The computational demands are just too high.</a:t>
            </a:r>
            <a:endParaRPr/>
          </a:p>
        </p:txBody>
      </p:sp>
      <p:sp>
        <p:nvSpPr>
          <p:cNvPr id="452" name="Google Shape;45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Depth">
  <a:themeElements>
    <a:clrScheme name="Depth">
      <a:dk1>
        <a:srgbClr val="000000"/>
      </a:dk1>
      <a:lt1>
        <a:srgbClr val="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2021-07-02T18:31:02Z</dcterms:created>
  <dc:creator>Fariha Tabassum Islam - 1018052029</dc:creator>
</cp:coreProperties>
</file>