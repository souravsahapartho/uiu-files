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12192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imtO0CePtXJ/9rXU022cIzsBgH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01004F-E8EE-4F07-B8D5-DD821C836C5E}">
  <a:tblStyle styleId="{3901004F-E8EE-4F07-B8D5-DD821C836C5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Often comes back on exams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Goal test – sometimes more than one state that satisfies having achieved the goal, for example, “eat all the dots”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Abstraction</a:t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bda022aa7_0_0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3bda022aa7_0_0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Wrong example for “eat-all-dots”: (x, y, dot count)</a:t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Different plans that achieve the same state, will be different nodes in the tree.</a:t>
            </a:r>
            <a:endParaRPr/>
          </a:p>
        </p:txBody>
      </p:sp>
      <p:sp>
        <p:nvSpPr>
          <p:cNvPr id="260" name="Google Shape;260;p8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10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1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1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1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1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3" name="Google Shape;433;p1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Left: show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Right: fringe</a:t>
            </a:r>
            <a:endParaRPr/>
          </a:p>
        </p:txBody>
      </p:sp>
      <p:sp>
        <p:nvSpPr>
          <p:cNvPr id="434" name="Google Shape;434;p15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16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17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7" name="Google Shape;677;p18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p19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p20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2" name="Google Shape;732;p2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39" name="Google Shape;739;p2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0" name="Google Shape;740;p22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9" name="Google Shape;859;p2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2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7" name="Google Shape;887;p2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p25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3bda022aa7_0_20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3" name="Google Shape;903;g33bda022aa7_0_20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2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0" name="Google Shape;910;p26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8" name="Google Shape;948;p27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5" name="Google Shape;955;p28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29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3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9" name="Google Shape;1029;p30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6" name="Google Shape;1036;p3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3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5" name="Google Shape;1195;p3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3bda022aa7_0_29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0" name="Google Shape;1220;g33bda022aa7_0_29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3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7" name="Google Shape;1227;p3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33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c5347c24df_1_15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c5347c24df_1_15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g3c5347c24df_1_15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body"/>
          </p:nvPr>
        </p:nvSpPr>
        <p:spPr>
          <a:xfrm>
            <a:off x="406400" y="1397003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25" name="Google Shape;25;p41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26" name="Google Shape;26;p4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3"/>
          <p:cNvSpPr txBox="1"/>
          <p:nvPr>
            <p:ph type="ctrTitle"/>
          </p:nvPr>
        </p:nvSpPr>
        <p:spPr>
          <a:xfrm>
            <a:off x="0" y="1044582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3" name="Google Shape;43;p4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" type="body"/>
          </p:nvPr>
        </p:nvSpPr>
        <p:spPr>
          <a:xfrm>
            <a:off x="457203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5"/>
          <p:cNvSpPr txBox="1"/>
          <p:nvPr>
            <p:ph idx="2" type="body"/>
          </p:nvPr>
        </p:nvSpPr>
        <p:spPr>
          <a:xfrm>
            <a:off x="457203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0" name="Google Shape;50;p45"/>
          <p:cNvSpPr txBox="1"/>
          <p:nvPr>
            <p:ph idx="3" type="body"/>
          </p:nvPr>
        </p:nvSpPr>
        <p:spPr>
          <a:xfrm>
            <a:off x="4645031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45"/>
          <p:cNvSpPr txBox="1"/>
          <p:nvPr>
            <p:ph idx="4" type="body"/>
          </p:nvPr>
        </p:nvSpPr>
        <p:spPr>
          <a:xfrm>
            <a:off x="4645031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2" name="Google Shape;52;p4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5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6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7"/>
          <p:cNvSpPr txBox="1"/>
          <p:nvPr>
            <p:ph type="title"/>
          </p:nvPr>
        </p:nvSpPr>
        <p:spPr>
          <a:xfrm>
            <a:off x="457206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7"/>
          <p:cNvSpPr txBox="1"/>
          <p:nvPr>
            <p:ph idx="1" type="body"/>
          </p:nvPr>
        </p:nvSpPr>
        <p:spPr>
          <a:xfrm>
            <a:off x="3575055" y="273057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2" name="Google Shape;62;p47"/>
          <p:cNvSpPr txBox="1"/>
          <p:nvPr>
            <p:ph idx="2" type="body"/>
          </p:nvPr>
        </p:nvSpPr>
        <p:spPr>
          <a:xfrm>
            <a:off x="457206" y="1435104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4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7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48"/>
          <p:cNvSpPr txBox="1"/>
          <p:nvPr>
            <p:ph idx="1" type="body"/>
          </p:nvPr>
        </p:nvSpPr>
        <p:spPr>
          <a:xfrm>
            <a:off x="1792288" y="5367343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4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9"/>
          <p:cNvSpPr txBox="1"/>
          <p:nvPr>
            <p:ph idx="1" type="body"/>
          </p:nvPr>
        </p:nvSpPr>
        <p:spPr>
          <a:xfrm rot="5400000">
            <a:off x="3731418" y="-1928015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0"/>
          <p:cNvSpPr txBox="1"/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0"/>
          <p:cNvSpPr txBox="1"/>
          <p:nvPr>
            <p:ph idx="1" type="body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2" name="Google Shape;82;p5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0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406400" y="1397003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9"/>
          <p:cNvSpPr/>
          <p:nvPr/>
        </p:nvSpPr>
        <p:spPr>
          <a:xfrm>
            <a:off x="0" y="1031246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drive.google.com/file/d/13RAFFxNPZYY7XgNpdJmxafrI7reLA5-4/view" TargetMode="External"/><Relationship Id="rId4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Problems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164" y="1144408"/>
            <a:ext cx="8524096" cy="522640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Problems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2057400" y="14478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A </a:t>
            </a:r>
            <a:r>
              <a:rPr lang="en-US" sz="2800">
                <a:solidFill>
                  <a:srgbClr val="FF0000"/>
                </a:solidFill>
              </a:rPr>
              <a:t>search</a:t>
            </a:r>
            <a:r>
              <a:rPr lang="en-US" sz="2800"/>
              <a:t> </a:t>
            </a:r>
            <a:r>
              <a:rPr lang="en-US" sz="2800">
                <a:solidFill>
                  <a:srgbClr val="FF0000"/>
                </a:solidFill>
              </a:rPr>
              <a:t>problem</a:t>
            </a:r>
            <a:r>
              <a:rPr lang="en-US" sz="2800"/>
              <a:t> consists of:</a:t>
            </a:r>
            <a:endParaRPr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state space</a:t>
            </a:r>
            <a:endParaRPr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successor function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	(with actions, costs)</a:t>
            </a:r>
            <a:endParaRPr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start state and a goal test</a:t>
            </a:r>
            <a:endParaRPr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A </a:t>
            </a:r>
            <a:r>
              <a:rPr lang="en-US" sz="2800">
                <a:solidFill>
                  <a:srgbClr val="FF0000"/>
                </a:solidFill>
              </a:rPr>
              <a:t>solution</a:t>
            </a:r>
            <a:r>
              <a:rPr lang="en-US" sz="2800"/>
              <a:t> is a sequence of actions (a plan) which transforms the start state to a goal state</a:t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3" y="2174876"/>
            <a:ext cx="560388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9949" y="2174875"/>
            <a:ext cx="552451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96405" y="2174875"/>
            <a:ext cx="544513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3201" y="2174875"/>
            <a:ext cx="552451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1549" y="2174877"/>
            <a:ext cx="552451" cy="55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7813" y="2174875"/>
            <a:ext cx="560387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81605" y="2174875"/>
            <a:ext cx="544513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7951" y="3671888"/>
            <a:ext cx="560388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9101" y="3325813"/>
            <a:ext cx="552451" cy="560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8149" y="4087813"/>
            <a:ext cx="552451" cy="5603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2"/>
          <p:cNvCxnSpPr/>
          <p:nvPr/>
        </p:nvCxnSpPr>
        <p:spPr>
          <a:xfrm flipH="1" rot="10800000">
            <a:off x="7162800" y="35814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2"/>
          <p:cNvCxnSpPr/>
          <p:nvPr/>
        </p:nvCxnSpPr>
        <p:spPr>
          <a:xfrm>
            <a:off x="7162800" y="4114800"/>
            <a:ext cx="7620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" name="Google Shape;111;p2"/>
          <p:cNvSpPr txBox="1"/>
          <p:nvPr/>
        </p:nvSpPr>
        <p:spPr>
          <a:xfrm>
            <a:off x="6934200" y="3200400"/>
            <a:ext cx="9906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“N”, 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6934200" y="4419602"/>
            <a:ext cx="11430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“E”, 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Traveling in Romania</a:t>
            </a:r>
            <a:endParaRPr/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6781803" y="1676401"/>
            <a:ext cx="44957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State space: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Cities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Successor function: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Roads: Go to adjacent city with cost = distance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Start state: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Arad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Goal test: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Is state == Bucharest?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Solution?</a:t>
            </a:r>
            <a:endParaRPr/>
          </a:p>
          <a:p>
            <a:pPr indent="-1904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057400"/>
            <a:ext cx="5557837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bda022aa7_0_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Pacman Demo</a:t>
            </a:r>
            <a:endParaRPr/>
          </a:p>
        </p:txBody>
      </p:sp>
      <p:sp>
        <p:nvSpPr>
          <p:cNvPr id="127" name="Google Shape;127;g33bda022aa7_0_0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g33bda022aa7_0_0"/>
          <p:cNvSpPr txBox="1"/>
          <p:nvPr/>
        </p:nvSpPr>
        <p:spPr>
          <a:xfrm>
            <a:off x="1564500" y="1700475"/>
            <a:ext cx="906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https://www.youtube.com/watch?v=1V7uBxNXOzo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g33bda022aa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2375" y="2377575"/>
            <a:ext cx="3567256" cy="417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1219200" y="3505200"/>
            <a:ext cx="9829800" cy="3048000"/>
          </a:xfrm>
          <a:prstGeom prst="roundRect">
            <a:avLst>
              <a:gd fmla="val 16667" name="adj"/>
            </a:avLst>
          </a:prstGeom>
          <a:solidFill>
            <a:srgbClr val="D5DFFF">
              <a:alpha val="58431"/>
            </a:srgbClr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219202" y="1273178"/>
            <a:ext cx="9829801" cy="2003425"/>
          </a:xfrm>
          <a:prstGeom prst="roundRect">
            <a:avLst>
              <a:gd fmla="val 16667" name="adj"/>
            </a:avLst>
          </a:prstGeom>
          <a:solidFill>
            <a:srgbClr val="D5DFFF">
              <a:alpha val="58431"/>
            </a:srgbClr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What’s in a State Space?</a:t>
            </a:r>
            <a:endParaRPr/>
          </a:p>
        </p:txBody>
      </p:sp>
      <p:sp>
        <p:nvSpPr>
          <p:cNvPr id="138" name="Google Shape;138;p4"/>
          <p:cNvSpPr txBox="1"/>
          <p:nvPr>
            <p:ph idx="1" type="body"/>
          </p:nvPr>
        </p:nvSpPr>
        <p:spPr>
          <a:xfrm>
            <a:off x="1600200" y="4086225"/>
            <a:ext cx="40386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Problem: Pathing</a:t>
            </a:r>
            <a:endParaRPr sz="2400"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States: (x,y) location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Actions: NSEW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Successor: update location only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Goal test: is (x,y)=END</a:t>
            </a:r>
            <a:endParaRPr/>
          </a:p>
        </p:txBody>
      </p:sp>
      <p:sp>
        <p:nvSpPr>
          <p:cNvPr id="139" name="Google Shape;139;p4"/>
          <p:cNvSpPr txBox="1"/>
          <p:nvPr>
            <p:ph idx="2" type="body"/>
          </p:nvPr>
        </p:nvSpPr>
        <p:spPr>
          <a:xfrm>
            <a:off x="6477000" y="4094167"/>
            <a:ext cx="3962400" cy="2405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Problem: Eat-All-Dots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States: {(x,y), dot booleans}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Actions: NSEW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Successor: update location and possibly a dot boolean</a:t>
            </a:r>
            <a:endParaRPr sz="2000"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Goal test: dots all false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1219201" y="1352497"/>
            <a:ext cx="9753600" cy="400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world state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includes every last detail of the environment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" y="3579814"/>
            <a:ext cx="12192000" cy="400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search state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keeps only the details needed for planning (abstraction)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1752600"/>
            <a:ext cx="4953000" cy="139769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State Space Graphs and Search Trees</a:t>
            </a:r>
            <a:endParaRPr/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4029" y="1450961"/>
            <a:ext cx="4017746" cy="426087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State Space Graphs</a:t>
            </a:r>
            <a:endParaRPr/>
          </a:p>
        </p:txBody>
      </p:sp>
      <p:sp>
        <p:nvSpPr>
          <p:cNvPr id="156" name="Google Shape;156;p6"/>
          <p:cNvSpPr txBox="1"/>
          <p:nvPr>
            <p:ph idx="1" type="body"/>
          </p:nvPr>
        </p:nvSpPr>
        <p:spPr>
          <a:xfrm>
            <a:off x="457200" y="1657353"/>
            <a:ext cx="6324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State space graph: A mathematical representation of a search problem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Nodes are (abstracted) world configurations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Arcs represent successors (action results)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The goal test is a set of goal nodes (maybe only one)</a:t>
            </a:r>
            <a:endParaRPr/>
          </a:p>
          <a:p>
            <a:pPr indent="-158715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a state space graph, each state occurs only once!</a:t>
            </a:r>
            <a:endParaRPr/>
          </a:p>
          <a:p>
            <a:pPr indent="-158715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We can rarely build this full graph in memory (it’s too big), but it’s a useful idea</a:t>
            </a:r>
            <a:endParaRPr/>
          </a:p>
          <a:p>
            <a:pPr indent="-1904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157" name="Google Shape;157;p6"/>
          <p:cNvGrpSpPr/>
          <p:nvPr/>
        </p:nvGrpSpPr>
        <p:grpSpPr>
          <a:xfrm>
            <a:off x="7010400" y="1219200"/>
            <a:ext cx="4876800" cy="5410200"/>
            <a:chOff x="7086600" y="1219200"/>
            <a:chExt cx="4876800" cy="5410200"/>
          </a:xfrm>
        </p:grpSpPr>
        <p:pic>
          <p:nvPicPr>
            <p:cNvPr id="158" name="Google Shape;158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86600" y="3622676"/>
              <a:ext cx="560388" cy="568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82000" y="2922589"/>
              <a:ext cx="552451" cy="560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01048" y="4378326"/>
              <a:ext cx="552451" cy="56038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1" name="Google Shape;161;p6"/>
            <p:cNvCxnSpPr/>
            <p:nvPr/>
          </p:nvCxnSpPr>
          <p:spPr>
            <a:xfrm flipH="1" rot="10800000">
              <a:off x="7772401" y="3227388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7772400" y="4294188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63" name="Google Shape;163;p6"/>
            <p:cNvGrpSpPr/>
            <p:nvPr/>
          </p:nvGrpSpPr>
          <p:grpSpPr>
            <a:xfrm>
              <a:off x="9739122" y="2922588"/>
              <a:ext cx="566928" cy="560388"/>
              <a:chOff x="10634472" y="3581400"/>
              <a:chExt cx="566928" cy="560388"/>
            </a:xfrm>
          </p:grpSpPr>
          <p:pic>
            <p:nvPicPr>
              <p:cNvPr id="164" name="Google Shape;164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5400000">
                <a:off x="10637742" y="3578130"/>
                <a:ext cx="560388" cy="5669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" name="Google Shape;165;p6"/>
              <p:cNvSpPr/>
              <p:nvPr/>
            </p:nvSpPr>
            <p:spPr>
              <a:xfrm>
                <a:off x="10786872" y="3810000"/>
                <a:ext cx="76200" cy="7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" name="Google Shape;166;p6"/>
            <p:cNvGrpSpPr/>
            <p:nvPr/>
          </p:nvGrpSpPr>
          <p:grpSpPr>
            <a:xfrm>
              <a:off x="9772650" y="4370388"/>
              <a:ext cx="560388" cy="568325"/>
              <a:chOff x="8534400" y="4918075"/>
              <a:chExt cx="560388" cy="568325"/>
            </a:xfrm>
          </p:grpSpPr>
          <p:pic>
            <p:nvPicPr>
              <p:cNvPr id="167" name="Google Shape;167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534400" y="4918075"/>
                <a:ext cx="560388" cy="568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" name="Google Shape;168;p6"/>
              <p:cNvSpPr/>
              <p:nvPr/>
            </p:nvSpPr>
            <p:spPr>
              <a:xfrm>
                <a:off x="8763000" y="5257800"/>
                <a:ext cx="76200" cy="7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6"/>
            <p:cNvGrpSpPr/>
            <p:nvPr/>
          </p:nvGrpSpPr>
          <p:grpSpPr>
            <a:xfrm>
              <a:off x="11049000" y="3684588"/>
              <a:ext cx="552451" cy="560387"/>
              <a:chOff x="10572749" y="4849813"/>
              <a:chExt cx="552451" cy="560387"/>
            </a:xfrm>
          </p:grpSpPr>
          <p:pic>
            <p:nvPicPr>
              <p:cNvPr id="170" name="Google Shape;17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572749" y="4849813"/>
                <a:ext cx="552451" cy="5603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6"/>
              <p:cNvSpPr/>
              <p:nvPr/>
            </p:nvSpPr>
            <p:spPr>
              <a:xfrm>
                <a:off x="10820400" y="5181600"/>
                <a:ext cx="76200" cy="7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2" name="Google Shape;172;p6"/>
            <p:cNvCxnSpPr/>
            <p:nvPr/>
          </p:nvCxnSpPr>
          <p:spPr>
            <a:xfrm>
              <a:off x="9067801" y="3227388"/>
              <a:ext cx="53339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3" name="Google Shape;173;p6"/>
            <p:cNvCxnSpPr/>
            <p:nvPr/>
          </p:nvCxnSpPr>
          <p:spPr>
            <a:xfrm>
              <a:off x="9067800" y="4675188"/>
              <a:ext cx="53339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4" name="Google Shape;174;p6"/>
            <p:cNvCxnSpPr/>
            <p:nvPr/>
          </p:nvCxnSpPr>
          <p:spPr>
            <a:xfrm flipH="1" rot="10800000">
              <a:off x="10515600" y="4294188"/>
              <a:ext cx="4572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5" name="Google Shape;175;p6"/>
            <p:cNvCxnSpPr/>
            <p:nvPr/>
          </p:nvCxnSpPr>
          <p:spPr>
            <a:xfrm>
              <a:off x="10439400" y="3303588"/>
              <a:ext cx="4572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6" name="Google Shape;176;p6"/>
            <p:cNvCxnSpPr/>
            <p:nvPr/>
          </p:nvCxnSpPr>
          <p:spPr>
            <a:xfrm rot="10800000">
              <a:off x="8686800" y="2312988"/>
              <a:ext cx="0" cy="457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77" name="Google Shape;177;p6"/>
            <p:cNvGrpSpPr/>
            <p:nvPr/>
          </p:nvGrpSpPr>
          <p:grpSpPr>
            <a:xfrm>
              <a:off x="8382000" y="1676400"/>
              <a:ext cx="3233928" cy="560388"/>
              <a:chOff x="8534400" y="1573212"/>
              <a:chExt cx="3233928" cy="560388"/>
            </a:xfrm>
          </p:grpSpPr>
          <p:grpSp>
            <p:nvGrpSpPr>
              <p:cNvPr id="178" name="Google Shape;178;p6"/>
              <p:cNvGrpSpPr/>
              <p:nvPr/>
            </p:nvGrpSpPr>
            <p:grpSpPr>
              <a:xfrm>
                <a:off x="9829800" y="1573213"/>
                <a:ext cx="552451" cy="560387"/>
                <a:chOff x="9201149" y="1447800"/>
                <a:chExt cx="552451" cy="560387"/>
              </a:xfrm>
            </p:grpSpPr>
            <p:pic>
              <p:nvPicPr>
                <p:cNvPr id="179" name="Google Shape;179;p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201149" y="1447800"/>
                  <a:ext cx="552451" cy="56038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0" name="Google Shape;180;p6"/>
                <p:cNvSpPr/>
                <p:nvPr/>
              </p:nvSpPr>
              <p:spPr>
                <a:xfrm>
                  <a:off x="9296400" y="1600200"/>
                  <a:ext cx="152400" cy="76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1" name="Google Shape;181;p6"/>
              <p:cNvGrpSpPr/>
              <p:nvPr/>
            </p:nvGrpSpPr>
            <p:grpSpPr>
              <a:xfrm>
                <a:off x="11201400" y="1573212"/>
                <a:ext cx="566928" cy="560388"/>
                <a:chOff x="10634472" y="3581400"/>
                <a:chExt cx="566928" cy="560388"/>
              </a:xfrm>
            </p:grpSpPr>
            <p:pic>
              <p:nvPicPr>
                <p:cNvPr id="182" name="Google Shape;182;p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 rot="5400000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3" name="Google Shape;183;p6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4" name="Google Shape;184;p6"/>
              <p:cNvGrpSpPr/>
              <p:nvPr/>
            </p:nvGrpSpPr>
            <p:grpSpPr>
              <a:xfrm flipH="1" rot="10800000">
                <a:off x="8534400" y="1575816"/>
                <a:ext cx="566928" cy="557784"/>
                <a:chOff x="10634472" y="3581400"/>
                <a:chExt cx="566928" cy="560388"/>
              </a:xfrm>
            </p:grpSpPr>
            <p:pic>
              <p:nvPicPr>
                <p:cNvPr id="185" name="Google Shape;185;p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 rot="5400000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6" name="Google Shape;186;p6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87" name="Google Shape;187;p6"/>
              <p:cNvCxnSpPr/>
              <p:nvPr/>
            </p:nvCxnSpPr>
            <p:spPr>
              <a:xfrm>
                <a:off x="9296400" y="17526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88" name="Google Shape;188;p6"/>
              <p:cNvCxnSpPr/>
              <p:nvPr/>
            </p:nvCxnSpPr>
            <p:spPr>
              <a:xfrm rot="10800000">
                <a:off x="9296400" y="19812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89" name="Google Shape;189;p6"/>
              <p:cNvCxnSpPr/>
              <p:nvPr/>
            </p:nvCxnSpPr>
            <p:spPr>
              <a:xfrm>
                <a:off x="10591800" y="17526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90" name="Google Shape;190;p6"/>
              <p:cNvCxnSpPr/>
              <p:nvPr/>
            </p:nvCxnSpPr>
            <p:spPr>
              <a:xfrm rot="10800000">
                <a:off x="10591800" y="19812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191" name="Google Shape;191;p6"/>
            <p:cNvGrpSpPr/>
            <p:nvPr/>
          </p:nvGrpSpPr>
          <p:grpSpPr>
            <a:xfrm flipH="1" rot="10800000">
              <a:off x="8430540" y="5659922"/>
              <a:ext cx="3223488" cy="568223"/>
              <a:chOff x="8540268" y="1568619"/>
              <a:chExt cx="3223488" cy="570876"/>
            </a:xfrm>
          </p:grpSpPr>
          <p:grpSp>
            <p:nvGrpSpPr>
              <p:cNvPr id="192" name="Google Shape;192;p6"/>
              <p:cNvGrpSpPr/>
              <p:nvPr/>
            </p:nvGrpSpPr>
            <p:grpSpPr>
              <a:xfrm>
                <a:off x="9827135" y="1575889"/>
                <a:ext cx="557783" cy="555030"/>
                <a:chOff x="9198484" y="1450477"/>
                <a:chExt cx="557783" cy="555030"/>
              </a:xfrm>
            </p:grpSpPr>
            <p:pic>
              <p:nvPicPr>
                <p:cNvPr id="193" name="Google Shape;193;p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rot="5400000">
                  <a:off x="9199860" y="1449100"/>
                  <a:ext cx="555030" cy="5577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94" name="Google Shape;194;p6"/>
                <p:cNvSpPr/>
                <p:nvPr/>
              </p:nvSpPr>
              <p:spPr>
                <a:xfrm>
                  <a:off x="9539477" y="1549210"/>
                  <a:ext cx="152400" cy="152756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5" name="Google Shape;195;p6"/>
              <p:cNvGrpSpPr/>
              <p:nvPr/>
            </p:nvGrpSpPr>
            <p:grpSpPr>
              <a:xfrm>
                <a:off x="11205972" y="1568619"/>
                <a:ext cx="557784" cy="569575"/>
                <a:chOff x="10639044" y="3576807"/>
                <a:chExt cx="557784" cy="569575"/>
              </a:xfrm>
            </p:grpSpPr>
            <p:pic>
              <p:nvPicPr>
                <p:cNvPr id="196" name="Google Shape;196;p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 rot="10800000">
                  <a:off x="10639044" y="3576807"/>
                  <a:ext cx="557784" cy="56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97" name="Google Shape;197;p6"/>
                <p:cNvSpPr/>
                <p:nvPr/>
              </p:nvSpPr>
              <p:spPr>
                <a:xfrm>
                  <a:off x="10896600" y="3684590"/>
                  <a:ext cx="152399" cy="150978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8" name="Google Shape;198;p6"/>
              <p:cNvGrpSpPr/>
              <p:nvPr/>
            </p:nvGrpSpPr>
            <p:grpSpPr>
              <a:xfrm flipH="1" rot="10800000">
                <a:off x="8540268" y="1569920"/>
                <a:ext cx="555192" cy="569575"/>
                <a:chOff x="10640340" y="3575477"/>
                <a:chExt cx="555192" cy="572234"/>
              </a:xfrm>
            </p:grpSpPr>
            <p:pic>
              <p:nvPicPr>
                <p:cNvPr id="199" name="Google Shape;199;p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10640340" y="3575477"/>
                  <a:ext cx="555192" cy="57223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" name="Google Shape;200;p6"/>
                <p:cNvSpPr/>
                <p:nvPr/>
              </p:nvSpPr>
              <p:spPr>
                <a:xfrm>
                  <a:off x="10744200" y="3889052"/>
                  <a:ext cx="228600" cy="153826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201" name="Google Shape;201;p6"/>
              <p:cNvCxnSpPr/>
              <p:nvPr/>
            </p:nvCxnSpPr>
            <p:spPr>
              <a:xfrm>
                <a:off x="9296400" y="17526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02" name="Google Shape;202;p6"/>
              <p:cNvCxnSpPr/>
              <p:nvPr/>
            </p:nvCxnSpPr>
            <p:spPr>
              <a:xfrm rot="10800000">
                <a:off x="9296400" y="19812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03" name="Google Shape;203;p6"/>
              <p:cNvCxnSpPr/>
              <p:nvPr/>
            </p:nvCxnSpPr>
            <p:spPr>
              <a:xfrm>
                <a:off x="10591800" y="17526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04" name="Google Shape;204;p6"/>
              <p:cNvCxnSpPr/>
              <p:nvPr/>
            </p:nvCxnSpPr>
            <p:spPr>
              <a:xfrm rot="10800000">
                <a:off x="10591800" y="19812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cxnSp>
          <p:nvCxnSpPr>
            <p:cNvPr id="205" name="Google Shape;205;p6"/>
            <p:cNvCxnSpPr/>
            <p:nvPr/>
          </p:nvCxnSpPr>
          <p:spPr>
            <a:xfrm>
              <a:off x="8686800" y="5056188"/>
              <a:ext cx="0" cy="457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6" name="Google Shape;206;p6"/>
            <p:cNvCxnSpPr/>
            <p:nvPr/>
          </p:nvCxnSpPr>
          <p:spPr>
            <a:xfrm flipH="1" rot="10800000">
              <a:off x="11353800" y="5132388"/>
              <a:ext cx="3048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" name="Google Shape;207;p6"/>
            <p:cNvCxnSpPr/>
            <p:nvPr/>
          </p:nvCxnSpPr>
          <p:spPr>
            <a:xfrm>
              <a:off x="9982200" y="63246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8" name="Google Shape;208;p6"/>
            <p:cNvCxnSpPr/>
            <p:nvPr/>
          </p:nvCxnSpPr>
          <p:spPr>
            <a:xfrm rot="10800000">
              <a:off x="9982200" y="12192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9" name="Google Shape;209;p6"/>
            <p:cNvCxnSpPr/>
            <p:nvPr/>
          </p:nvCxnSpPr>
          <p:spPr>
            <a:xfrm rot="10800000">
              <a:off x="8686800" y="12192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0" name="Google Shape;210;p6"/>
            <p:cNvCxnSpPr/>
            <p:nvPr/>
          </p:nvCxnSpPr>
          <p:spPr>
            <a:xfrm rot="10800000">
              <a:off x="11353800" y="12192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" name="Google Shape;211;p6"/>
            <p:cNvCxnSpPr/>
            <p:nvPr/>
          </p:nvCxnSpPr>
          <p:spPr>
            <a:xfrm>
              <a:off x="8686800" y="63246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2" name="Google Shape;212;p6"/>
            <p:cNvCxnSpPr/>
            <p:nvPr/>
          </p:nvCxnSpPr>
          <p:spPr>
            <a:xfrm>
              <a:off x="11353800" y="63246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3" name="Google Shape;213;p6"/>
            <p:cNvCxnSpPr/>
            <p:nvPr/>
          </p:nvCxnSpPr>
          <p:spPr>
            <a:xfrm flipH="1" rot="10800000">
              <a:off x="11734800" y="3276600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4" name="Google Shape;214;p6"/>
            <p:cNvCxnSpPr/>
            <p:nvPr/>
          </p:nvCxnSpPr>
          <p:spPr>
            <a:xfrm>
              <a:off x="11734800" y="4267200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5" name="Google Shape;215;p6"/>
            <p:cNvCxnSpPr/>
            <p:nvPr/>
          </p:nvCxnSpPr>
          <p:spPr>
            <a:xfrm flipH="1" rot="10800000">
              <a:off x="10439400" y="2743200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6" name="Google Shape;216;p6"/>
            <p:cNvCxnSpPr/>
            <p:nvPr/>
          </p:nvCxnSpPr>
          <p:spPr>
            <a:xfrm>
              <a:off x="10515600" y="4876800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7" name="Google Shape;217;p6"/>
            <p:cNvCxnSpPr/>
            <p:nvPr/>
          </p:nvCxnSpPr>
          <p:spPr>
            <a:xfrm flipH="1">
              <a:off x="7924800" y="5029200"/>
              <a:ext cx="3810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8" name="Google Shape;218;p6"/>
            <p:cNvCxnSpPr/>
            <p:nvPr/>
          </p:nvCxnSpPr>
          <p:spPr>
            <a:xfrm rot="10800000">
              <a:off x="7696200" y="2667000"/>
              <a:ext cx="5334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19" name="Google Shape;219;p6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State Space Graphs</a:t>
            </a:r>
            <a:endParaRPr/>
          </a:p>
        </p:txBody>
      </p:sp>
      <p:sp>
        <p:nvSpPr>
          <p:cNvPr id="225" name="Google Shape;225;p7"/>
          <p:cNvSpPr txBox="1"/>
          <p:nvPr>
            <p:ph idx="1" type="body"/>
          </p:nvPr>
        </p:nvSpPr>
        <p:spPr>
          <a:xfrm>
            <a:off x="457200" y="1657353"/>
            <a:ext cx="6324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State space graph: A mathematical representation of a search problem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Nodes are (abstracted) world configurations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Arcs represent successors (action results)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The goal test is a set of goal nodes (maybe only one)</a:t>
            </a:r>
            <a:endParaRPr/>
          </a:p>
          <a:p>
            <a:pPr indent="-158715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a state space graph, each state occurs only once!</a:t>
            </a:r>
            <a:endParaRPr/>
          </a:p>
          <a:p>
            <a:pPr indent="-158715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We can rarely build this full graph in memory (it’s too big), but it’s a useful idea</a:t>
            </a:r>
            <a:endParaRPr/>
          </a:p>
          <a:p>
            <a:pPr indent="-1904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226" name="Google Shape;226;p7"/>
          <p:cNvGrpSpPr/>
          <p:nvPr/>
        </p:nvGrpSpPr>
        <p:grpSpPr>
          <a:xfrm>
            <a:off x="7010400" y="1905001"/>
            <a:ext cx="4419600" cy="2573339"/>
            <a:chOff x="336" y="576"/>
            <a:chExt cx="4848" cy="2784"/>
          </a:xfrm>
        </p:grpSpPr>
        <p:sp>
          <p:nvSpPr>
            <p:cNvPr id="227" name="Google Shape;227;p7"/>
            <p:cNvSpPr/>
            <p:nvPr/>
          </p:nvSpPr>
          <p:spPr>
            <a:xfrm>
              <a:off x="336" y="2208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4704" y="57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1728" y="177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720" y="105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1200" y="273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2352" y="2880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2880" y="1008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3552" y="1584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3168" y="225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1584" y="624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4560" y="1872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368" y="273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9" name="Google Shape;239;p7"/>
            <p:cNvCxnSpPr>
              <a:stCxn id="227" idx="5"/>
              <a:endCxn id="231" idx="2"/>
            </p:cNvCxnSpPr>
            <p:nvPr/>
          </p:nvCxnSpPr>
          <p:spPr>
            <a:xfrm>
              <a:off x="746" y="2618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0" name="Google Shape;240;p7"/>
            <p:cNvCxnSpPr>
              <a:stCxn id="231" idx="5"/>
              <a:endCxn id="232" idx="2"/>
            </p:cNvCxnSpPr>
            <p:nvPr/>
          </p:nvCxnSpPr>
          <p:spPr>
            <a:xfrm>
              <a:off x="1610" y="3146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1" name="Google Shape;241;p7"/>
            <p:cNvCxnSpPr>
              <a:stCxn id="235" idx="3"/>
              <a:endCxn id="232" idx="7"/>
            </p:cNvCxnSpPr>
            <p:nvPr/>
          </p:nvCxnSpPr>
          <p:spPr>
            <a:xfrm flipH="1">
              <a:off x="2638" y="2666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2" name="Google Shape;242;p7"/>
            <p:cNvCxnSpPr>
              <a:stCxn id="235" idx="2"/>
              <a:endCxn id="231" idx="6"/>
            </p:cNvCxnSpPr>
            <p:nvPr/>
          </p:nvCxnSpPr>
          <p:spPr>
            <a:xfrm flipH="1">
              <a:off x="1668" y="2496"/>
              <a:ext cx="15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3" name="Google Shape;243;p7"/>
            <p:cNvCxnSpPr>
              <a:stCxn id="234" idx="4"/>
              <a:endCxn id="235" idx="7"/>
            </p:cNvCxnSpPr>
            <p:nvPr/>
          </p:nvCxnSpPr>
          <p:spPr>
            <a:xfrm flipH="1">
              <a:off x="3492" y="206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4" name="Google Shape;244;p7"/>
            <p:cNvCxnSpPr>
              <a:stCxn id="234" idx="5"/>
              <a:endCxn id="238" idx="1"/>
            </p:cNvCxnSpPr>
            <p:nvPr/>
          </p:nvCxnSpPr>
          <p:spPr>
            <a:xfrm>
              <a:off x="3962" y="1994"/>
              <a:ext cx="6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5" name="Google Shape;245;p7"/>
            <p:cNvCxnSpPr>
              <a:stCxn id="238" idx="0"/>
              <a:endCxn id="237" idx="4"/>
            </p:cNvCxnSpPr>
            <p:nvPr/>
          </p:nvCxnSpPr>
          <p:spPr>
            <a:xfrm flipH="1" rot="10800000">
              <a:off x="4608" y="2436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6" name="Google Shape;246;p7"/>
            <p:cNvCxnSpPr>
              <a:stCxn id="237" idx="0"/>
              <a:endCxn id="228" idx="4"/>
            </p:cNvCxnSpPr>
            <p:nvPr/>
          </p:nvCxnSpPr>
          <p:spPr>
            <a:xfrm rot="10800000">
              <a:off x="4800" y="972"/>
              <a:ext cx="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7" name="Google Shape;247;p7"/>
            <p:cNvCxnSpPr>
              <a:stCxn id="227" idx="7"/>
            </p:cNvCxnSpPr>
            <p:nvPr/>
          </p:nvCxnSpPr>
          <p:spPr>
            <a:xfrm flipH="1" rot="10800000">
              <a:off x="746" y="1978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8" name="Google Shape;248;p7"/>
            <p:cNvCxnSpPr>
              <a:stCxn id="229" idx="1"/>
              <a:endCxn id="230" idx="5"/>
            </p:cNvCxnSpPr>
            <p:nvPr/>
          </p:nvCxnSpPr>
          <p:spPr>
            <a:xfrm rot="10800000">
              <a:off x="1198" y="1546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9" name="Google Shape;249;p7"/>
            <p:cNvCxnSpPr>
              <a:endCxn id="236" idx="2"/>
            </p:cNvCxnSpPr>
            <p:nvPr/>
          </p:nvCxnSpPr>
          <p:spPr>
            <a:xfrm flipH="1" rot="10800000">
              <a:off x="1284" y="86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50" name="Google Shape;250;p7"/>
            <p:cNvCxnSpPr>
              <a:stCxn id="233" idx="2"/>
              <a:endCxn id="236" idx="6"/>
            </p:cNvCxnSpPr>
            <p:nvPr/>
          </p:nvCxnSpPr>
          <p:spPr>
            <a:xfrm rot="10800000">
              <a:off x="1980" y="948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51" name="Google Shape;251;p7"/>
            <p:cNvCxnSpPr>
              <a:stCxn id="229" idx="7"/>
              <a:endCxn id="233" idx="3"/>
            </p:cNvCxnSpPr>
            <p:nvPr/>
          </p:nvCxnSpPr>
          <p:spPr>
            <a:xfrm flipH="1" rot="10800000">
              <a:off x="2138" y="1546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52" name="Google Shape;252;p7"/>
            <p:cNvCxnSpPr>
              <a:stCxn id="229" idx="6"/>
              <a:endCxn id="234" idx="2"/>
            </p:cNvCxnSpPr>
            <p:nvPr/>
          </p:nvCxnSpPr>
          <p:spPr>
            <a:xfrm flipH="1" rot="10800000">
              <a:off x="2208" y="1716"/>
              <a:ext cx="12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53" name="Google Shape;253;p7"/>
            <p:cNvCxnSpPr>
              <a:stCxn id="237" idx="1"/>
              <a:endCxn id="233" idx="6"/>
            </p:cNvCxnSpPr>
            <p:nvPr/>
          </p:nvCxnSpPr>
          <p:spPr>
            <a:xfrm flipH="1" rot="5400000">
              <a:off x="3730" y="1042"/>
              <a:ext cx="600" cy="12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54" name="Google Shape;254;p7"/>
            <p:cNvCxnSpPr>
              <a:stCxn id="227" idx="6"/>
              <a:endCxn id="234" idx="3"/>
            </p:cNvCxnSpPr>
            <p:nvPr/>
          </p:nvCxnSpPr>
          <p:spPr>
            <a:xfrm flipH="1" rot="10800000">
              <a:off x="816" y="1848"/>
              <a:ext cx="2700" cy="6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sp>
        <p:nvSpPr>
          <p:cNvPr id="255" name="Google Shape;255;p7"/>
          <p:cNvSpPr txBox="1"/>
          <p:nvPr/>
        </p:nvSpPr>
        <p:spPr>
          <a:xfrm>
            <a:off x="7696200" y="4845049"/>
            <a:ext cx="3352800" cy="646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Tiny search graph for a tiny search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Trees</a:t>
            </a:r>
            <a:endParaRPr/>
          </a:p>
        </p:txBody>
      </p:sp>
      <p:sp>
        <p:nvSpPr>
          <p:cNvPr id="263" name="Google Shape;263;p8"/>
          <p:cNvSpPr txBox="1"/>
          <p:nvPr>
            <p:ph idx="1" type="body"/>
          </p:nvPr>
        </p:nvSpPr>
        <p:spPr>
          <a:xfrm>
            <a:off x="1524000" y="4114800"/>
            <a:ext cx="9525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search tree: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 “what if” tree of plans and their outcomes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 start state is the root node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Children correspond to successors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Nodes show states, but correspond to PLANS that achieve those states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rgbClr val="CC0000"/>
                </a:solidFill>
              </a:rPr>
              <a:t>For most problems, we can never actually build the whole tree</a:t>
            </a:r>
            <a:endParaRPr/>
          </a:p>
        </p:txBody>
      </p:sp>
      <p:pic>
        <p:nvPicPr>
          <p:cNvPr id="264" name="Google Shape;2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3" y="1524000"/>
            <a:ext cx="560388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1" y="2590803"/>
            <a:ext cx="552451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1601" y="2590803"/>
            <a:ext cx="552451" cy="5603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8"/>
          <p:cNvCxnSpPr/>
          <p:nvPr/>
        </p:nvCxnSpPr>
        <p:spPr>
          <a:xfrm>
            <a:off x="4267200" y="2209800"/>
            <a:ext cx="1143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8"/>
          <p:cNvCxnSpPr/>
          <p:nvPr/>
        </p:nvCxnSpPr>
        <p:spPr>
          <a:xfrm flipH="1">
            <a:off x="3124200" y="2209800"/>
            <a:ext cx="1066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" name="Google Shape;269;p8"/>
          <p:cNvSpPr txBox="1"/>
          <p:nvPr/>
        </p:nvSpPr>
        <p:spPr>
          <a:xfrm>
            <a:off x="4724400" y="2051051"/>
            <a:ext cx="9906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“E”, 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2757488" y="2051051"/>
            <a:ext cx="11430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“N”, 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8"/>
          <p:cNvCxnSpPr/>
          <p:nvPr/>
        </p:nvCxnSpPr>
        <p:spPr>
          <a:xfrm>
            <a:off x="3124200" y="32766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" name="Google Shape;272;p8"/>
          <p:cNvCxnSpPr/>
          <p:nvPr/>
        </p:nvCxnSpPr>
        <p:spPr>
          <a:xfrm flipH="1">
            <a:off x="2362200" y="32766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" name="Google Shape;273;p8"/>
          <p:cNvCxnSpPr/>
          <p:nvPr/>
        </p:nvCxnSpPr>
        <p:spPr>
          <a:xfrm>
            <a:off x="3048000" y="3276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p8"/>
          <p:cNvCxnSpPr/>
          <p:nvPr/>
        </p:nvCxnSpPr>
        <p:spPr>
          <a:xfrm>
            <a:off x="5486400" y="32766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" name="Google Shape;275;p8"/>
          <p:cNvCxnSpPr/>
          <p:nvPr/>
        </p:nvCxnSpPr>
        <p:spPr>
          <a:xfrm flipH="1">
            <a:off x="4724400" y="32766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8"/>
          <p:cNvCxnSpPr/>
          <p:nvPr/>
        </p:nvCxnSpPr>
        <p:spPr>
          <a:xfrm>
            <a:off x="5410200" y="3276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7" name="Google Shape;277;p8"/>
          <p:cNvSpPr/>
          <p:nvPr/>
        </p:nvSpPr>
        <p:spPr>
          <a:xfrm rot="10800000">
            <a:off x="6400800" y="1600199"/>
            <a:ext cx="13716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8077200" y="1535672"/>
            <a:ext cx="3048000" cy="400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now / 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 rot="10800000">
            <a:off x="6400800" y="2666999"/>
            <a:ext cx="13716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8077200" y="2602472"/>
            <a:ext cx="3048000" cy="400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futures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/>
          <p:nvPr/>
        </p:nvSpPr>
        <p:spPr>
          <a:xfrm>
            <a:off x="6858002" y="1758699"/>
            <a:ext cx="4889500" cy="3880103"/>
          </a:xfrm>
          <a:prstGeom prst="roundRect">
            <a:avLst>
              <a:gd fmla="val 16667" name="adj"/>
            </a:avLst>
          </a:prstGeom>
          <a:solidFill>
            <a:srgbClr val="D5DFFF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381000" y="1752600"/>
            <a:ext cx="3886200" cy="3886200"/>
          </a:xfrm>
          <a:prstGeom prst="roundRect">
            <a:avLst>
              <a:gd fmla="val 16667" name="adj"/>
            </a:avLst>
          </a:prstGeom>
          <a:solidFill>
            <a:srgbClr val="D5DFFF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State Space Graphs vs. Search Trees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9232902" y="2692717"/>
            <a:ext cx="825500" cy="32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7010402" y="3976181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7010402" y="3550080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7454902" y="316725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11264902" y="3113992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7581902" y="3976181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7581902" y="3550080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9"/>
          <p:cNvCxnSpPr>
            <a:stCxn id="292" idx="2"/>
            <a:endCxn id="291" idx="0"/>
          </p:cNvCxnSpPr>
          <p:nvPr/>
        </p:nvCxnSpPr>
        <p:spPr>
          <a:xfrm flipH="1">
            <a:off x="7169052" y="3505695"/>
            <a:ext cx="44460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9"/>
          <p:cNvCxnSpPr>
            <a:stCxn id="292" idx="2"/>
            <a:endCxn id="295" idx="0"/>
          </p:cNvCxnSpPr>
          <p:nvPr/>
        </p:nvCxnSpPr>
        <p:spPr>
          <a:xfrm>
            <a:off x="7613652" y="3505695"/>
            <a:ext cx="12690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9"/>
          <p:cNvCxnSpPr>
            <a:stCxn id="291" idx="2"/>
            <a:endCxn id="290" idx="0"/>
          </p:cNvCxnSpPr>
          <p:nvPr/>
        </p:nvCxnSpPr>
        <p:spPr>
          <a:xfrm>
            <a:off x="7169152" y="3888520"/>
            <a:ext cx="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9"/>
          <p:cNvCxnSpPr>
            <a:stCxn id="295" idx="2"/>
            <a:endCxn id="294" idx="0"/>
          </p:cNvCxnSpPr>
          <p:nvPr/>
        </p:nvCxnSpPr>
        <p:spPr>
          <a:xfrm>
            <a:off x="7740652" y="3888520"/>
            <a:ext cx="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9"/>
          <p:cNvSpPr txBox="1"/>
          <p:nvPr/>
        </p:nvSpPr>
        <p:spPr>
          <a:xfrm>
            <a:off x="9753602" y="3113992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9296402" y="396619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9486902" y="3540093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10058402" y="396619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10058402" y="3540093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9677402" y="396619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9296402" y="4349020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9867902" y="4349020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10121900" y="4392297"/>
            <a:ext cx="635000" cy="32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9867902" y="4721859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9"/>
          <p:cNvCxnSpPr>
            <a:stCxn id="300" idx="2"/>
            <a:endCxn id="302" idx="0"/>
          </p:cNvCxnSpPr>
          <p:nvPr/>
        </p:nvCxnSpPr>
        <p:spPr>
          <a:xfrm flipH="1">
            <a:off x="9645652" y="3452432"/>
            <a:ext cx="2667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9"/>
          <p:cNvCxnSpPr>
            <a:stCxn id="300" idx="2"/>
            <a:endCxn id="304" idx="0"/>
          </p:cNvCxnSpPr>
          <p:nvPr/>
        </p:nvCxnSpPr>
        <p:spPr>
          <a:xfrm>
            <a:off x="9912352" y="3452432"/>
            <a:ext cx="3048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9"/>
          <p:cNvCxnSpPr>
            <a:stCxn id="302" idx="2"/>
            <a:endCxn id="301" idx="0"/>
          </p:cNvCxnSpPr>
          <p:nvPr/>
        </p:nvCxnSpPr>
        <p:spPr>
          <a:xfrm flipH="1">
            <a:off x="9455152" y="3878533"/>
            <a:ext cx="1905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9"/>
          <p:cNvCxnSpPr>
            <a:stCxn id="302" idx="2"/>
            <a:endCxn id="305" idx="0"/>
          </p:cNvCxnSpPr>
          <p:nvPr/>
        </p:nvCxnSpPr>
        <p:spPr>
          <a:xfrm>
            <a:off x="9645652" y="3878533"/>
            <a:ext cx="1905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9"/>
          <p:cNvCxnSpPr>
            <a:stCxn id="304" idx="2"/>
            <a:endCxn id="303" idx="0"/>
          </p:cNvCxnSpPr>
          <p:nvPr/>
        </p:nvCxnSpPr>
        <p:spPr>
          <a:xfrm>
            <a:off x="10217152" y="3878533"/>
            <a:ext cx="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9"/>
          <p:cNvCxnSpPr>
            <a:stCxn id="301" idx="2"/>
            <a:endCxn id="306" idx="0"/>
          </p:cNvCxnSpPr>
          <p:nvPr/>
        </p:nvCxnSpPr>
        <p:spPr>
          <a:xfrm>
            <a:off x="9455152" y="4304635"/>
            <a:ext cx="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9"/>
          <p:cNvCxnSpPr>
            <a:stCxn id="303" idx="2"/>
            <a:endCxn id="307" idx="0"/>
          </p:cNvCxnSpPr>
          <p:nvPr/>
        </p:nvCxnSpPr>
        <p:spPr>
          <a:xfrm flipH="1">
            <a:off x="10026652" y="4304635"/>
            <a:ext cx="19050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9"/>
          <p:cNvCxnSpPr>
            <a:stCxn id="303" idx="2"/>
            <a:endCxn id="308" idx="0"/>
          </p:cNvCxnSpPr>
          <p:nvPr/>
        </p:nvCxnSpPr>
        <p:spPr>
          <a:xfrm>
            <a:off x="10217152" y="4304635"/>
            <a:ext cx="2223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9"/>
          <p:cNvCxnSpPr>
            <a:stCxn id="307" idx="2"/>
            <a:endCxn id="309" idx="0"/>
          </p:cNvCxnSpPr>
          <p:nvPr/>
        </p:nvCxnSpPr>
        <p:spPr>
          <a:xfrm>
            <a:off x="10026652" y="4687460"/>
            <a:ext cx="0" cy="3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9"/>
          <p:cNvSpPr txBox="1"/>
          <p:nvPr/>
        </p:nvSpPr>
        <p:spPr>
          <a:xfrm>
            <a:off x="11264902" y="3506804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9"/>
          <p:cNvCxnSpPr>
            <a:stCxn id="293" idx="2"/>
            <a:endCxn id="319" idx="0"/>
          </p:cNvCxnSpPr>
          <p:nvPr/>
        </p:nvCxnSpPr>
        <p:spPr>
          <a:xfrm>
            <a:off x="11423652" y="3452432"/>
            <a:ext cx="0" cy="5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9"/>
          <p:cNvSpPr txBox="1"/>
          <p:nvPr/>
        </p:nvSpPr>
        <p:spPr>
          <a:xfrm>
            <a:off x="8280402" y="3540093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7772402" y="4392296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 txBox="1"/>
          <p:nvPr/>
        </p:nvSpPr>
        <p:spPr>
          <a:xfrm>
            <a:off x="7962902" y="396619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 txBox="1"/>
          <p:nvPr/>
        </p:nvSpPr>
        <p:spPr>
          <a:xfrm>
            <a:off x="8534402" y="4392296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8534402" y="396619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8153402" y="4392296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 txBox="1"/>
          <p:nvPr/>
        </p:nvSpPr>
        <p:spPr>
          <a:xfrm>
            <a:off x="7772402" y="4775121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 txBox="1"/>
          <p:nvPr/>
        </p:nvSpPr>
        <p:spPr>
          <a:xfrm>
            <a:off x="8343902" y="4775121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8597900" y="4818397"/>
            <a:ext cx="6350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8343902" y="5147960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9"/>
          <p:cNvCxnSpPr>
            <a:stCxn id="321" idx="2"/>
            <a:endCxn id="323" idx="0"/>
          </p:cNvCxnSpPr>
          <p:nvPr/>
        </p:nvCxnSpPr>
        <p:spPr>
          <a:xfrm flipH="1">
            <a:off x="8121752" y="3878533"/>
            <a:ext cx="3174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9"/>
          <p:cNvCxnSpPr>
            <a:stCxn id="321" idx="2"/>
            <a:endCxn id="325" idx="0"/>
          </p:cNvCxnSpPr>
          <p:nvPr/>
        </p:nvCxnSpPr>
        <p:spPr>
          <a:xfrm>
            <a:off x="8439152" y="3878533"/>
            <a:ext cx="2541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9"/>
          <p:cNvCxnSpPr>
            <a:stCxn id="323" idx="2"/>
            <a:endCxn id="322" idx="0"/>
          </p:cNvCxnSpPr>
          <p:nvPr/>
        </p:nvCxnSpPr>
        <p:spPr>
          <a:xfrm flipH="1">
            <a:off x="7931152" y="4304635"/>
            <a:ext cx="1905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9"/>
          <p:cNvCxnSpPr>
            <a:stCxn id="323" idx="2"/>
            <a:endCxn id="326" idx="0"/>
          </p:cNvCxnSpPr>
          <p:nvPr/>
        </p:nvCxnSpPr>
        <p:spPr>
          <a:xfrm>
            <a:off x="8121652" y="4304635"/>
            <a:ext cx="1905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9"/>
          <p:cNvCxnSpPr>
            <a:stCxn id="325" idx="2"/>
            <a:endCxn id="324" idx="0"/>
          </p:cNvCxnSpPr>
          <p:nvPr/>
        </p:nvCxnSpPr>
        <p:spPr>
          <a:xfrm>
            <a:off x="8693152" y="4304635"/>
            <a:ext cx="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9"/>
          <p:cNvCxnSpPr>
            <a:stCxn id="322" idx="2"/>
            <a:endCxn id="327" idx="0"/>
          </p:cNvCxnSpPr>
          <p:nvPr/>
        </p:nvCxnSpPr>
        <p:spPr>
          <a:xfrm>
            <a:off x="7931152" y="4730736"/>
            <a:ext cx="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9"/>
          <p:cNvCxnSpPr>
            <a:stCxn id="324" idx="2"/>
            <a:endCxn id="328" idx="0"/>
          </p:cNvCxnSpPr>
          <p:nvPr/>
        </p:nvCxnSpPr>
        <p:spPr>
          <a:xfrm flipH="1">
            <a:off x="8502652" y="4730736"/>
            <a:ext cx="19050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9"/>
          <p:cNvCxnSpPr>
            <a:stCxn id="324" idx="2"/>
            <a:endCxn id="329" idx="0"/>
          </p:cNvCxnSpPr>
          <p:nvPr/>
        </p:nvCxnSpPr>
        <p:spPr>
          <a:xfrm>
            <a:off x="8693152" y="4730736"/>
            <a:ext cx="2223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9"/>
          <p:cNvCxnSpPr>
            <a:stCxn id="328" idx="2"/>
            <a:endCxn id="330" idx="0"/>
          </p:cNvCxnSpPr>
          <p:nvPr/>
        </p:nvCxnSpPr>
        <p:spPr>
          <a:xfrm>
            <a:off x="8502652" y="5113561"/>
            <a:ext cx="0" cy="3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9"/>
          <p:cNvCxnSpPr>
            <a:stCxn id="292" idx="2"/>
            <a:endCxn id="321" idx="0"/>
          </p:cNvCxnSpPr>
          <p:nvPr/>
        </p:nvCxnSpPr>
        <p:spPr>
          <a:xfrm>
            <a:off x="7613652" y="3505695"/>
            <a:ext cx="825600" cy="3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9"/>
          <p:cNvCxnSpPr>
            <a:stCxn id="289" idx="2"/>
            <a:endCxn id="292" idx="0"/>
          </p:cNvCxnSpPr>
          <p:nvPr/>
        </p:nvCxnSpPr>
        <p:spPr>
          <a:xfrm flipH="1">
            <a:off x="7613752" y="3015880"/>
            <a:ext cx="2031900" cy="15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9"/>
          <p:cNvCxnSpPr>
            <a:stCxn id="289" idx="2"/>
            <a:endCxn id="300" idx="0"/>
          </p:cNvCxnSpPr>
          <p:nvPr/>
        </p:nvCxnSpPr>
        <p:spPr>
          <a:xfrm>
            <a:off x="9645652" y="3015880"/>
            <a:ext cx="266700" cy="98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9"/>
          <p:cNvCxnSpPr>
            <a:stCxn id="289" idx="2"/>
            <a:endCxn id="293" idx="0"/>
          </p:cNvCxnSpPr>
          <p:nvPr/>
        </p:nvCxnSpPr>
        <p:spPr>
          <a:xfrm>
            <a:off x="9645652" y="3015880"/>
            <a:ext cx="1778100" cy="98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4" name="Google Shape;344;p9"/>
          <p:cNvGrpSpPr/>
          <p:nvPr/>
        </p:nvGrpSpPr>
        <p:grpSpPr>
          <a:xfrm>
            <a:off x="681037" y="3124200"/>
            <a:ext cx="3205163" cy="1768475"/>
            <a:chOff x="336" y="576"/>
            <a:chExt cx="4848" cy="2784"/>
          </a:xfrm>
        </p:grpSpPr>
        <p:sp>
          <p:nvSpPr>
            <p:cNvPr id="345" name="Google Shape;345;p9"/>
            <p:cNvSpPr/>
            <p:nvPr/>
          </p:nvSpPr>
          <p:spPr>
            <a:xfrm>
              <a:off x="336" y="2208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4704" y="57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1728" y="177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720" y="105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1200" y="273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2352" y="2880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2880" y="1008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3552" y="1584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3168" y="225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1584" y="624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4560" y="1872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4368" y="273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7" name="Google Shape;357;p9"/>
            <p:cNvCxnSpPr>
              <a:stCxn id="345" idx="5"/>
              <a:endCxn id="349" idx="2"/>
            </p:cNvCxnSpPr>
            <p:nvPr/>
          </p:nvCxnSpPr>
          <p:spPr>
            <a:xfrm>
              <a:off x="746" y="2618"/>
              <a:ext cx="6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8" name="Google Shape;358;p9"/>
            <p:cNvCxnSpPr>
              <a:stCxn id="349" idx="5"/>
              <a:endCxn id="350" idx="2"/>
            </p:cNvCxnSpPr>
            <p:nvPr/>
          </p:nvCxnSpPr>
          <p:spPr>
            <a:xfrm>
              <a:off x="1610" y="3146"/>
              <a:ext cx="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9" name="Google Shape;359;p9"/>
            <p:cNvCxnSpPr>
              <a:stCxn id="353" idx="3"/>
              <a:endCxn id="350" idx="7"/>
            </p:cNvCxnSpPr>
            <p:nvPr/>
          </p:nvCxnSpPr>
          <p:spPr>
            <a:xfrm flipH="1">
              <a:off x="2638" y="2666"/>
              <a:ext cx="6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0" name="Google Shape;360;p9"/>
            <p:cNvCxnSpPr>
              <a:stCxn id="353" idx="2"/>
              <a:endCxn id="349" idx="6"/>
            </p:cNvCxnSpPr>
            <p:nvPr/>
          </p:nvCxnSpPr>
          <p:spPr>
            <a:xfrm flipH="1">
              <a:off x="1668" y="2496"/>
              <a:ext cx="1500" cy="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1" name="Google Shape;361;p9"/>
            <p:cNvCxnSpPr>
              <a:stCxn id="352" idx="4"/>
              <a:endCxn id="353" idx="7"/>
            </p:cNvCxnSpPr>
            <p:nvPr/>
          </p:nvCxnSpPr>
          <p:spPr>
            <a:xfrm flipH="1">
              <a:off x="3492" y="2064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2" name="Google Shape;362;p9"/>
            <p:cNvCxnSpPr>
              <a:stCxn id="352" idx="5"/>
              <a:endCxn id="356" idx="1"/>
            </p:cNvCxnSpPr>
            <p:nvPr/>
          </p:nvCxnSpPr>
          <p:spPr>
            <a:xfrm>
              <a:off x="3962" y="1994"/>
              <a:ext cx="600" cy="9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3" name="Google Shape;363;p9"/>
            <p:cNvCxnSpPr>
              <a:stCxn id="356" idx="0"/>
              <a:endCxn id="355" idx="4"/>
            </p:cNvCxnSpPr>
            <p:nvPr/>
          </p:nvCxnSpPr>
          <p:spPr>
            <a:xfrm flipH="1" rot="10800000">
              <a:off x="4608" y="2436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4" name="Google Shape;364;p9"/>
            <p:cNvCxnSpPr>
              <a:stCxn id="355" idx="0"/>
              <a:endCxn id="346" idx="4"/>
            </p:cNvCxnSpPr>
            <p:nvPr/>
          </p:nvCxnSpPr>
          <p:spPr>
            <a:xfrm rot="10800000">
              <a:off x="4800" y="972"/>
              <a:ext cx="0" cy="9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5" name="Google Shape;365;p9"/>
            <p:cNvCxnSpPr>
              <a:stCxn id="345" idx="7"/>
            </p:cNvCxnSpPr>
            <p:nvPr/>
          </p:nvCxnSpPr>
          <p:spPr>
            <a:xfrm flipH="1" rot="10800000">
              <a:off x="746" y="1978"/>
              <a:ext cx="900" cy="3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6" name="Google Shape;366;p9"/>
            <p:cNvCxnSpPr>
              <a:stCxn id="347" idx="1"/>
              <a:endCxn id="348" idx="5"/>
            </p:cNvCxnSpPr>
            <p:nvPr/>
          </p:nvCxnSpPr>
          <p:spPr>
            <a:xfrm rot="10800000">
              <a:off x="1198" y="1546"/>
              <a:ext cx="6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7" name="Google Shape;367;p9"/>
            <p:cNvCxnSpPr>
              <a:endCxn id="354" idx="2"/>
            </p:cNvCxnSpPr>
            <p:nvPr/>
          </p:nvCxnSpPr>
          <p:spPr>
            <a:xfrm flipH="1" rot="10800000">
              <a:off x="1284" y="864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8" name="Google Shape;368;p9"/>
            <p:cNvCxnSpPr>
              <a:stCxn id="351" idx="2"/>
              <a:endCxn id="354" idx="6"/>
            </p:cNvCxnSpPr>
            <p:nvPr/>
          </p:nvCxnSpPr>
          <p:spPr>
            <a:xfrm rot="10800000">
              <a:off x="1980" y="948"/>
              <a:ext cx="9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9" name="Google Shape;369;p9"/>
            <p:cNvCxnSpPr>
              <a:stCxn id="347" idx="7"/>
              <a:endCxn id="351" idx="3"/>
            </p:cNvCxnSpPr>
            <p:nvPr/>
          </p:nvCxnSpPr>
          <p:spPr>
            <a:xfrm flipH="1" rot="10800000">
              <a:off x="2138" y="1546"/>
              <a:ext cx="9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0" name="Google Shape;370;p9"/>
            <p:cNvCxnSpPr>
              <a:stCxn id="347" idx="6"/>
              <a:endCxn id="352" idx="2"/>
            </p:cNvCxnSpPr>
            <p:nvPr/>
          </p:nvCxnSpPr>
          <p:spPr>
            <a:xfrm flipH="1" rot="10800000">
              <a:off x="2208" y="1716"/>
              <a:ext cx="1200" cy="3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1" name="Google Shape;371;p9"/>
            <p:cNvCxnSpPr>
              <a:stCxn id="355" idx="1"/>
              <a:endCxn id="351" idx="6"/>
            </p:cNvCxnSpPr>
            <p:nvPr/>
          </p:nvCxnSpPr>
          <p:spPr>
            <a:xfrm flipH="1" rot="5400000">
              <a:off x="3730" y="1042"/>
              <a:ext cx="600" cy="1200"/>
            </a:xfrm>
            <a:prstGeom prst="curvedConnector2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2" name="Google Shape;372;p9"/>
            <p:cNvCxnSpPr>
              <a:stCxn id="345" idx="6"/>
              <a:endCxn id="352" idx="3"/>
            </p:cNvCxnSpPr>
            <p:nvPr/>
          </p:nvCxnSpPr>
          <p:spPr>
            <a:xfrm flipH="1" rot="10800000">
              <a:off x="816" y="1848"/>
              <a:ext cx="2700" cy="600"/>
            </a:xfrm>
            <a:prstGeom prst="curvedConnector2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73" name="Google Shape;373;p9"/>
          <p:cNvSpPr txBox="1"/>
          <p:nvPr/>
        </p:nvSpPr>
        <p:spPr>
          <a:xfrm>
            <a:off x="4495800" y="4133678"/>
            <a:ext cx="2068512" cy="1200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construct both on demand – and we construct as little as possible.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"/>
          <p:cNvSpPr txBox="1"/>
          <p:nvPr/>
        </p:nvSpPr>
        <p:spPr>
          <a:xfrm>
            <a:off x="4572000" y="1905002"/>
            <a:ext cx="1981200" cy="147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NODE in in the search tree is an entire PATH in the state space graph.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9"/>
          <p:cNvSpPr txBox="1"/>
          <p:nvPr/>
        </p:nvSpPr>
        <p:spPr>
          <a:xfrm>
            <a:off x="6870700" y="2086107"/>
            <a:ext cx="4876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9"/>
          <p:cNvSpPr txBox="1"/>
          <p:nvPr/>
        </p:nvSpPr>
        <p:spPr>
          <a:xfrm>
            <a:off x="609600" y="1981202"/>
            <a:ext cx="3429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Space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9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State Space Graphs vs. Search Trees</a:t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1600200" y="3518723"/>
            <a:ext cx="437584" cy="443679"/>
          </a:xfrm>
          <a:prstGeom prst="flowChartConnector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3657600" y="3518723"/>
            <a:ext cx="437584" cy="443679"/>
          </a:xfrm>
          <a:prstGeom prst="flowChartConnector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2590800" y="4356923"/>
            <a:ext cx="437584" cy="443679"/>
          </a:xfrm>
          <a:prstGeom prst="flowChartConnector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2590800" y="2680523"/>
            <a:ext cx="437584" cy="443679"/>
          </a:xfrm>
          <a:prstGeom prst="flowChartConnector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10"/>
          <p:cNvCxnSpPr>
            <a:stCxn id="383" idx="5"/>
            <a:endCxn id="385" idx="2"/>
          </p:cNvCxnSpPr>
          <p:nvPr/>
        </p:nvCxnSpPr>
        <p:spPr>
          <a:xfrm>
            <a:off x="1973701" y="3897427"/>
            <a:ext cx="617100" cy="68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88" name="Google Shape;388;p10"/>
          <p:cNvCxnSpPr>
            <a:stCxn id="386" idx="3"/>
            <a:endCxn id="385" idx="1"/>
          </p:cNvCxnSpPr>
          <p:nvPr/>
        </p:nvCxnSpPr>
        <p:spPr>
          <a:xfrm>
            <a:off x="2654883" y="3059227"/>
            <a:ext cx="0" cy="136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89" name="Google Shape;389;p10"/>
          <p:cNvCxnSpPr>
            <a:stCxn id="385" idx="7"/>
            <a:endCxn id="386" idx="5"/>
          </p:cNvCxnSpPr>
          <p:nvPr/>
        </p:nvCxnSpPr>
        <p:spPr>
          <a:xfrm rot="10800000">
            <a:off x="2964301" y="3059298"/>
            <a:ext cx="0" cy="136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90" name="Google Shape;390;p10"/>
          <p:cNvCxnSpPr>
            <a:stCxn id="386" idx="6"/>
            <a:endCxn id="384" idx="1"/>
          </p:cNvCxnSpPr>
          <p:nvPr/>
        </p:nvCxnSpPr>
        <p:spPr>
          <a:xfrm>
            <a:off x="3028384" y="2902363"/>
            <a:ext cx="693300" cy="68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91" name="Google Shape;391;p10"/>
          <p:cNvCxnSpPr>
            <a:stCxn id="385" idx="6"/>
            <a:endCxn id="384" idx="3"/>
          </p:cNvCxnSpPr>
          <p:nvPr/>
        </p:nvCxnSpPr>
        <p:spPr>
          <a:xfrm flipH="1" rot="10800000">
            <a:off x="3028384" y="3897463"/>
            <a:ext cx="693300" cy="68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92" name="Google Shape;392;p10"/>
          <p:cNvCxnSpPr>
            <a:stCxn id="383" idx="7"/>
            <a:endCxn id="386" idx="2"/>
          </p:cNvCxnSpPr>
          <p:nvPr/>
        </p:nvCxnSpPr>
        <p:spPr>
          <a:xfrm flipH="1" rot="10800000">
            <a:off x="1973701" y="2902398"/>
            <a:ext cx="617100" cy="68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393" name="Google Shape;393;p10"/>
          <p:cNvSpPr txBox="1"/>
          <p:nvPr/>
        </p:nvSpPr>
        <p:spPr>
          <a:xfrm>
            <a:off x="1219200" y="1671939"/>
            <a:ext cx="3886200" cy="46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this 4-state graph: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0"/>
          <p:cNvSpPr txBox="1"/>
          <p:nvPr/>
        </p:nvSpPr>
        <p:spPr>
          <a:xfrm>
            <a:off x="0" y="6029982"/>
            <a:ext cx="1219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Important: Lots of repeated structure in the search tree!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6477000" y="1676400"/>
            <a:ext cx="5105400" cy="46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big is its search tree (from S)?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P_tmp.png" id="396" name="Google Shape;3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600" y="3124200"/>
            <a:ext cx="1879854" cy="93429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0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Search</a:t>
            </a:r>
            <a:endParaRPr/>
          </a:p>
        </p:txBody>
      </p:sp>
      <p:pic>
        <p:nvPicPr>
          <p:cNvPr id="403" name="Google Shape;4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4029" y="1450961"/>
            <a:ext cx="4017746" cy="426087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1"/>
          <p:cNvSpPr/>
          <p:nvPr/>
        </p:nvSpPr>
        <p:spPr>
          <a:xfrm>
            <a:off x="3669325" y="3614614"/>
            <a:ext cx="5030176" cy="2170723"/>
          </a:xfrm>
          <a:custGeom>
            <a:rect b="b" l="l" r="r" t="t"/>
            <a:pathLst>
              <a:path extrusionOk="0" h="2170723" w="5030176">
                <a:moveTo>
                  <a:pt x="542192" y="895839"/>
                </a:moveTo>
                <a:cubicBezTo>
                  <a:pt x="235927" y="995485"/>
                  <a:pt x="29308" y="1295889"/>
                  <a:pt x="14654" y="1493716"/>
                </a:cubicBezTo>
                <a:cubicBezTo>
                  <a:pt x="0" y="1691543"/>
                  <a:pt x="117231" y="1994877"/>
                  <a:pt x="454269" y="2082800"/>
                </a:cubicBezTo>
                <a:cubicBezTo>
                  <a:pt x="791307" y="2170723"/>
                  <a:pt x="1720851" y="2119923"/>
                  <a:pt x="2036885" y="2021254"/>
                </a:cubicBezTo>
                <a:cubicBezTo>
                  <a:pt x="2352919" y="1922585"/>
                  <a:pt x="2196610" y="1591897"/>
                  <a:pt x="2350475" y="1490786"/>
                </a:cubicBezTo>
                <a:cubicBezTo>
                  <a:pt x="2504340" y="1389675"/>
                  <a:pt x="2814513" y="1337898"/>
                  <a:pt x="2960075" y="1414586"/>
                </a:cubicBezTo>
                <a:cubicBezTo>
                  <a:pt x="3105637" y="1491274"/>
                  <a:pt x="2931746" y="1874716"/>
                  <a:pt x="3223846" y="1950916"/>
                </a:cubicBezTo>
                <a:cubicBezTo>
                  <a:pt x="3515946" y="2027116"/>
                  <a:pt x="4464538" y="2037374"/>
                  <a:pt x="4712676" y="1871786"/>
                </a:cubicBezTo>
                <a:cubicBezTo>
                  <a:pt x="4960814" y="1706198"/>
                  <a:pt x="5030176" y="1122486"/>
                  <a:pt x="4712676" y="957386"/>
                </a:cubicBezTo>
                <a:cubicBezTo>
                  <a:pt x="4395176" y="792286"/>
                  <a:pt x="3150577" y="1020886"/>
                  <a:pt x="2807677" y="881186"/>
                </a:cubicBezTo>
                <a:cubicBezTo>
                  <a:pt x="2464777" y="741486"/>
                  <a:pt x="2815981" y="238370"/>
                  <a:pt x="2655277" y="119185"/>
                </a:cubicBezTo>
                <a:cubicBezTo>
                  <a:pt x="2494573" y="0"/>
                  <a:pt x="1977292" y="36635"/>
                  <a:pt x="1843454" y="166077"/>
                </a:cubicBezTo>
                <a:cubicBezTo>
                  <a:pt x="1709616" y="295519"/>
                  <a:pt x="2064727" y="775677"/>
                  <a:pt x="1852246" y="895839"/>
                </a:cubicBezTo>
                <a:cubicBezTo>
                  <a:pt x="1639765" y="1016001"/>
                  <a:pt x="848457" y="796193"/>
                  <a:pt x="542192" y="895839"/>
                </a:cubicBezTo>
                <a:close/>
              </a:path>
            </a:pathLst>
          </a:cu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Example: Romania</a:t>
            </a:r>
            <a:endParaRPr/>
          </a:p>
        </p:txBody>
      </p:sp>
      <p:pic>
        <p:nvPicPr>
          <p:cNvPr id="411" name="Google Shape;4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600200"/>
            <a:ext cx="7315200" cy="437950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2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Searching with a Search Tree</a:t>
            </a:r>
            <a:endParaRPr/>
          </a:p>
        </p:txBody>
      </p:sp>
      <p:sp>
        <p:nvSpPr>
          <p:cNvPr id="418" name="Google Shape;418;p13"/>
          <p:cNvSpPr txBox="1"/>
          <p:nvPr>
            <p:ph idx="1" type="body"/>
          </p:nvPr>
        </p:nvSpPr>
        <p:spPr>
          <a:xfrm>
            <a:off x="1828800" y="4267200"/>
            <a:ext cx="90678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Search:</a:t>
            </a:r>
            <a:endParaRPr/>
          </a:p>
          <a:p>
            <a:pPr indent="-285716" lvl="1" marL="742857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Expand out potential plans (tree nodes)</a:t>
            </a:r>
            <a:endParaRPr/>
          </a:p>
          <a:p>
            <a:pPr indent="-285716" lvl="1" marL="742857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Maintain a </a:t>
            </a:r>
            <a:r>
              <a:rPr lang="en-US">
                <a:solidFill>
                  <a:srgbClr val="CC0000"/>
                </a:solidFill>
              </a:rPr>
              <a:t>fringe </a:t>
            </a:r>
            <a:r>
              <a:rPr lang="en-US"/>
              <a:t>of partial plans under consideration</a:t>
            </a:r>
            <a:endParaRPr/>
          </a:p>
          <a:p>
            <a:pPr indent="-285716" lvl="1" marL="742857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Try to expand as few tree nodes as possible</a:t>
            </a:r>
            <a:endParaRPr/>
          </a:p>
        </p:txBody>
      </p:sp>
      <p:pic>
        <p:nvPicPr>
          <p:cNvPr id="419" name="Google Shape;4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0388" y="1676403"/>
            <a:ext cx="8072437" cy="2071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0388" y="1690690"/>
            <a:ext cx="8072437" cy="2017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8803" y="1690687"/>
            <a:ext cx="8072439" cy="20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3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General Tree Search</a:t>
            </a:r>
            <a:endParaRPr/>
          </a:p>
        </p:txBody>
      </p:sp>
      <p:sp>
        <p:nvSpPr>
          <p:cNvPr id="428" name="Google Shape;428;p14"/>
          <p:cNvSpPr txBox="1"/>
          <p:nvPr>
            <p:ph idx="1" type="body"/>
          </p:nvPr>
        </p:nvSpPr>
        <p:spPr>
          <a:xfrm>
            <a:off x="2438400" y="4114799"/>
            <a:ext cx="7315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Important ideas: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Fringe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Expansion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Exploration strategy</a:t>
            </a:r>
            <a:endParaRPr/>
          </a:p>
          <a:p>
            <a:pPr indent="-126972" lvl="3" marL="16000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Main question: which fringe nodes to explore?</a:t>
            </a:r>
            <a:endParaRPr/>
          </a:p>
        </p:txBody>
      </p:sp>
      <p:pic>
        <p:nvPicPr>
          <p:cNvPr id="429" name="Google Shape;4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0139" y="1371603"/>
            <a:ext cx="7459663" cy="2495551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4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Tree Search</a:t>
            </a:r>
            <a:endParaRPr/>
          </a:p>
        </p:txBody>
      </p:sp>
      <p:cxnSp>
        <p:nvCxnSpPr>
          <p:cNvPr id="437" name="Google Shape;437;p15"/>
          <p:cNvCxnSpPr/>
          <p:nvPr/>
        </p:nvCxnSpPr>
        <p:spPr>
          <a:xfrm>
            <a:off x="3" y="3371851"/>
            <a:ext cx="121919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8" name="Google Shape;438;p15"/>
          <p:cNvGrpSpPr/>
          <p:nvPr/>
        </p:nvGrpSpPr>
        <p:grpSpPr>
          <a:xfrm>
            <a:off x="4491037" y="1355725"/>
            <a:ext cx="3205163" cy="1768475"/>
            <a:chOff x="816" y="1056"/>
            <a:chExt cx="4176" cy="2304"/>
          </a:xfrm>
        </p:grpSpPr>
        <p:grpSp>
          <p:nvGrpSpPr>
            <p:cNvPr id="439" name="Google Shape;439;p15"/>
            <p:cNvGrpSpPr/>
            <p:nvPr/>
          </p:nvGrpSpPr>
          <p:grpSpPr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440" name="Google Shape;440;p15"/>
              <p:cNvSpPr/>
              <p:nvPr/>
            </p:nvSpPr>
            <p:spPr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15"/>
              <p:cNvSpPr/>
              <p:nvPr/>
            </p:nvSpPr>
            <p:spPr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15"/>
              <p:cNvSpPr/>
              <p:nvPr/>
            </p:nvSpPr>
            <p:spPr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5"/>
              <p:cNvSpPr/>
              <p:nvPr/>
            </p:nvSpPr>
            <p:spPr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5"/>
              <p:cNvSpPr/>
              <p:nvPr/>
            </p:nvSpPr>
            <p:spPr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5"/>
              <p:cNvSpPr/>
              <p:nvPr/>
            </p:nvSpPr>
            <p:spPr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5"/>
              <p:cNvSpPr/>
              <p:nvPr/>
            </p:nvSpPr>
            <p:spPr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5"/>
              <p:cNvSpPr/>
              <p:nvPr/>
            </p:nvSpPr>
            <p:spPr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5"/>
              <p:cNvSpPr/>
              <p:nvPr/>
            </p:nvSpPr>
            <p:spPr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5"/>
              <p:cNvSpPr/>
              <p:nvPr/>
            </p:nvSpPr>
            <p:spPr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52" name="Google Shape;452;p15"/>
              <p:cNvCxnSpPr>
                <a:stCxn id="440" idx="5"/>
                <a:endCxn id="444" idx="2"/>
              </p:cNvCxnSpPr>
              <p:nvPr/>
            </p:nvCxnSpPr>
            <p:spPr>
              <a:xfrm>
                <a:off x="746" y="2618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3" name="Google Shape;453;p15"/>
              <p:cNvCxnSpPr>
                <a:stCxn id="444" idx="5"/>
                <a:endCxn id="445" idx="2"/>
              </p:cNvCxnSpPr>
              <p:nvPr/>
            </p:nvCxnSpPr>
            <p:spPr>
              <a:xfrm>
                <a:off x="1610" y="3146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4" name="Google Shape;454;p15"/>
              <p:cNvCxnSpPr>
                <a:stCxn id="448" idx="3"/>
                <a:endCxn id="445" idx="7"/>
              </p:cNvCxnSpPr>
              <p:nvPr/>
            </p:nvCxnSpPr>
            <p:spPr>
              <a:xfrm flipH="1">
                <a:off x="2638" y="266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5" name="Google Shape;455;p15"/>
              <p:cNvCxnSpPr>
                <a:stCxn id="448" idx="2"/>
                <a:endCxn id="444" idx="6"/>
              </p:cNvCxnSpPr>
              <p:nvPr/>
            </p:nvCxnSpPr>
            <p:spPr>
              <a:xfrm flipH="1">
                <a:off x="1668" y="2496"/>
                <a:ext cx="15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6" name="Google Shape;456;p15"/>
              <p:cNvCxnSpPr>
                <a:stCxn id="447" idx="4"/>
                <a:endCxn id="448" idx="7"/>
              </p:cNvCxnSpPr>
              <p:nvPr/>
            </p:nvCxnSpPr>
            <p:spPr>
              <a:xfrm flipH="1">
                <a:off x="3492" y="20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7" name="Google Shape;457;p15"/>
              <p:cNvCxnSpPr>
                <a:stCxn id="447" idx="5"/>
                <a:endCxn id="451" idx="1"/>
              </p:cNvCxnSpPr>
              <p:nvPr/>
            </p:nvCxnSpPr>
            <p:spPr>
              <a:xfrm>
                <a:off x="3962" y="1994"/>
                <a:ext cx="60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8" name="Google Shape;458;p15"/>
              <p:cNvCxnSpPr>
                <a:stCxn id="451" idx="0"/>
                <a:endCxn id="450" idx="4"/>
              </p:cNvCxnSpPr>
              <p:nvPr/>
            </p:nvCxnSpPr>
            <p:spPr>
              <a:xfrm flipH="1" rot="10800000">
                <a:off x="4608" y="243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9" name="Google Shape;459;p15"/>
              <p:cNvCxnSpPr>
                <a:stCxn id="450" idx="0"/>
                <a:endCxn id="441" idx="4"/>
              </p:cNvCxnSpPr>
              <p:nvPr/>
            </p:nvCxnSpPr>
            <p:spPr>
              <a:xfrm rot="10800000">
                <a:off x="4800" y="972"/>
                <a:ext cx="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0" name="Google Shape;460;p15"/>
              <p:cNvCxnSpPr>
                <a:stCxn id="440" idx="7"/>
              </p:cNvCxnSpPr>
              <p:nvPr/>
            </p:nvCxnSpPr>
            <p:spPr>
              <a:xfrm flipH="1" rot="10800000">
                <a:off x="746" y="197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1" name="Google Shape;461;p15"/>
              <p:cNvCxnSpPr>
                <a:stCxn id="442" idx="1"/>
                <a:endCxn id="443" idx="5"/>
              </p:cNvCxnSpPr>
              <p:nvPr/>
            </p:nvCxnSpPr>
            <p:spPr>
              <a:xfrm rot="10800000">
                <a:off x="1198" y="154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2" name="Google Shape;462;p15"/>
              <p:cNvCxnSpPr>
                <a:endCxn id="449" idx="2"/>
              </p:cNvCxnSpPr>
              <p:nvPr/>
            </p:nvCxnSpPr>
            <p:spPr>
              <a:xfrm flipH="1" rot="10800000">
                <a:off x="1284" y="8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3" name="Google Shape;463;p15"/>
              <p:cNvCxnSpPr>
                <a:stCxn id="446" idx="2"/>
                <a:endCxn id="449" idx="6"/>
              </p:cNvCxnSpPr>
              <p:nvPr/>
            </p:nvCxnSpPr>
            <p:spPr>
              <a:xfrm rot="10800000">
                <a:off x="1980" y="94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4" name="Google Shape;464;p15"/>
              <p:cNvCxnSpPr>
                <a:stCxn id="442" idx="7"/>
                <a:endCxn id="446" idx="3"/>
              </p:cNvCxnSpPr>
              <p:nvPr/>
            </p:nvCxnSpPr>
            <p:spPr>
              <a:xfrm flipH="1" rot="10800000">
                <a:off x="2138" y="1546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5" name="Google Shape;465;p15"/>
              <p:cNvCxnSpPr>
                <a:stCxn id="442" idx="6"/>
                <a:endCxn id="447" idx="2"/>
              </p:cNvCxnSpPr>
              <p:nvPr/>
            </p:nvCxnSpPr>
            <p:spPr>
              <a:xfrm flipH="1" rot="10800000">
                <a:off x="2208" y="1716"/>
                <a:ext cx="12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6" name="Google Shape;466;p15"/>
              <p:cNvCxnSpPr>
                <a:stCxn id="450" idx="1"/>
                <a:endCxn id="446" idx="6"/>
              </p:cNvCxnSpPr>
              <p:nvPr/>
            </p:nvCxnSpPr>
            <p:spPr>
              <a:xfrm flipH="1" rot="5400000">
                <a:off x="3730" y="1042"/>
                <a:ext cx="600" cy="12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7" name="Google Shape;467;p15"/>
              <p:cNvCxnSpPr>
                <a:stCxn id="440" idx="6"/>
                <a:endCxn id="447" idx="3"/>
              </p:cNvCxnSpPr>
              <p:nvPr/>
            </p:nvCxnSpPr>
            <p:spPr>
              <a:xfrm flipH="1" rot="10800000">
                <a:off x="816" y="1848"/>
                <a:ext cx="2700" cy="6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cxnSp>
          <p:nvCxnSpPr>
            <p:cNvPr id="468" name="Google Shape;468;p15"/>
            <p:cNvCxnSpPr>
              <a:stCxn id="445" idx="6"/>
              <a:endCxn id="451" idx="2"/>
            </p:cNvCxnSpPr>
            <p:nvPr/>
          </p:nvCxnSpPr>
          <p:spPr>
            <a:xfrm>
              <a:off x="2966" y="3161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69" name="Google Shape;469;p15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8415" y="320040"/>
            <a:ext cx="7800850" cy="58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Depth-First Search</a:t>
            </a:r>
            <a:endParaRPr/>
          </a:p>
        </p:txBody>
      </p:sp>
      <p:sp>
        <p:nvSpPr>
          <p:cNvPr id="476" name="Google Shape;476;p16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Depth-First Search</a:t>
            </a:r>
            <a:endParaRPr/>
          </a:p>
        </p:txBody>
      </p:sp>
      <p:grpSp>
        <p:nvGrpSpPr>
          <p:cNvPr id="482" name="Google Shape;482;p17"/>
          <p:cNvGrpSpPr/>
          <p:nvPr/>
        </p:nvGrpSpPr>
        <p:grpSpPr>
          <a:xfrm>
            <a:off x="3124200" y="3433765"/>
            <a:ext cx="5486400" cy="3355591"/>
            <a:chOff x="48" y="2332"/>
            <a:chExt cx="3456" cy="2406"/>
          </a:xfrm>
        </p:grpSpPr>
        <p:sp>
          <p:nvSpPr>
            <p:cNvPr id="483" name="Google Shape;483;p17"/>
            <p:cNvSpPr txBox="1"/>
            <p:nvPr/>
          </p:nvSpPr>
          <p:spPr>
            <a:xfrm>
              <a:off x="1728" y="2332"/>
              <a:ext cx="624" cy="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7"/>
            <p:cNvSpPr txBox="1"/>
            <p:nvPr/>
          </p:nvSpPr>
          <p:spPr>
            <a:xfrm>
              <a:off x="48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7"/>
            <p:cNvSpPr txBox="1"/>
            <p:nvPr/>
          </p:nvSpPr>
          <p:spPr>
            <a:xfrm>
              <a:off x="48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7"/>
            <p:cNvSpPr txBox="1"/>
            <p:nvPr/>
          </p:nvSpPr>
          <p:spPr>
            <a:xfrm>
              <a:off x="384" y="2688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7"/>
            <p:cNvSpPr txBox="1"/>
            <p:nvPr/>
          </p:nvSpPr>
          <p:spPr>
            <a:xfrm>
              <a:off x="3264" y="2640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7"/>
            <p:cNvSpPr txBox="1"/>
            <p:nvPr/>
          </p:nvSpPr>
          <p:spPr>
            <a:xfrm>
              <a:off x="480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7"/>
            <p:cNvSpPr txBox="1"/>
            <p:nvPr/>
          </p:nvSpPr>
          <p:spPr>
            <a:xfrm>
              <a:off x="480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" name="Google Shape;490;p17"/>
            <p:cNvCxnSpPr>
              <a:stCxn id="486" idx="2"/>
              <a:endCxn id="485" idx="0"/>
            </p:cNvCxnSpPr>
            <p:nvPr/>
          </p:nvCxnSpPr>
          <p:spPr>
            <a:xfrm rot="10800000">
              <a:off x="204" y="2953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1" name="Google Shape;491;p17"/>
            <p:cNvCxnSpPr>
              <a:stCxn id="486" idx="2"/>
              <a:endCxn id="489" idx="0"/>
            </p:cNvCxnSpPr>
            <p:nvPr/>
          </p:nvCxnSpPr>
          <p:spPr>
            <a:xfrm>
              <a:off x="504" y="2953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2" name="Google Shape;492;p17"/>
            <p:cNvCxnSpPr>
              <a:stCxn id="485" idx="2"/>
              <a:endCxn id="484" idx="0"/>
            </p:cNvCxnSpPr>
            <p:nvPr/>
          </p:nvCxnSpPr>
          <p:spPr>
            <a:xfrm>
              <a:off x="168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3" name="Google Shape;493;p17"/>
            <p:cNvCxnSpPr>
              <a:stCxn id="489" idx="2"/>
              <a:endCxn id="488" idx="0"/>
            </p:cNvCxnSpPr>
            <p:nvPr/>
          </p:nvCxnSpPr>
          <p:spPr>
            <a:xfrm>
              <a:off x="600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94" name="Google Shape;494;p17"/>
            <p:cNvGrpSpPr/>
            <p:nvPr/>
          </p:nvGrpSpPr>
          <p:grpSpPr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495" name="Google Shape;495;p17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17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7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7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17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17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7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17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17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7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05" name="Google Shape;505;p17"/>
              <p:cNvCxnSpPr>
                <a:stCxn id="495" idx="2"/>
                <a:endCxn id="497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17"/>
              <p:cNvCxnSpPr>
                <a:stCxn id="495" idx="2"/>
                <a:endCxn id="499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17"/>
              <p:cNvCxnSpPr>
                <a:stCxn id="497" idx="2"/>
                <a:endCxn id="496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17"/>
              <p:cNvCxnSpPr>
                <a:stCxn id="497" idx="2"/>
                <a:endCxn id="500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17"/>
              <p:cNvCxnSpPr>
                <a:stCxn id="499" idx="2"/>
                <a:endCxn id="498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17"/>
              <p:cNvCxnSpPr>
                <a:stCxn id="496" idx="2"/>
                <a:endCxn id="501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17"/>
              <p:cNvCxnSpPr>
                <a:stCxn id="498" idx="2"/>
                <a:endCxn id="502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17"/>
              <p:cNvCxnSpPr>
                <a:stCxn id="498" idx="2"/>
                <a:endCxn id="503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17"/>
              <p:cNvCxnSpPr>
                <a:stCxn id="502" idx="2"/>
                <a:endCxn id="504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14" name="Google Shape;514;p17"/>
            <p:cNvSpPr txBox="1"/>
            <p:nvPr/>
          </p:nvSpPr>
          <p:spPr>
            <a:xfrm>
              <a:off x="3264" y="2994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5" name="Google Shape;515;p17"/>
            <p:cNvCxnSpPr>
              <a:stCxn id="487" idx="2"/>
              <a:endCxn id="514" idx="0"/>
            </p:cNvCxnSpPr>
            <p:nvPr/>
          </p:nvCxnSpPr>
          <p:spPr>
            <a:xfrm>
              <a:off x="3384" y="290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16" name="Google Shape;516;p17"/>
            <p:cNvGrpSpPr/>
            <p:nvPr/>
          </p:nvGrpSpPr>
          <p:grpSpPr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517" name="Google Shape;517;p17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17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17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17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17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17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17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17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7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17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27" name="Google Shape;527;p17"/>
              <p:cNvCxnSpPr>
                <a:stCxn id="517" idx="2"/>
                <a:endCxn id="519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p17"/>
              <p:cNvCxnSpPr>
                <a:stCxn id="517" idx="2"/>
                <a:endCxn id="521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17"/>
              <p:cNvCxnSpPr>
                <a:stCxn id="519" idx="2"/>
                <a:endCxn id="518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0" name="Google Shape;530;p17"/>
              <p:cNvCxnSpPr>
                <a:stCxn id="519" idx="2"/>
                <a:endCxn id="522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1" name="Google Shape;531;p17"/>
              <p:cNvCxnSpPr>
                <a:stCxn id="521" idx="2"/>
                <a:endCxn id="520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17"/>
              <p:cNvCxnSpPr>
                <a:stCxn id="518" idx="2"/>
                <a:endCxn id="523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17"/>
              <p:cNvCxnSpPr>
                <a:stCxn id="520" idx="2"/>
                <a:endCxn id="524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17"/>
              <p:cNvCxnSpPr>
                <a:stCxn id="520" idx="2"/>
                <a:endCxn id="525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17"/>
              <p:cNvCxnSpPr>
                <a:stCxn id="524" idx="2"/>
                <a:endCxn id="526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536" name="Google Shape;536;p17"/>
            <p:cNvCxnSpPr>
              <a:stCxn id="486" idx="2"/>
              <a:endCxn id="517" idx="0"/>
            </p:cNvCxnSpPr>
            <p:nvPr/>
          </p:nvCxnSpPr>
          <p:spPr>
            <a:xfrm>
              <a:off x="504" y="2953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17"/>
            <p:cNvCxnSpPr>
              <a:stCxn id="483" idx="2"/>
              <a:endCxn id="486" idx="0"/>
            </p:cNvCxnSpPr>
            <p:nvPr/>
          </p:nvCxnSpPr>
          <p:spPr>
            <a:xfrm rot="10800000">
              <a:off x="540" y="2575"/>
              <a:ext cx="1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8" name="Google Shape;538;p17"/>
            <p:cNvCxnSpPr>
              <a:stCxn id="483" idx="2"/>
              <a:endCxn id="495" idx="0"/>
            </p:cNvCxnSpPr>
            <p:nvPr/>
          </p:nvCxnSpPr>
          <p:spPr>
            <a:xfrm>
              <a:off x="2040" y="2575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9" name="Google Shape;539;p17"/>
            <p:cNvCxnSpPr>
              <a:stCxn id="483" idx="2"/>
              <a:endCxn id="487" idx="0"/>
            </p:cNvCxnSpPr>
            <p:nvPr/>
          </p:nvCxnSpPr>
          <p:spPr>
            <a:xfrm>
              <a:off x="2040" y="2575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40" name="Google Shape;540;p17"/>
          <p:cNvCxnSpPr/>
          <p:nvPr/>
        </p:nvCxnSpPr>
        <p:spPr>
          <a:xfrm flipH="1">
            <a:off x="3835400" y="3738563"/>
            <a:ext cx="2489200" cy="17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17"/>
          <p:cNvCxnSpPr/>
          <p:nvPr/>
        </p:nvCxnSpPr>
        <p:spPr>
          <a:xfrm flipH="1">
            <a:off x="3305176" y="4241801"/>
            <a:ext cx="557213" cy="160339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17"/>
          <p:cNvCxnSpPr/>
          <p:nvPr/>
        </p:nvCxnSpPr>
        <p:spPr>
          <a:xfrm>
            <a:off x="3835401" y="4232277"/>
            <a:ext cx="160339" cy="160339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3" name="Google Shape;543;p17"/>
          <p:cNvCxnSpPr/>
          <p:nvPr/>
        </p:nvCxnSpPr>
        <p:spPr>
          <a:xfrm flipH="1">
            <a:off x="3309943" y="4725988"/>
            <a:ext cx="3175" cy="2286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4" name="Google Shape;544;p17"/>
          <p:cNvCxnSpPr/>
          <p:nvPr/>
        </p:nvCxnSpPr>
        <p:spPr>
          <a:xfrm flipH="1">
            <a:off x="4000506" y="4743451"/>
            <a:ext cx="3175" cy="2286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" name="Google Shape;545;p17"/>
          <p:cNvCxnSpPr/>
          <p:nvPr/>
        </p:nvCxnSpPr>
        <p:spPr>
          <a:xfrm>
            <a:off x="3832225" y="4256089"/>
            <a:ext cx="995363" cy="142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6" name="Google Shape;546;p17"/>
          <p:cNvCxnSpPr/>
          <p:nvPr/>
        </p:nvCxnSpPr>
        <p:spPr>
          <a:xfrm flipH="1">
            <a:off x="4432306" y="4732339"/>
            <a:ext cx="398463" cy="203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7" name="Google Shape;547;p17"/>
          <p:cNvCxnSpPr/>
          <p:nvPr/>
        </p:nvCxnSpPr>
        <p:spPr>
          <a:xfrm flipH="1">
            <a:off x="4233865" y="5253044"/>
            <a:ext cx="219075" cy="211137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p17"/>
          <p:cNvCxnSpPr/>
          <p:nvPr/>
        </p:nvCxnSpPr>
        <p:spPr>
          <a:xfrm>
            <a:off x="4238630" y="5797551"/>
            <a:ext cx="3175" cy="17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49" name="Google Shape;549;p17"/>
          <p:cNvGrpSpPr/>
          <p:nvPr/>
        </p:nvGrpSpPr>
        <p:grpSpPr>
          <a:xfrm>
            <a:off x="4491037" y="1371604"/>
            <a:ext cx="3205163" cy="1768475"/>
            <a:chOff x="816" y="1056"/>
            <a:chExt cx="4176" cy="2304"/>
          </a:xfrm>
        </p:grpSpPr>
        <p:grpSp>
          <p:nvGrpSpPr>
            <p:cNvPr id="550" name="Google Shape;550;p17"/>
            <p:cNvGrpSpPr/>
            <p:nvPr/>
          </p:nvGrpSpPr>
          <p:grpSpPr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551" name="Google Shape;551;p17"/>
              <p:cNvSpPr/>
              <p:nvPr/>
            </p:nvSpPr>
            <p:spPr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17"/>
              <p:cNvSpPr/>
              <p:nvPr/>
            </p:nvSpPr>
            <p:spPr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17"/>
              <p:cNvSpPr/>
              <p:nvPr/>
            </p:nvSpPr>
            <p:spPr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17"/>
              <p:cNvSpPr/>
              <p:nvPr/>
            </p:nvSpPr>
            <p:spPr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17"/>
              <p:cNvSpPr/>
              <p:nvPr/>
            </p:nvSpPr>
            <p:spPr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17"/>
              <p:cNvSpPr/>
              <p:nvPr/>
            </p:nvSpPr>
            <p:spPr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7"/>
              <p:cNvSpPr/>
              <p:nvPr/>
            </p:nvSpPr>
            <p:spPr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17"/>
              <p:cNvSpPr/>
              <p:nvPr/>
            </p:nvSpPr>
            <p:spPr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17"/>
              <p:cNvSpPr/>
              <p:nvPr/>
            </p:nvSpPr>
            <p:spPr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17"/>
              <p:cNvSpPr/>
              <p:nvPr/>
            </p:nvSpPr>
            <p:spPr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17"/>
              <p:cNvSpPr/>
              <p:nvPr/>
            </p:nvSpPr>
            <p:spPr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17"/>
              <p:cNvSpPr/>
              <p:nvPr/>
            </p:nvSpPr>
            <p:spPr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63" name="Google Shape;563;p17"/>
              <p:cNvCxnSpPr>
                <a:stCxn id="551" idx="5"/>
                <a:endCxn id="555" idx="2"/>
              </p:cNvCxnSpPr>
              <p:nvPr/>
            </p:nvCxnSpPr>
            <p:spPr>
              <a:xfrm>
                <a:off x="746" y="2618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4" name="Google Shape;564;p17"/>
              <p:cNvCxnSpPr>
                <a:stCxn id="555" idx="5"/>
                <a:endCxn id="556" idx="2"/>
              </p:cNvCxnSpPr>
              <p:nvPr/>
            </p:nvCxnSpPr>
            <p:spPr>
              <a:xfrm>
                <a:off x="1610" y="3146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5" name="Google Shape;565;p17"/>
              <p:cNvCxnSpPr>
                <a:stCxn id="559" idx="3"/>
                <a:endCxn id="556" idx="7"/>
              </p:cNvCxnSpPr>
              <p:nvPr/>
            </p:nvCxnSpPr>
            <p:spPr>
              <a:xfrm flipH="1">
                <a:off x="2638" y="266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6" name="Google Shape;566;p17"/>
              <p:cNvCxnSpPr>
                <a:stCxn id="559" idx="2"/>
                <a:endCxn id="555" idx="6"/>
              </p:cNvCxnSpPr>
              <p:nvPr/>
            </p:nvCxnSpPr>
            <p:spPr>
              <a:xfrm flipH="1">
                <a:off x="1668" y="2496"/>
                <a:ext cx="15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7" name="Google Shape;567;p17"/>
              <p:cNvCxnSpPr>
                <a:stCxn id="558" idx="4"/>
                <a:endCxn id="559" idx="7"/>
              </p:cNvCxnSpPr>
              <p:nvPr/>
            </p:nvCxnSpPr>
            <p:spPr>
              <a:xfrm flipH="1">
                <a:off x="3492" y="20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8" name="Google Shape;568;p17"/>
              <p:cNvCxnSpPr>
                <a:stCxn id="558" idx="5"/>
                <a:endCxn id="562" idx="1"/>
              </p:cNvCxnSpPr>
              <p:nvPr/>
            </p:nvCxnSpPr>
            <p:spPr>
              <a:xfrm>
                <a:off x="3962" y="1994"/>
                <a:ext cx="60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9" name="Google Shape;569;p17"/>
              <p:cNvCxnSpPr>
                <a:stCxn id="562" idx="0"/>
                <a:endCxn id="561" idx="4"/>
              </p:cNvCxnSpPr>
              <p:nvPr/>
            </p:nvCxnSpPr>
            <p:spPr>
              <a:xfrm flipH="1" rot="10800000">
                <a:off x="4608" y="243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0" name="Google Shape;570;p17"/>
              <p:cNvCxnSpPr>
                <a:stCxn id="561" idx="0"/>
                <a:endCxn id="552" idx="4"/>
              </p:cNvCxnSpPr>
              <p:nvPr/>
            </p:nvCxnSpPr>
            <p:spPr>
              <a:xfrm rot="10800000">
                <a:off x="4800" y="972"/>
                <a:ext cx="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1" name="Google Shape;571;p17"/>
              <p:cNvCxnSpPr>
                <a:stCxn id="551" idx="7"/>
              </p:cNvCxnSpPr>
              <p:nvPr/>
            </p:nvCxnSpPr>
            <p:spPr>
              <a:xfrm flipH="1" rot="10800000">
                <a:off x="746" y="197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2" name="Google Shape;572;p17"/>
              <p:cNvCxnSpPr>
                <a:stCxn id="553" idx="1"/>
                <a:endCxn id="554" idx="5"/>
              </p:cNvCxnSpPr>
              <p:nvPr/>
            </p:nvCxnSpPr>
            <p:spPr>
              <a:xfrm rot="10800000">
                <a:off x="1198" y="154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3" name="Google Shape;573;p17"/>
              <p:cNvCxnSpPr>
                <a:endCxn id="560" idx="2"/>
              </p:cNvCxnSpPr>
              <p:nvPr/>
            </p:nvCxnSpPr>
            <p:spPr>
              <a:xfrm flipH="1" rot="10800000">
                <a:off x="1284" y="8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4" name="Google Shape;574;p17"/>
              <p:cNvCxnSpPr>
                <a:stCxn id="557" idx="2"/>
                <a:endCxn id="560" idx="6"/>
              </p:cNvCxnSpPr>
              <p:nvPr/>
            </p:nvCxnSpPr>
            <p:spPr>
              <a:xfrm rot="10800000">
                <a:off x="1980" y="94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5" name="Google Shape;575;p17"/>
              <p:cNvCxnSpPr>
                <a:stCxn id="553" idx="7"/>
                <a:endCxn id="557" idx="3"/>
              </p:cNvCxnSpPr>
              <p:nvPr/>
            </p:nvCxnSpPr>
            <p:spPr>
              <a:xfrm flipH="1" rot="10800000">
                <a:off x="2138" y="1546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6" name="Google Shape;576;p17"/>
              <p:cNvCxnSpPr>
                <a:stCxn id="553" idx="6"/>
                <a:endCxn id="558" idx="2"/>
              </p:cNvCxnSpPr>
              <p:nvPr/>
            </p:nvCxnSpPr>
            <p:spPr>
              <a:xfrm flipH="1" rot="10800000">
                <a:off x="2208" y="1716"/>
                <a:ext cx="12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7" name="Google Shape;577;p17"/>
              <p:cNvCxnSpPr>
                <a:stCxn id="561" idx="1"/>
                <a:endCxn id="557" idx="6"/>
              </p:cNvCxnSpPr>
              <p:nvPr/>
            </p:nvCxnSpPr>
            <p:spPr>
              <a:xfrm flipH="1" rot="5400000">
                <a:off x="3730" y="1042"/>
                <a:ext cx="600" cy="12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8" name="Google Shape;578;p17"/>
              <p:cNvCxnSpPr>
                <a:stCxn id="551" idx="6"/>
                <a:endCxn id="558" idx="3"/>
              </p:cNvCxnSpPr>
              <p:nvPr/>
            </p:nvCxnSpPr>
            <p:spPr>
              <a:xfrm flipH="1" rot="10800000">
                <a:off x="816" y="1848"/>
                <a:ext cx="2700" cy="6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cxnSp>
          <p:nvCxnSpPr>
            <p:cNvPr id="579" name="Google Shape;579;p17"/>
            <p:cNvCxnSpPr>
              <a:stCxn id="556" idx="6"/>
              <a:endCxn id="562" idx="2"/>
            </p:cNvCxnSpPr>
            <p:nvPr/>
          </p:nvCxnSpPr>
          <p:spPr>
            <a:xfrm>
              <a:off x="2966" y="3161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80" name="Google Shape;580;p17"/>
          <p:cNvSpPr/>
          <p:nvPr/>
        </p:nvSpPr>
        <p:spPr>
          <a:xfrm>
            <a:off x="4491038" y="2408237"/>
            <a:ext cx="317500" cy="304800"/>
          </a:xfrm>
          <a:prstGeom prst="flowChartConnector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1" name="Google Shape;581;p17"/>
          <p:cNvGrpSpPr/>
          <p:nvPr/>
        </p:nvGrpSpPr>
        <p:grpSpPr>
          <a:xfrm>
            <a:off x="5333594" y="2835275"/>
            <a:ext cx="806858" cy="304800"/>
            <a:chOff x="1914" y="2963"/>
            <a:chExt cx="1052" cy="397"/>
          </a:xfrm>
        </p:grpSpPr>
        <p:sp>
          <p:nvSpPr>
            <p:cNvPr id="582" name="Google Shape;582;p17"/>
            <p:cNvSpPr/>
            <p:nvPr/>
          </p:nvSpPr>
          <p:spPr>
            <a:xfrm>
              <a:off x="2553" y="2963"/>
              <a:ext cx="413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3" name="Google Shape;583;p17"/>
            <p:cNvCxnSpPr>
              <a:stCxn id="584" idx="5"/>
              <a:endCxn id="582" idx="2"/>
            </p:cNvCxnSpPr>
            <p:nvPr/>
          </p:nvCxnSpPr>
          <p:spPr>
            <a:xfrm>
              <a:off x="1914" y="3182"/>
              <a:ext cx="600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585" name="Google Shape;585;p17"/>
          <p:cNvGrpSpPr/>
          <p:nvPr/>
        </p:nvGrpSpPr>
        <p:grpSpPr>
          <a:xfrm>
            <a:off x="5062538" y="2591655"/>
            <a:ext cx="1300165" cy="456350"/>
            <a:chOff x="1560" y="2646"/>
            <a:chExt cx="1695" cy="595"/>
          </a:xfrm>
        </p:grpSpPr>
        <p:sp>
          <p:nvSpPr>
            <p:cNvPr id="584" name="Google Shape;584;p17"/>
            <p:cNvSpPr/>
            <p:nvPr/>
          </p:nvSpPr>
          <p:spPr>
            <a:xfrm>
              <a:off x="1560" y="2844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6" name="Google Shape;586;p17"/>
            <p:cNvCxnSpPr>
              <a:stCxn id="587" idx="2"/>
              <a:endCxn id="584" idx="6"/>
            </p:cNvCxnSpPr>
            <p:nvPr/>
          </p:nvCxnSpPr>
          <p:spPr>
            <a:xfrm flipH="1">
              <a:off x="2055" y="2646"/>
              <a:ext cx="12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588" name="Google Shape;588;p17"/>
          <p:cNvGrpSpPr/>
          <p:nvPr/>
        </p:nvGrpSpPr>
        <p:grpSpPr>
          <a:xfrm>
            <a:off x="6362702" y="2316163"/>
            <a:ext cx="412736" cy="428628"/>
            <a:chOff x="3255" y="2287"/>
            <a:chExt cx="538" cy="557"/>
          </a:xfrm>
        </p:grpSpPr>
        <p:sp>
          <p:nvSpPr>
            <p:cNvPr id="587" name="Google Shape;587;p17"/>
            <p:cNvSpPr/>
            <p:nvPr/>
          </p:nvSpPr>
          <p:spPr>
            <a:xfrm>
              <a:off x="3255" y="2446"/>
              <a:ext cx="414" cy="398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9" name="Google Shape;589;p17"/>
            <p:cNvCxnSpPr>
              <a:stCxn id="590" idx="4"/>
              <a:endCxn id="587" idx="7"/>
            </p:cNvCxnSpPr>
            <p:nvPr/>
          </p:nvCxnSpPr>
          <p:spPr>
            <a:xfrm flipH="1">
              <a:off x="3493" y="2287"/>
              <a:ext cx="3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591" name="Google Shape;591;p17"/>
          <p:cNvGrpSpPr/>
          <p:nvPr/>
        </p:nvGrpSpPr>
        <p:grpSpPr>
          <a:xfrm>
            <a:off x="7283450" y="2195514"/>
            <a:ext cx="317500" cy="549277"/>
            <a:chOff x="4454" y="2129"/>
            <a:chExt cx="414" cy="715"/>
          </a:xfrm>
        </p:grpSpPr>
        <p:sp>
          <p:nvSpPr>
            <p:cNvPr id="592" name="Google Shape;592;p17"/>
            <p:cNvSpPr/>
            <p:nvPr/>
          </p:nvSpPr>
          <p:spPr>
            <a:xfrm>
              <a:off x="4454" y="2129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3" name="Google Shape;593;p17"/>
            <p:cNvCxnSpPr>
              <a:stCxn id="594" idx="0"/>
              <a:endCxn id="592" idx="4"/>
            </p:cNvCxnSpPr>
            <p:nvPr/>
          </p:nvCxnSpPr>
          <p:spPr>
            <a:xfrm flipH="1" rot="10800000">
              <a:off x="4495" y="2544"/>
              <a:ext cx="3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595" name="Google Shape;595;p17"/>
          <p:cNvGrpSpPr/>
          <p:nvPr/>
        </p:nvGrpSpPr>
        <p:grpSpPr>
          <a:xfrm>
            <a:off x="7378702" y="1371602"/>
            <a:ext cx="317500" cy="823912"/>
            <a:chOff x="4579" y="1056"/>
            <a:chExt cx="413" cy="1055"/>
          </a:xfrm>
        </p:grpSpPr>
        <p:sp>
          <p:nvSpPr>
            <p:cNvPr id="596" name="Google Shape;596;p17"/>
            <p:cNvSpPr/>
            <p:nvPr/>
          </p:nvSpPr>
          <p:spPr>
            <a:xfrm>
              <a:off x="4579" y="1056"/>
              <a:ext cx="413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7" name="Google Shape;597;p17"/>
            <p:cNvCxnSpPr>
              <a:stCxn id="592" idx="0"/>
              <a:endCxn id="596" idx="4"/>
            </p:cNvCxnSpPr>
            <p:nvPr/>
          </p:nvCxnSpPr>
          <p:spPr>
            <a:xfrm rot="10800000">
              <a:off x="4662" y="1511"/>
              <a:ext cx="0" cy="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598" name="Google Shape;598;p17"/>
          <p:cNvGrpSpPr/>
          <p:nvPr/>
        </p:nvGrpSpPr>
        <p:grpSpPr>
          <a:xfrm>
            <a:off x="4800862" y="2133603"/>
            <a:ext cx="928424" cy="318758"/>
            <a:chOff x="1219" y="2049"/>
            <a:chExt cx="1210" cy="416"/>
          </a:xfrm>
        </p:grpSpPr>
        <p:sp>
          <p:nvSpPr>
            <p:cNvPr id="599" name="Google Shape;599;p17"/>
            <p:cNvSpPr/>
            <p:nvPr/>
          </p:nvSpPr>
          <p:spPr>
            <a:xfrm>
              <a:off x="2015" y="2049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0" name="Google Shape;600;p17"/>
            <p:cNvCxnSpPr/>
            <p:nvPr/>
          </p:nvCxnSpPr>
          <p:spPr>
            <a:xfrm flipH="1" rot="10800000">
              <a:off x="1219" y="2248"/>
              <a:ext cx="846" cy="217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01" name="Google Shape;601;p17"/>
          <p:cNvGrpSpPr/>
          <p:nvPr/>
        </p:nvGrpSpPr>
        <p:grpSpPr>
          <a:xfrm>
            <a:off x="4745037" y="1676401"/>
            <a:ext cx="712768" cy="502129"/>
            <a:chOff x="1147" y="1453"/>
            <a:chExt cx="929" cy="655"/>
          </a:xfrm>
        </p:grpSpPr>
        <p:sp>
          <p:nvSpPr>
            <p:cNvPr id="602" name="Google Shape;602;p17"/>
            <p:cNvSpPr/>
            <p:nvPr/>
          </p:nvSpPr>
          <p:spPr>
            <a:xfrm>
              <a:off x="1147" y="1453"/>
              <a:ext cx="413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3" name="Google Shape;603;p17"/>
            <p:cNvCxnSpPr>
              <a:stCxn id="553" idx="1"/>
              <a:endCxn id="602" idx="5"/>
            </p:cNvCxnSpPr>
            <p:nvPr/>
          </p:nvCxnSpPr>
          <p:spPr>
            <a:xfrm rot="10800000">
              <a:off x="1476" y="1808"/>
              <a:ext cx="6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04" name="Google Shape;604;p17"/>
          <p:cNvGrpSpPr/>
          <p:nvPr/>
        </p:nvGrpSpPr>
        <p:grpSpPr>
          <a:xfrm>
            <a:off x="5085678" y="1401763"/>
            <a:ext cx="546772" cy="382753"/>
            <a:chOff x="1591" y="1096"/>
            <a:chExt cx="713" cy="498"/>
          </a:xfrm>
        </p:grpSpPr>
        <p:sp>
          <p:nvSpPr>
            <p:cNvPr id="605" name="Google Shape;605;p17"/>
            <p:cNvSpPr/>
            <p:nvPr/>
          </p:nvSpPr>
          <p:spPr>
            <a:xfrm>
              <a:off x="1891" y="1096"/>
              <a:ext cx="413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6" name="Google Shape;606;p17"/>
            <p:cNvCxnSpPr>
              <a:endCxn id="605" idx="2"/>
            </p:cNvCxnSpPr>
            <p:nvPr/>
          </p:nvCxnSpPr>
          <p:spPr>
            <a:xfrm flipH="1" rot="10800000">
              <a:off x="1591" y="1295"/>
              <a:ext cx="3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07" name="Google Shape;607;p17"/>
          <p:cNvGrpSpPr/>
          <p:nvPr/>
        </p:nvGrpSpPr>
        <p:grpSpPr>
          <a:xfrm>
            <a:off x="5682765" y="1646237"/>
            <a:ext cx="806936" cy="531914"/>
            <a:chOff x="2369" y="1414"/>
            <a:chExt cx="1052" cy="694"/>
          </a:xfrm>
        </p:grpSpPr>
        <p:sp>
          <p:nvSpPr>
            <p:cNvPr id="608" name="Google Shape;608;p17"/>
            <p:cNvSpPr/>
            <p:nvPr/>
          </p:nvSpPr>
          <p:spPr>
            <a:xfrm>
              <a:off x="3007" y="1414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9" name="Google Shape;609;p17"/>
            <p:cNvCxnSpPr>
              <a:stCxn id="599" idx="7"/>
              <a:endCxn id="608" idx="3"/>
            </p:cNvCxnSpPr>
            <p:nvPr/>
          </p:nvCxnSpPr>
          <p:spPr>
            <a:xfrm flipH="1" rot="10800000">
              <a:off x="2369" y="1808"/>
              <a:ext cx="6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10" name="Google Shape;610;p17"/>
          <p:cNvGrpSpPr/>
          <p:nvPr/>
        </p:nvGrpSpPr>
        <p:grpSpPr>
          <a:xfrm>
            <a:off x="5729287" y="2011363"/>
            <a:ext cx="1204914" cy="304800"/>
            <a:chOff x="2429" y="1890"/>
            <a:chExt cx="1571" cy="397"/>
          </a:xfrm>
        </p:grpSpPr>
        <p:sp>
          <p:nvSpPr>
            <p:cNvPr id="590" name="Google Shape;590;p17"/>
            <p:cNvSpPr/>
            <p:nvPr/>
          </p:nvSpPr>
          <p:spPr>
            <a:xfrm>
              <a:off x="3586" y="1890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1" name="Google Shape;611;p17"/>
            <p:cNvCxnSpPr>
              <a:stCxn id="599" idx="6"/>
              <a:endCxn id="590" idx="2"/>
            </p:cNvCxnSpPr>
            <p:nvPr/>
          </p:nvCxnSpPr>
          <p:spPr>
            <a:xfrm flipH="1" rot="10800000">
              <a:off x="2429" y="1947"/>
              <a:ext cx="12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94" name="Google Shape;594;p17"/>
          <p:cNvSpPr/>
          <p:nvPr/>
        </p:nvSpPr>
        <p:spPr>
          <a:xfrm>
            <a:off x="7156450" y="2744791"/>
            <a:ext cx="317500" cy="303213"/>
          </a:xfrm>
          <a:prstGeom prst="flowChartConnector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2" name="Google Shape;612;p17"/>
          <p:cNvCxnSpPr>
            <a:stCxn id="590" idx="5"/>
            <a:endCxn id="594" idx="1"/>
          </p:cNvCxnSpPr>
          <p:nvPr/>
        </p:nvCxnSpPr>
        <p:spPr>
          <a:xfrm>
            <a:off x="6887700" y="2271526"/>
            <a:ext cx="315300" cy="51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613" name="Google Shape;613;p17"/>
          <p:cNvGrpSpPr/>
          <p:nvPr/>
        </p:nvGrpSpPr>
        <p:grpSpPr>
          <a:xfrm>
            <a:off x="5316538" y="1408117"/>
            <a:ext cx="855605" cy="390260"/>
            <a:chOff x="1891" y="1104"/>
            <a:chExt cx="1116" cy="509"/>
          </a:xfrm>
        </p:grpSpPr>
        <p:cxnSp>
          <p:nvCxnSpPr>
            <p:cNvPr id="614" name="Google Shape;614;p17"/>
            <p:cNvCxnSpPr>
              <a:stCxn id="608" idx="2"/>
              <a:endCxn id="615" idx="6"/>
            </p:cNvCxnSpPr>
            <p:nvPr/>
          </p:nvCxnSpPr>
          <p:spPr>
            <a:xfrm rot="10800000">
              <a:off x="2407" y="1313"/>
              <a:ext cx="6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15" name="Google Shape;615;p17"/>
            <p:cNvSpPr/>
            <p:nvPr/>
          </p:nvSpPr>
          <p:spPr>
            <a:xfrm>
              <a:off x="1891" y="1104"/>
              <a:ext cx="413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1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6" name="Google Shape;616;p17"/>
          <p:cNvGrpSpPr/>
          <p:nvPr/>
        </p:nvGrpSpPr>
        <p:grpSpPr>
          <a:xfrm>
            <a:off x="6186488" y="1655767"/>
            <a:ext cx="1143458" cy="584410"/>
            <a:chOff x="3024" y="1427"/>
            <a:chExt cx="1492" cy="761"/>
          </a:xfrm>
        </p:grpSpPr>
        <p:cxnSp>
          <p:nvCxnSpPr>
            <p:cNvPr id="617" name="Google Shape;617;p17"/>
            <p:cNvCxnSpPr>
              <a:stCxn id="592" idx="1"/>
              <a:endCxn id="608" idx="6"/>
            </p:cNvCxnSpPr>
            <p:nvPr/>
          </p:nvCxnSpPr>
          <p:spPr>
            <a:xfrm flipH="1" rot="5400000">
              <a:off x="3616" y="1288"/>
              <a:ext cx="600" cy="1200"/>
            </a:xfrm>
            <a:prstGeom prst="curvedConnector2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18" name="Google Shape;618;p17"/>
            <p:cNvSpPr/>
            <p:nvPr/>
          </p:nvSpPr>
          <p:spPr>
            <a:xfrm>
              <a:off x="3024" y="1427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1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9" name="Google Shape;619;p17"/>
          <p:cNvCxnSpPr/>
          <p:nvPr/>
        </p:nvCxnSpPr>
        <p:spPr>
          <a:xfrm>
            <a:off x="3" y="3371851"/>
            <a:ext cx="121919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0" name="Google Shape;620;p17"/>
          <p:cNvSpPr/>
          <p:nvPr/>
        </p:nvSpPr>
        <p:spPr>
          <a:xfrm>
            <a:off x="6140455" y="3478213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3729039" y="3971930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3165481" y="445135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3865563" y="44513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4686305" y="44338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3163888" y="50069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3856039" y="49990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4325939" y="49815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5002213" y="49720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4087813" y="5510213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7"/>
          <p:cNvSpPr/>
          <p:nvPr/>
        </p:nvSpPr>
        <p:spPr>
          <a:xfrm>
            <a:off x="4532313" y="55181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4105281" y="601503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7"/>
          <p:cNvSpPr/>
          <p:nvPr/>
        </p:nvSpPr>
        <p:spPr>
          <a:xfrm>
            <a:off x="4992688" y="55197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7"/>
          <p:cNvSpPr/>
          <p:nvPr/>
        </p:nvSpPr>
        <p:spPr>
          <a:xfrm>
            <a:off x="4772030" y="60071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5254630" y="60340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4787905" y="64770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6" name="Google Shape;636;p17"/>
          <p:cNvCxnSpPr/>
          <p:nvPr/>
        </p:nvCxnSpPr>
        <p:spPr>
          <a:xfrm rot="10800000">
            <a:off x="4824413" y="4733930"/>
            <a:ext cx="309563" cy="1809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p17"/>
          <p:cNvCxnSpPr/>
          <p:nvPr/>
        </p:nvCxnSpPr>
        <p:spPr>
          <a:xfrm rot="10800000">
            <a:off x="4438653" y="5254630"/>
            <a:ext cx="258763" cy="214313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17"/>
          <p:cNvCxnSpPr/>
          <p:nvPr/>
        </p:nvCxnSpPr>
        <p:spPr>
          <a:xfrm rot="10800000">
            <a:off x="5138743" y="5253040"/>
            <a:ext cx="3175" cy="223837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17"/>
          <p:cNvCxnSpPr/>
          <p:nvPr/>
        </p:nvCxnSpPr>
        <p:spPr>
          <a:xfrm rot="10800000">
            <a:off x="5129213" y="5791201"/>
            <a:ext cx="258763" cy="196851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17"/>
          <p:cNvCxnSpPr/>
          <p:nvPr/>
        </p:nvCxnSpPr>
        <p:spPr>
          <a:xfrm flipH="1" rot="10800000">
            <a:off x="4918076" y="5792788"/>
            <a:ext cx="212725" cy="163512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17"/>
          <p:cNvCxnSpPr/>
          <p:nvPr/>
        </p:nvCxnSpPr>
        <p:spPr>
          <a:xfrm flipH="1" rot="10800000">
            <a:off x="4900618" y="6280154"/>
            <a:ext cx="7937" cy="173039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17"/>
          <p:cNvSpPr/>
          <p:nvPr/>
        </p:nvSpPr>
        <p:spPr>
          <a:xfrm>
            <a:off x="6142037" y="3479805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3730630" y="3973513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7"/>
          <p:cNvSpPr/>
          <p:nvPr/>
        </p:nvSpPr>
        <p:spPr>
          <a:xfrm>
            <a:off x="6524630" y="3906839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8269288" y="3922713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7"/>
          <p:cNvSpPr/>
          <p:nvPr/>
        </p:nvSpPr>
        <p:spPr>
          <a:xfrm>
            <a:off x="3167063" y="4452939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3867156" y="4452939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4687888" y="4435481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3165481" y="5008563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3857630" y="4992688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4327530" y="4983163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5003805" y="4973639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7"/>
          <p:cNvSpPr/>
          <p:nvPr/>
        </p:nvSpPr>
        <p:spPr>
          <a:xfrm>
            <a:off x="4089405" y="5511805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4533905" y="5519739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4114805" y="6016630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4994281" y="5521330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7"/>
          <p:cNvSpPr/>
          <p:nvPr/>
        </p:nvSpPr>
        <p:spPr>
          <a:xfrm>
            <a:off x="4773613" y="6008688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5256213" y="6035681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7"/>
          <p:cNvSpPr/>
          <p:nvPr/>
        </p:nvSpPr>
        <p:spPr>
          <a:xfrm>
            <a:off x="4789488" y="6478588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7"/>
          <p:cNvSpPr/>
          <p:nvPr/>
        </p:nvSpPr>
        <p:spPr>
          <a:xfrm>
            <a:off x="3165481" y="5000630"/>
            <a:ext cx="290513" cy="265113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7"/>
          <p:cNvSpPr/>
          <p:nvPr/>
        </p:nvSpPr>
        <p:spPr>
          <a:xfrm>
            <a:off x="3167063" y="4445005"/>
            <a:ext cx="290512" cy="265113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7"/>
          <p:cNvSpPr/>
          <p:nvPr/>
        </p:nvSpPr>
        <p:spPr>
          <a:xfrm>
            <a:off x="3857630" y="4992688"/>
            <a:ext cx="290513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3867156" y="4445005"/>
            <a:ext cx="290513" cy="265113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4089405" y="5503863"/>
            <a:ext cx="290513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7"/>
          <p:cNvSpPr/>
          <p:nvPr/>
        </p:nvSpPr>
        <p:spPr>
          <a:xfrm>
            <a:off x="4106863" y="6008688"/>
            <a:ext cx="290512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6" name="Google Shape;666;p17"/>
          <p:cNvGrpSpPr/>
          <p:nvPr/>
        </p:nvGrpSpPr>
        <p:grpSpPr>
          <a:xfrm>
            <a:off x="5821364" y="2698751"/>
            <a:ext cx="588963" cy="431800"/>
            <a:chOff x="2762" y="1745"/>
            <a:chExt cx="371" cy="272"/>
          </a:xfrm>
        </p:grpSpPr>
        <p:cxnSp>
          <p:nvCxnSpPr>
            <p:cNvPr id="667" name="Google Shape;667;p17"/>
            <p:cNvCxnSpPr/>
            <p:nvPr/>
          </p:nvCxnSpPr>
          <p:spPr>
            <a:xfrm flipH="1">
              <a:off x="2934" y="1745"/>
              <a:ext cx="199" cy="114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68" name="Google Shape;668;p17"/>
            <p:cNvSpPr/>
            <p:nvPr/>
          </p:nvSpPr>
          <p:spPr>
            <a:xfrm>
              <a:off x="2762" y="1825"/>
              <a:ext cx="200" cy="192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1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9" name="Google Shape;669;p17"/>
          <p:cNvSpPr/>
          <p:nvPr/>
        </p:nvSpPr>
        <p:spPr>
          <a:xfrm>
            <a:off x="4327530" y="4983163"/>
            <a:ext cx="290513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4533905" y="5519739"/>
            <a:ext cx="290513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4773613" y="6008688"/>
            <a:ext cx="290512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7"/>
          <p:cNvSpPr/>
          <p:nvPr/>
        </p:nvSpPr>
        <p:spPr>
          <a:xfrm>
            <a:off x="4789488" y="6478588"/>
            <a:ext cx="290512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7"/>
          <p:cNvSpPr txBox="1"/>
          <p:nvPr/>
        </p:nvSpPr>
        <p:spPr>
          <a:xfrm>
            <a:off x="381000" y="1371602"/>
            <a:ext cx="2281237" cy="1338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Strategy: expand a deepest node 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Implementation: Fringe is a LIFO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7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Search Algorithm Properties</a:t>
            </a:r>
            <a:endParaRPr/>
          </a:p>
        </p:txBody>
      </p:sp>
      <p:pic>
        <p:nvPicPr>
          <p:cNvPr id="680" name="Google Shape;6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8975" y="1443038"/>
            <a:ext cx="5838824" cy="4410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18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Search Algorithm Properties</a:t>
            </a:r>
            <a:endParaRPr/>
          </a:p>
        </p:txBody>
      </p:sp>
      <p:sp>
        <p:nvSpPr>
          <p:cNvPr id="687" name="Google Shape;687;p19"/>
          <p:cNvSpPr txBox="1"/>
          <p:nvPr>
            <p:ph idx="1" type="body"/>
          </p:nvPr>
        </p:nvSpPr>
        <p:spPr>
          <a:xfrm>
            <a:off x="406400" y="1295402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Complete: Guaranteed to find a solution if one exists?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Optimal: Guaranteed to find the least cost path?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Time complexity?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Space complexity?</a:t>
            </a:r>
            <a:endParaRPr/>
          </a:p>
          <a:p>
            <a:pPr indent="-158715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Cartoon of search tree: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b is the branching factor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 is the maximum depth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solutions at various depths</a:t>
            </a:r>
            <a:endParaRPr/>
          </a:p>
          <a:p>
            <a:pPr indent="-158715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Number of nodes in entire tree?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1 + b + b</a:t>
            </a:r>
            <a:r>
              <a:rPr baseline="30000" lang="en-US" sz="2000"/>
              <a:t>2</a:t>
            </a:r>
            <a:r>
              <a:rPr lang="en-US" sz="2000"/>
              <a:t> + …. b</a:t>
            </a:r>
            <a:r>
              <a:rPr baseline="30000" lang="en-US" sz="2000"/>
              <a:t>m</a:t>
            </a:r>
            <a:r>
              <a:rPr lang="en-US" sz="2000"/>
              <a:t> = O(b</a:t>
            </a:r>
            <a:r>
              <a:rPr baseline="30000" lang="en-US" sz="2000"/>
              <a:t>m</a:t>
            </a:r>
            <a:r>
              <a:rPr lang="en-US" sz="2000"/>
              <a:t>)</a:t>
            </a:r>
            <a:endParaRPr/>
          </a:p>
          <a:p>
            <a:pPr indent="-1904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688" name="Google Shape;688;p19"/>
          <p:cNvSpPr/>
          <p:nvPr/>
        </p:nvSpPr>
        <p:spPr>
          <a:xfrm>
            <a:off x="6737351" y="2763841"/>
            <a:ext cx="2927351" cy="2554287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9"/>
          <p:cNvSpPr/>
          <p:nvPr/>
        </p:nvSpPr>
        <p:spPr>
          <a:xfrm>
            <a:off x="8091487" y="2693989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9"/>
          <p:cNvSpPr/>
          <p:nvPr/>
        </p:nvSpPr>
        <p:spPr>
          <a:xfrm>
            <a:off x="7859714" y="3119440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9"/>
          <p:cNvSpPr/>
          <p:nvPr/>
        </p:nvSpPr>
        <p:spPr>
          <a:xfrm>
            <a:off x="8335963" y="3109913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9"/>
          <p:cNvSpPr txBox="1"/>
          <p:nvPr/>
        </p:nvSpPr>
        <p:spPr>
          <a:xfrm>
            <a:off x="7989890" y="2970214"/>
            <a:ext cx="274639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9"/>
          <p:cNvSpPr/>
          <p:nvPr/>
        </p:nvSpPr>
        <p:spPr>
          <a:xfrm>
            <a:off x="7972427" y="2924175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9"/>
          <p:cNvSpPr txBox="1"/>
          <p:nvPr/>
        </p:nvSpPr>
        <p:spPr>
          <a:xfrm>
            <a:off x="8374061" y="2722565"/>
            <a:ext cx="298451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9"/>
          <p:cNvSpPr txBox="1"/>
          <p:nvPr/>
        </p:nvSpPr>
        <p:spPr>
          <a:xfrm>
            <a:off x="9801225" y="2574926"/>
            <a:ext cx="1119187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9"/>
          <p:cNvSpPr txBox="1"/>
          <p:nvPr/>
        </p:nvSpPr>
        <p:spPr>
          <a:xfrm>
            <a:off x="9802814" y="2928937"/>
            <a:ext cx="1119188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9"/>
          <p:cNvSpPr txBox="1"/>
          <p:nvPr/>
        </p:nvSpPr>
        <p:spPr>
          <a:xfrm>
            <a:off x="9802814" y="3340100"/>
            <a:ext cx="1119188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9"/>
          <p:cNvSpPr txBox="1"/>
          <p:nvPr/>
        </p:nvSpPr>
        <p:spPr>
          <a:xfrm>
            <a:off x="9817102" y="4965702"/>
            <a:ext cx="1460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9"/>
          <p:cNvSpPr/>
          <p:nvPr/>
        </p:nvSpPr>
        <p:spPr>
          <a:xfrm>
            <a:off x="8050213" y="5235575"/>
            <a:ext cx="179387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9"/>
          <p:cNvSpPr/>
          <p:nvPr/>
        </p:nvSpPr>
        <p:spPr>
          <a:xfrm>
            <a:off x="8583614" y="4159251"/>
            <a:ext cx="179388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9"/>
          <p:cNvSpPr/>
          <p:nvPr/>
        </p:nvSpPr>
        <p:spPr>
          <a:xfrm>
            <a:off x="6305551" y="2514603"/>
            <a:ext cx="265112" cy="2811463"/>
          </a:xfrm>
          <a:prstGeom prst="leftBrace">
            <a:avLst>
              <a:gd fmla="val 8837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9"/>
          <p:cNvSpPr txBox="1"/>
          <p:nvPr/>
        </p:nvSpPr>
        <p:spPr>
          <a:xfrm>
            <a:off x="5235576" y="3725865"/>
            <a:ext cx="1265237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tiers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9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0"/>
          <p:cNvSpPr/>
          <p:nvPr/>
        </p:nvSpPr>
        <p:spPr>
          <a:xfrm>
            <a:off x="7348535" y="2003423"/>
            <a:ext cx="1906588" cy="2554288"/>
          </a:xfrm>
          <a:custGeom>
            <a:rect b="b" l="l" r="r" t="t"/>
            <a:pathLst>
              <a:path extrusionOk="0" h="10000" w="10000">
                <a:moveTo>
                  <a:pt x="0" y="10000"/>
                </a:moveTo>
                <a:lnTo>
                  <a:pt x="10000" y="9975"/>
                </a:lnTo>
                <a:cubicBezTo>
                  <a:pt x="9806" y="8135"/>
                  <a:pt x="9212" y="6228"/>
                  <a:pt x="9018" y="4388"/>
                </a:cubicBezTo>
                <a:lnTo>
                  <a:pt x="7619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Depth-First Search (DFS) Properties</a:t>
            </a:r>
            <a:endParaRPr/>
          </a:p>
        </p:txBody>
      </p:sp>
      <p:grpSp>
        <p:nvGrpSpPr>
          <p:cNvPr id="710" name="Google Shape;710;p20"/>
          <p:cNvGrpSpPr/>
          <p:nvPr/>
        </p:nvGrpSpPr>
        <p:grpSpPr>
          <a:xfrm>
            <a:off x="6019800" y="1752601"/>
            <a:ext cx="5867400" cy="2900363"/>
            <a:chOff x="1328738" y="2012950"/>
            <a:chExt cx="5867400" cy="2900363"/>
          </a:xfrm>
        </p:grpSpPr>
        <p:sp>
          <p:nvSpPr>
            <p:cNvPr id="711" name="Google Shape;711;p20"/>
            <p:cNvSpPr/>
            <p:nvPr/>
          </p:nvSpPr>
          <p:spPr>
            <a:xfrm>
              <a:off x="2655888" y="2262188"/>
              <a:ext cx="2927350" cy="2554287"/>
            </a:xfrm>
            <a:custGeom>
              <a:rect b="b" l="l" r="r" t="t"/>
              <a:pathLst>
                <a:path extrusionOk="0" h="1609" w="1844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20"/>
            <p:cNvSpPr/>
            <p:nvPr/>
          </p:nvSpPr>
          <p:spPr>
            <a:xfrm>
              <a:off x="4010025" y="2192338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3778250" y="2617788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4254500" y="2608263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20"/>
            <p:cNvSpPr txBox="1"/>
            <p:nvPr/>
          </p:nvSpPr>
          <p:spPr>
            <a:xfrm>
              <a:off x="3908425" y="2468563"/>
              <a:ext cx="2746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0"/>
            <p:cNvSpPr/>
            <p:nvPr/>
          </p:nvSpPr>
          <p:spPr>
            <a:xfrm>
              <a:off x="3890963" y="2422525"/>
              <a:ext cx="444500" cy="88900"/>
            </a:xfrm>
            <a:custGeom>
              <a:rect b="b" l="l" r="r" t="t"/>
              <a:pathLst>
                <a:path extrusionOk="0" h="56" w="280">
                  <a:moveTo>
                    <a:pt x="0" y="11"/>
                  </a:moveTo>
                  <a:cubicBezTo>
                    <a:pt x="52" y="33"/>
                    <a:pt x="104" y="56"/>
                    <a:pt x="151" y="54"/>
                  </a:cubicBezTo>
                  <a:cubicBezTo>
                    <a:pt x="198" y="52"/>
                    <a:pt x="239" y="26"/>
                    <a:pt x="2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20"/>
            <p:cNvSpPr txBox="1"/>
            <p:nvPr/>
          </p:nvSpPr>
          <p:spPr>
            <a:xfrm>
              <a:off x="4292599" y="2220913"/>
              <a:ext cx="2984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20"/>
            <p:cNvSpPr txBox="1"/>
            <p:nvPr/>
          </p:nvSpPr>
          <p:spPr>
            <a:xfrm>
              <a:off x="5719763" y="2073275"/>
              <a:ext cx="1119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node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20"/>
            <p:cNvSpPr txBox="1"/>
            <p:nvPr/>
          </p:nvSpPr>
          <p:spPr>
            <a:xfrm>
              <a:off x="5721350" y="2427287"/>
              <a:ext cx="11191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 nodes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20"/>
            <p:cNvSpPr txBox="1"/>
            <p:nvPr/>
          </p:nvSpPr>
          <p:spPr>
            <a:xfrm>
              <a:off x="5721350" y="2838450"/>
              <a:ext cx="11191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baseline="30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nodes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20"/>
            <p:cNvSpPr txBox="1"/>
            <p:nvPr/>
          </p:nvSpPr>
          <p:spPr>
            <a:xfrm>
              <a:off x="5735638" y="4464050"/>
              <a:ext cx="14605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baseline="30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nodes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4502151" y="4733925"/>
              <a:ext cx="179387" cy="179388"/>
            </a:xfrm>
            <a:prstGeom prst="ellipse">
              <a:avLst/>
            </a:prstGeom>
            <a:solidFill>
              <a:srgbClr val="FF999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0"/>
            <p:cNvSpPr/>
            <p:nvPr/>
          </p:nvSpPr>
          <p:spPr>
            <a:xfrm>
              <a:off x="2224088" y="2012950"/>
              <a:ext cx="265112" cy="2811463"/>
            </a:xfrm>
            <a:prstGeom prst="leftBrace">
              <a:avLst>
                <a:gd fmla="val 8837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0"/>
            <p:cNvSpPr txBox="1"/>
            <p:nvPr/>
          </p:nvSpPr>
          <p:spPr>
            <a:xfrm>
              <a:off x="1328738" y="3224213"/>
              <a:ext cx="12652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 tiers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5" name="Google Shape;725;p20"/>
          <p:cNvSpPr txBox="1"/>
          <p:nvPr>
            <p:ph idx="1" type="body"/>
          </p:nvPr>
        </p:nvSpPr>
        <p:spPr>
          <a:xfrm>
            <a:off x="254000" y="1366836"/>
            <a:ext cx="54610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nodes DFS expand?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Some left prefix of the tree.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Could process the whole tree!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If m is finite, takes time O(b</a:t>
            </a:r>
            <a:r>
              <a:rPr baseline="30000" lang="en-US" sz="2000"/>
              <a:t>m</a:t>
            </a:r>
            <a:r>
              <a:rPr lang="en-US" sz="2000"/>
              <a:t>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much space does the fringe take?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Only has siblings on path to root, so O(bm)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complete?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 could be infinite, so only if we prevent cycles (more later)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optimal?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No, it finds the “leftmost” solution, regardless of depth or cost</a:t>
            </a:r>
            <a:endParaRPr/>
          </a:p>
          <a:p>
            <a:pPr indent="-158715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726" name="Google Shape;726;p20"/>
          <p:cNvSpPr/>
          <p:nvPr/>
        </p:nvSpPr>
        <p:spPr>
          <a:xfrm>
            <a:off x="7389813" y="2057317"/>
            <a:ext cx="1373163" cy="2478171"/>
          </a:xfrm>
          <a:custGeom>
            <a:rect b="b" l="l" r="r" t="t"/>
            <a:pathLst>
              <a:path extrusionOk="0" h="10000" w="10000">
                <a:moveTo>
                  <a:pt x="0" y="10000"/>
                </a:moveTo>
                <a:lnTo>
                  <a:pt x="8335" y="9974"/>
                </a:lnTo>
                <a:cubicBezTo>
                  <a:pt x="8174" y="8078"/>
                  <a:pt x="9052" y="6201"/>
                  <a:pt x="8890" y="4305"/>
                </a:cubicBezTo>
                <a:lnTo>
                  <a:pt x="10000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0"/>
          <p:cNvSpPr/>
          <p:nvPr/>
        </p:nvSpPr>
        <p:spPr>
          <a:xfrm>
            <a:off x="7389840" y="2057403"/>
            <a:ext cx="1373179" cy="2514599"/>
          </a:xfrm>
          <a:custGeom>
            <a:rect b="b" l="l" r="r" t="t"/>
            <a:pathLst>
              <a:path extrusionOk="0" h="10147" w="16352">
                <a:moveTo>
                  <a:pt x="0" y="10000"/>
                </a:moveTo>
                <a:lnTo>
                  <a:pt x="6370" y="10147"/>
                </a:lnTo>
                <a:cubicBezTo>
                  <a:pt x="6209" y="8251"/>
                  <a:pt x="8940" y="7679"/>
                  <a:pt x="10907" y="4612"/>
                </a:cubicBezTo>
                <a:lnTo>
                  <a:pt x="16352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0"/>
          <p:cNvSpPr/>
          <p:nvPr/>
        </p:nvSpPr>
        <p:spPr>
          <a:xfrm>
            <a:off x="9421813" y="3429002"/>
            <a:ext cx="179387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0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Breadth-First Search</a:t>
            </a:r>
            <a:endParaRPr/>
          </a:p>
        </p:txBody>
      </p:sp>
      <p:pic>
        <p:nvPicPr>
          <p:cNvPr id="735" name="Google Shape;7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457200"/>
            <a:ext cx="7802880" cy="58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21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Breadth-First Search</a:t>
            </a:r>
            <a:endParaRPr/>
          </a:p>
        </p:txBody>
      </p:sp>
      <p:grpSp>
        <p:nvGrpSpPr>
          <p:cNvPr id="743" name="Google Shape;743;p22"/>
          <p:cNvGrpSpPr/>
          <p:nvPr/>
        </p:nvGrpSpPr>
        <p:grpSpPr>
          <a:xfrm>
            <a:off x="3219447" y="3498853"/>
            <a:ext cx="5486400" cy="3355591"/>
            <a:chOff x="48" y="2332"/>
            <a:chExt cx="3456" cy="2406"/>
          </a:xfrm>
        </p:grpSpPr>
        <p:sp>
          <p:nvSpPr>
            <p:cNvPr id="744" name="Google Shape;744;p22"/>
            <p:cNvSpPr txBox="1"/>
            <p:nvPr/>
          </p:nvSpPr>
          <p:spPr>
            <a:xfrm>
              <a:off x="1728" y="2332"/>
              <a:ext cx="624" cy="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2"/>
            <p:cNvSpPr txBox="1"/>
            <p:nvPr/>
          </p:nvSpPr>
          <p:spPr>
            <a:xfrm>
              <a:off x="48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22"/>
            <p:cNvSpPr txBox="1"/>
            <p:nvPr/>
          </p:nvSpPr>
          <p:spPr>
            <a:xfrm>
              <a:off x="48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22"/>
            <p:cNvSpPr txBox="1"/>
            <p:nvPr/>
          </p:nvSpPr>
          <p:spPr>
            <a:xfrm>
              <a:off x="384" y="2688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22"/>
            <p:cNvSpPr txBox="1"/>
            <p:nvPr/>
          </p:nvSpPr>
          <p:spPr>
            <a:xfrm>
              <a:off x="3264" y="2640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22"/>
            <p:cNvSpPr txBox="1"/>
            <p:nvPr/>
          </p:nvSpPr>
          <p:spPr>
            <a:xfrm>
              <a:off x="480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2"/>
            <p:cNvSpPr txBox="1"/>
            <p:nvPr/>
          </p:nvSpPr>
          <p:spPr>
            <a:xfrm>
              <a:off x="480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" name="Google Shape;751;p22"/>
            <p:cNvCxnSpPr>
              <a:stCxn id="747" idx="2"/>
              <a:endCxn id="746" idx="0"/>
            </p:cNvCxnSpPr>
            <p:nvPr/>
          </p:nvCxnSpPr>
          <p:spPr>
            <a:xfrm rot="10800000">
              <a:off x="204" y="2953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2" name="Google Shape;752;p22"/>
            <p:cNvCxnSpPr>
              <a:stCxn id="747" idx="2"/>
              <a:endCxn id="750" idx="0"/>
            </p:cNvCxnSpPr>
            <p:nvPr/>
          </p:nvCxnSpPr>
          <p:spPr>
            <a:xfrm>
              <a:off x="504" y="2953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3" name="Google Shape;753;p22"/>
            <p:cNvCxnSpPr>
              <a:stCxn id="746" idx="2"/>
              <a:endCxn id="745" idx="0"/>
            </p:cNvCxnSpPr>
            <p:nvPr/>
          </p:nvCxnSpPr>
          <p:spPr>
            <a:xfrm>
              <a:off x="168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4" name="Google Shape;754;p22"/>
            <p:cNvCxnSpPr>
              <a:stCxn id="750" idx="2"/>
              <a:endCxn id="749" idx="0"/>
            </p:cNvCxnSpPr>
            <p:nvPr/>
          </p:nvCxnSpPr>
          <p:spPr>
            <a:xfrm>
              <a:off x="600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55" name="Google Shape;755;p22"/>
            <p:cNvGrpSpPr/>
            <p:nvPr/>
          </p:nvGrpSpPr>
          <p:grpSpPr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756" name="Google Shape;756;p22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22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22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22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22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22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22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22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2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2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66" name="Google Shape;766;p22"/>
              <p:cNvCxnSpPr>
                <a:stCxn id="756" idx="2"/>
                <a:endCxn id="758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7" name="Google Shape;767;p22"/>
              <p:cNvCxnSpPr>
                <a:stCxn id="756" idx="2"/>
                <a:endCxn id="760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8" name="Google Shape;768;p22"/>
              <p:cNvCxnSpPr>
                <a:stCxn id="758" idx="2"/>
                <a:endCxn id="757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9" name="Google Shape;769;p22"/>
              <p:cNvCxnSpPr>
                <a:stCxn id="758" idx="2"/>
                <a:endCxn id="761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22"/>
              <p:cNvCxnSpPr>
                <a:stCxn id="760" idx="2"/>
                <a:endCxn id="759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1" name="Google Shape;771;p22"/>
              <p:cNvCxnSpPr>
                <a:stCxn id="757" idx="2"/>
                <a:endCxn id="762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2" name="Google Shape;772;p22"/>
              <p:cNvCxnSpPr>
                <a:stCxn id="759" idx="2"/>
                <a:endCxn id="763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3" name="Google Shape;773;p22"/>
              <p:cNvCxnSpPr>
                <a:stCxn id="759" idx="2"/>
                <a:endCxn id="764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4" name="Google Shape;774;p22"/>
              <p:cNvCxnSpPr>
                <a:stCxn id="763" idx="2"/>
                <a:endCxn id="765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75" name="Google Shape;775;p22"/>
            <p:cNvSpPr txBox="1"/>
            <p:nvPr/>
          </p:nvSpPr>
          <p:spPr>
            <a:xfrm>
              <a:off x="3264" y="2994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6" name="Google Shape;776;p22"/>
            <p:cNvCxnSpPr>
              <a:stCxn id="748" idx="2"/>
              <a:endCxn id="775" idx="0"/>
            </p:cNvCxnSpPr>
            <p:nvPr/>
          </p:nvCxnSpPr>
          <p:spPr>
            <a:xfrm>
              <a:off x="3384" y="290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77" name="Google Shape;777;p22"/>
            <p:cNvGrpSpPr/>
            <p:nvPr/>
          </p:nvGrpSpPr>
          <p:grpSpPr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778" name="Google Shape;778;p22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2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2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2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22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2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2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2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2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2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88" name="Google Shape;788;p22"/>
              <p:cNvCxnSpPr>
                <a:stCxn id="778" idx="2"/>
                <a:endCxn id="780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9" name="Google Shape;789;p22"/>
              <p:cNvCxnSpPr>
                <a:stCxn id="778" idx="2"/>
                <a:endCxn id="782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0" name="Google Shape;790;p22"/>
              <p:cNvCxnSpPr>
                <a:stCxn id="780" idx="2"/>
                <a:endCxn id="779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1" name="Google Shape;791;p22"/>
              <p:cNvCxnSpPr>
                <a:stCxn id="780" idx="2"/>
                <a:endCxn id="783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22"/>
              <p:cNvCxnSpPr>
                <a:stCxn id="782" idx="2"/>
                <a:endCxn id="781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" name="Google Shape;793;p22"/>
              <p:cNvCxnSpPr>
                <a:stCxn id="779" idx="2"/>
                <a:endCxn id="784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" name="Google Shape;794;p22"/>
              <p:cNvCxnSpPr>
                <a:stCxn id="781" idx="2"/>
                <a:endCxn id="785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" name="Google Shape;795;p22"/>
              <p:cNvCxnSpPr>
                <a:stCxn id="781" idx="2"/>
                <a:endCxn id="786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" name="Google Shape;796;p22"/>
              <p:cNvCxnSpPr>
                <a:stCxn id="785" idx="2"/>
                <a:endCxn id="787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797" name="Google Shape;797;p22"/>
            <p:cNvCxnSpPr>
              <a:stCxn id="747" idx="2"/>
              <a:endCxn id="778" idx="0"/>
            </p:cNvCxnSpPr>
            <p:nvPr/>
          </p:nvCxnSpPr>
          <p:spPr>
            <a:xfrm>
              <a:off x="504" y="2953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8" name="Google Shape;798;p22"/>
            <p:cNvCxnSpPr>
              <a:stCxn id="744" idx="2"/>
              <a:endCxn id="747" idx="0"/>
            </p:cNvCxnSpPr>
            <p:nvPr/>
          </p:nvCxnSpPr>
          <p:spPr>
            <a:xfrm rot="10800000">
              <a:off x="540" y="2575"/>
              <a:ext cx="1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9" name="Google Shape;799;p22"/>
            <p:cNvCxnSpPr>
              <a:stCxn id="744" idx="2"/>
              <a:endCxn id="756" idx="0"/>
            </p:cNvCxnSpPr>
            <p:nvPr/>
          </p:nvCxnSpPr>
          <p:spPr>
            <a:xfrm>
              <a:off x="2040" y="2575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0" name="Google Shape;800;p22"/>
            <p:cNvCxnSpPr>
              <a:stCxn id="744" idx="2"/>
              <a:endCxn id="748" idx="0"/>
            </p:cNvCxnSpPr>
            <p:nvPr/>
          </p:nvCxnSpPr>
          <p:spPr>
            <a:xfrm>
              <a:off x="2040" y="2575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01" name="Google Shape;801;p22"/>
          <p:cNvGrpSpPr/>
          <p:nvPr/>
        </p:nvGrpSpPr>
        <p:grpSpPr>
          <a:xfrm>
            <a:off x="4589461" y="1358902"/>
            <a:ext cx="3030539" cy="1765300"/>
            <a:chOff x="624" y="1134"/>
            <a:chExt cx="4368" cy="2544"/>
          </a:xfrm>
        </p:grpSpPr>
        <p:sp>
          <p:nvSpPr>
            <p:cNvPr id="802" name="Google Shape;802;p22"/>
            <p:cNvSpPr/>
            <p:nvPr/>
          </p:nvSpPr>
          <p:spPr>
            <a:xfrm>
              <a:off x="624" y="2625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4560" y="1134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2"/>
            <p:cNvSpPr/>
            <p:nvPr/>
          </p:nvSpPr>
          <p:spPr>
            <a:xfrm>
              <a:off x="1878" y="2231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2"/>
            <p:cNvSpPr/>
            <p:nvPr/>
          </p:nvSpPr>
          <p:spPr>
            <a:xfrm>
              <a:off x="970" y="1573"/>
              <a:ext cx="432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2"/>
            <p:cNvSpPr/>
            <p:nvPr/>
          </p:nvSpPr>
          <p:spPr>
            <a:xfrm>
              <a:off x="1402" y="3108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22"/>
            <p:cNvSpPr/>
            <p:nvPr/>
          </p:nvSpPr>
          <p:spPr>
            <a:xfrm>
              <a:off x="2440" y="3239"/>
              <a:ext cx="433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2"/>
            <p:cNvSpPr/>
            <p:nvPr/>
          </p:nvSpPr>
          <p:spPr>
            <a:xfrm>
              <a:off x="2916" y="1529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2"/>
            <p:cNvSpPr/>
            <p:nvPr/>
          </p:nvSpPr>
          <p:spPr>
            <a:xfrm>
              <a:off x="3522" y="2055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22"/>
            <p:cNvSpPr/>
            <p:nvPr/>
          </p:nvSpPr>
          <p:spPr>
            <a:xfrm>
              <a:off x="3176" y="2669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22"/>
            <p:cNvSpPr/>
            <p:nvPr/>
          </p:nvSpPr>
          <p:spPr>
            <a:xfrm>
              <a:off x="1748" y="1178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4430" y="2318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22"/>
            <p:cNvSpPr/>
            <p:nvPr/>
          </p:nvSpPr>
          <p:spPr>
            <a:xfrm>
              <a:off x="4257" y="3108"/>
              <a:ext cx="432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4" name="Google Shape;814;p22"/>
            <p:cNvCxnSpPr>
              <a:stCxn id="802" idx="5"/>
              <a:endCxn id="806" idx="2"/>
            </p:cNvCxnSpPr>
            <p:nvPr/>
          </p:nvCxnSpPr>
          <p:spPr>
            <a:xfrm>
              <a:off x="993" y="300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5" name="Google Shape;815;p22"/>
            <p:cNvCxnSpPr>
              <a:stCxn id="806" idx="5"/>
              <a:endCxn id="807" idx="2"/>
            </p:cNvCxnSpPr>
            <p:nvPr/>
          </p:nvCxnSpPr>
          <p:spPr>
            <a:xfrm>
              <a:off x="1772" y="3482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6" name="Google Shape;816;p22"/>
            <p:cNvCxnSpPr>
              <a:stCxn id="810" idx="3"/>
              <a:endCxn id="807" idx="7"/>
            </p:cNvCxnSpPr>
            <p:nvPr/>
          </p:nvCxnSpPr>
          <p:spPr>
            <a:xfrm flipH="1">
              <a:off x="2939" y="304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7" name="Google Shape;817;p22"/>
            <p:cNvCxnSpPr>
              <a:stCxn id="810" idx="2"/>
              <a:endCxn id="806" idx="6"/>
            </p:cNvCxnSpPr>
            <p:nvPr/>
          </p:nvCxnSpPr>
          <p:spPr>
            <a:xfrm flipH="1">
              <a:off x="1976" y="2889"/>
              <a:ext cx="12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8" name="Google Shape;818;p22"/>
            <p:cNvCxnSpPr>
              <a:stCxn id="809" idx="4"/>
              <a:endCxn id="810" idx="7"/>
            </p:cNvCxnSpPr>
            <p:nvPr/>
          </p:nvCxnSpPr>
          <p:spPr>
            <a:xfrm flipH="1">
              <a:off x="3438" y="249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9" name="Google Shape;819;p22"/>
            <p:cNvCxnSpPr>
              <a:stCxn id="809" idx="5"/>
              <a:endCxn id="813" idx="1"/>
            </p:cNvCxnSpPr>
            <p:nvPr/>
          </p:nvCxnSpPr>
          <p:spPr>
            <a:xfrm>
              <a:off x="3891" y="2430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0" name="Google Shape;820;p22"/>
            <p:cNvCxnSpPr>
              <a:stCxn id="813" idx="0"/>
              <a:endCxn id="812" idx="4"/>
            </p:cNvCxnSpPr>
            <p:nvPr/>
          </p:nvCxnSpPr>
          <p:spPr>
            <a:xfrm flipH="1" rot="10800000">
              <a:off x="4473" y="2808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1" name="Google Shape;821;p22"/>
            <p:cNvCxnSpPr>
              <a:stCxn id="812" idx="0"/>
              <a:endCxn id="803" idx="4"/>
            </p:cNvCxnSpPr>
            <p:nvPr/>
          </p:nvCxnSpPr>
          <p:spPr>
            <a:xfrm rot="10800000">
              <a:off x="4646" y="1718"/>
              <a:ext cx="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2" name="Google Shape;822;p22"/>
            <p:cNvCxnSpPr>
              <a:stCxn id="802" idx="7"/>
            </p:cNvCxnSpPr>
            <p:nvPr/>
          </p:nvCxnSpPr>
          <p:spPr>
            <a:xfrm flipH="1" rot="10800000">
              <a:off x="993" y="2389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3" name="Google Shape;823;p22"/>
            <p:cNvCxnSpPr>
              <a:stCxn id="804" idx="1"/>
              <a:endCxn id="805" idx="5"/>
            </p:cNvCxnSpPr>
            <p:nvPr/>
          </p:nvCxnSpPr>
          <p:spPr>
            <a:xfrm rot="10800000">
              <a:off x="1341" y="1995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4" name="Google Shape;824;p22"/>
            <p:cNvCxnSpPr>
              <a:endCxn id="811" idx="2"/>
            </p:cNvCxnSpPr>
            <p:nvPr/>
          </p:nvCxnSpPr>
          <p:spPr>
            <a:xfrm flipH="1" rot="10800000">
              <a:off x="1448" y="1397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5" name="Google Shape;825;p22"/>
            <p:cNvCxnSpPr>
              <a:stCxn id="808" idx="2"/>
              <a:endCxn id="811" idx="6"/>
            </p:cNvCxnSpPr>
            <p:nvPr/>
          </p:nvCxnSpPr>
          <p:spPr>
            <a:xfrm rot="10800000">
              <a:off x="2316" y="1448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6" name="Google Shape;826;p22"/>
            <p:cNvCxnSpPr>
              <a:stCxn id="804" idx="7"/>
              <a:endCxn id="808" idx="3"/>
            </p:cNvCxnSpPr>
            <p:nvPr/>
          </p:nvCxnSpPr>
          <p:spPr>
            <a:xfrm flipH="1" rot="10800000">
              <a:off x="2248" y="1995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7" name="Google Shape;827;p22"/>
            <p:cNvCxnSpPr>
              <a:stCxn id="804" idx="6"/>
              <a:endCxn id="809" idx="2"/>
            </p:cNvCxnSpPr>
            <p:nvPr/>
          </p:nvCxnSpPr>
          <p:spPr>
            <a:xfrm flipH="1" rot="10800000">
              <a:off x="2311" y="2150"/>
              <a:ext cx="12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8" name="Google Shape;828;p22"/>
            <p:cNvCxnSpPr>
              <a:stCxn id="812" idx="1"/>
              <a:endCxn id="808" idx="6"/>
            </p:cNvCxnSpPr>
            <p:nvPr/>
          </p:nvCxnSpPr>
          <p:spPr>
            <a:xfrm flipH="1" rot="5400000">
              <a:off x="3593" y="1482"/>
              <a:ext cx="600" cy="12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9" name="Google Shape;829;p22"/>
            <p:cNvCxnSpPr>
              <a:stCxn id="802" idx="6"/>
              <a:endCxn id="809" idx="3"/>
            </p:cNvCxnSpPr>
            <p:nvPr/>
          </p:nvCxnSpPr>
          <p:spPr>
            <a:xfrm flipH="1" rot="10800000">
              <a:off x="1056" y="2545"/>
              <a:ext cx="24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830" name="Google Shape;830;p22"/>
          <p:cNvGrpSpPr/>
          <p:nvPr/>
        </p:nvGrpSpPr>
        <p:grpSpPr>
          <a:xfrm>
            <a:off x="1447802" y="3532194"/>
            <a:ext cx="7337425" cy="2325687"/>
            <a:chOff x="132" y="2225"/>
            <a:chExt cx="4622" cy="1465"/>
          </a:xfrm>
        </p:grpSpPr>
        <p:sp>
          <p:nvSpPr>
            <p:cNvPr id="831" name="Google Shape;831;p22"/>
            <p:cNvSpPr/>
            <p:nvPr/>
          </p:nvSpPr>
          <p:spPr>
            <a:xfrm>
              <a:off x="1142" y="2225"/>
              <a:ext cx="3611" cy="1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2"/>
            <p:cNvSpPr/>
            <p:nvPr/>
          </p:nvSpPr>
          <p:spPr>
            <a:xfrm>
              <a:off x="1138" y="2516"/>
              <a:ext cx="3611" cy="172"/>
            </a:xfrm>
            <a:prstGeom prst="rect">
              <a:avLst/>
            </a:prstGeom>
            <a:solidFill>
              <a:srgbClr val="FF66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1143" y="2844"/>
              <a:ext cx="3611" cy="172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2"/>
            <p:cNvSpPr/>
            <p:nvPr/>
          </p:nvSpPr>
          <p:spPr>
            <a:xfrm>
              <a:off x="1139" y="3188"/>
              <a:ext cx="3607" cy="172"/>
            </a:xfrm>
            <a:prstGeom prst="rect">
              <a:avLst/>
            </a:prstGeom>
            <a:solidFill>
              <a:srgbClr val="0000FF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2"/>
            <p:cNvSpPr/>
            <p:nvPr/>
          </p:nvSpPr>
          <p:spPr>
            <a:xfrm>
              <a:off x="807" y="2236"/>
              <a:ext cx="178" cy="1450"/>
            </a:xfrm>
            <a:prstGeom prst="leftBrace">
              <a:avLst>
                <a:gd fmla="val 67884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2"/>
            <p:cNvSpPr txBox="1"/>
            <p:nvPr/>
          </p:nvSpPr>
          <p:spPr>
            <a:xfrm>
              <a:off x="132" y="2693"/>
              <a:ext cx="602" cy="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Search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2"/>
            <p:cNvSpPr/>
            <p:nvPr/>
          </p:nvSpPr>
          <p:spPr>
            <a:xfrm>
              <a:off x="1143" y="3518"/>
              <a:ext cx="3607" cy="172"/>
            </a:xfrm>
            <a:prstGeom prst="rect">
              <a:avLst/>
            </a:prstGeom>
            <a:solidFill>
              <a:srgbClr val="CC00CC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8" name="Google Shape;838;p22"/>
          <p:cNvSpPr/>
          <p:nvPr/>
        </p:nvSpPr>
        <p:spPr>
          <a:xfrm>
            <a:off x="6237287" y="35258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2"/>
          <p:cNvSpPr/>
          <p:nvPr/>
        </p:nvSpPr>
        <p:spPr>
          <a:xfrm>
            <a:off x="6237287" y="3525839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2"/>
          <p:cNvSpPr/>
          <p:nvPr/>
        </p:nvSpPr>
        <p:spPr>
          <a:xfrm>
            <a:off x="3808411" y="4021139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2"/>
          <p:cNvSpPr/>
          <p:nvPr/>
        </p:nvSpPr>
        <p:spPr>
          <a:xfrm>
            <a:off x="6629402" y="3976688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2"/>
          <p:cNvSpPr/>
          <p:nvPr/>
        </p:nvSpPr>
        <p:spPr>
          <a:xfrm>
            <a:off x="8380411" y="3990981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2"/>
          <p:cNvSpPr/>
          <p:nvPr/>
        </p:nvSpPr>
        <p:spPr>
          <a:xfrm>
            <a:off x="3278184" y="4521205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2"/>
          <p:cNvSpPr/>
          <p:nvPr/>
        </p:nvSpPr>
        <p:spPr>
          <a:xfrm>
            <a:off x="3952878" y="4513263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2"/>
          <p:cNvSpPr/>
          <p:nvPr/>
        </p:nvSpPr>
        <p:spPr>
          <a:xfrm>
            <a:off x="4799011" y="4513263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2"/>
          <p:cNvSpPr/>
          <p:nvPr/>
        </p:nvSpPr>
        <p:spPr>
          <a:xfrm>
            <a:off x="6243635" y="4505330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2"/>
          <p:cNvSpPr/>
          <p:nvPr/>
        </p:nvSpPr>
        <p:spPr>
          <a:xfrm>
            <a:off x="6945311" y="4505330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2"/>
          <p:cNvSpPr/>
          <p:nvPr/>
        </p:nvSpPr>
        <p:spPr>
          <a:xfrm>
            <a:off x="8378828" y="4505330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2"/>
          <p:cNvSpPr/>
          <p:nvPr/>
        </p:nvSpPr>
        <p:spPr>
          <a:xfrm>
            <a:off x="3268660" y="5051430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2"/>
          <p:cNvSpPr/>
          <p:nvPr/>
        </p:nvSpPr>
        <p:spPr>
          <a:xfrm>
            <a:off x="3808411" y="4019556"/>
            <a:ext cx="290512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2"/>
          <p:cNvSpPr/>
          <p:nvPr/>
        </p:nvSpPr>
        <p:spPr>
          <a:xfrm>
            <a:off x="6632578" y="3978281"/>
            <a:ext cx="290513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2"/>
          <p:cNvSpPr/>
          <p:nvPr/>
        </p:nvSpPr>
        <p:spPr>
          <a:xfrm>
            <a:off x="8382002" y="3995739"/>
            <a:ext cx="290513" cy="265112"/>
          </a:xfrm>
          <a:prstGeom prst="ellipse">
            <a:avLst/>
          </a:prstGeom>
          <a:solidFill>
            <a:srgbClr val="FF66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2"/>
          <p:cNvSpPr/>
          <p:nvPr/>
        </p:nvSpPr>
        <p:spPr>
          <a:xfrm>
            <a:off x="3281360" y="4516439"/>
            <a:ext cx="290512" cy="265112"/>
          </a:xfrm>
          <a:prstGeom prst="ellipse">
            <a:avLst/>
          </a:prstGeom>
          <a:solidFill>
            <a:srgbClr val="0080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4" name="Google Shape;854;p22"/>
          <p:cNvCxnSpPr/>
          <p:nvPr/>
        </p:nvCxnSpPr>
        <p:spPr>
          <a:xfrm>
            <a:off x="2" y="3371851"/>
            <a:ext cx="1219200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5" name="Google Shape;855;p22"/>
          <p:cNvSpPr txBox="1"/>
          <p:nvPr/>
        </p:nvSpPr>
        <p:spPr>
          <a:xfrm>
            <a:off x="376237" y="1371602"/>
            <a:ext cx="2366963" cy="1338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Strategy: expand a shallowest node 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Implementation: Fringe is a FIFO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2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3"/>
          <p:cNvSpPr/>
          <p:nvPr/>
        </p:nvSpPr>
        <p:spPr>
          <a:xfrm>
            <a:off x="8526461" y="2038351"/>
            <a:ext cx="541339" cy="419100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3"/>
          <p:cNvSpPr/>
          <p:nvPr/>
        </p:nvSpPr>
        <p:spPr>
          <a:xfrm>
            <a:off x="7939088" y="2020890"/>
            <a:ext cx="1725613" cy="1470025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3"/>
          <p:cNvSpPr/>
          <p:nvPr/>
        </p:nvSpPr>
        <p:spPr>
          <a:xfrm>
            <a:off x="8077200" y="2038349"/>
            <a:ext cx="1447800" cy="1162051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3"/>
          <p:cNvSpPr/>
          <p:nvPr/>
        </p:nvSpPr>
        <p:spPr>
          <a:xfrm>
            <a:off x="8305803" y="2038349"/>
            <a:ext cx="990599" cy="781051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Breadth-First Search (BFS) Properties</a:t>
            </a:r>
            <a:endParaRPr/>
          </a:p>
        </p:txBody>
      </p:sp>
      <p:sp>
        <p:nvSpPr>
          <p:cNvPr id="866" name="Google Shape;866;p23"/>
          <p:cNvSpPr txBox="1"/>
          <p:nvPr>
            <p:ph idx="1" type="body"/>
          </p:nvPr>
        </p:nvSpPr>
        <p:spPr>
          <a:xfrm>
            <a:off x="406400" y="1397003"/>
            <a:ext cx="56896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nodes does BFS expand?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Processes all nodes above shallowest solution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Let depth of shallowest solution be 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Search takes time O(b</a:t>
            </a:r>
            <a:r>
              <a:rPr baseline="30000" lang="en-US" sz="2000"/>
              <a:t>s</a:t>
            </a:r>
            <a:r>
              <a:rPr lang="en-US" sz="2000"/>
              <a:t>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much space does the fringe take?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Has roughly the last tier, so O(b</a:t>
            </a:r>
            <a:r>
              <a:rPr baseline="30000" lang="en-US" sz="2000"/>
              <a:t>s</a:t>
            </a:r>
            <a:r>
              <a:rPr lang="en-US" sz="2000"/>
              <a:t>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complete?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 must be finite if a solution exists, so yes!</a:t>
            </a:r>
            <a:endParaRPr/>
          </a:p>
          <a:p>
            <a:pPr indent="-177772" lvl="2" marL="1142858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8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optimal?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Only if costs are all 1 (more on costs later)</a:t>
            </a:r>
            <a:endParaRPr/>
          </a:p>
          <a:p>
            <a:pPr indent="-1396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867" name="Google Shape;867;p23"/>
          <p:cNvSpPr/>
          <p:nvPr/>
        </p:nvSpPr>
        <p:spPr>
          <a:xfrm>
            <a:off x="7346954" y="2001835"/>
            <a:ext cx="2927351" cy="2554288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3"/>
          <p:cNvSpPr/>
          <p:nvPr/>
        </p:nvSpPr>
        <p:spPr>
          <a:xfrm>
            <a:off x="8701090" y="1931987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3"/>
          <p:cNvSpPr/>
          <p:nvPr/>
        </p:nvSpPr>
        <p:spPr>
          <a:xfrm>
            <a:off x="8469314" y="2357438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3"/>
          <p:cNvSpPr/>
          <p:nvPr/>
        </p:nvSpPr>
        <p:spPr>
          <a:xfrm>
            <a:off x="8945563" y="2347911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3"/>
          <p:cNvSpPr txBox="1"/>
          <p:nvPr/>
        </p:nvSpPr>
        <p:spPr>
          <a:xfrm>
            <a:off x="8599491" y="2208214"/>
            <a:ext cx="274639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3"/>
          <p:cNvSpPr/>
          <p:nvPr/>
        </p:nvSpPr>
        <p:spPr>
          <a:xfrm>
            <a:off x="8582026" y="2162175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3"/>
          <p:cNvSpPr txBox="1"/>
          <p:nvPr/>
        </p:nvSpPr>
        <p:spPr>
          <a:xfrm>
            <a:off x="8983664" y="1960562"/>
            <a:ext cx="298451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3"/>
          <p:cNvSpPr txBox="1"/>
          <p:nvPr/>
        </p:nvSpPr>
        <p:spPr>
          <a:xfrm>
            <a:off x="10410828" y="1812926"/>
            <a:ext cx="1119187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3"/>
          <p:cNvSpPr txBox="1"/>
          <p:nvPr/>
        </p:nvSpPr>
        <p:spPr>
          <a:xfrm>
            <a:off x="10412414" y="2166935"/>
            <a:ext cx="1119188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23"/>
          <p:cNvSpPr txBox="1"/>
          <p:nvPr/>
        </p:nvSpPr>
        <p:spPr>
          <a:xfrm>
            <a:off x="10412414" y="2578097"/>
            <a:ext cx="1119188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3"/>
          <p:cNvSpPr txBox="1"/>
          <p:nvPr/>
        </p:nvSpPr>
        <p:spPr>
          <a:xfrm>
            <a:off x="10426702" y="4203699"/>
            <a:ext cx="1460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3"/>
          <p:cNvSpPr/>
          <p:nvPr/>
        </p:nvSpPr>
        <p:spPr>
          <a:xfrm>
            <a:off x="8140701" y="4473576"/>
            <a:ext cx="179387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3"/>
          <p:cNvSpPr/>
          <p:nvPr/>
        </p:nvSpPr>
        <p:spPr>
          <a:xfrm>
            <a:off x="9193214" y="3397249"/>
            <a:ext cx="179388" cy="179387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3"/>
          <p:cNvSpPr/>
          <p:nvPr/>
        </p:nvSpPr>
        <p:spPr>
          <a:xfrm>
            <a:off x="8713787" y="3952876"/>
            <a:ext cx="179388" cy="179387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3"/>
          <p:cNvSpPr/>
          <p:nvPr/>
        </p:nvSpPr>
        <p:spPr>
          <a:xfrm>
            <a:off x="6915149" y="1752602"/>
            <a:ext cx="265112" cy="1684337"/>
          </a:xfrm>
          <a:prstGeom prst="leftBrace">
            <a:avLst>
              <a:gd fmla="val 52944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3"/>
          <p:cNvSpPr txBox="1"/>
          <p:nvPr/>
        </p:nvSpPr>
        <p:spPr>
          <a:xfrm>
            <a:off x="5905503" y="2392362"/>
            <a:ext cx="1265237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tiers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23"/>
          <p:cNvSpPr txBox="1"/>
          <p:nvPr/>
        </p:nvSpPr>
        <p:spPr>
          <a:xfrm>
            <a:off x="10401302" y="3179762"/>
            <a:ext cx="1460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3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DFS vs BFS</a:t>
            </a:r>
            <a:endParaRPr/>
          </a:p>
        </p:txBody>
      </p:sp>
      <p:pic>
        <p:nvPicPr>
          <p:cNvPr id="890" name="Google Shape;8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979" y="1619074"/>
            <a:ext cx="4723641" cy="3543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2779" y="1619535"/>
            <a:ext cx="4723641" cy="354273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24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DFS vs BFS</a:t>
            </a:r>
            <a:endParaRPr/>
          </a:p>
        </p:txBody>
      </p:sp>
      <p:sp>
        <p:nvSpPr>
          <p:cNvPr id="898" name="Google Shape;898;p25"/>
          <p:cNvSpPr txBox="1"/>
          <p:nvPr>
            <p:ph idx="1" type="body"/>
          </p:nvPr>
        </p:nvSpPr>
        <p:spPr>
          <a:xfrm>
            <a:off x="2971800" y="1397003"/>
            <a:ext cx="88138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When will BFS outperform DFS?</a:t>
            </a:r>
            <a:endParaRPr/>
          </a:p>
          <a:p>
            <a:pPr indent="-1396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1396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When will DFS outperform BFS?</a:t>
            </a:r>
            <a:endParaRPr/>
          </a:p>
        </p:txBody>
      </p:sp>
      <p:sp>
        <p:nvSpPr>
          <p:cNvPr id="899" name="Google Shape;899;p25"/>
          <p:cNvSpPr txBox="1"/>
          <p:nvPr/>
        </p:nvSpPr>
        <p:spPr>
          <a:xfrm>
            <a:off x="8458200" y="6488672"/>
            <a:ext cx="37338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[Demo: dfs/bfs maze water (L2D6)]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5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3bda022aa7_0_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DFS vs BFS</a:t>
            </a:r>
            <a:endParaRPr/>
          </a:p>
        </p:txBody>
      </p:sp>
      <p:sp>
        <p:nvSpPr>
          <p:cNvPr id="906" name="Google Shape;906;g33bda022aa7_0_20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907" name="Google Shape;907;g33bda022aa7_0_20"/>
          <p:cNvGraphicFramePr/>
          <p:nvPr/>
        </p:nvGraphicFramePr>
        <p:xfrm>
          <a:off x="2719438" y="155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{3901004F-E8EE-4F07-B8D5-DD821C836C5E}</a:tableStyleId>
              </a:tblPr>
              <a:tblGrid>
                <a:gridCol w="3832400"/>
                <a:gridCol w="1451925"/>
                <a:gridCol w="1468800"/>
              </a:tblGrid>
              <a:tr h="77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Scenario</a:t>
                      </a:r>
                      <a:endParaRPr b="1" sz="2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BFS Better?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DFS Better?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</a:tr>
              <a:tr h="540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Finding shortest path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82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Shallow &amp; wide search space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82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Deep &amp; narrow search space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82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Memory-constrained environments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82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Finding any solution (not optimal)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40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Solution is close to root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 Limited Search (DLS)</a:t>
            </a:r>
            <a:endParaRPr/>
          </a:p>
        </p:txBody>
      </p:sp>
      <p:sp>
        <p:nvSpPr>
          <p:cNvPr id="913" name="Google Shape;913;p26"/>
          <p:cNvSpPr txBox="1"/>
          <p:nvPr>
            <p:ph idx="1" type="body"/>
          </p:nvPr>
        </p:nvSpPr>
        <p:spPr>
          <a:xfrm>
            <a:off x="406400" y="1397003"/>
            <a:ext cx="4117149" cy="172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US" sz="1800">
                <a:solidFill>
                  <a:schemeClr val="dk1"/>
                </a:solidFill>
              </a:rPr>
              <a:t>Strategy: use DFS with a depth limit</a:t>
            </a:r>
            <a:endParaRPr/>
          </a:p>
        </p:txBody>
      </p:sp>
      <p:grpSp>
        <p:nvGrpSpPr>
          <p:cNvPr id="914" name="Google Shape;914;p26"/>
          <p:cNvGrpSpPr/>
          <p:nvPr/>
        </p:nvGrpSpPr>
        <p:grpSpPr>
          <a:xfrm>
            <a:off x="4589461" y="1358902"/>
            <a:ext cx="3030539" cy="1765300"/>
            <a:chOff x="624" y="1134"/>
            <a:chExt cx="4368" cy="2544"/>
          </a:xfrm>
        </p:grpSpPr>
        <p:sp>
          <p:nvSpPr>
            <p:cNvPr id="915" name="Google Shape;915;p26"/>
            <p:cNvSpPr/>
            <p:nvPr/>
          </p:nvSpPr>
          <p:spPr>
            <a:xfrm>
              <a:off x="624" y="2625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4560" y="1134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1878" y="2231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970" y="1573"/>
              <a:ext cx="432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1402" y="3108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2440" y="3239"/>
              <a:ext cx="433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2916" y="1529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3522" y="2055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3176" y="2669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1748" y="1178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4430" y="2318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4257" y="3108"/>
              <a:ext cx="432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7" name="Google Shape;927;p26"/>
            <p:cNvCxnSpPr>
              <a:stCxn id="915" idx="5"/>
              <a:endCxn id="919" idx="2"/>
            </p:cNvCxnSpPr>
            <p:nvPr/>
          </p:nvCxnSpPr>
          <p:spPr>
            <a:xfrm>
              <a:off x="993" y="300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28" name="Google Shape;928;p26"/>
            <p:cNvCxnSpPr>
              <a:stCxn id="919" idx="5"/>
              <a:endCxn id="920" idx="2"/>
            </p:cNvCxnSpPr>
            <p:nvPr/>
          </p:nvCxnSpPr>
          <p:spPr>
            <a:xfrm>
              <a:off x="1772" y="3482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29" name="Google Shape;929;p26"/>
            <p:cNvCxnSpPr>
              <a:stCxn id="923" idx="3"/>
              <a:endCxn id="920" idx="7"/>
            </p:cNvCxnSpPr>
            <p:nvPr/>
          </p:nvCxnSpPr>
          <p:spPr>
            <a:xfrm flipH="1">
              <a:off x="2939" y="304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0" name="Google Shape;930;p26"/>
            <p:cNvCxnSpPr>
              <a:stCxn id="923" idx="2"/>
              <a:endCxn id="919" idx="6"/>
            </p:cNvCxnSpPr>
            <p:nvPr/>
          </p:nvCxnSpPr>
          <p:spPr>
            <a:xfrm flipH="1">
              <a:off x="1976" y="2889"/>
              <a:ext cx="12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1" name="Google Shape;931;p26"/>
            <p:cNvCxnSpPr>
              <a:stCxn id="922" idx="4"/>
              <a:endCxn id="923" idx="7"/>
            </p:cNvCxnSpPr>
            <p:nvPr/>
          </p:nvCxnSpPr>
          <p:spPr>
            <a:xfrm flipH="1">
              <a:off x="3438" y="249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" name="Google Shape;932;p26"/>
            <p:cNvCxnSpPr>
              <a:stCxn id="922" idx="5"/>
              <a:endCxn id="926" idx="1"/>
            </p:cNvCxnSpPr>
            <p:nvPr/>
          </p:nvCxnSpPr>
          <p:spPr>
            <a:xfrm>
              <a:off x="3891" y="2430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3" name="Google Shape;933;p26"/>
            <p:cNvCxnSpPr>
              <a:stCxn id="926" idx="0"/>
              <a:endCxn id="925" idx="4"/>
            </p:cNvCxnSpPr>
            <p:nvPr/>
          </p:nvCxnSpPr>
          <p:spPr>
            <a:xfrm flipH="1" rot="10800000">
              <a:off x="4473" y="2808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4" name="Google Shape;934;p26"/>
            <p:cNvCxnSpPr>
              <a:stCxn id="925" idx="0"/>
              <a:endCxn id="916" idx="4"/>
            </p:cNvCxnSpPr>
            <p:nvPr/>
          </p:nvCxnSpPr>
          <p:spPr>
            <a:xfrm rot="10800000">
              <a:off x="4646" y="1718"/>
              <a:ext cx="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5" name="Google Shape;935;p26"/>
            <p:cNvCxnSpPr>
              <a:stCxn id="915" idx="7"/>
            </p:cNvCxnSpPr>
            <p:nvPr/>
          </p:nvCxnSpPr>
          <p:spPr>
            <a:xfrm flipH="1" rot="10800000">
              <a:off x="993" y="2389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6" name="Google Shape;936;p26"/>
            <p:cNvCxnSpPr>
              <a:stCxn id="917" idx="1"/>
              <a:endCxn id="918" idx="5"/>
            </p:cNvCxnSpPr>
            <p:nvPr/>
          </p:nvCxnSpPr>
          <p:spPr>
            <a:xfrm rot="10800000">
              <a:off x="1341" y="1995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7" name="Google Shape;937;p26"/>
            <p:cNvCxnSpPr>
              <a:endCxn id="924" idx="2"/>
            </p:cNvCxnSpPr>
            <p:nvPr/>
          </p:nvCxnSpPr>
          <p:spPr>
            <a:xfrm flipH="1" rot="10800000">
              <a:off x="1448" y="1397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8" name="Google Shape;938;p26"/>
            <p:cNvCxnSpPr>
              <a:stCxn id="921" idx="2"/>
              <a:endCxn id="924" idx="6"/>
            </p:cNvCxnSpPr>
            <p:nvPr/>
          </p:nvCxnSpPr>
          <p:spPr>
            <a:xfrm rot="10800000">
              <a:off x="2316" y="1448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9" name="Google Shape;939;p26"/>
            <p:cNvCxnSpPr>
              <a:stCxn id="917" idx="7"/>
              <a:endCxn id="921" idx="3"/>
            </p:cNvCxnSpPr>
            <p:nvPr/>
          </p:nvCxnSpPr>
          <p:spPr>
            <a:xfrm flipH="1" rot="10800000">
              <a:off x="2248" y="1995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40" name="Google Shape;940;p26"/>
            <p:cNvCxnSpPr>
              <a:stCxn id="917" idx="6"/>
              <a:endCxn id="922" idx="2"/>
            </p:cNvCxnSpPr>
            <p:nvPr/>
          </p:nvCxnSpPr>
          <p:spPr>
            <a:xfrm flipH="1" rot="10800000">
              <a:off x="2311" y="2150"/>
              <a:ext cx="12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41" name="Google Shape;941;p26"/>
            <p:cNvCxnSpPr>
              <a:stCxn id="925" idx="1"/>
              <a:endCxn id="921" idx="6"/>
            </p:cNvCxnSpPr>
            <p:nvPr/>
          </p:nvCxnSpPr>
          <p:spPr>
            <a:xfrm flipH="1" rot="5400000">
              <a:off x="3593" y="1482"/>
              <a:ext cx="600" cy="12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42" name="Google Shape;942;p26"/>
            <p:cNvCxnSpPr>
              <a:stCxn id="915" idx="6"/>
              <a:endCxn id="922" idx="3"/>
            </p:cNvCxnSpPr>
            <p:nvPr/>
          </p:nvCxnSpPr>
          <p:spPr>
            <a:xfrm flipH="1" rot="10800000">
              <a:off x="1056" y="2545"/>
              <a:ext cx="24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943" name="Google Shape;943;p26"/>
          <p:cNvCxnSpPr/>
          <p:nvPr/>
        </p:nvCxnSpPr>
        <p:spPr>
          <a:xfrm>
            <a:off x="2" y="3371851"/>
            <a:ext cx="1219200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44" name="Google Shape;9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156" y="3412727"/>
            <a:ext cx="7259063" cy="3445272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26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 Limited Search (DLS) Properties</a:t>
            </a:r>
            <a:endParaRPr/>
          </a:p>
        </p:txBody>
      </p:sp>
      <p:sp>
        <p:nvSpPr>
          <p:cNvPr id="951" name="Google Shape;951;p27"/>
          <p:cNvSpPr txBox="1"/>
          <p:nvPr>
            <p:ph idx="1" type="body"/>
          </p:nvPr>
        </p:nvSpPr>
        <p:spPr>
          <a:xfrm>
            <a:off x="406400" y="1397003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Complete: Guaranteed to find a solution if one exists?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Optimal: Guaranteed to find the least cost path?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Time complexity?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Space complexity?</a:t>
            </a:r>
            <a:endParaRPr/>
          </a:p>
          <a:p>
            <a:pPr indent="-158715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396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952" name="Google Shape;952;p27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8"/>
          <p:cNvSpPr/>
          <p:nvPr/>
        </p:nvSpPr>
        <p:spPr>
          <a:xfrm>
            <a:off x="9250359" y="2112965"/>
            <a:ext cx="965200" cy="828675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28"/>
          <p:cNvSpPr/>
          <p:nvPr/>
        </p:nvSpPr>
        <p:spPr>
          <a:xfrm>
            <a:off x="8866184" y="2112968"/>
            <a:ext cx="1725613" cy="1470025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28"/>
          <p:cNvSpPr/>
          <p:nvPr/>
        </p:nvSpPr>
        <p:spPr>
          <a:xfrm>
            <a:off x="9070978" y="2119313"/>
            <a:ext cx="1323975" cy="1162051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2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Iterative Deepening</a:t>
            </a:r>
            <a:endParaRPr/>
          </a:p>
        </p:txBody>
      </p:sp>
      <p:sp>
        <p:nvSpPr>
          <p:cNvPr id="961" name="Google Shape;961;p28"/>
          <p:cNvSpPr/>
          <p:nvPr/>
        </p:nvSpPr>
        <p:spPr>
          <a:xfrm>
            <a:off x="8274051" y="2093912"/>
            <a:ext cx="2927351" cy="2554288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28"/>
          <p:cNvSpPr/>
          <p:nvPr/>
        </p:nvSpPr>
        <p:spPr>
          <a:xfrm>
            <a:off x="9628187" y="2024063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28"/>
          <p:cNvSpPr/>
          <p:nvPr/>
        </p:nvSpPr>
        <p:spPr>
          <a:xfrm>
            <a:off x="9396411" y="2449515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28"/>
          <p:cNvSpPr/>
          <p:nvPr/>
        </p:nvSpPr>
        <p:spPr>
          <a:xfrm>
            <a:off x="9872659" y="2439987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28"/>
          <p:cNvSpPr txBox="1"/>
          <p:nvPr/>
        </p:nvSpPr>
        <p:spPr>
          <a:xfrm>
            <a:off x="9526589" y="2300291"/>
            <a:ext cx="274639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28"/>
          <p:cNvSpPr/>
          <p:nvPr/>
        </p:nvSpPr>
        <p:spPr>
          <a:xfrm>
            <a:off x="9509123" y="2254251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28"/>
          <p:cNvSpPr txBox="1"/>
          <p:nvPr/>
        </p:nvSpPr>
        <p:spPr>
          <a:xfrm>
            <a:off x="9910761" y="2052639"/>
            <a:ext cx="298451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28"/>
          <p:cNvSpPr/>
          <p:nvPr/>
        </p:nvSpPr>
        <p:spPr>
          <a:xfrm>
            <a:off x="10120311" y="3489325"/>
            <a:ext cx="179388" cy="179387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28"/>
          <p:cNvSpPr/>
          <p:nvPr/>
        </p:nvSpPr>
        <p:spPr>
          <a:xfrm>
            <a:off x="9472614" y="2119315"/>
            <a:ext cx="511175" cy="419100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28"/>
          <p:cNvSpPr txBox="1"/>
          <p:nvPr>
            <p:ph idx="1" type="body"/>
          </p:nvPr>
        </p:nvSpPr>
        <p:spPr>
          <a:xfrm>
            <a:off x="406400" y="1397003"/>
            <a:ext cx="69088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Idea: get DFS’s space advantage with BFS’s time / shallow-solution advantages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Run a DFS with depth limit 1.  If no solution…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Run a DFS with depth limit 2.  If no solution…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Run a DFS with depth limit 3.  …..</a:t>
            </a:r>
            <a:endParaRPr/>
          </a:p>
          <a:p>
            <a:pPr indent="-133315" lvl="1" marL="74285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Isn’t that wastefully redundant?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Generally most work happens in the lowest level searched, so not so bad!</a:t>
            </a:r>
            <a:endParaRPr/>
          </a:p>
        </p:txBody>
      </p:sp>
      <p:sp>
        <p:nvSpPr>
          <p:cNvPr id="971" name="Google Shape;971;p28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Cost-Sensitive Search</a:t>
            </a:r>
            <a:endParaRPr/>
          </a:p>
        </p:txBody>
      </p:sp>
      <p:sp>
        <p:nvSpPr>
          <p:cNvPr id="977" name="Google Shape;977;p29"/>
          <p:cNvSpPr txBox="1"/>
          <p:nvPr>
            <p:ph idx="4294967295" type="body"/>
          </p:nvPr>
        </p:nvSpPr>
        <p:spPr>
          <a:xfrm>
            <a:off x="0" y="5486401"/>
            <a:ext cx="12192000" cy="1227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BFS finds the shortest path in terms of number of actions.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It does not find the least-cost path.  We will now cover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 similar algorithm which does find the least-cost path.  </a:t>
            </a:r>
            <a:endParaRPr/>
          </a:p>
        </p:txBody>
      </p:sp>
      <p:grpSp>
        <p:nvGrpSpPr>
          <p:cNvPr id="978" name="Google Shape;978;p29"/>
          <p:cNvGrpSpPr/>
          <p:nvPr/>
        </p:nvGrpSpPr>
        <p:grpSpPr>
          <a:xfrm>
            <a:off x="2597149" y="1371603"/>
            <a:ext cx="6699251" cy="3840163"/>
            <a:chOff x="768" y="720"/>
            <a:chExt cx="4176" cy="2304"/>
          </a:xfrm>
        </p:grpSpPr>
        <p:grpSp>
          <p:nvGrpSpPr>
            <p:cNvPr id="979" name="Google Shape;979;p29"/>
            <p:cNvGrpSpPr/>
            <p:nvPr/>
          </p:nvGrpSpPr>
          <p:grpSpPr>
            <a:xfrm>
              <a:off x="768" y="720"/>
              <a:ext cx="4176" cy="2304"/>
              <a:chOff x="336" y="576"/>
              <a:chExt cx="4848" cy="2784"/>
            </a:xfrm>
          </p:grpSpPr>
          <p:sp>
            <p:nvSpPr>
              <p:cNvPr id="980" name="Google Shape;980;p29"/>
              <p:cNvSpPr/>
              <p:nvPr/>
            </p:nvSpPr>
            <p:spPr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START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29"/>
              <p:cNvSpPr/>
              <p:nvPr/>
            </p:nvSpPr>
            <p:spPr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GOAL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29"/>
              <p:cNvSpPr/>
              <p:nvPr/>
            </p:nvSpPr>
            <p:spPr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29"/>
              <p:cNvSpPr/>
              <p:nvPr/>
            </p:nvSpPr>
            <p:spPr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29"/>
              <p:cNvSpPr/>
              <p:nvPr/>
            </p:nvSpPr>
            <p:spPr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29"/>
              <p:cNvSpPr/>
              <p:nvPr/>
            </p:nvSpPr>
            <p:spPr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29"/>
              <p:cNvSpPr/>
              <p:nvPr/>
            </p:nvSpPr>
            <p:spPr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29"/>
              <p:cNvSpPr/>
              <p:nvPr/>
            </p:nvSpPr>
            <p:spPr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29"/>
              <p:cNvSpPr/>
              <p:nvPr/>
            </p:nvSpPr>
            <p:spPr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29"/>
              <p:cNvSpPr/>
              <p:nvPr/>
            </p:nvSpPr>
            <p:spPr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29"/>
              <p:cNvSpPr/>
              <p:nvPr/>
            </p:nvSpPr>
            <p:spPr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29"/>
              <p:cNvSpPr/>
              <p:nvPr/>
            </p:nvSpPr>
            <p:spPr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92" name="Google Shape;992;p29"/>
              <p:cNvCxnSpPr>
                <a:stCxn id="980" idx="5"/>
                <a:endCxn id="984" idx="2"/>
              </p:cNvCxnSpPr>
              <p:nvPr/>
            </p:nvCxnSpPr>
            <p:spPr>
              <a:xfrm>
                <a:off x="746" y="2618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3" name="Google Shape;993;p29"/>
              <p:cNvCxnSpPr>
                <a:stCxn id="984" idx="5"/>
                <a:endCxn id="985" idx="2"/>
              </p:cNvCxnSpPr>
              <p:nvPr/>
            </p:nvCxnSpPr>
            <p:spPr>
              <a:xfrm>
                <a:off x="1610" y="3146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4" name="Google Shape;994;p29"/>
              <p:cNvCxnSpPr>
                <a:stCxn id="988" idx="3"/>
                <a:endCxn id="985" idx="7"/>
              </p:cNvCxnSpPr>
              <p:nvPr/>
            </p:nvCxnSpPr>
            <p:spPr>
              <a:xfrm flipH="1">
                <a:off x="2638" y="266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5" name="Google Shape;995;p29"/>
              <p:cNvCxnSpPr>
                <a:stCxn id="988" idx="2"/>
                <a:endCxn id="984" idx="6"/>
              </p:cNvCxnSpPr>
              <p:nvPr/>
            </p:nvCxnSpPr>
            <p:spPr>
              <a:xfrm flipH="1">
                <a:off x="1668" y="2496"/>
                <a:ext cx="15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6" name="Google Shape;996;p29"/>
              <p:cNvCxnSpPr>
                <a:stCxn id="987" idx="4"/>
                <a:endCxn id="988" idx="7"/>
              </p:cNvCxnSpPr>
              <p:nvPr/>
            </p:nvCxnSpPr>
            <p:spPr>
              <a:xfrm flipH="1">
                <a:off x="3492" y="20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7" name="Google Shape;997;p29"/>
              <p:cNvCxnSpPr>
                <a:stCxn id="987" idx="5"/>
                <a:endCxn id="991" idx="1"/>
              </p:cNvCxnSpPr>
              <p:nvPr/>
            </p:nvCxnSpPr>
            <p:spPr>
              <a:xfrm>
                <a:off x="3962" y="1994"/>
                <a:ext cx="60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8" name="Google Shape;998;p29"/>
              <p:cNvCxnSpPr>
                <a:stCxn id="991" idx="0"/>
                <a:endCxn id="990" idx="4"/>
              </p:cNvCxnSpPr>
              <p:nvPr/>
            </p:nvCxnSpPr>
            <p:spPr>
              <a:xfrm flipH="1" rot="10800000">
                <a:off x="4608" y="243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9" name="Google Shape;999;p29"/>
              <p:cNvCxnSpPr>
                <a:stCxn id="990" idx="0"/>
                <a:endCxn id="981" idx="4"/>
              </p:cNvCxnSpPr>
              <p:nvPr/>
            </p:nvCxnSpPr>
            <p:spPr>
              <a:xfrm rot="10800000">
                <a:off x="4800" y="972"/>
                <a:ext cx="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0" name="Google Shape;1000;p29"/>
              <p:cNvCxnSpPr>
                <a:stCxn id="980" idx="7"/>
              </p:cNvCxnSpPr>
              <p:nvPr/>
            </p:nvCxnSpPr>
            <p:spPr>
              <a:xfrm flipH="1" rot="10800000">
                <a:off x="746" y="197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1" name="Google Shape;1001;p29"/>
              <p:cNvCxnSpPr>
                <a:stCxn id="982" idx="1"/>
                <a:endCxn id="983" idx="5"/>
              </p:cNvCxnSpPr>
              <p:nvPr/>
            </p:nvCxnSpPr>
            <p:spPr>
              <a:xfrm rot="10800000">
                <a:off x="1198" y="154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2" name="Google Shape;1002;p29"/>
              <p:cNvCxnSpPr>
                <a:endCxn id="989" idx="2"/>
              </p:cNvCxnSpPr>
              <p:nvPr/>
            </p:nvCxnSpPr>
            <p:spPr>
              <a:xfrm flipH="1" rot="10800000">
                <a:off x="1284" y="8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3" name="Google Shape;1003;p29"/>
              <p:cNvCxnSpPr>
                <a:stCxn id="986" idx="2"/>
                <a:endCxn id="989" idx="6"/>
              </p:cNvCxnSpPr>
              <p:nvPr/>
            </p:nvCxnSpPr>
            <p:spPr>
              <a:xfrm rot="10800000">
                <a:off x="1980" y="94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4" name="Google Shape;1004;p29"/>
              <p:cNvCxnSpPr>
                <a:stCxn id="982" idx="7"/>
                <a:endCxn id="986" idx="3"/>
              </p:cNvCxnSpPr>
              <p:nvPr/>
            </p:nvCxnSpPr>
            <p:spPr>
              <a:xfrm flipH="1" rot="10800000">
                <a:off x="2138" y="1546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5" name="Google Shape;1005;p29"/>
              <p:cNvCxnSpPr>
                <a:stCxn id="982" idx="6"/>
                <a:endCxn id="987" idx="2"/>
              </p:cNvCxnSpPr>
              <p:nvPr/>
            </p:nvCxnSpPr>
            <p:spPr>
              <a:xfrm flipH="1" rot="10800000">
                <a:off x="2208" y="1716"/>
                <a:ext cx="12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6" name="Google Shape;1006;p29"/>
              <p:cNvCxnSpPr>
                <a:stCxn id="990" idx="1"/>
                <a:endCxn id="986" idx="6"/>
              </p:cNvCxnSpPr>
              <p:nvPr/>
            </p:nvCxnSpPr>
            <p:spPr>
              <a:xfrm flipH="1" rot="5400000">
                <a:off x="3730" y="1042"/>
                <a:ext cx="600" cy="12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7" name="Google Shape;1007;p29"/>
              <p:cNvCxnSpPr>
                <a:stCxn id="980" idx="6"/>
                <a:endCxn id="987" idx="3"/>
              </p:cNvCxnSpPr>
              <p:nvPr/>
            </p:nvCxnSpPr>
            <p:spPr>
              <a:xfrm flipH="1" rot="10800000">
                <a:off x="816" y="1848"/>
                <a:ext cx="2700" cy="6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1008" name="Google Shape;1008;p29"/>
            <p:cNvSpPr txBox="1"/>
            <p:nvPr/>
          </p:nvSpPr>
          <p:spPr>
            <a:xfrm>
              <a:off x="1440" y="912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9"/>
            <p:cNvSpPr txBox="1"/>
            <p:nvPr/>
          </p:nvSpPr>
          <p:spPr>
            <a:xfrm>
              <a:off x="2544" y="1968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9"/>
            <p:cNvSpPr txBox="1"/>
            <p:nvPr/>
          </p:nvSpPr>
          <p:spPr>
            <a:xfrm>
              <a:off x="4032" y="2016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9"/>
            <p:cNvSpPr txBox="1"/>
            <p:nvPr/>
          </p:nvSpPr>
          <p:spPr>
            <a:xfrm>
              <a:off x="2449" y="1440"/>
              <a:ext cx="191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9"/>
            <p:cNvSpPr txBox="1"/>
            <p:nvPr/>
          </p:nvSpPr>
          <p:spPr>
            <a:xfrm>
              <a:off x="1728" y="1440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29"/>
            <p:cNvSpPr txBox="1"/>
            <p:nvPr/>
          </p:nvSpPr>
          <p:spPr>
            <a:xfrm>
              <a:off x="3648" y="1968"/>
              <a:ext cx="193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9"/>
            <p:cNvSpPr txBox="1"/>
            <p:nvPr/>
          </p:nvSpPr>
          <p:spPr>
            <a:xfrm>
              <a:off x="2592" y="960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9"/>
            <p:cNvSpPr txBox="1"/>
            <p:nvPr/>
          </p:nvSpPr>
          <p:spPr>
            <a:xfrm>
              <a:off x="1344" y="1824"/>
              <a:ext cx="193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9"/>
            <p:cNvSpPr txBox="1"/>
            <p:nvPr/>
          </p:nvSpPr>
          <p:spPr>
            <a:xfrm>
              <a:off x="4512" y="2304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29"/>
            <p:cNvSpPr txBox="1"/>
            <p:nvPr/>
          </p:nvSpPr>
          <p:spPr>
            <a:xfrm>
              <a:off x="3600" y="2544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29"/>
            <p:cNvSpPr txBox="1"/>
            <p:nvPr/>
          </p:nvSpPr>
          <p:spPr>
            <a:xfrm>
              <a:off x="3024" y="2544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29"/>
            <p:cNvSpPr txBox="1"/>
            <p:nvPr/>
          </p:nvSpPr>
          <p:spPr>
            <a:xfrm>
              <a:off x="2352" y="2304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29"/>
            <p:cNvSpPr txBox="1"/>
            <p:nvPr/>
          </p:nvSpPr>
          <p:spPr>
            <a:xfrm>
              <a:off x="2208" y="2640"/>
              <a:ext cx="288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29"/>
            <p:cNvSpPr txBox="1"/>
            <p:nvPr/>
          </p:nvSpPr>
          <p:spPr>
            <a:xfrm>
              <a:off x="1248" y="2352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29"/>
            <p:cNvSpPr txBox="1"/>
            <p:nvPr/>
          </p:nvSpPr>
          <p:spPr>
            <a:xfrm>
              <a:off x="4080" y="1248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29"/>
            <p:cNvSpPr txBox="1"/>
            <p:nvPr/>
          </p:nvSpPr>
          <p:spPr>
            <a:xfrm>
              <a:off x="4704" y="1344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4" name="Google Shape;1024;p29"/>
            <p:cNvCxnSpPr>
              <a:stCxn id="985" idx="6"/>
              <a:endCxn id="991" idx="2"/>
            </p:cNvCxnSpPr>
            <p:nvPr/>
          </p:nvCxnSpPr>
          <p:spPr>
            <a:xfrm>
              <a:off x="2918" y="2825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25" name="Google Shape;1025;p29"/>
            <p:cNvSpPr txBox="1"/>
            <p:nvPr/>
          </p:nvSpPr>
          <p:spPr>
            <a:xfrm>
              <a:off x="2929" y="1632"/>
              <a:ext cx="191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6" name="Google Shape;1026;p29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Search</a:t>
            </a:r>
            <a:endParaRPr/>
          </a:p>
        </p:txBody>
      </p:sp>
      <p:pic>
        <p:nvPicPr>
          <p:cNvPr id="1032" name="Google Shape;10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5520" y="548640"/>
            <a:ext cx="7802880" cy="58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30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8" name="Google Shape;1038;p31"/>
          <p:cNvGrpSpPr/>
          <p:nvPr/>
        </p:nvGrpSpPr>
        <p:grpSpPr>
          <a:xfrm>
            <a:off x="2441580" y="3408366"/>
            <a:ext cx="6716713" cy="3349625"/>
            <a:chOff x="657" y="2180"/>
            <a:chExt cx="4231" cy="2110"/>
          </a:xfrm>
        </p:grpSpPr>
        <p:sp>
          <p:nvSpPr>
            <p:cNvPr id="1039" name="Google Shape;1039;p31"/>
            <p:cNvSpPr/>
            <p:nvPr/>
          </p:nvSpPr>
          <p:spPr>
            <a:xfrm>
              <a:off x="2261" y="2180"/>
              <a:ext cx="1938" cy="221"/>
            </a:xfrm>
            <a:custGeom>
              <a:rect b="b" l="l" r="r" t="t"/>
              <a:pathLst>
                <a:path extrusionOk="0" h="221" w="1938">
                  <a:moveTo>
                    <a:pt x="1938" y="0"/>
                  </a:moveTo>
                  <a:lnTo>
                    <a:pt x="1066" y="210"/>
                  </a:lnTo>
                  <a:lnTo>
                    <a:pt x="662" y="221"/>
                  </a:lnTo>
                  <a:lnTo>
                    <a:pt x="0" y="32"/>
                  </a:lnTo>
                </a:path>
              </a:pathLst>
            </a:custGeom>
            <a:solidFill>
              <a:srgbClr val="FF3300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657" y="2180"/>
              <a:ext cx="4231" cy="1271"/>
            </a:xfrm>
            <a:custGeom>
              <a:rect b="b" l="l" r="r" t="t"/>
              <a:pathLst>
                <a:path extrusionOk="0" h="1271" w="4231">
                  <a:moveTo>
                    <a:pt x="4231" y="32"/>
                  </a:moveTo>
                  <a:lnTo>
                    <a:pt x="4150" y="479"/>
                  </a:lnTo>
                  <a:lnTo>
                    <a:pt x="3510" y="544"/>
                  </a:lnTo>
                  <a:lnTo>
                    <a:pt x="2853" y="232"/>
                  </a:lnTo>
                  <a:lnTo>
                    <a:pt x="2212" y="285"/>
                  </a:lnTo>
                  <a:lnTo>
                    <a:pt x="1846" y="818"/>
                  </a:lnTo>
                  <a:lnTo>
                    <a:pt x="1405" y="824"/>
                  </a:lnTo>
                  <a:lnTo>
                    <a:pt x="1259" y="608"/>
                  </a:lnTo>
                  <a:lnTo>
                    <a:pt x="942" y="598"/>
                  </a:lnTo>
                  <a:lnTo>
                    <a:pt x="845" y="1179"/>
                  </a:lnTo>
                  <a:lnTo>
                    <a:pt x="350" y="1271"/>
                  </a:lnTo>
                  <a:lnTo>
                    <a:pt x="0" y="189"/>
                  </a:lnTo>
                  <a:lnTo>
                    <a:pt x="1604" y="27"/>
                  </a:lnTo>
                  <a:lnTo>
                    <a:pt x="2234" y="210"/>
                  </a:lnTo>
                  <a:lnTo>
                    <a:pt x="2654" y="216"/>
                  </a:lnTo>
                  <a:lnTo>
                    <a:pt x="3526" y="0"/>
                  </a:lnTo>
                  <a:lnTo>
                    <a:pt x="4226" y="27"/>
                  </a:lnTo>
                </a:path>
              </a:pathLst>
            </a:custGeom>
            <a:solidFill>
              <a:srgbClr val="FF9900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1007" y="2396"/>
              <a:ext cx="3789" cy="1313"/>
            </a:xfrm>
            <a:custGeom>
              <a:rect b="b" l="l" r="r" t="t"/>
              <a:pathLst>
                <a:path extrusionOk="0" h="1313" w="3789">
                  <a:moveTo>
                    <a:pt x="3789" y="269"/>
                  </a:moveTo>
                  <a:lnTo>
                    <a:pt x="3784" y="323"/>
                  </a:lnTo>
                  <a:lnTo>
                    <a:pt x="3160" y="387"/>
                  </a:lnTo>
                  <a:lnTo>
                    <a:pt x="2072" y="312"/>
                  </a:lnTo>
                  <a:lnTo>
                    <a:pt x="1733" y="635"/>
                  </a:lnTo>
                  <a:lnTo>
                    <a:pt x="1668" y="1302"/>
                  </a:lnTo>
                  <a:lnTo>
                    <a:pt x="1270" y="1313"/>
                  </a:lnTo>
                  <a:lnTo>
                    <a:pt x="1152" y="683"/>
                  </a:lnTo>
                  <a:lnTo>
                    <a:pt x="920" y="602"/>
                  </a:lnTo>
                  <a:lnTo>
                    <a:pt x="818" y="403"/>
                  </a:lnTo>
                  <a:lnTo>
                    <a:pt x="608" y="398"/>
                  </a:lnTo>
                  <a:lnTo>
                    <a:pt x="516" y="1012"/>
                  </a:lnTo>
                  <a:lnTo>
                    <a:pt x="0" y="1125"/>
                  </a:lnTo>
                  <a:lnTo>
                    <a:pt x="0" y="1049"/>
                  </a:lnTo>
                  <a:lnTo>
                    <a:pt x="490" y="958"/>
                  </a:lnTo>
                  <a:lnTo>
                    <a:pt x="592" y="376"/>
                  </a:lnTo>
                  <a:lnTo>
                    <a:pt x="920" y="387"/>
                  </a:lnTo>
                  <a:lnTo>
                    <a:pt x="1049" y="608"/>
                  </a:lnTo>
                  <a:lnTo>
                    <a:pt x="1496" y="597"/>
                  </a:lnTo>
                  <a:lnTo>
                    <a:pt x="1857" y="69"/>
                  </a:lnTo>
                  <a:lnTo>
                    <a:pt x="2497" y="0"/>
                  </a:lnTo>
                  <a:lnTo>
                    <a:pt x="3170" y="328"/>
                  </a:lnTo>
                  <a:lnTo>
                    <a:pt x="3789" y="269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996" y="2697"/>
              <a:ext cx="3784" cy="1330"/>
            </a:xfrm>
            <a:custGeom>
              <a:rect b="b" l="l" r="r" t="t"/>
              <a:pathLst>
                <a:path extrusionOk="0" h="1330" w="3784">
                  <a:moveTo>
                    <a:pt x="3784" y="27"/>
                  </a:moveTo>
                  <a:lnTo>
                    <a:pt x="3768" y="75"/>
                  </a:lnTo>
                  <a:lnTo>
                    <a:pt x="3208" y="113"/>
                  </a:lnTo>
                  <a:lnTo>
                    <a:pt x="2094" y="43"/>
                  </a:lnTo>
                  <a:lnTo>
                    <a:pt x="1787" y="350"/>
                  </a:lnTo>
                  <a:lnTo>
                    <a:pt x="1723" y="1287"/>
                  </a:lnTo>
                  <a:lnTo>
                    <a:pt x="1400" y="1330"/>
                  </a:lnTo>
                  <a:lnTo>
                    <a:pt x="1378" y="1055"/>
                  </a:lnTo>
                  <a:lnTo>
                    <a:pt x="1216" y="1039"/>
                  </a:lnTo>
                  <a:lnTo>
                    <a:pt x="1120" y="393"/>
                  </a:lnTo>
                  <a:lnTo>
                    <a:pt x="899" y="323"/>
                  </a:lnTo>
                  <a:lnTo>
                    <a:pt x="791" y="102"/>
                  </a:lnTo>
                  <a:lnTo>
                    <a:pt x="630" y="118"/>
                  </a:lnTo>
                  <a:lnTo>
                    <a:pt x="549" y="770"/>
                  </a:lnTo>
                  <a:lnTo>
                    <a:pt x="21" y="883"/>
                  </a:lnTo>
                  <a:lnTo>
                    <a:pt x="0" y="813"/>
                  </a:lnTo>
                  <a:lnTo>
                    <a:pt x="517" y="711"/>
                  </a:lnTo>
                  <a:lnTo>
                    <a:pt x="619" y="75"/>
                  </a:lnTo>
                  <a:lnTo>
                    <a:pt x="840" y="102"/>
                  </a:lnTo>
                  <a:lnTo>
                    <a:pt x="931" y="307"/>
                  </a:lnTo>
                  <a:lnTo>
                    <a:pt x="1157" y="377"/>
                  </a:lnTo>
                  <a:lnTo>
                    <a:pt x="1276" y="1001"/>
                  </a:lnTo>
                  <a:lnTo>
                    <a:pt x="1674" y="996"/>
                  </a:lnTo>
                  <a:lnTo>
                    <a:pt x="1749" y="328"/>
                  </a:lnTo>
                  <a:lnTo>
                    <a:pt x="2089" y="0"/>
                  </a:lnTo>
                  <a:lnTo>
                    <a:pt x="3181" y="81"/>
                  </a:lnTo>
                  <a:lnTo>
                    <a:pt x="3784" y="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1012" y="2735"/>
              <a:ext cx="3736" cy="1555"/>
            </a:xfrm>
            <a:custGeom>
              <a:rect b="b" l="l" r="r" t="t"/>
              <a:pathLst>
                <a:path extrusionOk="0" h="1555" w="3736">
                  <a:moveTo>
                    <a:pt x="3736" y="43"/>
                  </a:moveTo>
                  <a:lnTo>
                    <a:pt x="3709" y="350"/>
                  </a:lnTo>
                  <a:lnTo>
                    <a:pt x="2460" y="1410"/>
                  </a:lnTo>
                  <a:lnTo>
                    <a:pt x="942" y="1555"/>
                  </a:lnTo>
                  <a:lnTo>
                    <a:pt x="70" y="1405"/>
                  </a:lnTo>
                  <a:lnTo>
                    <a:pt x="0" y="845"/>
                  </a:lnTo>
                  <a:lnTo>
                    <a:pt x="538" y="732"/>
                  </a:lnTo>
                  <a:lnTo>
                    <a:pt x="619" y="59"/>
                  </a:lnTo>
                  <a:lnTo>
                    <a:pt x="791" y="70"/>
                  </a:lnTo>
                  <a:lnTo>
                    <a:pt x="872" y="290"/>
                  </a:lnTo>
                  <a:lnTo>
                    <a:pt x="1109" y="360"/>
                  </a:lnTo>
                  <a:lnTo>
                    <a:pt x="1195" y="990"/>
                  </a:lnTo>
                  <a:lnTo>
                    <a:pt x="1362" y="1017"/>
                  </a:lnTo>
                  <a:lnTo>
                    <a:pt x="1389" y="1275"/>
                  </a:lnTo>
                  <a:lnTo>
                    <a:pt x="1696" y="1259"/>
                  </a:lnTo>
                  <a:lnTo>
                    <a:pt x="1776" y="306"/>
                  </a:lnTo>
                  <a:lnTo>
                    <a:pt x="2089" y="0"/>
                  </a:lnTo>
                  <a:lnTo>
                    <a:pt x="3208" y="75"/>
                  </a:lnTo>
                  <a:lnTo>
                    <a:pt x="3736" y="43"/>
                  </a:lnTo>
                  <a:close/>
                </a:path>
              </a:pathLst>
            </a:custGeom>
            <a:solidFill>
              <a:schemeClr val="lt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4" name="Google Shape;1044;p3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Search</a:t>
            </a:r>
            <a:endParaRPr/>
          </a:p>
        </p:txBody>
      </p:sp>
      <p:grpSp>
        <p:nvGrpSpPr>
          <p:cNvPr id="1045" name="Google Shape;1045;p31"/>
          <p:cNvGrpSpPr/>
          <p:nvPr/>
        </p:nvGrpSpPr>
        <p:grpSpPr>
          <a:xfrm>
            <a:off x="3227388" y="3381373"/>
            <a:ext cx="5486400" cy="3355591"/>
            <a:chOff x="48" y="2332"/>
            <a:chExt cx="3456" cy="2406"/>
          </a:xfrm>
        </p:grpSpPr>
        <p:sp>
          <p:nvSpPr>
            <p:cNvPr id="1046" name="Google Shape;1046;p31"/>
            <p:cNvSpPr txBox="1"/>
            <p:nvPr/>
          </p:nvSpPr>
          <p:spPr>
            <a:xfrm>
              <a:off x="1728" y="2332"/>
              <a:ext cx="624" cy="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31"/>
            <p:cNvSpPr txBox="1"/>
            <p:nvPr/>
          </p:nvSpPr>
          <p:spPr>
            <a:xfrm>
              <a:off x="48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31"/>
            <p:cNvSpPr txBox="1"/>
            <p:nvPr/>
          </p:nvSpPr>
          <p:spPr>
            <a:xfrm>
              <a:off x="48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31"/>
            <p:cNvSpPr txBox="1"/>
            <p:nvPr/>
          </p:nvSpPr>
          <p:spPr>
            <a:xfrm>
              <a:off x="384" y="2688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31"/>
            <p:cNvSpPr txBox="1"/>
            <p:nvPr/>
          </p:nvSpPr>
          <p:spPr>
            <a:xfrm>
              <a:off x="3264" y="2640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31"/>
            <p:cNvSpPr txBox="1"/>
            <p:nvPr/>
          </p:nvSpPr>
          <p:spPr>
            <a:xfrm>
              <a:off x="480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31"/>
            <p:cNvSpPr txBox="1"/>
            <p:nvPr/>
          </p:nvSpPr>
          <p:spPr>
            <a:xfrm>
              <a:off x="480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3" name="Google Shape;1053;p31"/>
            <p:cNvCxnSpPr>
              <a:stCxn id="1049" idx="2"/>
              <a:endCxn id="1048" idx="0"/>
            </p:cNvCxnSpPr>
            <p:nvPr/>
          </p:nvCxnSpPr>
          <p:spPr>
            <a:xfrm rot="10800000">
              <a:off x="204" y="2953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4" name="Google Shape;1054;p31"/>
            <p:cNvCxnSpPr>
              <a:stCxn id="1049" idx="2"/>
              <a:endCxn id="1052" idx="0"/>
            </p:cNvCxnSpPr>
            <p:nvPr/>
          </p:nvCxnSpPr>
          <p:spPr>
            <a:xfrm>
              <a:off x="504" y="2953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5" name="Google Shape;1055;p31"/>
            <p:cNvCxnSpPr>
              <a:stCxn id="1048" idx="2"/>
              <a:endCxn id="1047" idx="0"/>
            </p:cNvCxnSpPr>
            <p:nvPr/>
          </p:nvCxnSpPr>
          <p:spPr>
            <a:xfrm>
              <a:off x="168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6" name="Google Shape;1056;p31"/>
            <p:cNvCxnSpPr>
              <a:stCxn id="1052" idx="2"/>
              <a:endCxn id="1051" idx="0"/>
            </p:cNvCxnSpPr>
            <p:nvPr/>
          </p:nvCxnSpPr>
          <p:spPr>
            <a:xfrm>
              <a:off x="600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57" name="Google Shape;1057;p31"/>
            <p:cNvGrpSpPr/>
            <p:nvPr/>
          </p:nvGrpSpPr>
          <p:grpSpPr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1058" name="Google Shape;1058;p31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31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31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31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31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31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31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31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31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31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68" name="Google Shape;1068;p31"/>
              <p:cNvCxnSpPr>
                <a:stCxn id="1058" idx="2"/>
                <a:endCxn id="1060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9" name="Google Shape;1069;p31"/>
              <p:cNvCxnSpPr>
                <a:stCxn id="1058" idx="2"/>
                <a:endCxn id="1062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0" name="Google Shape;1070;p31"/>
              <p:cNvCxnSpPr>
                <a:stCxn id="1060" idx="2"/>
                <a:endCxn id="1059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1" name="Google Shape;1071;p31"/>
              <p:cNvCxnSpPr>
                <a:stCxn id="1060" idx="2"/>
                <a:endCxn id="1063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2" name="Google Shape;1072;p31"/>
              <p:cNvCxnSpPr>
                <a:stCxn id="1062" idx="2"/>
                <a:endCxn id="1061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3" name="Google Shape;1073;p31"/>
              <p:cNvCxnSpPr>
                <a:stCxn id="1059" idx="2"/>
                <a:endCxn id="1064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4" name="Google Shape;1074;p31"/>
              <p:cNvCxnSpPr>
                <a:stCxn id="1061" idx="2"/>
                <a:endCxn id="1065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5" name="Google Shape;1075;p31"/>
              <p:cNvCxnSpPr>
                <a:stCxn id="1061" idx="2"/>
                <a:endCxn id="1066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6" name="Google Shape;1076;p31"/>
              <p:cNvCxnSpPr>
                <a:stCxn id="1065" idx="2"/>
                <a:endCxn id="1067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077" name="Google Shape;1077;p31"/>
            <p:cNvSpPr txBox="1"/>
            <p:nvPr/>
          </p:nvSpPr>
          <p:spPr>
            <a:xfrm>
              <a:off x="3264" y="2994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8" name="Google Shape;1078;p31"/>
            <p:cNvCxnSpPr>
              <a:stCxn id="1050" idx="2"/>
              <a:endCxn id="1077" idx="0"/>
            </p:cNvCxnSpPr>
            <p:nvPr/>
          </p:nvCxnSpPr>
          <p:spPr>
            <a:xfrm>
              <a:off x="3384" y="290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79" name="Google Shape;1079;p31"/>
            <p:cNvGrpSpPr/>
            <p:nvPr/>
          </p:nvGrpSpPr>
          <p:grpSpPr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1080" name="Google Shape;1080;p31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31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31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31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31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31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6" name="Google Shape;1086;p31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" name="Google Shape;1087;p31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31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31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90" name="Google Shape;1090;p31"/>
              <p:cNvCxnSpPr>
                <a:stCxn id="1080" idx="2"/>
                <a:endCxn id="1082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1" name="Google Shape;1091;p31"/>
              <p:cNvCxnSpPr>
                <a:stCxn id="1080" idx="2"/>
                <a:endCxn id="1084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2" name="Google Shape;1092;p31"/>
              <p:cNvCxnSpPr>
                <a:stCxn id="1082" idx="2"/>
                <a:endCxn id="1081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3" name="Google Shape;1093;p31"/>
              <p:cNvCxnSpPr>
                <a:stCxn id="1082" idx="2"/>
                <a:endCxn id="1085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4" name="Google Shape;1094;p31"/>
              <p:cNvCxnSpPr>
                <a:stCxn id="1084" idx="2"/>
                <a:endCxn id="1083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5" name="Google Shape;1095;p31"/>
              <p:cNvCxnSpPr>
                <a:stCxn id="1081" idx="2"/>
                <a:endCxn id="1086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6" name="Google Shape;1096;p31"/>
              <p:cNvCxnSpPr>
                <a:stCxn id="1083" idx="2"/>
                <a:endCxn id="1087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7" name="Google Shape;1097;p31"/>
              <p:cNvCxnSpPr>
                <a:stCxn id="1083" idx="2"/>
                <a:endCxn id="1088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8" name="Google Shape;1098;p31"/>
              <p:cNvCxnSpPr>
                <a:stCxn id="1087" idx="2"/>
                <a:endCxn id="1089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099" name="Google Shape;1099;p31"/>
            <p:cNvCxnSpPr>
              <a:stCxn id="1049" idx="2"/>
              <a:endCxn id="1080" idx="0"/>
            </p:cNvCxnSpPr>
            <p:nvPr/>
          </p:nvCxnSpPr>
          <p:spPr>
            <a:xfrm>
              <a:off x="504" y="2953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0" name="Google Shape;1100;p31"/>
            <p:cNvCxnSpPr>
              <a:stCxn id="1046" idx="2"/>
              <a:endCxn id="1049" idx="0"/>
            </p:cNvCxnSpPr>
            <p:nvPr/>
          </p:nvCxnSpPr>
          <p:spPr>
            <a:xfrm rot="10800000">
              <a:off x="540" y="2575"/>
              <a:ext cx="1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1" name="Google Shape;1101;p31"/>
            <p:cNvCxnSpPr>
              <a:stCxn id="1046" idx="2"/>
              <a:endCxn id="1058" idx="0"/>
            </p:cNvCxnSpPr>
            <p:nvPr/>
          </p:nvCxnSpPr>
          <p:spPr>
            <a:xfrm>
              <a:off x="2040" y="2575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2" name="Google Shape;1102;p31"/>
            <p:cNvCxnSpPr>
              <a:stCxn id="1046" idx="2"/>
              <a:endCxn id="1050" idx="0"/>
            </p:cNvCxnSpPr>
            <p:nvPr/>
          </p:nvCxnSpPr>
          <p:spPr>
            <a:xfrm>
              <a:off x="2040" y="2575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103" name="Google Shape;1103;p31"/>
          <p:cNvCxnSpPr/>
          <p:nvPr/>
        </p:nvCxnSpPr>
        <p:spPr>
          <a:xfrm>
            <a:off x="3" y="3276600"/>
            <a:ext cx="121919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4" name="Google Shape;1104;p31"/>
          <p:cNvSpPr/>
          <p:nvPr/>
        </p:nvSpPr>
        <p:spPr>
          <a:xfrm>
            <a:off x="6243639" y="34258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31"/>
          <p:cNvSpPr/>
          <p:nvPr/>
        </p:nvSpPr>
        <p:spPr>
          <a:xfrm>
            <a:off x="6245230" y="3427411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1"/>
          <p:cNvSpPr/>
          <p:nvPr/>
        </p:nvSpPr>
        <p:spPr>
          <a:xfrm>
            <a:off x="3833815" y="3921126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1"/>
          <p:cNvSpPr/>
          <p:nvPr/>
        </p:nvSpPr>
        <p:spPr>
          <a:xfrm>
            <a:off x="6627815" y="3854451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1"/>
          <p:cNvSpPr/>
          <p:nvPr/>
        </p:nvSpPr>
        <p:spPr>
          <a:xfrm>
            <a:off x="8372480" y="3870326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1"/>
          <p:cNvSpPr txBox="1"/>
          <p:nvPr/>
        </p:nvSpPr>
        <p:spPr>
          <a:xfrm>
            <a:off x="381002" y="1447800"/>
            <a:ext cx="2928937" cy="1338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Strategy: expand a cheapest node first: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Fringe is a priority queue (priority: cumulative cost)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0" name="Google Shape;1110;p31"/>
          <p:cNvGrpSpPr/>
          <p:nvPr/>
        </p:nvGrpSpPr>
        <p:grpSpPr>
          <a:xfrm>
            <a:off x="4572001" y="1270001"/>
            <a:ext cx="3205163" cy="1768475"/>
            <a:chOff x="816" y="1056"/>
            <a:chExt cx="4176" cy="2304"/>
          </a:xfrm>
        </p:grpSpPr>
        <p:grpSp>
          <p:nvGrpSpPr>
            <p:cNvPr id="1111" name="Google Shape;1111;p31"/>
            <p:cNvGrpSpPr/>
            <p:nvPr/>
          </p:nvGrpSpPr>
          <p:grpSpPr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112" name="Google Shape;1112;p31"/>
              <p:cNvSpPr/>
              <p:nvPr/>
            </p:nvSpPr>
            <p:spPr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31"/>
              <p:cNvSpPr/>
              <p:nvPr/>
            </p:nvSpPr>
            <p:spPr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31"/>
              <p:cNvSpPr/>
              <p:nvPr/>
            </p:nvSpPr>
            <p:spPr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31"/>
              <p:cNvSpPr/>
              <p:nvPr/>
            </p:nvSpPr>
            <p:spPr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31"/>
              <p:cNvSpPr/>
              <p:nvPr/>
            </p:nvSpPr>
            <p:spPr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31"/>
              <p:cNvSpPr/>
              <p:nvPr/>
            </p:nvSpPr>
            <p:spPr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31"/>
              <p:cNvSpPr/>
              <p:nvPr/>
            </p:nvSpPr>
            <p:spPr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31"/>
              <p:cNvSpPr/>
              <p:nvPr/>
            </p:nvSpPr>
            <p:spPr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31"/>
              <p:cNvSpPr/>
              <p:nvPr/>
            </p:nvSpPr>
            <p:spPr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31"/>
              <p:cNvSpPr/>
              <p:nvPr/>
            </p:nvSpPr>
            <p:spPr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31"/>
              <p:cNvSpPr/>
              <p:nvPr/>
            </p:nvSpPr>
            <p:spPr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31"/>
              <p:cNvSpPr/>
              <p:nvPr/>
            </p:nvSpPr>
            <p:spPr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24" name="Google Shape;1124;p31"/>
              <p:cNvCxnSpPr>
                <a:stCxn id="1112" idx="5"/>
                <a:endCxn id="1116" idx="2"/>
              </p:cNvCxnSpPr>
              <p:nvPr/>
            </p:nvCxnSpPr>
            <p:spPr>
              <a:xfrm>
                <a:off x="746" y="2618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25" name="Google Shape;1125;p31"/>
              <p:cNvCxnSpPr>
                <a:stCxn id="1116" idx="5"/>
                <a:endCxn id="1117" idx="2"/>
              </p:cNvCxnSpPr>
              <p:nvPr/>
            </p:nvCxnSpPr>
            <p:spPr>
              <a:xfrm>
                <a:off x="1610" y="3146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26" name="Google Shape;1126;p31"/>
              <p:cNvCxnSpPr>
                <a:stCxn id="1120" idx="3"/>
                <a:endCxn id="1117" idx="7"/>
              </p:cNvCxnSpPr>
              <p:nvPr/>
            </p:nvCxnSpPr>
            <p:spPr>
              <a:xfrm flipH="1">
                <a:off x="2638" y="266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27" name="Google Shape;1127;p31"/>
              <p:cNvCxnSpPr>
                <a:stCxn id="1120" idx="2"/>
                <a:endCxn id="1116" idx="6"/>
              </p:cNvCxnSpPr>
              <p:nvPr/>
            </p:nvCxnSpPr>
            <p:spPr>
              <a:xfrm flipH="1">
                <a:off x="1668" y="2496"/>
                <a:ext cx="15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28" name="Google Shape;1128;p31"/>
              <p:cNvCxnSpPr>
                <a:stCxn id="1119" idx="4"/>
                <a:endCxn id="1120" idx="7"/>
              </p:cNvCxnSpPr>
              <p:nvPr/>
            </p:nvCxnSpPr>
            <p:spPr>
              <a:xfrm flipH="1">
                <a:off x="3492" y="20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29" name="Google Shape;1129;p31"/>
              <p:cNvCxnSpPr>
                <a:stCxn id="1119" idx="5"/>
                <a:endCxn id="1123" idx="1"/>
              </p:cNvCxnSpPr>
              <p:nvPr/>
            </p:nvCxnSpPr>
            <p:spPr>
              <a:xfrm>
                <a:off x="3962" y="1994"/>
                <a:ext cx="60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0" name="Google Shape;1130;p31"/>
              <p:cNvCxnSpPr>
                <a:stCxn id="1123" idx="0"/>
                <a:endCxn id="1122" idx="4"/>
              </p:cNvCxnSpPr>
              <p:nvPr/>
            </p:nvCxnSpPr>
            <p:spPr>
              <a:xfrm flipH="1" rot="10800000">
                <a:off x="4608" y="243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1" name="Google Shape;1131;p31"/>
              <p:cNvCxnSpPr>
                <a:stCxn id="1122" idx="0"/>
                <a:endCxn id="1113" idx="4"/>
              </p:cNvCxnSpPr>
              <p:nvPr/>
            </p:nvCxnSpPr>
            <p:spPr>
              <a:xfrm rot="10800000">
                <a:off x="4800" y="972"/>
                <a:ext cx="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2" name="Google Shape;1132;p31"/>
              <p:cNvCxnSpPr>
                <a:stCxn id="1112" idx="7"/>
              </p:cNvCxnSpPr>
              <p:nvPr/>
            </p:nvCxnSpPr>
            <p:spPr>
              <a:xfrm flipH="1" rot="10800000">
                <a:off x="746" y="197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3" name="Google Shape;1133;p31"/>
              <p:cNvCxnSpPr>
                <a:stCxn id="1114" idx="1"/>
                <a:endCxn id="1115" idx="5"/>
              </p:cNvCxnSpPr>
              <p:nvPr/>
            </p:nvCxnSpPr>
            <p:spPr>
              <a:xfrm rot="10800000">
                <a:off x="1198" y="154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4" name="Google Shape;1134;p31"/>
              <p:cNvCxnSpPr>
                <a:endCxn id="1121" idx="2"/>
              </p:cNvCxnSpPr>
              <p:nvPr/>
            </p:nvCxnSpPr>
            <p:spPr>
              <a:xfrm flipH="1" rot="10800000">
                <a:off x="1284" y="8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5" name="Google Shape;1135;p31"/>
              <p:cNvCxnSpPr>
                <a:stCxn id="1118" idx="2"/>
                <a:endCxn id="1121" idx="6"/>
              </p:cNvCxnSpPr>
              <p:nvPr/>
            </p:nvCxnSpPr>
            <p:spPr>
              <a:xfrm rot="10800000">
                <a:off x="1980" y="94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6" name="Google Shape;1136;p31"/>
              <p:cNvCxnSpPr>
                <a:stCxn id="1114" idx="7"/>
                <a:endCxn id="1118" idx="3"/>
              </p:cNvCxnSpPr>
              <p:nvPr/>
            </p:nvCxnSpPr>
            <p:spPr>
              <a:xfrm flipH="1" rot="10800000">
                <a:off x="2138" y="1546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7" name="Google Shape;1137;p31"/>
              <p:cNvCxnSpPr>
                <a:stCxn id="1114" idx="6"/>
                <a:endCxn id="1119" idx="2"/>
              </p:cNvCxnSpPr>
              <p:nvPr/>
            </p:nvCxnSpPr>
            <p:spPr>
              <a:xfrm flipH="1" rot="10800000">
                <a:off x="2208" y="1716"/>
                <a:ext cx="12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8" name="Google Shape;1138;p31"/>
              <p:cNvCxnSpPr>
                <a:stCxn id="1122" idx="1"/>
                <a:endCxn id="1118" idx="6"/>
              </p:cNvCxnSpPr>
              <p:nvPr/>
            </p:nvCxnSpPr>
            <p:spPr>
              <a:xfrm flipH="1" rot="5400000">
                <a:off x="3730" y="1042"/>
                <a:ext cx="600" cy="12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9" name="Google Shape;1139;p31"/>
              <p:cNvCxnSpPr>
                <a:stCxn id="1112" idx="6"/>
                <a:endCxn id="1119" idx="3"/>
              </p:cNvCxnSpPr>
              <p:nvPr/>
            </p:nvCxnSpPr>
            <p:spPr>
              <a:xfrm flipH="1" rot="10800000">
                <a:off x="816" y="1848"/>
                <a:ext cx="2700" cy="6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cxnSp>
          <p:nvCxnSpPr>
            <p:cNvPr id="1140" name="Google Shape;1140;p31"/>
            <p:cNvCxnSpPr>
              <a:stCxn id="1117" idx="6"/>
              <a:endCxn id="1123" idx="2"/>
            </p:cNvCxnSpPr>
            <p:nvPr/>
          </p:nvCxnSpPr>
          <p:spPr>
            <a:xfrm>
              <a:off x="2966" y="3161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41" name="Google Shape;1141;p31"/>
          <p:cNvSpPr txBox="1"/>
          <p:nvPr/>
        </p:nvSpPr>
        <p:spPr>
          <a:xfrm>
            <a:off x="4267201" y="3868738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31"/>
          <p:cNvSpPr txBox="1"/>
          <p:nvPr/>
        </p:nvSpPr>
        <p:spPr>
          <a:xfrm>
            <a:off x="7024689" y="3798887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31"/>
          <p:cNvSpPr txBox="1"/>
          <p:nvPr/>
        </p:nvSpPr>
        <p:spPr>
          <a:xfrm>
            <a:off x="8734429" y="37957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1"/>
          <p:cNvSpPr/>
          <p:nvPr/>
        </p:nvSpPr>
        <p:spPr>
          <a:xfrm>
            <a:off x="8370888" y="3868735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1"/>
          <p:cNvSpPr/>
          <p:nvPr/>
        </p:nvSpPr>
        <p:spPr>
          <a:xfrm>
            <a:off x="8388356" y="4381502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1"/>
          <p:cNvSpPr txBox="1"/>
          <p:nvPr/>
        </p:nvSpPr>
        <p:spPr>
          <a:xfrm>
            <a:off x="8759829" y="43037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1"/>
          <p:cNvSpPr/>
          <p:nvPr/>
        </p:nvSpPr>
        <p:spPr>
          <a:xfrm>
            <a:off x="3276606" y="4398961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31"/>
          <p:cNvSpPr/>
          <p:nvPr/>
        </p:nvSpPr>
        <p:spPr>
          <a:xfrm>
            <a:off x="3960815" y="4397378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31"/>
          <p:cNvSpPr/>
          <p:nvPr/>
        </p:nvSpPr>
        <p:spPr>
          <a:xfrm>
            <a:off x="4789488" y="4389435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1"/>
          <p:cNvSpPr txBox="1"/>
          <p:nvPr/>
        </p:nvSpPr>
        <p:spPr>
          <a:xfrm>
            <a:off x="3565529" y="43545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1"/>
          <p:cNvSpPr txBox="1"/>
          <p:nvPr/>
        </p:nvSpPr>
        <p:spPr>
          <a:xfrm>
            <a:off x="4154489" y="45069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1"/>
          <p:cNvSpPr txBox="1"/>
          <p:nvPr/>
        </p:nvSpPr>
        <p:spPr>
          <a:xfrm>
            <a:off x="5084765" y="4327526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1"/>
          <p:cNvSpPr/>
          <p:nvPr/>
        </p:nvSpPr>
        <p:spPr>
          <a:xfrm>
            <a:off x="3833815" y="39211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1"/>
          <p:cNvSpPr/>
          <p:nvPr/>
        </p:nvSpPr>
        <p:spPr>
          <a:xfrm>
            <a:off x="3276606" y="4398961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1"/>
          <p:cNvSpPr/>
          <p:nvPr/>
        </p:nvSpPr>
        <p:spPr>
          <a:xfrm>
            <a:off x="3257556" y="4945061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1"/>
          <p:cNvSpPr/>
          <p:nvPr/>
        </p:nvSpPr>
        <p:spPr>
          <a:xfrm>
            <a:off x="3259139" y="4945061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1"/>
          <p:cNvSpPr/>
          <p:nvPr/>
        </p:nvSpPr>
        <p:spPr>
          <a:xfrm>
            <a:off x="4787906" y="439102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1"/>
          <p:cNvSpPr/>
          <p:nvPr/>
        </p:nvSpPr>
        <p:spPr>
          <a:xfrm>
            <a:off x="4437063" y="4918078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1"/>
          <p:cNvSpPr/>
          <p:nvPr/>
        </p:nvSpPr>
        <p:spPr>
          <a:xfrm>
            <a:off x="5113339" y="4926011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1"/>
          <p:cNvSpPr txBox="1"/>
          <p:nvPr/>
        </p:nvSpPr>
        <p:spPr>
          <a:xfrm>
            <a:off x="5387977" y="48625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31"/>
          <p:cNvSpPr txBox="1"/>
          <p:nvPr/>
        </p:nvSpPr>
        <p:spPr>
          <a:xfrm>
            <a:off x="4686301" y="4868863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31"/>
          <p:cNvSpPr/>
          <p:nvPr/>
        </p:nvSpPr>
        <p:spPr>
          <a:xfrm>
            <a:off x="5114930" y="4927602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1"/>
          <p:cNvSpPr/>
          <p:nvPr/>
        </p:nvSpPr>
        <p:spPr>
          <a:xfrm>
            <a:off x="5111756" y="5453061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1"/>
          <p:cNvSpPr txBox="1"/>
          <p:nvPr/>
        </p:nvSpPr>
        <p:spPr>
          <a:xfrm>
            <a:off x="5376865" y="5397502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1"/>
          <p:cNvSpPr/>
          <p:nvPr/>
        </p:nvSpPr>
        <p:spPr>
          <a:xfrm>
            <a:off x="5113339" y="5454653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1"/>
          <p:cNvSpPr/>
          <p:nvPr/>
        </p:nvSpPr>
        <p:spPr>
          <a:xfrm>
            <a:off x="5375280" y="5981702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1"/>
          <p:cNvSpPr txBox="1"/>
          <p:nvPr/>
        </p:nvSpPr>
        <p:spPr>
          <a:xfrm>
            <a:off x="5641977" y="5924550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1"/>
          <p:cNvSpPr txBox="1"/>
          <p:nvPr/>
        </p:nvSpPr>
        <p:spPr>
          <a:xfrm>
            <a:off x="4481513" y="5924550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31"/>
          <p:cNvSpPr/>
          <p:nvPr/>
        </p:nvSpPr>
        <p:spPr>
          <a:xfrm>
            <a:off x="4860930" y="5962653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31"/>
          <p:cNvSpPr/>
          <p:nvPr/>
        </p:nvSpPr>
        <p:spPr>
          <a:xfrm>
            <a:off x="6623056" y="385603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1"/>
          <p:cNvSpPr/>
          <p:nvPr/>
        </p:nvSpPr>
        <p:spPr>
          <a:xfrm>
            <a:off x="6954839" y="4384678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1"/>
          <p:cNvSpPr/>
          <p:nvPr/>
        </p:nvSpPr>
        <p:spPr>
          <a:xfrm>
            <a:off x="6253163" y="4383085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31"/>
          <p:cNvSpPr txBox="1"/>
          <p:nvPr/>
        </p:nvSpPr>
        <p:spPr>
          <a:xfrm>
            <a:off x="6488113" y="4327526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1"/>
          <p:cNvSpPr txBox="1"/>
          <p:nvPr/>
        </p:nvSpPr>
        <p:spPr>
          <a:xfrm>
            <a:off x="7204077" y="43164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31"/>
          <p:cNvSpPr/>
          <p:nvPr/>
        </p:nvSpPr>
        <p:spPr>
          <a:xfrm>
            <a:off x="5375280" y="598328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1"/>
          <p:cNvSpPr txBox="1"/>
          <p:nvPr/>
        </p:nvSpPr>
        <p:spPr>
          <a:xfrm>
            <a:off x="6550029" y="3352802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1"/>
          <p:cNvSpPr txBox="1"/>
          <p:nvPr/>
        </p:nvSpPr>
        <p:spPr>
          <a:xfrm>
            <a:off x="3554413" y="4867275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31"/>
          <p:cNvSpPr txBox="1"/>
          <p:nvPr/>
        </p:nvSpPr>
        <p:spPr>
          <a:xfrm>
            <a:off x="4884737" y="197485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1"/>
          <p:cNvSpPr txBox="1"/>
          <p:nvPr/>
        </p:nvSpPr>
        <p:spPr>
          <a:xfrm>
            <a:off x="5878513" y="2128839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31"/>
          <p:cNvSpPr txBox="1"/>
          <p:nvPr/>
        </p:nvSpPr>
        <p:spPr>
          <a:xfrm>
            <a:off x="4735513" y="262255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31"/>
          <p:cNvSpPr txBox="1"/>
          <p:nvPr/>
        </p:nvSpPr>
        <p:spPr>
          <a:xfrm>
            <a:off x="5224461" y="165735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31"/>
          <p:cNvSpPr txBox="1"/>
          <p:nvPr/>
        </p:nvSpPr>
        <p:spPr>
          <a:xfrm>
            <a:off x="5035549" y="1219202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1"/>
          <p:cNvSpPr txBox="1"/>
          <p:nvPr/>
        </p:nvSpPr>
        <p:spPr>
          <a:xfrm>
            <a:off x="5753101" y="1639890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1"/>
          <p:cNvSpPr txBox="1"/>
          <p:nvPr/>
        </p:nvSpPr>
        <p:spPr>
          <a:xfrm>
            <a:off x="6683377" y="2252666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1"/>
          <p:cNvSpPr txBox="1"/>
          <p:nvPr/>
        </p:nvSpPr>
        <p:spPr>
          <a:xfrm>
            <a:off x="7013573" y="2125666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31"/>
          <p:cNvSpPr txBox="1"/>
          <p:nvPr/>
        </p:nvSpPr>
        <p:spPr>
          <a:xfrm>
            <a:off x="5467353" y="285115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1"/>
          <p:cNvSpPr txBox="1"/>
          <p:nvPr/>
        </p:nvSpPr>
        <p:spPr>
          <a:xfrm>
            <a:off x="7540625" y="2371727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1"/>
          <p:cNvSpPr txBox="1"/>
          <p:nvPr/>
        </p:nvSpPr>
        <p:spPr>
          <a:xfrm>
            <a:off x="7556501" y="172085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1"/>
          <p:cNvSpPr/>
          <p:nvPr/>
        </p:nvSpPr>
        <p:spPr>
          <a:xfrm>
            <a:off x="1909765" y="3613147"/>
            <a:ext cx="396875" cy="2986088"/>
          </a:xfrm>
          <a:prstGeom prst="leftBrace">
            <a:avLst>
              <a:gd fmla="val 627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31"/>
          <p:cNvSpPr txBox="1"/>
          <p:nvPr/>
        </p:nvSpPr>
        <p:spPr>
          <a:xfrm>
            <a:off x="914401" y="4827588"/>
            <a:ext cx="1158875" cy="646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contours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1"/>
          <p:cNvSpPr txBox="1"/>
          <p:nvPr/>
        </p:nvSpPr>
        <p:spPr>
          <a:xfrm>
            <a:off x="6134101" y="1827215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1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32"/>
          <p:cNvSpPr/>
          <p:nvPr/>
        </p:nvSpPr>
        <p:spPr>
          <a:xfrm>
            <a:off x="9144001" y="1828801"/>
            <a:ext cx="1616075" cy="2381251"/>
          </a:xfrm>
          <a:custGeom>
            <a:rect b="b" l="l" r="r" t="t"/>
            <a:pathLst>
              <a:path extrusionOk="0" h="1500" w="1018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2"/>
          <p:cNvSpPr/>
          <p:nvPr/>
        </p:nvSpPr>
        <p:spPr>
          <a:xfrm>
            <a:off x="9296401" y="1828802"/>
            <a:ext cx="1371600" cy="1904841"/>
          </a:xfrm>
          <a:custGeom>
            <a:rect b="b" l="l" r="r" t="t"/>
            <a:pathLst>
              <a:path extrusionOk="0" h="10000" w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2"/>
          <p:cNvSpPr txBox="1"/>
          <p:nvPr/>
        </p:nvSpPr>
        <p:spPr>
          <a:xfrm>
            <a:off x="9907589" y="2208214"/>
            <a:ext cx="274639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3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Search (UCS) Properties</a:t>
            </a:r>
            <a:endParaRPr/>
          </a:p>
        </p:txBody>
      </p:sp>
      <p:sp>
        <p:nvSpPr>
          <p:cNvPr id="1201" name="Google Shape;1201;p32"/>
          <p:cNvSpPr txBox="1"/>
          <p:nvPr>
            <p:ph idx="1" type="body"/>
          </p:nvPr>
        </p:nvSpPr>
        <p:spPr>
          <a:xfrm>
            <a:off x="406400" y="1366838"/>
            <a:ext cx="73660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nodes does UCS expand?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Processes all nodes with cost less than cheapest solution!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If that solution costs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C* </a:t>
            </a:r>
            <a:r>
              <a:rPr lang="en-US" sz="2000"/>
              <a:t>and arcs cost at least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ε </a:t>
            </a:r>
            <a:r>
              <a:rPr i="1" lang="en-US" sz="2000"/>
              <a:t>,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/>
              <a:t>then the “effective depth” is roughly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C*/ε</a:t>
            </a:r>
            <a:endParaRPr sz="2000"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Takes time O(b</a:t>
            </a:r>
            <a:r>
              <a:rPr baseline="30000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C*/ε</a:t>
            </a:r>
            <a:r>
              <a:rPr lang="en-US" sz="2000"/>
              <a:t>) (exponential in effective depth)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much space does the fringe take?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Has roughly the last tier, so O(b</a:t>
            </a:r>
            <a:r>
              <a:rPr baseline="30000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C*/ε</a:t>
            </a:r>
            <a:r>
              <a:rPr lang="en-US" sz="2000"/>
              <a:t>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complete?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Assuming best solution has a finite cost and minimum arc cost is positive, yes!</a:t>
            </a:r>
            <a:endParaRPr/>
          </a:p>
          <a:p>
            <a:pPr indent="-177772" lvl="2" marL="1142858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8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optimal?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Yes!</a:t>
            </a:r>
            <a:endParaRPr/>
          </a:p>
        </p:txBody>
      </p:sp>
      <p:sp>
        <p:nvSpPr>
          <p:cNvPr id="1202" name="Google Shape;1202;p32"/>
          <p:cNvSpPr/>
          <p:nvPr/>
        </p:nvSpPr>
        <p:spPr>
          <a:xfrm>
            <a:off x="8655051" y="2001835"/>
            <a:ext cx="2927351" cy="2554288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2"/>
          <p:cNvSpPr/>
          <p:nvPr/>
        </p:nvSpPr>
        <p:spPr>
          <a:xfrm>
            <a:off x="10009187" y="1931987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32"/>
          <p:cNvSpPr/>
          <p:nvPr/>
        </p:nvSpPr>
        <p:spPr>
          <a:xfrm>
            <a:off x="9777411" y="2357438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2"/>
          <p:cNvSpPr/>
          <p:nvPr/>
        </p:nvSpPr>
        <p:spPr>
          <a:xfrm>
            <a:off x="10253663" y="2347911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2"/>
          <p:cNvSpPr/>
          <p:nvPr/>
        </p:nvSpPr>
        <p:spPr>
          <a:xfrm>
            <a:off x="9890123" y="2162175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2"/>
          <p:cNvSpPr txBox="1"/>
          <p:nvPr/>
        </p:nvSpPr>
        <p:spPr>
          <a:xfrm>
            <a:off x="9601201" y="1981202"/>
            <a:ext cx="298451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2"/>
          <p:cNvSpPr/>
          <p:nvPr/>
        </p:nvSpPr>
        <p:spPr>
          <a:xfrm>
            <a:off x="9448801" y="4473576"/>
            <a:ext cx="179387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2"/>
          <p:cNvSpPr/>
          <p:nvPr/>
        </p:nvSpPr>
        <p:spPr>
          <a:xfrm>
            <a:off x="10501311" y="3397249"/>
            <a:ext cx="179388" cy="179387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2"/>
          <p:cNvSpPr/>
          <p:nvPr/>
        </p:nvSpPr>
        <p:spPr>
          <a:xfrm>
            <a:off x="10021887" y="3952876"/>
            <a:ext cx="179388" cy="179387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32"/>
          <p:cNvSpPr/>
          <p:nvPr/>
        </p:nvSpPr>
        <p:spPr>
          <a:xfrm>
            <a:off x="8534400" y="1828800"/>
            <a:ext cx="265112" cy="1981200"/>
          </a:xfrm>
          <a:prstGeom prst="leftBrace">
            <a:avLst>
              <a:gd fmla="val 52944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32"/>
          <p:cNvSpPr txBox="1"/>
          <p:nvPr/>
        </p:nvSpPr>
        <p:spPr>
          <a:xfrm>
            <a:off x="7239000" y="2602472"/>
            <a:ext cx="14478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C*/ε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“tiers”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32"/>
          <p:cNvSpPr/>
          <p:nvPr/>
        </p:nvSpPr>
        <p:spPr>
          <a:xfrm>
            <a:off x="9601200" y="1905162"/>
            <a:ext cx="838200" cy="1219041"/>
          </a:xfrm>
          <a:custGeom>
            <a:rect b="b" l="l" r="r" t="t"/>
            <a:pathLst>
              <a:path extrusionOk="0" h="10000" w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32"/>
          <p:cNvSpPr txBox="1"/>
          <p:nvPr/>
        </p:nvSpPr>
        <p:spPr>
          <a:xfrm>
            <a:off x="10995027" y="2865436"/>
            <a:ext cx="825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32"/>
          <p:cNvSpPr txBox="1"/>
          <p:nvPr/>
        </p:nvSpPr>
        <p:spPr>
          <a:xfrm>
            <a:off x="10820402" y="2470148"/>
            <a:ext cx="825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32"/>
          <p:cNvSpPr txBox="1"/>
          <p:nvPr/>
        </p:nvSpPr>
        <p:spPr>
          <a:xfrm>
            <a:off x="10604502" y="2092324"/>
            <a:ext cx="825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32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3bda022aa7_0_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Search (UCS) Demo</a:t>
            </a:r>
            <a:endParaRPr/>
          </a:p>
        </p:txBody>
      </p:sp>
      <p:sp>
        <p:nvSpPr>
          <p:cNvPr id="1223" name="Google Shape;1223;g33bda022aa7_0_29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4" name="Google Shape;1224;g33bda022aa7_0_29" title="Animation of the Uniform Cost Algorithm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6862" y="1393802"/>
            <a:ext cx="6678276" cy="500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33"/>
          <p:cNvSpPr/>
          <p:nvPr/>
        </p:nvSpPr>
        <p:spPr>
          <a:xfrm>
            <a:off x="8472494" y="4114800"/>
            <a:ext cx="1912937" cy="1771651"/>
          </a:xfrm>
          <a:prstGeom prst="ellipse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33"/>
          <p:cNvSpPr txBox="1"/>
          <p:nvPr>
            <p:ph type="title"/>
          </p:nvPr>
        </p:nvSpPr>
        <p:spPr>
          <a:xfrm>
            <a:off x="0" y="-14374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Issues</a:t>
            </a:r>
            <a:endParaRPr/>
          </a:p>
        </p:txBody>
      </p:sp>
      <p:sp>
        <p:nvSpPr>
          <p:cNvPr id="1232" name="Google Shape;1232;p33"/>
          <p:cNvSpPr txBox="1"/>
          <p:nvPr>
            <p:ph idx="1" type="body"/>
          </p:nvPr>
        </p:nvSpPr>
        <p:spPr>
          <a:xfrm>
            <a:off x="457203" y="1447801"/>
            <a:ext cx="64769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Remember: UCS explores increasing cost contours</a:t>
            </a:r>
            <a:endParaRPr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The good: UCS is complete and optimal!</a:t>
            </a:r>
            <a:endParaRPr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The bad: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Explores options in every “direction”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No information about goal location</a:t>
            </a:r>
            <a:endParaRPr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15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We’ll fix that soon!</a:t>
            </a:r>
            <a:endParaRPr/>
          </a:p>
          <a:p>
            <a:pPr indent="-1650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233" name="Google Shape;1233;p33"/>
          <p:cNvSpPr/>
          <p:nvPr/>
        </p:nvSpPr>
        <p:spPr>
          <a:xfrm>
            <a:off x="9375780" y="4891091"/>
            <a:ext cx="163513" cy="153988"/>
          </a:xfrm>
          <a:prstGeom prst="ellipse">
            <a:avLst/>
          </a:prstGeom>
          <a:solidFill>
            <a:srgbClr val="008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33"/>
          <p:cNvSpPr txBox="1"/>
          <p:nvPr/>
        </p:nvSpPr>
        <p:spPr>
          <a:xfrm>
            <a:off x="9113839" y="5006979"/>
            <a:ext cx="9144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33"/>
          <p:cNvSpPr/>
          <p:nvPr/>
        </p:nvSpPr>
        <p:spPr>
          <a:xfrm>
            <a:off x="10302880" y="4913315"/>
            <a:ext cx="163513" cy="153988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33"/>
          <p:cNvSpPr txBox="1"/>
          <p:nvPr/>
        </p:nvSpPr>
        <p:spPr>
          <a:xfrm>
            <a:off x="10363200" y="5030791"/>
            <a:ext cx="9144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33"/>
          <p:cNvSpPr/>
          <p:nvPr/>
        </p:nvSpPr>
        <p:spPr>
          <a:xfrm>
            <a:off x="9007479" y="4549779"/>
            <a:ext cx="869951" cy="869951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8" name="Google Shape;1238;p33"/>
          <p:cNvGrpSpPr/>
          <p:nvPr/>
        </p:nvGrpSpPr>
        <p:grpSpPr>
          <a:xfrm>
            <a:off x="8243320" y="1371602"/>
            <a:ext cx="2577080" cy="2244724"/>
            <a:chOff x="8023224" y="1412876"/>
            <a:chExt cx="3101976" cy="2701926"/>
          </a:xfrm>
        </p:grpSpPr>
        <p:sp>
          <p:nvSpPr>
            <p:cNvPr id="1239" name="Google Shape;1239;p33"/>
            <p:cNvSpPr/>
            <p:nvPr/>
          </p:nvSpPr>
          <p:spPr>
            <a:xfrm>
              <a:off x="8516935" y="1412876"/>
              <a:ext cx="1616075" cy="2381251"/>
            </a:xfrm>
            <a:custGeom>
              <a:rect b="b" l="l" r="r" t="t"/>
              <a:pathLst>
                <a:path extrusionOk="0" h="1500" w="1018">
                  <a:moveTo>
                    <a:pt x="636" y="164"/>
                  </a:moveTo>
                  <a:cubicBezTo>
                    <a:pt x="714" y="273"/>
                    <a:pt x="995" y="706"/>
                    <a:pt x="1018" y="842"/>
                  </a:cubicBezTo>
                  <a:cubicBezTo>
                    <a:pt x="963" y="845"/>
                    <a:pt x="797" y="942"/>
                    <a:pt x="772" y="978"/>
                  </a:cubicBezTo>
                  <a:cubicBezTo>
                    <a:pt x="771" y="1024"/>
                    <a:pt x="817" y="1372"/>
                    <a:pt x="691" y="1446"/>
                  </a:cubicBezTo>
                  <a:cubicBezTo>
                    <a:pt x="662" y="1493"/>
                    <a:pt x="626" y="1495"/>
                    <a:pt x="573" y="1500"/>
                  </a:cubicBezTo>
                  <a:cubicBezTo>
                    <a:pt x="531" y="1490"/>
                    <a:pt x="524" y="1490"/>
                    <a:pt x="492" y="1468"/>
                  </a:cubicBezTo>
                  <a:cubicBezTo>
                    <a:pt x="474" y="1442"/>
                    <a:pt x="433" y="1401"/>
                    <a:pt x="406" y="1382"/>
                  </a:cubicBezTo>
                  <a:cubicBezTo>
                    <a:pt x="370" y="1332"/>
                    <a:pt x="390" y="1355"/>
                    <a:pt x="347" y="1312"/>
                  </a:cubicBezTo>
                  <a:cubicBezTo>
                    <a:pt x="276" y="1241"/>
                    <a:pt x="350" y="1294"/>
                    <a:pt x="304" y="1263"/>
                  </a:cubicBezTo>
                  <a:cubicBezTo>
                    <a:pt x="236" y="1164"/>
                    <a:pt x="115" y="1184"/>
                    <a:pt x="0" y="1181"/>
                  </a:cubicBezTo>
                  <a:cubicBezTo>
                    <a:pt x="46" y="1005"/>
                    <a:pt x="460" y="338"/>
                    <a:pt x="566" y="169"/>
                  </a:cubicBezTo>
                  <a:cubicBezTo>
                    <a:pt x="672" y="0"/>
                    <a:pt x="622" y="165"/>
                    <a:pt x="636" y="164"/>
                  </a:cubicBezTo>
                  <a:close/>
                </a:path>
              </a:pathLst>
            </a:custGeom>
            <a:solidFill>
              <a:srgbClr val="C0C0C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33"/>
            <p:cNvSpPr/>
            <p:nvPr/>
          </p:nvSpPr>
          <p:spPr>
            <a:xfrm>
              <a:off x="8023224" y="1560515"/>
              <a:ext cx="2927351" cy="2554287"/>
            </a:xfrm>
            <a:custGeom>
              <a:rect b="b" l="l" r="r" t="t"/>
              <a:pathLst>
                <a:path extrusionOk="0" h="1609" w="1844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33"/>
            <p:cNvSpPr/>
            <p:nvPr/>
          </p:nvSpPr>
          <p:spPr>
            <a:xfrm>
              <a:off x="9145585" y="1916113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33"/>
            <p:cNvSpPr/>
            <p:nvPr/>
          </p:nvSpPr>
          <p:spPr>
            <a:xfrm>
              <a:off x="9621837" y="1906589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33"/>
            <p:cNvSpPr txBox="1"/>
            <p:nvPr/>
          </p:nvSpPr>
          <p:spPr>
            <a:xfrm>
              <a:off x="9275761" y="1766891"/>
              <a:ext cx="274639" cy="444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33"/>
            <p:cNvSpPr/>
            <p:nvPr/>
          </p:nvSpPr>
          <p:spPr>
            <a:xfrm>
              <a:off x="9869485" y="2955927"/>
              <a:ext cx="179388" cy="179388"/>
            </a:xfrm>
            <a:prstGeom prst="ellipse">
              <a:avLst/>
            </a:prstGeom>
            <a:solidFill>
              <a:srgbClr val="FF999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33"/>
            <p:cNvSpPr/>
            <p:nvPr/>
          </p:nvSpPr>
          <p:spPr>
            <a:xfrm>
              <a:off x="9390061" y="3511550"/>
              <a:ext cx="179388" cy="179388"/>
            </a:xfrm>
            <a:prstGeom prst="ellipse">
              <a:avLst/>
            </a:prstGeom>
            <a:solidFill>
              <a:srgbClr val="FF999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33"/>
            <p:cNvSpPr/>
            <p:nvPr/>
          </p:nvSpPr>
          <p:spPr>
            <a:xfrm>
              <a:off x="9377361" y="1490665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33"/>
            <p:cNvSpPr/>
            <p:nvPr/>
          </p:nvSpPr>
          <p:spPr>
            <a:xfrm>
              <a:off x="8805861" y="2395539"/>
              <a:ext cx="1181100" cy="557212"/>
            </a:xfrm>
            <a:custGeom>
              <a:rect b="b" l="l" r="r" t="t"/>
              <a:pathLst>
                <a:path extrusionOk="0" h="351" w="744">
                  <a:moveTo>
                    <a:pt x="744" y="0"/>
                  </a:moveTo>
                  <a:cubicBezTo>
                    <a:pt x="672" y="25"/>
                    <a:pt x="600" y="51"/>
                    <a:pt x="547" y="105"/>
                  </a:cubicBezTo>
                  <a:cubicBezTo>
                    <a:pt x="494" y="159"/>
                    <a:pt x="485" y="295"/>
                    <a:pt x="428" y="323"/>
                  </a:cubicBezTo>
                  <a:cubicBezTo>
                    <a:pt x="371" y="351"/>
                    <a:pt x="274" y="293"/>
                    <a:pt x="203" y="274"/>
                  </a:cubicBezTo>
                  <a:cubicBezTo>
                    <a:pt x="132" y="255"/>
                    <a:pt x="66" y="233"/>
                    <a:pt x="0" y="21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33"/>
            <p:cNvSpPr/>
            <p:nvPr/>
          </p:nvSpPr>
          <p:spPr>
            <a:xfrm>
              <a:off x="9061449" y="2127251"/>
              <a:ext cx="747712" cy="293688"/>
            </a:xfrm>
            <a:custGeom>
              <a:rect b="b" l="l" r="r" t="t"/>
              <a:pathLst>
                <a:path extrusionOk="0" h="185" w="471">
                  <a:moveTo>
                    <a:pt x="471" y="0"/>
                  </a:moveTo>
                  <a:cubicBezTo>
                    <a:pt x="394" y="76"/>
                    <a:pt x="317" y="153"/>
                    <a:pt x="239" y="169"/>
                  </a:cubicBezTo>
                  <a:cubicBezTo>
                    <a:pt x="161" y="185"/>
                    <a:pt x="80" y="142"/>
                    <a:pt x="0" y="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33"/>
            <p:cNvSpPr txBox="1"/>
            <p:nvPr/>
          </p:nvSpPr>
          <p:spPr>
            <a:xfrm>
              <a:off x="10299700" y="2495551"/>
              <a:ext cx="825500" cy="444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≤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33"/>
            <p:cNvSpPr txBox="1"/>
            <p:nvPr/>
          </p:nvSpPr>
          <p:spPr>
            <a:xfrm>
              <a:off x="10172700" y="2100263"/>
              <a:ext cx="825500" cy="444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≤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3"/>
            <p:cNvSpPr txBox="1"/>
            <p:nvPr/>
          </p:nvSpPr>
          <p:spPr>
            <a:xfrm>
              <a:off x="9972673" y="1722440"/>
              <a:ext cx="825500" cy="444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≤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2" name="Google Shape;1252;p33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3c5347c24df_1_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1259" name="Google Shape;1259;g3c5347c24df_1_15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60" name="Google Shape;1260;g3c5347c24df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925" y="1235400"/>
            <a:ext cx="10800750" cy="501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2004-08-27T04:16:05Z</dcterms:created>
  <dc:creator>Preferred Customer</dc:creator>
</cp:coreProperties>
</file>