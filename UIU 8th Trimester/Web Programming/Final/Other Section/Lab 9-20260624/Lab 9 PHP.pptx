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72" r:id="rId6"/>
    <p:sldId id="273" r:id="rId7"/>
    <p:sldId id="274" r:id="rId8"/>
    <p:sldId id="275" r:id="rId9"/>
    <p:sldId id="276" r:id="rId10"/>
    <p:sldId id="277" r:id="rId11"/>
    <p:sldId id="279" r:id="rId12"/>
    <p:sldId id="278" r:id="rId13"/>
    <p:sldId id="280" r:id="rId14"/>
    <p:sldId id="281" r:id="rId15"/>
    <p:sldId id="282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 varScale="1">
        <p:scale>
          <a:sx n="114" d="100"/>
          <a:sy n="114" d="100"/>
        </p:scale>
        <p:origin x="636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Spring26/index.php" TargetMode="External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PHP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Cse</a:t>
            </a:r>
            <a:r>
              <a:rPr lang="en-US" dirty="0"/>
              <a:t> 4165 – Web Programming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Mahmudul Hasan</a:t>
            </a:r>
          </a:p>
          <a:p>
            <a:r>
              <a:rPr lang="en-US" sz="900" dirty="0"/>
              <a:t>Lecturer </a:t>
            </a:r>
          </a:p>
          <a:p>
            <a:r>
              <a:rPr lang="en-US" sz="900" dirty="0"/>
              <a:t>UIU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What is PHP?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371600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PHP: </a:t>
            </a: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Preprocessor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/>
              <a:t>PHP is a </a:t>
            </a:r>
            <a:r>
              <a:rPr lang="en-US" sz="1800" b="1" dirty="0"/>
              <a:t>server-side scripting language</a:t>
            </a:r>
            <a:r>
              <a:rPr lang="en-US" sz="1800" dirty="0"/>
              <a:t> used to create dynamic web pages. It runs on a web server. It is commonly used with databases like MySQL.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Use cases: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Contact 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Student result pages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Blog websites</a:t>
            </a:r>
          </a:p>
        </p:txBody>
      </p:sp>
    </p:spTree>
    <p:extLst>
      <p:ext uri="{BB962C8B-B14F-4D97-AF65-F5344CB8AC3E}">
        <p14:creationId xmlns:p14="http://schemas.microsoft.com/office/powerpoint/2010/main" val="85282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Running PHP with XAMPP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53340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Start APACHE from XAMPP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Open the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htdocs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folder</a:t>
            </a:r>
          </a:p>
          <a:p>
            <a:pPr marL="304746" lvl="1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(C:\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xampp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\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htdocs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\) -&gt; You need to save your code here to run it using 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apache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Run the php files</a:t>
            </a:r>
          </a:p>
          <a:p>
            <a:pPr marL="304746" lvl="1" indent="0">
              <a:buNone/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     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  <a:hlinkClick r:id="rId2"/>
              </a:rPr>
              <a:t>http://localhost/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 -&gt; type the name of the file to run it (if it is in the Spring26 folder and the file is 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index.php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 then the 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url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 should be</a:t>
            </a:r>
          </a:p>
          <a:p>
            <a:pPr marL="304746" lvl="1" indent="0">
              <a:buNone/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     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  <a:hlinkClick r:id="rId3"/>
              </a:rPr>
              <a:t>http://localhost/Spring26/index.php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) </a:t>
            </a:r>
          </a:p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</a:t>
            </a:r>
            <a:r>
              <a:rPr lang="en-US" sz="1100" b="1" dirty="0">
                <a:solidFill>
                  <a:srgbClr val="FFFF00"/>
                </a:solidFill>
              </a:rPr>
              <a:t>[If your </a:t>
            </a:r>
            <a:r>
              <a:rPr lang="en-US" sz="1100" b="1" dirty="0" err="1">
                <a:solidFill>
                  <a:srgbClr val="FFFF00"/>
                </a:solidFill>
              </a:rPr>
              <a:t>apache</a:t>
            </a:r>
            <a:r>
              <a:rPr lang="en-US" sz="1100" b="1" dirty="0">
                <a:solidFill>
                  <a:srgbClr val="FFFF00"/>
                </a:solidFill>
              </a:rPr>
              <a:t> server is opened on port 8080, you will need to use this link instead </a:t>
            </a:r>
            <a:r>
              <a:rPr lang="en-US" sz="11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http://localhost:8080/Spring26/index.php</a:t>
            </a:r>
            <a:r>
              <a:rPr lang="en-US" sz="1100" b="1" dirty="0">
                <a:solidFill>
                  <a:srgbClr val="FFFF00"/>
                </a:solidFill>
              </a:rPr>
              <a:t> ]</a:t>
            </a:r>
            <a:endParaRPr lang="en-US" sz="1400" b="1" dirty="0">
              <a:solidFill>
                <a:srgbClr val="FFFF00"/>
              </a:solidFill>
            </a:endParaRP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Some useful Extensions</a:t>
            </a:r>
          </a:p>
          <a:p>
            <a:pPr marL="304746" lvl="1" indent="0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</a:rPr>
              <a:t>      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PHP </a:t>
            </a:r>
            <a:r>
              <a:rPr lang="en-US" sz="1400" dirty="0" err="1">
                <a:solidFill>
                  <a:schemeClr val="tx1">
                    <a:lumMod val="95000"/>
                  </a:schemeClr>
                </a:solidFill>
              </a:rPr>
              <a:t>Intelephense</a:t>
            </a:r>
            <a:r>
              <a:rPr lang="en-US" sz="1400" dirty="0">
                <a:solidFill>
                  <a:schemeClr val="tx1">
                    <a:lumMod val="95000"/>
                  </a:schemeClr>
                </a:solidFill>
              </a:rPr>
              <a:t>, Code Runner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Set the Path variable</a:t>
            </a:r>
          </a:p>
          <a:p>
            <a:pPr marL="304746" lvl="1" indent="0">
              <a:buNone/>
            </a:pPr>
            <a:r>
              <a:rPr lang="en-US" sz="1700" b="1" dirty="0">
                <a:solidFill>
                  <a:schemeClr val="tx1">
                    <a:lumMod val="95000"/>
                  </a:schemeClr>
                </a:solidFill>
              </a:rPr>
              <a:t>    </a:t>
            </a:r>
            <a:r>
              <a:rPr lang="en-US" sz="1700" dirty="0">
                <a:solidFill>
                  <a:schemeClr val="tx1">
                    <a:lumMod val="95000"/>
                  </a:schemeClr>
                </a:solidFill>
              </a:rPr>
              <a:t>Edit “Environment Variable” -&gt; Edit “Path”-&gt; Create new path and give the directory “C:\</a:t>
            </a:r>
            <a:r>
              <a:rPr lang="en-US" sz="1700" dirty="0" err="1">
                <a:solidFill>
                  <a:schemeClr val="tx1">
                    <a:lumMod val="95000"/>
                  </a:schemeClr>
                </a:solidFill>
              </a:rPr>
              <a:t>xampp</a:t>
            </a:r>
            <a:r>
              <a:rPr lang="en-US" sz="1700" dirty="0">
                <a:solidFill>
                  <a:schemeClr val="tx1">
                    <a:lumMod val="95000"/>
                  </a:schemeClr>
                </a:solidFill>
              </a:rPr>
              <a:t>\php”</a:t>
            </a:r>
          </a:p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88086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Basic PHP Syntax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91348" y="1545336"/>
            <a:ext cx="4626864" cy="4119694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&lt;!</a:t>
              </a:r>
              <a:r>
                <a:rPr lang="en-US" sz="12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DOCTYPE</a:t>
              </a:r>
              <a:r>
                <a:rPr lang="en-US" sz="12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2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html</a:t>
              </a:r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2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html</a:t>
              </a:r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2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&lt;?php</a:t>
              </a:r>
            </a:p>
            <a:p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2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2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"Hello, World!"</a:t>
              </a:r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2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2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"&lt;h1&gt;Welcome to PHP&lt;/h1&gt;"</a:t>
              </a:r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endPara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50" dirty="0">
                  <a:solidFill>
                    <a:srgbClr val="8B949E"/>
                  </a:solidFill>
                  <a:latin typeface="Consolas" panose="020B0609020204030204" pitchFamily="49" charset="0"/>
                </a:rPr>
                <a:t>         </a:t>
              </a:r>
              <a:r>
                <a:rPr lang="en-US" sz="1050" b="0" dirty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// This is a single-line comment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 </a:t>
              </a:r>
              <a:r>
                <a:rPr lang="en-US" sz="1050" b="0" dirty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/* This is a multi-line comment */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br>
                <a:rPr lang="en-US" sz="12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2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2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?&gt;</a:t>
              </a:r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sz="12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sz="12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html</a:t>
              </a:r>
              <a:r>
                <a:rPr lang="en-US" sz="12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sz="12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Shape 2">
            <a:extLst>
              <a:ext uri="{FF2B5EF4-FFF2-40B4-BE49-F238E27FC236}">
                <a16:creationId xmlns:a16="http://schemas.microsoft.com/office/drawing/2014/main" id="{CE70AB60-D5EE-4E14-A7F1-23D9144381EF}"/>
              </a:ext>
            </a:extLst>
          </p:cNvPr>
          <p:cNvSpPr/>
          <p:nvPr/>
        </p:nvSpPr>
        <p:spPr>
          <a:xfrm>
            <a:off x="6780212" y="1545336"/>
            <a:ext cx="4587542" cy="2112264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r>
              <a:rPr lang="en-US" sz="1200" b="0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PHP code should be written inside </a:t>
            </a:r>
            <a:r>
              <a:rPr lang="en-US" sz="1200" b="1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&lt;?php ?&gt; </a:t>
            </a:r>
            <a:r>
              <a:rPr lang="en-US" sz="1200" b="0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tag.</a:t>
            </a:r>
          </a:p>
          <a:p>
            <a:endParaRPr lang="en-US" sz="12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lang="en-US" sz="1200" b="0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prints output to the page</a:t>
            </a:r>
          </a:p>
        </p:txBody>
      </p:sp>
    </p:spTree>
    <p:extLst>
      <p:ext uri="{BB962C8B-B14F-4D97-AF65-F5344CB8AC3E}">
        <p14:creationId xmlns:p14="http://schemas.microsoft.com/office/powerpoint/2010/main" val="419535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Variables and Data types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91348" y="1545336"/>
            <a:ext cx="5183716" cy="2112264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$name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"Mahmudul"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$age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5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26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$temp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5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27.5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5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isRaining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5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false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05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"My name is 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</a:t>
              </a:r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$name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 and I am 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$age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 years old."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dirty="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"&lt;</a:t>
              </a:r>
              <a:r>
                <a:rPr lang="en-US" sz="105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br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&gt;"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dirty="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r>
                <a:rPr lang="en-US" sz="105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"The temperature is 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5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$temp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 degrees Celsius. &lt;</a:t>
              </a:r>
              <a:r>
                <a:rPr lang="en-US" sz="105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br</a:t>
              </a:r>
              <a:r>
                <a:rPr lang="en-US" sz="105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&gt;"</a:t>
              </a:r>
              <a:r>
                <a:rPr lang="en-US" sz="105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Shape 2">
            <a:extLst>
              <a:ext uri="{FF2B5EF4-FFF2-40B4-BE49-F238E27FC236}">
                <a16:creationId xmlns:a16="http://schemas.microsoft.com/office/drawing/2014/main" id="{CE70AB60-D5EE-4E14-A7F1-23D9144381EF}"/>
              </a:ext>
            </a:extLst>
          </p:cNvPr>
          <p:cNvSpPr/>
          <p:nvPr/>
        </p:nvSpPr>
        <p:spPr>
          <a:xfrm>
            <a:off x="6788601" y="1545336"/>
            <a:ext cx="4587542" cy="2112264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Variables start with </a:t>
            </a:r>
            <a:r>
              <a:rPr lang="en-US" sz="12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Variables are case sensitive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No type declaration like JavaScript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Variable name cannot start </a:t>
            </a:r>
            <a:r>
              <a:rPr lang="en-US" sz="1200" dirty="0">
                <a:latin typeface="Consolas" panose="020B0609020204030204" pitchFamily="49" charset="0"/>
              </a:rPr>
              <a:t>with numbers.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DE594-A371-4B66-A181-7B97CB5C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02" y="3840012"/>
            <a:ext cx="29432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38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Functions in PHP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91348" y="1545336"/>
            <a:ext cx="5183716" cy="1731264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900" b="0" dirty="0">
                  <a:solidFill>
                    <a:srgbClr val="FF7B72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900" b="0" dirty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sum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$a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$b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{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9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$a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+ 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$b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}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br>
                <a:rPr lang="en-US" sz="9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$result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900" b="0" dirty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sum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9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9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);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9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"Summation: "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$result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 //15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5012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IF Else Conditions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91348" y="1545336"/>
            <a:ext cx="5183716" cy="2112264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&gt;=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"Passed"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}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else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"Failed"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endParaRPr lang="en-US" sz="10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endPara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// Using ternary operator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&gt;= </a:t>
              </a:r>
              <a:r>
                <a:rPr lang="en-US" sz="9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50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? </a:t>
              </a:r>
              <a:r>
                <a:rPr lang="en-US" sz="9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"Passed"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: </a:t>
              </a:r>
              <a:r>
                <a:rPr lang="en-US" sz="9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"Failed"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Shape 2">
            <a:extLst>
              <a:ext uri="{FF2B5EF4-FFF2-40B4-BE49-F238E27FC236}">
                <a16:creationId xmlns:a16="http://schemas.microsoft.com/office/drawing/2014/main" id="{CE70AB60-D5EE-4E14-A7F1-23D9144381EF}"/>
              </a:ext>
            </a:extLst>
          </p:cNvPr>
          <p:cNvSpPr/>
          <p:nvPr/>
        </p:nvSpPr>
        <p:spPr>
          <a:xfrm>
            <a:off x="6788601" y="1545336"/>
            <a:ext cx="4587542" cy="2112264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 </a:t>
            </a:r>
            <a:r>
              <a:rPr lang="en-US" sz="1200" dirty="0">
                <a:latin typeface="Consolas" panose="020B0609020204030204" pitchFamily="49" charset="0"/>
              </a:rPr>
              <a:t>check equal value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sz="1200" dirty="0">
                <a:latin typeface="Consolas" panose="020B0609020204030204" pitchFamily="49" charset="0"/>
              </a:rPr>
              <a:t> check equal value and type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142B58-FB3F-4089-9AA7-C4FF2601B931}"/>
              </a:ext>
            </a:extLst>
          </p:cNvPr>
          <p:cNvGrpSpPr/>
          <p:nvPr/>
        </p:nvGrpSpPr>
        <p:grpSpPr>
          <a:xfrm>
            <a:off x="1389061" y="3962400"/>
            <a:ext cx="5183716" cy="2112264"/>
            <a:chOff x="1391348" y="1545336"/>
            <a:chExt cx="6455664" cy="4119694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3D9DAEA0-066D-4866-9E11-0F10A6A03468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switch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case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&gt;=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90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):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"Grade: A"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break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case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&gt;=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):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"Grade: B"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break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case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$marks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&gt;=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70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):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"Grade: C"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break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default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"Grade: F"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73DC2EF0-A637-4023-86B4-22A47EC8DCDD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Shape 2">
            <a:extLst>
              <a:ext uri="{FF2B5EF4-FFF2-40B4-BE49-F238E27FC236}">
                <a16:creationId xmlns:a16="http://schemas.microsoft.com/office/drawing/2014/main" id="{6FD88969-29A7-4A24-8DC1-8CED36728F6E}"/>
              </a:ext>
            </a:extLst>
          </p:cNvPr>
          <p:cNvSpPr/>
          <p:nvPr/>
        </p:nvSpPr>
        <p:spPr>
          <a:xfrm>
            <a:off x="6788601" y="3952201"/>
            <a:ext cx="4587542" cy="2112264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Default </a:t>
            </a:r>
            <a:r>
              <a:rPr lang="en-US" sz="1200" dirty="0">
                <a:latin typeface="Consolas" panose="020B0609020204030204" pitchFamily="49" charset="0"/>
              </a:rPr>
              <a:t>when no cases match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onsolas" panose="020B0609020204030204" pitchFamily="49" charset="0"/>
              </a:rPr>
              <a:t>Add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latin typeface="Consolas" panose="020B0609020204030204" pitchFamily="49" charset="0"/>
              </a:rPr>
              <a:t>, or the execution falls through</a:t>
            </a:r>
          </a:p>
        </p:txBody>
      </p:sp>
    </p:spTree>
    <p:extLst>
      <p:ext uri="{BB962C8B-B14F-4D97-AF65-F5344CB8AC3E}">
        <p14:creationId xmlns:p14="http://schemas.microsoft.com/office/powerpoint/2010/main" val="3181780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Loops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91348" y="1545336"/>
            <a:ext cx="5183716" cy="1045464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&lt;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++)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"Iteration: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dirty="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000" b="0" dirty="0">
                  <a:solidFill>
                    <a:srgbClr val="8B949E"/>
                  </a:solidFill>
                  <a:effectLst/>
                  <a:latin typeface="Consolas" panose="020B0609020204030204" pitchFamily="49" charset="0"/>
                </a:rPr>
                <a:t>// Iteration 0 Iteration 1 Iteration 2 Iteration 3 Iteration 4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142B58-FB3F-4089-9AA7-C4FF2601B931}"/>
              </a:ext>
            </a:extLst>
          </p:cNvPr>
          <p:cNvGrpSpPr/>
          <p:nvPr/>
        </p:nvGrpSpPr>
        <p:grpSpPr>
          <a:xfrm>
            <a:off x="1395353" y="3223965"/>
            <a:ext cx="5183716" cy="1044222"/>
            <a:chOff x="1391348" y="1545336"/>
            <a:chExt cx="6455664" cy="4119694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3D9DAEA0-066D-4866-9E11-0F10A6A03468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while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&lt;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"While Loop Iteration: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000" b="0" dirty="0" err="1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++;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73DC2EF0-A637-4023-86B4-22A47EC8DCDD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4960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GET and POST in PHP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27190" y="3819004"/>
            <a:ext cx="4767222" cy="1972195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0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form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method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"post"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action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10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submit.php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0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type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"text"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"username"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0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button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type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"submit"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sz="10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sz="10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button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sz="10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form</a:t>
              </a:r>
              <a:r>
                <a:rPr lang="en-US" sz="10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&lt;?php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$username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$_POST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"username"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];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"Welcome, 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$username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dirty="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?&gt;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Shape 2">
            <a:extLst>
              <a:ext uri="{FF2B5EF4-FFF2-40B4-BE49-F238E27FC236}">
                <a16:creationId xmlns:a16="http://schemas.microsoft.com/office/drawing/2014/main" id="{B75C539F-067A-4551-BA08-3AAA9E91223E}"/>
              </a:ext>
            </a:extLst>
          </p:cNvPr>
          <p:cNvSpPr/>
          <p:nvPr/>
        </p:nvSpPr>
        <p:spPr>
          <a:xfrm>
            <a:off x="1327190" y="1166052"/>
            <a:ext cx="4767222" cy="2262948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$_GET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Sends data in the URL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Data is visible in the browser address bar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2050" name="Picture 2" descr="php get vs post example">
            <a:extLst>
              <a:ext uri="{FF2B5EF4-FFF2-40B4-BE49-F238E27FC236}">
                <a16:creationId xmlns:a16="http://schemas.microsoft.com/office/drawing/2014/main" id="{5393EECA-7E4E-43F7-924F-AC7C7545B0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20" r="24651" b="46694"/>
          <a:stretch/>
        </p:blipFill>
        <p:spPr bwMode="auto">
          <a:xfrm>
            <a:off x="1446212" y="2253616"/>
            <a:ext cx="4457181" cy="66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hape 2">
            <a:extLst>
              <a:ext uri="{FF2B5EF4-FFF2-40B4-BE49-F238E27FC236}">
                <a16:creationId xmlns:a16="http://schemas.microsoft.com/office/drawing/2014/main" id="{6438D154-49DC-4D1D-9253-4C0E0D0FFAB8}"/>
              </a:ext>
            </a:extLst>
          </p:cNvPr>
          <p:cNvSpPr/>
          <p:nvPr/>
        </p:nvSpPr>
        <p:spPr>
          <a:xfrm>
            <a:off x="6704012" y="1166052"/>
            <a:ext cx="4767222" cy="2262948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$_POST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Sends data in the request body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Better for forms like login or signup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Data is not shown directly in the URL</a:t>
            </a:r>
          </a:p>
        </p:txBody>
      </p:sp>
    </p:spTree>
    <p:extLst>
      <p:ext uri="{BB962C8B-B14F-4D97-AF65-F5344CB8AC3E}">
        <p14:creationId xmlns:p14="http://schemas.microsoft.com/office/powerpoint/2010/main" val="2505007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Key-Value Pairs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5C6D3-6511-4085-8CBC-AD47ED3FD457}"/>
              </a:ext>
            </a:extLst>
          </p:cNvPr>
          <p:cNvGrpSpPr/>
          <p:nvPr/>
        </p:nvGrpSpPr>
        <p:grpSpPr>
          <a:xfrm>
            <a:off x="1348672" y="1447800"/>
            <a:ext cx="4767222" cy="2220416"/>
            <a:chOff x="1391348" y="1545336"/>
            <a:chExt cx="6455664" cy="411969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ECAA25-040D-45E1-B8A3-E57A9023764E}"/>
                </a:ext>
              </a:extLst>
            </p:cNvPr>
            <p:cNvSpPr/>
            <p:nvPr/>
          </p:nvSpPr>
          <p:spPr>
            <a:xfrm>
              <a:off x="1446212" y="1545336"/>
              <a:ext cx="6400800" cy="4114800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2A3563"/>
              </a:solidFill>
              <a:prstDash val="solid"/>
            </a:ln>
          </p:spPr>
          <p:txBody>
            <a:bodyPr/>
            <a:lstStyle/>
            <a:p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$student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[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"name"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=&gt;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"Mahmudul"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"age"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=&gt; </a:t>
              </a:r>
              <a:r>
                <a:rPr lang="en-US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26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"department"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=&gt;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"CSE"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"batch"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=&gt;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"HSC 18"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];</a:t>
              </a:r>
            </a:p>
            <a:p>
              <a:endParaRPr lang="en-US" sz="11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en-US" sz="9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9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$student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sz="9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“batch"</a:t>
              </a:r>
              <a:r>
                <a:rPr lang="en-US" sz="9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];</a:t>
              </a:r>
              <a:endPara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100" dirty="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foreach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$student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as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$key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=&gt;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$value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 {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echo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$key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": 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$value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. 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"&lt;</a:t>
              </a:r>
              <a:r>
                <a:rPr lang="en-US" sz="10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br</a:t>
              </a:r>
              <a:r>
                <a:rPr lang="en-US" sz="10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&gt;"</a:t>
              </a:r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  <a:endPara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B5C67A-9669-4A0D-8178-B71868E95641}"/>
                </a:ext>
              </a:extLst>
            </p:cNvPr>
            <p:cNvSpPr/>
            <p:nvPr/>
          </p:nvSpPr>
          <p:spPr>
            <a:xfrm>
              <a:off x="1391348" y="1550230"/>
              <a:ext cx="54864" cy="4114800"/>
            </a:xfrm>
            <a:prstGeom prst="rect">
              <a:avLst/>
            </a:prstGeom>
            <a:solidFill>
              <a:srgbClr val="B19CD9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DD67246-69A5-421C-B0AA-C8455386F427}"/>
              </a:ext>
            </a:extLst>
          </p:cNvPr>
          <p:cNvGrpSpPr/>
          <p:nvPr/>
        </p:nvGrpSpPr>
        <p:grpSpPr>
          <a:xfrm>
            <a:off x="7191692" y="1408651"/>
            <a:ext cx="4297680" cy="2212848"/>
            <a:chOff x="7191692" y="1408651"/>
            <a:chExt cx="4297680" cy="2212848"/>
          </a:xfrm>
        </p:grpSpPr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112BEFF9-8D52-4993-A77D-3BF4D4CE11BB}"/>
                </a:ext>
              </a:extLst>
            </p:cNvPr>
            <p:cNvSpPr/>
            <p:nvPr/>
          </p:nvSpPr>
          <p:spPr>
            <a:xfrm>
              <a:off x="7191692" y="1408651"/>
              <a:ext cx="4297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5EEA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$student</a:t>
              </a:r>
              <a:endParaRPr lang="en-US" sz="1300" dirty="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50E7BB28-2C11-4962-A733-E96F7E9D08DE}"/>
                </a:ext>
              </a:extLst>
            </p:cNvPr>
            <p:cNvSpPr/>
            <p:nvPr/>
          </p:nvSpPr>
          <p:spPr>
            <a:xfrm>
              <a:off x="7191692" y="1865851"/>
              <a:ext cx="14630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F5C26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E0F201CB-18C0-4E01-BF6F-0DEC2451B20C}"/>
                </a:ext>
              </a:extLst>
            </p:cNvPr>
            <p:cNvSpPr/>
            <p:nvPr/>
          </p:nvSpPr>
          <p:spPr>
            <a:xfrm>
              <a:off x="7191692" y="1865851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5C26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"name"</a:t>
              </a:r>
              <a:endParaRPr lang="en-US" sz="1200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11C5CBE9-50C1-4854-BB79-5C4265F4308D}"/>
                </a:ext>
              </a:extLst>
            </p:cNvPr>
            <p:cNvSpPr/>
            <p:nvPr/>
          </p:nvSpPr>
          <p:spPr>
            <a:xfrm>
              <a:off x="8700452" y="1865851"/>
              <a:ext cx="365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AA3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dirty="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4276410F-D691-4B7D-BFA3-4B03871C9B13}"/>
                </a:ext>
              </a:extLst>
            </p:cNvPr>
            <p:cNvSpPr/>
            <p:nvPr/>
          </p:nvSpPr>
          <p:spPr>
            <a:xfrm>
              <a:off x="9066212" y="1865851"/>
              <a:ext cx="23774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025F23EB-F89C-44F8-ABA7-0A307C497387}"/>
                </a:ext>
              </a:extLst>
            </p:cNvPr>
            <p:cNvSpPr/>
            <p:nvPr/>
          </p:nvSpPr>
          <p:spPr>
            <a:xfrm>
              <a:off x="9066212" y="1865851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EA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Mahmudul</a:t>
              </a:r>
              <a:endParaRPr lang="en-US" sz="1200" dirty="0"/>
            </a:p>
          </p:txBody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1B1E8401-2A89-4C6D-A84C-E020FAEE6A76}"/>
                </a:ext>
              </a:extLst>
            </p:cNvPr>
            <p:cNvSpPr/>
            <p:nvPr/>
          </p:nvSpPr>
          <p:spPr>
            <a:xfrm>
              <a:off x="7191692" y="2323051"/>
              <a:ext cx="14630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F5C26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FAE44B39-46CD-45E1-BFDA-9FF328FE9394}"/>
                </a:ext>
              </a:extLst>
            </p:cNvPr>
            <p:cNvSpPr/>
            <p:nvPr/>
          </p:nvSpPr>
          <p:spPr>
            <a:xfrm>
              <a:off x="7191692" y="2323051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5C26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“age"</a:t>
              </a:r>
              <a:endParaRPr lang="en-US" sz="1200" dirty="0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BE1F85E8-22EE-4862-8A92-025C2D2F6E5B}"/>
                </a:ext>
              </a:extLst>
            </p:cNvPr>
            <p:cNvSpPr/>
            <p:nvPr/>
          </p:nvSpPr>
          <p:spPr>
            <a:xfrm>
              <a:off x="8700452" y="2323051"/>
              <a:ext cx="365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AA3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dirty="0"/>
            </a:p>
          </p:txBody>
        </p:sp>
        <p:sp>
          <p:nvSpPr>
            <p:cNvPr id="24" name="Shape 15">
              <a:extLst>
                <a:ext uri="{FF2B5EF4-FFF2-40B4-BE49-F238E27FC236}">
                  <a16:creationId xmlns:a16="http://schemas.microsoft.com/office/drawing/2014/main" id="{A66CF2F0-25C8-465E-9E17-2CC2B0F14BD0}"/>
                </a:ext>
              </a:extLst>
            </p:cNvPr>
            <p:cNvSpPr/>
            <p:nvPr/>
          </p:nvSpPr>
          <p:spPr>
            <a:xfrm>
              <a:off x="9066212" y="2323051"/>
              <a:ext cx="23774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92626EF1-746E-4D5B-A1F3-3FCA0CEAF5A2}"/>
                </a:ext>
              </a:extLst>
            </p:cNvPr>
            <p:cNvSpPr/>
            <p:nvPr/>
          </p:nvSpPr>
          <p:spPr>
            <a:xfrm>
              <a:off x="9066212" y="2323051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EA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26</a:t>
              </a:r>
              <a:endParaRPr lang="en-US" sz="1200" dirty="0"/>
            </a:p>
          </p:txBody>
        </p:sp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80B58B36-D262-47CA-8FFF-798B5F0583DA}"/>
                </a:ext>
              </a:extLst>
            </p:cNvPr>
            <p:cNvSpPr/>
            <p:nvPr/>
          </p:nvSpPr>
          <p:spPr>
            <a:xfrm>
              <a:off x="7191692" y="2780251"/>
              <a:ext cx="14630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F5C26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62BD0E0F-EF33-4FDF-B736-CEBB4CE76999}"/>
                </a:ext>
              </a:extLst>
            </p:cNvPr>
            <p:cNvSpPr/>
            <p:nvPr/>
          </p:nvSpPr>
          <p:spPr>
            <a:xfrm>
              <a:off x="7191692" y="2780251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5C26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“department"</a:t>
              </a:r>
              <a:endParaRPr lang="en-US" sz="120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62676805-3A34-4E0B-B959-72E18007FE5C}"/>
                </a:ext>
              </a:extLst>
            </p:cNvPr>
            <p:cNvSpPr/>
            <p:nvPr/>
          </p:nvSpPr>
          <p:spPr>
            <a:xfrm>
              <a:off x="8700452" y="2780251"/>
              <a:ext cx="365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AA3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A4E46B75-969D-4276-9DCA-8DA5B9E5AEDC}"/>
                </a:ext>
              </a:extLst>
            </p:cNvPr>
            <p:cNvSpPr/>
            <p:nvPr/>
          </p:nvSpPr>
          <p:spPr>
            <a:xfrm>
              <a:off x="9066212" y="2780251"/>
              <a:ext cx="23774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860BB834-6FB7-4C26-A0CE-ACDA1FFBE6B1}"/>
                </a:ext>
              </a:extLst>
            </p:cNvPr>
            <p:cNvSpPr/>
            <p:nvPr/>
          </p:nvSpPr>
          <p:spPr>
            <a:xfrm>
              <a:off x="9066212" y="2780251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EA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CSE</a:t>
              </a:r>
              <a:endParaRPr lang="en-US" sz="1200" dirty="0"/>
            </a:p>
          </p:txBody>
        </p:sp>
        <p:sp>
          <p:nvSpPr>
            <p:cNvPr id="31" name="Shape 22">
              <a:extLst>
                <a:ext uri="{FF2B5EF4-FFF2-40B4-BE49-F238E27FC236}">
                  <a16:creationId xmlns:a16="http://schemas.microsoft.com/office/drawing/2014/main" id="{94B5E769-8C62-4B3E-87B3-C750C892DF8E}"/>
                </a:ext>
              </a:extLst>
            </p:cNvPr>
            <p:cNvSpPr/>
            <p:nvPr/>
          </p:nvSpPr>
          <p:spPr>
            <a:xfrm>
              <a:off x="7191692" y="3237451"/>
              <a:ext cx="14630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F5C26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57CBD22D-6B09-4D8D-880D-1AEDF56A3FC1}"/>
                </a:ext>
              </a:extLst>
            </p:cNvPr>
            <p:cNvSpPr/>
            <p:nvPr/>
          </p:nvSpPr>
          <p:spPr>
            <a:xfrm>
              <a:off x="7191692" y="3237451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5C26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“batch"</a:t>
              </a:r>
              <a:endParaRPr lang="en-US" sz="1200" dirty="0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3BED2891-47BB-46D7-BE16-7DB6006DBE23}"/>
                </a:ext>
              </a:extLst>
            </p:cNvPr>
            <p:cNvSpPr/>
            <p:nvPr/>
          </p:nvSpPr>
          <p:spPr>
            <a:xfrm>
              <a:off x="8700452" y="3237451"/>
              <a:ext cx="365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AA3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3481238F-F99B-40C8-BE4C-DA050DDE407D}"/>
                </a:ext>
              </a:extLst>
            </p:cNvPr>
            <p:cNvSpPr/>
            <p:nvPr/>
          </p:nvSpPr>
          <p:spPr>
            <a:xfrm>
              <a:off x="9066212" y="3237451"/>
              <a:ext cx="2377440" cy="384048"/>
            </a:xfrm>
            <a:prstGeom prst="rect">
              <a:avLst/>
            </a:prstGeom>
            <a:solidFill>
              <a:srgbClr val="0A0F22"/>
            </a:solidFill>
            <a:ln w="12700">
              <a:solidFill>
                <a:srgbClr val="5EEAD4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0FE8D624-0348-496C-AECD-2F11341A236D}"/>
                </a:ext>
              </a:extLst>
            </p:cNvPr>
            <p:cNvSpPr/>
            <p:nvPr/>
          </p:nvSpPr>
          <p:spPr>
            <a:xfrm>
              <a:off x="9066212" y="3237451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EA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HSC 18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9961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363731"/>
            <a:ext cx="10360501" cy="660400"/>
          </a:xfrm>
        </p:spPr>
        <p:txBody>
          <a:bodyPr/>
          <a:lstStyle/>
          <a:p>
            <a:r>
              <a:rPr lang="en-US" b="1" dirty="0"/>
              <a:t>Useful Built-in Functions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9179" y="1371600"/>
            <a:ext cx="10360501" cy="4462272"/>
          </a:xfrm>
        </p:spPr>
        <p:txBody>
          <a:bodyPr>
            <a:normAutofit/>
          </a:bodyPr>
          <a:lstStyle/>
          <a:p>
            <a:pPr marL="304746" lvl="1" indent="0"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</a:t>
            </a:r>
            <a:endParaRPr lang="en-US" sz="1400" b="1" dirty="0">
              <a:solidFill>
                <a:schemeClr val="tx1">
                  <a:lumMod val="9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800" b="1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5D8DC7F9-DA33-46A4-B9A8-1DA483D05347}"/>
              </a:ext>
            </a:extLst>
          </p:cNvPr>
          <p:cNvSpPr/>
          <p:nvPr/>
        </p:nvSpPr>
        <p:spPr>
          <a:xfrm>
            <a:off x="1370012" y="1166052"/>
            <a:ext cx="5181600" cy="1958148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 Functions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strlen</a:t>
            </a:r>
            <a:r>
              <a:rPr lang="en-US" sz="1000" dirty="0">
                <a:latin typeface="Consolas" panose="020B0609020204030204" pitchFamily="49" charset="0"/>
              </a:rPr>
              <a:t>("Hello"); // counts character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strtoupper</a:t>
            </a:r>
            <a:r>
              <a:rPr lang="en-US" sz="1000" dirty="0">
                <a:latin typeface="Consolas" panose="020B0609020204030204" pitchFamily="49" charset="0"/>
              </a:rPr>
              <a:t>("hello"); //Converts to uppercase.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strtolower</a:t>
            </a:r>
            <a:r>
              <a:rPr lang="en-US" sz="1000" dirty="0">
                <a:latin typeface="Consolas" panose="020B0609020204030204" pitchFamily="49" charset="0"/>
              </a:rPr>
              <a:t>("HELLO"); //Converts to lower.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trim</a:t>
            </a:r>
            <a:r>
              <a:rPr lang="en-US" sz="1000" dirty="0">
                <a:latin typeface="Consolas" panose="020B0609020204030204" pitchFamily="49" charset="0"/>
              </a:rPr>
              <a:t>("  Hello  "); //trims extra space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str_replace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what_to_find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replace_with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original_text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str_replace</a:t>
            </a:r>
            <a:r>
              <a:rPr lang="en-US" sz="1000" dirty="0">
                <a:latin typeface="Consolas" panose="020B0609020204030204" pitchFamily="49" charset="0"/>
              </a:rPr>
              <a:t>("PHP", "Laravel", "I love PHP"); //replace text</a:t>
            </a: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71BDBE14-CE6E-4A0E-9B4D-6CC77F420A2A}"/>
              </a:ext>
            </a:extLst>
          </p:cNvPr>
          <p:cNvSpPr/>
          <p:nvPr/>
        </p:nvSpPr>
        <p:spPr>
          <a:xfrm>
            <a:off x="1370012" y="3242334"/>
            <a:ext cx="5181600" cy="1958148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Array Functions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count</a:t>
            </a:r>
            <a:r>
              <a:rPr lang="en-US" sz="1000" dirty="0">
                <a:latin typeface="Consolas" panose="020B0609020204030204" pitchFamily="49" charset="0"/>
              </a:rPr>
              <a:t>($students); //Counts items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array_push</a:t>
            </a:r>
            <a:r>
              <a:rPr lang="en-US" sz="1000" dirty="0">
                <a:latin typeface="Consolas" panose="020B0609020204030204" pitchFamily="49" charset="0"/>
              </a:rPr>
              <a:t>($students, "Alex"); //Adds item to the end of an array.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array_pop</a:t>
            </a:r>
            <a:r>
              <a:rPr lang="en-US" sz="1000" dirty="0">
                <a:latin typeface="Consolas" panose="020B0609020204030204" pitchFamily="49" charset="0"/>
              </a:rPr>
              <a:t>(); //Remove item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in_array</a:t>
            </a:r>
            <a:r>
              <a:rPr lang="en-US" sz="1000" dirty="0">
                <a:latin typeface="Consolas" panose="020B0609020204030204" pitchFamily="49" charset="0"/>
              </a:rPr>
              <a:t>("Alex", $students); //Checks if a value exists in an array.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sort</a:t>
            </a:r>
            <a:r>
              <a:rPr lang="en-US" sz="1000" dirty="0">
                <a:latin typeface="Consolas" panose="020B0609020204030204" pitchFamily="49" charset="0"/>
              </a:rPr>
              <a:t>($students) / </a:t>
            </a:r>
            <a:r>
              <a:rPr lang="en-US" sz="1000" dirty="0" err="1">
                <a:latin typeface="Consolas" panose="020B0609020204030204" pitchFamily="49" charset="0"/>
              </a:rPr>
              <a:t>rsort</a:t>
            </a:r>
            <a:r>
              <a:rPr lang="en-US" sz="1000" dirty="0">
                <a:latin typeface="Consolas" panose="020B0609020204030204" pitchFamily="49" charset="0"/>
              </a:rPr>
              <a:t>($students) //sort 	//</a:t>
            </a:r>
            <a:r>
              <a:rPr lang="en-US" sz="1000" dirty="0" err="1">
                <a:latin typeface="Consolas" panose="020B0609020204030204" pitchFamily="49" charset="0"/>
              </a:rPr>
              <a:t>reverseSort</a:t>
            </a:r>
            <a:endParaRPr lang="en-US" sz="1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implode</a:t>
            </a:r>
            <a:r>
              <a:rPr lang="en-US" sz="1000" dirty="0">
                <a:latin typeface="Consolas" panose="020B0609020204030204" pitchFamily="49" charset="0"/>
              </a:rPr>
              <a:t>(“,”, $students) //Converts to string</a:t>
            </a:r>
          </a:p>
          <a:p>
            <a:pPr>
              <a:lnSpc>
                <a:spcPct val="150000"/>
              </a:lnSpc>
            </a:pP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489D34C2-D945-4909-9AF5-2E33BD70F205}"/>
              </a:ext>
            </a:extLst>
          </p:cNvPr>
          <p:cNvSpPr/>
          <p:nvPr/>
        </p:nvSpPr>
        <p:spPr>
          <a:xfrm>
            <a:off x="6780212" y="1153469"/>
            <a:ext cx="5181600" cy="1970732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</a:rPr>
              <a:t>Math Functions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FFFF00"/>
                </a:solidFill>
                <a:latin typeface="Consolas" panose="020B0609020204030204" pitchFamily="49" charset="0"/>
              </a:rPr>
              <a:t>round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(4.7), floor(4.7), ceil(4.7) //Rounding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FFFF00"/>
                </a:solidFill>
                <a:latin typeface="Consolas" panose="020B0609020204030204" pitchFamily="49" charset="0"/>
              </a:rPr>
              <a:t>rand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(1, 10); //Generate random number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FFFF00"/>
                </a:solidFill>
                <a:latin typeface="Consolas" panose="020B0609020204030204" pitchFamily="49" charset="0"/>
              </a:rPr>
              <a:t>max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(10, 25, 5); //Find Max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FFFF00"/>
                </a:solidFill>
                <a:latin typeface="Consolas" panose="020B0609020204030204" pitchFamily="49" charset="0"/>
              </a:rPr>
              <a:t>min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(10, 25, 5); //Find Min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FFFF00"/>
                </a:solidFill>
                <a:latin typeface="Consolas" panose="020B0609020204030204" pitchFamily="49" charset="0"/>
              </a:rPr>
              <a:t>pow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(2, 3), sqrt(16) // Power, root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CB1B681F-4D61-46C7-BC09-27037C1886BE}"/>
              </a:ext>
            </a:extLst>
          </p:cNvPr>
          <p:cNvSpPr/>
          <p:nvPr/>
        </p:nvSpPr>
        <p:spPr>
          <a:xfrm>
            <a:off x="6780212" y="3218565"/>
            <a:ext cx="5181600" cy="1970732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</a:rPr>
              <a:t>Some more Functions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isset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($name); //Checks if variable exists and not null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is_string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($name); //Check if value string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is_numeric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($age); //Check if value number</a:t>
            </a:r>
          </a:p>
        </p:txBody>
      </p:sp>
    </p:spTree>
    <p:extLst>
      <p:ext uri="{BB962C8B-B14F-4D97-AF65-F5344CB8AC3E}">
        <p14:creationId xmlns:p14="http://schemas.microsoft.com/office/powerpoint/2010/main" val="1795242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FAE4-B3FA-43D6-A759-694E9029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084909"/>
            <a:ext cx="10360501" cy="688182"/>
          </a:xfrm>
        </p:spPr>
        <p:txBody>
          <a:bodyPr/>
          <a:lstStyle/>
          <a:p>
            <a:pPr algn="ctr"/>
            <a:r>
              <a:rPr lang="en-US" b="1" dirty="0"/>
              <a:t>Now let’s solve Final Questions</a:t>
            </a:r>
          </a:p>
        </p:txBody>
      </p:sp>
    </p:spTree>
    <p:extLst>
      <p:ext uri="{BB962C8B-B14F-4D97-AF65-F5344CB8AC3E}">
        <p14:creationId xmlns:p14="http://schemas.microsoft.com/office/powerpoint/2010/main" val="186265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130</TotalTime>
  <Words>1391</Words>
  <Application>Microsoft Office PowerPoint</Application>
  <PresentationFormat>Custom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Tech 16x9</vt:lpstr>
      <vt:lpstr>Introduction to PHP</vt:lpstr>
      <vt:lpstr>What is PHP?</vt:lpstr>
      <vt:lpstr>Running PHP with XAMPP</vt:lpstr>
      <vt:lpstr>Basic PHP Syntax</vt:lpstr>
      <vt:lpstr>Variables and Data types</vt:lpstr>
      <vt:lpstr>Functions in PHP</vt:lpstr>
      <vt:lpstr>IF Else Conditions</vt:lpstr>
      <vt:lpstr>Loops</vt:lpstr>
      <vt:lpstr>GET and POST in PHP</vt:lpstr>
      <vt:lpstr>Key-Value Pairs</vt:lpstr>
      <vt:lpstr>Useful Built-in Functions</vt:lpstr>
      <vt:lpstr>Now let’s solve Final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PHP</dc:title>
  <dc:creator>Mahmudul Rakib</dc:creator>
  <cp:lastModifiedBy>Mahmudul Rakib</cp:lastModifiedBy>
  <cp:revision>12</cp:revision>
  <dcterms:created xsi:type="dcterms:W3CDTF">2026-05-12T15:44:53Z</dcterms:created>
  <dcterms:modified xsi:type="dcterms:W3CDTF">2026-05-12T17:55:50Z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