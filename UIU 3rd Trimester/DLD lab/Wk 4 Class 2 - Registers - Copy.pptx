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media/image11.jpg" ContentType="image/jpg"/>
  <Override PartName="/ppt/media/image12.jpg" ContentType="image/jpg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media/image30.jpg" ContentType="image/jpg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260" r:id="rId13"/>
    <p:sldId id="311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8" r:id="rId29"/>
    <p:sldId id="275" r:id="rId30"/>
    <p:sldId id="276" r:id="rId31"/>
    <p:sldId id="277" r:id="rId32"/>
    <p:sldId id="312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313" r:id="rId53"/>
    <p:sldId id="299" r:id="rId54"/>
    <p:sldId id="300" r:id="rId55"/>
    <p:sldId id="301" r:id="rId56"/>
    <p:sldId id="302" r:id="rId57"/>
    <p:sldId id="303" r:id="rId58"/>
  </p:sldIdLst>
  <p:sldSz cx="12192000" cy="6858000"/>
  <p:notesSz cx="6858000" cy="9144000"/>
  <p:embeddedFontLst>
    <p:embeddedFont>
      <p:font typeface="Microsoft Sans Serif" panose="020B0604020202020204" pitchFamily="34" charset="0"/>
      <p:regular r:id="rId60"/>
    </p:embeddedFont>
    <p:embeddedFont>
      <p:font typeface="Tahoma" panose="020B0604030504040204" pitchFamily="34" charset="0"/>
      <p:regular r:id="rId61"/>
      <p:bold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3" roundtripDataSignature="AMtx7mg6tajvb1Kjb9/IS5Gl0lRH7vUY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528E41-9A62-47E6-9BC3-71C5775B25FB}">
  <a:tblStyle styleId="{78528E41-9A62-47E6-9BC3-71C5775B25F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627c649f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g30627c649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627c649f0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30627c649f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627c649f0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30627c649f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4524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627c649f0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30627c649f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2466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627c649f0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30627c649f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0293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627c649f0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30627c649f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1442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627c649f0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30627c649f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1862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627c649f0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30627c649f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1207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627c649f0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30627c649f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2260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352418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4" name="Google Shape;4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4" name="Google Shape;4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6" name="Google Shape;4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55790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0" name="Google Shape;49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7" name="Google Shape;51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5" name="Google Shape;54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7" name="Google Shape;5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9" name="Google Shape;60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1" name="Google Shape;64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1" name="Google Shape;65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1" name="Google Shape;66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1" name="Google Shape;67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1" name="Google Shape;68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2" name="Google Shape;70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1" name="Google Shape;71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1" name="Google Shape;72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1" name="Google Shape;73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1" name="Google Shape;74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1" name="Google Shape;75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1" name="Google Shape;77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1" name="Google Shape;78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85626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8" name="Google Shape;79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7" name="Google Shape;8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7" name="Google Shape;81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7" name="Google Shape;82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8" name="Google Shape;83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7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7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47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47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47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4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4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4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4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4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4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0"/>
          <p:cNvSpPr txBox="1">
            <a:spLocks noGrp="1"/>
          </p:cNvSpPr>
          <p:nvPr>
            <p:ph type="body" idx="1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0"/>
          <p:cNvSpPr txBox="1">
            <a:spLocks noGrp="1"/>
          </p:cNvSpPr>
          <p:nvPr>
            <p:ph type="body" idx="2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5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5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5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5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5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5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5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5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5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5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5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5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5"/>
          <p:cNvSpPr txBox="1"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5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Registers</a:t>
            </a:r>
            <a:endParaRPr/>
          </a:p>
        </p:txBody>
      </p:sp>
      <p:sp>
        <p:nvSpPr>
          <p:cNvPr id="104" name="Google Shape;104;p1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105" name="Google Shape;105;p1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What is a Register?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Classification of registers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SHIFT REGISTER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Serial Input Serial Output (SISO)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Serial Input Parallel Output (SIPO)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Parallel Input Parallel Output (PIPO)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Parallel Input Serial Output</a:t>
            </a:r>
            <a:endParaRPr/>
          </a:p>
        </p:txBody>
      </p:sp>
      <p:sp>
        <p:nvSpPr>
          <p:cNvPr id="112" name="Google Shape;112;p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4" name="Google Shape;114;p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Registers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627c649f0_0_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A register is a group of memory elements that work together as a unit</a:t>
            </a:r>
            <a:endParaRPr/>
          </a:p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The simplest register does nothing more than store a binary word.</a:t>
            </a:r>
            <a:endParaRPr/>
          </a:p>
        </p:txBody>
      </p:sp>
      <p:sp>
        <p:nvSpPr>
          <p:cNvPr id="121" name="Google Shape;121;g30627c649f0_0_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122" name="Google Shape;122;g30627c649f0_0_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3" name="Google Shape;123;g30627c649f0_0_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4" name="Google Shape;124;g30627c649f0_0_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Register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627c649f0_0_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It stores a digital word</a:t>
            </a:r>
            <a:endParaRPr/>
          </a:p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A 4-bit buffer register stores 4 digital bits</a:t>
            </a:r>
            <a:endParaRPr/>
          </a:p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Figure shows a 4-bit buffer register (positive edge triggered)</a:t>
            </a:r>
            <a:endParaRPr/>
          </a:p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Here, </a:t>
            </a:r>
            <a:r>
              <a:rPr lang="en-US" i="1"/>
              <a:t>Q</a:t>
            </a:r>
            <a:r>
              <a:rPr lang="en-US" i="1" baseline="-25000"/>
              <a:t>3</a:t>
            </a:r>
            <a:r>
              <a:rPr lang="en-US" i="1"/>
              <a:t>Q</a:t>
            </a:r>
            <a:r>
              <a:rPr lang="en-US" i="1" baseline="-25000"/>
              <a:t>2</a:t>
            </a:r>
            <a:r>
              <a:rPr lang="en-US" i="1"/>
              <a:t>Q</a:t>
            </a:r>
            <a:r>
              <a:rPr lang="en-US" i="1" baseline="-25000"/>
              <a:t>1</a:t>
            </a:r>
            <a:r>
              <a:rPr lang="en-US" i="1"/>
              <a:t>Q</a:t>
            </a:r>
            <a:r>
              <a:rPr lang="en-US" i="1" baseline="-25000"/>
              <a:t>0</a:t>
            </a:r>
            <a:r>
              <a:rPr lang="en-US" i="1"/>
              <a:t> = X</a:t>
            </a:r>
            <a:r>
              <a:rPr lang="en-US" i="1" baseline="-25000"/>
              <a:t>3</a:t>
            </a:r>
            <a:r>
              <a:rPr lang="en-US" i="1"/>
              <a:t>X</a:t>
            </a:r>
            <a:r>
              <a:rPr lang="en-US" i="1" baseline="-25000"/>
              <a:t>2</a:t>
            </a:r>
            <a:r>
              <a:rPr lang="en-US" i="1"/>
              <a:t>X</a:t>
            </a:r>
            <a:r>
              <a:rPr lang="en-US" i="1" baseline="-25000"/>
              <a:t>1</a:t>
            </a:r>
            <a:r>
              <a:rPr lang="en-US" i="1"/>
              <a:t>X</a:t>
            </a:r>
            <a:r>
              <a:rPr lang="en-US" i="1" baseline="-25000"/>
              <a:t>0</a:t>
            </a:r>
            <a:endParaRPr/>
          </a:p>
        </p:txBody>
      </p:sp>
      <p:sp>
        <p:nvSpPr>
          <p:cNvPr id="130" name="Google Shape;130;g30627c649f0_0_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131" name="Google Shape;131;g30627c649f0_0_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2" name="Google Shape;132;g30627c649f0_0_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3" name="Google Shape;133;g30627c649f0_0_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Buffer Register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3BB653-9D00-EFA5-17C8-C7124556B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9091" y="3702459"/>
            <a:ext cx="66960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627c649f0_0_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dirty="0"/>
              <a:t>It stores a digital word</a:t>
            </a:r>
            <a:endParaRPr dirty="0"/>
          </a:p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dirty="0"/>
              <a:t>Can be controlled by CLR, LOAD</a:t>
            </a:r>
          </a:p>
        </p:txBody>
      </p:sp>
      <p:sp>
        <p:nvSpPr>
          <p:cNvPr id="130" name="Google Shape;130;g30627c649f0_0_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132" name="Google Shape;132;g30627c649f0_0_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33" name="Google Shape;133;g30627c649f0_0_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Buffer Register</a:t>
            </a:r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839FFAF-CFA1-3AD1-5AA7-F2AD137AA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75" y="2223821"/>
            <a:ext cx="6979849" cy="395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156CCD-EE21-762F-23B9-A6BDFA43ACA1}"/>
              </a:ext>
            </a:extLst>
          </p:cNvPr>
          <p:cNvSpPr txBox="1"/>
          <p:nvPr/>
        </p:nvSpPr>
        <p:spPr>
          <a:xfrm>
            <a:off x="7079742" y="3272642"/>
            <a:ext cx="5112258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When CLR goes high, all the FFs get reset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When CLR goes low, all the FFs are ready to work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If LOAD is low, FFs store the previous value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If LOAD is high FFs receive inputs and generate outputs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33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627c649f0_0_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Friday, April 14, 2023</a:t>
            </a:r>
            <a:endParaRPr dirty="0"/>
          </a:p>
        </p:txBody>
      </p:sp>
      <p:sp>
        <p:nvSpPr>
          <p:cNvPr id="132" name="Google Shape;132;g30627c649f0_0_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33" name="Google Shape;133;g30627c649f0_0_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dirty="0"/>
              <a:t>Shift Register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6C8D8-11F8-50AE-F461-A8BA7650E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989" y="1242898"/>
            <a:ext cx="10515600" cy="4949054"/>
          </a:xfrm>
        </p:spPr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shift register moves the stored bits either in the left or right direction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Two types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Shift left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Shift right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534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627c649f0_0_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Friday, April 14, 2023</a:t>
            </a:r>
            <a:endParaRPr dirty="0"/>
          </a:p>
        </p:txBody>
      </p:sp>
      <p:sp>
        <p:nvSpPr>
          <p:cNvPr id="132" name="Google Shape;132;g30627c649f0_0_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3" name="Google Shape;133;g30627c649f0_0_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dirty="0"/>
              <a:t>Shift Left Register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6C8D8-11F8-50AE-F461-A8BA7650E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988" y="1023442"/>
            <a:ext cx="10515600" cy="4949054"/>
          </a:xfrm>
        </p:spPr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shift register moves the stored bits in the left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Din sets up the right FF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Q0 sets up the next FF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This operation is sequentially operated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42450C9-027C-9818-FCA7-E5DF202AB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7" y="3429000"/>
            <a:ext cx="9801225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871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627c649f0_0_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Friday, April 14, 2023</a:t>
            </a:r>
            <a:endParaRPr dirty="0"/>
          </a:p>
        </p:txBody>
      </p:sp>
      <p:sp>
        <p:nvSpPr>
          <p:cNvPr id="132" name="Google Shape;132;g30627c649f0_0_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3" name="Google Shape;133;g30627c649f0_0_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dirty="0"/>
              <a:t>Shift Left Register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6C8D8-11F8-50AE-F461-A8BA7650E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988" y="1023442"/>
            <a:ext cx="10515600" cy="4949054"/>
          </a:xfrm>
        </p:spPr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Initially, Q = 0000 and Din = 1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42450C9-027C-9818-FCA7-E5DF202AB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12" y="1716794"/>
            <a:ext cx="9801225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9819DE-0CA8-C15B-5F67-874E5FFEE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352" y="3894704"/>
            <a:ext cx="6157045" cy="220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6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627c649f0_0_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Friday, April 14, 2023</a:t>
            </a:r>
            <a:endParaRPr dirty="0"/>
          </a:p>
        </p:txBody>
      </p:sp>
      <p:sp>
        <p:nvSpPr>
          <p:cNvPr id="132" name="Google Shape;132;g30627c649f0_0_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3" name="Google Shape;133;g30627c649f0_0_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dirty="0"/>
              <a:t>Shift Right Register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6C8D8-11F8-50AE-F461-A8BA7650E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988" y="1023442"/>
            <a:ext cx="10515600" cy="4949054"/>
          </a:xfrm>
        </p:spPr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shift register moves the stored bits in the right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Din sets up the left FF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Q3 sets up the previous FF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This operation is sequentially operated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969B61F-FF4F-9CED-94F2-324058207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729" y="3429000"/>
            <a:ext cx="9300541" cy="192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32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627c649f0_0_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Friday, April 14, 2023</a:t>
            </a:r>
            <a:endParaRPr dirty="0"/>
          </a:p>
        </p:txBody>
      </p:sp>
      <p:sp>
        <p:nvSpPr>
          <p:cNvPr id="132" name="Google Shape;132;g30627c649f0_0_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33" name="Google Shape;133;g30627c649f0_0_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dirty="0"/>
              <a:t>Shift Right Register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6C8D8-11F8-50AE-F461-A8BA7650E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988" y="1023442"/>
            <a:ext cx="10515600" cy="4949054"/>
          </a:xfrm>
        </p:spPr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Initially, Q = 0000 and Din = 1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969B61F-FF4F-9CED-94F2-324058207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517" y="1577348"/>
            <a:ext cx="9300541" cy="192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547377-5B53-F17E-5873-0FB26D813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504" y="3796130"/>
            <a:ext cx="6054566" cy="203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76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627c649f0_0_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Friday, April 14, 2023</a:t>
            </a:r>
            <a:endParaRPr dirty="0"/>
          </a:p>
        </p:txBody>
      </p:sp>
      <p:sp>
        <p:nvSpPr>
          <p:cNvPr id="132" name="Google Shape;132;g30627c649f0_0_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3" name="Google Shape;133;g30627c649f0_0_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dirty="0"/>
              <a:t>Bi-directional Shift Register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6C8D8-11F8-50AE-F461-A8BA7650E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988" y="1023442"/>
            <a:ext cx="10515600" cy="4949054"/>
          </a:xfrm>
        </p:spPr>
        <p:txBody>
          <a:bodyPr/>
          <a:lstStyle/>
          <a:p>
            <a:pPr marL="356235" indent="-344170">
              <a:lnSpc>
                <a:spcPct val="100000"/>
              </a:lnSpc>
              <a:spcBef>
                <a:spcPts val="100"/>
              </a:spcBef>
              <a:buFont typeface="Tahoma"/>
              <a:buChar char="●"/>
              <a:tabLst>
                <a:tab pos="356235" algn="l"/>
                <a:tab pos="356870" algn="l"/>
              </a:tabLst>
            </a:pPr>
            <a:r>
              <a:rPr lang="en-US" sz="2800" spc="60" dirty="0">
                <a:latin typeface="Microsoft Sans Serif"/>
                <a:cs typeface="Microsoft Sans Serif"/>
              </a:rPr>
              <a:t>Option</a:t>
            </a:r>
            <a:r>
              <a:rPr lang="en-US" sz="2800" spc="-20" dirty="0">
                <a:latin typeface="Microsoft Sans Serif"/>
                <a:cs typeface="Microsoft Sans Serif"/>
              </a:rPr>
              <a:t> </a:t>
            </a:r>
            <a:r>
              <a:rPr lang="en-US" sz="2800" spc="85" dirty="0">
                <a:latin typeface="Microsoft Sans Serif"/>
                <a:cs typeface="Microsoft Sans Serif"/>
              </a:rPr>
              <a:t>for</a:t>
            </a:r>
            <a:r>
              <a:rPr lang="en-US" sz="2800" spc="-20" dirty="0">
                <a:latin typeface="Microsoft Sans Serif"/>
                <a:cs typeface="Microsoft Sans Serif"/>
              </a:rPr>
              <a:t> </a:t>
            </a:r>
            <a:r>
              <a:rPr lang="en-US" sz="2800" spc="85" dirty="0">
                <a:latin typeface="Microsoft Sans Serif"/>
                <a:cs typeface="Microsoft Sans Serif"/>
              </a:rPr>
              <a:t>both</a:t>
            </a:r>
            <a:r>
              <a:rPr lang="en-US" sz="2800" spc="-20" dirty="0">
                <a:latin typeface="Microsoft Sans Serif"/>
                <a:cs typeface="Microsoft Sans Serif"/>
              </a:rPr>
              <a:t> </a:t>
            </a:r>
            <a:r>
              <a:rPr lang="en-US" sz="2800" spc="60" dirty="0">
                <a:latin typeface="Microsoft Sans Serif"/>
                <a:cs typeface="Microsoft Sans Serif"/>
              </a:rPr>
              <a:t>right</a:t>
            </a:r>
            <a:r>
              <a:rPr lang="en-US" sz="2800" spc="-15" dirty="0">
                <a:latin typeface="Microsoft Sans Serif"/>
                <a:cs typeface="Microsoft Sans Serif"/>
              </a:rPr>
              <a:t> </a:t>
            </a:r>
            <a:r>
              <a:rPr lang="en-US" sz="2800" spc="50" dirty="0">
                <a:latin typeface="Microsoft Sans Serif"/>
                <a:cs typeface="Microsoft Sans Serif"/>
              </a:rPr>
              <a:t>shift</a:t>
            </a:r>
            <a:r>
              <a:rPr lang="en-US" sz="2800" spc="-20" dirty="0">
                <a:latin typeface="Microsoft Sans Serif"/>
                <a:cs typeface="Microsoft Sans Serif"/>
              </a:rPr>
              <a:t> </a:t>
            </a:r>
            <a:r>
              <a:rPr lang="en-US" sz="2800" spc="50" dirty="0">
                <a:latin typeface="Microsoft Sans Serif"/>
                <a:cs typeface="Microsoft Sans Serif"/>
              </a:rPr>
              <a:t>and</a:t>
            </a:r>
            <a:r>
              <a:rPr lang="en-US" sz="2800" spc="-20" dirty="0">
                <a:latin typeface="Microsoft Sans Serif"/>
                <a:cs typeface="Microsoft Sans Serif"/>
              </a:rPr>
              <a:t> </a:t>
            </a:r>
            <a:r>
              <a:rPr lang="en-US" sz="2800" spc="55" dirty="0">
                <a:latin typeface="Microsoft Sans Serif"/>
                <a:cs typeface="Microsoft Sans Serif"/>
              </a:rPr>
              <a:t>left</a:t>
            </a:r>
            <a:r>
              <a:rPr lang="en-US" sz="2800" spc="-20" dirty="0">
                <a:latin typeface="Microsoft Sans Serif"/>
                <a:cs typeface="Microsoft Sans Serif"/>
              </a:rPr>
              <a:t> </a:t>
            </a:r>
            <a:r>
              <a:rPr lang="en-US" sz="2800" spc="40" dirty="0">
                <a:latin typeface="Microsoft Sans Serif"/>
                <a:cs typeface="Microsoft Sans Serif"/>
              </a:rPr>
              <a:t>shift.</a:t>
            </a:r>
            <a:endParaRPr lang="en-US" sz="2800" dirty="0">
              <a:latin typeface="Microsoft Sans Serif"/>
              <a:cs typeface="Microsoft Sans Serif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310F79A-58BA-E81F-FBAA-1D69C510FDDB}"/>
              </a:ext>
            </a:extLst>
          </p:cNvPr>
          <p:cNvSpPr txBox="1"/>
          <p:nvPr/>
        </p:nvSpPr>
        <p:spPr>
          <a:xfrm>
            <a:off x="1096652" y="3694176"/>
            <a:ext cx="2030596" cy="5202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500" b="1" spc="95" dirty="0">
                <a:latin typeface="Microsoft Sans Serif"/>
                <a:cs typeface="Microsoft Sans Serif"/>
              </a:rPr>
              <a:t>M</a:t>
            </a:r>
            <a:r>
              <a:rPr sz="1500" b="1" spc="-30" dirty="0">
                <a:latin typeface="Microsoft Sans Serif"/>
                <a:cs typeface="Microsoft Sans Serif"/>
              </a:rPr>
              <a:t> </a:t>
            </a:r>
            <a:r>
              <a:rPr sz="1500" b="1" spc="-20" dirty="0">
                <a:latin typeface="Microsoft Sans Serif"/>
                <a:cs typeface="Microsoft Sans Serif"/>
              </a:rPr>
              <a:t>=</a:t>
            </a:r>
            <a:r>
              <a:rPr sz="1500" b="1" spc="-30" dirty="0">
                <a:latin typeface="Microsoft Sans Serif"/>
                <a:cs typeface="Microsoft Sans Serif"/>
              </a:rPr>
              <a:t> </a:t>
            </a:r>
            <a:r>
              <a:rPr sz="1500" b="1" spc="20" dirty="0">
                <a:latin typeface="Microsoft Sans Serif"/>
                <a:cs typeface="Microsoft Sans Serif"/>
              </a:rPr>
              <a:t>1</a:t>
            </a:r>
            <a:r>
              <a:rPr sz="1500" b="1" spc="-30" dirty="0">
                <a:latin typeface="Microsoft Sans Serif"/>
                <a:cs typeface="Microsoft Sans Serif"/>
              </a:rPr>
              <a:t> </a:t>
            </a:r>
            <a:r>
              <a:rPr sz="1500" b="1" spc="110" dirty="0">
                <a:latin typeface="Microsoft Sans Serif"/>
                <a:cs typeface="Microsoft Sans Serif"/>
              </a:rPr>
              <a:t>—---&gt;</a:t>
            </a:r>
            <a:r>
              <a:rPr sz="1500" b="1" spc="-20" dirty="0">
                <a:latin typeface="Microsoft Sans Serif"/>
                <a:cs typeface="Microsoft Sans Serif"/>
              </a:rPr>
              <a:t> </a:t>
            </a:r>
            <a:r>
              <a:rPr sz="1500" b="1" spc="25" dirty="0">
                <a:latin typeface="Microsoft Sans Serif"/>
                <a:cs typeface="Microsoft Sans Serif"/>
              </a:rPr>
              <a:t>Shift</a:t>
            </a:r>
            <a:r>
              <a:rPr sz="1500" b="1" spc="-30" dirty="0">
                <a:latin typeface="Microsoft Sans Serif"/>
                <a:cs typeface="Microsoft Sans Serif"/>
              </a:rPr>
              <a:t> </a:t>
            </a:r>
            <a:r>
              <a:rPr sz="1500" b="1" spc="5" dirty="0">
                <a:latin typeface="Microsoft Sans Serif"/>
                <a:cs typeface="Microsoft Sans Serif"/>
              </a:rPr>
              <a:t>Right </a:t>
            </a:r>
            <a:r>
              <a:rPr sz="1500" b="1" spc="-385" dirty="0">
                <a:latin typeface="Microsoft Sans Serif"/>
                <a:cs typeface="Microsoft Sans Serif"/>
              </a:rPr>
              <a:t> </a:t>
            </a:r>
            <a:r>
              <a:rPr sz="1500" b="1" spc="95" dirty="0">
                <a:latin typeface="Microsoft Sans Serif"/>
                <a:cs typeface="Microsoft Sans Serif"/>
              </a:rPr>
              <a:t>M</a:t>
            </a:r>
            <a:r>
              <a:rPr sz="1500" b="1" spc="-30" dirty="0">
                <a:latin typeface="Microsoft Sans Serif"/>
                <a:cs typeface="Microsoft Sans Serif"/>
              </a:rPr>
              <a:t> </a:t>
            </a:r>
            <a:r>
              <a:rPr sz="1500" b="1" spc="-20" dirty="0">
                <a:latin typeface="Microsoft Sans Serif"/>
                <a:cs typeface="Microsoft Sans Serif"/>
              </a:rPr>
              <a:t>=</a:t>
            </a:r>
            <a:r>
              <a:rPr sz="1500" b="1" spc="-25" dirty="0">
                <a:latin typeface="Microsoft Sans Serif"/>
                <a:cs typeface="Microsoft Sans Serif"/>
              </a:rPr>
              <a:t> </a:t>
            </a:r>
            <a:r>
              <a:rPr sz="1500" b="1" spc="20" dirty="0">
                <a:latin typeface="Microsoft Sans Serif"/>
                <a:cs typeface="Microsoft Sans Serif"/>
              </a:rPr>
              <a:t>0</a:t>
            </a:r>
            <a:r>
              <a:rPr sz="1500" b="1" spc="-25" dirty="0">
                <a:latin typeface="Microsoft Sans Serif"/>
                <a:cs typeface="Microsoft Sans Serif"/>
              </a:rPr>
              <a:t> </a:t>
            </a:r>
            <a:r>
              <a:rPr sz="1500" b="1" spc="110" dirty="0">
                <a:latin typeface="Microsoft Sans Serif"/>
                <a:cs typeface="Microsoft Sans Serif"/>
              </a:rPr>
              <a:t>—---&gt;</a:t>
            </a:r>
            <a:r>
              <a:rPr sz="1500" b="1" spc="-20" dirty="0">
                <a:latin typeface="Microsoft Sans Serif"/>
                <a:cs typeface="Microsoft Sans Serif"/>
              </a:rPr>
              <a:t> </a:t>
            </a:r>
            <a:r>
              <a:rPr sz="1500" b="1" spc="25" dirty="0">
                <a:latin typeface="Microsoft Sans Serif"/>
                <a:cs typeface="Microsoft Sans Serif"/>
              </a:rPr>
              <a:t>Shift</a:t>
            </a:r>
            <a:r>
              <a:rPr sz="1500" b="1" spc="-25" dirty="0">
                <a:latin typeface="Microsoft Sans Serif"/>
                <a:cs typeface="Microsoft Sans Serif"/>
              </a:rPr>
              <a:t> </a:t>
            </a:r>
            <a:r>
              <a:rPr sz="1500" b="1" spc="35" dirty="0">
                <a:latin typeface="Microsoft Sans Serif"/>
                <a:cs typeface="Microsoft Sans Serif"/>
              </a:rPr>
              <a:t>Left</a:t>
            </a:r>
            <a:endParaRPr sz="1500" b="1" dirty="0">
              <a:latin typeface="Microsoft Sans Serif"/>
              <a:cs typeface="Microsoft Sans Serif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B9260E-01D0-BEB6-877F-B04AFB7CC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52" y="1629878"/>
            <a:ext cx="7068312" cy="446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59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140" name="Google Shape;140;p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41" name="Google Shape;141;p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2" name="Google Shape;142;p3"/>
          <p:cNvSpPr txBox="1">
            <a:spLocks noGrp="1"/>
          </p:cNvSpPr>
          <p:nvPr>
            <p:ph type="title"/>
          </p:nvPr>
        </p:nvSpPr>
        <p:spPr>
          <a:xfrm>
            <a:off x="902208" y="2773787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dirty="0"/>
              <a:t>Serial and Parallel Loading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 dirty="0"/>
              <a:t>Serial Input Serial Output Register</a:t>
            </a:r>
            <a:endParaRPr dirty="0"/>
          </a:p>
        </p:txBody>
      </p:sp>
      <p:sp>
        <p:nvSpPr>
          <p:cNvPr id="139" name="Google Shape;139;p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140" name="Google Shape;140;p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41" name="Google Shape;141;p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2" name="Google Shape;142;p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Serial Input Serial Output (SISO)</a:t>
            </a:r>
            <a:endParaRPr/>
          </a:p>
        </p:txBody>
      </p:sp>
      <p:grpSp>
        <p:nvGrpSpPr>
          <p:cNvPr id="143" name="Google Shape;143;p3"/>
          <p:cNvGrpSpPr/>
          <p:nvPr/>
        </p:nvGrpSpPr>
        <p:grpSpPr>
          <a:xfrm>
            <a:off x="444984" y="2159793"/>
            <a:ext cx="11626943" cy="4175126"/>
            <a:chOff x="1821202" y="2438111"/>
            <a:chExt cx="9228376" cy="2808144"/>
          </a:xfrm>
        </p:grpSpPr>
        <p:pic>
          <p:nvPicPr>
            <p:cNvPr id="144" name="Google Shape;144;p3" descr="SISO Shift Register : Circuit, Working, Waveforms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1202" y="2438111"/>
              <a:ext cx="9228376" cy="2808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3"/>
            <p:cNvSpPr/>
            <p:nvPr/>
          </p:nvSpPr>
          <p:spPr>
            <a:xfrm>
              <a:off x="8746837" y="4794611"/>
              <a:ext cx="1450108" cy="40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25BFCE4-65A9-1948-540C-A0C3A4E59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368" y="1712092"/>
            <a:ext cx="4804064" cy="4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4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Serial Input Serial Output Register</a:t>
            </a:r>
            <a:endParaRPr/>
          </a:p>
        </p:txBody>
      </p:sp>
      <p:sp>
        <p:nvSpPr>
          <p:cNvPr id="151" name="Google Shape;151;p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152" name="Google Shape;152;p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53" name="Google Shape;153;p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54" name="Google Shape;154;p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Serial Input Serial Output (SISO)</a:t>
            </a:r>
            <a:endParaRPr/>
          </a:p>
        </p:txBody>
      </p:sp>
      <p:grpSp>
        <p:nvGrpSpPr>
          <p:cNvPr id="155" name="Google Shape;155;p4"/>
          <p:cNvGrpSpPr/>
          <p:nvPr/>
        </p:nvGrpSpPr>
        <p:grpSpPr>
          <a:xfrm>
            <a:off x="2530762" y="3075708"/>
            <a:ext cx="7049653" cy="1888837"/>
            <a:chOff x="1821202" y="2438111"/>
            <a:chExt cx="9228376" cy="2808144"/>
          </a:xfrm>
        </p:grpSpPr>
        <p:pic>
          <p:nvPicPr>
            <p:cNvPr id="156" name="Google Shape;156;p4" descr="SISO Shift Register : Circuit, Working, Waveforms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1202" y="2438111"/>
              <a:ext cx="9228376" cy="2808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4"/>
            <p:cNvSpPr/>
            <p:nvPr/>
          </p:nvSpPr>
          <p:spPr>
            <a:xfrm>
              <a:off x="8746837" y="4794611"/>
              <a:ext cx="1450108" cy="40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4"/>
          <p:cNvSpPr/>
          <p:nvPr/>
        </p:nvSpPr>
        <p:spPr>
          <a:xfrm>
            <a:off x="755072" y="2198254"/>
            <a:ext cx="812800" cy="36021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1011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1864968" y="2216849"/>
            <a:ext cx="34328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want to insert this data serially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Serial Input Serial Output Register</a:t>
            </a:r>
            <a:endParaRPr/>
          </a:p>
        </p:txBody>
      </p:sp>
      <p:sp>
        <p:nvSpPr>
          <p:cNvPr id="165" name="Google Shape;165;p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166" name="Google Shape;166;p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7" name="Google Shape;167;p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68" name="Google Shape;168;p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Serial Input Serial Output (SISO)</a:t>
            </a:r>
            <a:endParaRPr/>
          </a:p>
        </p:txBody>
      </p:sp>
      <p:grpSp>
        <p:nvGrpSpPr>
          <p:cNvPr id="169" name="Google Shape;169;p5"/>
          <p:cNvGrpSpPr/>
          <p:nvPr/>
        </p:nvGrpSpPr>
        <p:grpSpPr>
          <a:xfrm>
            <a:off x="674253" y="3164106"/>
            <a:ext cx="7049653" cy="1888837"/>
            <a:chOff x="1821202" y="2438111"/>
            <a:chExt cx="9228376" cy="2808144"/>
          </a:xfrm>
        </p:grpSpPr>
        <p:pic>
          <p:nvPicPr>
            <p:cNvPr id="170" name="Google Shape;170;p5" descr="SISO Shift Register : Circuit, Working, Waveforms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1202" y="2438111"/>
              <a:ext cx="9228376" cy="2808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5"/>
            <p:cNvSpPr/>
            <p:nvPr/>
          </p:nvSpPr>
          <p:spPr>
            <a:xfrm>
              <a:off x="8746837" y="4794611"/>
              <a:ext cx="1450108" cy="40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5"/>
          <p:cNvSpPr/>
          <p:nvPr/>
        </p:nvSpPr>
        <p:spPr>
          <a:xfrm>
            <a:off x="755072" y="2198254"/>
            <a:ext cx="812800" cy="36021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1011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2588491" y="303360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3920482" y="303360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5252473" y="303360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6754091" y="303360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5"/>
          <p:cNvGraphicFramePr/>
          <p:nvPr/>
        </p:nvGraphicFramePr>
        <p:xfrm>
          <a:off x="7823197" y="2037926"/>
          <a:ext cx="3302000" cy="3075150"/>
        </p:xfrm>
        <a:graphic>
          <a:graphicData uri="http://schemas.openxmlformats.org/drawingml/2006/table">
            <a:tbl>
              <a:tblPr firstRow="1" bandRow="1">
                <a:noFill/>
                <a:tableStyleId>{78528E41-9A62-47E6-9BC3-71C5775B25FB}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Clk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8" name="Google Shape;178;p5"/>
          <p:cNvSpPr/>
          <p:nvPr/>
        </p:nvSpPr>
        <p:spPr>
          <a:xfrm>
            <a:off x="7665720" y="2545925"/>
            <a:ext cx="3543300" cy="48768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Serial Input Serial Output Register</a:t>
            </a:r>
            <a:endParaRPr/>
          </a:p>
        </p:txBody>
      </p:sp>
      <p:sp>
        <p:nvSpPr>
          <p:cNvPr id="184" name="Google Shape;184;p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185" name="Google Shape;185;p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86" name="Google Shape;186;p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87" name="Google Shape;187;p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Serial Input Serial Output (SISO)</a:t>
            </a:r>
            <a:endParaRPr/>
          </a:p>
        </p:txBody>
      </p:sp>
      <p:grpSp>
        <p:nvGrpSpPr>
          <p:cNvPr id="188" name="Google Shape;188;p6"/>
          <p:cNvGrpSpPr/>
          <p:nvPr/>
        </p:nvGrpSpPr>
        <p:grpSpPr>
          <a:xfrm>
            <a:off x="674253" y="3164106"/>
            <a:ext cx="7049653" cy="1888837"/>
            <a:chOff x="1821202" y="2438111"/>
            <a:chExt cx="9228376" cy="2808144"/>
          </a:xfrm>
        </p:grpSpPr>
        <p:pic>
          <p:nvPicPr>
            <p:cNvPr id="189" name="Google Shape;189;p6" descr="SISO Shift Register : Circuit, Working, Waveforms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1202" y="2438111"/>
              <a:ext cx="9228376" cy="2808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6"/>
            <p:cNvSpPr/>
            <p:nvPr/>
          </p:nvSpPr>
          <p:spPr>
            <a:xfrm>
              <a:off x="8746837" y="4794611"/>
              <a:ext cx="1450108" cy="40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6"/>
          <p:cNvSpPr/>
          <p:nvPr/>
        </p:nvSpPr>
        <p:spPr>
          <a:xfrm>
            <a:off x="755072" y="2198254"/>
            <a:ext cx="812800" cy="36021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1011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2588491" y="294474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3929661" y="295320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5273622" y="296929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6793974" y="296167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6"/>
          <p:cNvGraphicFramePr/>
          <p:nvPr/>
        </p:nvGraphicFramePr>
        <p:xfrm>
          <a:off x="7823197" y="2037926"/>
          <a:ext cx="3302000" cy="3075150"/>
        </p:xfrm>
        <a:graphic>
          <a:graphicData uri="http://schemas.openxmlformats.org/drawingml/2006/table">
            <a:tbl>
              <a:tblPr firstRow="1" bandRow="1">
                <a:noFill/>
                <a:tableStyleId>{78528E41-9A62-47E6-9BC3-71C5775B25FB}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Clk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7" name="Google Shape;197;p6"/>
          <p:cNvSpPr/>
          <p:nvPr/>
        </p:nvSpPr>
        <p:spPr>
          <a:xfrm>
            <a:off x="7665720" y="2545925"/>
            <a:ext cx="3543300" cy="48768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755072" y="292865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701039" y="4630543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Serial Input Serial Output Register</a:t>
            </a:r>
            <a:endParaRPr/>
          </a:p>
        </p:txBody>
      </p:sp>
      <p:sp>
        <p:nvSpPr>
          <p:cNvPr id="205" name="Google Shape;205;p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206" name="Google Shape;206;p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07" name="Google Shape;207;p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08" name="Google Shape;208;p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Serial Input Serial Output (SISO)</a:t>
            </a:r>
            <a:endParaRPr/>
          </a:p>
        </p:txBody>
      </p:sp>
      <p:grpSp>
        <p:nvGrpSpPr>
          <p:cNvPr id="209" name="Google Shape;209;p7"/>
          <p:cNvGrpSpPr/>
          <p:nvPr/>
        </p:nvGrpSpPr>
        <p:grpSpPr>
          <a:xfrm>
            <a:off x="674253" y="3164106"/>
            <a:ext cx="7049653" cy="1888837"/>
            <a:chOff x="1821202" y="2438111"/>
            <a:chExt cx="9228376" cy="2808144"/>
          </a:xfrm>
        </p:grpSpPr>
        <p:pic>
          <p:nvPicPr>
            <p:cNvPr id="210" name="Google Shape;210;p7" descr="SISO Shift Register : Circuit, Working, Waveforms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1202" y="2438111"/>
              <a:ext cx="9228376" cy="2808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7"/>
            <p:cNvSpPr/>
            <p:nvPr/>
          </p:nvSpPr>
          <p:spPr>
            <a:xfrm>
              <a:off x="8746837" y="4794611"/>
              <a:ext cx="1450108" cy="40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7"/>
          <p:cNvSpPr/>
          <p:nvPr/>
        </p:nvSpPr>
        <p:spPr>
          <a:xfrm>
            <a:off x="755072" y="2198254"/>
            <a:ext cx="812800" cy="36021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1011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2588491" y="294474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3929661" y="295320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5273622" y="296929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6793974" y="296167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7"/>
          <p:cNvGraphicFramePr/>
          <p:nvPr/>
        </p:nvGraphicFramePr>
        <p:xfrm>
          <a:off x="7823197" y="2037926"/>
          <a:ext cx="3302000" cy="3075150"/>
        </p:xfrm>
        <a:graphic>
          <a:graphicData uri="http://schemas.openxmlformats.org/drawingml/2006/table">
            <a:tbl>
              <a:tblPr firstRow="1" bandRow="1">
                <a:noFill/>
                <a:tableStyleId>{78528E41-9A62-47E6-9BC3-71C5775B25FB}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Clk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8" name="Google Shape;218;p7"/>
          <p:cNvSpPr/>
          <p:nvPr/>
        </p:nvSpPr>
        <p:spPr>
          <a:xfrm>
            <a:off x="7702547" y="2975062"/>
            <a:ext cx="3543300" cy="48768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01039" y="4630543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Serial Input Serial Output Register</a:t>
            </a:r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226" name="Google Shape;226;p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27" name="Google Shape;227;p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28" name="Google Shape;228;p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Serial Input Serial Output (SISO)</a:t>
            </a:r>
            <a:endParaRPr/>
          </a:p>
        </p:txBody>
      </p:sp>
      <p:grpSp>
        <p:nvGrpSpPr>
          <p:cNvPr id="229" name="Google Shape;229;p8"/>
          <p:cNvGrpSpPr/>
          <p:nvPr/>
        </p:nvGrpSpPr>
        <p:grpSpPr>
          <a:xfrm>
            <a:off x="674253" y="3164106"/>
            <a:ext cx="7049653" cy="1888837"/>
            <a:chOff x="1821202" y="2438111"/>
            <a:chExt cx="9228376" cy="2808144"/>
          </a:xfrm>
        </p:grpSpPr>
        <p:pic>
          <p:nvPicPr>
            <p:cNvPr id="230" name="Google Shape;230;p8" descr="SISO Shift Register : Circuit, Working, Waveforms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1202" y="2438111"/>
              <a:ext cx="9228376" cy="2808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8"/>
            <p:cNvSpPr/>
            <p:nvPr/>
          </p:nvSpPr>
          <p:spPr>
            <a:xfrm>
              <a:off x="8746837" y="4794611"/>
              <a:ext cx="1450108" cy="40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8"/>
          <p:cNvSpPr/>
          <p:nvPr/>
        </p:nvSpPr>
        <p:spPr>
          <a:xfrm>
            <a:off x="755072" y="2198254"/>
            <a:ext cx="812800" cy="36021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1011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2588491" y="294474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3929661" y="295320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5273622" y="296929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6793974" y="296167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8"/>
          <p:cNvGraphicFramePr/>
          <p:nvPr/>
        </p:nvGraphicFramePr>
        <p:xfrm>
          <a:off x="7823197" y="2037926"/>
          <a:ext cx="3302000" cy="3075150"/>
        </p:xfrm>
        <a:graphic>
          <a:graphicData uri="http://schemas.openxmlformats.org/drawingml/2006/table">
            <a:tbl>
              <a:tblPr firstRow="1" bandRow="1">
                <a:noFill/>
                <a:tableStyleId>{78528E41-9A62-47E6-9BC3-71C5775B25FB}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Clk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8" name="Google Shape;238;p8"/>
          <p:cNvSpPr/>
          <p:nvPr/>
        </p:nvSpPr>
        <p:spPr>
          <a:xfrm>
            <a:off x="7702547" y="2975062"/>
            <a:ext cx="3543300" cy="48768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701039" y="4630543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561740" y="294474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Serial Input Serial Output Register</a:t>
            </a:r>
            <a:endParaRPr/>
          </a:p>
        </p:txBody>
      </p:sp>
      <p:sp>
        <p:nvSpPr>
          <p:cNvPr id="246" name="Google Shape;246;p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247" name="Google Shape;247;p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48" name="Google Shape;248;p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49" name="Google Shape;249;p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Serial Input Serial Output (SISO)</a:t>
            </a:r>
            <a:endParaRPr/>
          </a:p>
        </p:txBody>
      </p:sp>
      <p:grpSp>
        <p:nvGrpSpPr>
          <p:cNvPr id="250" name="Google Shape;250;p9"/>
          <p:cNvGrpSpPr/>
          <p:nvPr/>
        </p:nvGrpSpPr>
        <p:grpSpPr>
          <a:xfrm>
            <a:off x="674253" y="3164106"/>
            <a:ext cx="7049653" cy="1888837"/>
            <a:chOff x="1821202" y="2438111"/>
            <a:chExt cx="9228376" cy="2808144"/>
          </a:xfrm>
        </p:grpSpPr>
        <p:pic>
          <p:nvPicPr>
            <p:cNvPr id="251" name="Google Shape;251;p9" descr="SISO Shift Register : Circuit, Working, Waveforms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1202" y="2438111"/>
              <a:ext cx="9228376" cy="2808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9"/>
            <p:cNvSpPr/>
            <p:nvPr/>
          </p:nvSpPr>
          <p:spPr>
            <a:xfrm>
              <a:off x="8746837" y="4794611"/>
              <a:ext cx="1450108" cy="40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9"/>
          <p:cNvSpPr/>
          <p:nvPr/>
        </p:nvSpPr>
        <p:spPr>
          <a:xfrm>
            <a:off x="755072" y="2198254"/>
            <a:ext cx="812800" cy="36021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1011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3892568" y="298033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5273622" y="296929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6793974" y="296167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" name="Google Shape;257;p9"/>
          <p:cNvGraphicFramePr/>
          <p:nvPr/>
        </p:nvGraphicFramePr>
        <p:xfrm>
          <a:off x="7823197" y="2037926"/>
          <a:ext cx="3302000" cy="3075150"/>
        </p:xfrm>
        <a:graphic>
          <a:graphicData uri="http://schemas.openxmlformats.org/drawingml/2006/table">
            <a:tbl>
              <a:tblPr firstRow="1" bandRow="1">
                <a:noFill/>
                <a:tableStyleId>{78528E41-9A62-47E6-9BC3-71C5775B25FB}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Clk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8" name="Google Shape;258;p9"/>
          <p:cNvSpPr/>
          <p:nvPr/>
        </p:nvSpPr>
        <p:spPr>
          <a:xfrm>
            <a:off x="7702547" y="3575474"/>
            <a:ext cx="3543300" cy="48768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701039" y="4630543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2517277" y="298964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Serial Input Serial Output Register</a:t>
            </a:r>
            <a:endParaRPr/>
          </a:p>
        </p:txBody>
      </p:sp>
      <p:sp>
        <p:nvSpPr>
          <p:cNvPr id="266" name="Google Shape;266;p1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267" name="Google Shape;267;p1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68" name="Google Shape;268;p1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69" name="Google Shape;269;p1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Serial Input Serial Output (SISO)</a:t>
            </a:r>
            <a:endParaRPr/>
          </a:p>
        </p:txBody>
      </p:sp>
      <p:grpSp>
        <p:nvGrpSpPr>
          <p:cNvPr id="270" name="Google Shape;270;p10"/>
          <p:cNvGrpSpPr/>
          <p:nvPr/>
        </p:nvGrpSpPr>
        <p:grpSpPr>
          <a:xfrm>
            <a:off x="674253" y="3164106"/>
            <a:ext cx="7049653" cy="1888837"/>
            <a:chOff x="1821202" y="2438111"/>
            <a:chExt cx="9228376" cy="2808144"/>
          </a:xfrm>
        </p:grpSpPr>
        <p:pic>
          <p:nvPicPr>
            <p:cNvPr id="271" name="Google Shape;271;p10" descr="SISO Shift Register : Circuit, Working, Waveforms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1202" y="2438111"/>
              <a:ext cx="9228376" cy="2808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10"/>
            <p:cNvSpPr/>
            <p:nvPr/>
          </p:nvSpPr>
          <p:spPr>
            <a:xfrm>
              <a:off x="8746837" y="4794611"/>
              <a:ext cx="1450108" cy="40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0"/>
          <p:cNvSpPr/>
          <p:nvPr/>
        </p:nvSpPr>
        <p:spPr>
          <a:xfrm>
            <a:off x="755072" y="2198254"/>
            <a:ext cx="812800" cy="36021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1011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3892568" y="298033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5273622" y="296929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6793974" y="296167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7" name="Google Shape;277;p10"/>
          <p:cNvGraphicFramePr/>
          <p:nvPr/>
        </p:nvGraphicFramePr>
        <p:xfrm>
          <a:off x="7823197" y="2037926"/>
          <a:ext cx="3302000" cy="3075150"/>
        </p:xfrm>
        <a:graphic>
          <a:graphicData uri="http://schemas.openxmlformats.org/drawingml/2006/table">
            <a:tbl>
              <a:tblPr firstRow="1" bandRow="1">
                <a:noFill/>
                <a:tableStyleId>{78528E41-9A62-47E6-9BC3-71C5775B25FB}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Clk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8" name="Google Shape;278;p10"/>
          <p:cNvSpPr/>
          <p:nvPr/>
        </p:nvSpPr>
        <p:spPr>
          <a:xfrm>
            <a:off x="7702547" y="3575474"/>
            <a:ext cx="3543300" cy="48768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701039" y="4630543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2517277" y="298964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477629" y="3009196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Serial Input Serial Output Register</a:t>
            </a:r>
            <a:endParaRPr/>
          </a:p>
        </p:txBody>
      </p:sp>
      <p:sp>
        <p:nvSpPr>
          <p:cNvPr id="287" name="Google Shape;287;p1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288" name="Google Shape;288;p1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89" name="Google Shape;289;p1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90" name="Google Shape;290;p1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Serial Input Serial Output (SISO)</a:t>
            </a:r>
            <a:endParaRPr/>
          </a:p>
        </p:txBody>
      </p:sp>
      <p:grpSp>
        <p:nvGrpSpPr>
          <p:cNvPr id="291" name="Google Shape;291;p11"/>
          <p:cNvGrpSpPr/>
          <p:nvPr/>
        </p:nvGrpSpPr>
        <p:grpSpPr>
          <a:xfrm>
            <a:off x="674253" y="3164106"/>
            <a:ext cx="7049653" cy="1888837"/>
            <a:chOff x="1821202" y="2438111"/>
            <a:chExt cx="9228376" cy="2808144"/>
          </a:xfrm>
        </p:grpSpPr>
        <p:pic>
          <p:nvPicPr>
            <p:cNvPr id="292" name="Google Shape;292;p11" descr="SISO Shift Register : Circuit, Working, Waveforms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1202" y="2438111"/>
              <a:ext cx="9228376" cy="2808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11"/>
            <p:cNvSpPr/>
            <p:nvPr/>
          </p:nvSpPr>
          <p:spPr>
            <a:xfrm>
              <a:off x="8746837" y="4794611"/>
              <a:ext cx="1450108" cy="40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11"/>
          <p:cNvSpPr/>
          <p:nvPr/>
        </p:nvSpPr>
        <p:spPr>
          <a:xfrm>
            <a:off x="755072" y="2198254"/>
            <a:ext cx="812800" cy="36021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1011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 txBox="1"/>
          <p:nvPr/>
        </p:nvSpPr>
        <p:spPr>
          <a:xfrm>
            <a:off x="5237204" y="2948211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6793974" y="296167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11"/>
          <p:cNvGraphicFramePr/>
          <p:nvPr/>
        </p:nvGraphicFramePr>
        <p:xfrm>
          <a:off x="7823197" y="2037926"/>
          <a:ext cx="3302000" cy="3075150"/>
        </p:xfrm>
        <a:graphic>
          <a:graphicData uri="http://schemas.openxmlformats.org/drawingml/2006/table">
            <a:tbl>
              <a:tblPr firstRow="1" bandRow="1">
                <a:noFill/>
                <a:tableStyleId>{78528E41-9A62-47E6-9BC3-71C5775B25FB}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Clk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8" name="Google Shape;298;p11"/>
          <p:cNvSpPr/>
          <p:nvPr/>
        </p:nvSpPr>
        <p:spPr>
          <a:xfrm>
            <a:off x="7702547" y="3575474"/>
            <a:ext cx="3543300" cy="48768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701039" y="4630543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3912803" y="297017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 txBox="1"/>
          <p:nvPr/>
        </p:nvSpPr>
        <p:spPr>
          <a:xfrm>
            <a:off x="2449103" y="2948211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Serial Input Serial Output Register</a:t>
            </a:r>
            <a:endParaRPr/>
          </a:p>
        </p:txBody>
      </p:sp>
      <p:sp>
        <p:nvSpPr>
          <p:cNvPr id="307" name="Google Shape;307;p1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308" name="Google Shape;308;p1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09" name="Google Shape;309;p1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10" name="Google Shape;310;p1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Serial Input Serial Output (SISO)</a:t>
            </a:r>
            <a:endParaRPr/>
          </a:p>
        </p:txBody>
      </p:sp>
      <p:grpSp>
        <p:nvGrpSpPr>
          <p:cNvPr id="311" name="Google Shape;311;p12"/>
          <p:cNvGrpSpPr/>
          <p:nvPr/>
        </p:nvGrpSpPr>
        <p:grpSpPr>
          <a:xfrm>
            <a:off x="674253" y="3164106"/>
            <a:ext cx="7049653" cy="1888837"/>
            <a:chOff x="1821202" y="2438111"/>
            <a:chExt cx="9228376" cy="2808144"/>
          </a:xfrm>
        </p:grpSpPr>
        <p:pic>
          <p:nvPicPr>
            <p:cNvPr id="312" name="Google Shape;312;p12" descr="SISO Shift Register : Circuit, Working, Waveforms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1202" y="2438111"/>
              <a:ext cx="9228376" cy="2808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12"/>
            <p:cNvSpPr/>
            <p:nvPr/>
          </p:nvSpPr>
          <p:spPr>
            <a:xfrm>
              <a:off x="8746837" y="4794611"/>
              <a:ext cx="1450108" cy="40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12"/>
          <p:cNvSpPr/>
          <p:nvPr/>
        </p:nvSpPr>
        <p:spPr>
          <a:xfrm>
            <a:off x="755072" y="2198254"/>
            <a:ext cx="812800" cy="36021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1011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5237204" y="2948211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 txBox="1"/>
          <p:nvPr/>
        </p:nvSpPr>
        <p:spPr>
          <a:xfrm>
            <a:off x="6793974" y="2961670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7" name="Google Shape;317;p12"/>
          <p:cNvGraphicFramePr/>
          <p:nvPr/>
        </p:nvGraphicFramePr>
        <p:xfrm>
          <a:off x="7823197" y="2037926"/>
          <a:ext cx="3302000" cy="3075150"/>
        </p:xfrm>
        <a:graphic>
          <a:graphicData uri="http://schemas.openxmlformats.org/drawingml/2006/table">
            <a:tbl>
              <a:tblPr firstRow="1" bandRow="1">
                <a:noFill/>
                <a:tableStyleId>{78528E41-9A62-47E6-9BC3-71C5775B25FB}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Clk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8" name="Google Shape;318;p12"/>
          <p:cNvSpPr/>
          <p:nvPr/>
        </p:nvSpPr>
        <p:spPr>
          <a:xfrm>
            <a:off x="7723906" y="4040294"/>
            <a:ext cx="3543300" cy="48768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701039" y="4630543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3912803" y="297017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 txBox="1"/>
          <p:nvPr/>
        </p:nvSpPr>
        <p:spPr>
          <a:xfrm>
            <a:off x="2449103" y="2948211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696763" y="297017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Serial Input Serial Output Register</a:t>
            </a:r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Serial Input Serial Output (SISO)</a:t>
            </a:r>
            <a:endParaRPr/>
          </a:p>
        </p:txBody>
      </p:sp>
      <p:grpSp>
        <p:nvGrpSpPr>
          <p:cNvPr id="332" name="Google Shape;332;p13"/>
          <p:cNvGrpSpPr/>
          <p:nvPr/>
        </p:nvGrpSpPr>
        <p:grpSpPr>
          <a:xfrm>
            <a:off x="674253" y="3164106"/>
            <a:ext cx="7049653" cy="1888837"/>
            <a:chOff x="1821202" y="2438111"/>
            <a:chExt cx="9228376" cy="2808144"/>
          </a:xfrm>
        </p:grpSpPr>
        <p:pic>
          <p:nvPicPr>
            <p:cNvPr id="333" name="Google Shape;333;p13" descr="SISO Shift Register : Circuit, Working, Waveforms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1202" y="2438111"/>
              <a:ext cx="9228376" cy="2808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13"/>
            <p:cNvSpPr/>
            <p:nvPr/>
          </p:nvSpPr>
          <p:spPr>
            <a:xfrm>
              <a:off x="8746837" y="4794611"/>
              <a:ext cx="1450108" cy="40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3"/>
          <p:cNvSpPr/>
          <p:nvPr/>
        </p:nvSpPr>
        <p:spPr>
          <a:xfrm>
            <a:off x="755072" y="2198254"/>
            <a:ext cx="812800" cy="36021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1011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 txBox="1"/>
          <p:nvPr/>
        </p:nvSpPr>
        <p:spPr>
          <a:xfrm>
            <a:off x="7010622" y="2906691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7" name="Google Shape;337;p13"/>
          <p:cNvGraphicFramePr/>
          <p:nvPr/>
        </p:nvGraphicFramePr>
        <p:xfrm>
          <a:off x="7823197" y="2037926"/>
          <a:ext cx="3302000" cy="3075150"/>
        </p:xfrm>
        <a:graphic>
          <a:graphicData uri="http://schemas.openxmlformats.org/drawingml/2006/table">
            <a:tbl>
              <a:tblPr firstRow="1" bandRow="1">
                <a:noFill/>
                <a:tableStyleId>{78528E41-9A62-47E6-9BC3-71C5775B25FB}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Clk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↓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8" name="Google Shape;338;p13"/>
          <p:cNvSpPr/>
          <p:nvPr/>
        </p:nvSpPr>
        <p:spPr>
          <a:xfrm>
            <a:off x="7728753" y="4565263"/>
            <a:ext cx="3543300" cy="48768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701039" y="4630543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 txBox="1"/>
          <p:nvPr/>
        </p:nvSpPr>
        <p:spPr>
          <a:xfrm>
            <a:off x="5686221" y="292865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 txBox="1"/>
          <p:nvPr/>
        </p:nvSpPr>
        <p:spPr>
          <a:xfrm>
            <a:off x="4222521" y="2906691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2470181" y="2928655"/>
            <a:ext cx="278597" cy="47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input process remains the same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use wires to read out the values all together at a time</a:t>
            </a:r>
            <a:endParaRPr/>
          </a:p>
        </p:txBody>
      </p:sp>
      <p:sp>
        <p:nvSpPr>
          <p:cNvPr id="348" name="Google Shape;348;p1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349" name="Google Shape;349;p1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50" name="Google Shape;350;p1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51" name="Google Shape;351;p1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Serial Input Parallel Output</a:t>
            </a:r>
            <a:endParaRPr/>
          </a:p>
        </p:txBody>
      </p:sp>
      <p:grpSp>
        <p:nvGrpSpPr>
          <p:cNvPr id="352" name="Google Shape;352;p14"/>
          <p:cNvGrpSpPr/>
          <p:nvPr/>
        </p:nvGrpSpPr>
        <p:grpSpPr>
          <a:xfrm>
            <a:off x="1564640" y="2702559"/>
            <a:ext cx="9479280" cy="3017203"/>
            <a:chOff x="1821202" y="2438111"/>
            <a:chExt cx="9228376" cy="2808144"/>
          </a:xfrm>
        </p:grpSpPr>
        <p:pic>
          <p:nvPicPr>
            <p:cNvPr id="353" name="Google Shape;353;p14" descr="SISO Shift Register : Circuit, Working, Waveforms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1202" y="2438111"/>
              <a:ext cx="9228376" cy="2808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14"/>
            <p:cNvSpPr/>
            <p:nvPr/>
          </p:nvSpPr>
          <p:spPr>
            <a:xfrm>
              <a:off x="8746837" y="4794611"/>
              <a:ext cx="1450108" cy="40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p14"/>
          <p:cNvGrpSpPr/>
          <p:nvPr/>
        </p:nvGrpSpPr>
        <p:grpSpPr>
          <a:xfrm>
            <a:off x="4244085" y="2791968"/>
            <a:ext cx="104140" cy="462534"/>
            <a:chOff x="4244085" y="2791968"/>
            <a:chExt cx="104140" cy="462534"/>
          </a:xfrm>
        </p:grpSpPr>
        <p:sp>
          <p:nvSpPr>
            <p:cNvPr id="356" name="Google Shape;356;p14"/>
            <p:cNvSpPr/>
            <p:nvPr/>
          </p:nvSpPr>
          <p:spPr>
            <a:xfrm>
              <a:off x="4273296" y="2791968"/>
              <a:ext cx="45719" cy="420624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4244085" y="3170682"/>
              <a:ext cx="104140" cy="83820"/>
            </a:xfrm>
            <a:prstGeom prst="ellipse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4"/>
          <p:cNvGrpSpPr/>
          <p:nvPr/>
        </p:nvGrpSpPr>
        <p:grpSpPr>
          <a:xfrm>
            <a:off x="6193535" y="2791968"/>
            <a:ext cx="104140" cy="462534"/>
            <a:chOff x="4244085" y="2791968"/>
            <a:chExt cx="104140" cy="462534"/>
          </a:xfrm>
        </p:grpSpPr>
        <p:sp>
          <p:nvSpPr>
            <p:cNvPr id="359" name="Google Shape;359;p14"/>
            <p:cNvSpPr/>
            <p:nvPr/>
          </p:nvSpPr>
          <p:spPr>
            <a:xfrm>
              <a:off x="4273296" y="2791968"/>
              <a:ext cx="45719" cy="420624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4244085" y="3170682"/>
              <a:ext cx="104140" cy="83820"/>
            </a:xfrm>
            <a:prstGeom prst="ellipse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7975345" y="2791968"/>
            <a:ext cx="104140" cy="462534"/>
            <a:chOff x="4244085" y="2791968"/>
            <a:chExt cx="104140" cy="462534"/>
          </a:xfrm>
        </p:grpSpPr>
        <p:sp>
          <p:nvSpPr>
            <p:cNvPr id="362" name="Google Shape;362;p14"/>
            <p:cNvSpPr/>
            <p:nvPr/>
          </p:nvSpPr>
          <p:spPr>
            <a:xfrm>
              <a:off x="4273296" y="2791968"/>
              <a:ext cx="45719" cy="420624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4244085" y="3170682"/>
              <a:ext cx="104140" cy="83820"/>
            </a:xfrm>
            <a:prstGeom prst="ellipse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14"/>
          <p:cNvGrpSpPr/>
          <p:nvPr/>
        </p:nvGrpSpPr>
        <p:grpSpPr>
          <a:xfrm>
            <a:off x="9786366" y="2702559"/>
            <a:ext cx="104140" cy="462534"/>
            <a:chOff x="4244085" y="2791968"/>
            <a:chExt cx="104140" cy="462534"/>
          </a:xfrm>
        </p:grpSpPr>
        <p:sp>
          <p:nvSpPr>
            <p:cNvPr id="365" name="Google Shape;365;p14"/>
            <p:cNvSpPr/>
            <p:nvPr/>
          </p:nvSpPr>
          <p:spPr>
            <a:xfrm>
              <a:off x="4273296" y="2791968"/>
              <a:ext cx="45719" cy="420624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4244085" y="3170682"/>
              <a:ext cx="104140" cy="83820"/>
            </a:xfrm>
            <a:prstGeom prst="ellipse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72" name="Google Shape;372;p1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373" name="Google Shape;373;p1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74" name="Google Shape;374;p1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75" name="Google Shape;375;p1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Parallel Input Parallel Output</a:t>
            </a:r>
            <a:endParaRPr/>
          </a:p>
        </p:txBody>
      </p:sp>
      <p:grpSp>
        <p:nvGrpSpPr>
          <p:cNvPr id="376" name="Google Shape;376;p15"/>
          <p:cNvGrpSpPr/>
          <p:nvPr/>
        </p:nvGrpSpPr>
        <p:grpSpPr>
          <a:xfrm>
            <a:off x="1776217" y="1849016"/>
            <a:ext cx="8601908" cy="3949900"/>
            <a:chOff x="1776217" y="1849016"/>
            <a:chExt cx="8601908" cy="3949900"/>
          </a:xfrm>
        </p:grpSpPr>
        <p:pic>
          <p:nvPicPr>
            <p:cNvPr id="377" name="Google Shape;377;p15" descr="PIPO Shift Register : Circuit, Working, Timing Diagram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26501" y="1849016"/>
              <a:ext cx="8451624" cy="3949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15"/>
            <p:cNvSpPr/>
            <p:nvPr/>
          </p:nvSpPr>
          <p:spPr>
            <a:xfrm>
              <a:off x="8437944" y="5491480"/>
              <a:ext cx="1620456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2512817" y="1884441"/>
              <a:ext cx="433583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4383657" y="1884441"/>
              <a:ext cx="433583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365334" y="1884441"/>
              <a:ext cx="433583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8393808" y="1849016"/>
              <a:ext cx="433583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1776217" y="4752331"/>
              <a:ext cx="1077819" cy="6047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89" name="Google Shape;389;p1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390" name="Google Shape;390;p1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91" name="Google Shape;391;p1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92" name="Google Shape;392;p1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Parallel Input Parallel Output</a:t>
            </a:r>
            <a:endParaRPr/>
          </a:p>
        </p:txBody>
      </p:sp>
      <p:grpSp>
        <p:nvGrpSpPr>
          <p:cNvPr id="393" name="Google Shape;393;p16"/>
          <p:cNvGrpSpPr/>
          <p:nvPr/>
        </p:nvGrpSpPr>
        <p:grpSpPr>
          <a:xfrm>
            <a:off x="1776217" y="1849016"/>
            <a:ext cx="8601908" cy="3949900"/>
            <a:chOff x="1776217" y="1849016"/>
            <a:chExt cx="8601908" cy="3949900"/>
          </a:xfrm>
        </p:grpSpPr>
        <p:pic>
          <p:nvPicPr>
            <p:cNvPr id="394" name="Google Shape;394;p16" descr="PIPO Shift Register : Circuit, Working, Timing Diagram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26501" y="1849016"/>
              <a:ext cx="8451624" cy="3949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16"/>
            <p:cNvSpPr/>
            <p:nvPr/>
          </p:nvSpPr>
          <p:spPr>
            <a:xfrm>
              <a:off x="8437944" y="5491480"/>
              <a:ext cx="1620456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2512817" y="1884441"/>
              <a:ext cx="433583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4383657" y="1884441"/>
              <a:ext cx="433583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365334" y="1884441"/>
              <a:ext cx="433583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8393808" y="1849016"/>
              <a:ext cx="433583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1776217" y="4752331"/>
              <a:ext cx="1077819" cy="6047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1" name="Google Shape;401;p16"/>
          <p:cNvSpPr txBox="1"/>
          <p:nvPr/>
        </p:nvSpPr>
        <p:spPr>
          <a:xfrm>
            <a:off x="2209800" y="163340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 txBox="1"/>
          <p:nvPr/>
        </p:nvSpPr>
        <p:spPr>
          <a:xfrm>
            <a:off x="4136724" y="16551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 txBox="1"/>
          <p:nvPr/>
        </p:nvSpPr>
        <p:spPr>
          <a:xfrm>
            <a:off x="6063648" y="16768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 txBox="1"/>
          <p:nvPr/>
        </p:nvSpPr>
        <p:spPr>
          <a:xfrm>
            <a:off x="7990572" y="169857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2177965" y="4475764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411" name="Google Shape;411;p1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412" name="Google Shape;412;p1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13" name="Google Shape;413;p1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14" name="Google Shape;414;p1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dirty="0"/>
              <a:t>Parallel Input Parallel Output</a:t>
            </a:r>
            <a:endParaRPr dirty="0"/>
          </a:p>
        </p:txBody>
      </p:sp>
      <p:grpSp>
        <p:nvGrpSpPr>
          <p:cNvPr id="415" name="Google Shape;415;p17"/>
          <p:cNvGrpSpPr/>
          <p:nvPr/>
        </p:nvGrpSpPr>
        <p:grpSpPr>
          <a:xfrm>
            <a:off x="1776217" y="1849016"/>
            <a:ext cx="8601908" cy="3949900"/>
            <a:chOff x="1776217" y="1849016"/>
            <a:chExt cx="8601908" cy="3949900"/>
          </a:xfrm>
        </p:grpSpPr>
        <p:pic>
          <p:nvPicPr>
            <p:cNvPr id="416" name="Google Shape;416;p17" descr="PIPO Shift Register : Circuit, Working, Timing Diagram &amp; Its Applic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26501" y="1849016"/>
              <a:ext cx="8451624" cy="3949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17"/>
            <p:cNvSpPr/>
            <p:nvPr/>
          </p:nvSpPr>
          <p:spPr>
            <a:xfrm>
              <a:off x="8437944" y="5491480"/>
              <a:ext cx="1620456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2512817" y="1884441"/>
              <a:ext cx="433583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4383657" y="1884441"/>
              <a:ext cx="433583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365334" y="1884441"/>
              <a:ext cx="433583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8393808" y="1849016"/>
              <a:ext cx="433583" cy="3074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1776217" y="4752331"/>
              <a:ext cx="1077819" cy="6047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3" name="Google Shape;423;p17"/>
          <p:cNvSpPr txBox="1"/>
          <p:nvPr/>
        </p:nvSpPr>
        <p:spPr>
          <a:xfrm>
            <a:off x="2209800" y="163340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 txBox="1"/>
          <p:nvPr/>
        </p:nvSpPr>
        <p:spPr>
          <a:xfrm>
            <a:off x="4136724" y="16551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6063648" y="16768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 txBox="1"/>
          <p:nvPr/>
        </p:nvSpPr>
        <p:spPr>
          <a:xfrm>
            <a:off x="7990572" y="169857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2177965" y="4475764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 txBox="1"/>
          <p:nvPr/>
        </p:nvSpPr>
        <p:spPr>
          <a:xfrm>
            <a:off x="4238274" y="492022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 txBox="1"/>
          <p:nvPr/>
        </p:nvSpPr>
        <p:spPr>
          <a:xfrm>
            <a:off x="6165198" y="494194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 txBox="1"/>
          <p:nvPr/>
        </p:nvSpPr>
        <p:spPr>
          <a:xfrm>
            <a:off x="8092122" y="496367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 txBox="1"/>
          <p:nvPr/>
        </p:nvSpPr>
        <p:spPr>
          <a:xfrm>
            <a:off x="10019046" y="498539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472" name="Google Shape;472;p2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73" name="Google Shape;473;p2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74" name="Google Shape;474;p2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Parallel Input Serial Output</a:t>
            </a:r>
            <a:endParaRPr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DB2292FC-71BE-FE15-8661-13943B329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227138"/>
            <a:ext cx="10515600" cy="2257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Tahoma"/>
              <a:buChar char="●"/>
              <a:tabLst>
                <a:tab pos="363855" algn="l"/>
                <a:tab pos="364490" algn="l"/>
              </a:tabLst>
            </a:pPr>
            <a:endParaRPr sz="1300" dirty="0">
              <a:latin typeface="Microsoft Sans Serif"/>
              <a:cs typeface="Microsoft Sans Serif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008F254-8A36-8B91-8D6F-37F694CA5937}"/>
              </a:ext>
            </a:extLst>
          </p:cNvPr>
          <p:cNvSpPr txBox="1"/>
          <p:nvPr/>
        </p:nvSpPr>
        <p:spPr>
          <a:xfrm>
            <a:off x="1310716" y="1807389"/>
            <a:ext cx="1743075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Tahoma"/>
              <a:buChar char="●"/>
              <a:tabLst>
                <a:tab pos="363855" algn="l"/>
                <a:tab pos="364490" algn="l"/>
              </a:tabLst>
            </a:pPr>
            <a:r>
              <a:rPr sz="1600" spc="15" dirty="0">
                <a:latin typeface="Microsoft Sans Serif"/>
                <a:cs typeface="Microsoft Sans Serif"/>
              </a:rPr>
              <a:t>Two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35" dirty="0">
                <a:latin typeface="Microsoft Sans Serif"/>
                <a:cs typeface="Microsoft Sans Serif"/>
              </a:rPr>
              <a:t>modes:</a:t>
            </a:r>
            <a:endParaRPr sz="1600" dirty="0">
              <a:latin typeface="Microsoft Sans Serif"/>
              <a:cs typeface="Microsoft Sans Serif"/>
            </a:endParaRPr>
          </a:p>
          <a:p>
            <a:pPr marL="821055" lvl="1" indent="-367030">
              <a:lnSpc>
                <a:spcPct val="100000"/>
              </a:lnSpc>
              <a:spcBef>
                <a:spcPts val="969"/>
              </a:spcBef>
              <a:buAutoNum type="arabicPeriod"/>
              <a:tabLst>
                <a:tab pos="821055" algn="l"/>
                <a:tab pos="821690" algn="l"/>
              </a:tabLst>
            </a:pPr>
            <a:r>
              <a:rPr sz="1300" spc="-5" dirty="0">
                <a:latin typeface="Microsoft Sans Serif"/>
                <a:cs typeface="Microsoft Sans Serif"/>
              </a:rPr>
              <a:t>Serial</a:t>
            </a:r>
            <a:r>
              <a:rPr sz="1300" spc="-65" dirty="0">
                <a:latin typeface="Microsoft Sans Serif"/>
                <a:cs typeface="Microsoft Sans Serif"/>
              </a:rPr>
              <a:t> </a:t>
            </a:r>
            <a:r>
              <a:rPr sz="1300" spc="50" dirty="0">
                <a:latin typeface="Microsoft Sans Serif"/>
                <a:cs typeface="Microsoft Sans Serif"/>
              </a:rPr>
              <a:t>Mode</a:t>
            </a:r>
            <a:endParaRPr sz="1300" dirty="0">
              <a:latin typeface="Microsoft Sans Serif"/>
              <a:cs typeface="Microsoft Sans Serif"/>
            </a:endParaRPr>
          </a:p>
          <a:p>
            <a:pPr marL="821055" lvl="1" indent="-367030">
              <a:lnSpc>
                <a:spcPct val="100000"/>
              </a:lnSpc>
              <a:spcBef>
                <a:spcPts val="235"/>
              </a:spcBef>
              <a:buAutoNum type="arabicPeriod"/>
              <a:tabLst>
                <a:tab pos="821055" algn="l"/>
                <a:tab pos="821690" algn="l"/>
              </a:tabLst>
            </a:pPr>
            <a:r>
              <a:rPr sz="1300" spc="15" dirty="0">
                <a:latin typeface="Microsoft Sans Serif"/>
                <a:cs typeface="Microsoft Sans Serif"/>
              </a:rPr>
              <a:t>Load</a:t>
            </a:r>
            <a:r>
              <a:rPr sz="1300" spc="-55" dirty="0">
                <a:latin typeface="Microsoft Sans Serif"/>
                <a:cs typeface="Microsoft Sans Serif"/>
              </a:rPr>
              <a:t> </a:t>
            </a:r>
            <a:r>
              <a:rPr sz="1300" spc="50" dirty="0">
                <a:latin typeface="Microsoft Sans Serif"/>
                <a:cs typeface="Microsoft Sans Serif"/>
              </a:rPr>
              <a:t>Mode</a:t>
            </a:r>
            <a:endParaRPr sz="1300" dirty="0">
              <a:latin typeface="Microsoft Sans Serif"/>
              <a:cs typeface="Microsoft Sans Serif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67537F3-A674-4B71-6386-9B4D55BA02B8}"/>
              </a:ext>
            </a:extLst>
          </p:cNvPr>
          <p:cNvSpPr txBox="1"/>
          <p:nvPr/>
        </p:nvSpPr>
        <p:spPr>
          <a:xfrm>
            <a:off x="3007206" y="3086026"/>
            <a:ext cx="11290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0" dirty="0">
                <a:latin typeface="Microsoft Sans Serif"/>
                <a:cs typeface="Microsoft Sans Serif"/>
              </a:rPr>
              <a:t>=</a:t>
            </a:r>
            <a:r>
              <a:rPr sz="1300" spc="-35" dirty="0">
                <a:latin typeface="Microsoft Sans Serif"/>
                <a:cs typeface="Microsoft Sans Serif"/>
              </a:rPr>
              <a:t> </a:t>
            </a:r>
            <a:r>
              <a:rPr sz="1300" spc="-5" dirty="0">
                <a:latin typeface="Microsoft Sans Serif"/>
                <a:cs typeface="Microsoft Sans Serif"/>
              </a:rPr>
              <a:t>0,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spc="60" dirty="0">
                <a:latin typeface="Microsoft Sans Serif"/>
                <a:cs typeface="Microsoft Sans Serif"/>
              </a:rPr>
              <a:t>it</a:t>
            </a:r>
            <a:r>
              <a:rPr sz="1300" spc="-25" dirty="0">
                <a:latin typeface="Microsoft Sans Serif"/>
                <a:cs typeface="Microsoft Sans Serif"/>
              </a:rPr>
              <a:t> </a:t>
            </a:r>
            <a:r>
              <a:rPr sz="1300" spc="40" dirty="0">
                <a:latin typeface="Microsoft Sans Serif"/>
                <a:cs typeface="Microsoft Sans Serif"/>
              </a:rPr>
              <a:t>works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spc="45" dirty="0">
                <a:latin typeface="Microsoft Sans Serif"/>
                <a:cs typeface="Microsoft Sans Serif"/>
              </a:rPr>
              <a:t>in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D08DD1F-A3D0-E5AA-3876-5FF53752FF62}"/>
              </a:ext>
            </a:extLst>
          </p:cNvPr>
          <p:cNvSpPr txBox="1"/>
          <p:nvPr/>
        </p:nvSpPr>
        <p:spPr>
          <a:xfrm>
            <a:off x="3007206" y="3668701"/>
            <a:ext cx="11290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0" dirty="0">
                <a:latin typeface="Microsoft Sans Serif"/>
                <a:cs typeface="Microsoft Sans Serif"/>
              </a:rPr>
              <a:t>=</a:t>
            </a:r>
            <a:r>
              <a:rPr sz="1300" spc="-35" dirty="0">
                <a:latin typeface="Microsoft Sans Serif"/>
                <a:cs typeface="Microsoft Sans Serif"/>
              </a:rPr>
              <a:t> </a:t>
            </a:r>
            <a:r>
              <a:rPr sz="1300" spc="-5" dirty="0">
                <a:latin typeface="Microsoft Sans Serif"/>
                <a:cs typeface="Microsoft Sans Serif"/>
              </a:rPr>
              <a:t>1,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spc="60" dirty="0">
                <a:latin typeface="Microsoft Sans Serif"/>
                <a:cs typeface="Microsoft Sans Serif"/>
              </a:rPr>
              <a:t>it</a:t>
            </a:r>
            <a:r>
              <a:rPr sz="1300" spc="-25" dirty="0">
                <a:latin typeface="Microsoft Sans Serif"/>
                <a:cs typeface="Microsoft Sans Serif"/>
              </a:rPr>
              <a:t> </a:t>
            </a:r>
            <a:r>
              <a:rPr sz="1300" spc="40" dirty="0">
                <a:latin typeface="Microsoft Sans Serif"/>
                <a:cs typeface="Microsoft Sans Serif"/>
              </a:rPr>
              <a:t>works</a:t>
            </a:r>
            <a:r>
              <a:rPr sz="1300" spc="-30" dirty="0">
                <a:latin typeface="Microsoft Sans Serif"/>
                <a:cs typeface="Microsoft Sans Serif"/>
              </a:rPr>
              <a:t> </a:t>
            </a:r>
            <a:r>
              <a:rPr sz="1300" spc="45" dirty="0">
                <a:latin typeface="Microsoft Sans Serif"/>
                <a:cs typeface="Microsoft Sans Serif"/>
              </a:rPr>
              <a:t>in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92A062A5-AED6-73CF-8BC1-A04E19B46828}"/>
              </a:ext>
            </a:extLst>
          </p:cNvPr>
          <p:cNvSpPr txBox="1"/>
          <p:nvPr/>
        </p:nvSpPr>
        <p:spPr>
          <a:xfrm>
            <a:off x="1333728" y="3056308"/>
            <a:ext cx="3143967" cy="10642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30"/>
              </a:spcBef>
              <a:buFont typeface="Tahoma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latin typeface="Microsoft Sans Serif"/>
                <a:cs typeface="Microsoft Sans Serif"/>
              </a:rPr>
              <a:t>When</a:t>
            </a:r>
            <a:endParaRPr sz="1300" dirty="0">
              <a:latin typeface="Microsoft Sans Serif"/>
              <a:cs typeface="Microsoft Sans Serif"/>
            </a:endParaRPr>
          </a:p>
          <a:p>
            <a:pPr marL="340360">
              <a:lnSpc>
                <a:spcPct val="100000"/>
              </a:lnSpc>
              <a:spcBef>
                <a:spcPts val="235"/>
              </a:spcBef>
            </a:pPr>
            <a:r>
              <a:rPr sz="1300" spc="20" dirty="0">
                <a:latin typeface="Microsoft Sans Serif"/>
                <a:cs typeface="Microsoft Sans Serif"/>
              </a:rPr>
              <a:t>Shift</a:t>
            </a:r>
            <a:r>
              <a:rPr sz="1300" spc="-50" dirty="0">
                <a:latin typeface="Microsoft Sans Serif"/>
                <a:cs typeface="Microsoft Sans Serif"/>
              </a:rPr>
              <a:t> </a:t>
            </a:r>
            <a:r>
              <a:rPr sz="1300" spc="40" dirty="0">
                <a:latin typeface="Microsoft Sans Serif"/>
                <a:cs typeface="Microsoft Sans Serif"/>
              </a:rPr>
              <a:t>mode.</a:t>
            </a:r>
            <a:endParaRPr sz="1300" dirty="0">
              <a:latin typeface="Microsoft Sans Serif"/>
              <a:cs typeface="Microsoft Sans Serif"/>
            </a:endParaRPr>
          </a:p>
          <a:p>
            <a:pPr marL="340995" indent="-328295">
              <a:lnSpc>
                <a:spcPct val="100000"/>
              </a:lnSpc>
              <a:spcBef>
                <a:spcPts val="1235"/>
              </a:spcBef>
              <a:buFont typeface="Tahoma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latin typeface="Microsoft Sans Serif"/>
                <a:cs typeface="Microsoft Sans Serif"/>
              </a:rPr>
              <a:t>When</a:t>
            </a:r>
            <a:endParaRPr sz="1300" dirty="0">
              <a:latin typeface="Microsoft Sans Serif"/>
              <a:cs typeface="Microsoft Sans Serif"/>
            </a:endParaRPr>
          </a:p>
          <a:p>
            <a:pPr marL="340360">
              <a:lnSpc>
                <a:spcPct val="100000"/>
              </a:lnSpc>
              <a:spcBef>
                <a:spcPts val="235"/>
              </a:spcBef>
            </a:pPr>
            <a:r>
              <a:rPr sz="1300" spc="15" dirty="0">
                <a:latin typeface="Microsoft Sans Serif"/>
                <a:cs typeface="Microsoft Sans Serif"/>
              </a:rPr>
              <a:t>Load</a:t>
            </a:r>
            <a:r>
              <a:rPr sz="1300" spc="-70" dirty="0">
                <a:latin typeface="Microsoft Sans Serif"/>
                <a:cs typeface="Microsoft Sans Serif"/>
              </a:rPr>
              <a:t> </a:t>
            </a:r>
            <a:r>
              <a:rPr sz="1300" spc="40" dirty="0">
                <a:latin typeface="Microsoft Sans Serif"/>
                <a:cs typeface="Microsoft Sans Serif"/>
              </a:rPr>
              <a:t>mode.</a:t>
            </a:r>
            <a:endParaRPr sz="1300" dirty="0">
              <a:latin typeface="Microsoft Sans Serif"/>
              <a:cs typeface="Microsoft Sans Serif"/>
            </a:endParaRPr>
          </a:p>
        </p:txBody>
      </p:sp>
      <p:pic>
        <p:nvPicPr>
          <p:cNvPr id="8" name="object 7">
            <a:extLst>
              <a:ext uri="{FF2B5EF4-FFF2-40B4-BE49-F238E27FC236}">
                <a16:creationId xmlns:a16="http://schemas.microsoft.com/office/drawing/2014/main" id="{DF053B2D-19B3-D641-C8BE-156441C2DE2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5455" y="1867175"/>
            <a:ext cx="5199481" cy="4122145"/>
          </a:xfrm>
          <a:prstGeom prst="rect">
            <a:avLst/>
          </a:prstGeom>
        </p:spPr>
      </p:pic>
      <p:pic>
        <p:nvPicPr>
          <p:cNvPr id="9" name="object 8">
            <a:extLst>
              <a:ext uri="{FF2B5EF4-FFF2-40B4-BE49-F238E27FC236}">
                <a16:creationId xmlns:a16="http://schemas.microsoft.com/office/drawing/2014/main" id="{A09C82C9-20D8-8494-3D8D-6531E3D227C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70" y="3041217"/>
            <a:ext cx="889775" cy="280824"/>
          </a:xfrm>
          <a:prstGeom prst="rect">
            <a:avLst/>
          </a:prstGeom>
        </p:spPr>
      </p:pic>
      <p:pic>
        <p:nvPicPr>
          <p:cNvPr id="10" name="object 9">
            <a:extLst>
              <a:ext uri="{FF2B5EF4-FFF2-40B4-BE49-F238E27FC236}">
                <a16:creationId xmlns:a16="http://schemas.microsoft.com/office/drawing/2014/main" id="{DAB7B259-A6D5-2511-E428-FD887E231D4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70" y="3612242"/>
            <a:ext cx="889775" cy="280824"/>
          </a:xfrm>
          <a:prstGeom prst="rect">
            <a:avLst/>
          </a:prstGeom>
        </p:spPr>
      </p:pic>
      <p:sp>
        <p:nvSpPr>
          <p:cNvPr id="11" name="object 10">
            <a:extLst>
              <a:ext uri="{FF2B5EF4-FFF2-40B4-BE49-F238E27FC236}">
                <a16:creationId xmlns:a16="http://schemas.microsoft.com/office/drawing/2014/main" id="{2FF01D77-A261-C763-C87D-ED9CA98483F9}"/>
              </a:ext>
            </a:extLst>
          </p:cNvPr>
          <p:cNvSpPr txBox="1">
            <a:spLocks/>
          </p:cNvSpPr>
          <p:nvPr/>
        </p:nvSpPr>
        <p:spPr>
          <a:xfrm>
            <a:off x="12127929" y="5506974"/>
            <a:ext cx="180340" cy="17145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150" smtClean="0"/>
              <a:pPr marL="38100">
                <a:spcBef>
                  <a:spcPts val="45"/>
                </a:spcBef>
              </a:pPr>
              <a:t>28</a:t>
            </a:fld>
            <a:endParaRPr lang="en-US" spc="-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437" name="Google Shape;437;p1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438" name="Google Shape;438;p1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39" name="Google Shape;439;p1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40" name="Google Shape;440;p1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Multiplexer Chip</a:t>
            </a:r>
            <a:endParaRPr/>
          </a:p>
        </p:txBody>
      </p:sp>
      <p:pic>
        <p:nvPicPr>
          <p:cNvPr id="441" name="Google Shape;441;p18"/>
          <p:cNvPicPr preferRelativeResize="0"/>
          <p:nvPr/>
        </p:nvPicPr>
        <p:blipFill rotWithShape="1">
          <a:blip r:embed="rId3">
            <a:alphaModFix/>
          </a:blip>
          <a:srcRect r="53349"/>
          <a:stretch/>
        </p:blipFill>
        <p:spPr>
          <a:xfrm>
            <a:off x="4420898" y="2407036"/>
            <a:ext cx="308826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447" name="Google Shape;447;p1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448" name="Google Shape;448;p1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49" name="Google Shape;449;p1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50" name="Google Shape;450;p1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Multiplexer Chip</a:t>
            </a:r>
            <a:endParaRPr/>
          </a:p>
        </p:txBody>
      </p:sp>
      <p:pic>
        <p:nvPicPr>
          <p:cNvPr id="451" name="Google Shape;451;p19"/>
          <p:cNvPicPr preferRelativeResize="0"/>
          <p:nvPr/>
        </p:nvPicPr>
        <p:blipFill rotWithShape="1">
          <a:blip r:embed="rId3">
            <a:alphaModFix/>
          </a:blip>
          <a:srcRect r="53349"/>
          <a:stretch/>
        </p:blipFill>
        <p:spPr>
          <a:xfrm>
            <a:off x="4420898" y="2407036"/>
            <a:ext cx="308826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9"/>
          <p:cNvSpPr txBox="1"/>
          <p:nvPr/>
        </p:nvSpPr>
        <p:spPr>
          <a:xfrm>
            <a:off x="5421745" y="4826638"/>
            <a:ext cx="4187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6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 txBox="1"/>
          <p:nvPr/>
        </p:nvSpPr>
        <p:spPr>
          <a:xfrm>
            <a:off x="7280575" y="3131765"/>
            <a:ext cx="45717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36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6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459" name="Google Shape;459;p2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460" name="Google Shape;460;p2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61" name="Google Shape;461;p2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62" name="Google Shape;462;p2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Multiplexer Chip</a:t>
            </a:r>
            <a:endParaRPr/>
          </a:p>
        </p:txBody>
      </p:sp>
      <p:pic>
        <p:nvPicPr>
          <p:cNvPr id="463" name="Google Shape;463;p20"/>
          <p:cNvPicPr preferRelativeResize="0"/>
          <p:nvPr/>
        </p:nvPicPr>
        <p:blipFill rotWithShape="1">
          <a:blip r:embed="rId3">
            <a:alphaModFix/>
          </a:blip>
          <a:srcRect r="53349"/>
          <a:stretch/>
        </p:blipFill>
        <p:spPr>
          <a:xfrm>
            <a:off x="4420898" y="2407036"/>
            <a:ext cx="308826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0"/>
          <p:cNvSpPr txBox="1"/>
          <p:nvPr/>
        </p:nvSpPr>
        <p:spPr>
          <a:xfrm>
            <a:off x="5421745" y="4826638"/>
            <a:ext cx="4187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 txBox="1"/>
          <p:nvPr/>
        </p:nvSpPr>
        <p:spPr>
          <a:xfrm>
            <a:off x="7280575" y="3131765"/>
            <a:ext cx="45717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36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471" name="Google Shape;471;p2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472" name="Google Shape;472;p2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73" name="Google Shape;473;p2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474" name="Google Shape;474;p2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Parallel Input Serial Output</a:t>
            </a:r>
            <a:endParaRPr/>
          </a:p>
        </p:txBody>
      </p:sp>
      <p:grpSp>
        <p:nvGrpSpPr>
          <p:cNvPr id="475" name="Google Shape;475;p21"/>
          <p:cNvGrpSpPr/>
          <p:nvPr/>
        </p:nvGrpSpPr>
        <p:grpSpPr>
          <a:xfrm>
            <a:off x="721360" y="1535421"/>
            <a:ext cx="11176000" cy="4176227"/>
            <a:chOff x="721360" y="1535421"/>
            <a:chExt cx="11176000" cy="4176227"/>
          </a:xfrm>
        </p:grpSpPr>
        <p:grpSp>
          <p:nvGrpSpPr>
            <p:cNvPr id="476" name="Google Shape;476;p21"/>
            <p:cNvGrpSpPr/>
            <p:nvPr/>
          </p:nvGrpSpPr>
          <p:grpSpPr>
            <a:xfrm>
              <a:off x="721360" y="2302823"/>
              <a:ext cx="11176000" cy="3408825"/>
              <a:chOff x="220518" y="2206551"/>
              <a:chExt cx="11750963" cy="3610194"/>
            </a:xfrm>
          </p:grpSpPr>
          <p:grpSp>
            <p:nvGrpSpPr>
              <p:cNvPr id="477" name="Google Shape;477;p21"/>
              <p:cNvGrpSpPr/>
              <p:nvPr/>
            </p:nvGrpSpPr>
            <p:grpSpPr>
              <a:xfrm>
                <a:off x="220518" y="2206551"/>
                <a:ext cx="11750963" cy="3610194"/>
                <a:chOff x="220518" y="2206551"/>
                <a:chExt cx="11750963" cy="3610194"/>
              </a:xfrm>
            </p:grpSpPr>
            <p:pic>
              <p:nvPicPr>
                <p:cNvPr id="478" name="Google Shape;478;p21" descr="parallel-in-to-serial-out-piso-shift-register | Sequential Logic Circuits  || Electronics Tutorial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20518" y="2206551"/>
                  <a:ext cx="11750963" cy="361019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79" name="Google Shape;479;p21"/>
                <p:cNvSpPr/>
                <p:nvPr/>
              </p:nvSpPr>
              <p:spPr>
                <a:xfrm>
                  <a:off x="10808854" y="2650837"/>
                  <a:ext cx="1089891" cy="70196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" name="Google Shape;480;p21"/>
                <p:cNvSpPr/>
                <p:nvPr/>
              </p:nvSpPr>
              <p:spPr>
                <a:xfrm>
                  <a:off x="746760" y="2206551"/>
                  <a:ext cx="1052022" cy="70196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81" name="Google Shape;481;p21"/>
              <p:cNvCxnSpPr/>
              <p:nvPr/>
            </p:nvCxnSpPr>
            <p:spPr>
              <a:xfrm rot="10800000">
                <a:off x="718185" y="2611814"/>
                <a:ext cx="0" cy="14478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2" name="Google Shape;482;p21"/>
              <p:cNvCxnSpPr/>
              <p:nvPr/>
            </p:nvCxnSpPr>
            <p:spPr>
              <a:xfrm rot="10800000">
                <a:off x="718185" y="2603212"/>
                <a:ext cx="1109171" cy="1425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483" name="Google Shape;483;p21"/>
            <p:cNvCxnSpPr/>
            <p:nvPr/>
          </p:nvCxnSpPr>
          <p:spPr>
            <a:xfrm rot="10800000">
              <a:off x="424180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84" name="Google Shape;484;p21"/>
            <p:cNvCxnSpPr/>
            <p:nvPr/>
          </p:nvCxnSpPr>
          <p:spPr>
            <a:xfrm rot="10800000">
              <a:off x="663448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85" name="Google Shape;485;p21"/>
            <p:cNvCxnSpPr/>
            <p:nvPr/>
          </p:nvCxnSpPr>
          <p:spPr>
            <a:xfrm rot="10800000">
              <a:off x="902716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86" name="Google Shape;486;p21"/>
            <p:cNvCxnSpPr/>
            <p:nvPr/>
          </p:nvCxnSpPr>
          <p:spPr>
            <a:xfrm rot="10800000">
              <a:off x="4241800" y="1986911"/>
              <a:ext cx="4785360" cy="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87" name="Google Shape;487;p21"/>
            <p:cNvCxnSpPr/>
            <p:nvPr/>
          </p:nvCxnSpPr>
          <p:spPr>
            <a:xfrm rot="10800000">
              <a:off x="6634480" y="153542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644558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493" name="Google Shape;493;p2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494" name="Google Shape;494;p2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95" name="Google Shape;495;p2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496" name="Google Shape;496;p2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Parallel Input Serial Output</a:t>
            </a:r>
            <a:endParaRPr/>
          </a:p>
        </p:txBody>
      </p:sp>
      <p:grpSp>
        <p:nvGrpSpPr>
          <p:cNvPr id="497" name="Google Shape;497;p22"/>
          <p:cNvGrpSpPr/>
          <p:nvPr/>
        </p:nvGrpSpPr>
        <p:grpSpPr>
          <a:xfrm>
            <a:off x="721360" y="1535421"/>
            <a:ext cx="11176000" cy="4176227"/>
            <a:chOff x="721360" y="1535421"/>
            <a:chExt cx="11176000" cy="4176227"/>
          </a:xfrm>
        </p:grpSpPr>
        <p:grpSp>
          <p:nvGrpSpPr>
            <p:cNvPr id="498" name="Google Shape;498;p22"/>
            <p:cNvGrpSpPr/>
            <p:nvPr/>
          </p:nvGrpSpPr>
          <p:grpSpPr>
            <a:xfrm>
              <a:off x="721360" y="2302823"/>
              <a:ext cx="11176000" cy="3408825"/>
              <a:chOff x="220518" y="2206551"/>
              <a:chExt cx="11750963" cy="3610194"/>
            </a:xfrm>
          </p:grpSpPr>
          <p:grpSp>
            <p:nvGrpSpPr>
              <p:cNvPr id="499" name="Google Shape;499;p22"/>
              <p:cNvGrpSpPr/>
              <p:nvPr/>
            </p:nvGrpSpPr>
            <p:grpSpPr>
              <a:xfrm>
                <a:off x="220518" y="2206551"/>
                <a:ext cx="11750963" cy="3610194"/>
                <a:chOff x="220518" y="2206551"/>
                <a:chExt cx="11750963" cy="3610194"/>
              </a:xfrm>
            </p:grpSpPr>
            <p:pic>
              <p:nvPicPr>
                <p:cNvPr id="500" name="Google Shape;500;p22" descr="parallel-in-to-serial-out-piso-shift-register | Sequential Logic Circuits  || Electronics Tutorial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20518" y="2206551"/>
                  <a:ext cx="11750963" cy="361019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01" name="Google Shape;501;p22"/>
                <p:cNvSpPr/>
                <p:nvPr/>
              </p:nvSpPr>
              <p:spPr>
                <a:xfrm>
                  <a:off x="10808854" y="2650837"/>
                  <a:ext cx="1089891" cy="70196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22"/>
                <p:cNvSpPr/>
                <p:nvPr/>
              </p:nvSpPr>
              <p:spPr>
                <a:xfrm>
                  <a:off x="746760" y="2206551"/>
                  <a:ext cx="1052022" cy="70196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03" name="Google Shape;503;p22"/>
              <p:cNvCxnSpPr/>
              <p:nvPr/>
            </p:nvCxnSpPr>
            <p:spPr>
              <a:xfrm rot="10800000">
                <a:off x="718185" y="2611814"/>
                <a:ext cx="0" cy="14478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4" name="Google Shape;504;p22"/>
              <p:cNvCxnSpPr/>
              <p:nvPr/>
            </p:nvCxnSpPr>
            <p:spPr>
              <a:xfrm rot="10800000">
                <a:off x="718185" y="2603212"/>
                <a:ext cx="1109171" cy="1425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505" name="Google Shape;505;p22"/>
            <p:cNvCxnSpPr/>
            <p:nvPr/>
          </p:nvCxnSpPr>
          <p:spPr>
            <a:xfrm rot="10800000">
              <a:off x="424180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6" name="Google Shape;506;p22"/>
            <p:cNvCxnSpPr/>
            <p:nvPr/>
          </p:nvCxnSpPr>
          <p:spPr>
            <a:xfrm rot="10800000">
              <a:off x="663448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7" name="Google Shape;507;p22"/>
            <p:cNvCxnSpPr/>
            <p:nvPr/>
          </p:nvCxnSpPr>
          <p:spPr>
            <a:xfrm rot="10800000">
              <a:off x="902716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8" name="Google Shape;508;p22"/>
            <p:cNvCxnSpPr/>
            <p:nvPr/>
          </p:nvCxnSpPr>
          <p:spPr>
            <a:xfrm rot="10800000">
              <a:off x="4241800" y="1986911"/>
              <a:ext cx="4785360" cy="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9" name="Google Shape;509;p22"/>
            <p:cNvCxnSpPr/>
            <p:nvPr/>
          </p:nvCxnSpPr>
          <p:spPr>
            <a:xfrm rot="10800000">
              <a:off x="6634480" y="153542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10" name="Google Shape;510;p22"/>
          <p:cNvSpPr txBox="1"/>
          <p:nvPr/>
        </p:nvSpPr>
        <p:spPr>
          <a:xfrm>
            <a:off x="6414101" y="1207168"/>
            <a:ext cx="2196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 (load parallel input)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2"/>
          <p:cNvSpPr txBox="1"/>
          <p:nvPr/>
        </p:nvSpPr>
        <p:spPr>
          <a:xfrm>
            <a:off x="987738" y="566438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2"/>
          <p:cNvSpPr txBox="1"/>
          <p:nvPr/>
        </p:nvSpPr>
        <p:spPr>
          <a:xfrm>
            <a:off x="3397696" y="565374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5807654" y="564309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2"/>
          <p:cNvSpPr txBox="1"/>
          <p:nvPr/>
        </p:nvSpPr>
        <p:spPr>
          <a:xfrm>
            <a:off x="8217612" y="563245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520" name="Google Shape;520;p2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521" name="Google Shape;521;p2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22" name="Google Shape;522;p2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23" name="Google Shape;523;p2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Parallel Input Serial Output</a:t>
            </a:r>
            <a:endParaRPr/>
          </a:p>
        </p:txBody>
      </p:sp>
      <p:grpSp>
        <p:nvGrpSpPr>
          <p:cNvPr id="524" name="Google Shape;524;p23"/>
          <p:cNvGrpSpPr/>
          <p:nvPr/>
        </p:nvGrpSpPr>
        <p:grpSpPr>
          <a:xfrm>
            <a:off x="721360" y="1535421"/>
            <a:ext cx="11176000" cy="4176227"/>
            <a:chOff x="721360" y="1535421"/>
            <a:chExt cx="11176000" cy="4176227"/>
          </a:xfrm>
        </p:grpSpPr>
        <p:grpSp>
          <p:nvGrpSpPr>
            <p:cNvPr id="525" name="Google Shape;525;p23"/>
            <p:cNvGrpSpPr/>
            <p:nvPr/>
          </p:nvGrpSpPr>
          <p:grpSpPr>
            <a:xfrm>
              <a:off x="721360" y="2302823"/>
              <a:ext cx="11176000" cy="3408825"/>
              <a:chOff x="220518" y="2206551"/>
              <a:chExt cx="11750963" cy="3610194"/>
            </a:xfrm>
          </p:grpSpPr>
          <p:grpSp>
            <p:nvGrpSpPr>
              <p:cNvPr id="526" name="Google Shape;526;p23"/>
              <p:cNvGrpSpPr/>
              <p:nvPr/>
            </p:nvGrpSpPr>
            <p:grpSpPr>
              <a:xfrm>
                <a:off x="220518" y="2206551"/>
                <a:ext cx="11750963" cy="3610194"/>
                <a:chOff x="220518" y="2206551"/>
                <a:chExt cx="11750963" cy="3610194"/>
              </a:xfrm>
            </p:grpSpPr>
            <p:pic>
              <p:nvPicPr>
                <p:cNvPr id="527" name="Google Shape;527;p23" descr="parallel-in-to-serial-out-piso-shift-register | Sequential Logic Circuits  || Electronics Tutorial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20518" y="2206551"/>
                  <a:ext cx="11750963" cy="361019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28" name="Google Shape;528;p23"/>
                <p:cNvSpPr/>
                <p:nvPr/>
              </p:nvSpPr>
              <p:spPr>
                <a:xfrm>
                  <a:off x="10808854" y="2650837"/>
                  <a:ext cx="1089891" cy="70196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23"/>
                <p:cNvSpPr/>
                <p:nvPr/>
              </p:nvSpPr>
              <p:spPr>
                <a:xfrm>
                  <a:off x="746760" y="2206551"/>
                  <a:ext cx="1052022" cy="70196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30" name="Google Shape;530;p23"/>
              <p:cNvCxnSpPr/>
              <p:nvPr/>
            </p:nvCxnSpPr>
            <p:spPr>
              <a:xfrm rot="10800000">
                <a:off x="718185" y="2611814"/>
                <a:ext cx="0" cy="14478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1" name="Google Shape;531;p23"/>
              <p:cNvCxnSpPr/>
              <p:nvPr/>
            </p:nvCxnSpPr>
            <p:spPr>
              <a:xfrm rot="10800000">
                <a:off x="718185" y="2603212"/>
                <a:ext cx="1109171" cy="1425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532" name="Google Shape;532;p23"/>
            <p:cNvCxnSpPr/>
            <p:nvPr/>
          </p:nvCxnSpPr>
          <p:spPr>
            <a:xfrm rot="10800000">
              <a:off x="424180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3" name="Google Shape;533;p23"/>
            <p:cNvCxnSpPr/>
            <p:nvPr/>
          </p:nvCxnSpPr>
          <p:spPr>
            <a:xfrm rot="10800000">
              <a:off x="663448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4" name="Google Shape;534;p23"/>
            <p:cNvCxnSpPr/>
            <p:nvPr/>
          </p:nvCxnSpPr>
          <p:spPr>
            <a:xfrm rot="10800000">
              <a:off x="902716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5" name="Google Shape;535;p23"/>
            <p:cNvCxnSpPr/>
            <p:nvPr/>
          </p:nvCxnSpPr>
          <p:spPr>
            <a:xfrm rot="10800000">
              <a:off x="4241800" y="1986911"/>
              <a:ext cx="4785360" cy="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6" name="Google Shape;536;p23"/>
            <p:cNvCxnSpPr/>
            <p:nvPr/>
          </p:nvCxnSpPr>
          <p:spPr>
            <a:xfrm rot="10800000">
              <a:off x="6634480" y="153542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37" name="Google Shape;537;p23"/>
          <p:cNvSpPr txBox="1"/>
          <p:nvPr/>
        </p:nvSpPr>
        <p:spPr>
          <a:xfrm>
            <a:off x="6414101" y="1207168"/>
            <a:ext cx="2196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 (load parallel input)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3"/>
          <p:cNvSpPr txBox="1"/>
          <p:nvPr/>
        </p:nvSpPr>
        <p:spPr>
          <a:xfrm>
            <a:off x="987738" y="566438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/>
          <p:cNvSpPr txBox="1"/>
          <p:nvPr/>
        </p:nvSpPr>
        <p:spPr>
          <a:xfrm>
            <a:off x="3397696" y="565374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 txBox="1"/>
          <p:nvPr/>
        </p:nvSpPr>
        <p:spPr>
          <a:xfrm>
            <a:off x="5807654" y="564309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 txBox="1"/>
          <p:nvPr/>
        </p:nvSpPr>
        <p:spPr>
          <a:xfrm>
            <a:off x="8217612" y="563245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621838" y="4612071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548" name="Google Shape;548;p2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549" name="Google Shape;549;p2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50" name="Google Shape;550;p2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51" name="Google Shape;551;p2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Parallel Input Serial Output</a:t>
            </a:r>
            <a:endParaRPr/>
          </a:p>
        </p:txBody>
      </p:sp>
      <p:grpSp>
        <p:nvGrpSpPr>
          <p:cNvPr id="552" name="Google Shape;552;p24"/>
          <p:cNvGrpSpPr/>
          <p:nvPr/>
        </p:nvGrpSpPr>
        <p:grpSpPr>
          <a:xfrm>
            <a:off x="721360" y="1535421"/>
            <a:ext cx="11176000" cy="4176227"/>
            <a:chOff x="721360" y="1535421"/>
            <a:chExt cx="11176000" cy="4176227"/>
          </a:xfrm>
        </p:grpSpPr>
        <p:grpSp>
          <p:nvGrpSpPr>
            <p:cNvPr id="553" name="Google Shape;553;p24"/>
            <p:cNvGrpSpPr/>
            <p:nvPr/>
          </p:nvGrpSpPr>
          <p:grpSpPr>
            <a:xfrm>
              <a:off x="721360" y="2302823"/>
              <a:ext cx="11176000" cy="3408825"/>
              <a:chOff x="220518" y="2206551"/>
              <a:chExt cx="11750963" cy="3610194"/>
            </a:xfrm>
          </p:grpSpPr>
          <p:grpSp>
            <p:nvGrpSpPr>
              <p:cNvPr id="554" name="Google Shape;554;p24"/>
              <p:cNvGrpSpPr/>
              <p:nvPr/>
            </p:nvGrpSpPr>
            <p:grpSpPr>
              <a:xfrm>
                <a:off x="220518" y="2206551"/>
                <a:ext cx="11750963" cy="3610194"/>
                <a:chOff x="220518" y="2206551"/>
                <a:chExt cx="11750963" cy="3610194"/>
              </a:xfrm>
            </p:grpSpPr>
            <p:pic>
              <p:nvPicPr>
                <p:cNvPr id="555" name="Google Shape;555;p24" descr="parallel-in-to-serial-out-piso-shift-register | Sequential Logic Circuits  || Electronics Tutorial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20518" y="2206551"/>
                  <a:ext cx="11750963" cy="361019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56" name="Google Shape;556;p24"/>
                <p:cNvSpPr/>
                <p:nvPr/>
              </p:nvSpPr>
              <p:spPr>
                <a:xfrm>
                  <a:off x="10808854" y="2650837"/>
                  <a:ext cx="1089891" cy="70196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7" name="Google Shape;557;p24"/>
                <p:cNvSpPr/>
                <p:nvPr/>
              </p:nvSpPr>
              <p:spPr>
                <a:xfrm>
                  <a:off x="746760" y="2206551"/>
                  <a:ext cx="1052022" cy="70196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58" name="Google Shape;558;p24"/>
              <p:cNvCxnSpPr/>
              <p:nvPr/>
            </p:nvCxnSpPr>
            <p:spPr>
              <a:xfrm rot="10800000">
                <a:off x="718185" y="2611814"/>
                <a:ext cx="0" cy="14478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9" name="Google Shape;559;p24"/>
              <p:cNvCxnSpPr/>
              <p:nvPr/>
            </p:nvCxnSpPr>
            <p:spPr>
              <a:xfrm rot="10800000">
                <a:off x="718185" y="2603212"/>
                <a:ext cx="1109171" cy="1425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560" name="Google Shape;560;p24"/>
            <p:cNvCxnSpPr/>
            <p:nvPr/>
          </p:nvCxnSpPr>
          <p:spPr>
            <a:xfrm rot="10800000">
              <a:off x="424180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61" name="Google Shape;561;p24"/>
            <p:cNvCxnSpPr/>
            <p:nvPr/>
          </p:nvCxnSpPr>
          <p:spPr>
            <a:xfrm rot="10800000">
              <a:off x="663448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62" name="Google Shape;562;p24"/>
            <p:cNvCxnSpPr/>
            <p:nvPr/>
          </p:nvCxnSpPr>
          <p:spPr>
            <a:xfrm rot="10800000">
              <a:off x="902716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63" name="Google Shape;563;p24"/>
            <p:cNvCxnSpPr/>
            <p:nvPr/>
          </p:nvCxnSpPr>
          <p:spPr>
            <a:xfrm rot="10800000">
              <a:off x="4241800" y="1986911"/>
              <a:ext cx="4785360" cy="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64" name="Google Shape;564;p24"/>
            <p:cNvCxnSpPr/>
            <p:nvPr/>
          </p:nvCxnSpPr>
          <p:spPr>
            <a:xfrm rot="10800000">
              <a:off x="6634480" y="153542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65" name="Google Shape;565;p24"/>
          <p:cNvSpPr txBox="1"/>
          <p:nvPr/>
        </p:nvSpPr>
        <p:spPr>
          <a:xfrm>
            <a:off x="6414101" y="1207168"/>
            <a:ext cx="2196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 (load parallel input)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4"/>
          <p:cNvSpPr txBox="1"/>
          <p:nvPr/>
        </p:nvSpPr>
        <p:spPr>
          <a:xfrm>
            <a:off x="987738" y="566438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4"/>
          <p:cNvSpPr txBox="1"/>
          <p:nvPr/>
        </p:nvSpPr>
        <p:spPr>
          <a:xfrm>
            <a:off x="3397696" y="565374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5807654" y="564309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4"/>
          <p:cNvSpPr txBox="1"/>
          <p:nvPr/>
        </p:nvSpPr>
        <p:spPr>
          <a:xfrm>
            <a:off x="8217612" y="563245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4"/>
          <p:cNvSpPr/>
          <p:nvPr/>
        </p:nvSpPr>
        <p:spPr>
          <a:xfrm>
            <a:off x="621838" y="4612071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4"/>
          <p:cNvSpPr txBox="1"/>
          <p:nvPr/>
        </p:nvSpPr>
        <p:spPr>
          <a:xfrm>
            <a:off x="3292391" y="215897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4"/>
          <p:cNvSpPr txBox="1"/>
          <p:nvPr/>
        </p:nvSpPr>
        <p:spPr>
          <a:xfrm>
            <a:off x="5702349" y="21483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4"/>
          <p:cNvSpPr txBox="1"/>
          <p:nvPr/>
        </p:nvSpPr>
        <p:spPr>
          <a:xfrm>
            <a:off x="8112307" y="213768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4"/>
          <p:cNvSpPr txBox="1"/>
          <p:nvPr/>
        </p:nvSpPr>
        <p:spPr>
          <a:xfrm>
            <a:off x="10522265" y="21270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580" name="Google Shape;580;p2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581" name="Google Shape;581;p2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82" name="Google Shape;582;p2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583" name="Google Shape;583;p2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Parallel Input Serial Output</a:t>
            </a:r>
            <a:endParaRPr/>
          </a:p>
        </p:txBody>
      </p:sp>
      <p:grpSp>
        <p:nvGrpSpPr>
          <p:cNvPr id="584" name="Google Shape;584;p25"/>
          <p:cNvGrpSpPr/>
          <p:nvPr/>
        </p:nvGrpSpPr>
        <p:grpSpPr>
          <a:xfrm>
            <a:off x="721360" y="1535421"/>
            <a:ext cx="11176000" cy="4176227"/>
            <a:chOff x="721360" y="1535421"/>
            <a:chExt cx="11176000" cy="4176227"/>
          </a:xfrm>
        </p:grpSpPr>
        <p:grpSp>
          <p:nvGrpSpPr>
            <p:cNvPr id="585" name="Google Shape;585;p25"/>
            <p:cNvGrpSpPr/>
            <p:nvPr/>
          </p:nvGrpSpPr>
          <p:grpSpPr>
            <a:xfrm>
              <a:off x="721360" y="2302823"/>
              <a:ext cx="11176000" cy="3408825"/>
              <a:chOff x="220518" y="2206551"/>
              <a:chExt cx="11750963" cy="3610194"/>
            </a:xfrm>
          </p:grpSpPr>
          <p:grpSp>
            <p:nvGrpSpPr>
              <p:cNvPr id="586" name="Google Shape;586;p25"/>
              <p:cNvGrpSpPr/>
              <p:nvPr/>
            </p:nvGrpSpPr>
            <p:grpSpPr>
              <a:xfrm>
                <a:off x="220518" y="2206551"/>
                <a:ext cx="11750963" cy="3610194"/>
                <a:chOff x="220518" y="2206551"/>
                <a:chExt cx="11750963" cy="3610194"/>
              </a:xfrm>
            </p:grpSpPr>
            <p:pic>
              <p:nvPicPr>
                <p:cNvPr id="587" name="Google Shape;587;p25" descr="parallel-in-to-serial-out-piso-shift-register | Sequential Logic Circuits  || Electronics Tutorial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20518" y="2206551"/>
                  <a:ext cx="11750963" cy="361019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88" name="Google Shape;588;p25"/>
                <p:cNvSpPr/>
                <p:nvPr/>
              </p:nvSpPr>
              <p:spPr>
                <a:xfrm>
                  <a:off x="10808854" y="2650837"/>
                  <a:ext cx="1089891" cy="70196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25"/>
                <p:cNvSpPr/>
                <p:nvPr/>
              </p:nvSpPr>
              <p:spPr>
                <a:xfrm>
                  <a:off x="746760" y="2206551"/>
                  <a:ext cx="1052022" cy="70196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90" name="Google Shape;590;p25"/>
              <p:cNvCxnSpPr/>
              <p:nvPr/>
            </p:nvCxnSpPr>
            <p:spPr>
              <a:xfrm rot="10800000">
                <a:off x="718185" y="2611814"/>
                <a:ext cx="0" cy="14478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1" name="Google Shape;591;p25"/>
              <p:cNvCxnSpPr/>
              <p:nvPr/>
            </p:nvCxnSpPr>
            <p:spPr>
              <a:xfrm rot="10800000">
                <a:off x="718185" y="2603212"/>
                <a:ext cx="1109171" cy="1425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592" name="Google Shape;592;p25"/>
            <p:cNvCxnSpPr/>
            <p:nvPr/>
          </p:nvCxnSpPr>
          <p:spPr>
            <a:xfrm rot="10800000">
              <a:off x="424180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3" name="Google Shape;593;p25"/>
            <p:cNvCxnSpPr/>
            <p:nvPr/>
          </p:nvCxnSpPr>
          <p:spPr>
            <a:xfrm rot="10800000">
              <a:off x="663448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4" name="Google Shape;594;p25"/>
            <p:cNvCxnSpPr/>
            <p:nvPr/>
          </p:nvCxnSpPr>
          <p:spPr>
            <a:xfrm rot="10800000">
              <a:off x="902716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5" name="Google Shape;595;p25"/>
            <p:cNvCxnSpPr/>
            <p:nvPr/>
          </p:nvCxnSpPr>
          <p:spPr>
            <a:xfrm rot="10800000">
              <a:off x="4241800" y="1986911"/>
              <a:ext cx="4785360" cy="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6" name="Google Shape;596;p25"/>
            <p:cNvCxnSpPr/>
            <p:nvPr/>
          </p:nvCxnSpPr>
          <p:spPr>
            <a:xfrm rot="10800000">
              <a:off x="6634480" y="153542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97" name="Google Shape;597;p25"/>
          <p:cNvSpPr txBox="1"/>
          <p:nvPr/>
        </p:nvSpPr>
        <p:spPr>
          <a:xfrm>
            <a:off x="6414101" y="1207168"/>
            <a:ext cx="9076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(shift)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621838" y="4612071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5"/>
          <p:cNvSpPr txBox="1"/>
          <p:nvPr/>
        </p:nvSpPr>
        <p:spPr>
          <a:xfrm>
            <a:off x="3292391" y="215897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5"/>
          <p:cNvSpPr txBox="1"/>
          <p:nvPr/>
        </p:nvSpPr>
        <p:spPr>
          <a:xfrm>
            <a:off x="5702349" y="21483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5"/>
          <p:cNvSpPr txBox="1"/>
          <p:nvPr/>
        </p:nvSpPr>
        <p:spPr>
          <a:xfrm>
            <a:off x="8112307" y="213768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5"/>
          <p:cNvSpPr txBox="1"/>
          <p:nvPr/>
        </p:nvSpPr>
        <p:spPr>
          <a:xfrm>
            <a:off x="10522265" y="21270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987738" y="566438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5"/>
          <p:cNvSpPr txBox="1"/>
          <p:nvPr/>
        </p:nvSpPr>
        <p:spPr>
          <a:xfrm>
            <a:off x="3397696" y="565374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5"/>
          <p:cNvSpPr txBox="1"/>
          <p:nvPr/>
        </p:nvSpPr>
        <p:spPr>
          <a:xfrm>
            <a:off x="5807654" y="564309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5"/>
          <p:cNvSpPr txBox="1"/>
          <p:nvPr/>
        </p:nvSpPr>
        <p:spPr>
          <a:xfrm>
            <a:off x="8217612" y="563245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612" name="Google Shape;612;p2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613" name="Google Shape;613;p2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14" name="Google Shape;614;p2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615" name="Google Shape;615;p2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Parallel Input Serial Output</a:t>
            </a:r>
            <a:endParaRPr/>
          </a:p>
        </p:txBody>
      </p:sp>
      <p:grpSp>
        <p:nvGrpSpPr>
          <p:cNvPr id="616" name="Google Shape;616;p26"/>
          <p:cNvGrpSpPr/>
          <p:nvPr/>
        </p:nvGrpSpPr>
        <p:grpSpPr>
          <a:xfrm>
            <a:off x="721360" y="1535421"/>
            <a:ext cx="11176000" cy="4176227"/>
            <a:chOff x="721360" y="1535421"/>
            <a:chExt cx="11176000" cy="4176227"/>
          </a:xfrm>
        </p:grpSpPr>
        <p:grpSp>
          <p:nvGrpSpPr>
            <p:cNvPr id="617" name="Google Shape;617;p26"/>
            <p:cNvGrpSpPr/>
            <p:nvPr/>
          </p:nvGrpSpPr>
          <p:grpSpPr>
            <a:xfrm>
              <a:off x="721360" y="2302823"/>
              <a:ext cx="11176000" cy="3408825"/>
              <a:chOff x="220518" y="2206551"/>
              <a:chExt cx="11750963" cy="3610194"/>
            </a:xfrm>
          </p:grpSpPr>
          <p:grpSp>
            <p:nvGrpSpPr>
              <p:cNvPr id="618" name="Google Shape;618;p26"/>
              <p:cNvGrpSpPr/>
              <p:nvPr/>
            </p:nvGrpSpPr>
            <p:grpSpPr>
              <a:xfrm>
                <a:off x="220518" y="2206551"/>
                <a:ext cx="11750963" cy="3610194"/>
                <a:chOff x="220518" y="2206551"/>
                <a:chExt cx="11750963" cy="3610194"/>
              </a:xfrm>
            </p:grpSpPr>
            <p:pic>
              <p:nvPicPr>
                <p:cNvPr id="619" name="Google Shape;619;p26" descr="parallel-in-to-serial-out-piso-shift-register | Sequential Logic Circuits  || Electronics Tutorial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20518" y="2206551"/>
                  <a:ext cx="11750963" cy="361019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20" name="Google Shape;620;p26"/>
                <p:cNvSpPr/>
                <p:nvPr/>
              </p:nvSpPr>
              <p:spPr>
                <a:xfrm>
                  <a:off x="10808854" y="2650837"/>
                  <a:ext cx="1089891" cy="70196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26"/>
                <p:cNvSpPr/>
                <p:nvPr/>
              </p:nvSpPr>
              <p:spPr>
                <a:xfrm>
                  <a:off x="746760" y="2206551"/>
                  <a:ext cx="1052022" cy="70196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22" name="Google Shape;622;p26"/>
              <p:cNvCxnSpPr/>
              <p:nvPr/>
            </p:nvCxnSpPr>
            <p:spPr>
              <a:xfrm rot="10800000">
                <a:off x="718185" y="2611814"/>
                <a:ext cx="0" cy="14478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3" name="Google Shape;623;p26"/>
              <p:cNvCxnSpPr/>
              <p:nvPr/>
            </p:nvCxnSpPr>
            <p:spPr>
              <a:xfrm rot="10800000">
                <a:off x="718185" y="2603212"/>
                <a:ext cx="1109171" cy="1425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624" name="Google Shape;624;p26"/>
            <p:cNvCxnSpPr/>
            <p:nvPr/>
          </p:nvCxnSpPr>
          <p:spPr>
            <a:xfrm rot="10800000">
              <a:off x="424180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5" name="Google Shape;625;p26"/>
            <p:cNvCxnSpPr/>
            <p:nvPr/>
          </p:nvCxnSpPr>
          <p:spPr>
            <a:xfrm rot="10800000">
              <a:off x="663448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6" name="Google Shape;626;p26"/>
            <p:cNvCxnSpPr/>
            <p:nvPr/>
          </p:nvCxnSpPr>
          <p:spPr>
            <a:xfrm rot="10800000">
              <a:off x="9027160" y="198691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7" name="Google Shape;627;p26"/>
            <p:cNvCxnSpPr/>
            <p:nvPr/>
          </p:nvCxnSpPr>
          <p:spPr>
            <a:xfrm rot="10800000">
              <a:off x="4241800" y="1986911"/>
              <a:ext cx="4785360" cy="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8" name="Google Shape;628;p26"/>
            <p:cNvCxnSpPr/>
            <p:nvPr/>
          </p:nvCxnSpPr>
          <p:spPr>
            <a:xfrm rot="10800000">
              <a:off x="6634480" y="1535421"/>
              <a:ext cx="0" cy="45149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29" name="Google Shape;629;p26"/>
          <p:cNvSpPr txBox="1"/>
          <p:nvPr/>
        </p:nvSpPr>
        <p:spPr>
          <a:xfrm>
            <a:off x="6414101" y="1207168"/>
            <a:ext cx="9076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(shift)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621838" y="4612071"/>
            <a:ext cx="274321" cy="23722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6"/>
          <p:cNvSpPr txBox="1"/>
          <p:nvPr/>
        </p:nvSpPr>
        <p:spPr>
          <a:xfrm>
            <a:off x="3292391" y="215897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 txBox="1"/>
          <p:nvPr/>
        </p:nvSpPr>
        <p:spPr>
          <a:xfrm>
            <a:off x="5702349" y="214832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6"/>
          <p:cNvSpPr txBox="1"/>
          <p:nvPr/>
        </p:nvSpPr>
        <p:spPr>
          <a:xfrm>
            <a:off x="8112307" y="213768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 txBox="1"/>
          <p:nvPr/>
        </p:nvSpPr>
        <p:spPr>
          <a:xfrm>
            <a:off x="10522265" y="21270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6"/>
          <p:cNvSpPr txBox="1"/>
          <p:nvPr/>
        </p:nvSpPr>
        <p:spPr>
          <a:xfrm>
            <a:off x="987738" y="566438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 txBox="1"/>
          <p:nvPr/>
        </p:nvSpPr>
        <p:spPr>
          <a:xfrm>
            <a:off x="3397696" y="565374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6"/>
          <p:cNvSpPr txBox="1"/>
          <p:nvPr/>
        </p:nvSpPr>
        <p:spPr>
          <a:xfrm>
            <a:off x="5807654" y="564309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6"/>
          <p:cNvSpPr txBox="1"/>
          <p:nvPr/>
        </p:nvSpPr>
        <p:spPr>
          <a:xfrm>
            <a:off x="8217612" y="563245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set the flip flops</a:t>
            </a:r>
            <a:endParaRPr/>
          </a:p>
        </p:txBody>
      </p:sp>
      <p:sp>
        <p:nvSpPr>
          <p:cNvPr id="644" name="Google Shape;644;p2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645" name="Google Shape;645;p2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46" name="Google Shape;646;p2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647" name="Google Shape;647;p2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dirty="0"/>
              <a:t>Bidirectional Shift Register Using MUX</a:t>
            </a:r>
            <a:endParaRPr dirty="0"/>
          </a:p>
        </p:txBody>
      </p:sp>
      <p:pic>
        <p:nvPicPr>
          <p:cNvPr id="648" name="Google Shape;648;p27"/>
          <p:cNvPicPr preferRelativeResize="0"/>
          <p:nvPr/>
        </p:nvPicPr>
        <p:blipFill rotWithShape="1">
          <a:blip r:embed="rId3">
            <a:alphaModFix/>
          </a:blip>
          <a:srcRect l="6146" t="39439" r="4957" b="11639"/>
          <a:stretch/>
        </p:blipFill>
        <p:spPr>
          <a:xfrm>
            <a:off x="1887511" y="2488742"/>
            <a:ext cx="8094689" cy="2787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Next, let us set the multiplexers</a:t>
            </a:r>
            <a:endParaRPr/>
          </a:p>
        </p:txBody>
      </p:sp>
      <p:sp>
        <p:nvSpPr>
          <p:cNvPr id="654" name="Google Shape;654;p2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655" name="Google Shape;655;p2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56" name="Google Shape;656;p2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657" name="Google Shape;657;p2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Bidirectional Shift Register</a:t>
            </a:r>
            <a:endParaRPr/>
          </a:p>
        </p:txBody>
      </p:sp>
      <p:pic>
        <p:nvPicPr>
          <p:cNvPr id="658" name="Google Shape;658;p28"/>
          <p:cNvPicPr preferRelativeResize="0"/>
          <p:nvPr/>
        </p:nvPicPr>
        <p:blipFill rotWithShape="1">
          <a:blip r:embed="rId3">
            <a:alphaModFix/>
          </a:blip>
          <a:srcRect t="19810" b="12873"/>
          <a:stretch/>
        </p:blipFill>
        <p:spPr>
          <a:xfrm>
            <a:off x="1244182" y="2237219"/>
            <a:ext cx="8969115" cy="3264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Next, let us set the multiplexers</a:t>
            </a:r>
            <a:endParaRPr/>
          </a:p>
        </p:txBody>
      </p:sp>
      <p:sp>
        <p:nvSpPr>
          <p:cNvPr id="664" name="Google Shape;664;p2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665" name="Google Shape;665;p2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66" name="Google Shape;666;p2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667" name="Google Shape;667;p2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Bidirectional Shift Register</a:t>
            </a:r>
            <a:endParaRPr/>
          </a:p>
        </p:txBody>
      </p:sp>
      <p:pic>
        <p:nvPicPr>
          <p:cNvPr id="668" name="Google Shape;668;p29"/>
          <p:cNvPicPr preferRelativeResize="0"/>
          <p:nvPr/>
        </p:nvPicPr>
        <p:blipFill rotWithShape="1">
          <a:blip r:embed="rId3">
            <a:alphaModFix/>
          </a:blip>
          <a:srcRect l="1633" t="10124"/>
          <a:stretch/>
        </p:blipFill>
        <p:spPr>
          <a:xfrm>
            <a:off x="1893960" y="2053652"/>
            <a:ext cx="8404080" cy="4439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 dirty="0"/>
              <a:t>We can enter data from both sides</a:t>
            </a:r>
            <a:endParaRPr dirty="0"/>
          </a:p>
        </p:txBody>
      </p:sp>
      <p:sp>
        <p:nvSpPr>
          <p:cNvPr id="674" name="Google Shape;674;p3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675" name="Google Shape;675;p3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76" name="Google Shape;676;p3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677" name="Google Shape;677;p3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Bidirectional Shift Register</a:t>
            </a:r>
            <a:endParaRPr/>
          </a:p>
        </p:txBody>
      </p:sp>
      <p:pic>
        <p:nvPicPr>
          <p:cNvPr id="678" name="Google Shape;678;p30"/>
          <p:cNvPicPr preferRelativeResize="0"/>
          <p:nvPr/>
        </p:nvPicPr>
        <p:blipFill rotWithShape="1">
          <a:blip r:embed="rId3">
            <a:alphaModFix/>
          </a:blip>
          <a:srcRect l="2090" t="13465" b="32036"/>
          <a:stretch/>
        </p:blipFill>
        <p:spPr>
          <a:xfrm>
            <a:off x="2413218" y="2152351"/>
            <a:ext cx="7754910" cy="37297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DF13F5-6DF6-8FCF-5428-97D51EAF0919}"/>
              </a:ext>
            </a:extLst>
          </p:cNvPr>
          <p:cNvSpPr txBox="1"/>
          <p:nvPr/>
        </p:nvSpPr>
        <p:spPr>
          <a:xfrm>
            <a:off x="1403604" y="3008376"/>
            <a:ext cx="161239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Right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85E5E-98C0-4BDB-F852-F61F8F5804B0}"/>
              </a:ext>
            </a:extLst>
          </p:cNvPr>
          <p:cNvSpPr txBox="1"/>
          <p:nvPr/>
        </p:nvSpPr>
        <p:spPr>
          <a:xfrm>
            <a:off x="8610600" y="3008376"/>
            <a:ext cx="161239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Left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685" name="Google Shape;685;p3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86" name="Google Shape;686;p3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687" name="Google Shape;687;p3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Bidirectional Shift Register</a:t>
            </a:r>
            <a:endParaRPr/>
          </a:p>
        </p:txBody>
      </p:sp>
      <p:pic>
        <p:nvPicPr>
          <p:cNvPr id="688" name="Google Shape;688;p31"/>
          <p:cNvPicPr preferRelativeResize="0"/>
          <p:nvPr/>
        </p:nvPicPr>
        <p:blipFill rotWithShape="1">
          <a:blip r:embed="rId3">
            <a:alphaModFix/>
          </a:blip>
          <a:srcRect l="1844" t="7496" b="37644"/>
          <a:stretch/>
        </p:blipFill>
        <p:spPr>
          <a:xfrm>
            <a:off x="1436883" y="1842633"/>
            <a:ext cx="9318233" cy="4003532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31"/>
          <p:cNvSpPr/>
          <p:nvPr/>
        </p:nvSpPr>
        <p:spPr>
          <a:xfrm>
            <a:off x="2652274" y="2867692"/>
            <a:ext cx="358815" cy="196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1"/>
          <p:cNvSpPr/>
          <p:nvPr/>
        </p:nvSpPr>
        <p:spPr>
          <a:xfrm>
            <a:off x="2606554" y="2346960"/>
            <a:ext cx="2209286" cy="5207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1"/>
          <p:cNvSpPr/>
          <p:nvPr/>
        </p:nvSpPr>
        <p:spPr>
          <a:xfrm>
            <a:off x="4889249" y="2274538"/>
            <a:ext cx="1901695" cy="7899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1"/>
          <p:cNvSpPr/>
          <p:nvPr/>
        </p:nvSpPr>
        <p:spPr>
          <a:xfrm>
            <a:off x="6864353" y="2402840"/>
            <a:ext cx="1543047" cy="6197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7163695" y="3028632"/>
            <a:ext cx="1131945" cy="5541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1"/>
          <p:cNvSpPr/>
          <p:nvPr/>
        </p:nvSpPr>
        <p:spPr>
          <a:xfrm>
            <a:off x="8959405" y="3423920"/>
            <a:ext cx="1259015" cy="158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1"/>
          <p:cNvSpPr/>
          <p:nvPr/>
        </p:nvSpPr>
        <p:spPr>
          <a:xfrm>
            <a:off x="9960095" y="3543548"/>
            <a:ext cx="611385" cy="3551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1"/>
          <p:cNvSpPr/>
          <p:nvPr/>
        </p:nvSpPr>
        <p:spPr>
          <a:xfrm>
            <a:off x="10960785" y="3663176"/>
            <a:ext cx="611385" cy="3551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1"/>
          <p:cNvSpPr/>
          <p:nvPr/>
        </p:nvSpPr>
        <p:spPr>
          <a:xfrm>
            <a:off x="8407401" y="3456842"/>
            <a:ext cx="382270" cy="3551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1"/>
          <p:cNvSpPr/>
          <p:nvPr/>
        </p:nvSpPr>
        <p:spPr>
          <a:xfrm>
            <a:off x="8830311" y="3456842"/>
            <a:ext cx="313689" cy="3188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1"/>
          <p:cNvSpPr/>
          <p:nvPr/>
        </p:nvSpPr>
        <p:spPr>
          <a:xfrm>
            <a:off x="8047032" y="3293791"/>
            <a:ext cx="313689" cy="3188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32C130-BCBF-FD62-4D40-2634353CFBC5}"/>
              </a:ext>
            </a:extLst>
          </p:cNvPr>
          <p:cNvSpPr txBox="1"/>
          <p:nvPr/>
        </p:nvSpPr>
        <p:spPr>
          <a:xfrm>
            <a:off x="667131" y="2749492"/>
            <a:ext cx="161239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Right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69B117-8541-A5E6-3E72-7ABC20878D01}"/>
              </a:ext>
            </a:extLst>
          </p:cNvPr>
          <p:cNvSpPr txBox="1"/>
          <p:nvPr/>
        </p:nvSpPr>
        <p:spPr>
          <a:xfrm>
            <a:off x="9153899" y="2910573"/>
            <a:ext cx="161239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Left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705" name="Google Shape;705;p3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06" name="Google Shape;706;p3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707" name="Google Shape;707;p3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Bidirectional Shift Register</a:t>
            </a:r>
            <a:endParaRPr/>
          </a:p>
        </p:txBody>
      </p:sp>
      <p:pic>
        <p:nvPicPr>
          <p:cNvPr id="708" name="Google Shape;708;p32"/>
          <p:cNvPicPr preferRelativeResize="0"/>
          <p:nvPr/>
        </p:nvPicPr>
        <p:blipFill rotWithShape="1">
          <a:blip r:embed="rId3">
            <a:alphaModFix/>
          </a:blip>
          <a:srcRect l="1844" t="7496" b="37644"/>
          <a:stretch/>
        </p:blipFill>
        <p:spPr>
          <a:xfrm>
            <a:off x="1436883" y="1842633"/>
            <a:ext cx="9318233" cy="40035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18DCC9-96D8-6994-F495-693DB720D4A2}"/>
              </a:ext>
            </a:extLst>
          </p:cNvPr>
          <p:cNvSpPr txBox="1"/>
          <p:nvPr/>
        </p:nvSpPr>
        <p:spPr>
          <a:xfrm>
            <a:off x="667131" y="2749492"/>
            <a:ext cx="161239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Right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E9B00-FF53-FA4C-461D-01EDFBB205E6}"/>
              </a:ext>
            </a:extLst>
          </p:cNvPr>
          <p:cNvSpPr txBox="1"/>
          <p:nvPr/>
        </p:nvSpPr>
        <p:spPr>
          <a:xfrm>
            <a:off x="9153899" y="2910573"/>
            <a:ext cx="161239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Left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715" name="Google Shape;715;p3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16" name="Google Shape;716;p3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717" name="Google Shape;717;p3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Bidirectional Shift Register</a:t>
            </a:r>
            <a:endParaRPr/>
          </a:p>
        </p:txBody>
      </p:sp>
      <p:pic>
        <p:nvPicPr>
          <p:cNvPr id="718" name="Google Shape;718;p33"/>
          <p:cNvPicPr preferRelativeResize="0"/>
          <p:nvPr/>
        </p:nvPicPr>
        <p:blipFill rotWithShape="1">
          <a:blip r:embed="rId3">
            <a:alphaModFix/>
          </a:blip>
          <a:srcRect l="46220"/>
          <a:stretch/>
        </p:blipFill>
        <p:spPr>
          <a:xfrm rot="-5400000">
            <a:off x="4171187" y="-1150620"/>
            <a:ext cx="3849627" cy="97061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9F4485-F2E7-87D2-5A15-C991D2F0664C}"/>
              </a:ext>
            </a:extLst>
          </p:cNvPr>
          <p:cNvSpPr txBox="1"/>
          <p:nvPr/>
        </p:nvSpPr>
        <p:spPr>
          <a:xfrm>
            <a:off x="1675253" y="3440826"/>
            <a:ext cx="106909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Right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2CA0898-8109-7F89-A273-85DCFDF86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921" y="1469747"/>
            <a:ext cx="3304318" cy="61574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725" name="Google Shape;725;p3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26" name="Google Shape;726;p3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727" name="Google Shape;727;p3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Bidirectional Shift Register</a:t>
            </a:r>
            <a:endParaRPr/>
          </a:p>
        </p:txBody>
      </p:sp>
      <p:pic>
        <p:nvPicPr>
          <p:cNvPr id="728" name="Google Shape;728;p34"/>
          <p:cNvPicPr preferRelativeResize="0"/>
          <p:nvPr/>
        </p:nvPicPr>
        <p:blipFill rotWithShape="1">
          <a:blip r:embed="rId3">
            <a:alphaModFix/>
          </a:blip>
          <a:srcRect t="23273" b="10203"/>
          <a:stretch/>
        </p:blipFill>
        <p:spPr>
          <a:xfrm rot="10800000">
            <a:off x="876300" y="1227909"/>
            <a:ext cx="10439400" cy="51594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31842E-87CC-8EBB-BF12-31E28A99E779}"/>
              </a:ext>
            </a:extLst>
          </p:cNvPr>
          <p:cNvSpPr txBox="1"/>
          <p:nvPr/>
        </p:nvSpPr>
        <p:spPr>
          <a:xfrm>
            <a:off x="10488923" y="1886445"/>
            <a:ext cx="103251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Left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B87EF2-544A-B197-4948-5EB01DE87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273" y="1270696"/>
            <a:ext cx="3304318" cy="61574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735" name="Google Shape;735;p3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36" name="Google Shape;736;p3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737" name="Google Shape;737;p3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Universal Shift Register</a:t>
            </a:r>
            <a:endParaRPr/>
          </a:p>
        </p:txBody>
      </p:sp>
      <p:pic>
        <p:nvPicPr>
          <p:cNvPr id="738" name="Google Shape;738;p35"/>
          <p:cNvPicPr preferRelativeResize="0"/>
          <p:nvPr/>
        </p:nvPicPr>
        <p:blipFill rotWithShape="1">
          <a:blip r:embed="rId3">
            <a:alphaModFix/>
          </a:blip>
          <a:srcRect t="17496" b="13781"/>
          <a:stretch/>
        </p:blipFill>
        <p:spPr>
          <a:xfrm rot="10800000">
            <a:off x="2439650" y="1333623"/>
            <a:ext cx="8914150" cy="515925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EE457B-52F3-B17F-B32F-C159DB2CED41}"/>
              </a:ext>
            </a:extLst>
          </p:cNvPr>
          <p:cNvSpPr txBox="1"/>
          <p:nvPr/>
        </p:nvSpPr>
        <p:spPr>
          <a:xfrm>
            <a:off x="534162" y="1286939"/>
            <a:ext cx="6094476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1400" spc="15" dirty="0">
                <a:latin typeface="Microsoft Sans Serif"/>
                <a:cs typeface="Microsoft Sans Serif"/>
              </a:rPr>
              <a:t>Contains</a:t>
            </a:r>
            <a:r>
              <a:rPr lang="en-US" sz="1400" spc="-25" dirty="0">
                <a:latin typeface="Microsoft Sans Serif"/>
                <a:cs typeface="Microsoft Sans Serif"/>
              </a:rPr>
              <a:t> </a:t>
            </a:r>
            <a:r>
              <a:rPr lang="en-US" sz="1400" spc="55" dirty="0">
                <a:latin typeface="Microsoft Sans Serif"/>
                <a:cs typeface="Microsoft Sans Serif"/>
              </a:rPr>
              <a:t>the</a:t>
            </a:r>
            <a:r>
              <a:rPr lang="en-US" sz="1400" spc="-15" dirty="0">
                <a:latin typeface="Microsoft Sans Serif"/>
                <a:cs typeface="Microsoft Sans Serif"/>
              </a:rPr>
              <a:t> </a:t>
            </a:r>
            <a:r>
              <a:rPr lang="en-US" sz="1400" spc="25" dirty="0">
                <a:latin typeface="Microsoft Sans Serif"/>
                <a:cs typeface="Microsoft Sans Serif"/>
              </a:rPr>
              <a:t>capabilities</a:t>
            </a:r>
            <a:r>
              <a:rPr lang="en-US" sz="1400" spc="-15" dirty="0">
                <a:latin typeface="Microsoft Sans Serif"/>
                <a:cs typeface="Microsoft Sans Serif"/>
              </a:rPr>
              <a:t> </a:t>
            </a:r>
            <a:r>
              <a:rPr lang="en-US" sz="1400" spc="30" dirty="0">
                <a:latin typeface="Microsoft Sans Serif"/>
                <a:cs typeface="Microsoft Sans Serif"/>
              </a:rPr>
              <a:t>of:</a:t>
            </a:r>
            <a:endParaRPr lang="en-US" sz="1400" dirty="0">
              <a:latin typeface="Microsoft Sans Serif"/>
              <a:cs typeface="Microsoft Sans Serif"/>
            </a:endParaRPr>
          </a:p>
          <a:p>
            <a:pPr marL="469900" indent="-328295">
              <a:lnSpc>
                <a:spcPct val="100000"/>
              </a:lnSpc>
              <a:spcBef>
                <a:spcPts val="229"/>
              </a:spcBef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lang="en-US" sz="1400" spc="5" dirty="0">
                <a:latin typeface="Microsoft Sans Serif"/>
                <a:cs typeface="Microsoft Sans Serif"/>
              </a:rPr>
              <a:t>Right</a:t>
            </a:r>
            <a:r>
              <a:rPr lang="en-US" sz="1400" spc="-25" dirty="0">
                <a:latin typeface="Microsoft Sans Serif"/>
                <a:cs typeface="Microsoft Sans Serif"/>
              </a:rPr>
              <a:t> </a:t>
            </a:r>
            <a:r>
              <a:rPr lang="en-US" sz="1400" spc="45" dirty="0">
                <a:latin typeface="Microsoft Sans Serif"/>
                <a:cs typeface="Microsoft Sans Serif"/>
              </a:rPr>
              <a:t>shift</a:t>
            </a:r>
            <a:r>
              <a:rPr lang="en-US" sz="1400" spc="-25" dirty="0">
                <a:latin typeface="Microsoft Sans Serif"/>
                <a:cs typeface="Microsoft Sans Serif"/>
              </a:rPr>
              <a:t> </a:t>
            </a:r>
            <a:r>
              <a:rPr lang="en-US" sz="1400" spc="45" dirty="0">
                <a:latin typeface="Microsoft Sans Serif"/>
                <a:cs typeface="Microsoft Sans Serif"/>
              </a:rPr>
              <a:t>and</a:t>
            </a:r>
            <a:r>
              <a:rPr lang="en-US" sz="1400" spc="-30" dirty="0">
                <a:latin typeface="Microsoft Sans Serif"/>
                <a:cs typeface="Microsoft Sans Serif"/>
              </a:rPr>
              <a:t> </a:t>
            </a:r>
            <a:r>
              <a:rPr lang="en-US" sz="1400" spc="50" dirty="0">
                <a:latin typeface="Microsoft Sans Serif"/>
                <a:cs typeface="Microsoft Sans Serif"/>
              </a:rPr>
              <a:t>left</a:t>
            </a:r>
            <a:r>
              <a:rPr lang="en-US" sz="1400" spc="-20" dirty="0">
                <a:latin typeface="Microsoft Sans Serif"/>
                <a:cs typeface="Microsoft Sans Serif"/>
              </a:rPr>
              <a:t> </a:t>
            </a:r>
            <a:r>
              <a:rPr lang="en-US" sz="1400" spc="30" dirty="0">
                <a:latin typeface="Microsoft Sans Serif"/>
                <a:cs typeface="Microsoft Sans Serif"/>
              </a:rPr>
              <a:t>shift.</a:t>
            </a:r>
            <a:endParaRPr lang="en-US" sz="1400" dirty="0">
              <a:latin typeface="Microsoft Sans Serif"/>
              <a:cs typeface="Microsoft Sans Serif"/>
            </a:endParaRPr>
          </a:p>
          <a:p>
            <a:pPr marL="469900" indent="-328295">
              <a:lnSpc>
                <a:spcPct val="100000"/>
              </a:lnSpc>
              <a:spcBef>
                <a:spcPts val="235"/>
              </a:spcBef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lang="en-US" sz="1400" spc="5" dirty="0">
                <a:latin typeface="Microsoft Sans Serif"/>
                <a:cs typeface="Microsoft Sans Serif"/>
              </a:rPr>
              <a:t>Parallel</a:t>
            </a:r>
            <a:r>
              <a:rPr lang="en-US" sz="1400" spc="-35" dirty="0">
                <a:latin typeface="Microsoft Sans Serif"/>
                <a:cs typeface="Microsoft Sans Serif"/>
              </a:rPr>
              <a:t> </a:t>
            </a:r>
            <a:r>
              <a:rPr lang="en-US" sz="1400" spc="20" dirty="0">
                <a:latin typeface="Microsoft Sans Serif"/>
                <a:cs typeface="Microsoft Sans Serif"/>
              </a:rPr>
              <a:t>load.</a:t>
            </a:r>
            <a:endParaRPr lang="en-US" sz="1400" dirty="0">
              <a:latin typeface="Microsoft Sans Serif"/>
              <a:cs typeface="Microsoft Sans Serif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EF61D-5656-55EC-1977-589F2E1A4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36" y="2297668"/>
            <a:ext cx="2232876" cy="196419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744" name="Google Shape;744;p3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745" name="Google Shape;745;p3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46" name="Google Shape;746;p3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747" name="Google Shape;747;p3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Universal Shift Register</a:t>
            </a:r>
            <a:endParaRPr/>
          </a:p>
        </p:txBody>
      </p:sp>
      <p:pic>
        <p:nvPicPr>
          <p:cNvPr id="748" name="Google Shape;748;p36"/>
          <p:cNvPicPr preferRelativeResize="0"/>
          <p:nvPr/>
        </p:nvPicPr>
        <p:blipFill rotWithShape="1">
          <a:blip r:embed="rId3">
            <a:alphaModFix/>
          </a:blip>
          <a:srcRect l="10308" t="18998" r="2152" b="7560"/>
          <a:stretch/>
        </p:blipFill>
        <p:spPr>
          <a:xfrm>
            <a:off x="2039815" y="1209219"/>
            <a:ext cx="8112369" cy="51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755" name="Google Shape;755;p3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56" name="Google Shape;756;p3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757" name="Google Shape;757;p3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Universal Shift Register</a:t>
            </a:r>
            <a:endParaRPr/>
          </a:p>
        </p:txBody>
      </p:sp>
      <p:pic>
        <p:nvPicPr>
          <p:cNvPr id="758" name="Google Shape;758;p37"/>
          <p:cNvPicPr preferRelativeResize="0"/>
          <p:nvPr/>
        </p:nvPicPr>
        <p:blipFill rotWithShape="1">
          <a:blip r:embed="rId3">
            <a:alphaModFix/>
          </a:blip>
          <a:srcRect t="13030" b="16479"/>
          <a:stretch/>
        </p:blipFill>
        <p:spPr>
          <a:xfrm>
            <a:off x="2211265" y="1227909"/>
            <a:ext cx="7770935" cy="50492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AE3AA6-E455-7416-9DA8-5B01FCE21F2F}"/>
              </a:ext>
            </a:extLst>
          </p:cNvPr>
          <p:cNvSpPr txBox="1"/>
          <p:nvPr/>
        </p:nvSpPr>
        <p:spPr>
          <a:xfrm>
            <a:off x="1855851" y="5861808"/>
            <a:ext cx="102450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Right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 dirty="0"/>
          </a:p>
        </p:txBody>
      </p:sp>
      <p:sp>
        <p:nvSpPr>
          <p:cNvPr id="764" name="Google Shape;764;p3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765" name="Google Shape;765;p3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66" name="Google Shape;766;p3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767" name="Google Shape;767;p3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Universal Shift Register</a:t>
            </a:r>
            <a:endParaRPr/>
          </a:p>
        </p:txBody>
      </p:sp>
      <p:pic>
        <p:nvPicPr>
          <p:cNvPr id="768" name="Google Shape;768;p38"/>
          <p:cNvPicPr preferRelativeResize="0"/>
          <p:nvPr/>
        </p:nvPicPr>
        <p:blipFill rotWithShape="1">
          <a:blip r:embed="rId3">
            <a:alphaModFix/>
          </a:blip>
          <a:srcRect t="10937" b="26954"/>
          <a:stretch/>
        </p:blipFill>
        <p:spPr>
          <a:xfrm>
            <a:off x="2537141" y="1147152"/>
            <a:ext cx="7117718" cy="53457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EF6A9C-20DF-13EF-31AF-1E6F980EB076}"/>
              </a:ext>
            </a:extLst>
          </p:cNvPr>
          <p:cNvSpPr txBox="1"/>
          <p:nvPr/>
        </p:nvSpPr>
        <p:spPr>
          <a:xfrm>
            <a:off x="2011170" y="4934908"/>
            <a:ext cx="105194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Right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70E2D-A598-40A1-87C4-9C7D9B16721E}"/>
              </a:ext>
            </a:extLst>
          </p:cNvPr>
          <p:cNvSpPr txBox="1"/>
          <p:nvPr/>
        </p:nvSpPr>
        <p:spPr>
          <a:xfrm>
            <a:off x="8926418" y="6050412"/>
            <a:ext cx="105194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Left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 dirty="0"/>
          </a:p>
        </p:txBody>
      </p:sp>
      <p:sp>
        <p:nvSpPr>
          <p:cNvPr id="774" name="Google Shape;774;p3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775" name="Google Shape;775;p3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76" name="Google Shape;776;p3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777" name="Google Shape;777;p3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Universal Shift Register</a:t>
            </a:r>
            <a:endParaRPr/>
          </a:p>
        </p:txBody>
      </p:sp>
      <p:pic>
        <p:nvPicPr>
          <p:cNvPr id="778" name="Google Shape;778;p39"/>
          <p:cNvPicPr preferRelativeResize="0"/>
          <p:nvPr/>
        </p:nvPicPr>
        <p:blipFill rotWithShape="1">
          <a:blip r:embed="rId3">
            <a:alphaModFix/>
          </a:blip>
          <a:srcRect t="8933" b="19717"/>
          <a:stretch/>
        </p:blipFill>
        <p:spPr>
          <a:xfrm>
            <a:off x="2936718" y="752776"/>
            <a:ext cx="6666035" cy="60772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A5FAF5-2ED7-D1F2-EF04-3EBFDA0EC081}"/>
              </a:ext>
            </a:extLst>
          </p:cNvPr>
          <p:cNvSpPr txBox="1"/>
          <p:nvPr/>
        </p:nvSpPr>
        <p:spPr>
          <a:xfrm>
            <a:off x="2529459" y="4688020"/>
            <a:ext cx="105194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Right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DECA8-5EB8-87CE-1A03-6A60CEBD2014}"/>
              </a:ext>
            </a:extLst>
          </p:cNvPr>
          <p:cNvSpPr txBox="1"/>
          <p:nvPr/>
        </p:nvSpPr>
        <p:spPr>
          <a:xfrm>
            <a:off x="9076782" y="5667290"/>
            <a:ext cx="105194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Din for Shift Left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784" name="Google Shape;784;p4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785" name="Google Shape;785;p4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86" name="Google Shape;786;p4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787" name="Google Shape;787;p4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Universal Shift Register</a:t>
            </a:r>
            <a:endParaRPr/>
          </a:p>
        </p:txBody>
      </p:sp>
      <p:pic>
        <p:nvPicPr>
          <p:cNvPr id="788" name="Google Shape;788;p40" descr="UNIVERSAL SHIFT REGISTER – Jeyakumar 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562" y="1041920"/>
            <a:ext cx="11250592" cy="581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55CCB5-A9CD-6C55-DE05-F2B9B0821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020" y="148046"/>
            <a:ext cx="2232876" cy="196419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785" name="Google Shape;785;p4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86" name="Google Shape;786;p4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787" name="Google Shape;787;p4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Universal Shift Register</a:t>
            </a:r>
            <a:endParaRPr/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9BFC266D-D82F-0255-C417-2D43BA75D86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254" y="2849544"/>
            <a:ext cx="3566692" cy="2104924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70D1C8EE-4D9F-F4E7-E4FD-B70B825E477D}"/>
              </a:ext>
            </a:extLst>
          </p:cNvPr>
          <p:cNvSpPr txBox="1"/>
          <p:nvPr/>
        </p:nvSpPr>
        <p:spPr>
          <a:xfrm>
            <a:off x="1479232" y="2105171"/>
            <a:ext cx="51187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Tahoma"/>
              <a:buChar char="●"/>
              <a:tabLst>
                <a:tab pos="363855" algn="l"/>
                <a:tab pos="364490" algn="l"/>
              </a:tabLst>
            </a:pPr>
            <a:r>
              <a:rPr sz="1600" spc="75" dirty="0">
                <a:latin typeface="Microsoft Sans Serif"/>
                <a:cs typeface="Microsoft Sans Serif"/>
              </a:rPr>
              <a:t>try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to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draw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the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circuit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for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the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following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table</a:t>
            </a:r>
            <a:r>
              <a:rPr lang="en-US" sz="1600" spc="30" dirty="0">
                <a:latin typeface="Microsoft Sans Serif"/>
                <a:cs typeface="Microsoft Sans Serif"/>
              </a:rPr>
              <a:t>s</a:t>
            </a:r>
            <a:r>
              <a:rPr sz="1600" spc="30" dirty="0">
                <a:latin typeface="Microsoft Sans Serif"/>
                <a:cs typeface="Microsoft Sans Serif"/>
              </a:rPr>
              <a:t>:</a:t>
            </a:r>
            <a:endParaRPr sz="1600" dirty="0">
              <a:latin typeface="Microsoft Sans Serif"/>
              <a:cs typeface="Microsoft Sans Serif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CB2F79-1399-C0AF-41B3-DC1803CC0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937" y="2849544"/>
            <a:ext cx="4915326" cy="223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148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A PRELUDE</a:t>
            </a:r>
            <a:endParaRPr/>
          </a:p>
        </p:txBody>
      </p:sp>
      <p:sp>
        <p:nvSpPr>
          <p:cNvPr id="801" name="Google Shape;801;p4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Encoder, Decoder, Multiplexer, Adder</a:t>
            </a:r>
            <a:endParaRPr/>
          </a:p>
        </p:txBody>
      </p:sp>
      <p:sp>
        <p:nvSpPr>
          <p:cNvPr id="802" name="Google Shape;802;p4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803" name="Google Shape;803;p4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04" name="Google Shape;804;p4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Encoder</a:t>
            </a:r>
            <a:endParaRPr/>
          </a:p>
        </p:txBody>
      </p:sp>
      <p:sp>
        <p:nvSpPr>
          <p:cNvPr id="810" name="Google Shape;810;p4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811" name="Google Shape;811;p4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12" name="Google Shape;812;p4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813" name="Google Shape;813;p4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Encoder, Decoder, Multiplexer, Adder</a:t>
            </a:r>
            <a:endParaRPr/>
          </a:p>
        </p:txBody>
      </p:sp>
      <p:pic>
        <p:nvPicPr>
          <p:cNvPr id="814" name="Google Shape;814;p42" descr="What are Encoders and Decoders? - Goseeko b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8578" y="1659550"/>
            <a:ext cx="6125304" cy="4517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Decoder</a:t>
            </a:r>
            <a:endParaRPr/>
          </a:p>
        </p:txBody>
      </p:sp>
      <p:sp>
        <p:nvSpPr>
          <p:cNvPr id="820" name="Google Shape;820;p4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821" name="Google Shape;821;p4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22" name="Google Shape;822;p4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823" name="Google Shape;823;p4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Encoder, Decoder, Multiplexer, Adder</a:t>
            </a:r>
            <a:endParaRPr/>
          </a:p>
        </p:txBody>
      </p:sp>
      <p:pic>
        <p:nvPicPr>
          <p:cNvPr id="824" name="Google Shape;824;p43" descr="Decoder in Digital Electronics - Javatpoi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3225" y="1676508"/>
            <a:ext cx="6845352" cy="4500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Adder</a:t>
            </a:r>
            <a:endParaRPr/>
          </a:p>
        </p:txBody>
      </p:sp>
      <p:sp>
        <p:nvSpPr>
          <p:cNvPr id="830" name="Google Shape;830;p4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831" name="Google Shape;831;p4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32" name="Google Shape;832;p4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833" name="Google Shape;833;p4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Encoder, Decoder, Multiplexer, Adder</a:t>
            </a:r>
            <a:endParaRPr/>
          </a:p>
        </p:txBody>
      </p:sp>
      <p:pic>
        <p:nvPicPr>
          <p:cNvPr id="834" name="Google Shape;834;p44" descr="Full Adder - Javatpoi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9517" y="4136426"/>
            <a:ext cx="465772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44" descr="Half Adder - Javatpoin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8892" y="1827133"/>
            <a:ext cx="6138976" cy="2019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841" name="Google Shape;841;p4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842" name="Google Shape;842;p45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Friday, April 14, 2023</a:t>
            </a:r>
            <a:endParaRPr/>
          </a:p>
        </p:txBody>
      </p:sp>
      <p:sp>
        <p:nvSpPr>
          <p:cNvPr id="843" name="Google Shape;843;p45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44" name="Google Shape;844;p45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1997</Words>
  <Application>Microsoft Office PowerPoint</Application>
  <PresentationFormat>Widescreen</PresentationFormat>
  <Paragraphs>672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Calibri</vt:lpstr>
      <vt:lpstr>Microsoft Sans Serif</vt:lpstr>
      <vt:lpstr>Tahoma</vt:lpstr>
      <vt:lpstr>Arial</vt:lpstr>
      <vt:lpstr>Times New Roman</vt:lpstr>
      <vt:lpstr>Office Theme</vt:lpstr>
      <vt:lpstr>Registers</vt:lpstr>
      <vt:lpstr>Registers</vt:lpstr>
      <vt:lpstr>Register</vt:lpstr>
      <vt:lpstr>Buffer Register</vt:lpstr>
      <vt:lpstr>Buffer Register</vt:lpstr>
      <vt:lpstr>Shift Register</vt:lpstr>
      <vt:lpstr>Shift Left Register</vt:lpstr>
      <vt:lpstr>Shift Left Register</vt:lpstr>
      <vt:lpstr>Shift Right Register</vt:lpstr>
      <vt:lpstr>Shift Right Register</vt:lpstr>
      <vt:lpstr>Bi-directional Shift Register</vt:lpstr>
      <vt:lpstr>Serial and Parallel Loading</vt:lpstr>
      <vt:lpstr>Serial Input Serial Output (SISO)</vt:lpstr>
      <vt:lpstr>Serial Input Serial Output (SISO)</vt:lpstr>
      <vt:lpstr>Serial Input Serial Output (SISO)</vt:lpstr>
      <vt:lpstr>Serial Input Serial Output (SISO)</vt:lpstr>
      <vt:lpstr>Serial Input Serial Output (SISO)</vt:lpstr>
      <vt:lpstr>Serial Input Serial Output (SISO)</vt:lpstr>
      <vt:lpstr>Serial Input Serial Output (SISO)</vt:lpstr>
      <vt:lpstr>Serial Input Serial Output (SISO)</vt:lpstr>
      <vt:lpstr>Serial Input Serial Output (SISO)</vt:lpstr>
      <vt:lpstr>Serial Input Serial Output (SISO)</vt:lpstr>
      <vt:lpstr>Serial Input Serial Output (SISO)</vt:lpstr>
      <vt:lpstr>Serial Input Parallel Output</vt:lpstr>
      <vt:lpstr>Parallel Input Parallel Output</vt:lpstr>
      <vt:lpstr>Parallel Input Parallel Output</vt:lpstr>
      <vt:lpstr>Parallel Input Parallel Output</vt:lpstr>
      <vt:lpstr>Parallel Input Serial Output</vt:lpstr>
      <vt:lpstr>The Multiplexer Chip</vt:lpstr>
      <vt:lpstr>The Multiplexer Chip</vt:lpstr>
      <vt:lpstr>The Multiplexer Chip</vt:lpstr>
      <vt:lpstr>Parallel Input Serial Output</vt:lpstr>
      <vt:lpstr>Parallel Input Serial Output</vt:lpstr>
      <vt:lpstr>Parallel Input Serial Output</vt:lpstr>
      <vt:lpstr>Parallel Input Serial Output</vt:lpstr>
      <vt:lpstr>Parallel Input Serial Output</vt:lpstr>
      <vt:lpstr>Parallel Input Serial Output</vt:lpstr>
      <vt:lpstr>Bidirectional Shift Register Using MUX</vt:lpstr>
      <vt:lpstr>Bidirectional Shift Register</vt:lpstr>
      <vt:lpstr>Bidirectional Shift Register</vt:lpstr>
      <vt:lpstr>Bidirectional Shift Register</vt:lpstr>
      <vt:lpstr>Bidirectional Shift Register</vt:lpstr>
      <vt:lpstr>Bidirectional Shift Register</vt:lpstr>
      <vt:lpstr>Bidirectional Shift Register</vt:lpstr>
      <vt:lpstr>Bidirectional Shift Register</vt:lpstr>
      <vt:lpstr>Universal Shift Register</vt:lpstr>
      <vt:lpstr>Universal Shift Register</vt:lpstr>
      <vt:lpstr>Universal Shift Register</vt:lpstr>
      <vt:lpstr>Universal Shift Register</vt:lpstr>
      <vt:lpstr>Universal Shift Register</vt:lpstr>
      <vt:lpstr>Universal Shift Register</vt:lpstr>
      <vt:lpstr>Universal Shift Register</vt:lpstr>
      <vt:lpstr>A PRELUDE</vt:lpstr>
      <vt:lpstr>Encoder, Decoder, Multiplexer, Adder</vt:lpstr>
      <vt:lpstr>Encoder, Decoder, Multiplexer, Adder</vt:lpstr>
      <vt:lpstr>Encoder, Decoder, Multiplexer, Adder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social</cp:lastModifiedBy>
  <cp:revision>3</cp:revision>
  <dcterms:created xsi:type="dcterms:W3CDTF">2023-03-19T03:25:32Z</dcterms:created>
  <dcterms:modified xsi:type="dcterms:W3CDTF">2024-09-27T13:01:51Z</dcterms:modified>
</cp:coreProperties>
</file>