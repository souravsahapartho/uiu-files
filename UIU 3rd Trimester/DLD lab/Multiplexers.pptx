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269625"/>
            <a:ext cx="6559550" cy="601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95937" y="4602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1081624" y="1124949"/>
                </a:moveTo>
                <a:lnTo>
                  <a:pt x="1081624" y="0"/>
                </a:lnTo>
                <a:lnTo>
                  <a:pt x="0" y="0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66425" y="35583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0" y="0"/>
                </a:moveTo>
                <a:lnTo>
                  <a:pt x="0" y="1124949"/>
                </a:lnTo>
                <a:lnTo>
                  <a:pt x="1081624" y="1124949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CCA6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269625"/>
            <a:ext cx="6559550" cy="601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350" y="1027205"/>
            <a:ext cx="7626984" cy="1284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93234" y="4772514"/>
            <a:ext cx="19304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4012" y="756699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0" y="1124949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18349" y="32667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00400" y="2020030"/>
            <a:ext cx="3034552" cy="582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dirty="0"/>
              <a:t>Multiplexers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32087" y="2791105"/>
            <a:ext cx="2280285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05"/>
              </a:lnSpc>
              <a:spcBef>
                <a:spcPts val="100"/>
              </a:spcBef>
            </a:pPr>
            <a:r>
              <a:rPr sz="2100" dirty="0">
                <a:latin typeface="Microsoft Sans Serif"/>
                <a:cs typeface="Microsoft Sans Serif"/>
              </a:rPr>
              <a:t>Abu Humayed Azim Fahmid</a:t>
            </a:r>
          </a:p>
          <a:p>
            <a:pPr algn="ctr">
              <a:lnSpc>
                <a:spcPts val="1945"/>
              </a:lnSpc>
            </a:pPr>
            <a:r>
              <a:rPr sz="1800" dirty="0">
                <a:latin typeface="Microsoft Sans Serif"/>
                <a:cs typeface="Microsoft Sans Serif"/>
              </a:rPr>
              <a:t>Lecturer, CSE Dept., UIU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Multiplexers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2549" y="1087037"/>
            <a:ext cx="7593965" cy="120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marR="125730" indent="-367030">
              <a:lnSpc>
                <a:spcPct val="119400"/>
              </a:lnSpc>
              <a:spcBef>
                <a:spcPts val="100"/>
              </a:spcBef>
              <a:buSzPct val="112500"/>
              <a:buFont typeface="Microsoft Sans Serif"/>
              <a:buChar char="●"/>
              <a:tabLst>
                <a:tab pos="391795" algn="l"/>
              </a:tabLst>
            </a:pP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multiplexer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combinational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circuit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75" dirty="0">
                <a:latin typeface="Arial MT"/>
                <a:cs typeface="Arial MT"/>
              </a:rPr>
              <a:t>that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selects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75" dirty="0">
                <a:latin typeface="Arial MT"/>
                <a:cs typeface="Arial MT"/>
              </a:rPr>
              <a:t>of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many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85" dirty="0">
                <a:latin typeface="Arial MT"/>
                <a:cs typeface="Arial MT"/>
              </a:rPr>
              <a:t>input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lines </a:t>
            </a:r>
            <a:r>
              <a:rPr sz="1600" dirty="0">
                <a:latin typeface="Arial MT"/>
                <a:cs typeface="Arial MT"/>
              </a:rPr>
              <a:t>(2</a:t>
            </a:r>
            <a:r>
              <a:rPr sz="1500" baseline="30555" dirty="0">
                <a:latin typeface="Arial MT"/>
                <a:cs typeface="Arial MT"/>
              </a:rPr>
              <a:t>n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55" dirty="0">
                <a:latin typeface="Arial MT"/>
                <a:cs typeface="Arial MT"/>
              </a:rPr>
              <a:t>and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directs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80" dirty="0">
                <a:latin typeface="Arial MT"/>
                <a:cs typeface="Arial MT"/>
              </a:rPr>
              <a:t>it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90" dirty="0">
                <a:latin typeface="Arial MT"/>
                <a:cs typeface="Arial MT"/>
              </a:rPr>
              <a:t>to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single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90" dirty="0">
                <a:latin typeface="Arial MT"/>
                <a:cs typeface="Arial MT"/>
              </a:rPr>
              <a:t>output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line.</a:t>
            </a:r>
            <a:endParaRPr sz="1600">
              <a:latin typeface="Arial MT"/>
              <a:cs typeface="Arial MT"/>
            </a:endParaRPr>
          </a:p>
          <a:p>
            <a:pPr marL="391795" marR="17780" indent="-367030">
              <a:lnSpc>
                <a:spcPct val="119400"/>
              </a:lnSpc>
              <a:spcBef>
                <a:spcPts val="105"/>
              </a:spcBef>
              <a:buSzPct val="112500"/>
              <a:buFont typeface="Microsoft Sans Serif"/>
              <a:buChar char="●"/>
              <a:tabLst>
                <a:tab pos="391795" algn="l"/>
              </a:tabLst>
            </a:pPr>
            <a:r>
              <a:rPr sz="1600" dirty="0">
                <a:latin typeface="Arial MT"/>
                <a:cs typeface="Arial MT"/>
              </a:rPr>
              <a:t>There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85" dirty="0">
                <a:latin typeface="Arial MT"/>
                <a:cs typeface="Arial MT"/>
              </a:rPr>
              <a:t>n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selection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lines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whose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80" dirty="0">
                <a:latin typeface="Arial MT"/>
                <a:cs typeface="Arial MT"/>
              </a:rPr>
              <a:t>bit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50" dirty="0">
                <a:latin typeface="Arial MT"/>
                <a:cs typeface="Arial MT"/>
              </a:rPr>
              <a:t>combinations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65" dirty="0">
                <a:latin typeface="Arial MT"/>
                <a:cs typeface="Arial MT"/>
              </a:rPr>
              <a:t>determine</a:t>
            </a:r>
            <a:r>
              <a:rPr sz="1600" spc="50" dirty="0">
                <a:latin typeface="Arial MT"/>
                <a:cs typeface="Arial MT"/>
              </a:rPr>
              <a:t> which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85" dirty="0">
                <a:latin typeface="Arial MT"/>
                <a:cs typeface="Arial MT"/>
              </a:rPr>
              <a:t>input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is </a:t>
            </a:r>
            <a:r>
              <a:rPr sz="1600" spc="-10" dirty="0">
                <a:latin typeface="Arial MT"/>
                <a:cs typeface="Arial MT"/>
              </a:rPr>
              <a:t>selected.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2:1 MUX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198" y="1538439"/>
            <a:ext cx="6925975" cy="20666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4:1 MUX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288" y="1378383"/>
            <a:ext cx="3409033" cy="2977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6566" y="1466480"/>
            <a:ext cx="1848795" cy="20229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0040" y="1591086"/>
            <a:ext cx="2250643" cy="17125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8:1 MUX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100" y="1221662"/>
            <a:ext cx="1494740" cy="24962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7365" y="1370900"/>
            <a:ext cx="1677737" cy="21217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786" y="1181400"/>
            <a:ext cx="3973394" cy="34165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Multiplexer Expansion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536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8:1 MUX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95" dirty="0">
                <a:latin typeface="Arial MT"/>
                <a:cs typeface="Arial MT"/>
              </a:rPr>
              <a:t>two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4:1 MUX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and</a:t>
            </a:r>
            <a:r>
              <a:rPr sz="1800" dirty="0">
                <a:latin typeface="Arial MT"/>
                <a:cs typeface="Arial MT"/>
              </a:rPr>
              <a:t> 1 2:1 </a:t>
            </a:r>
            <a:r>
              <a:rPr sz="1800" spc="-25" dirty="0">
                <a:latin typeface="Arial MT"/>
                <a:cs typeface="Arial MT"/>
              </a:rPr>
              <a:t>MUX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393" y="1425025"/>
            <a:ext cx="4969818" cy="33460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4724" y="269625"/>
            <a:ext cx="81496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3030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60" dirty="0">
                <a:latin typeface="Arial MT"/>
                <a:cs typeface="Arial MT"/>
              </a:rPr>
              <a:t> F(x,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y)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∑m(0,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3)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376" y="1628776"/>
            <a:ext cx="6332123" cy="280547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4724" y="269625"/>
            <a:ext cx="85306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35039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F(x,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z)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∑m(1,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7)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237" y="1425025"/>
            <a:ext cx="5764670" cy="326810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3020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7370445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F(x,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z)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∑m(1,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7)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800">
              <a:latin typeface="Arial MT"/>
              <a:cs typeface="Arial MT"/>
            </a:endParaRPr>
          </a:p>
          <a:p>
            <a:pPr marL="467995">
              <a:lnSpc>
                <a:spcPct val="100000"/>
              </a:lnSpc>
            </a:pPr>
            <a:r>
              <a:rPr sz="2500" spc="-114" dirty="0">
                <a:latin typeface="Arial Black"/>
                <a:cs typeface="Arial Black"/>
              </a:rPr>
              <a:t>But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what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55" dirty="0">
                <a:latin typeface="Arial Black"/>
                <a:cs typeface="Arial Black"/>
              </a:rPr>
              <a:t>if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85" dirty="0">
                <a:latin typeface="Arial Black"/>
                <a:cs typeface="Arial Black"/>
              </a:rPr>
              <a:t>you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are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asked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to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use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a </a:t>
            </a:r>
            <a:r>
              <a:rPr sz="2500" spc="-215" dirty="0">
                <a:latin typeface="Arial Black"/>
                <a:cs typeface="Arial Black"/>
              </a:rPr>
              <a:t>4:1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0" dirty="0">
                <a:latin typeface="Arial Black"/>
                <a:cs typeface="Arial Black"/>
              </a:rPr>
              <a:t>MUX?</a:t>
            </a:r>
            <a:endParaRPr sz="25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7075" y="2571750"/>
            <a:ext cx="3164609" cy="24244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4724" y="269625"/>
            <a:ext cx="822192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35039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F(x,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z)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∑m(1,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2,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7)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1712" y="1558768"/>
            <a:ext cx="3450057" cy="30955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0480" y="1425025"/>
            <a:ext cx="2819459" cy="30208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22192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565658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Now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solve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55" dirty="0">
                <a:latin typeface="Arial MT"/>
                <a:cs typeface="Arial MT"/>
              </a:rPr>
              <a:t>this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8:1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MUX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</a:pPr>
            <a:r>
              <a:rPr sz="1800" spc="-90" dirty="0">
                <a:latin typeface="Arial MT"/>
                <a:cs typeface="Arial MT"/>
              </a:rPr>
              <a:t>F(A,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D)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∑(1, </a:t>
            </a:r>
            <a:r>
              <a:rPr sz="1800" dirty="0">
                <a:latin typeface="Arial MT"/>
                <a:cs typeface="Arial MT"/>
              </a:rPr>
              <a:t>3,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11,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12,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13,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14,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15)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84724" y="269625"/>
            <a:ext cx="860154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531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F(A,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D)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∑(1,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11,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12,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13,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14,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15)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979" y="1541754"/>
            <a:ext cx="2939700" cy="33710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7825" y="1499150"/>
            <a:ext cx="2279115" cy="336369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408509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70" dirty="0"/>
              <a:t> </a:t>
            </a:r>
            <a:r>
              <a:rPr spc="-90" dirty="0"/>
              <a:t>F(A,</a:t>
            </a:r>
            <a:r>
              <a:rPr spc="-40" dirty="0"/>
              <a:t> </a:t>
            </a:r>
            <a:r>
              <a:rPr spc="-10" dirty="0"/>
              <a:t>B,</a:t>
            </a:r>
            <a:r>
              <a:rPr spc="-50" dirty="0"/>
              <a:t> </a:t>
            </a:r>
            <a:r>
              <a:rPr spc="-120" dirty="0"/>
              <a:t>C,</a:t>
            </a:r>
            <a:r>
              <a:rPr spc="-40" dirty="0"/>
              <a:t> </a:t>
            </a:r>
            <a:r>
              <a:rPr dirty="0"/>
              <a:t>D)</a:t>
            </a:r>
            <a:r>
              <a:rPr spc="-50" dirty="0"/>
              <a:t> </a:t>
            </a:r>
            <a:r>
              <a:rPr dirty="0"/>
              <a:t>=</a:t>
            </a:r>
            <a:r>
              <a:rPr spc="-55" dirty="0"/>
              <a:t> </a:t>
            </a:r>
            <a:r>
              <a:rPr spc="-60" dirty="0"/>
              <a:t>∑(1,</a:t>
            </a:r>
            <a:r>
              <a:rPr spc="-50" dirty="0"/>
              <a:t> </a:t>
            </a:r>
            <a:r>
              <a:rPr dirty="0"/>
              <a:t>3,</a:t>
            </a:r>
            <a:r>
              <a:rPr spc="-50" dirty="0"/>
              <a:t> </a:t>
            </a:r>
            <a:r>
              <a:rPr dirty="0"/>
              <a:t>4,</a:t>
            </a:r>
            <a:r>
              <a:rPr spc="-50" dirty="0"/>
              <a:t> </a:t>
            </a:r>
            <a:r>
              <a:rPr dirty="0"/>
              <a:t>11,</a:t>
            </a:r>
            <a:r>
              <a:rPr spc="-50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dirty="0"/>
              <a:t>13,</a:t>
            </a:r>
            <a:r>
              <a:rPr spc="-50" dirty="0"/>
              <a:t> </a:t>
            </a:r>
            <a:r>
              <a:rPr dirty="0"/>
              <a:t>14,</a:t>
            </a:r>
            <a:r>
              <a:rPr spc="-50" dirty="0"/>
              <a:t> </a:t>
            </a:r>
            <a:r>
              <a:rPr spc="-25" dirty="0"/>
              <a:t>15)</a:t>
            </a:r>
          </a:p>
          <a:p>
            <a:pPr>
              <a:lnSpc>
                <a:spcPct val="100000"/>
              </a:lnSpc>
            </a:pPr>
            <a:endParaRPr spc="-25" dirty="0"/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pc="-25" dirty="0"/>
          </a:p>
          <a:p>
            <a:pPr marL="467995">
              <a:lnSpc>
                <a:spcPct val="100000"/>
              </a:lnSpc>
            </a:pPr>
            <a:r>
              <a:rPr sz="2500" spc="-145" dirty="0">
                <a:latin typeface="Arial Black"/>
                <a:cs typeface="Arial Black"/>
              </a:rPr>
              <a:t>Now,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what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55" dirty="0">
                <a:latin typeface="Arial Black"/>
                <a:cs typeface="Arial Black"/>
              </a:rPr>
              <a:t>if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85" dirty="0">
                <a:latin typeface="Arial Black"/>
                <a:cs typeface="Arial Black"/>
              </a:rPr>
              <a:t>you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are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asked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to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use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a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4:1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MUX?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5175" y="2632325"/>
            <a:ext cx="2695002" cy="2424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9972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Function Implementation Using Multiplexers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70" dirty="0"/>
              <a:t> </a:t>
            </a:r>
            <a:r>
              <a:rPr spc="-90" dirty="0"/>
              <a:t>F(A,</a:t>
            </a:r>
            <a:r>
              <a:rPr spc="-40" dirty="0"/>
              <a:t> </a:t>
            </a:r>
            <a:r>
              <a:rPr spc="-10" dirty="0"/>
              <a:t>B,</a:t>
            </a:r>
            <a:r>
              <a:rPr spc="-50" dirty="0"/>
              <a:t> </a:t>
            </a:r>
            <a:r>
              <a:rPr spc="-120" dirty="0"/>
              <a:t>C,</a:t>
            </a:r>
            <a:r>
              <a:rPr spc="-40" dirty="0"/>
              <a:t> </a:t>
            </a:r>
            <a:r>
              <a:rPr dirty="0"/>
              <a:t>D)</a:t>
            </a:r>
            <a:r>
              <a:rPr spc="-50" dirty="0"/>
              <a:t> </a:t>
            </a:r>
            <a:r>
              <a:rPr dirty="0"/>
              <a:t>=</a:t>
            </a:r>
            <a:r>
              <a:rPr spc="-55" dirty="0"/>
              <a:t> </a:t>
            </a:r>
            <a:r>
              <a:rPr spc="-60" dirty="0"/>
              <a:t>∑(1,</a:t>
            </a:r>
            <a:r>
              <a:rPr spc="-50" dirty="0"/>
              <a:t> </a:t>
            </a:r>
            <a:r>
              <a:rPr dirty="0"/>
              <a:t>3,</a:t>
            </a:r>
            <a:r>
              <a:rPr spc="-50" dirty="0"/>
              <a:t> </a:t>
            </a:r>
            <a:r>
              <a:rPr dirty="0"/>
              <a:t>4,</a:t>
            </a:r>
            <a:r>
              <a:rPr spc="-50" dirty="0"/>
              <a:t> </a:t>
            </a:r>
            <a:r>
              <a:rPr dirty="0"/>
              <a:t>11,</a:t>
            </a:r>
            <a:r>
              <a:rPr spc="-50" dirty="0"/>
              <a:t> </a:t>
            </a:r>
            <a:r>
              <a:rPr dirty="0"/>
              <a:t>12,</a:t>
            </a:r>
            <a:r>
              <a:rPr spc="-50" dirty="0"/>
              <a:t> </a:t>
            </a:r>
            <a:r>
              <a:rPr dirty="0"/>
              <a:t>13,</a:t>
            </a:r>
            <a:r>
              <a:rPr spc="-50" dirty="0"/>
              <a:t> </a:t>
            </a:r>
            <a:r>
              <a:rPr dirty="0"/>
              <a:t>14,</a:t>
            </a:r>
            <a:r>
              <a:rPr spc="-50" dirty="0"/>
              <a:t> </a:t>
            </a:r>
            <a:r>
              <a:rPr spc="-25" dirty="0"/>
              <a:t>15)</a:t>
            </a:r>
          </a:p>
          <a:p>
            <a:pPr>
              <a:lnSpc>
                <a:spcPct val="100000"/>
              </a:lnSpc>
            </a:pPr>
            <a:endParaRPr spc="-25" dirty="0"/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pc="-25" dirty="0"/>
          </a:p>
          <a:p>
            <a:pPr marL="467995">
              <a:lnSpc>
                <a:spcPct val="100000"/>
              </a:lnSpc>
            </a:pPr>
            <a:r>
              <a:rPr sz="2500" spc="-145" dirty="0">
                <a:latin typeface="Arial Black"/>
                <a:cs typeface="Arial Black"/>
              </a:rPr>
              <a:t>Now,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what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55" dirty="0">
                <a:latin typeface="Arial Black"/>
                <a:cs typeface="Arial Black"/>
              </a:rPr>
              <a:t>if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85" dirty="0">
                <a:latin typeface="Arial Black"/>
                <a:cs typeface="Arial Black"/>
              </a:rPr>
              <a:t>you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25" dirty="0">
                <a:latin typeface="Arial Black"/>
                <a:cs typeface="Arial Black"/>
              </a:rPr>
              <a:t>are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70" dirty="0">
                <a:latin typeface="Arial Black"/>
                <a:cs typeface="Arial Black"/>
              </a:rPr>
              <a:t>asked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95" dirty="0">
                <a:latin typeface="Arial Black"/>
                <a:cs typeface="Arial Black"/>
              </a:rPr>
              <a:t>to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90" dirty="0">
                <a:latin typeface="Arial Black"/>
                <a:cs typeface="Arial Black"/>
              </a:rPr>
              <a:t>use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175" dirty="0">
                <a:latin typeface="Arial Black"/>
                <a:cs typeface="Arial Black"/>
              </a:rPr>
              <a:t>a</a:t>
            </a:r>
            <a:r>
              <a:rPr sz="2500" spc="-180" dirty="0">
                <a:latin typeface="Arial Black"/>
                <a:cs typeface="Arial Black"/>
              </a:rPr>
              <a:t> </a:t>
            </a:r>
            <a:r>
              <a:rPr sz="2500" spc="-215" dirty="0">
                <a:latin typeface="Arial Black"/>
                <a:cs typeface="Arial Black"/>
              </a:rPr>
              <a:t>4:1</a:t>
            </a:r>
            <a:r>
              <a:rPr sz="2500" spc="-175" dirty="0">
                <a:latin typeface="Arial Black"/>
                <a:cs typeface="Arial Black"/>
              </a:rPr>
              <a:t> </a:t>
            </a:r>
            <a:r>
              <a:rPr sz="2500" spc="-114" dirty="0">
                <a:latin typeface="Arial Black"/>
                <a:cs typeface="Arial Black"/>
              </a:rPr>
              <a:t>MUX?</a:t>
            </a:r>
            <a:endParaRPr sz="25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55" dirty="0"/>
              <a:t>Function</a:t>
            </a:r>
            <a:r>
              <a:rPr spc="-280" dirty="0"/>
              <a:t> </a:t>
            </a:r>
            <a:r>
              <a:rPr spc="-545" dirty="0"/>
              <a:t>Implementation</a:t>
            </a:r>
            <a:r>
              <a:rPr spc="-265" dirty="0"/>
              <a:t> </a:t>
            </a:r>
            <a:r>
              <a:rPr spc="-595" dirty="0"/>
              <a:t>Using</a:t>
            </a:r>
            <a:r>
              <a:rPr spc="-270" dirty="0"/>
              <a:t> </a:t>
            </a:r>
            <a:r>
              <a:rPr spc="-505" dirty="0"/>
              <a:t>Multiplexers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350" y="1027205"/>
            <a:ext cx="531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Example: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F(A,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20" dirty="0">
                <a:latin typeface="Arial MT"/>
                <a:cs typeface="Arial MT"/>
              </a:rPr>
              <a:t>C,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D)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60" dirty="0">
                <a:latin typeface="Arial MT"/>
                <a:cs typeface="Arial MT"/>
              </a:rPr>
              <a:t>∑(1,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11,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12,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13,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14,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15)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5909" y="1549309"/>
            <a:ext cx="2837180" cy="3225165"/>
            <a:chOff x="975909" y="1549309"/>
            <a:chExt cx="2837180" cy="32251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5909" y="1549309"/>
              <a:ext cx="2836647" cy="32245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0500" y="1939475"/>
              <a:ext cx="356700" cy="2520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5575" y="2796375"/>
              <a:ext cx="326549" cy="2327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0646" y="3529897"/>
              <a:ext cx="326549" cy="2165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50650" y="4268550"/>
              <a:ext cx="326549" cy="24228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34209" y="1577425"/>
            <a:ext cx="4720926" cy="28474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9688" y="1264800"/>
            <a:ext cx="2984625" cy="24947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42061" y="3878255"/>
            <a:ext cx="44596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Arial"/>
                <a:cs typeface="Arial"/>
              </a:rPr>
              <a:t>Now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let's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solve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some</a:t>
            </a:r>
            <a:r>
              <a:rPr sz="2300" b="1" spc="-20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problems!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55955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1537" y="1303424"/>
            <a:ext cx="7162799" cy="6286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66775" y="1155787"/>
            <a:ext cx="7410450" cy="876300"/>
          </a:xfrm>
          <a:custGeom>
            <a:avLst/>
            <a:gdLst/>
            <a:ahLst/>
            <a:cxnLst/>
            <a:rect l="l" t="t" r="r" b="b"/>
            <a:pathLst>
              <a:path w="7410450" h="876300">
                <a:moveTo>
                  <a:pt x="0" y="0"/>
                </a:moveTo>
                <a:lnTo>
                  <a:pt x="7410449" y="0"/>
                </a:lnTo>
                <a:lnTo>
                  <a:pt x="7410449" y="876299"/>
                </a:lnTo>
                <a:lnTo>
                  <a:pt x="0" y="8762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55955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4052" y="98706"/>
            <a:ext cx="4843274" cy="48912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More 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500" y="963325"/>
            <a:ext cx="6857999" cy="1228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47737" y="958562"/>
            <a:ext cx="7048500" cy="1323975"/>
          </a:xfrm>
          <a:custGeom>
            <a:avLst/>
            <a:gdLst/>
            <a:ahLst/>
            <a:cxnLst/>
            <a:rect l="l" t="t" r="r" b="b"/>
            <a:pathLst>
              <a:path w="7048500" h="1323975">
                <a:moveTo>
                  <a:pt x="0" y="0"/>
                </a:moveTo>
                <a:lnTo>
                  <a:pt x="7048499" y="0"/>
                </a:lnTo>
                <a:lnTo>
                  <a:pt x="7048499" y="1323974"/>
                </a:lnTo>
                <a:lnTo>
                  <a:pt x="0" y="13239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723900" y="2622350"/>
            <a:ext cx="7696200" cy="1866900"/>
            <a:chOff x="723900" y="2622350"/>
            <a:chExt cx="7696200" cy="18669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" y="2631875"/>
              <a:ext cx="7629524" cy="18383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8662" y="2627112"/>
              <a:ext cx="7686675" cy="1857375"/>
            </a:xfrm>
            <a:custGeom>
              <a:avLst/>
              <a:gdLst/>
              <a:ahLst/>
              <a:cxnLst/>
              <a:rect l="l" t="t" r="r" b="b"/>
              <a:pathLst>
                <a:path w="7686675" h="1857375">
                  <a:moveTo>
                    <a:pt x="0" y="0"/>
                  </a:moveTo>
                  <a:lnTo>
                    <a:pt x="7686674" y="0"/>
                  </a:lnTo>
                  <a:lnTo>
                    <a:pt x="7686674" y="1857374"/>
                  </a:lnTo>
                  <a:lnTo>
                    <a:pt x="0" y="18573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More Problems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0550" y="953800"/>
            <a:ext cx="7962900" cy="2028825"/>
            <a:chOff x="590550" y="953800"/>
            <a:chExt cx="7962900" cy="2028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5" y="963325"/>
              <a:ext cx="7924799" cy="19907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5312" y="958562"/>
              <a:ext cx="7953375" cy="2019300"/>
            </a:xfrm>
            <a:custGeom>
              <a:avLst/>
              <a:gdLst/>
              <a:ahLst/>
              <a:cxnLst/>
              <a:rect l="l" t="t" r="r" b="b"/>
              <a:pathLst>
                <a:path w="7953375" h="2019300">
                  <a:moveTo>
                    <a:pt x="0" y="0"/>
                  </a:moveTo>
                  <a:lnTo>
                    <a:pt x="7953374" y="0"/>
                  </a:lnTo>
                  <a:lnTo>
                    <a:pt x="7953374" y="2019299"/>
                  </a:lnTo>
                  <a:lnTo>
                    <a:pt x="0" y="201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90550" y="3144999"/>
            <a:ext cx="7962900" cy="1307465"/>
            <a:chOff x="590550" y="3144999"/>
            <a:chExt cx="7962900" cy="130746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075" y="3154524"/>
              <a:ext cx="7923243" cy="128791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5312" y="3149762"/>
              <a:ext cx="7953375" cy="1297940"/>
            </a:xfrm>
            <a:custGeom>
              <a:avLst/>
              <a:gdLst/>
              <a:ahLst/>
              <a:cxnLst/>
              <a:rect l="l" t="t" r="r" b="b"/>
              <a:pathLst>
                <a:path w="7953375" h="1297939">
                  <a:moveTo>
                    <a:pt x="0" y="0"/>
                  </a:moveTo>
                  <a:lnTo>
                    <a:pt x="7953374" y="0"/>
                  </a:lnTo>
                  <a:lnTo>
                    <a:pt x="7953374" y="1297443"/>
                  </a:lnTo>
                  <a:lnTo>
                    <a:pt x="0" y="12974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5500" y="3182244"/>
            <a:ext cx="467360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Microsoft Sans Serif"/>
                <a:cs typeface="Microsoft Sans Serif"/>
              </a:rPr>
              <a:t>Practice more!!</a:t>
            </a: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2400" dirty="0">
                <a:latin typeface="Microsoft Sans Serif"/>
                <a:cs typeface="Microsoft Sans Serif"/>
              </a:rPr>
              <a:t>Check book exercises and previous ﬁnal questions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3537" y="777050"/>
            <a:ext cx="3156917" cy="23954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237" y="974375"/>
            <a:ext cx="4689526" cy="3194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429</Words>
  <Application>Microsoft Office PowerPoint</Application>
  <PresentationFormat>On-screen Show (16:9)</PresentationFormat>
  <Paragraphs>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Arial MT</vt:lpstr>
      <vt:lpstr>Microsoft Sans Serif</vt:lpstr>
      <vt:lpstr>Office Theme</vt:lpstr>
      <vt:lpstr>Multiplexers</vt:lpstr>
      <vt:lpstr>Multiplexers</vt:lpstr>
      <vt:lpstr>2:1 MUX</vt:lpstr>
      <vt:lpstr>4:1 MUX</vt:lpstr>
      <vt:lpstr>8:1 MUX</vt:lpstr>
      <vt:lpstr>Multiplexer Expansion</vt:lpstr>
      <vt:lpstr>Function Implementation Using Multiplexers</vt:lpstr>
      <vt:lpstr>Function Implementation Using Multiplexers</vt:lpstr>
      <vt:lpstr>Function Implementation Using Multiplexers</vt:lpstr>
      <vt:lpstr>Function Implementation Using Multiplexers</vt:lpstr>
      <vt:lpstr>Function Implementation Using Multiplexers</vt:lpstr>
      <vt:lpstr>Function Implementation Using Multiplexers</vt:lpstr>
      <vt:lpstr>Function Implementation Using Multiplexers</vt:lpstr>
      <vt:lpstr>Function Implementation Using Multiplexers</vt:lpstr>
      <vt:lpstr>Function Implementation Using Multiplexers</vt:lpstr>
      <vt:lpstr>PowerPoint Presentation</vt:lpstr>
      <vt:lpstr>Problem</vt:lpstr>
      <vt:lpstr>Solution</vt:lpstr>
      <vt:lpstr>More Problems</vt:lpstr>
      <vt:lpstr>More Problems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Multiplexers</dc:title>
  <dc:creator>humaira neha</dc:creator>
  <cp:lastModifiedBy>social</cp:lastModifiedBy>
  <cp:revision>2</cp:revision>
  <dcterms:created xsi:type="dcterms:W3CDTF">2024-09-30T15:39:44Z</dcterms:created>
  <dcterms:modified xsi:type="dcterms:W3CDTF">2024-10-04T07:13:24Z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