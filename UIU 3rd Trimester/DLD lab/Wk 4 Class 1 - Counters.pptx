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6858000" cx="12192000"/>
  <p:notesSz cx="6858000" cy="9144000"/>
  <p:embeddedFontLst>
    <p:embeddedFont>
      <p:font typeface="Tahoma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j3tl7U/TAnYY2K6m3FSIYH9ugJ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Tahoma-bold.fntdata"/><Relationship Id="rId50" Type="http://schemas.openxmlformats.org/officeDocument/2006/relationships/font" Target="fonts/Tahoma-regular.fntdata"/><Relationship Id="rId52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2cb39ab2d_0_0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32" name="Google Shape;132;g302cb39ab2d_0_0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2cb39ab2d_0_52:notes"/>
          <p:cNvSpPr txBox="1"/>
          <p:nvPr>
            <p:ph idx="12" type="sldNum"/>
          </p:nvPr>
        </p:nvSpPr>
        <p:spPr>
          <a:xfrm>
            <a:off x="3885903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8050" lIns="96075" spcFirstLastPara="1" rIns="96075" wrap="square" tIns="480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g302cb39ab2d_0_52:notes"/>
          <p:cNvSpPr/>
          <p:nvPr>
            <p:ph idx="2" type="sldImg"/>
          </p:nvPr>
        </p:nvSpPr>
        <p:spPr>
          <a:xfrm>
            <a:off x="430629" y="686405"/>
            <a:ext cx="59967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9" name="Google Shape;139;g302cb39ab2d_0_52:notes"/>
          <p:cNvSpPr txBox="1"/>
          <p:nvPr>
            <p:ph idx="1" type="body"/>
          </p:nvPr>
        </p:nvSpPr>
        <p:spPr>
          <a:xfrm>
            <a:off x="913805" y="4342190"/>
            <a:ext cx="5030400" cy="411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850" lIns="89675" spcFirstLastPara="1" rIns="89675" wrap="square" tIns="44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02cb39ab2d_0_102:notes"/>
          <p:cNvSpPr txBox="1"/>
          <p:nvPr>
            <p:ph idx="12" type="sldNum"/>
          </p:nvPr>
        </p:nvSpPr>
        <p:spPr>
          <a:xfrm>
            <a:off x="3885903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8050" lIns="96075" spcFirstLastPara="1" rIns="96075" wrap="square" tIns="480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9" name="Google Shape;509;g302cb39ab2d_0_102:notes"/>
          <p:cNvSpPr/>
          <p:nvPr>
            <p:ph idx="2" type="sldImg"/>
          </p:nvPr>
        </p:nvSpPr>
        <p:spPr>
          <a:xfrm>
            <a:off x="430629" y="686405"/>
            <a:ext cx="59967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10" name="Google Shape;510;g302cb39ab2d_0_102:notes"/>
          <p:cNvSpPr txBox="1"/>
          <p:nvPr>
            <p:ph idx="1" type="body"/>
          </p:nvPr>
        </p:nvSpPr>
        <p:spPr>
          <a:xfrm>
            <a:off x="913805" y="4342190"/>
            <a:ext cx="5030400" cy="411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850" lIns="89675" spcFirstLastPara="1" rIns="89675" wrap="square" tIns="44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02cb39ab2d_0_201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565" name="Google Shape;565;g302cb39ab2d_0_201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02cb39ab2d_0_252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573" name="Google Shape;573;g302cb39ab2d_0_252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02cb39ab2d_0_304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582" name="Google Shape;582;g302cb39ab2d_0_304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02cb39ab2d_0_405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609" name="Google Shape;609;g302cb39ab2d_0_405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02cb39ab2d_0_456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617" name="Google Shape;617;g302cb39ab2d_0_456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02cb39ab2d_0_512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624" name="Google Shape;624;g302cb39ab2d_0_512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02cb39ab2d_0_519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630" name="Google Shape;630;g302cb39ab2d_0_519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02cb39ab2d_0_525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635" name="Google Shape;635;g302cb39ab2d_0_525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02cb39ab2d_0_531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050" lIns="96075" spcFirstLastPara="1" rIns="96075" wrap="square" tIns="48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641" name="Google Shape;641;g302cb39ab2d_0_531:notes"/>
          <p:cNvSpPr/>
          <p:nvPr>
            <p:ph idx="2" type="sldImg"/>
          </p:nvPr>
        </p:nvSpPr>
        <p:spPr>
          <a:xfrm>
            <a:off x="42862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2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2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2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4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4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4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4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4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4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4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4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4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4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5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45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4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4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4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4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4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4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4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4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4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4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0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5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2cb39ab2d_0_49"/>
          <p:cNvSpPr txBox="1"/>
          <p:nvPr>
            <p:ph type="title"/>
          </p:nvPr>
        </p:nvSpPr>
        <p:spPr>
          <a:xfrm>
            <a:off x="954617" y="0"/>
            <a:ext cx="103632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02cb39ab2d_0_49"/>
          <p:cNvSpPr txBox="1"/>
          <p:nvPr>
            <p:ph idx="1" type="body"/>
          </p:nvPr>
        </p:nvSpPr>
        <p:spPr>
          <a:xfrm>
            <a:off x="958851" y="1314450"/>
            <a:ext cx="103632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Relationship Id="rId4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Relationship Id="rId4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Relationship Id="rId4" Type="http://schemas.openxmlformats.org/officeDocument/2006/relationships/image" Target="../media/image1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Relationship Id="rId4" Type="http://schemas.openxmlformats.org/officeDocument/2006/relationships/image" Target="../media/image1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jpg"/><Relationship Id="rId4" Type="http://schemas.openxmlformats.org/officeDocument/2006/relationships/image" Target="../media/image1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jpg"/><Relationship Id="rId4" Type="http://schemas.openxmlformats.org/officeDocument/2006/relationships/image" Target="../media/image1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Counters</a:t>
            </a:r>
            <a:endParaRPr/>
          </a:p>
        </p:txBody>
      </p:sp>
      <p:sp>
        <p:nvSpPr>
          <p:cNvPr id="107" name="Google Shape;107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Part 1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109" name="Google Shape;109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0" name="Google Shape;110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What is a counter?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Asynchronous Counter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Up Counter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Down Counter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Synchronous Counter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Arbitrary Counter</a:t>
            </a:r>
            <a:endParaRPr/>
          </a:p>
        </p:txBody>
      </p:sp>
      <p:sp>
        <p:nvSpPr>
          <p:cNvPr id="116" name="Google Shape;116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117" name="Google Shape;117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8" name="Google Shape;118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126" name="Google Shape;126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7" name="Google Shape;127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What is a counter?</a:t>
            </a:r>
            <a:endParaRPr/>
          </a:p>
        </p:txBody>
      </p:sp>
      <p:pic>
        <p:nvPicPr>
          <p:cNvPr descr="KTRIO Metal Handheld Tally Counter 4-Digit Number | Ubuy Bangladesh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600" y="1992923"/>
            <a:ext cx="3824527" cy="3894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2cb39ab2d_0_0"/>
          <p:cNvSpPr txBox="1"/>
          <p:nvPr>
            <p:ph type="title"/>
          </p:nvPr>
        </p:nvSpPr>
        <p:spPr>
          <a:xfrm>
            <a:off x="954617" y="0"/>
            <a:ext cx="103632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Counters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g302cb39ab2d_0_0"/>
          <p:cNvSpPr txBox="1"/>
          <p:nvPr>
            <p:ph idx="1" type="body"/>
          </p:nvPr>
        </p:nvSpPr>
        <p:spPr>
          <a:xfrm>
            <a:off x="958851" y="1205266"/>
            <a:ext cx="103632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288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 u="sng"/>
              <a:t>Counters</a:t>
            </a:r>
            <a:r>
              <a:rPr lang="en-US" sz="2400"/>
              <a:t> are sequential circuits which "count" through a specific state sequence.  They can </a:t>
            </a:r>
            <a:r>
              <a:rPr lang="en-US" sz="2400" u="sng"/>
              <a:t>count up</a:t>
            </a:r>
            <a:r>
              <a:rPr lang="en-US" sz="2400"/>
              <a:t>, </a:t>
            </a:r>
            <a:r>
              <a:rPr lang="en-US" sz="2400" u="sng"/>
              <a:t>count down</a:t>
            </a:r>
            <a:r>
              <a:rPr lang="en-US" sz="2400"/>
              <a:t>, or </a:t>
            </a:r>
            <a:r>
              <a:rPr lang="en-US" sz="2400" u="sng"/>
              <a:t>count through other fixed sequences</a:t>
            </a:r>
            <a:r>
              <a:rPr lang="en-US" sz="2400"/>
              <a:t>.  Two distinct types are in common usage:</a:t>
            </a:r>
            <a:endParaRPr/>
          </a:p>
          <a:p>
            <a:pPr indent="-288925" lvl="0" marL="2889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Ripple Counters</a:t>
            </a:r>
            <a:endParaRPr/>
          </a:p>
          <a:p>
            <a:pPr indent="-234950" lvl="1" marL="6921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/>
              <a:t>Clock is connected to the flip-flop clock input on the LSB bit flip-flop</a:t>
            </a:r>
            <a:endParaRPr/>
          </a:p>
          <a:p>
            <a:pPr indent="-234950" lvl="1" marL="6921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/>
              <a:t>For all other bits, a flip-flop output is connected to the clock input, thus circuit is not truly synchronous</a:t>
            </a:r>
            <a:endParaRPr/>
          </a:p>
          <a:p>
            <a:pPr indent="-234950" lvl="1" marL="6921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/>
              <a:t>Output change is delayed more for each bit toward the MSB.</a:t>
            </a:r>
            <a:endParaRPr/>
          </a:p>
          <a:p>
            <a:pPr indent="-234950" lvl="1" marL="6921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/>
              <a:t>Resurgent because of low power consumption</a:t>
            </a:r>
            <a:endParaRPr/>
          </a:p>
          <a:p>
            <a:pPr indent="-288925" lvl="0" marL="2889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Synchronous Counters</a:t>
            </a:r>
            <a:endParaRPr/>
          </a:p>
          <a:p>
            <a:pPr indent="-234950" lvl="1" marL="6921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/>
              <a:t>Clock is directly connected to the flip-flop clock inputs</a:t>
            </a:r>
            <a:endParaRPr/>
          </a:p>
          <a:p>
            <a:pPr indent="-234950" lvl="1" marL="6921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/>
              <a:t>Logic is used to implement the desired state sequencing</a:t>
            </a:r>
            <a:br>
              <a:rPr lang="en-US" sz="2000"/>
            </a:br>
            <a:endParaRPr sz="2000"/>
          </a:p>
          <a:p>
            <a:pPr indent="-85725" lvl="0" marL="288925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2cb39ab2d_0_52"/>
          <p:cNvSpPr txBox="1"/>
          <p:nvPr>
            <p:ph idx="1" type="body"/>
          </p:nvPr>
        </p:nvSpPr>
        <p:spPr>
          <a:xfrm>
            <a:off x="1278476" y="1314450"/>
            <a:ext cx="95628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288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These circuits are called </a:t>
            </a:r>
            <a:r>
              <a:rPr i="1" lang="en-US" sz="2800"/>
              <a:t>ripple counters</a:t>
            </a:r>
            <a:r>
              <a:rPr lang="en-US" sz="2800"/>
              <a:t> because each edge sensitive transition (positive in the example) causes a change in the next flip-flop’s state.</a:t>
            </a:r>
            <a:endParaRPr/>
          </a:p>
          <a:p>
            <a:pPr indent="-288925" lvl="0" marL="28892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The changes “ripple” upward through the chain of flip-flops, i. e., each transition occurs after a clock-to-output delay from the stage before.</a:t>
            </a:r>
            <a:endParaRPr/>
          </a:p>
        </p:txBody>
      </p:sp>
      <p:sp>
        <p:nvSpPr>
          <p:cNvPr id="142" name="Google Shape;142;g302cb39ab2d_0_52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Ripple Counter</a:t>
            </a:r>
            <a:r>
              <a:rPr b="0" lang="en-US">
                <a:solidFill>
                  <a:schemeClr val="dk1"/>
                </a:solidFill>
              </a:rPr>
              <a:t> (continued)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ASYNCHRONOUS COUNTERS</a:t>
            </a:r>
            <a:endParaRPr/>
          </a:p>
        </p:txBody>
      </p:sp>
      <p:sp>
        <p:nvSpPr>
          <p:cNvPr id="148" name="Google Shape;148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A.K.A Ripple Counter</a:t>
            </a:r>
            <a:endParaRPr/>
          </a:p>
        </p:txBody>
      </p:sp>
      <p:sp>
        <p:nvSpPr>
          <p:cNvPr id="149" name="Google Shape;149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150" name="Google Shape;150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51" name="Google Shape;151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2 bit counter using negative edge triggered JK flip flop</a:t>
            </a:r>
            <a:endParaRPr/>
          </a:p>
        </p:txBody>
      </p:sp>
      <p:sp>
        <p:nvSpPr>
          <p:cNvPr id="157" name="Google Shape;157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158" name="Google Shape;158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59" name="Google Shape;159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Counters | CircuitVerse" id="161" name="Google Shape;161;p7"/>
          <p:cNvPicPr preferRelativeResize="0"/>
          <p:nvPr/>
        </p:nvPicPr>
        <p:blipFill rotWithShape="1">
          <a:blip r:embed="rId3">
            <a:alphaModFix/>
          </a:blip>
          <a:srcRect b="32087" l="4167" r="3124" t="2884"/>
          <a:stretch/>
        </p:blipFill>
        <p:spPr>
          <a:xfrm>
            <a:off x="2743200" y="2331720"/>
            <a:ext cx="6781800" cy="3437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2 bit counter using negative edge triggered JK flip flop</a:t>
            </a:r>
            <a:endParaRPr/>
          </a:p>
        </p:txBody>
      </p:sp>
      <p:sp>
        <p:nvSpPr>
          <p:cNvPr id="167" name="Google Shape;167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168" name="Google Shape;168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9" name="Google Shape;169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Counters | CircuitVerse" id="171" name="Google Shape;171;p8"/>
          <p:cNvPicPr preferRelativeResize="0"/>
          <p:nvPr/>
        </p:nvPicPr>
        <p:blipFill rotWithShape="1">
          <a:blip r:embed="rId3">
            <a:alphaModFix/>
          </a:blip>
          <a:srcRect b="32087" l="4167" r="3124" t="2884"/>
          <a:stretch/>
        </p:blipFill>
        <p:spPr>
          <a:xfrm>
            <a:off x="477506" y="2448310"/>
            <a:ext cx="4947934" cy="2508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ign asynchronous Up/Down counter - GeeksforGeeks" id="172" name="Google Shape;172;p8"/>
          <p:cNvPicPr preferRelativeResize="0"/>
          <p:nvPr/>
        </p:nvPicPr>
        <p:blipFill rotWithShape="1">
          <a:blip r:embed="rId4">
            <a:alphaModFix/>
          </a:blip>
          <a:srcRect b="0" l="44555" r="0" t="0"/>
          <a:stretch/>
        </p:blipFill>
        <p:spPr>
          <a:xfrm>
            <a:off x="5425440" y="1769529"/>
            <a:ext cx="6071370" cy="386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2 bit counter using negative edge triggered JK flip flop</a:t>
            </a:r>
            <a:endParaRPr/>
          </a:p>
        </p:txBody>
      </p:sp>
      <p:sp>
        <p:nvSpPr>
          <p:cNvPr id="178" name="Google Shape;178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179" name="Google Shape;179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80" name="Google Shape;180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Counters | CircuitVerse" id="182" name="Google Shape;182;p9"/>
          <p:cNvPicPr preferRelativeResize="0"/>
          <p:nvPr/>
        </p:nvPicPr>
        <p:blipFill rotWithShape="1">
          <a:blip r:embed="rId3">
            <a:alphaModFix/>
          </a:blip>
          <a:srcRect b="32087" l="4167" r="3124" t="2884"/>
          <a:stretch/>
        </p:blipFill>
        <p:spPr>
          <a:xfrm>
            <a:off x="477506" y="2448310"/>
            <a:ext cx="4947934" cy="2508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ign asynchronous Up/Down counter - GeeksforGeeks" id="183" name="Google Shape;183;p9"/>
          <p:cNvPicPr preferRelativeResize="0"/>
          <p:nvPr/>
        </p:nvPicPr>
        <p:blipFill rotWithShape="1">
          <a:blip r:embed="rId4">
            <a:alphaModFix/>
          </a:blip>
          <a:srcRect b="0" l="44555" r="0" t="0"/>
          <a:stretch/>
        </p:blipFill>
        <p:spPr>
          <a:xfrm>
            <a:off x="5425440" y="1769529"/>
            <a:ext cx="6071370" cy="386581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5828145" y="2216727"/>
            <a:ext cx="1293091" cy="2890982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2530765" y="35177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4525016" y="34775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2 bit counter using negative edge triggered JK flip flop</a:t>
            </a:r>
            <a:endParaRPr/>
          </a:p>
        </p:txBody>
      </p:sp>
      <p:sp>
        <p:nvSpPr>
          <p:cNvPr id="192" name="Google Shape;192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193" name="Google Shape;193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94" name="Google Shape;194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Counters | CircuitVerse" id="196" name="Google Shape;196;p10"/>
          <p:cNvPicPr preferRelativeResize="0"/>
          <p:nvPr/>
        </p:nvPicPr>
        <p:blipFill rotWithShape="1">
          <a:blip r:embed="rId3">
            <a:alphaModFix/>
          </a:blip>
          <a:srcRect b="32087" l="4167" r="3124" t="2884"/>
          <a:stretch/>
        </p:blipFill>
        <p:spPr>
          <a:xfrm>
            <a:off x="477506" y="2448310"/>
            <a:ext cx="4947934" cy="2508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ign asynchronous Up/Down counter - GeeksforGeeks" id="197" name="Google Shape;197;p10"/>
          <p:cNvPicPr preferRelativeResize="0"/>
          <p:nvPr/>
        </p:nvPicPr>
        <p:blipFill rotWithShape="1">
          <a:blip r:embed="rId4">
            <a:alphaModFix/>
          </a:blip>
          <a:srcRect b="0" l="44555" r="0" t="0"/>
          <a:stretch/>
        </p:blipFill>
        <p:spPr>
          <a:xfrm>
            <a:off x="5425440" y="1769529"/>
            <a:ext cx="6071370" cy="386581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/>
          <p:nvPr/>
        </p:nvSpPr>
        <p:spPr>
          <a:xfrm>
            <a:off x="6991928" y="2216727"/>
            <a:ext cx="1026502" cy="2890982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2530765" y="35177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4525016" y="34775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2 bit counter using negative edge triggered JK flip flop</a:t>
            </a:r>
            <a:endParaRPr/>
          </a:p>
        </p:txBody>
      </p:sp>
      <p:sp>
        <p:nvSpPr>
          <p:cNvPr id="206" name="Google Shape;206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207" name="Google Shape;207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08" name="Google Shape;208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Counters | CircuitVerse" id="210" name="Google Shape;210;p11"/>
          <p:cNvPicPr preferRelativeResize="0"/>
          <p:nvPr/>
        </p:nvPicPr>
        <p:blipFill rotWithShape="1">
          <a:blip r:embed="rId3">
            <a:alphaModFix/>
          </a:blip>
          <a:srcRect b="32087" l="4167" r="3124" t="2884"/>
          <a:stretch/>
        </p:blipFill>
        <p:spPr>
          <a:xfrm>
            <a:off x="477506" y="2448310"/>
            <a:ext cx="4947934" cy="2508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ign asynchronous Up/Down counter - GeeksforGeeks" id="211" name="Google Shape;211;p11"/>
          <p:cNvPicPr preferRelativeResize="0"/>
          <p:nvPr/>
        </p:nvPicPr>
        <p:blipFill rotWithShape="1">
          <a:blip r:embed="rId4">
            <a:alphaModFix/>
          </a:blip>
          <a:srcRect b="0" l="44555" r="0" t="0"/>
          <a:stretch/>
        </p:blipFill>
        <p:spPr>
          <a:xfrm>
            <a:off x="5425440" y="1769529"/>
            <a:ext cx="6071370" cy="386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/>
          <p:nvPr/>
        </p:nvSpPr>
        <p:spPr>
          <a:xfrm>
            <a:off x="7947874" y="2269257"/>
            <a:ext cx="1026502" cy="2890982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2530765" y="35177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4525016" y="34775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2 bit counter using negative edge triggered JK flip flop</a:t>
            </a:r>
            <a:endParaRPr/>
          </a:p>
        </p:txBody>
      </p:sp>
      <p:sp>
        <p:nvSpPr>
          <p:cNvPr id="220" name="Google Shape;220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221" name="Google Shape;221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22" name="Google Shape;222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Counters | CircuitVerse" id="224" name="Google Shape;224;p12"/>
          <p:cNvPicPr preferRelativeResize="0"/>
          <p:nvPr/>
        </p:nvPicPr>
        <p:blipFill rotWithShape="1">
          <a:blip r:embed="rId3">
            <a:alphaModFix/>
          </a:blip>
          <a:srcRect b="32087" l="4167" r="3124" t="2884"/>
          <a:stretch/>
        </p:blipFill>
        <p:spPr>
          <a:xfrm>
            <a:off x="477506" y="2448310"/>
            <a:ext cx="4947934" cy="2508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ign asynchronous Up/Down counter - GeeksforGeeks" id="225" name="Google Shape;225;p12"/>
          <p:cNvPicPr preferRelativeResize="0"/>
          <p:nvPr/>
        </p:nvPicPr>
        <p:blipFill rotWithShape="1">
          <a:blip r:embed="rId4">
            <a:alphaModFix/>
          </a:blip>
          <a:srcRect b="0" l="44555" r="0" t="0"/>
          <a:stretch/>
        </p:blipFill>
        <p:spPr>
          <a:xfrm>
            <a:off x="5425440" y="1769529"/>
            <a:ext cx="6071370" cy="386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2"/>
          <p:cNvSpPr/>
          <p:nvPr/>
        </p:nvSpPr>
        <p:spPr>
          <a:xfrm>
            <a:off x="8900691" y="2216727"/>
            <a:ext cx="1026502" cy="2890982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2530765" y="35177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4525016" y="34775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2 bit counter using negative edge triggered JK flip flop</a:t>
            </a:r>
            <a:endParaRPr/>
          </a:p>
        </p:txBody>
      </p:sp>
      <p:sp>
        <p:nvSpPr>
          <p:cNvPr id="234" name="Google Shape;234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235" name="Google Shape;235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36" name="Google Shape;236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Counters | CircuitVerse" id="238" name="Google Shape;238;p13"/>
          <p:cNvPicPr preferRelativeResize="0"/>
          <p:nvPr/>
        </p:nvPicPr>
        <p:blipFill rotWithShape="1">
          <a:blip r:embed="rId3">
            <a:alphaModFix/>
          </a:blip>
          <a:srcRect b="32087" l="4167" r="3124" t="2884"/>
          <a:stretch/>
        </p:blipFill>
        <p:spPr>
          <a:xfrm>
            <a:off x="477506" y="2448310"/>
            <a:ext cx="4947934" cy="2508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ign asynchronous Up/Down counter - GeeksforGeeks" id="239" name="Google Shape;239;p13"/>
          <p:cNvPicPr preferRelativeResize="0"/>
          <p:nvPr/>
        </p:nvPicPr>
        <p:blipFill rotWithShape="1">
          <a:blip r:embed="rId4">
            <a:alphaModFix/>
          </a:blip>
          <a:srcRect b="0" l="44555" r="0" t="0"/>
          <a:stretch/>
        </p:blipFill>
        <p:spPr>
          <a:xfrm>
            <a:off x="5425440" y="1769529"/>
            <a:ext cx="6071370" cy="386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3"/>
          <p:cNvSpPr/>
          <p:nvPr/>
        </p:nvSpPr>
        <p:spPr>
          <a:xfrm>
            <a:off x="9885552" y="2216727"/>
            <a:ext cx="1026502" cy="2890982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2530765" y="35177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2" name="Google Shape;242;p13"/>
          <p:cNvSpPr txBox="1"/>
          <p:nvPr/>
        </p:nvSpPr>
        <p:spPr>
          <a:xfrm>
            <a:off x="4525016" y="34775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2 bit up counter using negative edge triggered JK flip flop</a:t>
            </a:r>
            <a:endParaRPr/>
          </a:p>
        </p:txBody>
      </p:sp>
      <p:sp>
        <p:nvSpPr>
          <p:cNvPr id="248" name="Google Shape;248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249" name="Google Shape;249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50" name="Google Shape;250;p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Counters | CircuitVerse" id="252" name="Google Shape;252;p14"/>
          <p:cNvPicPr preferRelativeResize="0"/>
          <p:nvPr/>
        </p:nvPicPr>
        <p:blipFill rotWithShape="1">
          <a:blip r:embed="rId3">
            <a:alphaModFix/>
          </a:blip>
          <a:srcRect b="32087" l="4167" r="3124" t="2884"/>
          <a:stretch/>
        </p:blipFill>
        <p:spPr>
          <a:xfrm>
            <a:off x="477506" y="2448310"/>
            <a:ext cx="4947934" cy="2508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ign asynchronous Up/Down counter - GeeksforGeeks" id="253" name="Google Shape;253;p14"/>
          <p:cNvPicPr preferRelativeResize="0"/>
          <p:nvPr/>
        </p:nvPicPr>
        <p:blipFill rotWithShape="1">
          <a:blip r:embed="rId4">
            <a:alphaModFix/>
          </a:blip>
          <a:srcRect b="0" l="44555" r="0" t="0"/>
          <a:stretch/>
        </p:blipFill>
        <p:spPr>
          <a:xfrm>
            <a:off x="5425440" y="1769529"/>
            <a:ext cx="6071370" cy="386581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4"/>
          <p:cNvSpPr/>
          <p:nvPr/>
        </p:nvSpPr>
        <p:spPr>
          <a:xfrm>
            <a:off x="9885552" y="2216727"/>
            <a:ext cx="1026502" cy="2890982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 txBox="1"/>
          <p:nvPr/>
        </p:nvSpPr>
        <p:spPr>
          <a:xfrm>
            <a:off x="2530765" y="35177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6" name="Google Shape;256;p14"/>
          <p:cNvSpPr txBox="1"/>
          <p:nvPr/>
        </p:nvSpPr>
        <p:spPr>
          <a:xfrm>
            <a:off x="4525016" y="34775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5044416" y="2799372"/>
            <a:ext cx="5132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LSB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5044416" y="3594238"/>
            <a:ext cx="6126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MSB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2 bit up counter using negative edge triggered T flip flop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4" name="Google Shape;264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265" name="Google Shape;265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66" name="Google Shape;266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id="268" name="Google Shape;2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860" y="2707097"/>
            <a:ext cx="7563740" cy="2661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up counter using negative edge triggered T flip flop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4" name="Google Shape;274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275" name="Google Shape;275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76" name="Google Shape;276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id="278" name="Google Shape;2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860" y="2707097"/>
            <a:ext cx="7563740" cy="266131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6"/>
          <p:cNvSpPr txBox="1"/>
          <p:nvPr/>
        </p:nvSpPr>
        <p:spPr>
          <a:xfrm>
            <a:off x="9323205" y="2943071"/>
            <a:ext cx="203059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Difference?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Previously we used J=1 and K=1 for toggling.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we are using T=1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>
            <p:ph idx="1" type="body"/>
          </p:nvPr>
        </p:nvSpPr>
        <p:spPr>
          <a:xfrm>
            <a:off x="838200" y="1227909"/>
            <a:ext cx="1068029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Can we use any type of flip flop for designing asynchronous counters 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Yes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As we know about flip flop conversion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We can convert any flip flop to JK or 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This is applicable for up, down and up/down counters</a:t>
            </a:r>
            <a:endParaRPr/>
          </a:p>
        </p:txBody>
      </p:sp>
      <p:sp>
        <p:nvSpPr>
          <p:cNvPr id="285" name="Google Shape;285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286" name="Google Shape;286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87" name="Google Shape;287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3 bit up counter using negative edge triggered JK flip flops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4" name="Google Shape;294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295" name="Google Shape;295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96" name="Google Shape;296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What is an Asynchronous Counter? Definition, Circuit, Working and  Applications of Asynchronous Counter - Electronics Coach" id="298" name="Google Shape;298;p18"/>
          <p:cNvPicPr preferRelativeResize="0"/>
          <p:nvPr/>
        </p:nvPicPr>
        <p:blipFill rotWithShape="1">
          <a:blip r:embed="rId3">
            <a:alphaModFix/>
          </a:blip>
          <a:srcRect b="16944" l="0" r="0" t="0"/>
          <a:stretch/>
        </p:blipFill>
        <p:spPr>
          <a:xfrm>
            <a:off x="838200" y="2551217"/>
            <a:ext cx="7082565" cy="3625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3 bit up counter using negative edge triggered JK flip flops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305" name="Google Shape;305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06" name="Google Shape;306;p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What is an Asynchronous Counter? Definition, Circuit, Working and  Applications of Asynchronous Counter - Electronics Coach" id="308" name="Google Shape;308;p19"/>
          <p:cNvPicPr preferRelativeResize="0"/>
          <p:nvPr/>
        </p:nvPicPr>
        <p:blipFill rotWithShape="1">
          <a:blip r:embed="rId3">
            <a:alphaModFix/>
          </a:blip>
          <a:srcRect b="16944" l="0" r="0" t="0"/>
          <a:stretch/>
        </p:blipFill>
        <p:spPr>
          <a:xfrm>
            <a:off x="3032760" y="2264787"/>
            <a:ext cx="4903245" cy="1773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Synchronous Counter? Definition, Circuit and Operation of Synchronous  Counter - Electronics Coach" id="309" name="Google Shape;309;p19"/>
          <p:cNvPicPr preferRelativeResize="0"/>
          <p:nvPr/>
        </p:nvPicPr>
        <p:blipFill rotWithShape="1">
          <a:blip r:embed="rId4">
            <a:alphaModFix/>
          </a:blip>
          <a:srcRect b="17537" l="0" r="0" t="0"/>
          <a:stretch/>
        </p:blipFill>
        <p:spPr>
          <a:xfrm>
            <a:off x="3032760" y="3871595"/>
            <a:ext cx="5283191" cy="262128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9"/>
          <p:cNvSpPr/>
          <p:nvPr/>
        </p:nvSpPr>
        <p:spPr>
          <a:xfrm>
            <a:off x="3512820" y="3506470"/>
            <a:ext cx="662940" cy="2890982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4559838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12" name="Google Shape;312;p19"/>
          <p:cNvSpPr txBox="1"/>
          <p:nvPr/>
        </p:nvSpPr>
        <p:spPr>
          <a:xfrm>
            <a:off x="6005449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7451060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9768840" y="3634740"/>
            <a:ext cx="177644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QcQbQa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0    0    0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3 bit up counter using negative edge triggered JK flip flops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0" name="Google Shape;320;p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321" name="Google Shape;321;p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22" name="Google Shape;322;p2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What is an Asynchronous Counter? Definition, Circuit, Working and  Applications of Asynchronous Counter - Electronics Coach" id="324" name="Google Shape;324;p20"/>
          <p:cNvPicPr preferRelativeResize="0"/>
          <p:nvPr/>
        </p:nvPicPr>
        <p:blipFill rotWithShape="1">
          <a:blip r:embed="rId3">
            <a:alphaModFix/>
          </a:blip>
          <a:srcRect b="16944" l="0" r="0" t="0"/>
          <a:stretch/>
        </p:blipFill>
        <p:spPr>
          <a:xfrm>
            <a:off x="3032760" y="2264787"/>
            <a:ext cx="4903245" cy="1773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Synchronous Counter? Definition, Circuit and Operation of Synchronous  Counter - Electronics Coach" id="325" name="Google Shape;325;p20"/>
          <p:cNvPicPr preferRelativeResize="0"/>
          <p:nvPr/>
        </p:nvPicPr>
        <p:blipFill rotWithShape="1">
          <a:blip r:embed="rId4">
            <a:alphaModFix/>
          </a:blip>
          <a:srcRect b="17537" l="0" r="0" t="0"/>
          <a:stretch/>
        </p:blipFill>
        <p:spPr>
          <a:xfrm>
            <a:off x="3032760" y="3871595"/>
            <a:ext cx="5283191" cy="262128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0"/>
          <p:cNvSpPr/>
          <p:nvPr/>
        </p:nvSpPr>
        <p:spPr>
          <a:xfrm>
            <a:off x="4038600" y="3530600"/>
            <a:ext cx="662940" cy="2890982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4559838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6005449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7451060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9768840" y="3634740"/>
            <a:ext cx="177644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QcQbQa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0    0    1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3 bit up counter using negative edge triggered JK flip flops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337" name="Google Shape;337;p2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38" name="Google Shape;338;p2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What is an Asynchronous Counter? Definition, Circuit, Working and  Applications of Asynchronous Counter - Electronics Coach" id="340" name="Google Shape;340;p21"/>
          <p:cNvPicPr preferRelativeResize="0"/>
          <p:nvPr/>
        </p:nvPicPr>
        <p:blipFill rotWithShape="1">
          <a:blip r:embed="rId3">
            <a:alphaModFix/>
          </a:blip>
          <a:srcRect b="16944" l="0" r="0" t="0"/>
          <a:stretch/>
        </p:blipFill>
        <p:spPr>
          <a:xfrm>
            <a:off x="3032760" y="2264787"/>
            <a:ext cx="4903245" cy="1773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Synchronous Counter? Definition, Circuit and Operation of Synchronous  Counter - Electronics Coach" id="341" name="Google Shape;341;p21"/>
          <p:cNvPicPr preferRelativeResize="0"/>
          <p:nvPr/>
        </p:nvPicPr>
        <p:blipFill rotWithShape="1">
          <a:blip r:embed="rId4">
            <a:alphaModFix/>
          </a:blip>
          <a:srcRect b="17537" l="0" r="0" t="0"/>
          <a:stretch/>
        </p:blipFill>
        <p:spPr>
          <a:xfrm>
            <a:off x="3032760" y="3871595"/>
            <a:ext cx="5283191" cy="262128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1"/>
          <p:cNvSpPr/>
          <p:nvPr/>
        </p:nvSpPr>
        <p:spPr>
          <a:xfrm>
            <a:off x="4627357" y="3577763"/>
            <a:ext cx="662940" cy="2915112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4559838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44" name="Google Shape;344;p21"/>
          <p:cNvSpPr txBox="1"/>
          <p:nvPr/>
        </p:nvSpPr>
        <p:spPr>
          <a:xfrm>
            <a:off x="6005449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7451060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9768840" y="3634740"/>
            <a:ext cx="177644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QcQbQa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0    1    0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3 bit up counter using negative edge triggered JK flip flops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2" name="Google Shape;352;p2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353" name="Google Shape;353;p2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54" name="Google Shape;354;p2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p2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What is an Asynchronous Counter? Definition, Circuit, Working and  Applications of Asynchronous Counter - Electronics Coach" id="356" name="Google Shape;356;p22"/>
          <p:cNvPicPr preferRelativeResize="0"/>
          <p:nvPr/>
        </p:nvPicPr>
        <p:blipFill rotWithShape="1">
          <a:blip r:embed="rId3">
            <a:alphaModFix/>
          </a:blip>
          <a:srcRect b="16944" l="0" r="0" t="0"/>
          <a:stretch/>
        </p:blipFill>
        <p:spPr>
          <a:xfrm>
            <a:off x="3032760" y="2264787"/>
            <a:ext cx="4903245" cy="1773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Synchronous Counter? Definition, Circuit and Operation of Synchronous  Counter - Electronics Coach" id="357" name="Google Shape;357;p22"/>
          <p:cNvPicPr preferRelativeResize="0"/>
          <p:nvPr/>
        </p:nvPicPr>
        <p:blipFill rotWithShape="1">
          <a:blip r:embed="rId4">
            <a:alphaModFix/>
          </a:blip>
          <a:srcRect b="17537" l="0" r="0" t="0"/>
          <a:stretch/>
        </p:blipFill>
        <p:spPr>
          <a:xfrm>
            <a:off x="3032760" y="3871595"/>
            <a:ext cx="5283191" cy="262128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2"/>
          <p:cNvSpPr txBox="1"/>
          <p:nvPr/>
        </p:nvSpPr>
        <p:spPr>
          <a:xfrm>
            <a:off x="4559838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6005449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7451060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5214097" y="3577763"/>
            <a:ext cx="662940" cy="2915112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9768840" y="3634740"/>
            <a:ext cx="177644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QcQbQa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0    1    1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3 bit up counter using negative edge triggered JK flip flops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8" name="Google Shape;368;p2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369" name="Google Shape;369;p2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70" name="Google Shape;370;p2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p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What is an Asynchronous Counter? Definition, Circuit, Working and  Applications of Asynchronous Counter - Electronics Coach" id="372" name="Google Shape;372;p23"/>
          <p:cNvPicPr preferRelativeResize="0"/>
          <p:nvPr/>
        </p:nvPicPr>
        <p:blipFill rotWithShape="1">
          <a:blip r:embed="rId3">
            <a:alphaModFix/>
          </a:blip>
          <a:srcRect b="16944" l="0" r="0" t="0"/>
          <a:stretch/>
        </p:blipFill>
        <p:spPr>
          <a:xfrm>
            <a:off x="3032760" y="2264787"/>
            <a:ext cx="4903245" cy="1773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Synchronous Counter? Definition, Circuit and Operation of Synchronous  Counter - Electronics Coach" id="373" name="Google Shape;373;p23"/>
          <p:cNvPicPr preferRelativeResize="0"/>
          <p:nvPr/>
        </p:nvPicPr>
        <p:blipFill rotWithShape="1">
          <a:blip r:embed="rId4">
            <a:alphaModFix/>
          </a:blip>
          <a:srcRect b="17537" l="0" r="0" t="0"/>
          <a:stretch/>
        </p:blipFill>
        <p:spPr>
          <a:xfrm>
            <a:off x="3032760" y="3871595"/>
            <a:ext cx="5283191" cy="262128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3"/>
          <p:cNvSpPr txBox="1"/>
          <p:nvPr/>
        </p:nvSpPr>
        <p:spPr>
          <a:xfrm>
            <a:off x="4559838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 txBox="1"/>
          <p:nvPr/>
        </p:nvSpPr>
        <p:spPr>
          <a:xfrm>
            <a:off x="6005449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7451060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5764530" y="3577763"/>
            <a:ext cx="662940" cy="2915112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 txBox="1"/>
          <p:nvPr/>
        </p:nvSpPr>
        <p:spPr>
          <a:xfrm>
            <a:off x="9768840" y="3634740"/>
            <a:ext cx="177644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QcQbQa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1    0    0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3 bit up counter using negative edge triggered JK flip flops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4" name="Google Shape;384;p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385" name="Google Shape;385;p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86" name="Google Shape;386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What is an Asynchronous Counter? Definition, Circuit, Working and  Applications of Asynchronous Counter - Electronics Coach" id="388" name="Google Shape;388;p24"/>
          <p:cNvPicPr preferRelativeResize="0"/>
          <p:nvPr/>
        </p:nvPicPr>
        <p:blipFill rotWithShape="1">
          <a:blip r:embed="rId3">
            <a:alphaModFix/>
          </a:blip>
          <a:srcRect b="16944" l="0" r="0" t="0"/>
          <a:stretch/>
        </p:blipFill>
        <p:spPr>
          <a:xfrm>
            <a:off x="3032760" y="2264787"/>
            <a:ext cx="4903245" cy="1773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Synchronous Counter? Definition, Circuit and Operation of Synchronous  Counter - Electronics Coach" id="389" name="Google Shape;389;p24"/>
          <p:cNvPicPr preferRelativeResize="0"/>
          <p:nvPr/>
        </p:nvPicPr>
        <p:blipFill rotWithShape="1">
          <a:blip r:embed="rId4">
            <a:alphaModFix/>
          </a:blip>
          <a:srcRect b="17537" l="0" r="0" t="0"/>
          <a:stretch/>
        </p:blipFill>
        <p:spPr>
          <a:xfrm>
            <a:off x="3032760" y="3871595"/>
            <a:ext cx="5283191" cy="262128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4"/>
          <p:cNvSpPr txBox="1"/>
          <p:nvPr/>
        </p:nvSpPr>
        <p:spPr>
          <a:xfrm>
            <a:off x="4559838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6005449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 txBox="1"/>
          <p:nvPr/>
        </p:nvSpPr>
        <p:spPr>
          <a:xfrm>
            <a:off x="7451060" y="231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6307135" y="3577763"/>
            <a:ext cx="662940" cy="2915112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 txBox="1"/>
          <p:nvPr/>
        </p:nvSpPr>
        <p:spPr>
          <a:xfrm>
            <a:off x="9768840" y="3634740"/>
            <a:ext cx="177644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QcQbQa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1    0    1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3 bit down counter using negative edge triggered JK flip flops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0" name="Google Shape;400;p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401" name="Google Shape;401;p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02" name="Google Shape;402;p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p2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Asynchronous Down Counter - GeeksforGeeks" id="404" name="Google Shape;4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883" y="2477685"/>
            <a:ext cx="6286500" cy="317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3 bit down counter using negative edge triggered JK flip flops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0" name="Google Shape;410;p2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411" name="Google Shape;411;p2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12" name="Google Shape;412;p2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3" name="Google Shape;413;p2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Asynchronous Down Counter - GeeksforGeeks" id="414" name="Google Shape;4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2686030"/>
            <a:ext cx="6286500" cy="3171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ynchronous Down Counter - GeeksforGeeks" id="415" name="Google Shape;415;p26"/>
          <p:cNvPicPr preferRelativeResize="0"/>
          <p:nvPr/>
        </p:nvPicPr>
        <p:blipFill rotWithShape="1">
          <a:blip r:embed="rId4">
            <a:alphaModFix/>
          </a:blip>
          <a:srcRect b="0" l="22398" r="0" t="0"/>
          <a:stretch/>
        </p:blipFill>
        <p:spPr>
          <a:xfrm>
            <a:off x="6875362" y="1804988"/>
            <a:ext cx="4878488" cy="43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6"/>
          <p:cNvSpPr/>
          <p:nvPr/>
        </p:nvSpPr>
        <p:spPr>
          <a:xfrm>
            <a:off x="6875362" y="5348642"/>
            <a:ext cx="447458" cy="79307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6"/>
          <p:cNvSpPr/>
          <p:nvPr/>
        </p:nvSpPr>
        <p:spPr>
          <a:xfrm>
            <a:off x="7421880" y="1963202"/>
            <a:ext cx="495300" cy="3256498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6"/>
          <p:cNvSpPr txBox="1"/>
          <p:nvPr/>
        </p:nvSpPr>
        <p:spPr>
          <a:xfrm>
            <a:off x="2324168" y="47479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19" name="Google Shape;419;p26"/>
          <p:cNvSpPr txBox="1"/>
          <p:nvPr/>
        </p:nvSpPr>
        <p:spPr>
          <a:xfrm>
            <a:off x="4359529" y="47479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6"/>
          <p:cNvSpPr txBox="1"/>
          <p:nvPr/>
        </p:nvSpPr>
        <p:spPr>
          <a:xfrm>
            <a:off x="6475312" y="47479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6"/>
          <p:cNvSpPr txBox="1"/>
          <p:nvPr/>
        </p:nvSpPr>
        <p:spPr>
          <a:xfrm>
            <a:off x="2552768" y="37436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6"/>
          <p:cNvSpPr txBox="1"/>
          <p:nvPr/>
        </p:nvSpPr>
        <p:spPr>
          <a:xfrm>
            <a:off x="4588129" y="37436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3 bit down counter using negative edge triggered JK flip flops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8" name="Google Shape;428;p2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429" name="Google Shape;429;p2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30" name="Google Shape;430;p2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p2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Asynchronous Down Counter - GeeksforGeeks" id="432" name="Google Shape;4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2686030"/>
            <a:ext cx="6286500" cy="3171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ynchronous Down Counter - GeeksforGeeks" id="433" name="Google Shape;433;p27"/>
          <p:cNvPicPr preferRelativeResize="0"/>
          <p:nvPr/>
        </p:nvPicPr>
        <p:blipFill rotWithShape="1">
          <a:blip r:embed="rId4">
            <a:alphaModFix/>
          </a:blip>
          <a:srcRect b="0" l="22398" r="0" t="0"/>
          <a:stretch/>
        </p:blipFill>
        <p:spPr>
          <a:xfrm>
            <a:off x="6875362" y="1804988"/>
            <a:ext cx="4878488" cy="43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7"/>
          <p:cNvSpPr/>
          <p:nvPr/>
        </p:nvSpPr>
        <p:spPr>
          <a:xfrm>
            <a:off x="6875362" y="5348642"/>
            <a:ext cx="447458" cy="79307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7"/>
          <p:cNvSpPr/>
          <p:nvPr/>
        </p:nvSpPr>
        <p:spPr>
          <a:xfrm>
            <a:off x="7905750" y="1917482"/>
            <a:ext cx="495300" cy="3256498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7"/>
          <p:cNvSpPr txBox="1"/>
          <p:nvPr/>
        </p:nvSpPr>
        <p:spPr>
          <a:xfrm>
            <a:off x="2324168" y="47479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7"/>
          <p:cNvSpPr txBox="1"/>
          <p:nvPr/>
        </p:nvSpPr>
        <p:spPr>
          <a:xfrm>
            <a:off x="4359529" y="47479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7"/>
          <p:cNvSpPr txBox="1"/>
          <p:nvPr/>
        </p:nvSpPr>
        <p:spPr>
          <a:xfrm>
            <a:off x="6475312" y="47479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7"/>
          <p:cNvSpPr txBox="1"/>
          <p:nvPr/>
        </p:nvSpPr>
        <p:spPr>
          <a:xfrm>
            <a:off x="2552768" y="37436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40" name="Google Shape;440;p27"/>
          <p:cNvSpPr txBox="1"/>
          <p:nvPr/>
        </p:nvSpPr>
        <p:spPr>
          <a:xfrm>
            <a:off x="4588129" y="37436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3 bit down counter using negative edge triggered JK flip flops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6" name="Google Shape;446;p2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447" name="Google Shape;447;p2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48" name="Google Shape;448;p2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9" name="Google Shape;449;p2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Asynchronous Down Counter - GeeksforGeeks" id="450" name="Google Shape;45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2686030"/>
            <a:ext cx="6286500" cy="3171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ynchronous Down Counter - GeeksforGeeks" id="451" name="Google Shape;451;p28"/>
          <p:cNvPicPr preferRelativeResize="0"/>
          <p:nvPr/>
        </p:nvPicPr>
        <p:blipFill rotWithShape="1">
          <a:blip r:embed="rId4">
            <a:alphaModFix/>
          </a:blip>
          <a:srcRect b="0" l="22398" r="0" t="0"/>
          <a:stretch/>
        </p:blipFill>
        <p:spPr>
          <a:xfrm>
            <a:off x="6875362" y="1804988"/>
            <a:ext cx="4878488" cy="43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8"/>
          <p:cNvSpPr/>
          <p:nvPr/>
        </p:nvSpPr>
        <p:spPr>
          <a:xfrm>
            <a:off x="6875362" y="5348642"/>
            <a:ext cx="447458" cy="79307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8362950" y="1880916"/>
            <a:ext cx="495300" cy="3256498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8"/>
          <p:cNvSpPr txBox="1"/>
          <p:nvPr/>
        </p:nvSpPr>
        <p:spPr>
          <a:xfrm>
            <a:off x="2324168" y="47479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55" name="Google Shape;455;p28"/>
          <p:cNvSpPr txBox="1"/>
          <p:nvPr/>
        </p:nvSpPr>
        <p:spPr>
          <a:xfrm>
            <a:off x="4359529" y="47479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8"/>
          <p:cNvSpPr txBox="1"/>
          <p:nvPr/>
        </p:nvSpPr>
        <p:spPr>
          <a:xfrm>
            <a:off x="6475312" y="47479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 txBox="1"/>
          <p:nvPr/>
        </p:nvSpPr>
        <p:spPr>
          <a:xfrm>
            <a:off x="2552768" y="37436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58" name="Google Shape;458;p28"/>
          <p:cNvSpPr txBox="1"/>
          <p:nvPr/>
        </p:nvSpPr>
        <p:spPr>
          <a:xfrm>
            <a:off x="4588129" y="37436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 asynchronous 3 bit down counter using negative edge triggered JK flip flops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4" name="Google Shape;464;p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465" name="Google Shape;465;p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66" name="Google Shape;466;p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7" name="Google Shape;467;p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Asynchronous Counter</a:t>
            </a:r>
            <a:endParaRPr/>
          </a:p>
        </p:txBody>
      </p:sp>
      <p:pic>
        <p:nvPicPr>
          <p:cNvPr descr="Asynchronous Down Counter - GeeksforGeeks" id="468" name="Google Shape;4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2686030"/>
            <a:ext cx="6286500" cy="3171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ynchronous Down Counter - GeeksforGeeks" id="469" name="Google Shape;469;p29"/>
          <p:cNvPicPr preferRelativeResize="0"/>
          <p:nvPr/>
        </p:nvPicPr>
        <p:blipFill rotWithShape="1">
          <a:blip r:embed="rId4">
            <a:alphaModFix/>
          </a:blip>
          <a:srcRect b="0" l="22398" r="0" t="0"/>
          <a:stretch/>
        </p:blipFill>
        <p:spPr>
          <a:xfrm>
            <a:off x="6875362" y="1804988"/>
            <a:ext cx="4878488" cy="43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9"/>
          <p:cNvSpPr/>
          <p:nvPr/>
        </p:nvSpPr>
        <p:spPr>
          <a:xfrm>
            <a:off x="6875362" y="5348642"/>
            <a:ext cx="447458" cy="79307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9"/>
          <p:cNvSpPr/>
          <p:nvPr/>
        </p:nvSpPr>
        <p:spPr>
          <a:xfrm>
            <a:off x="8896350" y="1874830"/>
            <a:ext cx="495300" cy="3256498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 txBox="1"/>
          <p:nvPr/>
        </p:nvSpPr>
        <p:spPr>
          <a:xfrm>
            <a:off x="2324168" y="47479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3" name="Google Shape;473;p29"/>
          <p:cNvSpPr txBox="1"/>
          <p:nvPr/>
        </p:nvSpPr>
        <p:spPr>
          <a:xfrm>
            <a:off x="4359529" y="47479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9"/>
          <p:cNvSpPr txBox="1"/>
          <p:nvPr/>
        </p:nvSpPr>
        <p:spPr>
          <a:xfrm>
            <a:off x="6475312" y="47479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9"/>
          <p:cNvSpPr txBox="1"/>
          <p:nvPr/>
        </p:nvSpPr>
        <p:spPr>
          <a:xfrm>
            <a:off x="2552768" y="37436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9"/>
          <p:cNvSpPr txBox="1"/>
          <p:nvPr/>
        </p:nvSpPr>
        <p:spPr>
          <a:xfrm>
            <a:off x="4588129" y="37436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SYNCHRONOUS COUNTER </a:t>
            </a:r>
            <a:endParaRPr/>
          </a:p>
        </p:txBody>
      </p:sp>
      <p:sp>
        <p:nvSpPr>
          <p:cNvPr id="482" name="Google Shape;482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483" name="Google Shape;483;p3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484" name="Google Shape;484;p3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85" name="Google Shape;485;p3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are again back to the usual sequential circuit design !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make a 3 bit synchronous up counter</a:t>
            </a:r>
            <a:endParaRPr/>
          </a:p>
        </p:txBody>
      </p:sp>
      <p:sp>
        <p:nvSpPr>
          <p:cNvPr id="491" name="Google Shape;491;p3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492" name="Google Shape;492;p3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93" name="Google Shape;493;p3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4" name="Google Shape;494;p3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Synchronous Counter </a:t>
            </a:r>
            <a:endParaRPr/>
          </a:p>
        </p:txBody>
      </p:sp>
      <p:pic>
        <p:nvPicPr>
          <p:cNvPr id="495" name="Google Shape;49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3120" y="2713441"/>
            <a:ext cx="3605212" cy="346352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5"/>
          <p:cNvSpPr/>
          <p:nvPr/>
        </p:nvSpPr>
        <p:spPr>
          <a:xfrm>
            <a:off x="6417051" y="3152540"/>
            <a:ext cx="4387098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Notice that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no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inputs/outputs</a:t>
            </a:r>
            <a:endParaRPr b="0" sz="54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2" name="Google Shape;502;p3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503" name="Google Shape;503;p3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04" name="Google Shape;504;p3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" name="Google Shape;505;p3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Synchronous Counter </a:t>
            </a:r>
            <a:endParaRPr/>
          </a:p>
        </p:txBody>
      </p:sp>
      <p:pic>
        <p:nvPicPr>
          <p:cNvPr descr="Digital Circuits - Counters" id="506" name="Google Shape;50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246" y="1898014"/>
            <a:ext cx="10398554" cy="3847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02cb39ab2d_0_102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Synchronous Counters</a:t>
            </a:r>
            <a:endParaRPr/>
          </a:p>
        </p:txBody>
      </p:sp>
      <p:sp>
        <p:nvSpPr>
          <p:cNvPr id="513" name="Google Shape;513;g302cb39ab2d_0_102"/>
          <p:cNvSpPr txBox="1"/>
          <p:nvPr>
            <p:ph idx="1" type="body"/>
          </p:nvPr>
        </p:nvSpPr>
        <p:spPr>
          <a:xfrm>
            <a:off x="891117" y="1212850"/>
            <a:ext cx="103632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288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To eliminate the "ripple" effects, use a common clock for each flip-flop and a combinational circuit to generate the next state.</a:t>
            </a:r>
            <a:endParaRPr/>
          </a:p>
          <a:p>
            <a:pPr indent="-288925" lvl="0" marL="28892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For an up-counter,</a:t>
            </a:r>
            <a:br>
              <a:rPr lang="en-US" sz="2400"/>
            </a:br>
            <a:r>
              <a:rPr lang="en-US" sz="2400"/>
              <a:t>use an incrementer =&gt; </a:t>
            </a:r>
            <a:endParaRPr/>
          </a:p>
        </p:txBody>
      </p:sp>
      <p:sp>
        <p:nvSpPr>
          <p:cNvPr id="514" name="Google Shape;514;g302cb39ab2d_0_102"/>
          <p:cNvSpPr/>
          <p:nvPr/>
        </p:nvSpPr>
        <p:spPr>
          <a:xfrm>
            <a:off x="9554633" y="3378200"/>
            <a:ext cx="1119717" cy="2274888"/>
          </a:xfrm>
          <a:custGeom>
            <a:rect b="b" l="l" r="r" t="t"/>
            <a:pathLst>
              <a:path extrusionOk="0" h="1433" w="529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7"/>
                </a:lnTo>
                <a:lnTo>
                  <a:pt x="0" y="1427"/>
                </a:lnTo>
                <a:lnTo>
                  <a:pt x="3" y="1430"/>
                </a:lnTo>
                <a:lnTo>
                  <a:pt x="6" y="1433"/>
                </a:lnTo>
                <a:lnTo>
                  <a:pt x="523" y="1433"/>
                </a:lnTo>
                <a:lnTo>
                  <a:pt x="526" y="1430"/>
                </a:lnTo>
                <a:lnTo>
                  <a:pt x="529" y="1427"/>
                </a:lnTo>
                <a:lnTo>
                  <a:pt x="529" y="7"/>
                </a:lnTo>
                <a:lnTo>
                  <a:pt x="526" y="3"/>
                </a:lnTo>
                <a:lnTo>
                  <a:pt x="523" y="0"/>
                </a:lnTo>
                <a:lnTo>
                  <a:pt x="520" y="0"/>
                </a:lnTo>
                <a:lnTo>
                  <a:pt x="9" y="0"/>
                </a:lnTo>
                <a:lnTo>
                  <a:pt x="9" y="19"/>
                </a:lnTo>
                <a:lnTo>
                  <a:pt x="520" y="19"/>
                </a:lnTo>
                <a:lnTo>
                  <a:pt x="511" y="10"/>
                </a:lnTo>
                <a:lnTo>
                  <a:pt x="511" y="1424"/>
                </a:lnTo>
                <a:lnTo>
                  <a:pt x="520" y="1415"/>
                </a:lnTo>
                <a:lnTo>
                  <a:pt x="9" y="1415"/>
                </a:lnTo>
                <a:lnTo>
                  <a:pt x="18" y="1424"/>
                </a:lnTo>
                <a:lnTo>
                  <a:pt x="18" y="10"/>
                </a:lnTo>
                <a:lnTo>
                  <a:pt x="9" y="19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g302cb39ab2d_0_102"/>
          <p:cNvSpPr/>
          <p:nvPr/>
        </p:nvSpPr>
        <p:spPr>
          <a:xfrm>
            <a:off x="9652000" y="3502025"/>
            <a:ext cx="446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g302cb39ab2d_0_102"/>
          <p:cNvSpPr/>
          <p:nvPr/>
        </p:nvSpPr>
        <p:spPr>
          <a:xfrm>
            <a:off x="10227733" y="3502025"/>
            <a:ext cx="459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Q3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g302cb39ab2d_0_102"/>
          <p:cNvSpPr/>
          <p:nvPr/>
        </p:nvSpPr>
        <p:spPr>
          <a:xfrm>
            <a:off x="9554633" y="5257800"/>
            <a:ext cx="402167" cy="131763"/>
          </a:xfrm>
          <a:custGeom>
            <a:rect b="b" l="l" r="r" t="t"/>
            <a:pathLst>
              <a:path extrusionOk="0" h="83" w="190">
                <a:moveTo>
                  <a:pt x="12" y="0"/>
                </a:moveTo>
                <a:lnTo>
                  <a:pt x="8" y="0"/>
                </a:lnTo>
                <a:lnTo>
                  <a:pt x="6" y="1"/>
                </a:lnTo>
                <a:lnTo>
                  <a:pt x="3" y="1"/>
                </a:lnTo>
                <a:lnTo>
                  <a:pt x="2" y="3"/>
                </a:lnTo>
                <a:lnTo>
                  <a:pt x="0" y="6"/>
                </a:lnTo>
                <a:lnTo>
                  <a:pt x="0" y="10"/>
                </a:lnTo>
                <a:lnTo>
                  <a:pt x="2" y="12"/>
                </a:lnTo>
                <a:lnTo>
                  <a:pt x="2" y="15"/>
                </a:lnTo>
                <a:lnTo>
                  <a:pt x="3" y="17"/>
                </a:lnTo>
                <a:lnTo>
                  <a:pt x="6" y="18"/>
                </a:lnTo>
                <a:lnTo>
                  <a:pt x="178" y="83"/>
                </a:lnTo>
                <a:lnTo>
                  <a:pt x="183" y="83"/>
                </a:lnTo>
                <a:lnTo>
                  <a:pt x="184" y="82"/>
                </a:lnTo>
                <a:lnTo>
                  <a:pt x="187" y="82"/>
                </a:lnTo>
                <a:lnTo>
                  <a:pt x="189" y="80"/>
                </a:lnTo>
                <a:lnTo>
                  <a:pt x="190" y="77"/>
                </a:lnTo>
                <a:lnTo>
                  <a:pt x="190" y="73"/>
                </a:lnTo>
                <a:lnTo>
                  <a:pt x="189" y="71"/>
                </a:lnTo>
                <a:lnTo>
                  <a:pt x="189" y="68"/>
                </a:lnTo>
                <a:lnTo>
                  <a:pt x="187" y="67"/>
                </a:lnTo>
                <a:lnTo>
                  <a:pt x="184" y="65"/>
                </a:lnTo>
                <a:lnTo>
                  <a:pt x="1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g302cb39ab2d_0_102"/>
          <p:cNvSpPr/>
          <p:nvPr/>
        </p:nvSpPr>
        <p:spPr>
          <a:xfrm>
            <a:off x="9554633" y="5360988"/>
            <a:ext cx="402167" cy="103187"/>
          </a:xfrm>
          <a:custGeom>
            <a:rect b="b" l="l" r="r" t="t"/>
            <a:pathLst>
              <a:path extrusionOk="0" h="65" w="190">
                <a:moveTo>
                  <a:pt x="184" y="18"/>
                </a:moveTo>
                <a:lnTo>
                  <a:pt x="187" y="15"/>
                </a:lnTo>
                <a:lnTo>
                  <a:pt x="190" y="12"/>
                </a:lnTo>
                <a:lnTo>
                  <a:pt x="190" y="6"/>
                </a:lnTo>
                <a:lnTo>
                  <a:pt x="187" y="3"/>
                </a:lnTo>
                <a:lnTo>
                  <a:pt x="184" y="0"/>
                </a:lnTo>
                <a:lnTo>
                  <a:pt x="178" y="0"/>
                </a:lnTo>
                <a:lnTo>
                  <a:pt x="6" y="47"/>
                </a:lnTo>
                <a:lnTo>
                  <a:pt x="3" y="50"/>
                </a:lnTo>
                <a:lnTo>
                  <a:pt x="0" y="53"/>
                </a:lnTo>
                <a:lnTo>
                  <a:pt x="0" y="59"/>
                </a:lnTo>
                <a:lnTo>
                  <a:pt x="3" y="62"/>
                </a:lnTo>
                <a:lnTo>
                  <a:pt x="6" y="65"/>
                </a:lnTo>
                <a:lnTo>
                  <a:pt x="12" y="65"/>
                </a:lnTo>
                <a:lnTo>
                  <a:pt x="184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g302cb39ab2d_0_102"/>
          <p:cNvSpPr/>
          <p:nvPr/>
        </p:nvSpPr>
        <p:spPr>
          <a:xfrm>
            <a:off x="9652000" y="3840163"/>
            <a:ext cx="446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g302cb39ab2d_0_102"/>
          <p:cNvSpPr/>
          <p:nvPr/>
        </p:nvSpPr>
        <p:spPr>
          <a:xfrm>
            <a:off x="10227733" y="3836988"/>
            <a:ext cx="459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Q2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g302cb39ab2d_0_102"/>
          <p:cNvSpPr/>
          <p:nvPr/>
        </p:nvSpPr>
        <p:spPr>
          <a:xfrm>
            <a:off x="9652000" y="4176713"/>
            <a:ext cx="446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2" name="Google Shape;522;g302cb39ab2d_0_102"/>
          <p:cNvSpPr/>
          <p:nvPr/>
        </p:nvSpPr>
        <p:spPr>
          <a:xfrm>
            <a:off x="10227733" y="4175125"/>
            <a:ext cx="459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g302cb39ab2d_0_102"/>
          <p:cNvSpPr/>
          <p:nvPr/>
        </p:nvSpPr>
        <p:spPr>
          <a:xfrm>
            <a:off x="9652000" y="4511675"/>
            <a:ext cx="446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g302cb39ab2d_0_102"/>
          <p:cNvSpPr/>
          <p:nvPr/>
        </p:nvSpPr>
        <p:spPr>
          <a:xfrm>
            <a:off x="10227733" y="4511675"/>
            <a:ext cx="459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Q0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g302cb39ab2d_0_102"/>
          <p:cNvSpPr/>
          <p:nvPr/>
        </p:nvSpPr>
        <p:spPr>
          <a:xfrm>
            <a:off x="7226300" y="3032125"/>
            <a:ext cx="1646767" cy="2095500"/>
          </a:xfrm>
          <a:custGeom>
            <a:rect b="b" l="l" r="r" t="t"/>
            <a:pathLst>
              <a:path extrusionOk="0" h="1320" w="778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314"/>
                </a:lnTo>
                <a:lnTo>
                  <a:pt x="3" y="1317"/>
                </a:lnTo>
                <a:lnTo>
                  <a:pt x="6" y="1320"/>
                </a:lnTo>
                <a:lnTo>
                  <a:pt x="772" y="1320"/>
                </a:lnTo>
                <a:lnTo>
                  <a:pt x="775" y="1317"/>
                </a:lnTo>
                <a:lnTo>
                  <a:pt x="778" y="1314"/>
                </a:lnTo>
                <a:lnTo>
                  <a:pt x="778" y="6"/>
                </a:lnTo>
                <a:lnTo>
                  <a:pt x="775" y="3"/>
                </a:lnTo>
                <a:lnTo>
                  <a:pt x="772" y="0"/>
                </a:lnTo>
                <a:lnTo>
                  <a:pt x="769" y="0"/>
                </a:lnTo>
                <a:lnTo>
                  <a:pt x="9" y="0"/>
                </a:lnTo>
                <a:lnTo>
                  <a:pt x="9" y="18"/>
                </a:lnTo>
                <a:lnTo>
                  <a:pt x="769" y="18"/>
                </a:lnTo>
                <a:lnTo>
                  <a:pt x="760" y="9"/>
                </a:lnTo>
                <a:lnTo>
                  <a:pt x="760" y="1311"/>
                </a:lnTo>
                <a:lnTo>
                  <a:pt x="769" y="1302"/>
                </a:lnTo>
                <a:lnTo>
                  <a:pt x="9" y="1302"/>
                </a:lnTo>
                <a:lnTo>
                  <a:pt x="18" y="1311"/>
                </a:lnTo>
                <a:lnTo>
                  <a:pt x="18" y="9"/>
                </a:lnTo>
                <a:lnTo>
                  <a:pt x="9" y="18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g302cb39ab2d_0_102"/>
          <p:cNvSpPr/>
          <p:nvPr/>
        </p:nvSpPr>
        <p:spPr>
          <a:xfrm>
            <a:off x="8854017" y="3559175"/>
            <a:ext cx="700615" cy="30163"/>
          </a:xfrm>
          <a:custGeom>
            <a:rect b="b" l="l" r="r" t="t"/>
            <a:pathLst>
              <a:path extrusionOk="0" h="19" w="331">
                <a:moveTo>
                  <a:pt x="322" y="19"/>
                </a:moveTo>
                <a:lnTo>
                  <a:pt x="325" y="19"/>
                </a:lnTo>
                <a:lnTo>
                  <a:pt x="328" y="16"/>
                </a:lnTo>
                <a:lnTo>
                  <a:pt x="331" y="13"/>
                </a:lnTo>
                <a:lnTo>
                  <a:pt x="331" y="6"/>
                </a:lnTo>
                <a:lnTo>
                  <a:pt x="328" y="3"/>
                </a:lnTo>
                <a:lnTo>
                  <a:pt x="325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9" y="19"/>
                </a:lnTo>
                <a:lnTo>
                  <a:pt x="322" y="1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g302cb39ab2d_0_102"/>
          <p:cNvSpPr/>
          <p:nvPr/>
        </p:nvSpPr>
        <p:spPr>
          <a:xfrm>
            <a:off x="8854017" y="3921125"/>
            <a:ext cx="700615" cy="28575"/>
          </a:xfrm>
          <a:custGeom>
            <a:rect b="b" l="l" r="r" t="t"/>
            <a:pathLst>
              <a:path extrusionOk="0" h="18" w="331">
                <a:moveTo>
                  <a:pt x="322" y="18"/>
                </a:moveTo>
                <a:lnTo>
                  <a:pt x="325" y="18"/>
                </a:lnTo>
                <a:lnTo>
                  <a:pt x="328" y="15"/>
                </a:lnTo>
                <a:lnTo>
                  <a:pt x="331" y="12"/>
                </a:lnTo>
                <a:lnTo>
                  <a:pt x="331" y="6"/>
                </a:lnTo>
                <a:lnTo>
                  <a:pt x="328" y="3"/>
                </a:lnTo>
                <a:lnTo>
                  <a:pt x="325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322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g302cb39ab2d_0_102"/>
          <p:cNvSpPr/>
          <p:nvPr/>
        </p:nvSpPr>
        <p:spPr>
          <a:xfrm>
            <a:off x="8854017" y="4283075"/>
            <a:ext cx="700615" cy="28575"/>
          </a:xfrm>
          <a:custGeom>
            <a:rect b="b" l="l" r="r" t="t"/>
            <a:pathLst>
              <a:path extrusionOk="0" h="18" w="331">
                <a:moveTo>
                  <a:pt x="322" y="18"/>
                </a:moveTo>
                <a:lnTo>
                  <a:pt x="325" y="18"/>
                </a:lnTo>
                <a:lnTo>
                  <a:pt x="328" y="15"/>
                </a:lnTo>
                <a:lnTo>
                  <a:pt x="331" y="12"/>
                </a:lnTo>
                <a:lnTo>
                  <a:pt x="331" y="6"/>
                </a:lnTo>
                <a:lnTo>
                  <a:pt x="328" y="3"/>
                </a:lnTo>
                <a:lnTo>
                  <a:pt x="325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322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g302cb39ab2d_0_102"/>
          <p:cNvSpPr/>
          <p:nvPr/>
        </p:nvSpPr>
        <p:spPr>
          <a:xfrm>
            <a:off x="8854017" y="4598988"/>
            <a:ext cx="762000" cy="28575"/>
          </a:xfrm>
          <a:custGeom>
            <a:rect b="b" l="l" r="r" t="t"/>
            <a:pathLst>
              <a:path extrusionOk="0" h="18" w="360">
                <a:moveTo>
                  <a:pt x="351" y="18"/>
                </a:moveTo>
                <a:lnTo>
                  <a:pt x="354" y="18"/>
                </a:lnTo>
                <a:lnTo>
                  <a:pt x="357" y="15"/>
                </a:lnTo>
                <a:lnTo>
                  <a:pt x="360" y="12"/>
                </a:lnTo>
                <a:lnTo>
                  <a:pt x="360" y="6"/>
                </a:lnTo>
                <a:lnTo>
                  <a:pt x="357" y="3"/>
                </a:lnTo>
                <a:lnTo>
                  <a:pt x="354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351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0" name="Google Shape;530;g302cb39ab2d_0_102"/>
          <p:cNvSpPr/>
          <p:nvPr/>
        </p:nvSpPr>
        <p:spPr>
          <a:xfrm>
            <a:off x="10661651" y="3559175"/>
            <a:ext cx="222249" cy="30163"/>
          </a:xfrm>
          <a:custGeom>
            <a:rect b="b" l="l" r="r" t="t"/>
            <a:pathLst>
              <a:path extrusionOk="0" h="19" w="105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99" y="19"/>
                </a:lnTo>
                <a:lnTo>
                  <a:pt x="102" y="16"/>
                </a:lnTo>
                <a:lnTo>
                  <a:pt x="105" y="13"/>
                </a:lnTo>
                <a:lnTo>
                  <a:pt x="105" y="6"/>
                </a:lnTo>
                <a:lnTo>
                  <a:pt x="102" y="3"/>
                </a:lnTo>
                <a:lnTo>
                  <a:pt x="99" y="0"/>
                </a:lnTo>
                <a:lnTo>
                  <a:pt x="96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g302cb39ab2d_0_102"/>
          <p:cNvSpPr/>
          <p:nvPr/>
        </p:nvSpPr>
        <p:spPr>
          <a:xfrm>
            <a:off x="10843684" y="2655888"/>
            <a:ext cx="40216" cy="933450"/>
          </a:xfrm>
          <a:custGeom>
            <a:rect b="b" l="l" r="r" t="t"/>
            <a:pathLst>
              <a:path extrusionOk="0" h="588" w="19">
                <a:moveTo>
                  <a:pt x="0" y="579"/>
                </a:moveTo>
                <a:lnTo>
                  <a:pt x="0" y="582"/>
                </a:lnTo>
                <a:lnTo>
                  <a:pt x="4" y="585"/>
                </a:lnTo>
                <a:lnTo>
                  <a:pt x="7" y="588"/>
                </a:lnTo>
                <a:lnTo>
                  <a:pt x="13" y="588"/>
                </a:lnTo>
                <a:lnTo>
                  <a:pt x="16" y="585"/>
                </a:lnTo>
                <a:lnTo>
                  <a:pt x="19" y="582"/>
                </a:lnTo>
                <a:lnTo>
                  <a:pt x="19" y="6"/>
                </a:lnTo>
                <a:lnTo>
                  <a:pt x="16" y="3"/>
                </a:lnTo>
                <a:lnTo>
                  <a:pt x="13" y="0"/>
                </a:ln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9"/>
                </a:lnTo>
                <a:lnTo>
                  <a:pt x="0" y="57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g302cb39ab2d_0_102"/>
          <p:cNvSpPr/>
          <p:nvPr/>
        </p:nvSpPr>
        <p:spPr>
          <a:xfrm>
            <a:off x="6864351" y="2655888"/>
            <a:ext cx="4019552" cy="28575"/>
          </a:xfrm>
          <a:custGeom>
            <a:rect b="b" l="l" r="r" t="t"/>
            <a:pathLst>
              <a:path extrusionOk="0" h="18" w="1899">
                <a:moveTo>
                  <a:pt x="1890" y="18"/>
                </a:moveTo>
                <a:lnTo>
                  <a:pt x="1893" y="18"/>
                </a:lnTo>
                <a:lnTo>
                  <a:pt x="1896" y="15"/>
                </a:lnTo>
                <a:lnTo>
                  <a:pt x="1899" y="12"/>
                </a:lnTo>
                <a:lnTo>
                  <a:pt x="1899" y="6"/>
                </a:lnTo>
                <a:lnTo>
                  <a:pt x="1896" y="3"/>
                </a:lnTo>
                <a:lnTo>
                  <a:pt x="1893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1890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3" name="Google Shape;533;g302cb39ab2d_0_102"/>
          <p:cNvSpPr/>
          <p:nvPr/>
        </p:nvSpPr>
        <p:spPr>
          <a:xfrm>
            <a:off x="6881284" y="3584575"/>
            <a:ext cx="400049" cy="28575"/>
          </a:xfrm>
          <a:custGeom>
            <a:rect b="b" l="l" r="r" t="t"/>
            <a:pathLst>
              <a:path extrusionOk="0" h="18" w="189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183" y="18"/>
                </a:lnTo>
                <a:lnTo>
                  <a:pt x="186" y="15"/>
                </a:lnTo>
                <a:lnTo>
                  <a:pt x="189" y="12"/>
                </a:lnTo>
                <a:lnTo>
                  <a:pt x="189" y="6"/>
                </a:lnTo>
                <a:lnTo>
                  <a:pt x="186" y="3"/>
                </a:lnTo>
                <a:lnTo>
                  <a:pt x="183" y="0"/>
                </a:lnTo>
                <a:lnTo>
                  <a:pt x="180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g302cb39ab2d_0_102"/>
          <p:cNvSpPr/>
          <p:nvPr/>
        </p:nvSpPr>
        <p:spPr>
          <a:xfrm>
            <a:off x="10661651" y="3921125"/>
            <a:ext cx="402167" cy="28575"/>
          </a:xfrm>
          <a:custGeom>
            <a:rect b="b" l="l" r="r" t="t"/>
            <a:pathLst>
              <a:path extrusionOk="0" h="18" w="190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184" y="18"/>
                </a:lnTo>
                <a:lnTo>
                  <a:pt x="187" y="15"/>
                </a:lnTo>
                <a:lnTo>
                  <a:pt x="190" y="12"/>
                </a:lnTo>
                <a:lnTo>
                  <a:pt x="190" y="6"/>
                </a:lnTo>
                <a:lnTo>
                  <a:pt x="187" y="3"/>
                </a:lnTo>
                <a:lnTo>
                  <a:pt x="184" y="0"/>
                </a:lnTo>
                <a:lnTo>
                  <a:pt x="181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g302cb39ab2d_0_102"/>
          <p:cNvSpPr/>
          <p:nvPr/>
        </p:nvSpPr>
        <p:spPr>
          <a:xfrm>
            <a:off x="11025717" y="2520950"/>
            <a:ext cx="38100" cy="1428750"/>
          </a:xfrm>
          <a:custGeom>
            <a:rect b="b" l="l" r="r" t="t"/>
            <a:pathLst>
              <a:path extrusionOk="0" h="900" w="18">
                <a:moveTo>
                  <a:pt x="0" y="891"/>
                </a:moveTo>
                <a:lnTo>
                  <a:pt x="0" y="894"/>
                </a:lnTo>
                <a:lnTo>
                  <a:pt x="3" y="897"/>
                </a:lnTo>
                <a:lnTo>
                  <a:pt x="6" y="900"/>
                </a:lnTo>
                <a:lnTo>
                  <a:pt x="12" y="900"/>
                </a:lnTo>
                <a:lnTo>
                  <a:pt x="15" y="897"/>
                </a:lnTo>
                <a:lnTo>
                  <a:pt x="18" y="894"/>
                </a:lnTo>
                <a:lnTo>
                  <a:pt x="18" y="6"/>
                </a:lnTo>
                <a:lnTo>
                  <a:pt x="15" y="3"/>
                </a:lnTo>
                <a:lnTo>
                  <a:pt x="12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9"/>
                </a:lnTo>
                <a:lnTo>
                  <a:pt x="0" y="8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g302cb39ab2d_0_102"/>
          <p:cNvSpPr/>
          <p:nvPr/>
        </p:nvSpPr>
        <p:spPr>
          <a:xfrm>
            <a:off x="6682317" y="2520950"/>
            <a:ext cx="4381502" cy="28575"/>
          </a:xfrm>
          <a:custGeom>
            <a:rect b="b" l="l" r="r" t="t"/>
            <a:pathLst>
              <a:path extrusionOk="0" h="18" w="2070">
                <a:moveTo>
                  <a:pt x="2061" y="18"/>
                </a:moveTo>
                <a:lnTo>
                  <a:pt x="2064" y="18"/>
                </a:lnTo>
                <a:lnTo>
                  <a:pt x="2067" y="15"/>
                </a:lnTo>
                <a:lnTo>
                  <a:pt x="2070" y="12"/>
                </a:lnTo>
                <a:lnTo>
                  <a:pt x="2070" y="6"/>
                </a:lnTo>
                <a:lnTo>
                  <a:pt x="2067" y="3"/>
                </a:lnTo>
                <a:lnTo>
                  <a:pt x="2064" y="0"/>
                </a:ln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12"/>
                </a:lnTo>
                <a:lnTo>
                  <a:pt x="4" y="15"/>
                </a:lnTo>
                <a:lnTo>
                  <a:pt x="7" y="18"/>
                </a:lnTo>
                <a:lnTo>
                  <a:pt x="10" y="18"/>
                </a:lnTo>
                <a:lnTo>
                  <a:pt x="2061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7" name="Google Shape;537;g302cb39ab2d_0_102"/>
          <p:cNvSpPr/>
          <p:nvPr/>
        </p:nvSpPr>
        <p:spPr>
          <a:xfrm>
            <a:off x="6682317" y="3937000"/>
            <a:ext cx="582082" cy="28575"/>
          </a:xfrm>
          <a:custGeom>
            <a:rect b="b" l="l" r="r" t="t"/>
            <a:pathLst>
              <a:path extrusionOk="0" h="18" w="275">
                <a:moveTo>
                  <a:pt x="10" y="0"/>
                </a:move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12"/>
                </a:lnTo>
                <a:lnTo>
                  <a:pt x="4" y="15"/>
                </a:lnTo>
                <a:lnTo>
                  <a:pt x="7" y="18"/>
                </a:lnTo>
                <a:lnTo>
                  <a:pt x="269" y="18"/>
                </a:lnTo>
                <a:lnTo>
                  <a:pt x="272" y="15"/>
                </a:lnTo>
                <a:lnTo>
                  <a:pt x="275" y="12"/>
                </a:lnTo>
                <a:lnTo>
                  <a:pt x="275" y="6"/>
                </a:lnTo>
                <a:lnTo>
                  <a:pt x="272" y="3"/>
                </a:lnTo>
                <a:lnTo>
                  <a:pt x="269" y="0"/>
                </a:lnTo>
                <a:lnTo>
                  <a:pt x="266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g302cb39ab2d_0_102"/>
          <p:cNvSpPr/>
          <p:nvPr/>
        </p:nvSpPr>
        <p:spPr>
          <a:xfrm>
            <a:off x="10661651" y="4283075"/>
            <a:ext cx="520700" cy="28575"/>
          </a:xfrm>
          <a:custGeom>
            <a:rect b="b" l="l" r="r" t="t"/>
            <a:pathLst>
              <a:path extrusionOk="0" h="18" w="246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240" y="18"/>
                </a:lnTo>
                <a:lnTo>
                  <a:pt x="243" y="15"/>
                </a:lnTo>
                <a:lnTo>
                  <a:pt x="246" y="12"/>
                </a:lnTo>
                <a:lnTo>
                  <a:pt x="246" y="6"/>
                </a:lnTo>
                <a:lnTo>
                  <a:pt x="243" y="3"/>
                </a:lnTo>
                <a:lnTo>
                  <a:pt x="240" y="0"/>
                </a:lnTo>
                <a:lnTo>
                  <a:pt x="237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" name="Google Shape;539;g302cb39ab2d_0_102"/>
          <p:cNvSpPr/>
          <p:nvPr/>
        </p:nvSpPr>
        <p:spPr>
          <a:xfrm>
            <a:off x="11144251" y="4237038"/>
            <a:ext cx="99483" cy="74612"/>
          </a:xfrm>
          <a:custGeom>
            <a:rect b="b" l="l" r="r" t="t"/>
            <a:pathLst>
              <a:path extrusionOk="0" h="47" w="47">
                <a:moveTo>
                  <a:pt x="3" y="32"/>
                </a:moveTo>
                <a:lnTo>
                  <a:pt x="0" y="35"/>
                </a:lnTo>
                <a:lnTo>
                  <a:pt x="0" y="41"/>
                </a:lnTo>
                <a:lnTo>
                  <a:pt x="3" y="44"/>
                </a:lnTo>
                <a:lnTo>
                  <a:pt x="6" y="47"/>
                </a:lnTo>
                <a:lnTo>
                  <a:pt x="12" y="47"/>
                </a:lnTo>
                <a:lnTo>
                  <a:pt x="15" y="44"/>
                </a:lnTo>
                <a:lnTo>
                  <a:pt x="44" y="15"/>
                </a:lnTo>
                <a:lnTo>
                  <a:pt x="47" y="12"/>
                </a:lnTo>
                <a:lnTo>
                  <a:pt x="47" y="6"/>
                </a:lnTo>
                <a:lnTo>
                  <a:pt x="44" y="3"/>
                </a:lnTo>
                <a:lnTo>
                  <a:pt x="41" y="0"/>
                </a:lnTo>
                <a:lnTo>
                  <a:pt x="35" y="0"/>
                </a:lnTo>
                <a:lnTo>
                  <a:pt x="32" y="3"/>
                </a:lnTo>
                <a:lnTo>
                  <a:pt x="3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0" name="Google Shape;540;g302cb39ab2d_0_102"/>
          <p:cNvSpPr/>
          <p:nvPr/>
        </p:nvSpPr>
        <p:spPr>
          <a:xfrm>
            <a:off x="11205633" y="2386013"/>
            <a:ext cx="38100" cy="1879600"/>
          </a:xfrm>
          <a:custGeom>
            <a:rect b="b" l="l" r="r" t="t"/>
            <a:pathLst>
              <a:path extrusionOk="0" h="1184" w="18">
                <a:moveTo>
                  <a:pt x="0" y="1175"/>
                </a:moveTo>
                <a:lnTo>
                  <a:pt x="0" y="1178"/>
                </a:lnTo>
                <a:lnTo>
                  <a:pt x="3" y="1181"/>
                </a:lnTo>
                <a:lnTo>
                  <a:pt x="6" y="1184"/>
                </a:lnTo>
                <a:lnTo>
                  <a:pt x="12" y="1184"/>
                </a:lnTo>
                <a:lnTo>
                  <a:pt x="15" y="1181"/>
                </a:lnTo>
                <a:lnTo>
                  <a:pt x="18" y="1178"/>
                </a:lnTo>
                <a:lnTo>
                  <a:pt x="18" y="6"/>
                </a:lnTo>
                <a:lnTo>
                  <a:pt x="15" y="3"/>
                </a:lnTo>
                <a:lnTo>
                  <a:pt x="12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9"/>
                </a:lnTo>
                <a:lnTo>
                  <a:pt x="0" y="117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g302cb39ab2d_0_102"/>
          <p:cNvSpPr/>
          <p:nvPr/>
        </p:nvSpPr>
        <p:spPr>
          <a:xfrm>
            <a:off x="6502400" y="2386013"/>
            <a:ext cx="4741335" cy="28575"/>
          </a:xfrm>
          <a:custGeom>
            <a:rect b="b" l="l" r="r" t="t"/>
            <a:pathLst>
              <a:path extrusionOk="0" h="18" w="2240">
                <a:moveTo>
                  <a:pt x="2231" y="18"/>
                </a:moveTo>
                <a:lnTo>
                  <a:pt x="2234" y="18"/>
                </a:lnTo>
                <a:lnTo>
                  <a:pt x="2237" y="15"/>
                </a:lnTo>
                <a:lnTo>
                  <a:pt x="2240" y="12"/>
                </a:lnTo>
                <a:lnTo>
                  <a:pt x="2240" y="6"/>
                </a:lnTo>
                <a:lnTo>
                  <a:pt x="2237" y="3"/>
                </a:lnTo>
                <a:lnTo>
                  <a:pt x="2234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10" y="18"/>
                </a:lnTo>
                <a:lnTo>
                  <a:pt x="2231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g302cb39ab2d_0_102"/>
          <p:cNvSpPr/>
          <p:nvPr/>
        </p:nvSpPr>
        <p:spPr>
          <a:xfrm>
            <a:off x="6502400" y="4295775"/>
            <a:ext cx="762000" cy="28575"/>
          </a:xfrm>
          <a:custGeom>
            <a:rect b="b" l="l" r="r" t="t"/>
            <a:pathLst>
              <a:path extrusionOk="0" h="18" w="360">
                <a:moveTo>
                  <a:pt x="10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354" y="18"/>
                </a:lnTo>
                <a:lnTo>
                  <a:pt x="357" y="15"/>
                </a:lnTo>
                <a:lnTo>
                  <a:pt x="360" y="12"/>
                </a:lnTo>
                <a:lnTo>
                  <a:pt x="360" y="6"/>
                </a:lnTo>
                <a:lnTo>
                  <a:pt x="357" y="3"/>
                </a:lnTo>
                <a:lnTo>
                  <a:pt x="354" y="0"/>
                </a:lnTo>
                <a:lnTo>
                  <a:pt x="351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g302cb39ab2d_0_102"/>
          <p:cNvSpPr/>
          <p:nvPr/>
        </p:nvSpPr>
        <p:spPr>
          <a:xfrm>
            <a:off x="10661651" y="4645025"/>
            <a:ext cx="704849" cy="28575"/>
          </a:xfrm>
          <a:custGeom>
            <a:rect b="b" l="l" r="r" t="t"/>
            <a:pathLst>
              <a:path extrusionOk="0" h="18" w="333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327" y="18"/>
                </a:lnTo>
                <a:lnTo>
                  <a:pt x="330" y="15"/>
                </a:lnTo>
                <a:lnTo>
                  <a:pt x="333" y="12"/>
                </a:lnTo>
                <a:lnTo>
                  <a:pt x="333" y="6"/>
                </a:lnTo>
                <a:lnTo>
                  <a:pt x="330" y="3"/>
                </a:lnTo>
                <a:lnTo>
                  <a:pt x="327" y="0"/>
                </a:lnTo>
                <a:lnTo>
                  <a:pt x="323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4" name="Google Shape;544;g302cb39ab2d_0_102"/>
          <p:cNvSpPr/>
          <p:nvPr/>
        </p:nvSpPr>
        <p:spPr>
          <a:xfrm>
            <a:off x="11326284" y="4556125"/>
            <a:ext cx="97367" cy="117475"/>
          </a:xfrm>
          <a:custGeom>
            <a:rect b="b" l="l" r="r" t="t"/>
            <a:pathLst>
              <a:path extrusionOk="0" h="74" w="46">
                <a:moveTo>
                  <a:pt x="2" y="61"/>
                </a:moveTo>
                <a:lnTo>
                  <a:pt x="0" y="64"/>
                </a:lnTo>
                <a:lnTo>
                  <a:pt x="0" y="68"/>
                </a:lnTo>
                <a:lnTo>
                  <a:pt x="2" y="70"/>
                </a:lnTo>
                <a:lnTo>
                  <a:pt x="3" y="73"/>
                </a:lnTo>
                <a:lnTo>
                  <a:pt x="5" y="73"/>
                </a:lnTo>
                <a:lnTo>
                  <a:pt x="8" y="74"/>
                </a:lnTo>
                <a:lnTo>
                  <a:pt x="13" y="74"/>
                </a:lnTo>
                <a:lnTo>
                  <a:pt x="14" y="73"/>
                </a:lnTo>
                <a:lnTo>
                  <a:pt x="17" y="71"/>
                </a:lnTo>
                <a:lnTo>
                  <a:pt x="17" y="70"/>
                </a:lnTo>
                <a:lnTo>
                  <a:pt x="44" y="13"/>
                </a:lnTo>
                <a:lnTo>
                  <a:pt x="46" y="10"/>
                </a:lnTo>
                <a:lnTo>
                  <a:pt x="46" y="6"/>
                </a:lnTo>
                <a:lnTo>
                  <a:pt x="44" y="4"/>
                </a:lnTo>
                <a:lnTo>
                  <a:pt x="43" y="1"/>
                </a:lnTo>
                <a:lnTo>
                  <a:pt x="41" y="1"/>
                </a:lnTo>
                <a:lnTo>
                  <a:pt x="38" y="0"/>
                </a:lnTo>
                <a:lnTo>
                  <a:pt x="34" y="0"/>
                </a:lnTo>
                <a:lnTo>
                  <a:pt x="32" y="1"/>
                </a:lnTo>
                <a:lnTo>
                  <a:pt x="29" y="3"/>
                </a:lnTo>
                <a:lnTo>
                  <a:pt x="29" y="4"/>
                </a:lnTo>
                <a:lnTo>
                  <a:pt x="2" y="6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g302cb39ab2d_0_102"/>
          <p:cNvSpPr/>
          <p:nvPr/>
        </p:nvSpPr>
        <p:spPr>
          <a:xfrm>
            <a:off x="11385551" y="2247900"/>
            <a:ext cx="38100" cy="2336800"/>
          </a:xfrm>
          <a:custGeom>
            <a:rect b="b" l="l" r="r" t="t"/>
            <a:pathLst>
              <a:path extrusionOk="0" h="1472" w="18">
                <a:moveTo>
                  <a:pt x="0" y="1463"/>
                </a:moveTo>
                <a:lnTo>
                  <a:pt x="0" y="1466"/>
                </a:lnTo>
                <a:lnTo>
                  <a:pt x="3" y="1469"/>
                </a:lnTo>
                <a:lnTo>
                  <a:pt x="6" y="1472"/>
                </a:lnTo>
                <a:lnTo>
                  <a:pt x="12" y="1472"/>
                </a:lnTo>
                <a:lnTo>
                  <a:pt x="15" y="1469"/>
                </a:lnTo>
                <a:lnTo>
                  <a:pt x="18" y="1466"/>
                </a:lnTo>
                <a:lnTo>
                  <a:pt x="18" y="6"/>
                </a:lnTo>
                <a:lnTo>
                  <a:pt x="15" y="3"/>
                </a:lnTo>
                <a:lnTo>
                  <a:pt x="12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9"/>
                </a:lnTo>
                <a:lnTo>
                  <a:pt x="0" y="14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g302cb39ab2d_0_102"/>
          <p:cNvSpPr/>
          <p:nvPr/>
        </p:nvSpPr>
        <p:spPr>
          <a:xfrm>
            <a:off x="6320367" y="2247900"/>
            <a:ext cx="5103285" cy="28575"/>
          </a:xfrm>
          <a:custGeom>
            <a:rect b="b" l="l" r="r" t="t"/>
            <a:pathLst>
              <a:path extrusionOk="0" h="18" w="2411">
                <a:moveTo>
                  <a:pt x="2402" y="18"/>
                </a:moveTo>
                <a:lnTo>
                  <a:pt x="2405" y="18"/>
                </a:lnTo>
                <a:lnTo>
                  <a:pt x="2408" y="15"/>
                </a:lnTo>
                <a:lnTo>
                  <a:pt x="2411" y="12"/>
                </a:lnTo>
                <a:lnTo>
                  <a:pt x="2411" y="6"/>
                </a:lnTo>
                <a:lnTo>
                  <a:pt x="2408" y="3"/>
                </a:lnTo>
                <a:lnTo>
                  <a:pt x="2405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2402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g302cb39ab2d_0_102"/>
          <p:cNvSpPr/>
          <p:nvPr/>
        </p:nvSpPr>
        <p:spPr>
          <a:xfrm>
            <a:off x="6320367" y="4608513"/>
            <a:ext cx="944034" cy="28575"/>
          </a:xfrm>
          <a:custGeom>
            <a:rect b="b" l="l" r="r" t="t"/>
            <a:pathLst>
              <a:path extrusionOk="0" h="18" w="446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440" y="18"/>
                </a:lnTo>
                <a:lnTo>
                  <a:pt x="443" y="15"/>
                </a:lnTo>
                <a:lnTo>
                  <a:pt x="446" y="12"/>
                </a:lnTo>
                <a:lnTo>
                  <a:pt x="446" y="6"/>
                </a:lnTo>
                <a:lnTo>
                  <a:pt x="443" y="3"/>
                </a:lnTo>
                <a:lnTo>
                  <a:pt x="440" y="0"/>
                </a:lnTo>
                <a:lnTo>
                  <a:pt x="437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g302cb39ab2d_0_102"/>
          <p:cNvSpPr/>
          <p:nvPr/>
        </p:nvSpPr>
        <p:spPr>
          <a:xfrm>
            <a:off x="6623051" y="5368925"/>
            <a:ext cx="2931584" cy="28575"/>
          </a:xfrm>
          <a:custGeom>
            <a:rect b="b" l="l" r="r" t="t"/>
            <a:pathLst>
              <a:path extrusionOk="0" h="18" w="1385">
                <a:moveTo>
                  <a:pt x="1376" y="18"/>
                </a:moveTo>
                <a:lnTo>
                  <a:pt x="1379" y="18"/>
                </a:lnTo>
                <a:lnTo>
                  <a:pt x="1382" y="15"/>
                </a:lnTo>
                <a:lnTo>
                  <a:pt x="1385" y="12"/>
                </a:lnTo>
                <a:lnTo>
                  <a:pt x="1385" y="6"/>
                </a:lnTo>
                <a:lnTo>
                  <a:pt x="1382" y="3"/>
                </a:lnTo>
                <a:lnTo>
                  <a:pt x="1379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1376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g302cb39ab2d_0_102"/>
          <p:cNvSpPr/>
          <p:nvPr/>
        </p:nvSpPr>
        <p:spPr>
          <a:xfrm>
            <a:off x="5467351" y="5145088"/>
            <a:ext cx="1052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Clock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g302cb39ab2d_0_102"/>
          <p:cNvSpPr/>
          <p:nvPr/>
        </p:nvSpPr>
        <p:spPr>
          <a:xfrm>
            <a:off x="7603067" y="3006725"/>
            <a:ext cx="112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e-menter</a:t>
            </a:r>
            <a:endParaRPr b="1" baseline="-25000" i="1" sz="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51" name="Google Shape;551;g302cb39ab2d_0_102"/>
          <p:cNvCxnSpPr/>
          <p:nvPr/>
        </p:nvCxnSpPr>
        <p:spPr>
          <a:xfrm rot="10800000">
            <a:off x="6316133" y="2247800"/>
            <a:ext cx="0" cy="2387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2" name="Google Shape;552;g302cb39ab2d_0_102"/>
          <p:cNvCxnSpPr/>
          <p:nvPr/>
        </p:nvCxnSpPr>
        <p:spPr>
          <a:xfrm>
            <a:off x="6519333" y="2387600"/>
            <a:ext cx="0" cy="1943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g302cb39ab2d_0_102"/>
          <p:cNvCxnSpPr/>
          <p:nvPr/>
        </p:nvCxnSpPr>
        <p:spPr>
          <a:xfrm>
            <a:off x="6688667" y="2552700"/>
            <a:ext cx="0" cy="138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g302cb39ab2d_0_102"/>
          <p:cNvCxnSpPr/>
          <p:nvPr/>
        </p:nvCxnSpPr>
        <p:spPr>
          <a:xfrm>
            <a:off x="6874933" y="2654300"/>
            <a:ext cx="0" cy="952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g302cb39ab2d_0_102"/>
          <p:cNvSpPr/>
          <p:nvPr/>
        </p:nvSpPr>
        <p:spPr>
          <a:xfrm>
            <a:off x="7332133" y="3503613"/>
            <a:ext cx="31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A3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g302cb39ab2d_0_102"/>
          <p:cNvSpPr/>
          <p:nvPr/>
        </p:nvSpPr>
        <p:spPr>
          <a:xfrm>
            <a:off x="7332133" y="3841750"/>
            <a:ext cx="31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A2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7" name="Google Shape;557;g302cb39ab2d_0_102"/>
          <p:cNvSpPr/>
          <p:nvPr/>
        </p:nvSpPr>
        <p:spPr>
          <a:xfrm>
            <a:off x="7332133" y="4178300"/>
            <a:ext cx="31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A1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g302cb39ab2d_0_102"/>
          <p:cNvSpPr/>
          <p:nvPr/>
        </p:nvSpPr>
        <p:spPr>
          <a:xfrm>
            <a:off x="7332133" y="4513263"/>
            <a:ext cx="31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A0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g302cb39ab2d_0_102"/>
          <p:cNvSpPr/>
          <p:nvPr/>
        </p:nvSpPr>
        <p:spPr>
          <a:xfrm>
            <a:off x="8513233" y="3500438"/>
            <a:ext cx="26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g302cb39ab2d_0_102"/>
          <p:cNvSpPr/>
          <p:nvPr/>
        </p:nvSpPr>
        <p:spPr>
          <a:xfrm>
            <a:off x="8513233" y="3838575"/>
            <a:ext cx="26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g302cb39ab2d_0_102"/>
          <p:cNvSpPr/>
          <p:nvPr/>
        </p:nvSpPr>
        <p:spPr>
          <a:xfrm>
            <a:off x="8513233" y="4175125"/>
            <a:ext cx="26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g302cb39ab2d_0_102"/>
          <p:cNvSpPr/>
          <p:nvPr/>
        </p:nvSpPr>
        <p:spPr>
          <a:xfrm>
            <a:off x="8513233" y="4510088"/>
            <a:ext cx="26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 b="1" baseline="-25000" i="1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02cb39ab2d_0_201"/>
          <p:cNvSpPr txBox="1"/>
          <p:nvPr>
            <p:ph type="title"/>
          </p:nvPr>
        </p:nvSpPr>
        <p:spPr>
          <a:xfrm>
            <a:off x="954617" y="0"/>
            <a:ext cx="53961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4-bit Synchronous Counter with J-K</a:t>
            </a:r>
            <a:endParaRPr/>
          </a:p>
        </p:txBody>
      </p:sp>
      <p:sp>
        <p:nvSpPr>
          <p:cNvPr id="568" name="Google Shape;568;g302cb39ab2d_0_201"/>
          <p:cNvSpPr txBox="1"/>
          <p:nvPr>
            <p:ph idx="1" type="body"/>
          </p:nvPr>
        </p:nvSpPr>
        <p:spPr>
          <a:xfrm>
            <a:off x="1278468" y="1314450"/>
            <a:ext cx="138177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5725" lvl="0" marL="288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569" name="Google Shape;569;g302cb39ab2d_0_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595" y="1179955"/>
            <a:ext cx="8914518" cy="5494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g302cb39ab2d_0_201"/>
          <p:cNvPicPr preferRelativeResize="0"/>
          <p:nvPr/>
        </p:nvPicPr>
        <p:blipFill rotWithShape="1">
          <a:blip r:embed="rId4">
            <a:alphaModFix/>
          </a:blip>
          <a:srcRect b="45211" l="0" r="46737" t="0"/>
          <a:stretch/>
        </p:blipFill>
        <p:spPr>
          <a:xfrm>
            <a:off x="9573452" y="-245664"/>
            <a:ext cx="2618548" cy="1746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02cb39ab2d_0_252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K-Maps</a:t>
            </a:r>
            <a:endParaRPr/>
          </a:p>
        </p:txBody>
      </p:sp>
      <p:sp>
        <p:nvSpPr>
          <p:cNvPr id="576" name="Google Shape;576;g302cb39ab2d_0_252"/>
          <p:cNvSpPr txBox="1"/>
          <p:nvPr>
            <p:ph idx="1" type="body"/>
          </p:nvPr>
        </p:nvSpPr>
        <p:spPr>
          <a:xfrm>
            <a:off x="1278468" y="1314450"/>
            <a:ext cx="138177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5725" lvl="0" marL="288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577" name="Google Shape;577;g302cb39ab2d_0_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751" y="1310753"/>
            <a:ext cx="4661136" cy="495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g302cb39ab2d_0_252"/>
          <p:cNvPicPr preferRelativeResize="0"/>
          <p:nvPr/>
        </p:nvPicPr>
        <p:blipFill rotWithShape="1">
          <a:blip r:embed="rId4">
            <a:alphaModFix/>
          </a:blip>
          <a:srcRect b="0" l="58982" r="0" t="0"/>
          <a:stretch/>
        </p:blipFill>
        <p:spPr>
          <a:xfrm>
            <a:off x="8279656" y="4161287"/>
            <a:ext cx="2438400" cy="2096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g302cb39ab2d_0_252"/>
          <p:cNvPicPr preferRelativeResize="0"/>
          <p:nvPr/>
        </p:nvPicPr>
        <p:blipFill rotWithShape="1">
          <a:blip r:embed="rId4">
            <a:alphaModFix/>
          </a:blip>
          <a:srcRect b="0" l="0" r="58085" t="0"/>
          <a:stretch/>
        </p:blipFill>
        <p:spPr>
          <a:xfrm>
            <a:off x="8201089" y="1691043"/>
            <a:ext cx="2491804" cy="2096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02cb39ab2d_0_304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Equations</a:t>
            </a:r>
            <a:endParaRPr/>
          </a:p>
        </p:txBody>
      </p:sp>
      <p:sp>
        <p:nvSpPr>
          <p:cNvPr id="585" name="Google Shape;585;g302cb39ab2d_0_304"/>
          <p:cNvSpPr txBox="1"/>
          <p:nvPr>
            <p:ph idx="1" type="body"/>
          </p:nvPr>
        </p:nvSpPr>
        <p:spPr>
          <a:xfrm>
            <a:off x="1278468" y="1314450"/>
            <a:ext cx="13817700" cy="5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8925" lvl="0" marL="288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EN has been added to control the operation of the counter</a:t>
            </a:r>
            <a:endParaRPr/>
          </a:p>
          <a:p>
            <a:pPr indent="-149225" lvl="0" marL="288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149225" lvl="0" marL="288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149225" lvl="0" marL="288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149225" lvl="0" marL="288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149225" lvl="0" marL="288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288925" lvl="0" marL="288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This relations could be generalized</a:t>
            </a:r>
            <a:endParaRPr/>
          </a:p>
          <a:p>
            <a:pPr indent="-149225" lvl="0" marL="288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-288925" lvl="0" marL="288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A Carry Output (CO) has been added so that the counter could be extended to more stages</a:t>
            </a:r>
            <a:endParaRPr/>
          </a:p>
          <a:p>
            <a:pPr indent="-288925" lvl="0" marL="288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The implementation might be positive/negative edge triggered</a:t>
            </a:r>
            <a:endParaRPr sz="2200"/>
          </a:p>
        </p:txBody>
      </p:sp>
      <p:pic>
        <p:nvPicPr>
          <p:cNvPr id="586" name="Google Shape;586;g302cb39ab2d_0_3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7591" y="1799008"/>
            <a:ext cx="2846340" cy="173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g302cb39ab2d_0_3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9621" y="4164975"/>
            <a:ext cx="3548931" cy="379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Design an arbitrary counter that repeatedly follows the following sequence: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/>
              <a:t>		0, 1, 2, 4, 5, 6, 0, 1, 2, 4, 5, 6, 0. . . 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93" name="Google Shape;593;p3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April 8, 2023</a:t>
            </a:r>
            <a:endParaRPr/>
          </a:p>
        </p:txBody>
      </p:sp>
      <p:sp>
        <p:nvSpPr>
          <p:cNvPr id="594" name="Google Shape;594;p3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95" name="Google Shape;595;p3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6" name="Google Shape;596;p3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Arbitrary Counter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02" name="Google Shape;602;p3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Saturday, April 8, 2023</a:t>
            </a:r>
            <a:endParaRPr/>
          </a:p>
        </p:txBody>
      </p:sp>
      <p:sp>
        <p:nvSpPr>
          <p:cNvPr id="603" name="Google Shape;603;p3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04" name="Google Shape;604;p3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5" name="Google Shape;605;p3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Arbitrary Counter</a:t>
            </a:r>
            <a:endParaRPr/>
          </a:p>
        </p:txBody>
      </p:sp>
      <p:pic>
        <p:nvPicPr>
          <p:cNvPr id="606" name="Google Shape;60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8117" y="1752600"/>
            <a:ext cx="4384362" cy="3965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02cb39ab2d_0_405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Arbitrary Counter: State Table</a:t>
            </a:r>
            <a:endParaRPr/>
          </a:p>
        </p:txBody>
      </p:sp>
      <p:pic>
        <p:nvPicPr>
          <p:cNvPr id="612" name="Google Shape;612;g302cb39ab2d_0_4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2893" y="1247842"/>
            <a:ext cx="6357083" cy="325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g302cb39ab2d_0_4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3137" y="4734635"/>
            <a:ext cx="2045655" cy="915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g302cb39ab2d_0_405"/>
          <p:cNvPicPr preferRelativeResize="0"/>
          <p:nvPr/>
        </p:nvPicPr>
        <p:blipFill rotWithShape="1">
          <a:blip r:embed="rId5">
            <a:alphaModFix/>
          </a:blip>
          <a:srcRect b="45211" l="0" r="46737" t="0"/>
          <a:stretch/>
        </p:blipFill>
        <p:spPr>
          <a:xfrm>
            <a:off x="6714699" y="4537634"/>
            <a:ext cx="3020703" cy="2015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02cb39ab2d_0_456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Arbitrary Counter: Logic Diagram</a:t>
            </a:r>
            <a:endParaRPr/>
          </a:p>
        </p:txBody>
      </p:sp>
      <p:pic>
        <p:nvPicPr>
          <p:cNvPr id="620" name="Google Shape;620;g302cb39ab2d_0_4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2669" y="1385390"/>
            <a:ext cx="5855947" cy="3121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g302cb39ab2d_0_4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2857" y="4871113"/>
            <a:ext cx="2045655" cy="915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02cb39ab2d_0_512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 bit up down Synchronous Counter</a:t>
            </a:r>
            <a:endParaRPr/>
          </a:p>
        </p:txBody>
      </p:sp>
      <p:pic>
        <p:nvPicPr>
          <p:cNvPr id="627" name="Google Shape;627;g302cb39ab2d_0_5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8300" y="1343025"/>
            <a:ext cx="5402074" cy="4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g302cb39ab2d_0_5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550" y="134650"/>
            <a:ext cx="9388125" cy="64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02cb39ab2d_0_525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 bit up down Synchronous Counter</a:t>
            </a:r>
            <a:endParaRPr/>
          </a:p>
        </p:txBody>
      </p:sp>
      <p:pic>
        <p:nvPicPr>
          <p:cNvPr id="638" name="Google Shape;638;g302cb39ab2d_0_5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050" y="754575"/>
            <a:ext cx="8653800" cy="62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02cb39ab2d_0_531"/>
          <p:cNvSpPr txBox="1"/>
          <p:nvPr>
            <p:ph type="title"/>
          </p:nvPr>
        </p:nvSpPr>
        <p:spPr>
          <a:xfrm>
            <a:off x="1272823" y="0"/>
            <a:ext cx="138177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 bit up down Synchronous Counter</a:t>
            </a:r>
            <a:endParaRPr/>
          </a:p>
        </p:txBody>
      </p:sp>
      <p:pic>
        <p:nvPicPr>
          <p:cNvPr id="644" name="Google Shape;644;g302cb39ab2d_0_5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825" y="1306450"/>
            <a:ext cx="8930925" cy="481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650" name="Google Shape;650;p4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51" name="Google Shape;651;p40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Friday, April 7, 2023</a:t>
            </a:r>
            <a:endParaRPr/>
          </a:p>
        </p:txBody>
      </p:sp>
      <p:sp>
        <p:nvSpPr>
          <p:cNvPr id="652" name="Google Shape;652;p40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53" name="Google Shape;653;p40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