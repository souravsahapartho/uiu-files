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4" r:id="rId37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8" d="100"/>
          <a:sy n="138" d="100"/>
        </p:scale>
        <p:origin x="834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255753"/>
            <a:ext cx="8374549" cy="1177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‹#›</a:t>
            </a:fld>
            <a:endParaRPr spc="-1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‹#›</a:t>
            </a:fld>
            <a:endParaRPr spc="-1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‹#›</a:t>
            </a:fld>
            <a:endParaRPr spc="-1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‹#›</a:t>
            </a:fld>
            <a:endParaRPr spc="-1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‹#›</a:t>
            </a:fld>
            <a:endParaRPr spc="-1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CCA6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4416" y="418296"/>
            <a:ext cx="2995166" cy="726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2529" y="1048894"/>
            <a:ext cx="7838940" cy="1516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93234" y="4772514"/>
            <a:ext cx="180340" cy="171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‹#›</a:t>
            </a:fld>
            <a:endParaRPr spc="-1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jpg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4012" y="756699"/>
            <a:ext cx="1082040" cy="1125220"/>
          </a:xfrm>
          <a:custGeom>
            <a:avLst/>
            <a:gdLst/>
            <a:ahLst/>
            <a:cxnLst/>
            <a:rect l="l" t="t" r="r" b="b"/>
            <a:pathLst>
              <a:path w="1082039" h="1125220">
                <a:moveTo>
                  <a:pt x="0" y="1124949"/>
                </a:moveTo>
                <a:lnTo>
                  <a:pt x="0" y="0"/>
                </a:lnTo>
                <a:lnTo>
                  <a:pt x="1081624" y="0"/>
                </a:lnTo>
              </a:path>
            </a:pathLst>
          </a:custGeom>
          <a:ln w="28574">
            <a:solidFill>
              <a:srgbClr val="CCA6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18349" y="3266725"/>
            <a:ext cx="1082040" cy="1125220"/>
          </a:xfrm>
          <a:custGeom>
            <a:avLst/>
            <a:gdLst/>
            <a:ahLst/>
            <a:cxnLst/>
            <a:rect l="l" t="t" r="r" b="b"/>
            <a:pathLst>
              <a:path w="1082039" h="1125220">
                <a:moveTo>
                  <a:pt x="1081624" y="0"/>
                </a:moveTo>
                <a:lnTo>
                  <a:pt x="1081624" y="1124949"/>
                </a:lnTo>
                <a:lnTo>
                  <a:pt x="0" y="1124949"/>
                </a:lnTo>
              </a:path>
            </a:pathLst>
          </a:custGeom>
          <a:ln w="28574">
            <a:solidFill>
              <a:srgbClr val="CCA6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61165" y="2048028"/>
            <a:ext cx="182166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latin typeface="Microsoft Sans Serif"/>
                <a:cs typeface="Microsoft Sans Serif"/>
              </a:rPr>
              <a:t>Decoders</a:t>
            </a:r>
            <a:endParaRPr sz="320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57867" y="2678666"/>
            <a:ext cx="3663715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305"/>
              </a:lnSpc>
              <a:spcBef>
                <a:spcPts val="100"/>
              </a:spcBef>
            </a:pPr>
            <a:r>
              <a:rPr sz="2100" dirty="0">
                <a:latin typeface="Microsoft Sans Serif"/>
                <a:cs typeface="Microsoft Sans Serif"/>
              </a:rPr>
              <a:t>Abu Humayed Azim Fahmid</a:t>
            </a:r>
          </a:p>
          <a:p>
            <a:pPr algn="ctr">
              <a:lnSpc>
                <a:spcPts val="1945"/>
              </a:lnSpc>
            </a:pPr>
            <a:r>
              <a:rPr sz="1800" dirty="0">
                <a:latin typeface="Microsoft Sans Serif"/>
                <a:cs typeface="Microsoft Sans Serif"/>
              </a:rPr>
              <a:t>Lecturer, CSE Dept., UIU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6652" y="732037"/>
            <a:ext cx="6874269" cy="420403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190127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0" dirty="0">
                <a:latin typeface="Microsoft Sans Serif"/>
                <a:cs typeface="Microsoft Sans Serif"/>
              </a:rPr>
              <a:t>Decoders</a:t>
            </a:r>
            <a:endParaRPr sz="320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2</a:t>
            </a:fld>
            <a:endParaRPr spc="-150" dirty="0"/>
          </a:p>
        </p:txBody>
      </p:sp>
      <p:sp>
        <p:nvSpPr>
          <p:cNvPr id="4" name="object 4"/>
          <p:cNvSpPr txBox="1"/>
          <p:nvPr/>
        </p:nvSpPr>
        <p:spPr>
          <a:xfrm>
            <a:off x="475249" y="1093189"/>
            <a:ext cx="5629275" cy="9169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20"/>
              </a:spcBef>
              <a:buSzPct val="112500"/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600" spc="20" dirty="0">
                <a:latin typeface="Microsoft Sans Serif"/>
                <a:cs typeface="Microsoft Sans Serif"/>
              </a:rPr>
              <a:t>Extract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spc="65" dirty="0">
                <a:latin typeface="Microsoft Sans Serif"/>
                <a:cs typeface="Microsoft Sans Serif"/>
              </a:rPr>
              <a:t>“Information”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spc="105" dirty="0">
                <a:latin typeface="Microsoft Sans Serif"/>
                <a:cs typeface="Microsoft Sans Serif"/>
              </a:rPr>
              <a:t>from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spc="70" dirty="0">
                <a:latin typeface="Microsoft Sans Serif"/>
                <a:cs typeface="Microsoft Sans Serif"/>
              </a:rPr>
              <a:t>the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30" dirty="0">
                <a:latin typeface="Microsoft Sans Serif"/>
                <a:cs typeface="Microsoft Sans Serif"/>
              </a:rPr>
              <a:t>code</a:t>
            </a:r>
            <a:endParaRPr sz="1600">
              <a:latin typeface="Microsoft Sans Serif"/>
              <a:cs typeface="Microsoft Sans Serif"/>
            </a:endParaRPr>
          </a:p>
          <a:p>
            <a:pPr marL="379095" indent="-367030">
              <a:lnSpc>
                <a:spcPct val="100000"/>
              </a:lnSpc>
              <a:spcBef>
                <a:spcPts val="565"/>
              </a:spcBef>
              <a:buSzPct val="112500"/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600" spc="30" dirty="0">
                <a:latin typeface="Microsoft Sans Serif"/>
                <a:cs typeface="Microsoft Sans Serif"/>
              </a:rPr>
              <a:t>Binary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30" dirty="0">
                <a:latin typeface="Microsoft Sans Serif"/>
                <a:cs typeface="Microsoft Sans Serif"/>
              </a:rPr>
              <a:t>Decoder</a:t>
            </a:r>
            <a:endParaRPr sz="1600">
              <a:latin typeface="Microsoft Sans Serif"/>
              <a:cs typeface="Microsoft Sans Serif"/>
            </a:endParaRPr>
          </a:p>
          <a:p>
            <a:pPr marL="836294" lvl="1" indent="-336550">
              <a:lnSpc>
                <a:spcPct val="100000"/>
              </a:lnSpc>
              <a:spcBef>
                <a:spcPts val="375"/>
              </a:spcBef>
              <a:buSzPct val="87500"/>
              <a:buFont typeface="Arial MT"/>
              <a:buChar char="■"/>
              <a:tabLst>
                <a:tab pos="836294" algn="l"/>
                <a:tab pos="836930" algn="l"/>
              </a:tabLst>
            </a:pPr>
            <a:r>
              <a:rPr sz="1600" spc="10" dirty="0">
                <a:latin typeface="Microsoft Sans Serif"/>
                <a:cs typeface="Microsoft Sans Serif"/>
              </a:rPr>
              <a:t>Example: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40" dirty="0">
                <a:latin typeface="Microsoft Sans Serif"/>
                <a:cs typeface="Microsoft Sans Serif"/>
              </a:rPr>
              <a:t>What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is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70" dirty="0">
                <a:latin typeface="Microsoft Sans Serif"/>
                <a:cs typeface="Microsoft Sans Serif"/>
              </a:rPr>
              <a:t>meant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40" dirty="0">
                <a:latin typeface="Microsoft Sans Serif"/>
                <a:cs typeface="Microsoft Sans Serif"/>
              </a:rPr>
              <a:t>by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a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45" dirty="0">
                <a:latin typeface="Microsoft Sans Serif"/>
                <a:cs typeface="Microsoft Sans Serif"/>
              </a:rPr>
              <a:t>2-bit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30" dirty="0">
                <a:latin typeface="Microsoft Sans Serif"/>
                <a:cs typeface="Microsoft Sans Serif"/>
              </a:rPr>
              <a:t>Binary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35" dirty="0">
                <a:latin typeface="Microsoft Sans Serif"/>
                <a:cs typeface="Microsoft Sans Serif"/>
              </a:rPr>
              <a:t>Number?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418727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0" dirty="0">
                <a:latin typeface="Microsoft Sans Serif"/>
                <a:cs typeface="Microsoft Sans Serif"/>
              </a:rPr>
              <a:t>2-to-4 Line Decoder</a:t>
            </a:r>
            <a:endParaRPr sz="32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9775" y="1614475"/>
            <a:ext cx="3057524" cy="19145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76375" y="1365100"/>
            <a:ext cx="3137914" cy="239333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3</a:t>
            </a:fld>
            <a:endParaRPr spc="-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304736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b="0" spc="-260" dirty="0">
                <a:latin typeface="Microsoft Sans Serif"/>
                <a:cs typeface="Microsoft Sans Serif"/>
              </a:rPr>
              <a:t>2-</a:t>
            </a:r>
            <a:r>
              <a:rPr sz="3750" b="0" spc="-345" dirty="0">
                <a:latin typeface="Microsoft Sans Serif"/>
                <a:cs typeface="Microsoft Sans Serif"/>
              </a:rPr>
              <a:t>to-4</a:t>
            </a:r>
            <a:r>
              <a:rPr sz="3750" b="0" spc="-280" dirty="0">
                <a:latin typeface="Microsoft Sans Serif"/>
                <a:cs typeface="Microsoft Sans Serif"/>
              </a:rPr>
              <a:t> </a:t>
            </a:r>
            <a:r>
              <a:rPr sz="3750" b="0" spc="-545" dirty="0">
                <a:latin typeface="Microsoft Sans Serif"/>
                <a:cs typeface="Microsoft Sans Serif"/>
              </a:rPr>
              <a:t>Line</a:t>
            </a:r>
            <a:r>
              <a:rPr sz="3750" b="0" spc="-280" dirty="0">
                <a:latin typeface="Microsoft Sans Serif"/>
                <a:cs typeface="Microsoft Sans Serif"/>
              </a:rPr>
              <a:t> </a:t>
            </a:r>
            <a:r>
              <a:rPr sz="3750" b="0" spc="-670" dirty="0">
                <a:latin typeface="Microsoft Sans Serif"/>
                <a:cs typeface="Microsoft Sans Serif"/>
              </a:rPr>
              <a:t>Decoder</a:t>
            </a:r>
            <a:endParaRPr sz="375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5112" y="3651137"/>
            <a:ext cx="3505199" cy="10667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9775" y="1312912"/>
            <a:ext cx="3057524" cy="19145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76375" y="1063537"/>
            <a:ext cx="3137914" cy="239333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4</a:t>
            </a:fld>
            <a:endParaRPr spc="-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510167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0" dirty="0">
                <a:latin typeface="Microsoft Sans Serif"/>
                <a:cs typeface="Microsoft Sans Serif"/>
              </a:rPr>
              <a:t>2-to-4 Line Decoder</a:t>
            </a:r>
            <a:endParaRPr sz="32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2741" y="1033608"/>
            <a:ext cx="3469382" cy="361701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5</a:t>
            </a:fld>
            <a:endParaRPr spc="-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395867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0" dirty="0">
                <a:latin typeface="Microsoft Sans Serif"/>
                <a:cs typeface="Microsoft Sans Serif"/>
              </a:rPr>
              <a:t>3-to-8 Line Decoder</a:t>
            </a:r>
            <a:endParaRPr sz="32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675" y="1247685"/>
            <a:ext cx="2481866" cy="29141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1265" y="1289137"/>
            <a:ext cx="3505920" cy="27765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6</a:t>
            </a:fld>
            <a:endParaRPr spc="-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457199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0" dirty="0">
                <a:latin typeface="Microsoft Sans Serif"/>
                <a:cs typeface="Microsoft Sans Serif"/>
              </a:rPr>
              <a:t>3-to-8 Line Decoder</a:t>
            </a:r>
            <a:endParaRPr sz="32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8837" y="1225749"/>
            <a:ext cx="4571999" cy="28193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7</a:t>
            </a:fld>
            <a:endParaRPr spc="-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4949275" cy="59375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b="0" dirty="0">
                <a:latin typeface="Microsoft Sans Serif"/>
                <a:cs typeface="Microsoft Sans Serif"/>
              </a:rPr>
              <a:t>3-to-8 Line Decoder</a:t>
            </a:r>
            <a:endParaRPr sz="375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3848" y="1073264"/>
            <a:ext cx="3005019" cy="373795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8</a:t>
            </a:fld>
            <a:endParaRPr spc="-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269625"/>
            <a:ext cx="6168475" cy="59375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dirty="0">
                <a:latin typeface="Microsoft Sans Serif"/>
                <a:cs typeface="Microsoft Sans Serif"/>
              </a:rPr>
              <a:t>Active-High and Active-Low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8875" y="1590050"/>
            <a:ext cx="2070406" cy="165630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2186" y="1625786"/>
            <a:ext cx="1969946" cy="157238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77425" y="1252754"/>
            <a:ext cx="2396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10" dirty="0">
                <a:latin typeface="Arial"/>
                <a:cs typeface="Arial"/>
              </a:rPr>
              <a:t>Active-High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15" dirty="0">
                <a:latin typeface="Arial"/>
                <a:cs typeface="Arial"/>
              </a:rPr>
              <a:t>2-to-4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15" dirty="0">
                <a:latin typeface="Arial"/>
                <a:cs typeface="Arial"/>
              </a:rPr>
              <a:t>Line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15" dirty="0">
                <a:latin typeface="Arial"/>
                <a:cs typeface="Arial"/>
              </a:rPr>
              <a:t>Decoder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77774" y="1252754"/>
            <a:ext cx="23583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10" dirty="0">
                <a:latin typeface="Arial"/>
                <a:cs typeface="Arial"/>
              </a:rPr>
              <a:t>Active-Low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15" dirty="0">
                <a:latin typeface="Arial"/>
                <a:cs typeface="Arial"/>
              </a:rPr>
              <a:t>2-to-4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15" dirty="0">
                <a:latin typeface="Arial"/>
                <a:cs typeface="Arial"/>
              </a:rPr>
              <a:t>Line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15" dirty="0">
                <a:latin typeface="Arial"/>
                <a:cs typeface="Arial"/>
              </a:rPr>
              <a:t>Decoder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9824" y="3300099"/>
            <a:ext cx="2440444" cy="15252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84756" y="3373260"/>
            <a:ext cx="2341329" cy="149259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9</a:t>
            </a:fld>
            <a:endParaRPr spc="-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269625"/>
            <a:ext cx="593987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>
                <a:latin typeface="Microsoft Sans Serif"/>
                <a:cs typeface="Microsoft Sans Serif"/>
              </a:rPr>
              <a:t>Active-High and Active-Low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7425" y="1252754"/>
            <a:ext cx="2396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10" dirty="0">
                <a:latin typeface="Arial"/>
                <a:cs typeface="Arial"/>
              </a:rPr>
              <a:t>Active-High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15" dirty="0">
                <a:latin typeface="Arial"/>
                <a:cs typeface="Arial"/>
              </a:rPr>
              <a:t>2-to-4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15" dirty="0">
                <a:latin typeface="Arial"/>
                <a:cs typeface="Arial"/>
              </a:rPr>
              <a:t>Line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15" dirty="0">
                <a:latin typeface="Arial"/>
                <a:cs typeface="Arial"/>
              </a:rPr>
              <a:t>Decoder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77774" y="1252754"/>
            <a:ext cx="23583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10" dirty="0">
                <a:latin typeface="Arial"/>
                <a:cs typeface="Arial"/>
              </a:rPr>
              <a:t>Active-Low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15" dirty="0">
                <a:latin typeface="Arial"/>
                <a:cs typeface="Arial"/>
              </a:rPr>
              <a:t>2-to-4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15" dirty="0">
                <a:latin typeface="Arial"/>
                <a:cs typeface="Arial"/>
              </a:rPr>
              <a:t>Line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15" dirty="0">
                <a:latin typeface="Arial"/>
                <a:cs typeface="Arial"/>
              </a:rPr>
              <a:t>Decoder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2356" y="1695949"/>
            <a:ext cx="2691228" cy="278245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2943" y="1695949"/>
            <a:ext cx="2691228" cy="278244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10</a:t>
            </a:fld>
            <a:endParaRPr spc="-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6549475" cy="59375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b="0" dirty="0">
                <a:latin typeface="Microsoft Sans Serif"/>
                <a:cs typeface="Microsoft Sans Serif"/>
              </a:rPr>
              <a:t>Decoder with Enable Control</a:t>
            </a:r>
            <a:endParaRPr sz="375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340" y="1655450"/>
            <a:ext cx="2863887" cy="17880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95575" y="1258237"/>
            <a:ext cx="3483019" cy="259750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11</a:t>
            </a:fld>
            <a:endParaRPr spc="-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5177876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0" dirty="0">
                <a:latin typeface="Microsoft Sans Serif"/>
                <a:cs typeface="Microsoft Sans Serif"/>
              </a:rPr>
              <a:t>Decoder with Enable Control</a:t>
            </a:r>
            <a:endParaRPr sz="32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340" y="1655450"/>
            <a:ext cx="2863887" cy="17880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4400" y="895350"/>
            <a:ext cx="3530590" cy="369608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12</a:t>
            </a:fld>
            <a:endParaRPr spc="-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6625676" cy="59375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b="0" dirty="0">
                <a:latin typeface="Microsoft Sans Serif"/>
                <a:cs typeface="Microsoft Sans Serif"/>
              </a:rPr>
              <a:t>Decoder with Enable Control</a:t>
            </a:r>
            <a:endParaRPr sz="375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340" y="1655450"/>
            <a:ext cx="2863887" cy="17880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0600" y="971550"/>
            <a:ext cx="3530590" cy="36960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00963" y="4006731"/>
            <a:ext cx="2098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latin typeface="Arial"/>
                <a:cs typeface="Arial"/>
              </a:rPr>
              <a:t>This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35" dirty="0">
                <a:latin typeface="Arial"/>
                <a:cs typeface="Arial"/>
              </a:rPr>
              <a:t>is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20" dirty="0">
                <a:latin typeface="Arial"/>
                <a:cs typeface="Arial"/>
              </a:rPr>
              <a:t>Active-High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13</a:t>
            </a:fld>
            <a:endParaRPr spc="-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4180840" cy="117083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b="0" dirty="0">
                <a:latin typeface="Microsoft Sans Serif"/>
                <a:cs typeface="Microsoft Sans Serif"/>
              </a:rPr>
              <a:t>Decoder with Enable Control</a:t>
            </a:r>
            <a:endParaRPr sz="375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340" y="1655450"/>
            <a:ext cx="2863887" cy="17880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16981" y="600302"/>
            <a:ext cx="3530590" cy="36960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48050" y="3943401"/>
            <a:ext cx="2780665" cy="701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2729">
              <a:lnSpc>
                <a:spcPct val="123100"/>
              </a:lnSpc>
              <a:spcBef>
                <a:spcPts val="100"/>
              </a:spcBef>
            </a:pPr>
            <a:r>
              <a:rPr sz="1800" b="1" spc="-15" dirty="0">
                <a:latin typeface="Arial"/>
                <a:cs typeface="Arial"/>
              </a:rPr>
              <a:t>This </a:t>
            </a:r>
            <a:r>
              <a:rPr sz="1800" b="1" spc="-35" dirty="0">
                <a:latin typeface="Arial"/>
                <a:cs typeface="Arial"/>
              </a:rPr>
              <a:t>is </a:t>
            </a:r>
            <a:r>
              <a:rPr sz="1800" b="1" spc="20" dirty="0">
                <a:latin typeface="Arial"/>
                <a:cs typeface="Arial"/>
              </a:rPr>
              <a:t>Active-High 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spc="90" dirty="0">
                <a:latin typeface="Arial"/>
                <a:cs typeface="Arial"/>
              </a:rPr>
              <a:t>What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80" dirty="0">
                <a:latin typeface="Arial"/>
                <a:cs typeface="Arial"/>
              </a:rPr>
              <a:t>about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Active-Low?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14</a:t>
            </a:fld>
            <a:endParaRPr spc="-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6171565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0" dirty="0">
                <a:latin typeface="Microsoft Sans Serif"/>
                <a:cs typeface="Microsoft Sans Serif"/>
              </a:rPr>
              <a:t>Decoder with Enable Control (Active-Low)</a:t>
            </a:r>
            <a:endParaRPr sz="32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165" y="1476265"/>
            <a:ext cx="7638956" cy="28843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15</a:t>
            </a:fld>
            <a:endParaRPr spc="-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4339675" cy="59375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b="0" dirty="0">
                <a:latin typeface="Microsoft Sans Serif"/>
                <a:cs typeface="Microsoft Sans Serif"/>
              </a:rPr>
              <a:t>Decoder Expansion</a:t>
            </a:r>
            <a:endParaRPr sz="375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5249" y="1134281"/>
            <a:ext cx="774128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SzPct val="112500"/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600" spc="-15" dirty="0">
                <a:latin typeface="Microsoft Sans Serif"/>
                <a:cs typeface="Microsoft Sans Serif"/>
              </a:rPr>
              <a:t>We </a:t>
            </a:r>
            <a:r>
              <a:rPr sz="1600" spc="45" dirty="0">
                <a:latin typeface="Microsoft Sans Serif"/>
                <a:cs typeface="Microsoft Sans Serif"/>
              </a:rPr>
              <a:t>will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75" dirty="0">
                <a:latin typeface="Microsoft Sans Serif"/>
                <a:cs typeface="Microsoft Sans Serif"/>
              </a:rPr>
              <a:t>now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75" dirty="0">
                <a:latin typeface="Microsoft Sans Serif"/>
                <a:cs typeface="Microsoft Sans Serif"/>
              </a:rPr>
              <a:t>try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95" dirty="0">
                <a:latin typeface="Microsoft Sans Serif"/>
                <a:cs typeface="Microsoft Sans Serif"/>
              </a:rPr>
              <a:t>to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45" dirty="0">
                <a:latin typeface="Microsoft Sans Serif"/>
                <a:cs typeface="Microsoft Sans Serif"/>
              </a:rPr>
              <a:t>make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a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30" dirty="0">
                <a:latin typeface="Microsoft Sans Serif"/>
                <a:cs typeface="Microsoft Sans Serif"/>
              </a:rPr>
              <a:t>3-to-8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15" dirty="0">
                <a:latin typeface="Microsoft Sans Serif"/>
                <a:cs typeface="Microsoft Sans Serif"/>
              </a:rPr>
              <a:t>Line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30" dirty="0">
                <a:latin typeface="Microsoft Sans Serif"/>
                <a:cs typeface="Microsoft Sans Serif"/>
              </a:rPr>
              <a:t>Decoder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25" dirty="0">
                <a:latin typeface="Microsoft Sans Serif"/>
                <a:cs typeface="Microsoft Sans Serif"/>
              </a:rPr>
              <a:t>using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90" dirty="0">
                <a:latin typeface="Microsoft Sans Serif"/>
                <a:cs typeface="Microsoft Sans Serif"/>
              </a:rPr>
              <a:t>two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30" dirty="0">
                <a:latin typeface="Microsoft Sans Serif"/>
                <a:cs typeface="Microsoft Sans Serif"/>
              </a:rPr>
              <a:t>2-to-4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15" dirty="0">
                <a:latin typeface="Microsoft Sans Serif"/>
                <a:cs typeface="Microsoft Sans Serif"/>
              </a:rPr>
              <a:t>Line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15" dirty="0">
                <a:latin typeface="Microsoft Sans Serif"/>
                <a:cs typeface="Microsoft Sans Serif"/>
              </a:rPr>
              <a:t>Decoders.</a:t>
            </a:r>
            <a:endParaRPr sz="16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3222" y="1690647"/>
            <a:ext cx="3580603" cy="283571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16</a:t>
            </a:fld>
            <a:endParaRPr spc="-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2802890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b="0" spc="-670" dirty="0">
                <a:latin typeface="Microsoft Sans Serif"/>
                <a:cs typeface="Microsoft Sans Serif"/>
              </a:rPr>
              <a:t>Decoder</a:t>
            </a:r>
            <a:r>
              <a:rPr sz="3750" b="0" spc="-280" dirty="0">
                <a:latin typeface="Microsoft Sans Serif"/>
                <a:cs typeface="Microsoft Sans Serif"/>
              </a:rPr>
              <a:t> </a:t>
            </a:r>
            <a:r>
              <a:rPr sz="3750" b="0" spc="-805" dirty="0">
                <a:latin typeface="Microsoft Sans Serif"/>
                <a:cs typeface="Microsoft Sans Serif"/>
              </a:rPr>
              <a:t>Ex</a:t>
            </a:r>
            <a:r>
              <a:rPr sz="3750" b="0" spc="-800" dirty="0">
                <a:latin typeface="Microsoft Sans Serif"/>
                <a:cs typeface="Microsoft Sans Serif"/>
              </a:rPr>
              <a:t>p</a:t>
            </a:r>
            <a:r>
              <a:rPr sz="3750" b="0" spc="-700" dirty="0">
                <a:latin typeface="Microsoft Sans Serif"/>
                <a:cs typeface="Microsoft Sans Serif"/>
              </a:rPr>
              <a:t>an</a:t>
            </a:r>
            <a:r>
              <a:rPr sz="3750" b="0" spc="-725" dirty="0">
                <a:latin typeface="Microsoft Sans Serif"/>
                <a:cs typeface="Microsoft Sans Serif"/>
              </a:rPr>
              <a:t>s</a:t>
            </a:r>
            <a:r>
              <a:rPr sz="3750" b="0" spc="-459" dirty="0">
                <a:latin typeface="Microsoft Sans Serif"/>
                <a:cs typeface="Microsoft Sans Serif"/>
              </a:rPr>
              <a:t>ion</a:t>
            </a:r>
            <a:endParaRPr sz="37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5249" y="1134281"/>
            <a:ext cx="774128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SzPct val="112500"/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600" spc="-15" dirty="0">
                <a:latin typeface="Microsoft Sans Serif"/>
                <a:cs typeface="Microsoft Sans Serif"/>
              </a:rPr>
              <a:t>We </a:t>
            </a:r>
            <a:r>
              <a:rPr sz="1600" spc="45" dirty="0">
                <a:latin typeface="Microsoft Sans Serif"/>
                <a:cs typeface="Microsoft Sans Serif"/>
              </a:rPr>
              <a:t>will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75" dirty="0">
                <a:latin typeface="Microsoft Sans Serif"/>
                <a:cs typeface="Microsoft Sans Serif"/>
              </a:rPr>
              <a:t>now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75" dirty="0">
                <a:latin typeface="Microsoft Sans Serif"/>
                <a:cs typeface="Microsoft Sans Serif"/>
              </a:rPr>
              <a:t>try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95" dirty="0">
                <a:latin typeface="Microsoft Sans Serif"/>
                <a:cs typeface="Microsoft Sans Serif"/>
              </a:rPr>
              <a:t>to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45" dirty="0">
                <a:latin typeface="Microsoft Sans Serif"/>
                <a:cs typeface="Microsoft Sans Serif"/>
              </a:rPr>
              <a:t>make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a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30" dirty="0">
                <a:latin typeface="Microsoft Sans Serif"/>
                <a:cs typeface="Microsoft Sans Serif"/>
              </a:rPr>
              <a:t>3-to-8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15" dirty="0">
                <a:latin typeface="Microsoft Sans Serif"/>
                <a:cs typeface="Microsoft Sans Serif"/>
              </a:rPr>
              <a:t>Line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30" dirty="0">
                <a:latin typeface="Microsoft Sans Serif"/>
                <a:cs typeface="Microsoft Sans Serif"/>
              </a:rPr>
              <a:t>Decoder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25" dirty="0">
                <a:latin typeface="Microsoft Sans Serif"/>
                <a:cs typeface="Microsoft Sans Serif"/>
              </a:rPr>
              <a:t>using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90" dirty="0">
                <a:latin typeface="Microsoft Sans Serif"/>
                <a:cs typeface="Microsoft Sans Serif"/>
              </a:rPr>
              <a:t>two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30" dirty="0">
                <a:latin typeface="Microsoft Sans Serif"/>
                <a:cs typeface="Microsoft Sans Serif"/>
              </a:rPr>
              <a:t>2-to-4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15" dirty="0">
                <a:latin typeface="Microsoft Sans Serif"/>
                <a:cs typeface="Microsoft Sans Serif"/>
              </a:rPr>
              <a:t>Line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15" dirty="0">
                <a:latin typeface="Microsoft Sans Serif"/>
                <a:cs typeface="Microsoft Sans Serif"/>
              </a:rPr>
              <a:t>Decoders.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63222" y="1690647"/>
            <a:ext cx="3580765" cy="2835910"/>
            <a:chOff x="2563222" y="1690647"/>
            <a:chExt cx="3580765" cy="28359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3222" y="1690647"/>
              <a:ext cx="3580603" cy="283571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8550" y="2114175"/>
              <a:ext cx="1247249" cy="11581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92424" y="2122149"/>
              <a:ext cx="532250" cy="115814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17</a:t>
            </a:fld>
            <a:endParaRPr spc="-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2802890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b="0" spc="-670" dirty="0">
                <a:latin typeface="Microsoft Sans Serif"/>
                <a:cs typeface="Microsoft Sans Serif"/>
              </a:rPr>
              <a:t>Decoder</a:t>
            </a:r>
            <a:r>
              <a:rPr sz="3750" b="0" spc="-280" dirty="0">
                <a:latin typeface="Microsoft Sans Serif"/>
                <a:cs typeface="Microsoft Sans Serif"/>
              </a:rPr>
              <a:t> </a:t>
            </a:r>
            <a:r>
              <a:rPr sz="3750" b="0" spc="-805" dirty="0">
                <a:latin typeface="Microsoft Sans Serif"/>
                <a:cs typeface="Microsoft Sans Serif"/>
              </a:rPr>
              <a:t>Ex</a:t>
            </a:r>
            <a:r>
              <a:rPr sz="3750" b="0" spc="-800" dirty="0">
                <a:latin typeface="Microsoft Sans Serif"/>
                <a:cs typeface="Microsoft Sans Serif"/>
              </a:rPr>
              <a:t>p</a:t>
            </a:r>
            <a:r>
              <a:rPr sz="3750" b="0" spc="-700" dirty="0">
                <a:latin typeface="Microsoft Sans Serif"/>
                <a:cs typeface="Microsoft Sans Serif"/>
              </a:rPr>
              <a:t>an</a:t>
            </a:r>
            <a:r>
              <a:rPr sz="3750" b="0" spc="-725" dirty="0">
                <a:latin typeface="Microsoft Sans Serif"/>
                <a:cs typeface="Microsoft Sans Serif"/>
              </a:rPr>
              <a:t>s</a:t>
            </a:r>
            <a:r>
              <a:rPr sz="3750" b="0" spc="-459" dirty="0">
                <a:latin typeface="Microsoft Sans Serif"/>
                <a:cs typeface="Microsoft Sans Serif"/>
              </a:rPr>
              <a:t>ion</a:t>
            </a:r>
            <a:endParaRPr sz="37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5249" y="1134281"/>
            <a:ext cx="774128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SzPct val="112500"/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600" spc="-15" dirty="0">
                <a:latin typeface="Microsoft Sans Serif"/>
                <a:cs typeface="Microsoft Sans Serif"/>
              </a:rPr>
              <a:t>We </a:t>
            </a:r>
            <a:r>
              <a:rPr sz="1600" spc="45" dirty="0">
                <a:latin typeface="Microsoft Sans Serif"/>
                <a:cs typeface="Microsoft Sans Serif"/>
              </a:rPr>
              <a:t>will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75" dirty="0">
                <a:latin typeface="Microsoft Sans Serif"/>
                <a:cs typeface="Microsoft Sans Serif"/>
              </a:rPr>
              <a:t>now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75" dirty="0">
                <a:latin typeface="Microsoft Sans Serif"/>
                <a:cs typeface="Microsoft Sans Serif"/>
              </a:rPr>
              <a:t>try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95" dirty="0">
                <a:latin typeface="Microsoft Sans Serif"/>
                <a:cs typeface="Microsoft Sans Serif"/>
              </a:rPr>
              <a:t>to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45" dirty="0">
                <a:latin typeface="Microsoft Sans Serif"/>
                <a:cs typeface="Microsoft Sans Serif"/>
              </a:rPr>
              <a:t>make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a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30" dirty="0">
                <a:latin typeface="Microsoft Sans Serif"/>
                <a:cs typeface="Microsoft Sans Serif"/>
              </a:rPr>
              <a:t>3-to-8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15" dirty="0">
                <a:latin typeface="Microsoft Sans Serif"/>
                <a:cs typeface="Microsoft Sans Serif"/>
              </a:rPr>
              <a:t>Line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30" dirty="0">
                <a:latin typeface="Microsoft Sans Serif"/>
                <a:cs typeface="Microsoft Sans Serif"/>
              </a:rPr>
              <a:t>Decoder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25" dirty="0">
                <a:latin typeface="Microsoft Sans Serif"/>
                <a:cs typeface="Microsoft Sans Serif"/>
              </a:rPr>
              <a:t>using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90" dirty="0">
                <a:latin typeface="Microsoft Sans Serif"/>
                <a:cs typeface="Microsoft Sans Serif"/>
              </a:rPr>
              <a:t>two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30" dirty="0">
                <a:latin typeface="Microsoft Sans Serif"/>
                <a:cs typeface="Microsoft Sans Serif"/>
              </a:rPr>
              <a:t>2-to-4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15" dirty="0">
                <a:latin typeface="Microsoft Sans Serif"/>
                <a:cs typeface="Microsoft Sans Serif"/>
              </a:rPr>
              <a:t>Line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15" dirty="0">
                <a:latin typeface="Microsoft Sans Serif"/>
                <a:cs typeface="Microsoft Sans Serif"/>
              </a:rPr>
              <a:t>Decoders.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63222" y="1690647"/>
            <a:ext cx="3580765" cy="2835910"/>
            <a:chOff x="2563222" y="1690647"/>
            <a:chExt cx="3580765" cy="28359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3222" y="1690647"/>
              <a:ext cx="3580603" cy="283571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8550" y="2114175"/>
              <a:ext cx="1247249" cy="11581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92425" y="3312427"/>
              <a:ext cx="1917074" cy="11581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92424" y="2122149"/>
              <a:ext cx="532250" cy="115814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18</a:t>
            </a:fld>
            <a:endParaRPr spc="-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4492075" cy="59375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b="0" dirty="0">
                <a:latin typeface="Microsoft Sans Serif"/>
                <a:cs typeface="Microsoft Sans Serif"/>
              </a:rPr>
              <a:t>Decoder Expansion</a:t>
            </a:r>
            <a:endParaRPr sz="3750" dirty="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02972" y="1690647"/>
            <a:ext cx="3580765" cy="2835910"/>
            <a:chOff x="702972" y="1690647"/>
            <a:chExt cx="3580765" cy="28359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2972" y="1690647"/>
              <a:ext cx="3580603" cy="283571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08300" y="2114175"/>
              <a:ext cx="1247249" cy="11581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2175" y="3312427"/>
              <a:ext cx="1917074" cy="11581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2174" y="2122149"/>
              <a:ext cx="532250" cy="1158149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78173" y="715142"/>
            <a:ext cx="2748625" cy="396632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19</a:t>
            </a:fld>
            <a:endParaRPr spc="-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4873075" cy="59375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b="0" dirty="0">
                <a:latin typeface="Microsoft Sans Serif"/>
                <a:cs typeface="Microsoft Sans Serif"/>
              </a:rPr>
              <a:t>Decoder Expansion</a:t>
            </a:r>
            <a:endParaRPr sz="375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8309" y="998159"/>
            <a:ext cx="3278827" cy="366201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36450" y="2635631"/>
            <a:ext cx="2299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85" dirty="0">
                <a:latin typeface="Arial"/>
                <a:cs typeface="Arial"/>
              </a:rPr>
              <a:t>With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15" dirty="0">
                <a:latin typeface="Arial"/>
                <a:cs typeface="Arial"/>
              </a:rPr>
              <a:t>Enable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35" dirty="0">
                <a:latin typeface="Arial"/>
                <a:cs typeface="Arial"/>
              </a:rPr>
              <a:t>Control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20</a:t>
            </a:fld>
            <a:endParaRPr spc="-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814967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0" dirty="0">
                <a:latin typeface="Microsoft Sans Serif"/>
                <a:cs typeface="Microsoft Sans Serif"/>
              </a:rPr>
              <a:t>Function Implementation using Decoder</a:t>
            </a:r>
            <a:endParaRPr sz="32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21</a:t>
            </a:fld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462549" y="1093189"/>
            <a:ext cx="7627620" cy="119761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91795" indent="-367030">
              <a:lnSpc>
                <a:spcPct val="100000"/>
              </a:lnSpc>
              <a:spcBef>
                <a:spcPts val="420"/>
              </a:spcBef>
              <a:buSzPct val="112500"/>
              <a:buFont typeface="Arial MT"/>
              <a:buChar char="●"/>
              <a:tabLst>
                <a:tab pos="391795" algn="l"/>
                <a:tab pos="392430" algn="l"/>
              </a:tabLst>
            </a:pPr>
            <a:r>
              <a:rPr sz="1600" spc="-60" dirty="0">
                <a:latin typeface="Microsoft Sans Serif"/>
                <a:cs typeface="Microsoft Sans Serif"/>
              </a:rPr>
              <a:t>A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45" dirty="0">
                <a:latin typeface="Microsoft Sans Serif"/>
                <a:cs typeface="Microsoft Sans Serif"/>
              </a:rPr>
              <a:t>decoder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40" dirty="0">
                <a:latin typeface="Microsoft Sans Serif"/>
                <a:cs typeface="Microsoft Sans Serif"/>
              </a:rPr>
              <a:t>provides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65" dirty="0">
                <a:latin typeface="Microsoft Sans Serif"/>
                <a:cs typeface="Microsoft Sans Serif"/>
              </a:rPr>
              <a:t>2</a:t>
            </a:r>
            <a:r>
              <a:rPr sz="1575" spc="97" baseline="31746" dirty="0">
                <a:latin typeface="Microsoft Sans Serif"/>
                <a:cs typeface="Microsoft Sans Serif"/>
              </a:rPr>
              <a:t>n</a:t>
            </a:r>
            <a:r>
              <a:rPr sz="1575" spc="202" baseline="31746" dirty="0">
                <a:latin typeface="Microsoft Sans Serif"/>
                <a:cs typeface="Microsoft Sans Serif"/>
              </a:rPr>
              <a:t> </a:t>
            </a:r>
            <a:r>
              <a:rPr sz="1600" spc="75" dirty="0">
                <a:latin typeface="Microsoft Sans Serif"/>
                <a:cs typeface="Microsoft Sans Serif"/>
              </a:rPr>
              <a:t>minterms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80" dirty="0">
                <a:latin typeface="Microsoft Sans Serif"/>
                <a:cs typeface="Microsoft Sans Serif"/>
              </a:rPr>
              <a:t>of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90" dirty="0">
                <a:latin typeface="Microsoft Sans Serif"/>
                <a:cs typeface="Microsoft Sans Serif"/>
              </a:rPr>
              <a:t>n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80" dirty="0">
                <a:latin typeface="Microsoft Sans Serif"/>
                <a:cs typeface="Microsoft Sans Serif"/>
              </a:rPr>
              <a:t>input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15" dirty="0">
                <a:latin typeface="Microsoft Sans Serif"/>
                <a:cs typeface="Microsoft Sans Serif"/>
              </a:rPr>
              <a:t>variables.</a:t>
            </a:r>
            <a:endParaRPr sz="1600">
              <a:latin typeface="Microsoft Sans Serif"/>
              <a:cs typeface="Microsoft Sans Serif"/>
            </a:endParaRPr>
          </a:p>
          <a:p>
            <a:pPr marL="391795" marR="17780" indent="-367030">
              <a:lnSpc>
                <a:spcPct val="117200"/>
              </a:lnSpc>
              <a:spcBef>
                <a:spcPts val="235"/>
              </a:spcBef>
              <a:buSzPct val="112500"/>
              <a:buFont typeface="Arial MT"/>
              <a:buChar char="●"/>
              <a:tabLst>
                <a:tab pos="391795" algn="l"/>
                <a:tab pos="392430" algn="l"/>
              </a:tabLst>
            </a:pPr>
            <a:r>
              <a:rPr sz="1600" spc="-25" dirty="0">
                <a:latin typeface="Microsoft Sans Serif"/>
                <a:cs typeface="Microsoft Sans Serif"/>
              </a:rPr>
              <a:t>Since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25" dirty="0">
                <a:latin typeface="Microsoft Sans Serif"/>
                <a:cs typeface="Microsoft Sans Serif"/>
              </a:rPr>
              <a:t>any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30" dirty="0">
                <a:latin typeface="Microsoft Sans Serif"/>
                <a:cs typeface="Microsoft Sans Serif"/>
              </a:rPr>
              <a:t>Boolean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65" dirty="0">
                <a:latin typeface="Microsoft Sans Serif"/>
                <a:cs typeface="Microsoft Sans Serif"/>
              </a:rPr>
              <a:t>function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15" dirty="0">
                <a:latin typeface="Microsoft Sans Serif"/>
                <a:cs typeface="Microsoft Sans Serif"/>
              </a:rPr>
              <a:t>can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45" dirty="0">
                <a:latin typeface="Microsoft Sans Serif"/>
                <a:cs typeface="Microsoft Sans Serif"/>
              </a:rPr>
              <a:t>be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25" dirty="0">
                <a:latin typeface="Microsoft Sans Serif"/>
                <a:cs typeface="Microsoft Sans Serif"/>
              </a:rPr>
              <a:t>expressed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as</a:t>
            </a:r>
            <a:r>
              <a:rPr sz="1600" spc="-5" dirty="0">
                <a:latin typeface="Microsoft Sans Serif"/>
                <a:cs typeface="Microsoft Sans Serif"/>
              </a:rPr>
              <a:t> a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60" dirty="0">
                <a:latin typeface="Microsoft Sans Serif"/>
                <a:cs typeface="Microsoft Sans Serif"/>
              </a:rPr>
              <a:t>sum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80" dirty="0">
                <a:latin typeface="Microsoft Sans Serif"/>
                <a:cs typeface="Microsoft Sans Serif"/>
              </a:rPr>
              <a:t>of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60" dirty="0">
                <a:latin typeface="Microsoft Sans Serif"/>
                <a:cs typeface="Microsoft Sans Serif"/>
              </a:rPr>
              <a:t>minterms,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50" dirty="0">
                <a:latin typeface="Microsoft Sans Serif"/>
                <a:cs typeface="Microsoft Sans Serif"/>
              </a:rPr>
              <a:t>one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15" dirty="0">
                <a:latin typeface="Microsoft Sans Serif"/>
                <a:cs typeface="Microsoft Sans Serif"/>
              </a:rPr>
              <a:t>can </a:t>
            </a:r>
            <a:r>
              <a:rPr sz="1600" spc="-409" dirty="0">
                <a:latin typeface="Microsoft Sans Serif"/>
                <a:cs typeface="Microsoft Sans Serif"/>
              </a:rPr>
              <a:t> </a:t>
            </a:r>
            <a:r>
              <a:rPr sz="1600" spc="15" dirty="0">
                <a:latin typeface="Microsoft Sans Serif"/>
                <a:cs typeface="Microsoft Sans Serif"/>
              </a:rPr>
              <a:t>use </a:t>
            </a:r>
            <a:r>
              <a:rPr sz="1600" spc="-5" dirty="0">
                <a:latin typeface="Microsoft Sans Serif"/>
                <a:cs typeface="Microsoft Sans Serif"/>
              </a:rPr>
              <a:t>a </a:t>
            </a:r>
            <a:r>
              <a:rPr sz="1600" spc="45" dirty="0">
                <a:latin typeface="Microsoft Sans Serif"/>
                <a:cs typeface="Microsoft Sans Serif"/>
              </a:rPr>
              <a:t>decoder </a:t>
            </a:r>
            <a:r>
              <a:rPr sz="1600" spc="55" dirty="0">
                <a:latin typeface="Microsoft Sans Serif"/>
                <a:cs typeface="Microsoft Sans Serif"/>
              </a:rPr>
              <a:t>and </a:t>
            </a:r>
            <a:r>
              <a:rPr sz="1600" spc="45" dirty="0">
                <a:latin typeface="Microsoft Sans Serif"/>
                <a:cs typeface="Microsoft Sans Serif"/>
              </a:rPr>
              <a:t>external </a:t>
            </a:r>
            <a:r>
              <a:rPr sz="1600" spc="-90" dirty="0">
                <a:latin typeface="Microsoft Sans Serif"/>
                <a:cs typeface="Microsoft Sans Serif"/>
              </a:rPr>
              <a:t>OR </a:t>
            </a:r>
            <a:r>
              <a:rPr sz="1600" spc="10" dirty="0">
                <a:latin typeface="Microsoft Sans Serif"/>
                <a:cs typeface="Microsoft Sans Serif"/>
              </a:rPr>
              <a:t>gates </a:t>
            </a:r>
            <a:r>
              <a:rPr sz="1600" spc="95" dirty="0">
                <a:latin typeface="Microsoft Sans Serif"/>
                <a:cs typeface="Microsoft Sans Serif"/>
              </a:rPr>
              <a:t>to </a:t>
            </a:r>
            <a:r>
              <a:rPr sz="1600" spc="70" dirty="0">
                <a:latin typeface="Microsoft Sans Serif"/>
                <a:cs typeface="Microsoft Sans Serif"/>
              </a:rPr>
              <a:t>implement </a:t>
            </a:r>
            <a:r>
              <a:rPr sz="1600" spc="25" dirty="0">
                <a:latin typeface="Microsoft Sans Serif"/>
                <a:cs typeface="Microsoft Sans Serif"/>
              </a:rPr>
              <a:t>any </a:t>
            </a:r>
            <a:r>
              <a:rPr sz="1600" spc="55" dirty="0">
                <a:latin typeface="Microsoft Sans Serif"/>
                <a:cs typeface="Microsoft Sans Serif"/>
              </a:rPr>
              <a:t>combinational </a:t>
            </a:r>
            <a:r>
              <a:rPr sz="1600" spc="60" dirty="0">
                <a:latin typeface="Microsoft Sans Serif"/>
                <a:cs typeface="Microsoft Sans Serif"/>
              </a:rPr>
              <a:t> </a:t>
            </a:r>
            <a:r>
              <a:rPr sz="1600" spc="55" dirty="0">
                <a:latin typeface="Microsoft Sans Serif"/>
                <a:cs typeface="Microsoft Sans Serif"/>
              </a:rPr>
              <a:t>function.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761627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0" dirty="0">
                <a:latin typeface="Microsoft Sans Serif"/>
                <a:cs typeface="Microsoft Sans Serif"/>
              </a:rPr>
              <a:t>Function Implementation using Decoder</a:t>
            </a:r>
            <a:endParaRPr sz="320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4450" y="1520883"/>
            <a:ext cx="3650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Arial"/>
                <a:cs typeface="Arial"/>
              </a:rPr>
              <a:t>f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z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∑m(1,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2,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3,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4,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6)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7444" y="945201"/>
            <a:ext cx="2335099" cy="375689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57175" y="3341906"/>
            <a:ext cx="2023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Using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spc="20" dirty="0">
                <a:latin typeface="Arial"/>
                <a:cs typeface="Arial"/>
              </a:rPr>
              <a:t>Active-High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22</a:t>
            </a:fld>
            <a:endParaRPr spc="-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792107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0" dirty="0">
                <a:latin typeface="Microsoft Sans Serif"/>
                <a:cs typeface="Microsoft Sans Serif"/>
              </a:rPr>
              <a:t>Function Implementation using Decoder</a:t>
            </a:r>
            <a:endParaRPr sz="320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4450" y="1389819"/>
            <a:ext cx="3650615" cy="101917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400" i="1" dirty="0">
                <a:latin typeface="Arial"/>
                <a:cs typeface="Arial"/>
              </a:rPr>
              <a:t>f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z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∑m(1,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2,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3,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4,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6)</a:t>
            </a:r>
            <a:endParaRPr sz="2400">
              <a:latin typeface="Arial MT"/>
              <a:cs typeface="Arial MT"/>
            </a:endParaRPr>
          </a:p>
          <a:p>
            <a:pPr marL="1206500">
              <a:lnSpc>
                <a:spcPct val="100000"/>
              </a:lnSpc>
              <a:spcBef>
                <a:spcPts val="1030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∏M(0,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5,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7)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08932" y="871150"/>
            <a:ext cx="2431714" cy="372568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57175" y="3341906"/>
            <a:ext cx="1965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Using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15" dirty="0">
                <a:latin typeface="Arial"/>
                <a:cs typeface="Arial"/>
              </a:rPr>
              <a:t>Active-Low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23</a:t>
            </a:fld>
            <a:endParaRPr spc="-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5910580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b="0" spc="-665" dirty="0">
                <a:latin typeface="Microsoft Sans Serif"/>
                <a:cs typeface="Microsoft Sans Serif"/>
              </a:rPr>
              <a:t>Func</a:t>
            </a:r>
            <a:r>
              <a:rPr sz="3750" b="0" spc="-355" dirty="0">
                <a:latin typeface="Microsoft Sans Serif"/>
                <a:cs typeface="Microsoft Sans Serif"/>
              </a:rPr>
              <a:t>t</a:t>
            </a:r>
            <a:r>
              <a:rPr sz="3750" b="0" spc="-459" dirty="0">
                <a:latin typeface="Microsoft Sans Serif"/>
                <a:cs typeface="Microsoft Sans Serif"/>
              </a:rPr>
              <a:t>ion</a:t>
            </a:r>
            <a:r>
              <a:rPr sz="3750" b="0" spc="-280" dirty="0">
                <a:latin typeface="Microsoft Sans Serif"/>
                <a:cs typeface="Microsoft Sans Serif"/>
              </a:rPr>
              <a:t> </a:t>
            </a:r>
            <a:r>
              <a:rPr sz="3750" b="0" spc="-575" dirty="0">
                <a:latin typeface="Microsoft Sans Serif"/>
                <a:cs typeface="Microsoft Sans Serif"/>
              </a:rPr>
              <a:t>Implementa</a:t>
            </a:r>
            <a:r>
              <a:rPr sz="3750" b="0" spc="-325" dirty="0">
                <a:latin typeface="Microsoft Sans Serif"/>
                <a:cs typeface="Microsoft Sans Serif"/>
              </a:rPr>
              <a:t>t</a:t>
            </a:r>
            <a:r>
              <a:rPr sz="3750" b="0" spc="-459" dirty="0">
                <a:latin typeface="Microsoft Sans Serif"/>
                <a:cs typeface="Microsoft Sans Serif"/>
              </a:rPr>
              <a:t>ion</a:t>
            </a:r>
            <a:r>
              <a:rPr sz="3750" b="0" spc="-280" dirty="0">
                <a:latin typeface="Microsoft Sans Serif"/>
                <a:cs typeface="Microsoft Sans Serif"/>
              </a:rPr>
              <a:t> </a:t>
            </a:r>
            <a:r>
              <a:rPr sz="3750" b="0" spc="-655" dirty="0">
                <a:latin typeface="Microsoft Sans Serif"/>
                <a:cs typeface="Microsoft Sans Serif"/>
              </a:rPr>
              <a:t>u</a:t>
            </a:r>
            <a:r>
              <a:rPr sz="3750" b="0" spc="-685" dirty="0">
                <a:latin typeface="Microsoft Sans Serif"/>
                <a:cs typeface="Microsoft Sans Serif"/>
              </a:rPr>
              <a:t>s</a:t>
            </a:r>
            <a:r>
              <a:rPr sz="3750" b="0" spc="-430" dirty="0">
                <a:latin typeface="Microsoft Sans Serif"/>
                <a:cs typeface="Microsoft Sans Serif"/>
              </a:rPr>
              <a:t>ing</a:t>
            </a:r>
            <a:r>
              <a:rPr sz="3750" b="0" spc="-280" dirty="0">
                <a:latin typeface="Microsoft Sans Serif"/>
                <a:cs typeface="Microsoft Sans Serif"/>
              </a:rPr>
              <a:t> </a:t>
            </a:r>
            <a:r>
              <a:rPr sz="3750" b="0" spc="-670" dirty="0">
                <a:latin typeface="Microsoft Sans Serif"/>
                <a:cs typeface="Microsoft Sans Serif"/>
              </a:rPr>
              <a:t>Decoder</a:t>
            </a:r>
            <a:endParaRPr sz="37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24</a:t>
            </a:fld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834450" y="1389819"/>
            <a:ext cx="4048760" cy="2012950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400" spc="-35" dirty="0">
                <a:latin typeface="Arial MT"/>
                <a:cs typeface="Arial MT"/>
              </a:rPr>
              <a:t>Try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yourself:</a:t>
            </a:r>
            <a:endParaRPr sz="2400">
              <a:latin typeface="Arial MT"/>
              <a:cs typeface="Arial MT"/>
            </a:endParaRPr>
          </a:p>
          <a:p>
            <a:pPr marL="749300">
              <a:lnSpc>
                <a:spcPct val="100000"/>
              </a:lnSpc>
              <a:spcBef>
                <a:spcPts val="1030"/>
              </a:spcBef>
            </a:pPr>
            <a:r>
              <a:rPr sz="2400" i="1" dirty="0">
                <a:latin typeface="Arial"/>
                <a:cs typeface="Arial"/>
              </a:rPr>
              <a:t>f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z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∑m(2,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3,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6,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7)</a:t>
            </a:r>
            <a:endParaRPr sz="2400">
              <a:latin typeface="Arial MT"/>
              <a:cs typeface="Arial MT"/>
            </a:endParaRPr>
          </a:p>
          <a:p>
            <a:pPr marL="749300">
              <a:lnSpc>
                <a:spcPct val="100000"/>
              </a:lnSpc>
              <a:spcBef>
                <a:spcPts val="1035"/>
              </a:spcBef>
            </a:pPr>
            <a:r>
              <a:rPr sz="2400" i="1" dirty="0">
                <a:latin typeface="Arial"/>
                <a:cs typeface="Arial"/>
              </a:rPr>
              <a:t>f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z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∑m(1,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5,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6,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7)</a:t>
            </a:r>
            <a:endParaRPr sz="2400">
              <a:latin typeface="Arial MT"/>
              <a:cs typeface="Arial MT"/>
            </a:endParaRPr>
          </a:p>
          <a:p>
            <a:pPr marL="749300">
              <a:lnSpc>
                <a:spcPct val="100000"/>
              </a:lnSpc>
              <a:spcBef>
                <a:spcPts val="1030"/>
              </a:spcBef>
            </a:pPr>
            <a:r>
              <a:rPr sz="2400" i="1" dirty="0">
                <a:latin typeface="Arial"/>
                <a:cs typeface="Arial"/>
              </a:rPr>
              <a:t>f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z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∑m(0,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4,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5,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7)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47737" y="1120962"/>
          <a:ext cx="7239634" cy="36086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4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1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1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Adder</a:t>
                      </a:r>
                      <a:r>
                        <a:rPr sz="14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Type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486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Block</a:t>
                      </a:r>
                      <a:r>
                        <a:rPr sz="14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Diagram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150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Working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32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Hal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f</a:t>
                      </a:r>
                      <a:r>
                        <a:rPr sz="14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Adder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92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Ful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l</a:t>
                      </a:r>
                      <a:r>
                        <a:rPr sz="14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Adder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2310" y="3407217"/>
            <a:ext cx="2098703" cy="8394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7647" y="1736470"/>
            <a:ext cx="1861140" cy="77547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746387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0" dirty="0">
                <a:latin typeface="Microsoft Sans Serif"/>
                <a:cs typeface="Microsoft Sans Serif"/>
              </a:rPr>
              <a:t>Implementing an Adder using a Decoder</a:t>
            </a:r>
            <a:endParaRPr sz="3200" dirty="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85504" y="1645516"/>
            <a:ext cx="624361" cy="11990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32711" y="3060334"/>
            <a:ext cx="866862" cy="159721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25</a:t>
            </a:fld>
            <a:endParaRPr spc="-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75649" y="1143862"/>
          <a:ext cx="7857490" cy="36928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9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1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Hal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4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Adder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Ful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14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Adder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66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769247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0" dirty="0">
                <a:latin typeface="Microsoft Sans Serif"/>
                <a:cs typeface="Microsoft Sans Serif"/>
              </a:rPr>
              <a:t>Implementing an Adder using a Decoder</a:t>
            </a:r>
            <a:endParaRPr sz="3200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9419" y="1934524"/>
            <a:ext cx="2199387" cy="21869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75400" y="1612500"/>
            <a:ext cx="2136024" cy="31585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26</a:t>
            </a:fld>
            <a:endParaRPr spc="-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822587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0" dirty="0">
                <a:latin typeface="Microsoft Sans Serif"/>
                <a:cs typeface="Microsoft Sans Serif"/>
              </a:rPr>
              <a:t>Implementing an Adder using a Decoder</a:t>
            </a:r>
            <a:endParaRPr sz="32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27</a:t>
            </a:fld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695575" y="1048894"/>
            <a:ext cx="7591425" cy="1516380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400" spc="-5" dirty="0">
                <a:latin typeface="Arial MT"/>
                <a:cs typeface="Arial MT"/>
              </a:rPr>
              <a:t>Lets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implement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full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adder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using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3-to-8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Line </a:t>
            </a:r>
            <a:r>
              <a:rPr sz="2400" spc="-25" dirty="0">
                <a:latin typeface="Arial MT"/>
                <a:cs typeface="Arial MT"/>
              </a:rPr>
              <a:t>Decoder.</a:t>
            </a:r>
            <a:endParaRPr sz="2400">
              <a:latin typeface="Arial MT"/>
              <a:cs typeface="Arial MT"/>
            </a:endParaRPr>
          </a:p>
          <a:p>
            <a:pPr marL="647065">
              <a:lnSpc>
                <a:spcPct val="100000"/>
              </a:lnSpc>
              <a:spcBef>
                <a:spcPts val="1030"/>
              </a:spcBef>
            </a:pPr>
            <a:r>
              <a:rPr sz="2400" i="1" dirty="0">
                <a:latin typeface="Arial"/>
                <a:cs typeface="Arial"/>
              </a:rPr>
              <a:t>S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z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∑m(1,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2,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4,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7)</a:t>
            </a:r>
            <a:endParaRPr sz="2400">
              <a:latin typeface="Arial MT"/>
              <a:cs typeface="Arial MT"/>
            </a:endParaRPr>
          </a:p>
          <a:p>
            <a:pPr marL="647065">
              <a:lnSpc>
                <a:spcPct val="100000"/>
              </a:lnSpc>
              <a:spcBef>
                <a:spcPts val="1035"/>
              </a:spcBef>
            </a:pPr>
            <a:r>
              <a:rPr sz="2400" i="1" dirty="0">
                <a:latin typeface="Arial"/>
                <a:cs typeface="Arial"/>
              </a:rPr>
              <a:t>C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z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∑m(3,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5,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6,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7)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759142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0" dirty="0">
                <a:latin typeface="Microsoft Sans Serif"/>
                <a:cs typeface="Microsoft Sans Serif"/>
              </a:rPr>
              <a:t>Implementing an Adder using a Decoder</a:t>
            </a:r>
            <a:endParaRPr sz="320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5575" y="1179958"/>
            <a:ext cx="7591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Lets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implement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full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adder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using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3-to-8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Line </a:t>
            </a:r>
            <a:r>
              <a:rPr sz="2400" spc="-25" dirty="0">
                <a:latin typeface="Arial MT"/>
                <a:cs typeface="Arial MT"/>
              </a:rPr>
              <a:t>Decoder.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5575" y="2539365"/>
            <a:ext cx="3447415" cy="101917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400" i="1" dirty="0">
                <a:latin typeface="Arial"/>
                <a:cs typeface="Arial"/>
              </a:rPr>
              <a:t>S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z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∑m(1,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2,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4,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7)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2400" i="1" dirty="0">
                <a:latin typeface="Arial"/>
                <a:cs typeface="Arial"/>
              </a:rPr>
              <a:t>C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z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∑m(3,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5,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6,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7)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0954" y="1626425"/>
            <a:ext cx="2665475" cy="335346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28</a:t>
            </a:fld>
            <a:endParaRPr spc="-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8271823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0" dirty="0">
                <a:latin typeface="Microsoft Sans Serif"/>
                <a:cs typeface="Microsoft Sans Serif"/>
              </a:rPr>
              <a:t>Implementing an Adder using a Decoder</a:t>
            </a:r>
            <a:endParaRPr sz="320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130"/>
              </a:spcBef>
            </a:pPr>
            <a:r>
              <a:rPr spc="-40" dirty="0"/>
              <a:t>Now,</a:t>
            </a:r>
            <a:r>
              <a:rPr spc="-15" dirty="0"/>
              <a:t> </a:t>
            </a:r>
            <a:r>
              <a:rPr spc="-5" dirty="0"/>
              <a:t>implement </a:t>
            </a:r>
            <a:r>
              <a:rPr dirty="0"/>
              <a:t>a</a:t>
            </a:r>
            <a:r>
              <a:rPr spc="-10" dirty="0"/>
              <a:t> </a:t>
            </a:r>
            <a:r>
              <a:rPr spc="-5" dirty="0"/>
              <a:t>half adder</a:t>
            </a:r>
            <a:r>
              <a:rPr spc="-10" dirty="0"/>
              <a:t> </a:t>
            </a:r>
            <a:r>
              <a:rPr spc="-5" dirty="0"/>
              <a:t>using </a:t>
            </a:r>
            <a:r>
              <a:rPr dirty="0"/>
              <a:t>a</a:t>
            </a:r>
            <a:r>
              <a:rPr spc="-5" dirty="0"/>
              <a:t> 2-to-4</a:t>
            </a:r>
            <a:r>
              <a:rPr spc="-10" dirty="0"/>
              <a:t> </a:t>
            </a:r>
            <a:r>
              <a:rPr spc="-5" dirty="0"/>
              <a:t>Line </a:t>
            </a:r>
            <a:r>
              <a:rPr spc="-25" dirty="0"/>
              <a:t>Decoder.</a:t>
            </a:r>
          </a:p>
          <a:p>
            <a:pPr marL="689610">
              <a:lnSpc>
                <a:spcPct val="100000"/>
              </a:lnSpc>
              <a:spcBef>
                <a:spcPts val="1030"/>
              </a:spcBef>
            </a:pPr>
            <a:r>
              <a:rPr i="1" dirty="0">
                <a:latin typeface="Arial"/>
                <a:cs typeface="Arial"/>
              </a:rPr>
              <a:t>S</a:t>
            </a:r>
            <a:r>
              <a:rPr dirty="0"/>
              <a:t>(</a:t>
            </a:r>
            <a:r>
              <a:rPr i="1" dirty="0">
                <a:latin typeface="Arial"/>
                <a:cs typeface="Arial"/>
              </a:rPr>
              <a:t>x</a:t>
            </a:r>
            <a:r>
              <a:rPr dirty="0"/>
              <a:t>,</a:t>
            </a:r>
            <a:r>
              <a:rPr spc="-20" dirty="0"/>
              <a:t> </a:t>
            </a:r>
            <a:r>
              <a:rPr i="1" dirty="0">
                <a:latin typeface="Arial"/>
                <a:cs typeface="Arial"/>
              </a:rPr>
              <a:t>y</a:t>
            </a:r>
            <a:r>
              <a:rPr dirty="0"/>
              <a:t>)</a:t>
            </a:r>
            <a:r>
              <a:rPr spc="-25" dirty="0"/>
              <a:t> </a:t>
            </a:r>
            <a:r>
              <a:rPr dirty="0"/>
              <a:t>=</a:t>
            </a:r>
            <a:r>
              <a:rPr spc="-25" dirty="0"/>
              <a:t> </a:t>
            </a:r>
            <a:r>
              <a:rPr spc="-5" dirty="0"/>
              <a:t>∑m(1,</a:t>
            </a:r>
            <a:r>
              <a:rPr spc="-30" dirty="0"/>
              <a:t> </a:t>
            </a:r>
            <a:r>
              <a:rPr spc="-5" dirty="0"/>
              <a:t>2)</a:t>
            </a:r>
          </a:p>
          <a:p>
            <a:pPr marL="689610">
              <a:lnSpc>
                <a:spcPct val="100000"/>
              </a:lnSpc>
              <a:spcBef>
                <a:spcPts val="1035"/>
              </a:spcBef>
            </a:pPr>
            <a:r>
              <a:rPr i="1" dirty="0">
                <a:latin typeface="Arial"/>
                <a:cs typeface="Arial"/>
              </a:rPr>
              <a:t>C</a:t>
            </a:r>
            <a:r>
              <a:rPr dirty="0"/>
              <a:t>(</a:t>
            </a:r>
            <a:r>
              <a:rPr i="1" dirty="0">
                <a:latin typeface="Arial"/>
                <a:cs typeface="Arial"/>
              </a:rPr>
              <a:t>x</a:t>
            </a:r>
            <a:r>
              <a:rPr dirty="0"/>
              <a:t>,</a:t>
            </a:r>
            <a:r>
              <a:rPr spc="-25" dirty="0"/>
              <a:t> </a:t>
            </a:r>
            <a:r>
              <a:rPr i="1" dirty="0">
                <a:latin typeface="Arial"/>
                <a:cs typeface="Arial"/>
              </a:rPr>
              <a:t>y</a:t>
            </a:r>
            <a:r>
              <a:rPr dirty="0"/>
              <a:t>)</a:t>
            </a:r>
            <a:r>
              <a:rPr spc="-30" dirty="0"/>
              <a:t> </a:t>
            </a:r>
            <a:r>
              <a:rPr dirty="0"/>
              <a:t>=</a:t>
            </a:r>
            <a:r>
              <a:rPr spc="-35" dirty="0"/>
              <a:t> </a:t>
            </a:r>
            <a:r>
              <a:rPr spc="-5" dirty="0"/>
              <a:t>∑m(3)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637475" y="2150350"/>
            <a:ext cx="3019425" cy="2873375"/>
            <a:chOff x="5637475" y="2150350"/>
            <a:chExt cx="3019425" cy="28733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8975" y="2890300"/>
              <a:ext cx="1777573" cy="21330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7475" y="2150350"/>
              <a:ext cx="1700649" cy="114614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29</a:t>
            </a:fld>
            <a:endParaRPr spc="-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563507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0" dirty="0">
                <a:latin typeface="Microsoft Sans Serif"/>
                <a:cs typeface="Microsoft Sans Serif"/>
              </a:rPr>
              <a:t>Full Adder using Half Adder</a:t>
            </a:r>
            <a:endParaRPr sz="32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8359" y="1167727"/>
            <a:ext cx="6175047" cy="348357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30</a:t>
            </a:fld>
            <a:endParaRPr spc="-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4111075" cy="59375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b="0" dirty="0">
                <a:latin typeface="Microsoft Sans Serif"/>
                <a:cs typeface="Microsoft Sans Serif"/>
              </a:rPr>
              <a:t>Binary Adder</a:t>
            </a:r>
            <a:endParaRPr sz="375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1800" y="963325"/>
            <a:ext cx="5926567" cy="38753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31</a:t>
            </a:fld>
            <a:endParaRPr spc="-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464447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0" dirty="0">
                <a:latin typeface="Microsoft Sans Serif"/>
                <a:cs typeface="Microsoft Sans Serif"/>
              </a:rPr>
              <a:t>1-to-2 Line Decoder</a:t>
            </a:r>
            <a:endParaRPr sz="32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525" y="1133400"/>
            <a:ext cx="5842849" cy="158380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79950" y="3064350"/>
            <a:ext cx="2743199" cy="12096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32</a:t>
            </a:fld>
            <a:endParaRPr spc="-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95937" y="460225"/>
            <a:ext cx="1082040" cy="1125220"/>
          </a:xfrm>
          <a:custGeom>
            <a:avLst/>
            <a:gdLst/>
            <a:ahLst/>
            <a:cxnLst/>
            <a:rect l="l" t="t" r="r" b="b"/>
            <a:pathLst>
              <a:path w="1082040" h="1125220">
                <a:moveTo>
                  <a:pt x="1081624" y="1124949"/>
                </a:moveTo>
                <a:lnTo>
                  <a:pt x="1081624" y="0"/>
                </a:lnTo>
                <a:lnTo>
                  <a:pt x="0" y="0"/>
                </a:lnTo>
              </a:path>
            </a:pathLst>
          </a:custGeom>
          <a:ln w="28574">
            <a:solidFill>
              <a:srgbClr val="CCA6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66425" y="3558325"/>
            <a:ext cx="1082040" cy="1125220"/>
          </a:xfrm>
          <a:custGeom>
            <a:avLst/>
            <a:gdLst/>
            <a:ahLst/>
            <a:cxnLst/>
            <a:rect l="l" t="t" r="r" b="b"/>
            <a:pathLst>
              <a:path w="1082040" h="1125220">
                <a:moveTo>
                  <a:pt x="0" y="0"/>
                </a:moveTo>
                <a:lnTo>
                  <a:pt x="0" y="1124949"/>
                </a:lnTo>
                <a:lnTo>
                  <a:pt x="1081624" y="1124949"/>
                </a:lnTo>
              </a:path>
            </a:pathLst>
          </a:custGeom>
          <a:ln w="28574">
            <a:solidFill>
              <a:srgbClr val="CCA6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638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We </a:t>
            </a:r>
            <a:r>
              <a:rPr spc="-5" dirty="0"/>
              <a:t>are done with </a:t>
            </a:r>
            <a:r>
              <a:rPr dirty="0"/>
              <a:t> </a:t>
            </a:r>
            <a:r>
              <a:rPr spc="-5" dirty="0"/>
              <a:t>basics</a:t>
            </a:r>
            <a:r>
              <a:rPr spc="-55" dirty="0"/>
              <a:t> </a:t>
            </a:r>
            <a:r>
              <a:rPr spc="-5" dirty="0"/>
              <a:t>of</a:t>
            </a:r>
            <a:r>
              <a:rPr spc="-55" dirty="0"/>
              <a:t> </a:t>
            </a:r>
            <a:r>
              <a:rPr spc="-5" dirty="0"/>
              <a:t>Decoders…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9688" y="1264800"/>
            <a:ext cx="2984625" cy="24947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342061" y="3878255"/>
            <a:ext cx="445516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" dirty="0">
                <a:latin typeface="Arial"/>
                <a:cs typeface="Arial"/>
              </a:rPr>
              <a:t>Now</a:t>
            </a:r>
            <a:r>
              <a:rPr sz="2300" b="1" spc="-25" dirty="0">
                <a:latin typeface="Arial"/>
                <a:cs typeface="Arial"/>
              </a:rPr>
              <a:t> </a:t>
            </a:r>
            <a:r>
              <a:rPr sz="2300" b="1" spc="-5" dirty="0">
                <a:latin typeface="Arial"/>
                <a:cs typeface="Arial"/>
              </a:rPr>
              <a:t>let's</a:t>
            </a:r>
            <a:r>
              <a:rPr sz="2300" b="1" spc="-30" dirty="0">
                <a:latin typeface="Arial"/>
                <a:cs typeface="Arial"/>
              </a:rPr>
              <a:t> </a:t>
            </a:r>
            <a:r>
              <a:rPr sz="2300" b="1" spc="-5" dirty="0">
                <a:latin typeface="Arial"/>
                <a:cs typeface="Arial"/>
              </a:rPr>
              <a:t>solve</a:t>
            </a:r>
            <a:r>
              <a:rPr sz="2300" b="1" spc="-25" dirty="0">
                <a:latin typeface="Arial"/>
                <a:cs typeface="Arial"/>
              </a:rPr>
              <a:t> </a:t>
            </a:r>
            <a:r>
              <a:rPr sz="2300" b="1" spc="-5" dirty="0">
                <a:latin typeface="Arial"/>
                <a:cs typeface="Arial"/>
              </a:rPr>
              <a:t>some</a:t>
            </a:r>
            <a:r>
              <a:rPr sz="2300" b="1" spc="-20" dirty="0">
                <a:latin typeface="Arial"/>
                <a:cs typeface="Arial"/>
              </a:rPr>
              <a:t> </a:t>
            </a:r>
            <a:r>
              <a:rPr sz="2300" b="1" spc="-5" dirty="0">
                <a:latin typeface="Arial"/>
                <a:cs typeface="Arial"/>
              </a:rPr>
              <a:t>problems!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55753"/>
            <a:ext cx="7957820" cy="172149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sz="3750" b="0" dirty="0">
                <a:latin typeface="Microsoft Sans Serif"/>
                <a:cs typeface="Microsoft Sans Serif"/>
              </a:rPr>
              <a:t>Now, Can You Implement a 2-to-4 Line Decoder using  two 1-to-2 Line Decoders?</a:t>
            </a:r>
            <a:endParaRPr sz="375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34</a:t>
            </a:fld>
            <a:endParaRPr spc="-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255753"/>
            <a:ext cx="7957820" cy="97334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sz="3200" dirty="0">
                <a:latin typeface="Microsoft Sans Serif"/>
                <a:cs typeface="Microsoft Sans Serif"/>
              </a:rPr>
              <a:t>Now, Can You Implement a 2-to-4 Line Decoder using  two 1-to-2 Line Decoders?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8825" y="2505006"/>
            <a:ext cx="1330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" dirty="0">
                <a:latin typeface="Arial"/>
                <a:cs typeface="Arial"/>
              </a:rPr>
              <a:t>Active-High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7128" y="1689901"/>
            <a:ext cx="3738100" cy="268676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35</a:t>
            </a:fld>
            <a:endParaRPr spc="-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2797810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b="0" spc="-655" dirty="0">
                <a:latin typeface="Microsoft Sans Serif"/>
                <a:cs typeface="Microsoft Sans Serif"/>
              </a:rPr>
              <a:t>Solve</a:t>
            </a:r>
            <a:r>
              <a:rPr sz="3750" b="0" spc="-280" dirty="0">
                <a:latin typeface="Microsoft Sans Serif"/>
                <a:cs typeface="Microsoft Sans Serif"/>
              </a:rPr>
              <a:t> </a:t>
            </a:r>
            <a:r>
              <a:rPr sz="3750" b="0" spc="-370" dirty="0">
                <a:latin typeface="Microsoft Sans Serif"/>
                <a:cs typeface="Microsoft Sans Serif"/>
              </a:rPr>
              <a:t>this</a:t>
            </a:r>
            <a:r>
              <a:rPr sz="3750" b="0" spc="-280" dirty="0">
                <a:latin typeface="Microsoft Sans Serif"/>
                <a:cs typeface="Microsoft Sans Serif"/>
              </a:rPr>
              <a:t> </a:t>
            </a:r>
            <a:r>
              <a:rPr sz="3750" b="0" spc="-590" dirty="0">
                <a:latin typeface="Microsoft Sans Serif"/>
                <a:cs typeface="Microsoft Sans Serif"/>
              </a:rPr>
              <a:t>Problem</a:t>
            </a:r>
            <a:endParaRPr sz="375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798" y="1127975"/>
            <a:ext cx="7980929" cy="282967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36</a:t>
            </a:fld>
            <a:endParaRPr spc="-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5150</TotalTime>
  <Words>616</Words>
  <Application>Microsoft Office PowerPoint</Application>
  <PresentationFormat>On-screen Show (16:9)</PresentationFormat>
  <Paragraphs>119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Arial MT</vt:lpstr>
      <vt:lpstr>Calibri</vt:lpstr>
      <vt:lpstr>Microsoft Sans Serif</vt:lpstr>
      <vt:lpstr>Times New Roman</vt:lpstr>
      <vt:lpstr>Office Theme</vt:lpstr>
      <vt:lpstr>Decoders</vt:lpstr>
      <vt:lpstr>Decoders</vt:lpstr>
      <vt:lpstr>2-to-4 Line Decoder</vt:lpstr>
      <vt:lpstr>2-to-4 Line Decoder</vt:lpstr>
      <vt:lpstr>2-to-4 Line Decoder</vt:lpstr>
      <vt:lpstr>3-to-8 Line Decoder</vt:lpstr>
      <vt:lpstr>3-to-8 Line Decoder</vt:lpstr>
      <vt:lpstr>3-to-8 Line Decoder</vt:lpstr>
      <vt:lpstr>PowerPoint Presentation</vt:lpstr>
      <vt:lpstr>PowerPoint Presentation</vt:lpstr>
      <vt:lpstr>Decoder with Enable Control</vt:lpstr>
      <vt:lpstr>Decoder with Enable Control</vt:lpstr>
      <vt:lpstr>Decoder with Enable Control</vt:lpstr>
      <vt:lpstr>Decoder with Enable Control</vt:lpstr>
      <vt:lpstr>Decoder with Enable Control (Active-Low)</vt:lpstr>
      <vt:lpstr>Decoder Expansion</vt:lpstr>
      <vt:lpstr>Decoder Expansion</vt:lpstr>
      <vt:lpstr>Decoder Expansion</vt:lpstr>
      <vt:lpstr>Decoder Expansion</vt:lpstr>
      <vt:lpstr>Decoder Expansion</vt:lpstr>
      <vt:lpstr>Function Implementation using Decoder</vt:lpstr>
      <vt:lpstr>Function Implementation using Decoder</vt:lpstr>
      <vt:lpstr>Function Implementation using Decoder</vt:lpstr>
      <vt:lpstr>Function Implementation using Decoder</vt:lpstr>
      <vt:lpstr>Implementing an Adder using a Decoder</vt:lpstr>
      <vt:lpstr>Implementing an Adder using a Decoder</vt:lpstr>
      <vt:lpstr>Implementing an Adder using a Decoder</vt:lpstr>
      <vt:lpstr>Implementing an Adder using a Decoder</vt:lpstr>
      <vt:lpstr>Implementing an Adder using a Decoder</vt:lpstr>
      <vt:lpstr>Full Adder using Half Adder</vt:lpstr>
      <vt:lpstr>Binary Adder</vt:lpstr>
      <vt:lpstr>1-to-2 Line Decoder</vt:lpstr>
      <vt:lpstr>We are done with  basics of Decoders…</vt:lpstr>
      <vt:lpstr>Now, Can You Implement a 2-to-4 Line Decoder using  two 1-to-2 Line Decoders?</vt:lpstr>
      <vt:lpstr>PowerPoint Presentation</vt:lpstr>
      <vt:lpstr>Solve this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Decoders</dc:title>
  <dc:creator>humaira neha</dc:creator>
  <cp:lastModifiedBy>social</cp:lastModifiedBy>
  <cp:revision>2</cp:revision>
  <dcterms:created xsi:type="dcterms:W3CDTF">2024-09-30T15:38:49Z</dcterms:created>
  <dcterms:modified xsi:type="dcterms:W3CDTF">2024-10-04T06:28:27Z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