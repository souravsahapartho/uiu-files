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jFugwj2LObvQ5IIc943/Ji08x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3D9AF0-F29A-43BB-8D4E-81871283C169}">
  <a:tblStyle styleId="{033D9AF0-F29A-43BB-8D4E-81871283C16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Tahoma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978f65dde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8978f65dde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978f65dde_0_0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97" name="Google Shape;197;g28978f65dde_0_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8978f65dde_0_53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03" name="Google Shape;203;g28978f65dde_0_53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8978f65dde_0_104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09" name="Google Shape;209;g28978f65dde_0_104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8978f65dde_0_110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16" name="Google Shape;216;g28978f65dde_0_11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8978f65dde_0_160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23" name="Google Shape;223;g28978f65dde_0_16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978f65dde_0_210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29" name="Google Shape;229;g28978f65dde_0_21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8978f65dde_0_223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43" name="Google Shape;243;g28978f65dde_0_223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8978f65dde_0_231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52" name="Google Shape;252;g28978f65dde_0_231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1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" name="Google Shape;39;p1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7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1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8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978f65dde_0_50"/>
          <p:cNvSpPr txBox="1"/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28978f65dde_0_50"/>
          <p:cNvSpPr txBox="1"/>
          <p:nvPr>
            <p:ph idx="1" type="body"/>
          </p:nvPr>
        </p:nvSpPr>
        <p:spPr>
          <a:xfrm>
            <a:off x="958851" y="1314450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Sequential Circuits</a:t>
            </a:r>
            <a:endParaRPr/>
          </a:p>
        </p:txBody>
      </p:sp>
      <p:sp>
        <p:nvSpPr>
          <p:cNvPr id="107" name="Google Shape;10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Part 4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109" name="Google Shape;109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0" name="Google Shape;110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STATE DIAGRAM TO SEQUENTIAL CIRCUIT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118" name="Google Shape;118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9" name="Google Shape;119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can describe behavior  of a sequential circuits using two methods: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State 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State Diagram</a:t>
            </a:r>
            <a:endParaRPr/>
          </a:p>
        </p:txBody>
      </p:sp>
      <p:sp>
        <p:nvSpPr>
          <p:cNvPr id="125" name="Google Shape;125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126" name="Google Shape;126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7" name="Google Shape;127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 to Sequential Circuit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838200" y="939167"/>
            <a:ext cx="10515600" cy="5237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State Diagram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Showing circuit behavior</a:t>
            </a:r>
            <a:endParaRPr/>
          </a:p>
        </p:txBody>
      </p:sp>
      <p:sp>
        <p:nvSpPr>
          <p:cNvPr id="134" name="Google Shape;134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135" name="Google Shape;135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 to Sequential Circuit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675671" y="1740310"/>
            <a:ext cx="840658" cy="84065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161071" y="2879625"/>
            <a:ext cx="840658" cy="84065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190271" y="2861778"/>
            <a:ext cx="840658" cy="84065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520813" y="4539995"/>
            <a:ext cx="840658" cy="84065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5"/>
          <p:cNvCxnSpPr>
            <a:stCxn id="138" idx="2"/>
            <a:endCxn id="139" idx="7"/>
          </p:cNvCxnSpPr>
          <p:nvPr/>
        </p:nvCxnSpPr>
        <p:spPr>
          <a:xfrm flipH="1">
            <a:off x="3878671" y="2160639"/>
            <a:ext cx="1797000" cy="8421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3" name="Google Shape;143;p5"/>
          <p:cNvCxnSpPr>
            <a:stCxn id="139" idx="5"/>
            <a:endCxn id="141" idx="2"/>
          </p:cNvCxnSpPr>
          <p:nvPr/>
        </p:nvCxnSpPr>
        <p:spPr>
          <a:xfrm>
            <a:off x="3878617" y="3597171"/>
            <a:ext cx="1642200" cy="13632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" name="Google Shape;144;p5"/>
          <p:cNvCxnSpPr>
            <a:stCxn id="141" idx="6"/>
            <a:endCxn id="140" idx="3"/>
          </p:cNvCxnSpPr>
          <p:nvPr/>
        </p:nvCxnSpPr>
        <p:spPr>
          <a:xfrm flipH="1" rot="10800000">
            <a:off x="6361471" y="3579424"/>
            <a:ext cx="1951800" cy="13809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" name="Google Shape;145;p5"/>
          <p:cNvCxnSpPr>
            <a:stCxn id="140" idx="1"/>
            <a:endCxn id="138" idx="6"/>
          </p:cNvCxnSpPr>
          <p:nvPr/>
        </p:nvCxnSpPr>
        <p:spPr>
          <a:xfrm rot="10800000">
            <a:off x="6516383" y="2160490"/>
            <a:ext cx="1797000" cy="8244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p5"/>
          <p:cNvCxnSpPr>
            <a:stCxn id="138" idx="7"/>
            <a:endCxn id="138" idx="1"/>
          </p:cNvCxnSpPr>
          <p:nvPr/>
        </p:nvCxnSpPr>
        <p:spPr>
          <a:xfrm rot="5400000">
            <a:off x="6095767" y="1566572"/>
            <a:ext cx="600" cy="594300"/>
          </a:xfrm>
          <a:prstGeom prst="curvedConnector3">
            <a:avLst>
              <a:gd fmla="val -123928085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" name="Google Shape;147;p5"/>
          <p:cNvCxnSpPr>
            <a:stCxn id="140" idx="5"/>
            <a:endCxn id="140" idx="7"/>
          </p:cNvCxnSpPr>
          <p:nvPr/>
        </p:nvCxnSpPr>
        <p:spPr>
          <a:xfrm rot="-5400000">
            <a:off x="8610967" y="3281874"/>
            <a:ext cx="594300" cy="600"/>
          </a:xfrm>
          <a:prstGeom prst="curvedConnector5">
            <a:avLst>
              <a:gd fmla="val -39534" name="adj1"/>
              <a:gd fmla="val 156291263" name="adj2"/>
              <a:gd fmla="val 137420" name="adj3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" name="Google Shape;148;p5"/>
          <p:cNvCxnSpPr>
            <a:stCxn id="139" idx="3"/>
            <a:endCxn id="139" idx="0"/>
          </p:cNvCxnSpPr>
          <p:nvPr/>
        </p:nvCxnSpPr>
        <p:spPr>
          <a:xfrm rot="-5400000">
            <a:off x="3074033" y="3089721"/>
            <a:ext cx="717600" cy="297300"/>
          </a:xfrm>
          <a:prstGeom prst="curvedConnector5">
            <a:avLst>
              <a:gd fmla="val -31856" name="adj1"/>
              <a:gd fmla="val -306812" name="adj2"/>
              <a:gd fmla="val 131849" name="adj3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" name="Google Shape;149;p5"/>
          <p:cNvCxnSpPr>
            <a:stCxn id="141" idx="5"/>
            <a:endCxn id="141" idx="3"/>
          </p:cNvCxnSpPr>
          <p:nvPr/>
        </p:nvCxnSpPr>
        <p:spPr>
          <a:xfrm rot="5400000">
            <a:off x="5940909" y="4960691"/>
            <a:ext cx="600" cy="594300"/>
          </a:xfrm>
          <a:prstGeom prst="curvedConnector3">
            <a:avLst>
              <a:gd fmla="val 116553746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" name="Google Shape;150;p5"/>
          <p:cNvSpPr txBox="1"/>
          <p:nvPr/>
        </p:nvSpPr>
        <p:spPr>
          <a:xfrm>
            <a:off x="10362272" y="1335657"/>
            <a:ext cx="7072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337028" y="803141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097172" y="4295649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200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862755" y="4195416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200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582184" y="2946009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200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982200" y="2879624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581500" y="5990342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200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319643" y="1908011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200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260027" y="1869772"/>
            <a:ext cx="76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9661853" y="939167"/>
            <a:ext cx="23593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State Table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Based on the state diagram (vice versa is also possible)</a:t>
            </a:r>
            <a:endParaRPr/>
          </a:p>
        </p:txBody>
      </p:sp>
      <p:sp>
        <p:nvSpPr>
          <p:cNvPr id="165" name="Google Shape;165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166" name="Google Shape;166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7" name="Google Shape;167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 to Sequential Circuit</a:t>
            </a:r>
            <a:endParaRPr/>
          </a:p>
        </p:txBody>
      </p:sp>
      <p:graphicFrame>
        <p:nvGraphicFramePr>
          <p:cNvPr id="169" name="Google Shape;169;p6"/>
          <p:cNvGraphicFramePr/>
          <p:nvPr/>
        </p:nvGraphicFramePr>
        <p:xfrm>
          <a:off x="2209800" y="3389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{033D9AF0-F29A-43BB-8D4E-81871283C169}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QA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QA+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QB+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QA+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QB+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6"/>
          <p:cNvSpPr txBox="1"/>
          <p:nvPr/>
        </p:nvSpPr>
        <p:spPr>
          <a:xfrm>
            <a:off x="2429163" y="2703881"/>
            <a:ext cx="1428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State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5381573" y="2693209"/>
            <a:ext cx="1153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4911652" y="3051808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6972536" y="3019793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8362452" y="3028523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9350126" y="3019793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Circuit Excitation Table – we chose T flip flops here for both the states</a:t>
            </a:r>
            <a:endParaRPr/>
          </a:p>
        </p:txBody>
      </p:sp>
      <p:sp>
        <p:nvSpPr>
          <p:cNvPr id="181" name="Google Shape;181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182" name="Google Shape;182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3" name="Google Shape;183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 to Sequential Circuit</a:t>
            </a:r>
            <a:endParaRPr/>
          </a:p>
        </p:txBody>
      </p:sp>
      <p:graphicFrame>
        <p:nvGraphicFramePr>
          <p:cNvPr id="185" name="Google Shape;185;p7"/>
          <p:cNvGraphicFramePr/>
          <p:nvPr/>
        </p:nvGraphicFramePr>
        <p:xfrm>
          <a:off x="2345937" y="27061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{033D9AF0-F29A-43BB-8D4E-81871283C169}</a:tableStyleId>
              </a:tblPr>
              <a:tblGrid>
                <a:gridCol w="903100"/>
                <a:gridCol w="903100"/>
                <a:gridCol w="903100"/>
                <a:gridCol w="903100"/>
                <a:gridCol w="903100"/>
                <a:gridCol w="903100"/>
                <a:gridCol w="903100"/>
                <a:gridCol w="903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QA+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QB+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Tb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32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978f65dde_0_281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Flip Flop and Output Equation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 this case we will get 3 equations: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Ta =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Tb=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y = ?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1" name="Google Shape;191;g28978f65dde_0_28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192" name="Google Shape;192;g28978f65dde_0_28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93" name="Google Shape;193;g28978f65dde_0_28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g28978f65dde_0_281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State Diagram to Sequential Circuit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8978f65dde_0_0"/>
          <p:cNvSpPr txBox="1"/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State Diagram</a:t>
            </a:r>
            <a:endParaRPr/>
          </a:p>
        </p:txBody>
      </p:sp>
      <p:pic>
        <p:nvPicPr>
          <p:cNvPr id="200" name="Google Shape;200;g28978f65dd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4948" y="1397900"/>
            <a:ext cx="5063425" cy="47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8978f65dde_0_53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Assignment </a:t>
            </a:r>
            <a:endParaRPr/>
          </a:p>
        </p:txBody>
      </p:sp>
      <p:pic>
        <p:nvPicPr>
          <p:cNvPr id="206" name="Google Shape;206;g28978f65dde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547" y="1296537"/>
            <a:ext cx="6093725" cy="32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8978f65dde_0_104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Input Equation: K-Map or Directly</a:t>
            </a:r>
            <a:endParaRPr/>
          </a:p>
        </p:txBody>
      </p:sp>
      <p:pic>
        <p:nvPicPr>
          <p:cNvPr id="212" name="Google Shape;212;g28978f65dde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639" y="1587902"/>
            <a:ext cx="8014619" cy="2178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8978f65dde_0_10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8339" y="4376868"/>
            <a:ext cx="3386100" cy="13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8978f65dde_0_110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Logic Diagram Using D Flip-flops</a:t>
            </a:r>
            <a:endParaRPr/>
          </a:p>
        </p:txBody>
      </p:sp>
      <p:sp>
        <p:nvSpPr>
          <p:cNvPr id="219" name="Google Shape;219;g28978f65dde_0_110"/>
          <p:cNvSpPr txBox="1"/>
          <p:nvPr>
            <p:ph idx="1" type="body"/>
          </p:nvPr>
        </p:nvSpPr>
        <p:spPr>
          <a:xfrm>
            <a:off x="1278468" y="1314450"/>
            <a:ext cx="13817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57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20" name="Google Shape;220;g28978f65dde_0_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279" y="1343807"/>
            <a:ext cx="7228477" cy="4879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8978f65dde_0_160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Flip-flop Exciting Tables</a:t>
            </a:r>
            <a:endParaRPr/>
          </a:p>
        </p:txBody>
      </p:sp>
      <p:pic>
        <p:nvPicPr>
          <p:cNvPr id="226" name="Google Shape;226;g28978f65dde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3325" y="1360083"/>
            <a:ext cx="5022375" cy="434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8978f65dde_0_210"/>
          <p:cNvSpPr txBox="1"/>
          <p:nvPr>
            <p:ph type="title"/>
          </p:nvPr>
        </p:nvSpPr>
        <p:spPr>
          <a:xfrm>
            <a:off x="954617" y="-122832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 With JK Flip-flops</a:t>
            </a:r>
            <a:endParaRPr/>
          </a:p>
        </p:txBody>
      </p:sp>
      <p:sp>
        <p:nvSpPr>
          <p:cNvPr id="232" name="Google Shape;232;g28978f65dde_0_210"/>
          <p:cNvSpPr txBox="1"/>
          <p:nvPr>
            <p:ph idx="1" type="body"/>
          </p:nvPr>
        </p:nvSpPr>
        <p:spPr>
          <a:xfrm>
            <a:off x="1278468" y="1314450"/>
            <a:ext cx="13817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57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grpSp>
        <p:nvGrpSpPr>
          <p:cNvPr id="233" name="Google Shape;233;g28978f65dde_0_210"/>
          <p:cNvGrpSpPr/>
          <p:nvPr/>
        </p:nvGrpSpPr>
        <p:grpSpPr>
          <a:xfrm>
            <a:off x="221417" y="900794"/>
            <a:ext cx="5201427" cy="2675117"/>
            <a:chOff x="166058" y="791570"/>
            <a:chExt cx="4176176" cy="3209498"/>
          </a:xfrm>
        </p:grpSpPr>
        <p:grpSp>
          <p:nvGrpSpPr>
            <p:cNvPr id="234" name="Google Shape;234;g28978f65dde_0_210"/>
            <p:cNvGrpSpPr/>
            <p:nvPr/>
          </p:nvGrpSpPr>
          <p:grpSpPr>
            <a:xfrm>
              <a:off x="166058" y="791570"/>
              <a:ext cx="3327769" cy="3209498"/>
              <a:chOff x="-311622" y="791570"/>
              <a:chExt cx="3327769" cy="3209498"/>
            </a:xfrm>
          </p:grpSpPr>
          <p:pic>
            <p:nvPicPr>
              <p:cNvPr id="235" name="Google Shape;235;g28978f65dde_0_210"/>
              <p:cNvPicPr preferRelativeResize="0"/>
              <p:nvPr/>
            </p:nvPicPr>
            <p:blipFill rotWithShape="1">
              <a:blip r:embed="rId3">
                <a:alphaModFix/>
              </a:blip>
              <a:srcRect b="0" l="33818" r="55654" t="0"/>
              <a:stretch/>
            </p:blipFill>
            <p:spPr>
              <a:xfrm>
                <a:off x="1037230" y="791570"/>
                <a:ext cx="641445" cy="32072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" name="Google Shape;236;g28978f65dde_0_2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77864" t="0"/>
              <a:stretch/>
            </p:blipFill>
            <p:spPr>
              <a:xfrm>
                <a:off x="-311622" y="791571"/>
                <a:ext cx="1348854" cy="32072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7" name="Google Shape;237;g28978f65dde_0_210"/>
              <p:cNvPicPr preferRelativeResize="0"/>
              <p:nvPr/>
            </p:nvPicPr>
            <p:blipFill rotWithShape="1">
              <a:blip r:embed="rId3">
                <a:alphaModFix/>
              </a:blip>
              <a:srcRect b="0" l="51476" r="27022" t="0"/>
              <a:stretch/>
            </p:blipFill>
            <p:spPr>
              <a:xfrm>
                <a:off x="1705965" y="793844"/>
                <a:ext cx="1310182" cy="32072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8" name="Google Shape;238;g28978f65dde_0_210"/>
            <p:cNvPicPr preferRelativeResize="0"/>
            <p:nvPr/>
          </p:nvPicPr>
          <p:blipFill rotWithShape="1">
            <a:blip r:embed="rId3">
              <a:alphaModFix/>
            </a:blip>
            <a:srcRect b="0" l="84136" r="2164" t="0"/>
            <a:stretch/>
          </p:blipFill>
          <p:spPr>
            <a:xfrm>
              <a:off x="3507471" y="791570"/>
              <a:ext cx="834763" cy="32072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9" name="Google Shape;239;g28978f65dde_0_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7528" y="3363892"/>
            <a:ext cx="5248448" cy="333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28978f65dde_0_210"/>
          <p:cNvPicPr preferRelativeResize="0"/>
          <p:nvPr/>
        </p:nvPicPr>
        <p:blipFill rotWithShape="1">
          <a:blip r:embed="rId5">
            <a:alphaModFix/>
          </a:blip>
          <a:srcRect b="45211" l="0" r="46737" t="0"/>
          <a:stretch/>
        </p:blipFill>
        <p:spPr>
          <a:xfrm>
            <a:off x="6787488" y="773227"/>
            <a:ext cx="3566614" cy="2379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8978f65dde_0_223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 With JK Flip-flops</a:t>
            </a:r>
            <a:endParaRPr/>
          </a:p>
        </p:txBody>
      </p:sp>
      <p:sp>
        <p:nvSpPr>
          <p:cNvPr id="246" name="Google Shape;246;g28978f65dde_0_223"/>
          <p:cNvSpPr txBox="1"/>
          <p:nvPr>
            <p:ph idx="1" type="body"/>
          </p:nvPr>
        </p:nvSpPr>
        <p:spPr>
          <a:xfrm>
            <a:off x="1278468" y="1314450"/>
            <a:ext cx="13817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57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47" name="Google Shape;247;g28978f65dde_0_223"/>
          <p:cNvPicPr preferRelativeResize="0"/>
          <p:nvPr/>
        </p:nvPicPr>
        <p:blipFill rotWithShape="1">
          <a:blip r:embed="rId3">
            <a:alphaModFix/>
          </a:blip>
          <a:srcRect b="0" l="0" r="61351" t="0"/>
          <a:stretch/>
        </p:blipFill>
        <p:spPr>
          <a:xfrm>
            <a:off x="155427" y="1241020"/>
            <a:ext cx="3282290" cy="504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28978f65dde_0_223"/>
          <p:cNvPicPr preferRelativeResize="0"/>
          <p:nvPr/>
        </p:nvPicPr>
        <p:blipFill rotWithShape="1">
          <a:blip r:embed="rId4">
            <a:alphaModFix/>
          </a:blip>
          <a:srcRect b="0" l="68968" r="0" t="0"/>
          <a:stretch/>
        </p:blipFill>
        <p:spPr>
          <a:xfrm>
            <a:off x="7915703" y="2406769"/>
            <a:ext cx="3002508" cy="197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28978f65dde_0_223"/>
          <p:cNvPicPr preferRelativeResize="0"/>
          <p:nvPr/>
        </p:nvPicPr>
        <p:blipFill rotWithShape="1">
          <a:blip r:embed="rId3">
            <a:alphaModFix/>
          </a:blip>
          <a:srcRect b="0" l="61646" r="0" t="0"/>
          <a:stretch/>
        </p:blipFill>
        <p:spPr>
          <a:xfrm>
            <a:off x="3930556" y="1256941"/>
            <a:ext cx="3257265" cy="504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8978f65dde_0_231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 With JK Flip-flops</a:t>
            </a:r>
            <a:endParaRPr/>
          </a:p>
        </p:txBody>
      </p:sp>
      <p:sp>
        <p:nvSpPr>
          <p:cNvPr id="255" name="Google Shape;255;g28978f65dde_0_231"/>
          <p:cNvSpPr txBox="1"/>
          <p:nvPr>
            <p:ph idx="1" type="body"/>
          </p:nvPr>
        </p:nvSpPr>
        <p:spPr>
          <a:xfrm>
            <a:off x="1278468" y="1314450"/>
            <a:ext cx="13817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57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56" name="Google Shape;256;g28978f65dde_0_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6892" y="1333643"/>
            <a:ext cx="7173817" cy="5193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27, 2023</a:t>
            </a:r>
            <a:endParaRPr/>
          </a:p>
        </p:txBody>
      </p:sp>
      <p:sp>
        <p:nvSpPr>
          <p:cNvPr id="264" name="Google Shape;264;p12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65" name="Google Shape;265;p12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