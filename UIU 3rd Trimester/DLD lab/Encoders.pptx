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84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269625"/>
            <a:ext cx="8374549" cy="601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95937" y="4602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1081624" y="1124949"/>
                </a:moveTo>
                <a:lnTo>
                  <a:pt x="1081624" y="0"/>
                </a:lnTo>
                <a:lnTo>
                  <a:pt x="0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66425" y="35583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40" h="1125220">
                <a:moveTo>
                  <a:pt x="0" y="0"/>
                </a:moveTo>
                <a:lnTo>
                  <a:pt x="0" y="1124949"/>
                </a:lnTo>
                <a:lnTo>
                  <a:pt x="1081624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CCA6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1700" y="1959994"/>
            <a:ext cx="1340598" cy="589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2549" y="1087037"/>
            <a:ext cx="8218900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93234" y="4772514"/>
            <a:ext cx="18034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‹#›</a:t>
            </a:fld>
            <a:endParaRPr spc="-1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4012" y="756699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0" y="1124949"/>
                </a:moveTo>
                <a:lnTo>
                  <a:pt x="0" y="0"/>
                </a:lnTo>
                <a:lnTo>
                  <a:pt x="1081624" y="0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18349" y="3266725"/>
            <a:ext cx="1082040" cy="1125220"/>
          </a:xfrm>
          <a:custGeom>
            <a:avLst/>
            <a:gdLst/>
            <a:ahLst/>
            <a:cxnLst/>
            <a:rect l="l" t="t" r="r" b="b"/>
            <a:pathLst>
              <a:path w="1082039" h="1125220">
                <a:moveTo>
                  <a:pt x="1081624" y="0"/>
                </a:moveTo>
                <a:lnTo>
                  <a:pt x="1081624" y="1124949"/>
                </a:lnTo>
                <a:lnTo>
                  <a:pt x="0" y="1124949"/>
                </a:lnTo>
              </a:path>
            </a:pathLst>
          </a:custGeom>
          <a:ln w="28574">
            <a:solidFill>
              <a:srgbClr val="CCA67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1400" y="2045406"/>
            <a:ext cx="2498689" cy="582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Encoders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32087" y="2791105"/>
            <a:ext cx="228028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05"/>
              </a:lnSpc>
              <a:spcBef>
                <a:spcPts val="100"/>
              </a:spcBef>
            </a:pPr>
            <a:r>
              <a:rPr sz="2100" spc="-415" dirty="0">
                <a:latin typeface="Microsoft Sans Serif"/>
                <a:cs typeface="Microsoft Sans Serif"/>
              </a:rPr>
              <a:t>Abu</a:t>
            </a:r>
            <a:r>
              <a:rPr sz="2100" spc="-160" dirty="0">
                <a:latin typeface="Microsoft Sans Serif"/>
                <a:cs typeface="Microsoft Sans Serif"/>
              </a:rPr>
              <a:t> </a:t>
            </a:r>
            <a:r>
              <a:rPr sz="2100" spc="-434" dirty="0">
                <a:latin typeface="Microsoft Sans Serif"/>
                <a:cs typeface="Microsoft Sans Serif"/>
              </a:rPr>
              <a:t>Humayed</a:t>
            </a:r>
            <a:r>
              <a:rPr sz="2100" spc="-160" dirty="0">
                <a:latin typeface="Microsoft Sans Serif"/>
                <a:cs typeface="Microsoft Sans Serif"/>
              </a:rPr>
              <a:t> </a:t>
            </a:r>
            <a:r>
              <a:rPr sz="2100" spc="-345" dirty="0">
                <a:latin typeface="Microsoft Sans Serif"/>
                <a:cs typeface="Microsoft Sans Serif"/>
              </a:rPr>
              <a:t>Azim</a:t>
            </a:r>
            <a:r>
              <a:rPr sz="2100" spc="-160" dirty="0">
                <a:latin typeface="Microsoft Sans Serif"/>
                <a:cs typeface="Microsoft Sans Serif"/>
              </a:rPr>
              <a:t> </a:t>
            </a:r>
            <a:r>
              <a:rPr sz="2100" spc="-530" dirty="0">
                <a:latin typeface="Microsoft Sans Serif"/>
                <a:cs typeface="Microsoft Sans Serif"/>
              </a:rPr>
              <a:t>F</a:t>
            </a:r>
            <a:r>
              <a:rPr sz="2100" spc="-340" dirty="0">
                <a:latin typeface="Microsoft Sans Serif"/>
                <a:cs typeface="Microsoft Sans Serif"/>
              </a:rPr>
              <a:t>ahmid</a:t>
            </a:r>
            <a:endParaRPr sz="2100">
              <a:latin typeface="Microsoft Sans Serif"/>
              <a:cs typeface="Microsoft Sans Serif"/>
            </a:endParaRPr>
          </a:p>
          <a:p>
            <a:pPr algn="ctr">
              <a:lnSpc>
                <a:spcPts val="1945"/>
              </a:lnSpc>
            </a:pPr>
            <a:r>
              <a:rPr sz="1800" spc="-254" dirty="0">
                <a:latin typeface="Microsoft Sans Serif"/>
                <a:cs typeface="Microsoft Sans Serif"/>
              </a:rPr>
              <a:t>Lecturer,</a:t>
            </a:r>
            <a:r>
              <a:rPr sz="1800" spc="-140" dirty="0">
                <a:latin typeface="Microsoft Sans Serif"/>
                <a:cs typeface="Microsoft Sans Serif"/>
              </a:rPr>
              <a:t> </a:t>
            </a:r>
            <a:r>
              <a:rPr sz="1800" spc="-545" dirty="0">
                <a:latin typeface="Microsoft Sans Serif"/>
                <a:cs typeface="Microsoft Sans Serif"/>
              </a:rPr>
              <a:t>CSE</a:t>
            </a:r>
            <a:r>
              <a:rPr sz="1800" spc="-140" dirty="0">
                <a:latin typeface="Microsoft Sans Serif"/>
                <a:cs typeface="Microsoft Sans Serif"/>
              </a:rPr>
              <a:t> </a:t>
            </a:r>
            <a:r>
              <a:rPr sz="1800" spc="-275" dirty="0">
                <a:latin typeface="Microsoft Sans Serif"/>
                <a:cs typeface="Microsoft Sans Serif"/>
              </a:rPr>
              <a:t>Dept.,</a:t>
            </a:r>
            <a:r>
              <a:rPr sz="1800" spc="-140" dirty="0">
                <a:latin typeface="Microsoft Sans Serif"/>
                <a:cs typeface="Microsoft Sans Serif"/>
              </a:rPr>
              <a:t> </a:t>
            </a:r>
            <a:r>
              <a:rPr sz="1800" spc="-345" dirty="0">
                <a:latin typeface="Microsoft Sans Serif"/>
                <a:cs typeface="Microsoft Sans Serif"/>
              </a:rPr>
              <a:t>UIU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25108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200" dirty="0"/>
              <a:t>Encoders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462549" y="1093189"/>
            <a:ext cx="6024880" cy="9467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420"/>
              </a:spcBef>
              <a:buSzPct val="112500"/>
              <a:buFont typeface="Tahoma"/>
              <a:buChar char="●"/>
              <a:tabLst>
                <a:tab pos="391795" algn="l"/>
                <a:tab pos="392430" algn="l"/>
              </a:tabLst>
            </a:pPr>
            <a:r>
              <a:rPr sz="1600" spc="5" dirty="0">
                <a:latin typeface="Microsoft Sans Serif"/>
                <a:cs typeface="Microsoft Sans Serif"/>
              </a:rPr>
              <a:t>Does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reverse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operation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decoder</a:t>
            </a:r>
            <a:endParaRPr sz="1600">
              <a:latin typeface="Microsoft Sans Serif"/>
              <a:cs typeface="Microsoft Sans Serif"/>
            </a:endParaRPr>
          </a:p>
          <a:p>
            <a:pPr marL="391795" indent="-367030">
              <a:lnSpc>
                <a:spcPct val="100000"/>
              </a:lnSpc>
              <a:spcBef>
                <a:spcPts val="565"/>
              </a:spcBef>
              <a:buSzPct val="112500"/>
              <a:buFont typeface="Tahoma"/>
              <a:buChar char="●"/>
              <a:tabLst>
                <a:tab pos="391795" algn="l"/>
                <a:tab pos="392430" algn="l"/>
              </a:tabLst>
            </a:pPr>
            <a:r>
              <a:rPr sz="1600" spc="15" dirty="0">
                <a:latin typeface="Microsoft Sans Serif"/>
                <a:cs typeface="Microsoft Sans Serif"/>
              </a:rPr>
              <a:t>An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encoder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10" dirty="0">
                <a:latin typeface="Microsoft Sans Serif"/>
                <a:cs typeface="Microsoft Sans Serif"/>
              </a:rPr>
              <a:t>has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2</a:t>
            </a:r>
            <a:r>
              <a:rPr sz="1575" spc="82" baseline="31746" dirty="0">
                <a:latin typeface="Microsoft Sans Serif"/>
                <a:cs typeface="Microsoft Sans Serif"/>
              </a:rPr>
              <a:t>n</a:t>
            </a:r>
            <a:r>
              <a:rPr sz="1575" spc="202" baseline="31746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(or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fewer)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input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lines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and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n</a:t>
            </a:r>
            <a:r>
              <a:rPr sz="1600" spc="40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output</a:t>
            </a:r>
            <a:r>
              <a:rPr sz="1600" spc="400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lines</a:t>
            </a:r>
            <a:endParaRPr sz="1600">
              <a:latin typeface="Microsoft Sans Serif"/>
              <a:cs typeface="Microsoft Sans Serif"/>
            </a:endParaRPr>
          </a:p>
          <a:p>
            <a:pPr marL="391795" indent="-367030">
              <a:lnSpc>
                <a:spcPct val="100000"/>
              </a:lnSpc>
              <a:spcBef>
                <a:spcPts val="565"/>
              </a:spcBef>
              <a:buSzPct val="112500"/>
              <a:buFont typeface="Tahoma"/>
              <a:buChar char="●"/>
              <a:tabLst>
                <a:tab pos="391795" algn="l"/>
                <a:tab pos="392430" algn="l"/>
              </a:tabLst>
            </a:pPr>
            <a:r>
              <a:rPr sz="1600" spc="40" dirty="0">
                <a:latin typeface="Microsoft Sans Serif"/>
                <a:cs typeface="Microsoft Sans Serif"/>
              </a:rPr>
              <a:t>Constraint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30" dirty="0">
                <a:latin typeface="Microsoft Sans Serif"/>
                <a:cs typeface="Microsoft Sans Serif"/>
              </a:rPr>
              <a:t>–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only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one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input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is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active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at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time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61684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Octal-to-Binary Encoder (8-to-3)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423" y="1075875"/>
            <a:ext cx="4328542" cy="3383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6041" y="1227454"/>
            <a:ext cx="2059133" cy="266419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3</a:t>
            </a:fld>
            <a:endParaRPr spc="-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7235275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dirty="0"/>
              <a:t>Octal-to-Binary</a:t>
            </a:r>
            <a:r>
              <a:rPr sz="3750" spc="-270" dirty="0"/>
              <a:t> </a:t>
            </a:r>
            <a:r>
              <a:rPr sz="3750" spc="-670" dirty="0"/>
              <a:t>Encoder</a:t>
            </a:r>
            <a:r>
              <a:rPr sz="3750" spc="-270" dirty="0"/>
              <a:t> </a:t>
            </a:r>
            <a:r>
              <a:rPr sz="3750" spc="-315" dirty="0"/>
              <a:t>(8-to-3)</a:t>
            </a:r>
            <a:endParaRPr sz="37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341" y="1761854"/>
            <a:ext cx="3109971" cy="1554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999" y="1142099"/>
            <a:ext cx="3646899" cy="27394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4</a:t>
            </a:fld>
            <a:endParaRPr spc="-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82258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Hexadecimal-to-Binary Encoder (16-to-4)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4950" y="884524"/>
            <a:ext cx="5354098" cy="40025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5</a:t>
            </a:fld>
            <a:endParaRPr spc="-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00491"/>
            <a:ext cx="8763000" cy="59375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dirty="0"/>
              <a:t>Hexadecimal-to-Binary Encoder (16-to-4)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800" y="1402925"/>
            <a:ext cx="5267324" cy="21526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6</a:t>
            </a:fld>
            <a:endParaRPr spc="-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269625"/>
            <a:ext cx="693047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/>
              <a:t>Decimal-to-BCD Encoder (10-to-4)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3363" y="1159226"/>
            <a:ext cx="4445290" cy="32033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7</a:t>
            </a:fld>
            <a:endParaRPr spc="-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522732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595" dirty="0"/>
              <a:t>Decimal-to-BCD</a:t>
            </a:r>
            <a:r>
              <a:rPr sz="3750" spc="-275" dirty="0"/>
              <a:t> </a:t>
            </a:r>
            <a:r>
              <a:rPr sz="3750" spc="-670" dirty="0"/>
              <a:t>Encoder</a:t>
            </a:r>
            <a:r>
              <a:rPr sz="3750" spc="-270" dirty="0"/>
              <a:t> </a:t>
            </a:r>
            <a:r>
              <a:rPr sz="3750" spc="-340" dirty="0"/>
              <a:t>(10-to-4)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4625" y="1483250"/>
            <a:ext cx="3286124" cy="3238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713375" y="1892824"/>
            <a:ext cx="2752725" cy="964565"/>
            <a:chOff x="2713375" y="1892824"/>
            <a:chExt cx="2752725" cy="9645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3375" y="1892824"/>
              <a:ext cx="2752724" cy="466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3375" y="2390662"/>
              <a:ext cx="2743199" cy="46672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4200" y="3102312"/>
            <a:ext cx="1666874" cy="3238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8</a:t>
            </a:fld>
            <a:endParaRPr spc="-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2414270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9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475249" y="1087037"/>
            <a:ext cx="4940935" cy="8883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7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20" dirty="0">
                <a:latin typeface="Microsoft Sans Serif"/>
                <a:cs typeface="Microsoft Sans Serif"/>
              </a:rPr>
              <a:t>Encoder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with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priority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function</a:t>
            </a:r>
            <a:endParaRPr sz="1600">
              <a:latin typeface="Microsoft Sans Serif"/>
              <a:cs typeface="Microsoft Sans Serif"/>
            </a:endParaRPr>
          </a:p>
          <a:p>
            <a:pPr marL="836294" lvl="1" indent="-336550">
              <a:lnSpc>
                <a:spcPct val="100000"/>
              </a:lnSpc>
              <a:spcBef>
                <a:spcPts val="370"/>
              </a:spcBef>
              <a:buSzPct val="87500"/>
              <a:buFont typeface="Tahoma"/>
              <a:buChar char="■"/>
              <a:tabLst>
                <a:tab pos="836294" algn="l"/>
                <a:tab pos="836930" algn="l"/>
              </a:tabLst>
            </a:pPr>
            <a:r>
              <a:rPr sz="1600" spc="60" dirty="0">
                <a:latin typeface="Microsoft Sans Serif"/>
                <a:cs typeface="Microsoft Sans Serif"/>
              </a:rPr>
              <a:t>Multiple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inputs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may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be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true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simultaneously</a:t>
            </a:r>
            <a:endParaRPr sz="1600">
              <a:latin typeface="Microsoft Sans Serif"/>
              <a:cs typeface="Microsoft Sans Serif"/>
            </a:endParaRPr>
          </a:p>
          <a:p>
            <a:pPr marL="836294" lvl="1" indent="-336550">
              <a:lnSpc>
                <a:spcPct val="100000"/>
              </a:lnSpc>
              <a:spcBef>
                <a:spcPts val="290"/>
              </a:spcBef>
              <a:buSzPct val="87500"/>
              <a:buFont typeface="Tahoma"/>
              <a:buChar char="■"/>
              <a:tabLst>
                <a:tab pos="836294" algn="l"/>
                <a:tab pos="836930" algn="l"/>
              </a:tabLst>
            </a:pPr>
            <a:r>
              <a:rPr sz="1600" spc="35" dirty="0">
                <a:latin typeface="Microsoft Sans Serif"/>
                <a:cs typeface="Microsoft Sans Serif"/>
              </a:rPr>
              <a:t>Higher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priority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input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gets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precedence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611" y="1644687"/>
            <a:ext cx="2848392" cy="22554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10</a:t>
            </a:fld>
            <a:endParaRPr spc="-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>
                <a:latin typeface="Microsoft Sans Serif"/>
                <a:cs typeface="Microsoft Sans Serif"/>
              </a:rPr>
              <a:t>4-</a:t>
            </a:r>
            <a:r>
              <a:rPr sz="3750" spc="-465" dirty="0">
                <a:latin typeface="Microsoft Sans Serif"/>
                <a:cs typeface="Microsoft Sans Serif"/>
              </a:rPr>
              <a:t>Input</a:t>
            </a:r>
            <a:r>
              <a:rPr sz="3750" spc="-280" dirty="0">
                <a:latin typeface="Microsoft Sans Serif"/>
                <a:cs typeface="Microsoft Sans Serif"/>
              </a:rPr>
              <a:t> </a:t>
            </a:r>
            <a:r>
              <a:rPr sz="3750" spc="-370" dirty="0">
                <a:latin typeface="Microsoft Sans Serif"/>
                <a:cs typeface="Microsoft Sans Serif"/>
              </a:rPr>
              <a:t>Priority</a:t>
            </a:r>
            <a:r>
              <a:rPr sz="3750" spc="-280" dirty="0">
                <a:latin typeface="Microsoft Sans Serif"/>
                <a:cs typeface="Microsoft Sans Serif"/>
              </a:rPr>
              <a:t> </a:t>
            </a:r>
            <a:r>
              <a:rPr sz="3750" spc="-670" dirty="0">
                <a:latin typeface="Microsoft Sans Serif"/>
                <a:cs typeface="Microsoft Sans Serif"/>
              </a:rPr>
              <a:t>Encoder</a:t>
            </a:r>
            <a:endParaRPr sz="375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611" y="1644687"/>
            <a:ext cx="2848392" cy="225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27000" y="1028222"/>
            <a:ext cx="2295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First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let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us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Priority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11</a:t>
            </a:fld>
            <a:endParaRPr spc="-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611" y="1644687"/>
            <a:ext cx="2848392" cy="225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96925" y="3944722"/>
            <a:ext cx="1381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Lowest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Priority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25687" y="3352311"/>
            <a:ext cx="1071880" cy="532765"/>
            <a:chOff x="2125687" y="3352311"/>
            <a:chExt cx="1071880" cy="532765"/>
          </a:xfrm>
        </p:grpSpPr>
        <p:sp>
          <p:nvSpPr>
            <p:cNvPr id="6" name="object 6"/>
            <p:cNvSpPr/>
            <p:nvPr/>
          </p:nvSpPr>
          <p:spPr>
            <a:xfrm>
              <a:off x="2130449" y="3365339"/>
              <a:ext cx="1045844" cy="514984"/>
            </a:xfrm>
            <a:custGeom>
              <a:avLst/>
              <a:gdLst/>
              <a:ahLst/>
              <a:cxnLst/>
              <a:rect l="l" t="t" r="r" b="b"/>
              <a:pathLst>
                <a:path w="1045844" h="514985">
                  <a:moveTo>
                    <a:pt x="0" y="514484"/>
                  </a:moveTo>
                  <a:lnTo>
                    <a:pt x="1045312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61421" y="3357074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9460" y="22606"/>
                  </a:moveTo>
                  <a:lnTo>
                    <a:pt x="14340" y="8265"/>
                  </a:lnTo>
                  <a:lnTo>
                    <a:pt x="0" y="3385"/>
                  </a:lnTo>
                  <a:lnTo>
                    <a:pt x="31135" y="0"/>
                  </a:lnTo>
                  <a:lnTo>
                    <a:pt x="9460" y="22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61421" y="3357074"/>
              <a:ext cx="31750" cy="22860"/>
            </a:xfrm>
            <a:custGeom>
              <a:avLst/>
              <a:gdLst/>
              <a:ahLst/>
              <a:cxnLst/>
              <a:rect l="l" t="t" r="r" b="b"/>
              <a:pathLst>
                <a:path w="31750" h="22860">
                  <a:moveTo>
                    <a:pt x="14340" y="8265"/>
                  </a:moveTo>
                  <a:lnTo>
                    <a:pt x="9460" y="22606"/>
                  </a:lnTo>
                  <a:lnTo>
                    <a:pt x="31135" y="0"/>
                  </a:lnTo>
                  <a:lnTo>
                    <a:pt x="0" y="3385"/>
                  </a:lnTo>
                  <a:lnTo>
                    <a:pt x="14340" y="82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39999" y="1028222"/>
            <a:ext cx="4482465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64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Times New Roman"/>
                <a:cs typeface="Times New Roman"/>
              </a:rPr>
              <a:t>First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let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us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set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Priority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Times New Roman"/>
                <a:cs typeface="Times New Roman"/>
              </a:rPr>
              <a:t>Highest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Priority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79612" y="1945362"/>
            <a:ext cx="915669" cy="298450"/>
            <a:chOff x="2079612" y="1945362"/>
            <a:chExt cx="915669" cy="298450"/>
          </a:xfrm>
        </p:grpSpPr>
        <p:sp>
          <p:nvSpPr>
            <p:cNvPr id="11" name="object 11"/>
            <p:cNvSpPr/>
            <p:nvPr/>
          </p:nvSpPr>
          <p:spPr>
            <a:xfrm>
              <a:off x="2084374" y="1950124"/>
              <a:ext cx="888365" cy="281940"/>
            </a:xfrm>
            <a:custGeom>
              <a:avLst/>
              <a:gdLst/>
              <a:ahLst/>
              <a:cxnLst/>
              <a:rect l="l" t="t" r="r" b="b"/>
              <a:pathLst>
                <a:path w="888364" h="281939">
                  <a:moveTo>
                    <a:pt x="0" y="0"/>
                  </a:moveTo>
                  <a:lnTo>
                    <a:pt x="887783" y="281435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58710" y="2218112"/>
              <a:ext cx="31750" cy="20955"/>
            </a:xfrm>
            <a:custGeom>
              <a:avLst/>
              <a:gdLst/>
              <a:ahLst/>
              <a:cxnLst/>
              <a:rect l="l" t="t" r="r" b="b"/>
              <a:pathLst>
                <a:path w="31750" h="20955">
                  <a:moveTo>
                    <a:pt x="0" y="20421"/>
                  </a:moveTo>
                  <a:lnTo>
                    <a:pt x="13447" y="13447"/>
                  </a:lnTo>
                  <a:lnTo>
                    <a:pt x="6473" y="0"/>
                  </a:lnTo>
                  <a:lnTo>
                    <a:pt x="31291" y="19104"/>
                  </a:lnTo>
                  <a:lnTo>
                    <a:pt x="0" y="204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58710" y="2218112"/>
              <a:ext cx="31750" cy="20955"/>
            </a:xfrm>
            <a:custGeom>
              <a:avLst/>
              <a:gdLst/>
              <a:ahLst/>
              <a:cxnLst/>
              <a:rect l="l" t="t" r="r" b="b"/>
              <a:pathLst>
                <a:path w="31750" h="20955">
                  <a:moveTo>
                    <a:pt x="13447" y="13447"/>
                  </a:moveTo>
                  <a:lnTo>
                    <a:pt x="0" y="20421"/>
                  </a:lnTo>
                  <a:lnTo>
                    <a:pt x="31291" y="19104"/>
                  </a:lnTo>
                  <a:lnTo>
                    <a:pt x="6473" y="0"/>
                  </a:lnTo>
                  <a:lnTo>
                    <a:pt x="13447" y="1344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12</a:t>
            </a:fld>
            <a:endParaRPr spc="-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301" y="1241901"/>
            <a:ext cx="3237611" cy="26348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13</a:t>
            </a:fld>
            <a:endParaRPr spc="-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301" y="1241901"/>
            <a:ext cx="3237611" cy="26348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599" y="1592699"/>
            <a:ext cx="1961514" cy="195833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20"/>
              </a:spcBef>
            </a:pPr>
            <a:r>
              <a:rPr sz="1400" b="1" spc="-10" dirty="0">
                <a:latin typeface="Times New Roman"/>
                <a:cs typeface="Times New Roman"/>
              </a:rPr>
              <a:t>Here,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V</a:t>
            </a:r>
            <a:r>
              <a:rPr sz="1400" b="1" i="1" spc="-2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is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valid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bit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L="85725" marR="23495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indicates whether </a:t>
            </a:r>
            <a:r>
              <a:rPr sz="1400" dirty="0">
                <a:latin typeface="Times New Roman"/>
                <a:cs typeface="Times New Roman"/>
              </a:rPr>
              <a:t>or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there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least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high-priority </a:t>
            </a:r>
            <a:r>
              <a:rPr sz="1400" spc="-5" dirty="0">
                <a:latin typeface="Times New Roman"/>
                <a:cs typeface="Times New Roman"/>
              </a:rPr>
              <a:t>input </a:t>
            </a:r>
            <a:r>
              <a:rPr sz="1400" dirty="0">
                <a:latin typeface="Times New Roman"/>
                <a:cs typeface="Times New Roman"/>
              </a:rPr>
              <a:t> present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(i.e.,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the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inputs </a:t>
            </a:r>
            <a:r>
              <a:rPr sz="1400" b="1" i="1" dirty="0">
                <a:latin typeface="Times New Roman"/>
                <a:cs typeface="Times New Roman"/>
              </a:rPr>
              <a:t>I</a:t>
            </a:r>
            <a:r>
              <a:rPr sz="1350" b="1" i="1" baseline="-33950" dirty="0">
                <a:latin typeface="Times New Roman"/>
                <a:cs typeface="Times New Roman"/>
              </a:rPr>
              <a:t>0</a:t>
            </a:r>
            <a:r>
              <a:rPr sz="1400" b="1" i="1" dirty="0">
                <a:latin typeface="Times New Roman"/>
                <a:cs typeface="Times New Roman"/>
              </a:rPr>
              <a:t>, I</a:t>
            </a:r>
            <a:r>
              <a:rPr sz="1350" b="1" i="1" baseline="-33950" dirty="0">
                <a:latin typeface="Times New Roman"/>
                <a:cs typeface="Times New Roman"/>
              </a:rPr>
              <a:t>1</a:t>
            </a:r>
            <a:r>
              <a:rPr sz="1400" b="1" i="1" dirty="0">
                <a:latin typeface="Times New Roman"/>
                <a:cs typeface="Times New Roman"/>
              </a:rPr>
              <a:t>, </a:t>
            </a:r>
            <a:r>
              <a:rPr sz="1400" b="1" i="1" spc="5" dirty="0">
                <a:latin typeface="Times New Roman"/>
                <a:cs typeface="Times New Roman"/>
              </a:rPr>
              <a:t>I</a:t>
            </a:r>
            <a:r>
              <a:rPr sz="1350" b="1" i="1" spc="7" baseline="-33950" dirty="0">
                <a:latin typeface="Times New Roman"/>
                <a:cs typeface="Times New Roman"/>
              </a:rPr>
              <a:t>2</a:t>
            </a:r>
            <a:r>
              <a:rPr sz="1350" b="1" i="1" spc="15" baseline="-33950" dirty="0">
                <a:latin typeface="Times New Roman"/>
                <a:cs typeface="Times New Roman"/>
              </a:rPr>
              <a:t> </a:t>
            </a:r>
            <a:r>
              <a:rPr sz="1400" b="1" i="1" dirty="0">
                <a:latin typeface="Times New Roman"/>
                <a:cs typeface="Times New Roman"/>
              </a:rPr>
              <a:t>or </a:t>
            </a:r>
            <a:r>
              <a:rPr sz="1400" b="1" i="1" spc="5" dirty="0">
                <a:latin typeface="Times New Roman"/>
                <a:cs typeface="Times New Roman"/>
              </a:rPr>
              <a:t>I</a:t>
            </a:r>
            <a:r>
              <a:rPr sz="1350" b="1" i="1" spc="7" baseline="-33950" dirty="0">
                <a:latin typeface="Times New Roman"/>
                <a:cs typeface="Times New Roman"/>
              </a:rPr>
              <a:t>3</a:t>
            </a:r>
            <a:r>
              <a:rPr sz="1350" b="1" i="1" spc="15" baseline="-3395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is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1).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14</a:t>
            </a:fld>
            <a:endParaRPr spc="-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676" y="1241901"/>
            <a:ext cx="3237611" cy="2634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3832" y="1608844"/>
            <a:ext cx="3416249" cy="18085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15</a:t>
            </a:fld>
            <a:endParaRPr spc="-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4-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870" y="1789632"/>
            <a:ext cx="2587629" cy="14170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2865" y="1519988"/>
            <a:ext cx="3792137" cy="178184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16</a:t>
            </a:fld>
            <a:endParaRPr spc="-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5-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61150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40" dirty="0">
                <a:latin typeface="Microsoft Sans Serif"/>
                <a:cs typeface="Microsoft Sans Serif"/>
              </a:rPr>
              <a:t>Now,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5" dirty="0">
                <a:latin typeface="Microsoft Sans Serif"/>
                <a:cs typeface="Microsoft Sans Serif"/>
              </a:rPr>
              <a:t>let’s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00" dirty="0">
                <a:latin typeface="Microsoft Sans Serif"/>
                <a:cs typeface="Microsoft Sans Serif"/>
              </a:rPr>
              <a:t>ﬁnd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equations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for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a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5-Input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Priority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0" dirty="0">
                <a:latin typeface="Microsoft Sans Serif"/>
                <a:cs typeface="Microsoft Sans Serif"/>
              </a:rPr>
              <a:t>Encoder.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200" y="1502975"/>
            <a:ext cx="7167875" cy="3219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17</a:t>
            </a:fld>
            <a:endParaRPr spc="-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5-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050" y="963312"/>
            <a:ext cx="4900466" cy="2200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5645" y="3392229"/>
            <a:ext cx="4145039" cy="12311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18</a:t>
            </a:fld>
            <a:endParaRPr spc="-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8-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19</a:t>
            </a:fld>
            <a:endParaRPr spc="-150" dirty="0"/>
          </a:p>
        </p:txBody>
      </p:sp>
      <p:sp>
        <p:nvSpPr>
          <p:cNvPr id="3" name="object 3"/>
          <p:cNvSpPr txBox="1"/>
          <p:nvPr/>
        </p:nvSpPr>
        <p:spPr>
          <a:xfrm>
            <a:off x="462549" y="1087037"/>
            <a:ext cx="8195945" cy="11684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91795" indent="-367030">
              <a:lnSpc>
                <a:spcPct val="100000"/>
              </a:lnSpc>
              <a:spcBef>
                <a:spcPts val="470"/>
              </a:spcBef>
              <a:buSzPct val="112500"/>
              <a:buFont typeface="Tahoma"/>
              <a:buChar char="●"/>
              <a:tabLst>
                <a:tab pos="391795" algn="l"/>
                <a:tab pos="392430" algn="l"/>
              </a:tabLst>
            </a:pPr>
            <a:r>
              <a:rPr sz="1600" spc="40" dirty="0">
                <a:latin typeface="Microsoft Sans Serif"/>
                <a:cs typeface="Microsoft Sans Serif"/>
              </a:rPr>
              <a:t>Now,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how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about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8-Input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Priority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Encoder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with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priority: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" dirty="0">
                <a:latin typeface="Microsoft Sans Serif"/>
                <a:cs typeface="Microsoft Sans Serif"/>
              </a:rPr>
              <a:t>D</a:t>
            </a:r>
            <a:r>
              <a:rPr sz="1575" spc="7" baseline="-31746" dirty="0">
                <a:latin typeface="Microsoft Sans Serif"/>
                <a:cs typeface="Microsoft Sans Serif"/>
              </a:rPr>
              <a:t>7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6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5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4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3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2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1</a:t>
            </a:r>
            <a:r>
              <a:rPr sz="1600" spc="5" dirty="0">
                <a:latin typeface="Microsoft Sans Serif"/>
                <a:cs typeface="Microsoft Sans Serif"/>
              </a:rPr>
              <a:t>&gt;D</a:t>
            </a:r>
            <a:r>
              <a:rPr sz="1575" spc="7" baseline="-31746" dirty="0">
                <a:latin typeface="Microsoft Sans Serif"/>
                <a:cs typeface="Microsoft Sans Serif"/>
              </a:rPr>
              <a:t>0</a:t>
            </a:r>
            <a:endParaRPr sz="1575" baseline="-31746">
              <a:latin typeface="Microsoft Sans Serif"/>
              <a:cs typeface="Microsoft Sans Serif"/>
            </a:endParaRPr>
          </a:p>
          <a:p>
            <a:pPr marL="848994" lvl="1" indent="-351790">
              <a:lnSpc>
                <a:spcPct val="100000"/>
              </a:lnSpc>
              <a:spcBef>
                <a:spcPts val="370"/>
              </a:spcBef>
              <a:buFont typeface="Tahoma"/>
              <a:buChar char="■"/>
              <a:tabLst>
                <a:tab pos="848994" algn="l"/>
                <a:tab pos="849630" algn="l"/>
              </a:tabLst>
            </a:pPr>
            <a:r>
              <a:rPr sz="1600" spc="-25" dirty="0">
                <a:latin typeface="Microsoft Sans Serif"/>
                <a:cs typeface="Microsoft Sans Serif"/>
              </a:rPr>
              <a:t>Can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you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make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truth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table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and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20" dirty="0">
                <a:latin typeface="Microsoft Sans Serif"/>
                <a:cs typeface="Microsoft Sans Serif"/>
              </a:rPr>
              <a:t>equations?</a:t>
            </a:r>
            <a:endParaRPr sz="1600">
              <a:latin typeface="Microsoft Sans Serif"/>
              <a:cs typeface="Microsoft Sans Serif"/>
            </a:endParaRPr>
          </a:p>
          <a:p>
            <a:pPr marL="848994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■"/>
              <a:tabLst>
                <a:tab pos="848994" algn="l"/>
                <a:tab pos="849630" algn="l"/>
              </a:tabLst>
            </a:pPr>
            <a:r>
              <a:rPr sz="1600" spc="5" dirty="0">
                <a:latin typeface="Microsoft Sans Serif"/>
                <a:cs typeface="Microsoft Sans Serif"/>
              </a:rPr>
              <a:t>Try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it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40" dirty="0">
                <a:latin typeface="Microsoft Sans Serif"/>
                <a:cs typeface="Microsoft Sans Serif"/>
              </a:rPr>
              <a:t>yourself</a:t>
            </a:r>
            <a:endParaRPr sz="1600">
              <a:latin typeface="Microsoft Sans Serif"/>
              <a:cs typeface="Microsoft Sans Serif"/>
            </a:endParaRPr>
          </a:p>
          <a:p>
            <a:pPr marL="848994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■"/>
              <a:tabLst>
                <a:tab pos="848994" algn="l"/>
                <a:tab pos="849630" algn="l"/>
              </a:tabLst>
            </a:pPr>
            <a:r>
              <a:rPr sz="1600" spc="-10" dirty="0">
                <a:latin typeface="Microsoft Sans Serif"/>
                <a:cs typeface="Microsoft Sans Serif"/>
              </a:rPr>
              <a:t>You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can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35" dirty="0">
                <a:latin typeface="Microsoft Sans Serif"/>
                <a:cs typeface="Microsoft Sans Serif"/>
              </a:rPr>
              <a:t>avoid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the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25" dirty="0">
                <a:latin typeface="Microsoft Sans Serif"/>
                <a:cs typeface="Microsoft Sans Serif"/>
              </a:rPr>
              <a:t>valid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bit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if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you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want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for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this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problem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363029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260" dirty="0"/>
              <a:t>8-</a:t>
            </a:r>
            <a:r>
              <a:rPr sz="3750" spc="-465" dirty="0"/>
              <a:t>Input</a:t>
            </a:r>
            <a:r>
              <a:rPr sz="3750" spc="-280" dirty="0"/>
              <a:t> </a:t>
            </a: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670" dirty="0"/>
              <a:t>Encoder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43598" y="844487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26" y="971551"/>
            <a:ext cx="4324549" cy="3902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4975" y="626499"/>
            <a:ext cx="4205427" cy="1155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94975" y="2199062"/>
            <a:ext cx="3879825" cy="11553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4975" y="3771625"/>
            <a:ext cx="3359599" cy="8398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20</a:t>
            </a:fld>
            <a:endParaRPr spc="-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44411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10" dirty="0">
                <a:latin typeface="Microsoft Sans Serif"/>
                <a:cs typeface="Microsoft Sans Serif"/>
              </a:rPr>
              <a:t>For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30" dirty="0">
                <a:latin typeface="Microsoft Sans Serif"/>
                <a:cs typeface="Microsoft Sans Serif"/>
              </a:rPr>
              <a:t>example,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" dirty="0">
                <a:latin typeface="Microsoft Sans Serif"/>
                <a:cs typeface="Microsoft Sans Serif"/>
              </a:rPr>
              <a:t>let’s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try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to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10" dirty="0">
                <a:latin typeface="Microsoft Sans Serif"/>
                <a:cs typeface="Microsoft Sans Serif"/>
              </a:rPr>
              <a:t>solve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this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problem.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925" y="1783320"/>
            <a:ext cx="6930835" cy="101676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21</a:t>
            </a:fld>
            <a:endParaRPr spc="-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0987" y="1744224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24">
                <a:tc gridSpan="4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900" y="1183037"/>
            <a:ext cx="1685924" cy="276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22</a:t>
            </a:fld>
            <a:endParaRPr spc="-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0987" y="1744224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24">
                <a:tc gridSpan="4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57530" algn="l"/>
                          <a:tab pos="875665" algn="l"/>
                          <a:tab pos="119253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900" y="1183037"/>
            <a:ext cx="1685924" cy="276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23</a:t>
            </a:fld>
            <a:endParaRPr spc="-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0987" y="1744224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24">
                <a:tc gridSpan="4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57530" algn="l"/>
                          <a:tab pos="875665" algn="l"/>
                          <a:tab pos="119253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58165" algn="l"/>
                          <a:tab pos="875030" algn="l"/>
                          <a:tab pos="119189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	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900" y="1183037"/>
            <a:ext cx="1685924" cy="276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24</a:t>
            </a:fld>
            <a:endParaRPr spc="-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0987" y="1744224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24">
                <a:tc gridSpan="4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30860" algn="l"/>
                          <a:tab pos="847725" algn="l"/>
                          <a:tab pos="116713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0	0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57530" algn="l"/>
                          <a:tab pos="875665" algn="l"/>
                          <a:tab pos="119253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 marL="240665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558165" algn="l"/>
                          <a:tab pos="875030" algn="l"/>
                          <a:tab pos="119189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	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900" y="1183037"/>
            <a:ext cx="1685924" cy="276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25</a:t>
            </a:fld>
            <a:endParaRPr spc="-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30987" y="1744224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24">
                <a:tc gridSpan="3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	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11112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26352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750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900" y="1183037"/>
            <a:ext cx="1685924" cy="2762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26</a:t>
            </a:fld>
            <a:endParaRPr spc="-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0987" y="1736675"/>
          <a:ext cx="3261994" cy="247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24">
                <a:tc gridSpan="3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500" b="1" i="1" spc="375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500" b="1" i="1" spc="780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787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i="1" spc="284" baseline="-305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500" b="1" i="1" baseline="-30555" dirty="0">
                          <a:latin typeface="Arial"/>
                          <a:cs typeface="Arial"/>
                        </a:rPr>
                        <a:t>0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	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11112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26352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7500" algn="l"/>
                        </a:tabLst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	</a:t>
                      </a: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49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615"/>
                        </a:spcBef>
                        <a:tabLst>
                          <a:tab pos="316865" algn="l"/>
                        </a:tabLst>
                      </a:pPr>
                      <a:r>
                        <a:rPr sz="1500" b="1" dirty="0">
                          <a:solidFill>
                            <a:srgbClr val="CC00CC"/>
                          </a:solidFill>
                          <a:latin typeface="Arial"/>
                          <a:cs typeface="Arial"/>
                        </a:rPr>
                        <a:t>1	</a:t>
                      </a: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7598D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500" b="1" dirty="0">
                          <a:solidFill>
                            <a:srgbClr val="FD8637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19050">
                      <a:solidFill>
                        <a:srgbClr val="9E9E9E"/>
                      </a:solidFill>
                      <a:prstDash val="solid"/>
                    </a:lnL>
                    <a:lnR w="19050">
                      <a:solidFill>
                        <a:srgbClr val="9E9E9E"/>
                      </a:solidFill>
                      <a:prstDash val="solid"/>
                    </a:lnR>
                    <a:lnT w="19050">
                      <a:solidFill>
                        <a:srgbClr val="9E9E9E"/>
                      </a:solidFill>
                      <a:prstDash val="solid"/>
                    </a:lnT>
                    <a:lnB w="19050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5605" y="2204907"/>
            <a:ext cx="4018380" cy="15002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27</a:t>
            </a:fld>
            <a:endParaRPr spc="-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9625"/>
            <a:ext cx="6417945" cy="6019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spc="-370" dirty="0"/>
              <a:t>Priority</a:t>
            </a:r>
            <a:r>
              <a:rPr sz="3750" spc="-280" dirty="0"/>
              <a:t> </a:t>
            </a:r>
            <a:r>
              <a:rPr sz="3750" spc="-595" dirty="0"/>
              <a:t>Order</a:t>
            </a:r>
            <a:r>
              <a:rPr sz="3750" spc="-275" dirty="0"/>
              <a:t> </a:t>
            </a:r>
            <a:r>
              <a:rPr sz="3750" spc="-900" dirty="0"/>
              <a:t>Can</a:t>
            </a:r>
            <a:r>
              <a:rPr sz="3750" spc="-275" dirty="0"/>
              <a:t> </a:t>
            </a:r>
            <a:r>
              <a:rPr sz="3750" spc="-715" dirty="0"/>
              <a:t>be</a:t>
            </a:r>
            <a:r>
              <a:rPr sz="3750" spc="-280" dirty="0"/>
              <a:t> </a:t>
            </a:r>
            <a:r>
              <a:rPr sz="3750" spc="-434" dirty="0"/>
              <a:t>Different</a:t>
            </a:r>
            <a:r>
              <a:rPr sz="3750" spc="-275" dirty="0"/>
              <a:t> </a:t>
            </a:r>
            <a:r>
              <a:rPr sz="3750" spc="-350" dirty="0"/>
              <a:t>in</a:t>
            </a:r>
            <a:r>
              <a:rPr sz="3750" spc="-275" dirty="0"/>
              <a:t> </a:t>
            </a:r>
            <a:r>
              <a:rPr sz="3750" spc="-595" dirty="0"/>
              <a:t>Problems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75249" y="1134281"/>
            <a:ext cx="1225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SzPct val="112500"/>
              <a:buFont typeface="Tahoma"/>
              <a:buChar char="●"/>
              <a:tabLst>
                <a:tab pos="379095" algn="l"/>
                <a:tab pos="379730" algn="l"/>
              </a:tabLst>
            </a:pPr>
            <a:r>
              <a:rPr sz="1600" spc="30" dirty="0">
                <a:latin typeface="Microsoft Sans Serif"/>
                <a:cs typeface="Microsoft Sans Serif"/>
              </a:rPr>
              <a:t>Solution: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950" y="1421825"/>
            <a:ext cx="4494092" cy="31975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150" dirty="0"/>
              <a:t>28</a:t>
            </a:fld>
            <a:endParaRPr spc="-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5500" y="3182244"/>
            <a:ext cx="4673600" cy="104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4200" spc="-765" dirty="0">
                <a:latin typeface="Microsoft Sans Serif"/>
                <a:cs typeface="Microsoft Sans Serif"/>
              </a:rPr>
              <a:t>P</a:t>
            </a:r>
            <a:r>
              <a:rPr sz="4200" spc="-465" dirty="0">
                <a:latin typeface="Microsoft Sans Serif"/>
                <a:cs typeface="Microsoft Sans Serif"/>
              </a:rPr>
              <a:t>r</a:t>
            </a:r>
            <a:r>
              <a:rPr sz="4200" spc="-750" dirty="0">
                <a:latin typeface="Microsoft Sans Serif"/>
                <a:cs typeface="Microsoft Sans Serif"/>
              </a:rPr>
              <a:t>ac</a:t>
            </a:r>
            <a:r>
              <a:rPr sz="4200" spc="-415" dirty="0">
                <a:latin typeface="Microsoft Sans Serif"/>
                <a:cs typeface="Microsoft Sans Serif"/>
              </a:rPr>
              <a:t>t</a:t>
            </a:r>
            <a:r>
              <a:rPr sz="4200" spc="-585" dirty="0">
                <a:latin typeface="Microsoft Sans Serif"/>
                <a:cs typeface="Microsoft Sans Serif"/>
              </a:rPr>
              <a:t>ice</a:t>
            </a:r>
            <a:r>
              <a:rPr sz="4200" spc="-320" dirty="0">
                <a:latin typeface="Microsoft Sans Serif"/>
                <a:cs typeface="Microsoft Sans Serif"/>
              </a:rPr>
              <a:t> </a:t>
            </a:r>
            <a:r>
              <a:rPr sz="4200" spc="-640" dirty="0">
                <a:latin typeface="Microsoft Sans Serif"/>
                <a:cs typeface="Microsoft Sans Serif"/>
              </a:rPr>
              <a:t>more!!</a:t>
            </a:r>
            <a:endParaRPr sz="42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2400" spc="-500" dirty="0">
                <a:latin typeface="Microsoft Sans Serif"/>
                <a:cs typeface="Microsoft Sans Serif"/>
              </a:rPr>
              <a:t>Check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420" dirty="0">
                <a:latin typeface="Microsoft Sans Serif"/>
                <a:cs typeface="Microsoft Sans Serif"/>
              </a:rPr>
              <a:t>book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380" dirty="0">
                <a:latin typeface="Microsoft Sans Serif"/>
                <a:cs typeface="Microsoft Sans Serif"/>
              </a:rPr>
              <a:t>exercises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450" dirty="0">
                <a:latin typeface="Microsoft Sans Serif"/>
                <a:cs typeface="Microsoft Sans Serif"/>
              </a:rPr>
              <a:t>and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350" dirty="0">
                <a:latin typeface="Microsoft Sans Serif"/>
                <a:cs typeface="Microsoft Sans Serif"/>
              </a:rPr>
              <a:t>previous</a:t>
            </a:r>
            <a:r>
              <a:rPr sz="2400" spc="-185" dirty="0">
                <a:latin typeface="Microsoft Sans Serif"/>
                <a:cs typeface="Microsoft Sans Serif"/>
              </a:rPr>
              <a:t> </a:t>
            </a:r>
            <a:r>
              <a:rPr sz="2400" spc="-315" dirty="0">
                <a:latin typeface="Microsoft Sans Serif"/>
                <a:cs typeface="Microsoft Sans Serif"/>
              </a:rPr>
              <a:t>ﬁnal</a:t>
            </a:r>
            <a:r>
              <a:rPr sz="2400" spc="-180" dirty="0">
                <a:latin typeface="Microsoft Sans Serif"/>
                <a:cs typeface="Microsoft Sans Serif"/>
              </a:rPr>
              <a:t> </a:t>
            </a:r>
            <a:r>
              <a:rPr sz="2400" spc="-355" dirty="0">
                <a:latin typeface="Microsoft Sans Serif"/>
                <a:cs typeface="Microsoft Sans Serif"/>
              </a:rPr>
              <a:t>questions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3537" y="777050"/>
            <a:ext cx="3156917" cy="239544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37" y="974375"/>
            <a:ext cx="4689526" cy="3194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599</Words>
  <Application>Microsoft Office PowerPoint</Application>
  <PresentationFormat>On-screen Show (16:9)</PresentationFormat>
  <Paragraphs>247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Microsoft Sans Serif</vt:lpstr>
      <vt:lpstr>Tahoma</vt:lpstr>
      <vt:lpstr>Times New Roman</vt:lpstr>
      <vt:lpstr>Office Theme</vt:lpstr>
      <vt:lpstr>Encoders</vt:lpstr>
      <vt:lpstr>Encoders</vt:lpstr>
      <vt:lpstr>Octal-to-Binary Encoder (8-to-3)</vt:lpstr>
      <vt:lpstr>Octal-to-Binary Encoder (8-to-3)</vt:lpstr>
      <vt:lpstr>Hexadecimal-to-Binary Encoder (16-to-4)</vt:lpstr>
      <vt:lpstr>Hexadecimal-to-Binary Encoder (16-to-4)</vt:lpstr>
      <vt:lpstr>Decimal-to-BCD Encoder (10-to-4)</vt:lpstr>
      <vt:lpstr>Decimal-to-BCD Encoder (10-to-4)</vt:lpstr>
      <vt:lpstr>Priority Encoder</vt:lpstr>
      <vt:lpstr>4-Input Priority Encoder</vt:lpstr>
      <vt:lpstr>PowerPoint Presentation</vt:lpstr>
      <vt:lpstr>4-Input Priority Encoder</vt:lpstr>
      <vt:lpstr>4-Input Priority Encoder</vt:lpstr>
      <vt:lpstr>4-Input Priority Encoder</vt:lpstr>
      <vt:lpstr>4-Input Priority Encoder</vt:lpstr>
      <vt:lpstr>4-Input Priority Encoder</vt:lpstr>
      <vt:lpstr>5-Input Priority Encoder</vt:lpstr>
      <vt:lpstr>5-Input Priority Encoder</vt:lpstr>
      <vt:lpstr>8-Input Priority Encoder</vt:lpstr>
      <vt:lpstr>8-Input Priority Encoder</vt:lpstr>
      <vt:lpstr>Priority Order Can be Different in Problems</vt:lpstr>
      <vt:lpstr>Priority Order Can be Different in Problems</vt:lpstr>
      <vt:lpstr>Priority Order Can be Different in Problems</vt:lpstr>
      <vt:lpstr>Priority Order Can be Different in Problems</vt:lpstr>
      <vt:lpstr>Priority Order Can be Different in Problems</vt:lpstr>
      <vt:lpstr>Priority Order Can be Different in Problems</vt:lpstr>
      <vt:lpstr>Priority Order Can be Different in Problems</vt:lpstr>
      <vt:lpstr>Priority Order Can be Different in Problems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Encoders</dc:title>
  <cp:lastModifiedBy>UIU</cp:lastModifiedBy>
  <cp:revision>4</cp:revision>
  <dcterms:created xsi:type="dcterms:W3CDTF">2024-09-30T15:38:27Z</dcterms:created>
  <dcterms:modified xsi:type="dcterms:W3CDTF">2024-10-01T05:50:45Z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