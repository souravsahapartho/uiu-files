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1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embeddedFontLst>
    <p:embeddedFont>
      <p:font typeface="Tahoma" panose="020B0604030504040204" pitchFamily="3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88sbubyPFsh0KXQKYb8zelbCU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2C8CC5-29E3-42B0-8C23-6936896B48FA}">
  <a:tblStyle styleId="{5B2C8CC5-29E3-42B0-8C23-6936896B48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642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2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2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2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Sequential Circuits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Part 3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SR Latch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Truth Table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Level Trigger and Edge Trigger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SR Flip Flop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Truth Table, Characteristics Table and Excitation Table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D Flip Flop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Truth Table, Characteristics Table and Excitation Table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JK Flip Flop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Truth Table, Characteristics Table and Excitation Table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Racing Problem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 b="1"/>
              <a:t>Master Slave JK Flip Flop</a:t>
            </a:r>
            <a:endParaRPr b="1"/>
          </a:p>
        </p:txBody>
      </p:sp>
      <p:sp>
        <p:nvSpPr>
          <p:cNvPr id="113" name="Google Shape;113;p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Key Takeaways Obtained So Far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We can place entire logic circuits inside boxes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538" y="1799751"/>
            <a:ext cx="3844259" cy="2086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 descr="Flip Flop Basics | Types, Truth Table, Circuit, and Applicati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5533" y="1878729"/>
            <a:ext cx="3616530" cy="20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 descr="Designing of D Flip Flop - Electronics 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87477" y="4041159"/>
            <a:ext cx="4217046" cy="198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We can place all entire logic circuits inside boxes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/>
              <a:t>Only the input and output pins will be shown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pic>
        <p:nvPicPr>
          <p:cNvPr id="147" name="Google Shape;147;p5" descr="Latches -- Advanced Solid-State Logic: Flip-Flops, Shift Registers,  Counters, and Timers"/>
          <p:cNvPicPr preferRelativeResize="0"/>
          <p:nvPr/>
        </p:nvPicPr>
        <p:blipFill rotWithShape="1">
          <a:blip r:embed="rId3">
            <a:alphaModFix/>
          </a:blip>
          <a:srcRect b="60524"/>
          <a:stretch/>
        </p:blipFill>
        <p:spPr>
          <a:xfrm>
            <a:off x="1649447" y="2803016"/>
            <a:ext cx="8893106" cy="219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construct a T flip flop from JK flip flop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 stands for toggle. It will only toggle the content (Q) stored inside</a:t>
            </a:r>
            <a:endParaRPr/>
          </a:p>
        </p:txBody>
      </p:sp>
      <p:sp>
        <p:nvSpPr>
          <p:cNvPr id="153" name="Google Shape;153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54" name="Google Shape;154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5" name="Google Shape;155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6" name="Google Shape;156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pic>
        <p:nvPicPr>
          <p:cNvPr id="157" name="Google Shape;157;p6" descr="File:JK Flip-flop (Simple) Symbol.sv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507" y="2110153"/>
            <a:ext cx="3598985" cy="3598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construct a T flip flop from JK flip flop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 stands for toggle. It will only toggle the content (Q) stored inside</a:t>
            </a:r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64" name="Google Shape;164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5" name="Google Shape;165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pic>
        <p:nvPicPr>
          <p:cNvPr id="167" name="Google Shape;167;p7" descr="File:JK Flip-flop (Simple) Symbol.sv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507" y="2110153"/>
            <a:ext cx="3598985" cy="359898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446836" y="3159889"/>
            <a:ext cx="3046441" cy="46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 rot="5400000">
            <a:off x="2427185" y="3878308"/>
            <a:ext cx="14825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145605" y="4596727"/>
            <a:ext cx="134767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446836" y="3886785"/>
            <a:ext cx="30464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119575" y="2992618"/>
            <a:ext cx="2968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1119575" y="3747838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What are the possible inputs of J and K now?</a:t>
            </a:r>
            <a:endParaRPr/>
          </a:p>
        </p:txBody>
      </p:sp>
      <p:sp>
        <p:nvSpPr>
          <p:cNvPr id="179" name="Google Shape;179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pic>
        <p:nvPicPr>
          <p:cNvPr id="183" name="Google Shape;183;p8" descr="File:JK Flip-flop (Simple) Symbol.sv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507" y="2110153"/>
            <a:ext cx="3598985" cy="359898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1446836" y="3159889"/>
            <a:ext cx="3046441" cy="46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 rot="5400000">
            <a:off x="2427185" y="3878308"/>
            <a:ext cx="14825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145605" y="4596727"/>
            <a:ext cx="134767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446836" y="3886785"/>
            <a:ext cx="30464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1119575" y="2992618"/>
            <a:ext cx="2968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119575" y="3747838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Three Tables</a:t>
            </a:r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196" name="Google Shape;196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7" name="Google Shape;197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grpSp>
        <p:nvGrpSpPr>
          <p:cNvPr id="199" name="Google Shape;199;p9"/>
          <p:cNvGrpSpPr/>
          <p:nvPr/>
        </p:nvGrpSpPr>
        <p:grpSpPr>
          <a:xfrm>
            <a:off x="4958080" y="833120"/>
            <a:ext cx="2896772" cy="1868658"/>
            <a:chOff x="1119575" y="2110153"/>
            <a:chExt cx="6775917" cy="3598985"/>
          </a:xfrm>
        </p:grpSpPr>
        <p:pic>
          <p:nvPicPr>
            <p:cNvPr id="200" name="Google Shape;200;p9" descr="File:JK Flip-flop (Simple) Symbol.sv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96507" y="2110153"/>
              <a:ext cx="3598985" cy="35989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9"/>
            <p:cNvSpPr/>
            <p:nvPr/>
          </p:nvSpPr>
          <p:spPr>
            <a:xfrm>
              <a:off x="1446836" y="3159889"/>
              <a:ext cx="3046441" cy="462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 rot="5400000">
              <a:off x="2427185" y="3878308"/>
              <a:ext cx="1482557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3145605" y="4596727"/>
              <a:ext cx="1347672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446836" y="3886785"/>
              <a:ext cx="3046439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9"/>
            <p:cNvSpPr txBox="1"/>
            <p:nvPr/>
          </p:nvSpPr>
          <p:spPr>
            <a:xfrm>
              <a:off x="1119575" y="2992618"/>
              <a:ext cx="296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1119575" y="3747838"/>
              <a:ext cx="3080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07" name="Google Shape;207;p9"/>
          <p:cNvGraphicFramePr/>
          <p:nvPr/>
        </p:nvGraphicFramePr>
        <p:xfrm>
          <a:off x="950412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2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r>
                        <a:rPr lang="en-US" sz="1800" baseline="30000"/>
                        <a:t>’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8" name="Google Shape;208;p9"/>
          <p:cNvSpPr txBox="1"/>
          <p:nvPr/>
        </p:nvSpPr>
        <p:spPr>
          <a:xfrm>
            <a:off x="1277519" y="2926314"/>
            <a:ext cx="12311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Truth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9"/>
          <p:cNvGraphicFramePr/>
          <p:nvPr/>
        </p:nvGraphicFramePr>
        <p:xfrm>
          <a:off x="3993266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7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30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0" name="Google Shape;210;p9"/>
          <p:cNvSpPr txBox="1"/>
          <p:nvPr/>
        </p:nvSpPr>
        <p:spPr>
          <a:xfrm>
            <a:off x="3908946" y="2940359"/>
            <a:ext cx="20982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Charactersitics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9"/>
          <p:cNvGraphicFramePr/>
          <p:nvPr/>
        </p:nvGraphicFramePr>
        <p:xfrm>
          <a:off x="7126788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2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30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" name="Google Shape;212;p9"/>
          <p:cNvSpPr txBox="1"/>
          <p:nvPr/>
        </p:nvSpPr>
        <p:spPr>
          <a:xfrm>
            <a:off x="7220177" y="2940359"/>
            <a:ext cx="16986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Excitation 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245007" y="3667350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249348" y="4062139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249830" y="4456486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362391" y="3664978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353154" y="4059767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353155" y="4428985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353153" y="4798203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417206" y="3664978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407969" y="4059767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407970" y="4428985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407968" y="4809215"/>
            <a:ext cx="386787" cy="3143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Three Tables</a:t>
            </a:r>
            <a:endParaRPr/>
          </a:p>
        </p:txBody>
      </p:sp>
      <p:sp>
        <p:nvSpPr>
          <p:cNvPr id="229" name="Google Shape;229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230" name="Google Shape;230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1" name="Google Shape;231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32" name="Google Shape;232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 Flip Flop</a:t>
            </a:r>
            <a:endParaRPr/>
          </a:p>
        </p:txBody>
      </p:sp>
      <p:grpSp>
        <p:nvGrpSpPr>
          <p:cNvPr id="233" name="Google Shape;233;p10"/>
          <p:cNvGrpSpPr/>
          <p:nvPr/>
        </p:nvGrpSpPr>
        <p:grpSpPr>
          <a:xfrm>
            <a:off x="4958080" y="833120"/>
            <a:ext cx="2896772" cy="1868658"/>
            <a:chOff x="1119575" y="2110153"/>
            <a:chExt cx="6775917" cy="3598985"/>
          </a:xfrm>
        </p:grpSpPr>
        <p:pic>
          <p:nvPicPr>
            <p:cNvPr id="234" name="Google Shape;234;p10" descr="File:JK Flip-flop (Simple) Symbol.sv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96507" y="2110153"/>
              <a:ext cx="3598985" cy="35989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0"/>
            <p:cNvSpPr/>
            <p:nvPr/>
          </p:nvSpPr>
          <p:spPr>
            <a:xfrm>
              <a:off x="1446836" y="3159889"/>
              <a:ext cx="3046441" cy="462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2427185" y="3878308"/>
              <a:ext cx="1482557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3145605" y="4596727"/>
              <a:ext cx="1347672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1446836" y="3886785"/>
              <a:ext cx="3046439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 txBox="1"/>
            <p:nvPr/>
          </p:nvSpPr>
          <p:spPr>
            <a:xfrm>
              <a:off x="1119575" y="2992618"/>
              <a:ext cx="296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0"/>
            <p:cNvSpPr txBox="1"/>
            <p:nvPr/>
          </p:nvSpPr>
          <p:spPr>
            <a:xfrm>
              <a:off x="1119575" y="3747838"/>
              <a:ext cx="3080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1" name="Google Shape;241;p10"/>
          <p:cNvGraphicFramePr/>
          <p:nvPr/>
        </p:nvGraphicFramePr>
        <p:xfrm>
          <a:off x="950412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2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r>
                        <a:rPr lang="en-US" sz="1800" baseline="30000"/>
                        <a:t>’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2" name="Google Shape;242;p10"/>
          <p:cNvSpPr txBox="1"/>
          <p:nvPr/>
        </p:nvSpPr>
        <p:spPr>
          <a:xfrm>
            <a:off x="1277519" y="2926314"/>
            <a:ext cx="12311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Truth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0"/>
          <p:cNvGraphicFramePr/>
          <p:nvPr/>
        </p:nvGraphicFramePr>
        <p:xfrm>
          <a:off x="4038600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2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30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4" name="Google Shape;244;p10"/>
          <p:cNvSpPr txBox="1"/>
          <p:nvPr/>
        </p:nvSpPr>
        <p:spPr>
          <a:xfrm>
            <a:off x="3908946" y="2940359"/>
            <a:ext cx="20982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Charactersitics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10"/>
          <p:cNvGraphicFramePr/>
          <p:nvPr/>
        </p:nvGraphicFramePr>
        <p:xfrm>
          <a:off x="7126788" y="32956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2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</a:t>
                      </a:r>
                      <a:endParaRPr sz="1800" baseline="30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" name="Google Shape;246;p10"/>
          <p:cNvSpPr txBox="1"/>
          <p:nvPr/>
        </p:nvSpPr>
        <p:spPr>
          <a:xfrm>
            <a:off x="7220177" y="2940359"/>
            <a:ext cx="16986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Excitation  Table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FLIP FLOP CONVERSION</a:t>
            </a:r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53" name="Google Shape;253;p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254" name="Google Shape;254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5" name="Google Shape;255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following steps can be followed for flip flop conversion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Identify the available flip flop and the required flip flop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Make the characteristic table for the required flip flop.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Make the excitation table for the available flip flop.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Extend the characteristics table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Write the Boolean expression for the available flip flop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/>
              <a:t>Draw the circuit</a:t>
            </a:r>
            <a:endParaRPr/>
          </a:p>
        </p:txBody>
      </p:sp>
      <p:sp>
        <p:nvSpPr>
          <p:cNvPr id="261" name="Google Shape;261;p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262" name="Google Shape;262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3" name="Google Shape;263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 Conversion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B6EAC6-DFCF-1365-604C-700225CEE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848" y="2133790"/>
            <a:ext cx="5563744" cy="3688325"/>
          </a:xfrm>
          <a:prstGeom prst="rect">
            <a:avLst/>
          </a:prstGeom>
        </p:spPr>
      </p:pic>
      <p:sp>
        <p:nvSpPr>
          <p:cNvPr id="269" name="Google Shape;269;p1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Recall Excitation table</a:t>
            </a:r>
            <a:endParaRPr dirty="0"/>
          </a:p>
        </p:txBody>
      </p:sp>
      <p:sp>
        <p:nvSpPr>
          <p:cNvPr id="270" name="Google Shape;270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 Conversion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454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Let us perform the following conversions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JK Flip Flop to D Flip Flop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 Flip Flop to D Flip Flop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SR Flip Flop to JK Flip Flop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SR Flip Flop to T Flip Flop</a:t>
            </a:r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Flip Flop Conversion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sp>
        <p:nvSpPr>
          <p:cNvPr id="279" name="Google Shape;27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2" name="Google Shape;282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289" name="Google Shape;289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292" name="Google Shape;292;p15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315" y="2566116"/>
            <a:ext cx="6393369" cy="281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299" name="Google Shape;299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0" name="Google Shape;300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01" name="Google Shape;301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302" name="Google Shape;302;p16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315" y="2566116"/>
            <a:ext cx="6393369" cy="28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/>
          <p:nvPr/>
        </p:nvSpPr>
        <p:spPr>
          <a:xfrm rot="5400000">
            <a:off x="5374772" y="2460000"/>
            <a:ext cx="98996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5846893" y="2932121"/>
            <a:ext cx="9157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846893" y="5014921"/>
            <a:ext cx="9157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 rot="5400000">
            <a:off x="5374772" y="5518257"/>
            <a:ext cx="989962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313" name="Google Shape;313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14" name="Google Shape;314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316" name="Google Shape;316;p17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315" y="2566116"/>
            <a:ext cx="6393369" cy="28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"/>
          <p:cNvSpPr/>
          <p:nvPr/>
        </p:nvSpPr>
        <p:spPr>
          <a:xfrm rot="5400000">
            <a:off x="5374772" y="2460000"/>
            <a:ext cx="98996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5846893" y="2932121"/>
            <a:ext cx="9157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846893" y="5014921"/>
            <a:ext cx="9157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 rot="5400000">
            <a:off x="5374772" y="5518257"/>
            <a:ext cx="989962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5651809" y="1671966"/>
            <a:ext cx="7767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5706599" y="5949676"/>
            <a:ext cx="6671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7"/>
          <p:cNvCxnSpPr/>
          <p:nvPr/>
        </p:nvCxnSpPr>
        <p:spPr>
          <a:xfrm>
            <a:off x="5686873" y="1759278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4" name="Google Shape;324;p17"/>
          <p:cNvCxnSpPr/>
          <p:nvPr/>
        </p:nvCxnSpPr>
        <p:spPr>
          <a:xfrm>
            <a:off x="5651809" y="6036098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330" name="Google Shape;330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331" name="Google Shape;331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2" name="Google Shape;332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33" name="Google Shape;333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334" name="Google Shape;334;p18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715" y="2739983"/>
            <a:ext cx="6393369" cy="28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/>
          <p:nvPr/>
        </p:nvSpPr>
        <p:spPr>
          <a:xfrm rot="5400000">
            <a:off x="2860172" y="2633867"/>
            <a:ext cx="98996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3332293" y="3105988"/>
            <a:ext cx="9157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3332293" y="5188788"/>
            <a:ext cx="9157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 rot="5400000">
            <a:off x="2860172" y="5692124"/>
            <a:ext cx="989962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3137209" y="1845833"/>
            <a:ext cx="7767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3061009" y="6332449"/>
            <a:ext cx="6671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8"/>
          <p:cNvCxnSpPr/>
          <p:nvPr/>
        </p:nvCxnSpPr>
        <p:spPr>
          <a:xfrm>
            <a:off x="3182440" y="1845833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2" name="Google Shape;342;p18"/>
          <p:cNvCxnSpPr/>
          <p:nvPr/>
        </p:nvCxnSpPr>
        <p:spPr>
          <a:xfrm>
            <a:off x="3023567" y="6397219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0" name="Google Shape;350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352" name="Google Shape;352;p19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715" y="2739983"/>
            <a:ext cx="6393369" cy="28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/>
          <p:nvPr/>
        </p:nvSpPr>
        <p:spPr>
          <a:xfrm rot="5400000">
            <a:off x="2860172" y="2633867"/>
            <a:ext cx="98996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3332293" y="3105988"/>
            <a:ext cx="9157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3332293" y="5188788"/>
            <a:ext cx="9157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 rot="5400000">
            <a:off x="2860172" y="5692124"/>
            <a:ext cx="989962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3137209" y="1845833"/>
            <a:ext cx="7767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3191999" y="6123543"/>
            <a:ext cx="6671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9" name="Google Shape;359;p19"/>
          <p:cNvGraphicFramePr/>
          <p:nvPr/>
        </p:nvGraphicFramePr>
        <p:xfrm>
          <a:off x="7340601" y="32214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143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Clear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 Used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Normal Functioning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60" name="Google Shape;360;p19"/>
          <p:cNvCxnSpPr/>
          <p:nvPr/>
        </p:nvCxnSpPr>
        <p:spPr>
          <a:xfrm>
            <a:off x="3182440" y="1845833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1" name="Google Shape;361;p19"/>
          <p:cNvCxnSpPr/>
          <p:nvPr/>
        </p:nvCxnSpPr>
        <p:spPr>
          <a:xfrm>
            <a:off x="3239280" y="6196242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2" name="Google Shape;362;p19"/>
          <p:cNvCxnSpPr/>
          <p:nvPr/>
        </p:nvCxnSpPr>
        <p:spPr>
          <a:xfrm>
            <a:off x="7421880" y="3312845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" name="Google Shape;363;p19"/>
          <p:cNvCxnSpPr/>
          <p:nvPr/>
        </p:nvCxnSpPr>
        <p:spPr>
          <a:xfrm>
            <a:off x="8717280" y="3303370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SR Flip Flop for understanding </a:t>
            </a:r>
            <a:endParaRPr/>
          </a:p>
        </p:txBody>
      </p:sp>
      <p:sp>
        <p:nvSpPr>
          <p:cNvPr id="369" name="Google Shape;369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1" name="Google Shape;371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72" name="Google Shape;372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Preset and clear inputs</a:t>
            </a:r>
            <a:endParaRPr/>
          </a:p>
        </p:txBody>
      </p:sp>
      <p:pic>
        <p:nvPicPr>
          <p:cNvPr id="373" name="Google Shape;373;p20" descr="SR Flip Flop Explained in Detail - DCAClab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715" y="2739983"/>
            <a:ext cx="6393369" cy="28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0"/>
          <p:cNvSpPr/>
          <p:nvPr/>
        </p:nvSpPr>
        <p:spPr>
          <a:xfrm rot="5400000">
            <a:off x="2860172" y="2633867"/>
            <a:ext cx="98996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3332293" y="3105988"/>
            <a:ext cx="9157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3332293" y="5188788"/>
            <a:ext cx="9157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 rot="5400000">
            <a:off x="2860172" y="5692124"/>
            <a:ext cx="989962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3137209" y="1845833"/>
            <a:ext cx="7767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3191999" y="6123543"/>
            <a:ext cx="6671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20"/>
          <p:cNvCxnSpPr/>
          <p:nvPr/>
        </p:nvCxnSpPr>
        <p:spPr>
          <a:xfrm>
            <a:off x="3182440" y="1845833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1" name="Google Shape;381;p20"/>
          <p:cNvCxnSpPr/>
          <p:nvPr/>
        </p:nvCxnSpPr>
        <p:spPr>
          <a:xfrm>
            <a:off x="3239280" y="6196242"/>
            <a:ext cx="7315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82" name="Google Shape;382;p20" descr="JK Flip Flop and SR Flip Flop - GeeksforGeek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3360" y="1845833"/>
            <a:ext cx="4733925" cy="399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0"/>
          <p:cNvSpPr/>
          <p:nvPr/>
        </p:nvSpPr>
        <p:spPr>
          <a:xfrm>
            <a:off x="9461277" y="2301564"/>
            <a:ext cx="138545" cy="13854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9455396" y="5418482"/>
            <a:ext cx="138545" cy="13854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STATE DIAGRAMS</a:t>
            </a:r>
            <a:endParaRPr/>
          </a:p>
        </p:txBody>
      </p:sp>
      <p:sp>
        <p:nvSpPr>
          <p:cNvPr id="390" name="Google Shape;390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91" name="Google Shape;391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392" name="Google Shape;392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3" name="Google Shape;393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What is a state?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 a sequential circuit we will find inputs – A,B,C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 a sequential circuit we will find outputs – F,E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 a sequential circuit we will find states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Q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Q</a:t>
            </a:r>
            <a:r>
              <a:rPr lang="en-US" sz="2800" baseline="-25000"/>
              <a:t>n</a:t>
            </a:r>
            <a:endParaRPr sz="2800" baseline="-25000"/>
          </a:p>
          <a:p>
            <a:pPr marL="114300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 sz="2800"/>
              <a:t>Q</a:t>
            </a:r>
            <a:r>
              <a:rPr lang="en-US" sz="2800" baseline="-25000"/>
              <a:t>n+1</a:t>
            </a:r>
            <a:endParaRPr sz="2800"/>
          </a:p>
          <a:p>
            <a:pPr marL="742950" lvl="1" indent="-18669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  <a:p>
            <a:pPr marL="742950" lvl="1" indent="-18669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1" name="Google Shape;401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02" name="Google Shape;402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start by making the state diagram of a JK flip flop</a:t>
            </a:r>
            <a:endParaRPr/>
          </a:p>
        </p:txBody>
      </p:sp>
      <p:sp>
        <p:nvSpPr>
          <p:cNvPr id="408" name="Google Shape;408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409" name="Google Shape;409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0" name="Google Shape;410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11" name="Google Shape;411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Diagrams</a:t>
            </a:r>
            <a:endParaRPr/>
          </a:p>
        </p:txBody>
      </p:sp>
      <p:graphicFrame>
        <p:nvGraphicFramePr>
          <p:cNvPr id="412" name="Google Shape;412;p23"/>
          <p:cNvGraphicFramePr/>
          <p:nvPr/>
        </p:nvGraphicFramePr>
        <p:xfrm>
          <a:off x="1258649" y="26588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5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3" name="Google Shape;413;p23"/>
          <p:cNvSpPr txBox="1"/>
          <p:nvPr/>
        </p:nvSpPr>
        <p:spPr>
          <a:xfrm>
            <a:off x="681849" y="1968788"/>
            <a:ext cx="3768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state changes based on input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start by making the state diagram of a JK flip flop</a:t>
            </a:r>
            <a:endParaRPr/>
          </a:p>
        </p:txBody>
      </p:sp>
      <p:sp>
        <p:nvSpPr>
          <p:cNvPr id="419" name="Google Shape;419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420" name="Google Shape;420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21" name="Google Shape;421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22" name="Google Shape;422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Diagrams</a:t>
            </a:r>
            <a:endParaRPr/>
          </a:p>
        </p:txBody>
      </p:sp>
      <p:graphicFrame>
        <p:nvGraphicFramePr>
          <p:cNvPr id="423" name="Google Shape;423;p24"/>
          <p:cNvGraphicFramePr/>
          <p:nvPr/>
        </p:nvGraphicFramePr>
        <p:xfrm>
          <a:off x="1258649" y="26588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{5B2C8CC5-29E3-42B0-8C23-6936896B48FA}</a:tableStyleId>
              </a:tblPr>
              <a:tblGrid>
                <a:gridCol w="65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4" name="Google Shape;424;p24"/>
          <p:cNvSpPr txBox="1"/>
          <p:nvPr/>
        </p:nvSpPr>
        <p:spPr>
          <a:xfrm>
            <a:off x="681849" y="1968788"/>
            <a:ext cx="3768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state changes based on input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6135670" y="3230245"/>
            <a:ext cx="869430" cy="94438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8610600" y="3230245"/>
            <a:ext cx="869430" cy="94438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24"/>
          <p:cNvCxnSpPr>
            <a:stCxn id="425" idx="0"/>
            <a:endCxn id="426" idx="0"/>
          </p:cNvCxnSpPr>
          <p:nvPr/>
        </p:nvCxnSpPr>
        <p:spPr>
          <a:xfrm rot="-5400000" flipH="1">
            <a:off x="7807585" y="1993045"/>
            <a:ext cx="600" cy="2475000"/>
          </a:xfrm>
          <a:prstGeom prst="curvedConnector3">
            <a:avLst>
              <a:gd name="adj1" fmla="val -116989162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8" name="Google Shape;428;p24"/>
          <p:cNvCxnSpPr>
            <a:stCxn id="426" idx="7"/>
            <a:endCxn id="426" idx="5"/>
          </p:cNvCxnSpPr>
          <p:nvPr/>
        </p:nvCxnSpPr>
        <p:spPr>
          <a:xfrm rot="-5400000" flipH="1">
            <a:off x="9019105" y="3702146"/>
            <a:ext cx="667800" cy="600"/>
          </a:xfrm>
          <a:prstGeom prst="curvedConnector5">
            <a:avLst>
              <a:gd name="adj1" fmla="val -33281"/>
              <a:gd name="adj2" fmla="val 160725753"/>
              <a:gd name="adj3" fmla="val 13518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9" name="Google Shape;429;p24"/>
          <p:cNvCxnSpPr>
            <a:stCxn id="425" idx="3"/>
            <a:endCxn id="425" idx="1"/>
          </p:cNvCxnSpPr>
          <p:nvPr/>
        </p:nvCxnSpPr>
        <p:spPr>
          <a:xfrm rot="-5400000">
            <a:off x="5929395" y="3702125"/>
            <a:ext cx="667800" cy="600"/>
          </a:xfrm>
          <a:prstGeom prst="curvedConnector5">
            <a:avLst>
              <a:gd name="adj1" fmla="val -35183"/>
              <a:gd name="adj2" fmla="val -160725920"/>
              <a:gd name="adj3" fmla="val 133278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0" name="Google Shape;430;p24"/>
          <p:cNvCxnSpPr>
            <a:stCxn id="426" idx="4"/>
            <a:endCxn id="425" idx="4"/>
          </p:cNvCxnSpPr>
          <p:nvPr/>
        </p:nvCxnSpPr>
        <p:spPr>
          <a:xfrm rot="5400000">
            <a:off x="7807515" y="2937426"/>
            <a:ext cx="600" cy="2475000"/>
          </a:xfrm>
          <a:prstGeom prst="curvedConnector3">
            <a:avLst>
              <a:gd name="adj1" fmla="val 118321667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1" name="Google Shape;431;p24"/>
          <p:cNvSpPr txBox="1"/>
          <p:nvPr/>
        </p:nvSpPr>
        <p:spPr>
          <a:xfrm>
            <a:off x="4804313" y="3223895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7613664" y="2107287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10392535" y="3408561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7613664" y="48632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40" name="Google Shape;440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441" name="Google Shape;441;p25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March 26, 2023</a:t>
            </a:r>
            <a:endParaRPr/>
          </a:p>
        </p:txBody>
      </p:sp>
      <p:sp>
        <p:nvSpPr>
          <p:cNvPr id="442" name="Google Shape;442;p25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3" name="Google Shape;443;p25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1139</Words>
  <Application>Microsoft Office PowerPoint</Application>
  <PresentationFormat>Widescreen</PresentationFormat>
  <Paragraphs>358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Times New Roman</vt:lpstr>
      <vt:lpstr>Tahoma</vt:lpstr>
      <vt:lpstr>Arial</vt:lpstr>
      <vt:lpstr>Calibri</vt:lpstr>
      <vt:lpstr>Office Theme</vt:lpstr>
      <vt:lpstr>Sequential Circuits</vt:lpstr>
      <vt:lpstr>The Key Takeaways Obtained So Far </vt:lpstr>
      <vt:lpstr>T FLIP FLOP</vt:lpstr>
      <vt:lpstr>T Flip Flop</vt:lpstr>
      <vt:lpstr>T Flip Flop</vt:lpstr>
      <vt:lpstr>T Flip Flop</vt:lpstr>
      <vt:lpstr>T Flip Flop</vt:lpstr>
      <vt:lpstr>T Flip Flop</vt:lpstr>
      <vt:lpstr>T Flip Flop</vt:lpstr>
      <vt:lpstr>T Flip Flop</vt:lpstr>
      <vt:lpstr>FLIP FLOP CONVERSION</vt:lpstr>
      <vt:lpstr>Flip Flop Conversion</vt:lpstr>
      <vt:lpstr>Flip Flop Conversion</vt:lpstr>
      <vt:lpstr>Flip Flop Conversion</vt:lpstr>
      <vt:lpstr>PRESET AND CLEAR INPUTS</vt:lpstr>
      <vt:lpstr>Preset and clear inputs</vt:lpstr>
      <vt:lpstr>Preset and clear inputs</vt:lpstr>
      <vt:lpstr>Preset and clear inputs</vt:lpstr>
      <vt:lpstr>Preset and clear inputs</vt:lpstr>
      <vt:lpstr>Preset and clear inputs</vt:lpstr>
      <vt:lpstr>Preset and clear inputs</vt:lpstr>
      <vt:lpstr>STATE DIAGRAMS</vt:lpstr>
      <vt:lpstr>State Diagrams</vt:lpstr>
      <vt:lpstr>State Diagrams</vt:lpstr>
      <vt:lpstr>State Diagrams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social</cp:lastModifiedBy>
  <cp:revision>2</cp:revision>
  <dcterms:created xsi:type="dcterms:W3CDTF">2023-03-19T03:25:32Z</dcterms:created>
  <dcterms:modified xsi:type="dcterms:W3CDTF">2024-09-09T13:29:14Z</dcterms:modified>
</cp:coreProperties>
</file>