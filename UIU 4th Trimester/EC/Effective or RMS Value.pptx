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313" r:id="rId6"/>
    <p:sldId id="314" r:id="rId7"/>
    <p:sldId id="320" r:id="rId8"/>
    <p:sldId id="263" r:id="rId9"/>
    <p:sldId id="321" r:id="rId10"/>
    <p:sldId id="265" r:id="rId11"/>
    <p:sldId id="339" r:id="rId12"/>
    <p:sldId id="322" r:id="rId13"/>
    <p:sldId id="323" r:id="rId14"/>
    <p:sldId id="324" r:id="rId15"/>
    <p:sldId id="340" r:id="rId16"/>
    <p:sldId id="275" r:id="rId17"/>
    <p:sldId id="325" r:id="rId18"/>
    <p:sldId id="317" r:id="rId19"/>
    <p:sldId id="304" r:id="rId20"/>
    <p:sldId id="282" r:id="rId21"/>
    <p:sldId id="290" r:id="rId22"/>
    <p:sldId id="283" r:id="rId23"/>
    <p:sldId id="291" r:id="rId24"/>
    <p:sldId id="319" r:id="rId25"/>
    <p:sldId id="307" r:id="rId26"/>
    <p:sldId id="338" r:id="rId27"/>
    <p:sldId id="312" r:id="rId28"/>
    <p:sldId id="26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40076-4313-4ADA-96C6-362C347E14F3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AAB0F-ACDD-44B5-B737-274DBCA6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6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4/7/2024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o16ZrlMgbo" TargetMode="External"/><Relationship Id="rId2" Type="http://schemas.openxmlformats.org/officeDocument/2006/relationships/hyperlink" Target="https://www.youtube.com/watch?v=VB1ZYtzqPQ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gSu73Ni7t_Q" TargetMode="External"/><Relationship Id="rId4" Type="http://schemas.openxmlformats.org/officeDocument/2006/relationships/hyperlink" Target="https://www.youtube.com/watch?v=A6_M2gddWy0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S4F2pOhj8M" TargetMode="External"/><Relationship Id="rId2" Type="http://schemas.openxmlformats.org/officeDocument/2006/relationships/hyperlink" Target="https://www.youtube.com/watch?v=S7Vk_KNC0C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oQjvwGa2aPA" TargetMode="External"/><Relationship Id="rId4" Type="http://schemas.openxmlformats.org/officeDocument/2006/relationships/hyperlink" Target="https://www.youtube.com/watch?v=vjQfQuv40jQ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F473-6BEC-6AFB-2798-4582BB10C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 Power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68F26-86E4-0073-632A-006F206B2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fr-FR" dirty="0"/>
              <a:t>Section 11.4</a:t>
            </a:r>
            <a:endParaRPr lang="en-US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38A1410-372D-2589-2894-B11257E8AB7A}"/>
              </a:ext>
            </a:extLst>
          </p:cNvPr>
          <p:cNvSpPr>
            <a:spLocks noGrp="1"/>
          </p:cNvSpPr>
          <p:nvPr/>
        </p:nvSpPr>
        <p:spPr>
          <a:xfrm>
            <a:off x="820132" y="5359789"/>
            <a:ext cx="2922309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rgbClr val="0070C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EC18BE-5644-CBA8-8530-94B0A53D8C2E}"/>
              </a:ext>
            </a:extLst>
          </p:cNvPr>
          <p:cNvSpPr txBox="1">
            <a:spLocks/>
          </p:cNvSpPr>
          <p:nvPr/>
        </p:nvSpPr>
        <p:spPr>
          <a:xfrm>
            <a:off x="1051560" y="3355117"/>
            <a:ext cx="9966960" cy="928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Effective or RMS Value</a:t>
            </a:r>
          </a:p>
        </p:txBody>
      </p:sp>
    </p:spTree>
    <p:extLst>
      <p:ext uri="{BB962C8B-B14F-4D97-AF65-F5344CB8AC3E}">
        <p14:creationId xmlns:p14="http://schemas.microsoft.com/office/powerpoint/2010/main" val="124141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or RMS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D5D9-C1F8-98C1-C95C-048F59727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B73F2-DBD6-10E6-6C12-C3328703E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3104329"/>
            <a:ext cx="10067724" cy="9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1EE7-EE99-9703-6B8A-C6BCCECA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8A33-0756-1953-8251-705DD164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6F93D-4BC4-8BC2-1EB8-A073C17A8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3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08A2A-FFF4-E47F-FA65-5263B526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02" y="2232604"/>
            <a:ext cx="3091554" cy="3731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716E0B-6843-7125-CB8C-0140B092B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534" y="634256"/>
            <a:ext cx="4435224" cy="3368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152EB3-49F4-4878-557A-C316066F7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52212"/>
            <a:ext cx="4473328" cy="259864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7721A26-C179-22CD-9DD2-16B1732563E4}"/>
              </a:ext>
            </a:extLst>
          </p:cNvPr>
          <p:cNvSpPr/>
          <p:nvPr/>
        </p:nvSpPr>
        <p:spPr>
          <a:xfrm>
            <a:off x="6156534" y="6223744"/>
            <a:ext cx="4363779" cy="544701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find the rms value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358745A-BE83-9998-41B3-77054869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050792"/>
          </a:xfrm>
        </p:spPr>
        <p:txBody>
          <a:bodyPr/>
          <a:lstStyle/>
          <a:p>
            <a:r>
              <a:rPr lang="en-US" b="1" u="sng" dirty="0"/>
              <a:t>Step-1:</a:t>
            </a:r>
            <a:br>
              <a:rPr lang="en-US" b="1" u="sng" dirty="0"/>
            </a:br>
            <a:endParaRPr lang="en-US" b="1" u="sng" dirty="0"/>
          </a:p>
          <a:p>
            <a:pPr lvl="1"/>
            <a:r>
              <a:rPr lang="en-US" dirty="0"/>
              <a:t>Find its square</a:t>
            </a:r>
            <a:br>
              <a:rPr lang="en-US" dirty="0"/>
            </a:br>
            <a:endParaRPr lang="en-US" dirty="0"/>
          </a:p>
          <a:p>
            <a:r>
              <a:rPr lang="en-US" b="1" u="sng" dirty="0"/>
              <a:t>Step-2:</a:t>
            </a:r>
            <a:br>
              <a:rPr lang="en-US" b="1" u="sng" dirty="0"/>
            </a:br>
            <a:endParaRPr lang="en-US" b="1" u="sng" dirty="0"/>
          </a:p>
          <a:p>
            <a:pPr lvl="1"/>
            <a:r>
              <a:rPr lang="en-US" dirty="0"/>
              <a:t>Find the mean</a:t>
            </a:r>
            <a:br>
              <a:rPr lang="en-US" dirty="0"/>
            </a:br>
            <a:endParaRPr lang="en-US" dirty="0"/>
          </a:p>
          <a:p>
            <a:r>
              <a:rPr lang="en-US" b="1" u="sng" dirty="0"/>
              <a:t>Step-3:</a:t>
            </a:r>
            <a:br>
              <a:rPr lang="en-US" b="1" u="sng" dirty="0"/>
            </a:br>
            <a:endParaRPr lang="en-US" b="1" u="sng" dirty="0"/>
          </a:p>
          <a:p>
            <a:pPr lvl="1"/>
            <a:r>
              <a:rPr lang="en-US" dirty="0"/>
              <a:t>Find the square root of that mean</a:t>
            </a:r>
          </a:p>
          <a:p>
            <a:endParaRPr lang="en-US" dirty="0"/>
          </a:p>
          <a:p>
            <a:pPr lvl="1"/>
            <a:endParaRPr lang="en-US" b="1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20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</a:t>
            </a:r>
            <a:r>
              <a:rPr lang="en-US" dirty="0" err="1"/>
              <a:t>i</a:t>
            </a:r>
            <a:r>
              <a:rPr lang="en-US" dirty="0"/>
              <a:t>(rms) and v(rms)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A5033-159F-C764-9FD0-3492B3801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046" y="2404116"/>
            <a:ext cx="5995906" cy="714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35264-D785-C97A-35BF-D95263AF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046" y="3193330"/>
            <a:ext cx="5995906" cy="309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5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Avg power in terms of 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368CC-DE85-EBDC-EF03-57365DD8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80" y="2026450"/>
            <a:ext cx="6055040" cy="463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1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Sadiku_Example_11.7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A991A-D11D-4673-E382-E5064A55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95" y="2093976"/>
            <a:ext cx="3865566" cy="3694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574B8-B8E2-4AE5-E70A-6CC290C08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863" y="3563668"/>
            <a:ext cx="6512771" cy="9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8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Sadiku_Example_11.7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6116D-E939-2566-E636-C90A8616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70" y="2304846"/>
            <a:ext cx="5273257" cy="3751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05B704-4AD0-B0BA-2683-C4E8B2DC2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333283"/>
            <a:ext cx="3865566" cy="369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6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Sadiku_Practice_Problem_11.7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79FD0-20E5-1B49-6F9E-23B3A0CD8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56" y="2820268"/>
            <a:ext cx="10408779" cy="278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78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A6A97-0D02-D764-0103-AF1CB268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1718260"/>
            <a:ext cx="4595938" cy="4778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E2AAD6-B723-2926-1829-9E9ABD66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89" y="1289304"/>
            <a:ext cx="3450245" cy="5236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Sadiku_Practice_Problem_11.7</a:t>
            </a:r>
          </a:p>
        </p:txBody>
      </p:sp>
    </p:spTree>
    <p:extLst>
      <p:ext uri="{BB962C8B-B14F-4D97-AF65-F5344CB8AC3E}">
        <p14:creationId xmlns:p14="http://schemas.microsoft.com/office/powerpoint/2010/main" val="338125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Sadiku_Example_11.8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45C1F-DA8A-F300-BBEE-245F000F8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2" y="2232927"/>
            <a:ext cx="4510737" cy="3512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FB70D7-6D16-4C32-3EB1-00F6E36C3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979" y="3429000"/>
            <a:ext cx="5972029" cy="91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3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464527" y="6318966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Sadiku_Example_11.8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7EE40-6F63-0EA1-8664-4B197CBB5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033" y="1699379"/>
            <a:ext cx="7179934" cy="46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9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Sadiku_Practice_Problem_11.8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13FBCB-47C1-7E99-512F-F89A8F02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2438709"/>
            <a:ext cx="4168124" cy="3236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4D9F7-6210-DC5E-E2F3-3062BC38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747" y="3429000"/>
            <a:ext cx="6626998" cy="126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96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FB537-AB72-1E7E-F68B-992D31B0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89" y="1480008"/>
            <a:ext cx="3460699" cy="52011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97E77A-7065-C670-42BC-1ABE8FE87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92" y="1311551"/>
            <a:ext cx="3521656" cy="53708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Sadiku_Practice_Problem_11.8</a:t>
            </a:r>
          </a:p>
        </p:txBody>
      </p:sp>
    </p:spTree>
    <p:extLst>
      <p:ext uri="{BB962C8B-B14F-4D97-AF65-F5344CB8AC3E}">
        <p14:creationId xmlns:p14="http://schemas.microsoft.com/office/powerpoint/2010/main" val="266394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50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Sadiku_Exercise_11.25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D7C06-0520-961A-775E-C67A96175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9" y="2093976"/>
            <a:ext cx="6922782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17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50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Sadiku_Exercise_11.25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DFD99-2FE7-4BE0-99A4-FF72C3D6F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320" y="2137073"/>
            <a:ext cx="7083359" cy="403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2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62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Sadiku_Exercise_11.26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9DDBB-50EE-76F2-6F1A-94DE4D672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71" y="2121408"/>
            <a:ext cx="5645458" cy="402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0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AA8F-719D-A3E6-F548-79E375697C93}"/>
              </a:ext>
            </a:extLst>
          </p:cNvPr>
          <p:cNvSpPr txBox="1"/>
          <p:nvPr/>
        </p:nvSpPr>
        <p:spPr>
          <a:xfrm>
            <a:off x="7552985" y="6369398"/>
            <a:ext cx="362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Sadiku_Exercise_11.26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72E01-E0C1-2C14-8B86-2D36CA999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72" y="2035729"/>
            <a:ext cx="9139655" cy="396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11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DB145-4F3A-A4E0-D162-56BF4B7B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98" y="1650066"/>
            <a:ext cx="6492803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03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766215" y="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31E15B-B8EE-1F08-F0F3-3A6C639AD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788" y="523220"/>
            <a:ext cx="4358424" cy="62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38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3E445-694D-5B05-0DBE-56BB780C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9" y="1650067"/>
            <a:ext cx="7723682" cy="454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3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33485-0CF1-A4A0-7BA2-899AC3B62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4" y="2287287"/>
            <a:ext cx="10186991" cy="35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80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0B864-98AE-0C08-1DB7-2D0025C8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606" y="1677972"/>
            <a:ext cx="3430922" cy="51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1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 for better understanding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FC5A-B063-A17B-0A1A-C847AD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Links to go through in Power Calculation:</a:t>
            </a:r>
            <a:br>
              <a:rPr lang="en-US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US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/>
            <a:r>
              <a:rPr lang="en-US" i="0" u="none" strike="noStrike" baseline="0" dirty="0">
                <a:solidFill>
                  <a:srgbClr val="000000"/>
                </a:solidFill>
              </a:rPr>
              <a:t>RMS and average value concept:</a:t>
            </a:r>
          </a:p>
          <a:p>
            <a:pPr lvl="2"/>
            <a:r>
              <a:rPr lang="en-US" dirty="0">
                <a:hlinkClick r:id="rId2"/>
              </a:rPr>
              <a:t>What is RMS value? (&amp; why should we care?) | Alternating currents | Physics | Khan Academy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RMS value and power calculation math:</a:t>
            </a:r>
          </a:p>
          <a:p>
            <a:pPr lvl="2"/>
            <a:r>
              <a:rPr lang="en-US" dirty="0">
                <a:hlinkClick r:id="rId3"/>
              </a:rPr>
              <a:t>RMS (Effective) Value || Average Power || Example 11.7, 11.8 &amp; Practice 11.7, 11.8 || (Bangla) (youtube.com)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RMS Value (Solved Problem) (youtube.com)</a:t>
            </a:r>
            <a:endParaRPr lang="en-US" dirty="0"/>
          </a:p>
          <a:p>
            <a:pPr lvl="2"/>
            <a:r>
              <a:rPr lang="en-US" dirty="0">
                <a:hlinkClick r:id="rId5"/>
              </a:rPr>
              <a:t>Complex Power (No more Confusion) || Example 11.11 || Practice Problem 11.11 || ENA 11.6 (B) (youtube.com)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06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 for calculator use for complex numbers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FC5A-B063-A17B-0A1A-C847AD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 Number calculations in calculator: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2"/>
              </a:rPr>
              <a:t>Complex Number Operations in Calculator (Bangla Tutorial) #ComplexNumberOperationsBanglaTutorial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3"/>
              </a:rPr>
              <a:t>FX 991ES + Scientific Calculator Conversion of Rectangular to Polar &amp; Polar to Rectangular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4"/>
              </a:rPr>
              <a:t>Rectangular to Polar form in fx-991MS calculator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5"/>
              </a:rPr>
              <a:t>Casio FX-991EX </a:t>
            </a:r>
            <a:r>
              <a:rPr lang="en-US" dirty="0" err="1">
                <a:hlinkClick r:id="rId5"/>
              </a:rPr>
              <a:t>Classwiz</a:t>
            </a:r>
            <a:r>
              <a:rPr lang="en-US" dirty="0">
                <a:hlinkClick r:id="rId5"/>
              </a:rPr>
              <a:t> Complex Numbers: Rectangular to Polar Form Conversions (and Vice Versa) (youtube.com)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75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Chapter 11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11.8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11.8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11</a:t>
            </a: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.25, 11.26</a:t>
            </a:r>
          </a:p>
        </p:txBody>
      </p:sp>
    </p:spTree>
    <p:extLst>
      <p:ext uri="{BB962C8B-B14F-4D97-AF65-F5344CB8AC3E}">
        <p14:creationId xmlns:p14="http://schemas.microsoft.com/office/powerpoint/2010/main" val="279824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11819-A50C-D6D6-3FBB-FCABEB21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0112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1354</TotalTime>
  <Words>475</Words>
  <Application>Microsoft Office PowerPoint</Application>
  <PresentationFormat>Widescreen</PresentationFormat>
  <Paragraphs>72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AC Power Analysis</vt:lpstr>
      <vt:lpstr>Effective or RMS Value</vt:lpstr>
      <vt:lpstr>PowerPoint Presentation</vt:lpstr>
      <vt:lpstr>calculation</vt:lpstr>
      <vt:lpstr>Steps to find the rms value</vt:lpstr>
      <vt:lpstr>Calculation of i(rms) and v(rms)</vt:lpstr>
      <vt:lpstr>Avg power in terms of rms</vt:lpstr>
      <vt:lpstr>Math Problem Practice:</vt:lpstr>
      <vt:lpstr>Math Problem Practice:</vt:lpstr>
      <vt:lpstr>Math Problem Practice: </vt:lpstr>
      <vt:lpstr>Math Problem Practice: </vt:lpstr>
      <vt:lpstr>Math Problem Practice:</vt:lpstr>
      <vt:lpstr>Math Problem Practice: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for better understanding  </vt:lpstr>
      <vt:lpstr>References for calculator use for complex numbers 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Superposition</dc:title>
  <dc:creator>Shafqat Rakin</dc:creator>
  <cp:lastModifiedBy>Shafqat Rakin</cp:lastModifiedBy>
  <cp:revision>75</cp:revision>
  <dcterms:created xsi:type="dcterms:W3CDTF">2024-03-17T15:42:52Z</dcterms:created>
  <dcterms:modified xsi:type="dcterms:W3CDTF">2024-04-07T12:14:37Z</dcterms:modified>
</cp:coreProperties>
</file>