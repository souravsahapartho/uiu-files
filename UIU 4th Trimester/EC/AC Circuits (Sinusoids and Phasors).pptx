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313" r:id="rId5"/>
    <p:sldId id="261" r:id="rId6"/>
    <p:sldId id="262" r:id="rId7"/>
    <p:sldId id="314" r:id="rId8"/>
    <p:sldId id="315" r:id="rId9"/>
    <p:sldId id="316" r:id="rId10"/>
    <p:sldId id="317" r:id="rId11"/>
    <p:sldId id="263" r:id="rId12"/>
    <p:sldId id="264" r:id="rId13"/>
    <p:sldId id="265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284" r:id="rId22"/>
    <p:sldId id="325" r:id="rId23"/>
    <p:sldId id="266" r:id="rId24"/>
    <p:sldId id="326" r:id="rId25"/>
    <p:sldId id="327" r:id="rId26"/>
    <p:sldId id="328" r:id="rId27"/>
    <p:sldId id="329" r:id="rId28"/>
    <p:sldId id="330" r:id="rId29"/>
    <p:sldId id="331" r:id="rId30"/>
    <p:sldId id="271" r:id="rId31"/>
    <p:sldId id="272" r:id="rId32"/>
    <p:sldId id="267" r:id="rId33"/>
    <p:sldId id="268" r:id="rId34"/>
    <p:sldId id="269" r:id="rId35"/>
    <p:sldId id="332" r:id="rId36"/>
    <p:sldId id="333" r:id="rId37"/>
    <p:sldId id="274" r:id="rId38"/>
    <p:sldId id="273" r:id="rId39"/>
    <p:sldId id="285" r:id="rId40"/>
    <p:sldId id="339" r:id="rId41"/>
    <p:sldId id="275" r:id="rId42"/>
    <p:sldId id="276" r:id="rId43"/>
    <p:sldId id="277" r:id="rId44"/>
    <p:sldId id="340" r:id="rId45"/>
    <p:sldId id="279" r:id="rId46"/>
    <p:sldId id="334" r:id="rId47"/>
    <p:sldId id="280" r:id="rId48"/>
    <p:sldId id="335" r:id="rId49"/>
    <p:sldId id="336" r:id="rId50"/>
    <p:sldId id="337" r:id="rId51"/>
    <p:sldId id="282" r:id="rId52"/>
    <p:sldId id="290" r:id="rId53"/>
    <p:sldId id="283" r:id="rId54"/>
    <p:sldId id="291" r:id="rId55"/>
    <p:sldId id="307" r:id="rId56"/>
    <p:sldId id="338" r:id="rId57"/>
    <p:sldId id="312" r:id="rId58"/>
    <p:sldId id="260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4/6/2024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4/6/2024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g"/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jpg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w6CNJDYiNg&amp;list=PL7pX9KMRjdcyKQyVwCfwzhBxrZWrpANhZ" TargetMode="External"/><Relationship Id="rId7" Type="http://schemas.openxmlformats.org/officeDocument/2006/relationships/hyperlink" Target="https://www.youtube.com/watch?v=bDWWDf23ydg&amp;list=PLgwYQr3eNLsqL_A4bv1C3baZG9a7kaIJM&amp;index=5" TargetMode="External"/><Relationship Id="rId2" Type="http://schemas.openxmlformats.org/officeDocument/2006/relationships/hyperlink" Target="https://www.youtube.com/watch?v=QO228v3lig8&amp;list=PL7pX9KMRjdcyKQyVwCfwzhBxrZWrpANhZ&amp;index=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M36jjs6oepM" TargetMode="External"/><Relationship Id="rId5" Type="http://schemas.openxmlformats.org/officeDocument/2006/relationships/hyperlink" Target="https://www.youtube.com/watch?v=7rsQN_uY41M" TargetMode="External"/><Relationship Id="rId4" Type="http://schemas.openxmlformats.org/officeDocument/2006/relationships/hyperlink" Target="https://www.youtube.com/watch?v=KyoGBLPASCk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S4F2pOhj8M" TargetMode="External"/><Relationship Id="rId2" Type="http://schemas.openxmlformats.org/officeDocument/2006/relationships/hyperlink" Target="https://www.youtube.com/watch?v=S7Vk_KNC0C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oQjvwGa2aPA" TargetMode="External"/><Relationship Id="rId4" Type="http://schemas.openxmlformats.org/officeDocument/2006/relationships/hyperlink" Target="https://www.youtube.com/watch?v=vjQfQuv40jQ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F473-6BEC-6AFB-2798-4582BB10C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 Circuits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68F26-86E4-0073-632A-006F206B27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Section 9.2, 9.5</a:t>
            </a:r>
            <a:endParaRPr lang="en-US" dirty="0"/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38A1410-372D-2589-2894-B11257E8AB7A}"/>
              </a:ext>
            </a:extLst>
          </p:cNvPr>
          <p:cNvSpPr>
            <a:spLocks noGrp="1"/>
          </p:cNvSpPr>
          <p:nvPr/>
        </p:nvSpPr>
        <p:spPr>
          <a:xfrm>
            <a:off x="820132" y="5359789"/>
            <a:ext cx="2922309" cy="106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1600" b="1" spc="-5" dirty="0">
                <a:latin typeface="Arial"/>
                <a:cs typeface="Arial"/>
              </a:rPr>
              <a:t>Md. Shafqat </a:t>
            </a:r>
            <a:r>
              <a:rPr lang="en-US" sz="1600" b="1" spc="-5" dirty="0" err="1">
                <a:latin typeface="Arial"/>
                <a:cs typeface="Arial"/>
              </a:rPr>
              <a:t>Talukder</a:t>
            </a:r>
            <a:r>
              <a:rPr lang="en-US" sz="1600" b="1" spc="-5" dirty="0">
                <a:latin typeface="Arial"/>
                <a:cs typeface="Arial"/>
              </a:rPr>
              <a:t> Rakin</a:t>
            </a:r>
            <a:endParaRPr lang="en-US" sz="1600" b="1" dirty="0">
              <a:latin typeface="Arial"/>
              <a:cs typeface="Arial"/>
            </a:endParaRP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Lecturer, Department of CSE,  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United International</a:t>
            </a:r>
            <a:r>
              <a:rPr lang="en-US" sz="1600" b="1" spc="10" dirty="0">
                <a:latin typeface="Arial"/>
                <a:cs typeface="Arial"/>
              </a:rPr>
              <a:t> </a:t>
            </a:r>
            <a:r>
              <a:rPr lang="en-US" sz="1600" b="1" spc="-5" dirty="0">
                <a:latin typeface="Arial"/>
                <a:cs typeface="Arial"/>
              </a:rPr>
              <a:t>University</a:t>
            </a:r>
          </a:p>
          <a:p>
            <a:pPr marL="0" marR="5080" indent="0">
              <a:lnSpc>
                <a:spcPct val="100000"/>
              </a:lnSpc>
              <a:buNone/>
            </a:pPr>
            <a:r>
              <a:rPr lang="en-US" sz="1600" b="1" spc="-5" dirty="0">
                <a:latin typeface="Arial"/>
                <a:cs typeface="Arial"/>
              </a:rPr>
              <a:t>Email id : </a:t>
            </a:r>
            <a:r>
              <a:rPr lang="en-US" sz="1600" b="1" spc="-5" dirty="0">
                <a:solidFill>
                  <a:srgbClr val="0070C0"/>
                </a:solidFill>
                <a:latin typeface="Arial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600" b="1" dirty="0">
              <a:solidFill>
                <a:srgbClr val="0070C0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07F7C3-C711-15E7-C773-F63C9D3D7318}"/>
              </a:ext>
            </a:extLst>
          </p:cNvPr>
          <p:cNvSpPr txBox="1">
            <a:spLocks/>
          </p:cNvSpPr>
          <p:nvPr/>
        </p:nvSpPr>
        <p:spPr>
          <a:xfrm>
            <a:off x="1069848" y="3640286"/>
            <a:ext cx="9966960" cy="3029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Sinusoids and Phasors</a:t>
            </a:r>
          </a:p>
        </p:txBody>
      </p:sp>
    </p:spTree>
    <p:extLst>
      <p:ext uri="{BB962C8B-B14F-4D97-AF65-F5344CB8AC3E}">
        <p14:creationId xmlns:p14="http://schemas.microsoft.com/office/powerpoint/2010/main" val="124141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 VS ac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79BAE0-6E73-1E1C-E958-414D6B4AC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1503" y="2576694"/>
            <a:ext cx="9495343" cy="3139712"/>
          </a:xfrm>
        </p:spPr>
      </p:pic>
    </p:spTree>
    <p:extLst>
      <p:ext uri="{BB962C8B-B14F-4D97-AF65-F5344CB8AC3E}">
        <p14:creationId xmlns:p14="http://schemas.microsoft.com/office/powerpoint/2010/main" val="277503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ac waveforms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C7B517-539D-6882-9E3E-95D286874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2020" y="1962001"/>
            <a:ext cx="7727959" cy="4764024"/>
          </a:xfrm>
        </p:spPr>
      </p:pic>
    </p:spTree>
    <p:extLst>
      <p:ext uri="{BB962C8B-B14F-4D97-AF65-F5344CB8AC3E}">
        <p14:creationId xmlns:p14="http://schemas.microsoft.com/office/powerpoint/2010/main" val="257886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175A1-BFEB-5091-8BD1-FF0D8073E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focus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C7B517-539D-6882-9E3E-95D286874A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2020" y="1962001"/>
            <a:ext cx="7727959" cy="4764024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991890-E773-03D7-018D-4403D7161D7E}"/>
              </a:ext>
            </a:extLst>
          </p:cNvPr>
          <p:cNvSpPr/>
          <p:nvPr/>
        </p:nvSpPr>
        <p:spPr>
          <a:xfrm>
            <a:off x="2232020" y="1962001"/>
            <a:ext cx="4027378" cy="2355475"/>
          </a:xfrm>
          <a:prstGeom prst="rect">
            <a:avLst/>
          </a:prstGeom>
          <a:noFill/>
          <a:ln w="635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0787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Sinusoids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41DD68-849A-F6C4-367C-10AF80541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748" y="2405434"/>
            <a:ext cx="9834504" cy="639423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3D214A-FF23-51DD-C093-4E79758AB14E}"/>
              </a:ext>
            </a:extLst>
          </p:cNvPr>
          <p:cNvSpPr txBox="1">
            <a:spLocks/>
          </p:cNvSpPr>
          <p:nvPr/>
        </p:nvSpPr>
        <p:spPr>
          <a:xfrm>
            <a:off x="1069848" y="3186260"/>
            <a:ext cx="10058400" cy="33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sinusoidal current is usually referred to as </a:t>
            </a:r>
            <a:r>
              <a:rPr lang="en-US" i="1" dirty="0">
                <a:solidFill>
                  <a:srgbClr val="00B0F0"/>
                </a:solidFill>
              </a:rPr>
              <a:t>alternating current (ac).</a:t>
            </a:r>
          </a:p>
          <a:p>
            <a:r>
              <a:rPr lang="en-US" dirty="0"/>
              <a:t>Such a current reverses at regular time intervals and has </a:t>
            </a:r>
            <a:r>
              <a:rPr lang="en-US" i="1" dirty="0">
                <a:solidFill>
                  <a:srgbClr val="00B0F0"/>
                </a:solidFill>
              </a:rPr>
              <a:t>alternately positive and negative values.</a:t>
            </a:r>
          </a:p>
          <a:p>
            <a:r>
              <a:rPr lang="en-US" dirty="0"/>
              <a:t>Circuits driven by sinusoidal current or voltage sources are called </a:t>
            </a:r>
            <a:r>
              <a:rPr lang="en-US" i="1" dirty="0">
                <a:solidFill>
                  <a:srgbClr val="00B0F0"/>
                </a:solidFill>
              </a:rPr>
              <a:t>ac circuits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4C6B62-98F3-E0D3-FEED-3EB2E11C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622" y="4883082"/>
            <a:ext cx="2789162" cy="14631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A2B0D9-5F8A-4429-6136-39C042A8C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3" y="4902135"/>
            <a:ext cx="2591025" cy="142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80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Sinusoids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A64DDE-09A7-7A6C-BA7A-2C627EE9B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547" y="2373538"/>
            <a:ext cx="6530906" cy="21109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6CAEB2-D807-BC56-AA40-AA233C79C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270" y="4736592"/>
            <a:ext cx="8809483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04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091E74-F15A-D31A-4CC9-5E62F6386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716" y="2817808"/>
            <a:ext cx="1064011" cy="65630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1545F0-88A5-4409-E9C7-B7654810276E}"/>
              </a:ext>
            </a:extLst>
          </p:cNvPr>
          <p:cNvSpPr txBox="1">
            <a:spLocks/>
          </p:cNvSpPr>
          <p:nvPr/>
        </p:nvSpPr>
        <p:spPr>
          <a:xfrm>
            <a:off x="2143722" y="2010360"/>
            <a:ext cx="3549998" cy="4485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Time period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Cyclic Frequency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60227E-A05D-CEDA-20BC-F1F2D98B0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716" y="4861952"/>
            <a:ext cx="815411" cy="65630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35FFAFA-E2F3-8F60-0D5B-9BB49FE70F2A}"/>
              </a:ext>
            </a:extLst>
          </p:cNvPr>
          <p:cNvSpPr txBox="1">
            <a:spLocks/>
          </p:cNvSpPr>
          <p:nvPr/>
        </p:nvSpPr>
        <p:spPr>
          <a:xfrm>
            <a:off x="6095999" y="1999708"/>
            <a:ext cx="4773105" cy="4485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Angular Frequency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79F5C4-DFD4-251A-619C-AFE0FD2BE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716" y="5796022"/>
            <a:ext cx="2455823" cy="4225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EFD413-816E-BB04-7A24-67F66A15F0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6673" y="2762739"/>
            <a:ext cx="2156244" cy="78749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E20C64-378E-94E2-DAEF-0A63D1D73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4057" y="3595957"/>
            <a:ext cx="4516987" cy="43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expression for a sinusoid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B6DA2-3BB9-A2C1-6DD9-7913C446C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7979" y="2813470"/>
            <a:ext cx="6229157" cy="1231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400E18-1981-B55A-5BEA-7A458E557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950" y="4736592"/>
            <a:ext cx="10039908" cy="87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360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Leading lagging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A3315-B2DD-2052-11B6-24B225A98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788" y="1834842"/>
            <a:ext cx="9093085" cy="765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5EDFAC-CB2E-AEDC-5FA1-8552D8011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30" y="2569277"/>
            <a:ext cx="4846740" cy="3375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91A2B9-ED72-ECAA-7F3E-47212CCE0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8329" y="6131686"/>
            <a:ext cx="6215341" cy="44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59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Necessary formulas for comparing sinusoids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68D311-274A-6B92-5B44-56993D4CE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86" y="2192655"/>
            <a:ext cx="6493228" cy="441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573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91C1B-7B6A-4C5A-F5B0-AA1D446BF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3220667"/>
            <a:ext cx="10058400" cy="162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786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80E050-6307-5154-B857-F940548FC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604" y="1856174"/>
            <a:ext cx="7968792" cy="451719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773859" y="6373368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Sadiku_Example_9.1</a:t>
            </a:r>
          </a:p>
        </p:txBody>
      </p:sp>
    </p:spTree>
    <p:extLst>
      <p:ext uri="{BB962C8B-B14F-4D97-AF65-F5344CB8AC3E}">
        <p14:creationId xmlns:p14="http://schemas.microsoft.com/office/powerpoint/2010/main" val="2296978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BBFE7-B01A-FACB-3626-C83D27BA4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40" y="3131595"/>
            <a:ext cx="9987719" cy="11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78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A7B155-5C5B-A11F-4BC8-C91088F6A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1560072"/>
            <a:ext cx="4541914" cy="5121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925E92-F54E-9BE0-F47C-5C5E40AD2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667" y="2969894"/>
            <a:ext cx="6111852" cy="203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95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Phasors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3D214A-FF23-51DD-C093-4E79758AB14E}"/>
              </a:ext>
            </a:extLst>
          </p:cNvPr>
          <p:cNvSpPr txBox="1">
            <a:spLocks/>
          </p:cNvSpPr>
          <p:nvPr/>
        </p:nvSpPr>
        <p:spPr>
          <a:xfrm>
            <a:off x="1069848" y="3186260"/>
            <a:ext cx="10058400" cy="33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i="1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D4F55F-229B-EBEF-AD33-C1354DDC3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2121408"/>
            <a:ext cx="10100728" cy="9981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2984282-C2F1-3682-98AE-8A6302632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20" y="3653597"/>
            <a:ext cx="5384238" cy="28414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FA4D1-AD74-8545-9A88-807980980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14" y="2958768"/>
            <a:ext cx="4637966" cy="389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10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a complex number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3D214A-FF23-51DD-C093-4E79758AB14E}"/>
              </a:ext>
            </a:extLst>
          </p:cNvPr>
          <p:cNvSpPr txBox="1">
            <a:spLocks/>
          </p:cNvSpPr>
          <p:nvPr/>
        </p:nvSpPr>
        <p:spPr>
          <a:xfrm>
            <a:off x="1069848" y="3186260"/>
            <a:ext cx="10058400" cy="33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i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33A21-FD1A-70A7-125D-0CFEB8DA1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301" y="2093976"/>
            <a:ext cx="3891398" cy="44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802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numbers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3D214A-FF23-51DD-C093-4E79758AB14E}"/>
              </a:ext>
            </a:extLst>
          </p:cNvPr>
          <p:cNvSpPr txBox="1">
            <a:spLocks/>
          </p:cNvSpPr>
          <p:nvPr/>
        </p:nvSpPr>
        <p:spPr>
          <a:xfrm>
            <a:off x="1069848" y="3186260"/>
            <a:ext cx="10058400" cy="33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i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8EAD8-88B5-88A4-DD5F-6AA4EBD5A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83" y="3002363"/>
            <a:ext cx="4913419" cy="10877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7C5D3-E4D8-22E3-89C7-C428EAC50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006" y="4274034"/>
            <a:ext cx="4282811" cy="7392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43B930-A8A9-4CCE-240C-0B2ABD0F8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71" y="1421722"/>
            <a:ext cx="5730737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6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domain -&gt; phasor domain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3D214A-FF23-51DD-C093-4E79758AB14E}"/>
              </a:ext>
            </a:extLst>
          </p:cNvPr>
          <p:cNvSpPr txBox="1">
            <a:spLocks/>
          </p:cNvSpPr>
          <p:nvPr/>
        </p:nvSpPr>
        <p:spPr>
          <a:xfrm>
            <a:off x="1069848" y="3186260"/>
            <a:ext cx="10058400" cy="33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i="1" dirty="0">
              <a:solidFill>
                <a:srgbClr val="00B0F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39E625-97DF-3AED-90ED-DA66BB304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38" y="1819374"/>
            <a:ext cx="4706470" cy="48925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655855-FFFE-02FA-02F3-E90B6DF0F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674" y="2834460"/>
            <a:ext cx="5523783" cy="296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614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Phasor diagram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3D214A-FF23-51DD-C093-4E79758AB14E}"/>
              </a:ext>
            </a:extLst>
          </p:cNvPr>
          <p:cNvSpPr txBox="1">
            <a:spLocks/>
          </p:cNvSpPr>
          <p:nvPr/>
        </p:nvSpPr>
        <p:spPr>
          <a:xfrm>
            <a:off x="1069848" y="3186260"/>
            <a:ext cx="10058400" cy="33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i="1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4252F5-336E-96A7-EAE1-587E093E4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4182076"/>
            <a:ext cx="5889965" cy="4441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C64980-DCDE-36FF-48CC-1055AAD0F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078" y="2061761"/>
            <a:ext cx="4340342" cy="39088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A63ADB7-1DAD-4AD7-21CA-61E0B9192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752" y="3772571"/>
            <a:ext cx="5976777" cy="35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340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4D83A-8E9F-865A-DF29-52B199B29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Formulas for phasor transformation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63D214A-FF23-51DD-C093-4E79758AB14E}"/>
              </a:ext>
            </a:extLst>
          </p:cNvPr>
          <p:cNvSpPr txBox="1">
            <a:spLocks/>
          </p:cNvSpPr>
          <p:nvPr/>
        </p:nvSpPr>
        <p:spPr>
          <a:xfrm>
            <a:off x="1069848" y="3186260"/>
            <a:ext cx="10058400" cy="339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i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6CA3C-115D-28EE-60D3-548249791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336" y="2411592"/>
            <a:ext cx="8802234" cy="3961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95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6E4990-B0E0-8B93-50C1-A9B7CA7B7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163" y="1774895"/>
            <a:ext cx="5426312" cy="432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53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365541-A14F-53E3-F3BF-57F3209E5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002" y="1622088"/>
            <a:ext cx="6267996" cy="451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985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C2148-D999-177E-787F-B280A3444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64" y="2927210"/>
            <a:ext cx="8436071" cy="7849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9468F8-EEC1-2EDE-9FF6-D95EC8B63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60" y="4350657"/>
            <a:ext cx="1356478" cy="97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28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Passive elements in Ac circuit(r, l, 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88D1A-1F2D-CC9C-3C8B-944147EA2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4981"/>
            <a:ext cx="4002469" cy="3543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6B03E8-F06F-4469-4DE9-765B7102A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855" y="2251850"/>
            <a:ext cx="4002470" cy="3676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93A98F-9989-BEDB-3F2C-2798450F5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3165" y="1814301"/>
            <a:ext cx="3520745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34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Impedance(continued…)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83E742-C722-0019-7694-E7B4D82F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31" y="2390538"/>
            <a:ext cx="3987538" cy="39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58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Impedance(continued…)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2EE519-CC3D-222B-8EE6-493B85D21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2366"/>
            <a:ext cx="6154442" cy="35526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20E5B5-C350-83BA-2A20-4B3F64DFB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071" y="2856964"/>
            <a:ext cx="5456393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29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Admittance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8B8D54-E6C0-612A-696F-5F88F6080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2655035"/>
            <a:ext cx="9807346" cy="1030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E78C47-66F0-810C-C458-03357622B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993" y="4400655"/>
            <a:ext cx="3112013" cy="146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29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Admittance(continued…)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7A614-DA60-DB86-A49A-3F6BDBECD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085" y="2594544"/>
            <a:ext cx="6229830" cy="351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975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Admittance(continued…)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E8605D-14E0-060E-13B2-EA0F036D2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200" y="1790261"/>
            <a:ext cx="5753599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540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341978" y="6266896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D0D34-63B1-F18B-2684-F9841A842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789" y="1896013"/>
            <a:ext cx="4366421" cy="342827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2D0227-7AAE-19F2-8C12-940E42BC2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D1EDB6-2DD1-DF06-6086-00BB4BD7D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626" y="5324289"/>
            <a:ext cx="6257444" cy="59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0" y="6428902"/>
            <a:ext cx="3313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Sadiku_Example_9.9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8836E-9BC2-8AC5-53FF-D58452938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28D21-ED07-B153-5876-101F97F44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787" y="1437723"/>
            <a:ext cx="5124426" cy="536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50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Kirchhoff’s Laws in the Frequency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A415-939F-C7FF-F9B1-6DBE89288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458501"/>
          </a:xfrm>
        </p:spPr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852B72-D400-8A80-D718-CBBDD9704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62739"/>
            <a:ext cx="5919396" cy="3213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4C8817-D95D-C976-2820-83176D9A6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135" y="1289304"/>
            <a:ext cx="5471634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64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 Combinations(Series)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5E00B2-0E38-52D9-49BF-AB74D35F4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405" y="2476837"/>
            <a:ext cx="5422410" cy="2953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E59427-BAB5-8F70-458F-0D8B0E1FD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375" y="5429839"/>
            <a:ext cx="3903249" cy="117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368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Voltage divider rule(</a:t>
            </a:r>
            <a:r>
              <a:rPr lang="en-US" dirty="0" err="1"/>
              <a:t>vdr</a:t>
            </a:r>
            <a:r>
              <a:rPr lang="en-US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EBA429-6A93-B83A-94E3-4B7E0E38F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596986"/>
            <a:ext cx="4050885" cy="36826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0A1429-3778-1B29-907A-37FAFD03D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46" y="3285886"/>
            <a:ext cx="6583052" cy="147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000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Impedance Combinations(parallel)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0D546-DC36-9DE3-3201-7268722AA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472607"/>
            <a:ext cx="5363851" cy="35206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0415FE-7B46-8D3A-4DB6-DC9B1E3C13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647" y="3012602"/>
            <a:ext cx="4435224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90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59CE5-55B8-94BD-3EFF-030D245D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divider rule(</a:t>
            </a:r>
            <a:r>
              <a:rPr lang="en-US" dirty="0" err="1"/>
              <a:t>Cdr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7FF9F0-901B-39D4-FFFB-1086EAA08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37" y="2673786"/>
            <a:ext cx="5006309" cy="34729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C980EC-BCA5-40C8-4CC9-55273FDA3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546" y="3429000"/>
            <a:ext cx="6542400" cy="149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83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C30EEA-11F0-A420-740D-9280A625B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062" y="2121408"/>
            <a:ext cx="4339876" cy="3396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95C773-35A2-95FC-E641-E0E9C64E0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923" y="5476685"/>
            <a:ext cx="6260153" cy="6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870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0" y="6373368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Sadiku_Example_9.10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B4722B-71F6-CD1C-A796-C9F28E468E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23841" y="1437315"/>
            <a:ext cx="4744317" cy="5305385"/>
          </a:xfrm>
        </p:spPr>
      </p:pic>
    </p:spTree>
    <p:extLst>
      <p:ext uri="{BB962C8B-B14F-4D97-AF65-F5344CB8AC3E}">
        <p14:creationId xmlns:p14="http://schemas.microsoft.com/office/powerpoint/2010/main" val="2627059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Sadiku_Practice_Problem_9.10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63774A-0B58-A15B-D912-6D120771B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73" y="2753641"/>
            <a:ext cx="11493253" cy="289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323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8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Sadiku_Practice_Problem_9.10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C02D41-6EDA-9FCB-27B0-EBD36788D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108" y="1399102"/>
            <a:ext cx="3505744" cy="54588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E248AD-3CC4-57EA-1617-691A98127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17" y="2255804"/>
            <a:ext cx="4871449" cy="374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709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711864" y="6451562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BFA53-BE7A-F9E8-1485-D3A54A037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046" y="1787023"/>
            <a:ext cx="5603908" cy="3995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04F618-3B15-6994-6355-D8581B49D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063" y="5782238"/>
            <a:ext cx="6923874" cy="76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178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3C19A7-A206-AB71-0E5B-1EE7AC19DEB3}"/>
              </a:ext>
            </a:extLst>
          </p:cNvPr>
          <p:cNvSpPr txBox="1"/>
          <p:nvPr/>
        </p:nvSpPr>
        <p:spPr>
          <a:xfrm>
            <a:off x="799776" y="6373368"/>
            <a:ext cx="3416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Sadiku_Example_9.11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C5CAE1-F043-0E4C-9AEB-B5166F551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272" y="1328491"/>
            <a:ext cx="6881456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30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7175913" y="6311824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Sadiku_Practice_Problem_9.11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128F8-2EF4-BB79-1715-88E3488A7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42" y="2507256"/>
            <a:ext cx="11387716" cy="339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4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FCE723-A17D-ECC9-748B-3FF3E3F19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6474"/>
            <a:ext cx="6291506" cy="5491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DF48A2-98BB-24E1-77D3-5EDD9777B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10442"/>
            <a:ext cx="6100086" cy="47967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664564-EB5A-6A78-60A7-669FC51D5A80}"/>
              </a:ext>
            </a:extLst>
          </p:cNvPr>
          <p:cNvSpPr txBox="1"/>
          <p:nvPr/>
        </p:nvSpPr>
        <p:spPr>
          <a:xfrm>
            <a:off x="0" y="6373368"/>
            <a:ext cx="427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Sadiku_Practice_Problem_9.11</a:t>
            </a:r>
          </a:p>
        </p:txBody>
      </p:sp>
    </p:spTree>
    <p:extLst>
      <p:ext uri="{BB962C8B-B14F-4D97-AF65-F5344CB8AC3E}">
        <p14:creationId xmlns:p14="http://schemas.microsoft.com/office/powerpoint/2010/main" val="1272091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5466E-04FE-12E4-14B5-F710513E8325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Sadiku_Exercise_9.39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5EB814-9541-3A49-16D8-41951BF3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853" y="2187359"/>
            <a:ext cx="5976854" cy="391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184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5466E-04FE-12E4-14B5-F710513E8325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Sadiku_Exercise_9.39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F0D14-8B69-2DD3-BCBC-33559A2CD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926" y="2093976"/>
            <a:ext cx="8006148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50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5466E-04FE-12E4-14B5-F710513E8325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Sadiku_Exercise_9.45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3615AC-F86B-2909-7E97-0B0980F36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655" y="2093976"/>
            <a:ext cx="7220689" cy="407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606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ECE98-44AA-6886-1F67-369499A3F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272" y="1289304"/>
            <a:ext cx="7323455" cy="5509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25466E-04FE-12E4-14B5-F710513E8325}"/>
              </a:ext>
            </a:extLst>
          </p:cNvPr>
          <p:cNvSpPr txBox="1"/>
          <p:nvPr/>
        </p:nvSpPr>
        <p:spPr>
          <a:xfrm>
            <a:off x="0" y="6311229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Sadiku_Exercise_9.45</a:t>
            </a:r>
          </a:p>
        </p:txBody>
      </p:sp>
    </p:spTree>
    <p:extLst>
      <p:ext uri="{BB962C8B-B14F-4D97-AF65-F5344CB8AC3E}">
        <p14:creationId xmlns:p14="http://schemas.microsoft.com/office/powerpoint/2010/main" val="2025358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5466E-04FE-12E4-14B5-F710513E8325}"/>
              </a:ext>
            </a:extLst>
          </p:cNvPr>
          <p:cNvSpPr txBox="1"/>
          <p:nvPr/>
        </p:nvSpPr>
        <p:spPr>
          <a:xfrm>
            <a:off x="7552985" y="6369398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Sadiku_Exercise_9.54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57DA6-95AF-08B7-4B34-F29FCE30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54" y="2121408"/>
            <a:ext cx="7299892" cy="407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8424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Problem Practice: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69D48-CAB1-551A-8393-7E2631E4B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963" y="1425360"/>
            <a:ext cx="7552074" cy="51287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25466E-04FE-12E4-14B5-F710513E8325}"/>
              </a:ext>
            </a:extLst>
          </p:cNvPr>
          <p:cNvSpPr txBox="1"/>
          <p:nvPr/>
        </p:nvSpPr>
        <p:spPr>
          <a:xfrm>
            <a:off x="7996045" y="6172200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Sadiku_Exercise_9.54</a:t>
            </a:r>
          </a:p>
        </p:txBody>
      </p:sp>
    </p:spTree>
    <p:extLst>
      <p:ext uri="{BB962C8B-B14F-4D97-AF65-F5344CB8AC3E}">
        <p14:creationId xmlns:p14="http://schemas.microsoft.com/office/powerpoint/2010/main" val="633512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F0D8-7F94-5B0F-5260-EEECB789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50066"/>
            <a:ext cx="10058400" cy="454334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DEB95-9805-3FDD-5D48-6C4B6AFDF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306" y="1642336"/>
            <a:ext cx="7829387" cy="4551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031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Fall</a:t>
            </a:r>
            <a:r>
              <a:rPr lang="en-US" sz="2800" b="1" dirty="0">
                <a:solidFill>
                  <a:srgbClr val="FF0000"/>
                </a:solidFill>
                <a:latin typeface="Times New Roman"/>
                <a:cs typeface="Calibri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AD4DDF-D6C2-E380-DF2F-DB82EF5E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3" y="1361760"/>
            <a:ext cx="5293965" cy="54104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2359A4-EBAD-1711-9B7F-8533BD2A4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159" y="1369672"/>
            <a:ext cx="5089665" cy="5488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384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D934F2A-3A3F-E6C4-F9DA-5ED2B30D4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6750" y="4952568"/>
            <a:ext cx="6416596" cy="1066892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469B7-AB27-B70F-1B1B-E328E935E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570" y="1361760"/>
            <a:ext cx="4559967" cy="3315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37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B44E2DE-A24C-7CDA-32A3-F0A801B4D078}"/>
              </a:ext>
            </a:extLst>
          </p:cNvPr>
          <p:cNvSpPr txBox="1"/>
          <p:nvPr/>
        </p:nvSpPr>
        <p:spPr>
          <a:xfrm>
            <a:off x="4860483" y="838540"/>
            <a:ext cx="2304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solidFill>
                  <a:srgbClr val="FF0000"/>
                </a:solidFill>
                <a:latin typeface="Times New Roman"/>
                <a:cs typeface="Calibri"/>
              </a:rPr>
              <a:t>Summer 2023</a:t>
            </a:r>
            <a:endParaRPr lang="en-US" sz="2800" b="1" i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84F75D-EFBE-02F0-9901-A2265BB2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96" y="1361760"/>
            <a:ext cx="3399560" cy="53685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883664-3C33-438D-3320-2F08403A9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075" y="1480008"/>
            <a:ext cx="3216314" cy="5250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E66A87-CCCA-25A5-52AE-5A827FD83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731" y="1361760"/>
            <a:ext cx="3494390" cy="530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2808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 for better understanding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FC5A-B063-A17B-0A1A-C847AD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Links to go through in AC Circuit:</a:t>
            </a:r>
          </a:p>
          <a:p>
            <a:pPr lvl="1"/>
            <a:r>
              <a:rPr lang="en-US" dirty="0"/>
              <a:t>Basics of sinusoids and lead-lag concept:</a:t>
            </a:r>
          </a:p>
          <a:p>
            <a:pPr lvl="2"/>
            <a:r>
              <a:rPr lang="en-US" dirty="0">
                <a:hlinkClick r:id="rId2"/>
              </a:rPr>
              <a:t>What is Sinusoid | Lead Lag Sine wave (in Bangla) #Sinusoid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Basics of Impedance and Reactance:</a:t>
            </a:r>
          </a:p>
          <a:p>
            <a:pPr lvl="2"/>
            <a:r>
              <a:rPr lang="en-US" dirty="0">
                <a:hlinkClick r:id="rId3"/>
              </a:rPr>
              <a:t>What is reactance and impedance | Difference between reactance and impedance [ in </a:t>
            </a:r>
            <a:r>
              <a:rPr lang="en-US" dirty="0" err="1">
                <a:hlinkClick r:id="rId3"/>
              </a:rPr>
              <a:t>bangla</a:t>
            </a:r>
            <a:r>
              <a:rPr lang="en-US" dirty="0">
                <a:hlinkClick r:id="rId3"/>
              </a:rPr>
              <a:t>]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Equivalent Impedance Math:</a:t>
            </a:r>
          </a:p>
          <a:p>
            <a:pPr lvl="2"/>
            <a:r>
              <a:rPr lang="en-US" dirty="0">
                <a:hlinkClick r:id="rId4"/>
              </a:rPr>
              <a:t>Example 1 Equivalent Impedance (youtube.com)</a:t>
            </a:r>
            <a:endParaRPr lang="en-US" dirty="0"/>
          </a:p>
          <a:p>
            <a:pPr lvl="2"/>
            <a:r>
              <a:rPr lang="en-US" dirty="0">
                <a:hlinkClick r:id="rId5"/>
              </a:rPr>
              <a:t>Example 2 Equivalent Impedance (youtube.com)</a:t>
            </a:r>
            <a:endParaRPr lang="en-US" dirty="0"/>
          </a:p>
          <a:p>
            <a:pPr lvl="2"/>
            <a:r>
              <a:rPr lang="en-US" dirty="0">
                <a:hlinkClick r:id="rId6"/>
              </a:rPr>
              <a:t>Example : Impedance seen from a terminal (youtube.com)</a:t>
            </a:r>
            <a:endParaRPr lang="en-US" dirty="0"/>
          </a:p>
          <a:p>
            <a:pPr lvl="2"/>
            <a:r>
              <a:rPr lang="en-US" dirty="0">
                <a:hlinkClick r:id="rId7"/>
              </a:rPr>
              <a:t>4. AC Circuit Voltage Divide Rule Problems || AC circuit </a:t>
            </a:r>
            <a:r>
              <a:rPr lang="en-US" dirty="0" err="1">
                <a:hlinkClick r:id="rId7"/>
              </a:rPr>
              <a:t>bangla</a:t>
            </a:r>
            <a:r>
              <a:rPr lang="en-US" dirty="0">
                <a:hlinkClick r:id="rId7"/>
              </a:rPr>
              <a:t> tutorial (youtube.com)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8061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BB19D-C833-6B76-7D3A-D496D816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 for calculator use for complex numbers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FFC5A-B063-A17B-0A1A-C847AD5F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Complex Number calculations in calculator: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2"/>
              </a:rPr>
              <a:t>Complex Number Operations in Calculator (Bangla Tutorial) #ComplexNumberOperationsBanglaTutorial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3"/>
              </a:rPr>
              <a:t>FX 991ES + Scientific Calculator Conversion of Rectangular to Polar &amp; Polar to Rectangular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4"/>
              </a:rPr>
              <a:t>Rectangular to Polar form in fx-991MS calculator (youtube.com)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>
                <a:hlinkClick r:id="rId5"/>
              </a:rPr>
              <a:t>Casio FX-991EX </a:t>
            </a:r>
            <a:r>
              <a:rPr lang="en-US" dirty="0" err="1">
                <a:hlinkClick r:id="rId5"/>
              </a:rPr>
              <a:t>Classwiz</a:t>
            </a:r>
            <a:r>
              <a:rPr lang="en-US" dirty="0">
                <a:hlinkClick r:id="rId5"/>
              </a:rPr>
              <a:t> Complex Numbers: Rectangular to Polar Form Conversions (and Vice Versa) (youtube.com)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5752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842ED-9241-2EED-6B92-33A47AF5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Math to Practice from the Book for Exam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0BC1-BA28-FBAA-2EC5-898CB022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Chapter 9</a:t>
            </a:r>
            <a:br>
              <a:rPr lang="en-US" sz="18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800" u="sng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457200" lvl="1">
              <a:lnSpc>
                <a:spcPct val="115000"/>
              </a:lnSpc>
              <a:spcBef>
                <a:spcPts val="0"/>
              </a:spcBef>
            </a:pPr>
            <a:r>
              <a:rPr lang="en-US" sz="2000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Example: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9.1, 9.2, 9.10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Practice 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9.10</a:t>
            </a:r>
            <a:b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1600" dirty="0"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65760">
              <a:lnSpc>
                <a:spcPct val="115000"/>
              </a:lnSpc>
              <a:spcBef>
                <a:spcPts val="0"/>
              </a:spcBef>
            </a:pPr>
            <a:r>
              <a:rPr lang="en-US" b="1" u="sng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Problem: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914400" lvl="2">
              <a:lnSpc>
                <a:spcPct val="115000"/>
              </a:lnSpc>
              <a:spcBef>
                <a:spcPts val="0"/>
              </a:spcBef>
            </a:pPr>
            <a:r>
              <a:rPr lang="en-US" sz="1600" dirty="0">
                <a:latin typeface="Arial" panose="020B0604020202020204" pitchFamily="34" charset="0"/>
                <a:ea typeface="Arial" panose="020B0604020202020204" pitchFamily="34" charset="0"/>
              </a:rPr>
              <a:t>9.1, 9.2, 9.6, 9.39, 9.40, 9.44, 9.45, 9.51, 9.54, 9.55</a:t>
            </a:r>
          </a:p>
        </p:txBody>
      </p:sp>
    </p:spTree>
    <p:extLst>
      <p:ext uri="{BB962C8B-B14F-4D97-AF65-F5344CB8AC3E}">
        <p14:creationId xmlns:p14="http://schemas.microsoft.com/office/powerpoint/2010/main" val="27982423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811819-A50C-D6D6-3FBB-FCABEB21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24328"/>
            <a:ext cx="10058400" cy="1609344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30112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948</TotalTime>
  <Words>810</Words>
  <Application>Microsoft Office PowerPoint</Application>
  <PresentationFormat>Widescreen</PresentationFormat>
  <Paragraphs>127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Arial</vt:lpstr>
      <vt:lpstr>Rockwell</vt:lpstr>
      <vt:lpstr>Rockwell Condensed</vt:lpstr>
      <vt:lpstr>Times New Roman</vt:lpstr>
      <vt:lpstr>Wingdings</vt:lpstr>
      <vt:lpstr>Wood Type</vt:lpstr>
      <vt:lpstr>AC Circuits</vt:lpstr>
      <vt:lpstr>DC VS ac</vt:lpstr>
      <vt:lpstr>Types of ac waveforms</vt:lpstr>
      <vt:lpstr>Our focus</vt:lpstr>
      <vt:lpstr>Sinusoids</vt:lpstr>
      <vt:lpstr>Sinusoids equation</vt:lpstr>
      <vt:lpstr>Some formulas</vt:lpstr>
      <vt:lpstr>general expression for a sinusoid</vt:lpstr>
      <vt:lpstr>Leading lagging concept</vt:lpstr>
      <vt:lpstr>Necessary formulas for comparing sinusoids</vt:lpstr>
      <vt:lpstr>Math Problem Practice: </vt:lpstr>
      <vt:lpstr>Math Problem Practice: </vt:lpstr>
      <vt:lpstr>Math Problem Practice: </vt:lpstr>
      <vt:lpstr>Math Problem Practice: </vt:lpstr>
      <vt:lpstr>Phasors</vt:lpstr>
      <vt:lpstr>Graphical representation of a complex number</vt:lpstr>
      <vt:lpstr>Complex numbers</vt:lpstr>
      <vt:lpstr>Time domain -&gt; phasor domain</vt:lpstr>
      <vt:lpstr>Phasor diagram</vt:lpstr>
      <vt:lpstr>Formulas for phasor transformation</vt:lpstr>
      <vt:lpstr>Math Problem Practice: </vt:lpstr>
      <vt:lpstr>Math Problem Practice: </vt:lpstr>
      <vt:lpstr>Impedance</vt:lpstr>
      <vt:lpstr>Passive elements in Ac circuit(r, l, c)</vt:lpstr>
      <vt:lpstr>Impedance(continued…)</vt:lpstr>
      <vt:lpstr>Impedance(continued…)</vt:lpstr>
      <vt:lpstr>Admittance</vt:lpstr>
      <vt:lpstr>Admittance(continued…)</vt:lpstr>
      <vt:lpstr>Admittance(continued…)</vt:lpstr>
      <vt:lpstr>Math Problem Practice: </vt:lpstr>
      <vt:lpstr>Math Problem Practice: </vt:lpstr>
      <vt:lpstr>Kirchhoff’s Laws in the Frequency Domain</vt:lpstr>
      <vt:lpstr>Impedance Combinations(Series)</vt:lpstr>
      <vt:lpstr>Voltage divider rule(vdr)</vt:lpstr>
      <vt:lpstr>Impedance Combinations(parallel)</vt:lpstr>
      <vt:lpstr>current divider rule(Cdr)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Math Problem Practice: </vt:lpstr>
      <vt:lpstr>PowerPoint Presentation</vt:lpstr>
      <vt:lpstr>PowerPoint Presentation</vt:lpstr>
      <vt:lpstr>PowerPoint Presentation</vt:lpstr>
      <vt:lpstr>PowerPoint Presentation</vt:lpstr>
      <vt:lpstr>References for better understanding </vt:lpstr>
      <vt:lpstr>References for calculator use for complex numbers </vt:lpstr>
      <vt:lpstr>Math to Practice from the Book for Exam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Superposition</dc:title>
  <dc:creator>Shafqat Rakin</dc:creator>
  <cp:lastModifiedBy>Shafqat Rakin</cp:lastModifiedBy>
  <cp:revision>57</cp:revision>
  <dcterms:created xsi:type="dcterms:W3CDTF">2024-03-17T15:42:52Z</dcterms:created>
  <dcterms:modified xsi:type="dcterms:W3CDTF">2024-04-06T17:53:55Z</dcterms:modified>
</cp:coreProperties>
</file>