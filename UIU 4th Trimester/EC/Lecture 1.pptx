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5" r:id="rId12"/>
    <p:sldId id="270" r:id="rId13"/>
    <p:sldId id="286" r:id="rId14"/>
    <p:sldId id="266" r:id="rId15"/>
    <p:sldId id="287" r:id="rId16"/>
    <p:sldId id="272" r:id="rId17"/>
    <p:sldId id="288" r:id="rId18"/>
    <p:sldId id="267" r:id="rId19"/>
    <p:sldId id="268" r:id="rId20"/>
    <p:sldId id="269" r:id="rId21"/>
    <p:sldId id="273" r:id="rId22"/>
    <p:sldId id="274" r:id="rId23"/>
    <p:sldId id="275" r:id="rId24"/>
    <p:sldId id="276" r:id="rId25"/>
    <p:sldId id="279" r:id="rId26"/>
    <p:sldId id="280" r:id="rId27"/>
    <p:sldId id="282" r:id="rId28"/>
    <p:sldId id="289" r:id="rId29"/>
    <p:sldId id="283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56BC02-4051-4885-B68C-AEC3B7DC2B30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0E2FC-A061-4C17-9AEC-19E7B06B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233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 of flow of current vs flow of electrons is opposite. We follow conventional direction of current.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0E2FC-A061-4C17-9AEC-19E7B06B8DF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75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Charge and current not constant and can change with time. The classic physics formula we studied comes if we consider current to be constant.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0E2FC-A061-4C17-9AEC-19E7B06B8DF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66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basic circuit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444BD6-95DA-4B58-BCA8-A915478A65B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7691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E82FF-2A45-490B-91A7-246BBF967F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40B5A2-7B03-4948-932F-29B7FAC97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EFCB6-79C4-48DD-B560-DA825F0ED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277CF-A553-43CE-8A94-BD07AC024046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C9F7F-1058-4A86-9EBA-B9816FC4C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9E8E4-FA08-4DA4-8FD9-060D07D58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8204-3177-470D-861E-DE06A6A01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18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BAA3-9E65-4C7A-8C2E-BDA944ACB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B382F-6208-4E8D-83C7-5ADFC284B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B8296-AE29-43DD-8D93-65424B044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277CF-A553-43CE-8A94-BD07AC024046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5D8FC-DD0B-4E55-8623-B896E2D50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A92C3-70A4-4212-AD40-4FA80CD9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8204-3177-470D-861E-DE06A6A01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02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FA58A-BAF8-4F3C-BB50-48E85F7A1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1CBAB-CF87-4033-A22B-F26743DCA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3E433-8A59-4269-BD00-8FE621CAE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277CF-A553-43CE-8A94-BD07AC024046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A0F08-7875-4ADB-9A97-3CCAB44F0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307C4-EF78-4BFE-9EFA-D2433DA6B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8204-3177-470D-861E-DE06A6A01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9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32F00-E352-477D-8D23-F40712E8A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A09DC-A022-4102-BB3F-4268FCA711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BD1783-107A-4076-B32E-1B00970EC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FBD25-5AFA-445A-9B9D-686880EFF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277CF-A553-43CE-8A94-BD07AC024046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DDD24-F538-4D5B-B3CD-2F9E463B7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25203-2098-42A6-B894-303183C68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8204-3177-470D-861E-DE06A6A01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222BB-88A8-4D87-8DDB-3BF95426E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AA27E-EF07-4AF7-944A-745F58987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34159-65BB-4AD5-8F80-2B3B3C0F9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B1B0FB-1D5A-4440-97AE-4BD6D8824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EEAAA3-6B45-43D7-B06D-2A652508DD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BE70B0-214C-4CB4-A1AC-53777BD32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277CF-A553-43CE-8A94-BD07AC024046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54DA3E-1C7C-4679-A778-43686DFB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A0DD55-D8E7-4A44-8FCE-5E1F7803D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8204-3177-470D-861E-DE06A6A01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516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920B7-6498-431E-BE15-AF1A3E5EE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181C4-3531-42FC-9372-6881026C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277CF-A553-43CE-8A94-BD07AC024046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BC53A-C173-40C7-9D95-FDC7FE8C0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9B14D6-9041-4AF7-BB3A-9549D75C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8204-3177-470D-861E-DE06A6A01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09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B419C4-6E37-4EE0-B8AA-DD020E6CF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277CF-A553-43CE-8A94-BD07AC024046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3D13C-CC36-40B8-A1B2-E2632F9B1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F2C78-393D-46ED-BFDB-5FB341F31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8204-3177-470D-861E-DE06A6A01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16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696D7-E22D-47F9-8BEC-D26CC84E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49AC5-7352-4227-9DB8-2947738B3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6EF52-0437-4A3F-A68A-058BB34E3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1E332-60AB-45A0-AC0C-F20A4041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277CF-A553-43CE-8A94-BD07AC024046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A572A-887B-4ABC-A469-F1B13072B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A4222-59B4-473B-8072-A156456A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8204-3177-470D-861E-DE06A6A01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7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D24CD-EFC8-4FF2-965B-150743350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D22D5F-10F5-4223-A996-14C99E5926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0A59B-E563-4D71-8805-81D479526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28473-C363-4B95-BFAF-F8772CE75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277CF-A553-43CE-8A94-BD07AC024046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90AEB-2074-415B-92B0-4C59025E9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72561-C9ED-4EB0-8F32-1377017E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8204-3177-470D-861E-DE06A6A01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54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33B3-4903-4BE0-8A42-F7CC715B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8A7F69-D38C-4AAF-ACF3-E8B12E0E6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C5C01-5D67-4865-A6BE-BAE5AF1C5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277CF-A553-43CE-8A94-BD07AC024046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98587-36AB-4333-910C-832DA4E86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966A0-668D-4E82-A34F-640CE9D9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8204-3177-470D-861E-DE06A6A01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36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F4951-F498-42F4-81B4-481E9D6552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361728-E7B8-4195-BFE3-2598C8321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4F19F-7C3A-4B35-BC01-CC86C6937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277CF-A553-43CE-8A94-BD07AC024046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4EC85-2B53-4C3A-992D-AE76C2354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1F20A-9577-4838-B818-9F771DE55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E8204-3177-470D-861E-DE06A6A01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28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F3744-584A-4E7D-B228-411EA7DBB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F6900-2194-44C9-836C-9F1F1E5AC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F1904-BFB5-4A29-A416-808974950B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277CF-A553-43CE-8A94-BD07AC024046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6D02D-FB6F-4A06-9190-F1FED0174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C758E-1F33-4299-BF33-02ACC051D6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E8204-3177-470D-861E-DE06A6A01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8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hafqat@cse.uiu.ac.b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FFF6F-CC4B-41FE-9C7F-21C51E8B1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12309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EEE 2113</a:t>
            </a:r>
            <a:b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</a:b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Electrical Circuits</a:t>
            </a:r>
            <a:b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</a:b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Basic Concepts</a:t>
            </a:r>
            <a:b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</a:br>
            <a:b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</a:b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Section 1.1, 1.2, 1.3, 1.4, 1.5, 1.6 from </a:t>
            </a:r>
            <a:b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Fundamentals of Electric Circuits (5th Edition) by Alexandar and Sadiku</a:t>
            </a:r>
            <a:endParaRPr lang="en-US" sz="4400" dirty="0">
              <a:latin typeface="+mn-lt"/>
            </a:endParaRPr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C7F8797F-BB93-C788-B006-66A0856B9DE8}"/>
              </a:ext>
            </a:extLst>
          </p:cNvPr>
          <p:cNvSpPr>
            <a:spLocks noGrp="1"/>
          </p:cNvSpPr>
          <p:nvPr/>
        </p:nvSpPr>
        <p:spPr>
          <a:xfrm>
            <a:off x="1164734" y="4816475"/>
            <a:ext cx="62992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</a:rPr>
              <a:t>Md. Shafqat </a:t>
            </a:r>
            <a:r>
              <a:rPr lang="en-US" sz="1600" spc="-5" dirty="0" err="1">
                <a:solidFill>
                  <a:srgbClr val="585858"/>
                </a:solidFill>
                <a:latin typeface="Arial"/>
                <a:cs typeface="Arial"/>
              </a:rPr>
              <a:t>Talukder</a:t>
            </a: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</a:rPr>
              <a:t> Rakin</a:t>
            </a:r>
            <a:endParaRPr lang="en-US" sz="1600" dirty="0">
              <a:latin typeface="Arial"/>
              <a:cs typeface="Arial"/>
            </a:endParaRP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</a:rPr>
              <a:t>Lecturer, Department of CSE,  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</a:rPr>
              <a:t>United International</a:t>
            </a:r>
            <a:r>
              <a:rPr lang="en-US" sz="1600" spc="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</a:rPr>
              <a:t>University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</a:rPr>
              <a:t>Email id : </a:t>
            </a: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  <a:hlinkClick r:id="rId2"/>
              </a:rPr>
              <a:t>shafqat@cse.uiu.ac.bd</a:t>
            </a:r>
            <a:endParaRPr lang="en-US" sz="16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7C7C251-28BA-B1C1-2698-414C51F280A9}"/>
              </a:ext>
            </a:extLst>
          </p:cNvPr>
          <p:cNvSpPr txBox="1"/>
          <p:nvPr/>
        </p:nvSpPr>
        <p:spPr>
          <a:xfrm>
            <a:off x="6963266" y="5067042"/>
            <a:ext cx="406400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r>
              <a:rPr sz="2400" spc="-5" dirty="0">
                <a:solidFill>
                  <a:srgbClr val="585858"/>
                </a:solidFill>
                <a:latin typeface="Arial"/>
                <a:cs typeface="Arial"/>
              </a:rPr>
              <a:t>Courtesy:</a:t>
            </a:r>
            <a:r>
              <a:rPr lang="en-US" sz="2400" spc="-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Rifat Bin Rashid</a:t>
            </a:r>
          </a:p>
        </p:txBody>
      </p:sp>
    </p:spTree>
    <p:extLst>
      <p:ext uri="{BB962C8B-B14F-4D97-AF65-F5344CB8AC3E}">
        <p14:creationId xmlns:p14="http://schemas.microsoft.com/office/powerpoint/2010/main" val="388764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B3DFE-785A-4D60-B0F7-41F2C39BF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Electric Circuit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02EAC-E2A4-479B-B5DC-6983B38BD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US" sz="2000"/>
              <a:t>An electric circuit is an interconnection of electrical elements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4727C4D-9A86-4F3F-AE2D-13C3CE393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500" y="807593"/>
            <a:ext cx="5954055" cy="523956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641556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9F353-392A-4E3F-A83C-A11B9CC0F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Electrical Circuit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225FE-C0BA-4EDC-88A0-816A04599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US" sz="2000" dirty="0"/>
              <a:t>A real-life electrical circuit consists of various components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AC69D292-58E8-46B6-9EBA-CFB11DF0E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862" y="1854827"/>
            <a:ext cx="6019331" cy="31451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89576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1827-FB5B-485F-83AD-8EB0AEE0F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3979" cy="704918"/>
          </a:xfrm>
        </p:spPr>
        <p:txBody>
          <a:bodyPr/>
          <a:lstStyle/>
          <a:p>
            <a:r>
              <a:rPr lang="en-US" dirty="0"/>
              <a:t>System of Units</a:t>
            </a:r>
          </a:p>
        </p:txBody>
      </p: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87190BCB-CD74-4545-9419-DF9E694389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013" y="1334871"/>
            <a:ext cx="3202710" cy="4989257"/>
          </a:xfrm>
        </p:spPr>
      </p:pic>
    </p:spTree>
    <p:extLst>
      <p:ext uri="{BB962C8B-B14F-4D97-AF65-F5344CB8AC3E}">
        <p14:creationId xmlns:p14="http://schemas.microsoft.com/office/powerpoint/2010/main" val="4260128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2210D-2E26-4134-9048-71CEE7EC0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Electrical Charge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5601F-4F82-4419-A223-DCF48E807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US" sz="1600" dirty="0"/>
              <a:t>Charge is an electrical property of the atomic particles of which matter consists, measured in coulombs (C).</a:t>
            </a:r>
          </a:p>
          <a:p>
            <a:r>
              <a:rPr lang="en-US" sz="1600" dirty="0"/>
              <a:t>Atoms are made up of protons, electrons and neutrons</a:t>
            </a:r>
          </a:p>
          <a:p>
            <a:r>
              <a:rPr lang="en-US" sz="1600" dirty="0"/>
              <a:t>A neutral atom has equal number of protons and electrons</a:t>
            </a:r>
          </a:p>
          <a:p>
            <a:r>
              <a:rPr lang="en-US" sz="1600" dirty="0"/>
              <a:t>A positively charged atom has less electrons than protons</a:t>
            </a:r>
          </a:p>
          <a:p>
            <a:r>
              <a:rPr lang="en-US" sz="1600" dirty="0"/>
              <a:t>A negatively charged atom has more electrons than protons</a:t>
            </a:r>
          </a:p>
          <a:p>
            <a:r>
              <a:rPr lang="en-US" sz="1600" dirty="0"/>
              <a:t>A single electron has a charge of 1.6 x 10</a:t>
            </a:r>
            <a:r>
              <a:rPr lang="en-US" sz="1600" baseline="30000" dirty="0"/>
              <a:t>-19</a:t>
            </a:r>
            <a:r>
              <a:rPr lang="en-US" sz="1600" dirty="0"/>
              <a:t> 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Atom">
            <a:extLst>
              <a:ext uri="{FF2B5EF4-FFF2-40B4-BE49-F238E27FC236}">
                <a16:creationId xmlns:a16="http://schemas.microsoft.com/office/drawing/2014/main" id="{CE89EE92-AD2F-4CB5-AF37-3E9205D98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5743" y="807593"/>
            <a:ext cx="5239568" cy="523956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593700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2934-08B8-4304-8A15-F462A3474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Electrical Charge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93324-831F-4048-A2FB-B5B24D6AE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coulomb is a large unit for charges. In 1 C of charge, there are 6.24 x 10</a:t>
            </a:r>
            <a:r>
              <a:rPr lang="en-US" baseline="30000" dirty="0"/>
              <a:t>18  </a:t>
            </a:r>
            <a:r>
              <a:rPr lang="en-US" dirty="0"/>
              <a:t>electrons. Thus, realistic or laboratory values of charges are on the order of </a:t>
            </a:r>
            <a:r>
              <a:rPr lang="en-US" dirty="0" err="1"/>
              <a:t>pC</a:t>
            </a:r>
            <a:r>
              <a:rPr lang="en-US" dirty="0"/>
              <a:t>, </a:t>
            </a:r>
            <a:r>
              <a:rPr lang="en-US" dirty="0" err="1"/>
              <a:t>nC</a:t>
            </a:r>
            <a:r>
              <a:rPr lang="en-US" dirty="0"/>
              <a:t>. </a:t>
            </a:r>
          </a:p>
          <a:p>
            <a:r>
              <a:rPr lang="en-US" dirty="0"/>
              <a:t>The law of conservation of charge states that charge can neither be created nor destroyed, only transferred. Thus, the algebraic sum of the electric charges in a </a:t>
            </a:r>
            <a:r>
              <a:rPr lang="en-US" b="1" dirty="0"/>
              <a:t>system</a:t>
            </a:r>
            <a:r>
              <a:rPr lang="en-US" dirty="0"/>
              <a:t> does not change</a:t>
            </a:r>
          </a:p>
        </p:txBody>
      </p:sp>
    </p:spTree>
    <p:extLst>
      <p:ext uri="{BB962C8B-B14F-4D97-AF65-F5344CB8AC3E}">
        <p14:creationId xmlns:p14="http://schemas.microsoft.com/office/powerpoint/2010/main" val="1792099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1F641-0600-47EF-9A86-C9F0FB3E0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Flow of Charges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6235E-2916-49EC-A90D-1A3D94992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US" sz="2000"/>
              <a:t>In electrical circuits, we are concerned with the </a:t>
            </a:r>
            <a:r>
              <a:rPr lang="en-US" sz="2000" b="1"/>
              <a:t>charges that can freely move or flow</a:t>
            </a:r>
          </a:p>
          <a:p>
            <a:r>
              <a:rPr lang="en-US" sz="2000"/>
              <a:t>When we apply an electromotive force (emf) on charges, they gain energy, and start moving</a:t>
            </a:r>
          </a:p>
          <a:p>
            <a:pPr lvl="1"/>
            <a:r>
              <a:rPr lang="en-US" sz="2000"/>
              <a:t>Emf is also known as voltage or potential difference</a:t>
            </a:r>
          </a:p>
          <a:p>
            <a:pPr marL="0" indent="0">
              <a:buNone/>
            </a:pPr>
            <a:endParaRPr lang="en-US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CEAFE785-E831-4D78-A98C-3F29934DB6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862" y="1087362"/>
            <a:ext cx="6019331" cy="468002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23737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008C2-BE2E-483F-BE94-42B31DDF0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 Current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D61D8-4F80-48A0-9F3C-68F8BAD5A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02767"/>
          </a:xfrm>
        </p:spPr>
        <p:txBody>
          <a:bodyPr>
            <a:normAutofit fontScale="92500"/>
          </a:bodyPr>
          <a:lstStyle/>
          <a:p>
            <a:r>
              <a:rPr lang="en-US" dirty="0"/>
              <a:t>Electric current is the time rate of change of charge, measured in amperes (A).</a:t>
            </a:r>
          </a:p>
          <a:p>
            <a:r>
              <a:rPr lang="en-US" dirty="0"/>
              <a:t>Mathematically, the relationship between current </a:t>
            </a:r>
            <a:r>
              <a:rPr lang="en-US" dirty="0" err="1"/>
              <a:t>i</a:t>
            </a:r>
            <a:r>
              <a:rPr lang="en-US" dirty="0"/>
              <a:t>, charge q, and time t is</a:t>
            </a:r>
          </a:p>
        </p:txBody>
      </p:sp>
      <p:pic>
        <p:nvPicPr>
          <p:cNvPr id="5" name="Picture 4" descr="Text, whiteboard&#10;&#10;Description automatically generated">
            <a:extLst>
              <a:ext uri="{FF2B5EF4-FFF2-40B4-BE49-F238E27FC236}">
                <a16:creationId xmlns:a16="http://schemas.microsoft.com/office/drawing/2014/main" id="{079EBD12-295A-4E90-A1AD-1DF575BEE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600" y="3147424"/>
            <a:ext cx="3100797" cy="238522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0EB047-3C92-4012-A070-4B981AA4CF42}"/>
              </a:ext>
            </a:extLst>
          </p:cNvPr>
          <p:cNvSpPr txBox="1">
            <a:spLocks/>
          </p:cNvSpPr>
          <p:nvPr/>
        </p:nvSpPr>
        <p:spPr>
          <a:xfrm>
            <a:off x="894944" y="5532653"/>
            <a:ext cx="10402111" cy="95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where current is measured in amperes (A), and 1 A = 1C/s</a:t>
            </a:r>
          </a:p>
        </p:txBody>
      </p:sp>
    </p:spTree>
    <p:extLst>
      <p:ext uri="{BB962C8B-B14F-4D97-AF65-F5344CB8AC3E}">
        <p14:creationId xmlns:p14="http://schemas.microsoft.com/office/powerpoint/2010/main" val="3413961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0F211-833B-4A31-886C-88C551E05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Quantifying Electrical Charge</a:t>
            </a:r>
            <a:endParaRPr lang="en-US" dirty="0"/>
          </a:p>
        </p:txBody>
      </p:sp>
      <p:pic>
        <p:nvPicPr>
          <p:cNvPr id="5" name="Content Placeholder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29232D10-7C6E-4A42-9A8A-B1FEC2AA8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33" y="1847915"/>
            <a:ext cx="10755221" cy="3717998"/>
          </a:xfrm>
        </p:spPr>
      </p:pic>
    </p:spTree>
    <p:extLst>
      <p:ext uri="{BB962C8B-B14F-4D97-AF65-F5344CB8AC3E}">
        <p14:creationId xmlns:p14="http://schemas.microsoft.com/office/powerpoint/2010/main" val="4050696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9FE01758-A377-4AD7-B77E-993DB83591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68" y="643467"/>
            <a:ext cx="1056126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62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DC3D5-03EF-F675-8D34-57CA5841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 1.2 (Solve)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64B56C-A069-A634-656B-7D964B17E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554" y="1825625"/>
            <a:ext cx="6048892" cy="4351338"/>
          </a:xfrm>
        </p:spPr>
      </p:pic>
    </p:spTree>
    <p:extLst>
      <p:ext uri="{BB962C8B-B14F-4D97-AF65-F5344CB8AC3E}">
        <p14:creationId xmlns:p14="http://schemas.microsoft.com/office/powerpoint/2010/main" val="289422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EE6805-F3B7-7A8A-4C1C-7BC25DE61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7" y="1308772"/>
            <a:ext cx="5567364" cy="4734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CAA46F-FFF8-D9C4-741C-2D4F7AED2D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6"/>
          <a:stretch/>
        </p:blipFill>
        <p:spPr>
          <a:xfrm>
            <a:off x="6305384" y="1396235"/>
            <a:ext cx="5849598" cy="36448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C1BF37-103C-03E5-2F0E-E094C870A63D}"/>
              </a:ext>
            </a:extLst>
          </p:cNvPr>
          <p:cNvSpPr txBox="1"/>
          <p:nvPr/>
        </p:nvSpPr>
        <p:spPr>
          <a:xfrm>
            <a:off x="373711" y="333954"/>
            <a:ext cx="3750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 Problem Practice: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7BB56B9-94B0-3D0D-6910-05A3285122FB}"/>
              </a:ext>
            </a:extLst>
          </p:cNvPr>
          <p:cNvCxnSpPr/>
          <p:nvPr/>
        </p:nvCxnSpPr>
        <p:spPr>
          <a:xfrm>
            <a:off x="6096000" y="1253113"/>
            <a:ext cx="0" cy="46197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753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080B9-782E-F43D-B972-F6EBB00DC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4C54FBF-5EF6-1CA3-49D7-D966B6C87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540829"/>
            <a:ext cx="5662151" cy="344453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68FEB9-63A5-1A32-4B07-82ABFD811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60" y="1401904"/>
            <a:ext cx="5677392" cy="40541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8618C5-3334-519A-8B63-A94A6FC2F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452" y="3985367"/>
            <a:ext cx="2505201" cy="264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39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9CE65EC-4BE1-4484-937E-64B86D48BB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31" y="643467"/>
            <a:ext cx="10222138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39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9DA9-C2FE-CF1B-03EB-72225776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 1.3 (Solve)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966273-6ED5-74C9-D371-C220026AF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085" y="1825625"/>
            <a:ext cx="4547830" cy="4351338"/>
          </a:xfrm>
        </p:spPr>
      </p:pic>
    </p:spTree>
    <p:extLst>
      <p:ext uri="{BB962C8B-B14F-4D97-AF65-F5344CB8AC3E}">
        <p14:creationId xmlns:p14="http://schemas.microsoft.com/office/powerpoint/2010/main" val="3041222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1C1BF37-103C-03E5-2F0E-E094C870A63D}"/>
              </a:ext>
            </a:extLst>
          </p:cNvPr>
          <p:cNvSpPr txBox="1"/>
          <p:nvPr/>
        </p:nvSpPr>
        <p:spPr>
          <a:xfrm>
            <a:off x="373711" y="333954"/>
            <a:ext cx="3751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 Problem Practice: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7F4E32-A21F-8DE0-CF4F-24BABF1EA1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8000"/>
          <a:stretch/>
        </p:blipFill>
        <p:spPr>
          <a:xfrm>
            <a:off x="138297" y="1686087"/>
            <a:ext cx="6059821" cy="249402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507EC0-4165-2CA1-F4FA-3E279F04A6B3}"/>
              </a:ext>
            </a:extLst>
          </p:cNvPr>
          <p:cNvCxnSpPr/>
          <p:nvPr/>
        </p:nvCxnSpPr>
        <p:spPr>
          <a:xfrm>
            <a:off x="6096000" y="795619"/>
            <a:ext cx="0" cy="46197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B4A572A-DE28-EE3D-A613-BDDE1C2CD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736" y="567442"/>
            <a:ext cx="2743438" cy="572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99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1CF1F-E3EE-88AF-6EBA-6215A1DFA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 Problem Practice:</a:t>
            </a:r>
            <a:br>
              <a:rPr lang="en-US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AD5BFA-4D2B-2426-FBB2-21F943794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3981" y="1597900"/>
            <a:ext cx="5136996" cy="4351338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FE8B38-4C33-31BC-7BD6-3C18543346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905" r="2416" b="10476"/>
          <a:stretch/>
        </p:blipFill>
        <p:spPr>
          <a:xfrm>
            <a:off x="209016" y="1926189"/>
            <a:ext cx="5886984" cy="369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769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635E2-6007-453A-81FC-C581EF96B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95" y="3433763"/>
            <a:ext cx="3197013" cy="2743200"/>
          </a:xfrm>
        </p:spPr>
        <p:txBody>
          <a:bodyPr anchor="t">
            <a:normAutofit/>
          </a:bodyPr>
          <a:lstStyle/>
          <a:p>
            <a:pPr algn="ctr"/>
            <a:r>
              <a:rPr lang="en-US" sz="4800"/>
              <a:t>Voltage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0C1D5B-DAD5-442B-92B7-5C2B73978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6124" cy="6858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High Voltage">
            <a:extLst>
              <a:ext uri="{FF2B5EF4-FFF2-40B4-BE49-F238E27FC236}">
                <a16:creationId xmlns:a16="http://schemas.microsoft.com/office/drawing/2014/main" id="{3A8A729A-6FDB-40E3-B697-257464683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4801" y="2030528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5CC3F-D875-4B79-92F9-132F0961A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0" y="643467"/>
            <a:ext cx="7289799" cy="5533496"/>
          </a:xfrm>
        </p:spPr>
        <p:txBody>
          <a:bodyPr anchor="ctr">
            <a:normAutofit/>
          </a:bodyPr>
          <a:lstStyle/>
          <a:p>
            <a:r>
              <a:rPr lang="en-US" dirty="0"/>
              <a:t>To move the electron in a conductor in a particular direction requires some work or energy transfer. </a:t>
            </a:r>
          </a:p>
          <a:p>
            <a:r>
              <a:rPr lang="en-US" dirty="0"/>
              <a:t>This work is performed by an external electromotive force (emf), typically represented by the battery.</a:t>
            </a:r>
          </a:p>
          <a:p>
            <a:r>
              <a:rPr lang="en-US" dirty="0"/>
              <a:t>The voltage between two points a and b in an electric circuit is the energy (or work) needed to move a unit charge from a to b</a:t>
            </a:r>
          </a:p>
        </p:txBody>
      </p:sp>
    </p:spTree>
    <p:extLst>
      <p:ext uri="{BB962C8B-B14F-4D97-AF65-F5344CB8AC3E}">
        <p14:creationId xmlns:p14="http://schemas.microsoft.com/office/powerpoint/2010/main" val="1887698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541C8-7138-43BF-A915-5068A4E2F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F04DA-A4B8-4CEA-9ECE-6D7921D14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Voltage (or potential difference) is the energy required to move a unit charge through an element, measured in volts (V).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 V = 1 J/C</a:t>
            </a:r>
          </a:p>
        </p:txBody>
      </p:sp>
      <p:pic>
        <p:nvPicPr>
          <p:cNvPr id="5" name="Picture 4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FE249D01-0E56-407B-9812-7746E91D9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599" y="2757425"/>
            <a:ext cx="2212801" cy="95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F1002-A643-476B-A1B8-3F45ECAF4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Polarity of voltage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2F90C-8F59-445F-9675-EB105FF7A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US" sz="2000"/>
              <a:t>Voltage arises due to the difference in electric potential between two points in a circuit. </a:t>
            </a:r>
          </a:p>
          <a:p>
            <a:r>
              <a:rPr lang="en-US" sz="2000"/>
              <a:t>The point which has a higher potential is given a ‘+’ polarity, while the point which is at a lower potential is given a ‘-’ polarity</a:t>
            </a:r>
          </a:p>
          <a:p>
            <a:r>
              <a:rPr lang="en-US" sz="2000" i="1"/>
              <a:t>v</a:t>
            </a:r>
            <a:r>
              <a:rPr lang="en-US" sz="2000" i="1" baseline="-25000"/>
              <a:t>ab </a:t>
            </a:r>
            <a:r>
              <a:rPr lang="en-US" sz="2000" i="1"/>
              <a:t>= -v</a:t>
            </a:r>
            <a:r>
              <a:rPr lang="en-US" sz="2000" i="1" baseline="-25000"/>
              <a:t>ba</a:t>
            </a:r>
            <a:endParaRPr lang="en-US" sz="2000" i="1"/>
          </a:p>
          <a:p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hart, box and whisker chart&#10;&#10;Description automatically generated">
            <a:extLst>
              <a:ext uri="{FF2B5EF4-FFF2-40B4-BE49-F238E27FC236}">
                <a16:creationId xmlns:a16="http://schemas.microsoft.com/office/drawing/2014/main" id="{4BE9D527-E7E9-4536-A224-A7C797BF5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436" y="807593"/>
            <a:ext cx="5056183" cy="523956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25235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55AED-C597-4C80-A26C-A73BA0121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796082" cy="938380"/>
          </a:xfrm>
        </p:spPr>
        <p:txBody>
          <a:bodyPr/>
          <a:lstStyle/>
          <a:p>
            <a:r>
              <a:rPr lang="en-US"/>
              <a:t>Electrical Power and Energy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CC7683-FD17-443E-AA38-10F41C0D7A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83068"/>
          <a:stretch/>
        </p:blipFill>
        <p:spPr>
          <a:xfrm>
            <a:off x="1977027" y="1303506"/>
            <a:ext cx="9245621" cy="1240911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395B15-9B19-AFAB-C75D-1A9892CAD9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508" t="7075" r="7900" b="4647"/>
          <a:stretch/>
        </p:blipFill>
        <p:spPr>
          <a:xfrm>
            <a:off x="214684" y="3029447"/>
            <a:ext cx="2807701" cy="22740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77F096-9D97-FA2B-89C3-4CB39B598A1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269" r="11558"/>
          <a:stretch/>
        </p:blipFill>
        <p:spPr>
          <a:xfrm>
            <a:off x="3452505" y="2544417"/>
            <a:ext cx="4970107" cy="41118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6358DF-7F3E-8164-1242-BAD60C66D95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4577"/>
          <a:stretch/>
        </p:blipFill>
        <p:spPr>
          <a:xfrm>
            <a:off x="8200907" y="3510628"/>
            <a:ext cx="3712419" cy="141358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14BC6DB-E3B9-8BA8-39B3-C0CDF48ADA8D}"/>
              </a:ext>
            </a:extLst>
          </p:cNvPr>
          <p:cNvCxnSpPr>
            <a:cxnSpLocks/>
          </p:cNvCxnSpPr>
          <p:nvPr/>
        </p:nvCxnSpPr>
        <p:spPr>
          <a:xfrm>
            <a:off x="3175454" y="2662102"/>
            <a:ext cx="0" cy="33082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721CC1-A26B-D82E-B6C4-45AFE27ADE14}"/>
              </a:ext>
            </a:extLst>
          </p:cNvPr>
          <p:cNvCxnSpPr>
            <a:cxnSpLocks/>
          </p:cNvCxnSpPr>
          <p:nvPr/>
        </p:nvCxnSpPr>
        <p:spPr>
          <a:xfrm>
            <a:off x="8200907" y="2662102"/>
            <a:ext cx="0" cy="33082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61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BCED6-835A-4A15-860B-B32584DBE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sz="3700"/>
              <a:t>Sign Convention for Power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6B84FA-CF19-4CC5-A7D5-CFEC41FE9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US" sz="1700" dirty="0"/>
              <a:t>If current is entering through the positive terminal of a component, we give it a positive sign</a:t>
            </a:r>
          </a:p>
          <a:p>
            <a:r>
              <a:rPr lang="en-US" sz="1700" dirty="0"/>
              <a:t>A positive power indicates power absorbed by the component</a:t>
            </a:r>
          </a:p>
          <a:p>
            <a:r>
              <a:rPr lang="en-US" sz="1700" dirty="0"/>
              <a:t>If current is entering through the negative terminal of a component, we give it a negative sign</a:t>
            </a:r>
          </a:p>
          <a:p>
            <a:r>
              <a:rPr lang="en-US" sz="1700" dirty="0"/>
              <a:t>A negative power indicates power supplied by the component</a:t>
            </a:r>
          </a:p>
          <a:p>
            <a:r>
              <a:rPr lang="en-US" sz="1700" dirty="0"/>
              <a:t>In an electric circuit, </a:t>
            </a:r>
          </a:p>
          <a:p>
            <a:pPr marL="0" indent="0">
              <a:buNone/>
            </a:pPr>
            <a:r>
              <a:rPr lang="en-US" sz="1700" dirty="0"/>
              <a:t>total power supplied = - total  power absorbed</a:t>
            </a:r>
          </a:p>
          <a:p>
            <a:endParaRPr lang="en-US" sz="17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0B6D37-18DF-452B-8CE9-0214BFB1E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936" y="807593"/>
            <a:ext cx="5695182" cy="523956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828653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9E3613-53DE-4CA4-95A5-75AB5E719B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6452" y="1508773"/>
            <a:ext cx="10689837" cy="300724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0A52FD-DA7B-A643-F609-8F33F1524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156" y="4655651"/>
            <a:ext cx="10032929" cy="18122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0C044A-D576-419F-A264-19D74C0DA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Law of Conservation of Energy in Circuits </a:t>
            </a:r>
          </a:p>
        </p:txBody>
      </p:sp>
    </p:spTree>
    <p:extLst>
      <p:ext uri="{BB962C8B-B14F-4D97-AF65-F5344CB8AC3E}">
        <p14:creationId xmlns:p14="http://schemas.microsoft.com/office/powerpoint/2010/main" val="3636186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645604-E6C0-EC31-164A-11D1AFD93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5" y="1287814"/>
            <a:ext cx="8286750" cy="1952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0A3BEA-00F7-490A-F5F4-9C90C290B822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 Problem Practice: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27303F-194C-4F0E-3564-A8BEBE28D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25" y="3671079"/>
            <a:ext cx="8689179" cy="290648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723604-BCDE-5183-04F3-D86343EB73CC}"/>
              </a:ext>
            </a:extLst>
          </p:cNvPr>
          <p:cNvCxnSpPr/>
          <p:nvPr/>
        </p:nvCxnSpPr>
        <p:spPr>
          <a:xfrm>
            <a:off x="990600" y="3324225"/>
            <a:ext cx="1069657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AA90CB-FFDD-AE07-0BBC-C2AC9E0DAF14}"/>
              </a:ext>
            </a:extLst>
          </p:cNvPr>
          <p:cNvSpPr txBox="1"/>
          <p:nvPr/>
        </p:nvSpPr>
        <p:spPr>
          <a:xfrm>
            <a:off x="1419225" y="14668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734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0A3BEA-00F7-490A-F5F4-9C90C290B822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Math Problem Practice: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44613E-921B-9981-F4FC-CAFCCC307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911" y="1255161"/>
            <a:ext cx="8168150" cy="4655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2E2320-0CCE-AA34-CBFE-A7C7A0AD70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01"/>
          <a:stretch/>
        </p:blipFill>
        <p:spPr>
          <a:xfrm>
            <a:off x="1908911" y="6107319"/>
            <a:ext cx="2938462" cy="571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04EF2F-BBBF-16EB-4D41-6C01DF93F440}"/>
              </a:ext>
            </a:extLst>
          </p:cNvPr>
          <p:cNvSpPr txBox="1"/>
          <p:nvPr/>
        </p:nvSpPr>
        <p:spPr>
          <a:xfrm>
            <a:off x="1114425" y="6035159"/>
            <a:ext cx="1057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Ans: </a:t>
            </a:r>
          </a:p>
        </p:txBody>
      </p:sp>
    </p:spTree>
    <p:extLst>
      <p:ext uri="{BB962C8B-B14F-4D97-AF65-F5344CB8AC3E}">
        <p14:creationId xmlns:p14="http://schemas.microsoft.com/office/powerpoint/2010/main" val="10982567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0A3BEA-00F7-490A-F5F4-9C90C290B822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Math Problem Practice: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27F96D-BC1F-B1E9-C418-A857BCF65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1428750"/>
            <a:ext cx="9544050" cy="400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FCEDCA-CFF3-44AA-5199-35EEB79C584B}"/>
              </a:ext>
            </a:extLst>
          </p:cNvPr>
          <p:cNvSpPr txBox="1"/>
          <p:nvPr/>
        </p:nvSpPr>
        <p:spPr>
          <a:xfrm>
            <a:off x="1114425" y="6035159"/>
            <a:ext cx="1057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412818-A32F-50A0-C938-4978DD677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525" y="6109339"/>
            <a:ext cx="5715000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7142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0A3BEA-00F7-490A-F5F4-9C90C290B822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Math Problem Practice: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C94DEB-61B8-F497-0897-C09228A8CB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79" t="33570" r="5703"/>
          <a:stretch/>
        </p:blipFill>
        <p:spPr>
          <a:xfrm>
            <a:off x="6443338" y="595564"/>
            <a:ext cx="5257800" cy="5550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B88B94-86F3-5096-0E9B-4280376986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4542"/>
          <a:stretch/>
        </p:blipFill>
        <p:spPr>
          <a:xfrm>
            <a:off x="95249" y="1873743"/>
            <a:ext cx="6220265" cy="282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824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5CCA0A-DA28-204F-D68C-F84D874AD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333" y="424861"/>
            <a:ext cx="4267334" cy="600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601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EFC912-8E69-8B93-B8F2-C8933F99B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387" y="428625"/>
            <a:ext cx="4467225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5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E678D-8BCE-B2D6-42D8-E7C87C239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01185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667</Words>
  <Application>Microsoft Office PowerPoint</Application>
  <PresentationFormat>Widescreen</PresentationFormat>
  <Paragraphs>70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Office Theme</vt:lpstr>
      <vt:lpstr>EEE 2113 Electrical Circuits Basic Concepts  Section 1.1, 1.2, 1.3, 1.4, 1.5, 1.6 from  Fundamentals of Electric Circuits (5th Edition) by Alexandar and Sadiku</vt:lpstr>
      <vt:lpstr>Electric Circuit</vt:lpstr>
      <vt:lpstr>Electrical Circuit</vt:lpstr>
      <vt:lpstr>System of Units</vt:lpstr>
      <vt:lpstr>Electrical Charge</vt:lpstr>
      <vt:lpstr>Electrical Charge</vt:lpstr>
      <vt:lpstr>Flow of Charges</vt:lpstr>
      <vt:lpstr>Electric Current</vt:lpstr>
      <vt:lpstr>Quantifying Electrical Charge</vt:lpstr>
      <vt:lpstr>PowerPoint Presentation</vt:lpstr>
      <vt:lpstr>Practice problem 1.2 (Solve)</vt:lpstr>
      <vt:lpstr>PowerPoint Presentation</vt:lpstr>
      <vt:lpstr>PowerPoint Presentation</vt:lpstr>
      <vt:lpstr>PowerPoint Presentation</vt:lpstr>
      <vt:lpstr>Practice problem 1.3 (Solve)</vt:lpstr>
      <vt:lpstr>PowerPoint Presentation</vt:lpstr>
      <vt:lpstr>Math Problem Practice: </vt:lpstr>
      <vt:lpstr>Voltage</vt:lpstr>
      <vt:lpstr>Voltage</vt:lpstr>
      <vt:lpstr>Polarity of voltage</vt:lpstr>
      <vt:lpstr>Electrical Power and Energy</vt:lpstr>
      <vt:lpstr>Sign Convention for Power</vt:lpstr>
      <vt:lpstr>Law of Conservation of Energy in Circuits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EEE 2113 Electrical Circuits Basic Concepts </dc:title>
  <dc:creator>Sajeed Mehrab</dc:creator>
  <cp:lastModifiedBy>Shafqat Rakin</cp:lastModifiedBy>
  <cp:revision>20</cp:revision>
  <dcterms:created xsi:type="dcterms:W3CDTF">2021-07-02T17:54:33Z</dcterms:created>
  <dcterms:modified xsi:type="dcterms:W3CDTF">2024-01-22T14:07:05Z</dcterms:modified>
</cp:coreProperties>
</file>