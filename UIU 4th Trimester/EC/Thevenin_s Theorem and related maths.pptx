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93" r:id="rId6"/>
    <p:sldId id="292" r:id="rId7"/>
    <p:sldId id="261" r:id="rId8"/>
    <p:sldId id="294" r:id="rId9"/>
    <p:sldId id="295" r:id="rId10"/>
    <p:sldId id="296" r:id="rId11"/>
    <p:sldId id="297" r:id="rId12"/>
    <p:sldId id="262" r:id="rId13"/>
    <p:sldId id="298" r:id="rId14"/>
    <p:sldId id="263" r:id="rId15"/>
    <p:sldId id="264" r:id="rId16"/>
    <p:sldId id="265" r:id="rId17"/>
    <p:sldId id="284" r:id="rId18"/>
    <p:sldId id="271" r:id="rId19"/>
    <p:sldId id="272" r:id="rId20"/>
    <p:sldId id="301" r:id="rId21"/>
    <p:sldId id="274" r:id="rId22"/>
    <p:sldId id="285" r:id="rId23"/>
    <p:sldId id="275" r:id="rId24"/>
    <p:sldId id="302" r:id="rId25"/>
    <p:sldId id="299" r:id="rId26"/>
    <p:sldId id="304" r:id="rId27"/>
    <p:sldId id="305" r:id="rId28"/>
    <p:sldId id="306" r:id="rId29"/>
    <p:sldId id="313" r:id="rId30"/>
    <p:sldId id="314" r:id="rId31"/>
    <p:sldId id="315" r:id="rId32"/>
    <p:sldId id="282" r:id="rId33"/>
    <p:sldId id="290" r:id="rId34"/>
    <p:sldId id="283" r:id="rId35"/>
    <p:sldId id="291" r:id="rId36"/>
    <p:sldId id="307" r:id="rId37"/>
    <p:sldId id="312" r:id="rId38"/>
    <p:sldId id="26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40076-4313-4ADA-96C6-362C347E14F3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AAB0F-ACDD-44B5-B737-274DBCA6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6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AAB0F-ACDD-44B5-B737-274DBCA603F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7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4/15/2024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-bub9PDvng" TargetMode="External"/><Relationship Id="rId2" Type="http://schemas.openxmlformats.org/officeDocument/2006/relationships/hyperlink" Target="https://www.youtube.com/watch?v=dNnTubgY2g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5nhx6bWXN8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473-6BEC-6AFB-2798-4582BB10C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Thevenin’s Theorem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68F26-86E4-0073-632A-006F206B2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Section 4.5</a:t>
            </a:r>
            <a:endParaRPr lang="en-US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38A1410-372D-2589-2894-B11257E8AB7A}"/>
              </a:ext>
            </a:extLst>
          </p:cNvPr>
          <p:cNvSpPr>
            <a:spLocks noGrp="1"/>
          </p:cNvSpPr>
          <p:nvPr/>
        </p:nvSpPr>
        <p:spPr>
          <a:xfrm>
            <a:off x="820132" y="5359789"/>
            <a:ext cx="2922309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rgbClr val="0070C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1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Thevenin’s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D5D9-C1F8-98C1-C95C-048F59727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often occurs in practice that a particular element in a circuit is variable (usually called the </a:t>
            </a:r>
            <a:r>
              <a:rPr lang="en-US" dirty="0">
                <a:solidFill>
                  <a:srgbClr val="00B0F0"/>
                </a:solidFill>
              </a:rPr>
              <a:t>load</a:t>
            </a:r>
            <a:r>
              <a:rPr lang="en-US" dirty="0"/>
              <a:t>) while other elements are fixed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household outlet terminal may be connected to different appliances constituting a variable load. Each time the variable element is changed, the entire circuit has to be analyzed all over again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Should we recalculate each time the variable load changes?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0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1EE7-EE99-9703-6B8A-C6BCCECA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8A33-0756-1953-8251-705DD164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6F93D-4BC4-8BC2-1EB8-A073C17A8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3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technique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2D22C-618E-0135-07C6-239431AAD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9342" y="1836983"/>
            <a:ext cx="2946964" cy="4051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5FBB7-F3A3-4F4B-024F-693D09A1F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3" y="3054843"/>
            <a:ext cx="6591871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6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thevenins-theorem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86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theorem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2FBF5-FE42-CB18-A24A-CE4CEF8C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73837-D67C-9529-CF45-FE3ABF55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54" y="2980467"/>
            <a:ext cx="8664691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2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thevenin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B05-241E-D488-4F3C-7DCFF13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- 1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AF560-AC48-3274-F7AF-A25BC585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170" y="3491426"/>
            <a:ext cx="2530059" cy="13107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2D236F-20AF-C9E1-4179-359F0B9D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549" y="3384737"/>
            <a:ext cx="2994920" cy="1417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/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blipFill>
                <a:blip r:embed="rId4"/>
                <a:stretch>
                  <a:fillRect l="-18605" r="-2093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18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thevenin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B05-241E-D488-4F3C-7DCFF13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– 1 (Example)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603A57-E9F0-E45F-492F-C2C8F612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43" y="3011772"/>
            <a:ext cx="5014395" cy="2834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3D5864-5619-83A4-BBC6-D4D4452A0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98" y="3011772"/>
            <a:ext cx="4953429" cy="3452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F9935A-B473-B3E9-2BA5-F1C85D01DCDC}"/>
                  </a:ext>
                </a:extLst>
              </p:cNvPr>
              <p:cNvSpPr txBox="1"/>
              <p:nvPr/>
            </p:nvSpPr>
            <p:spPr>
              <a:xfrm>
                <a:off x="5750972" y="4218204"/>
                <a:ext cx="3450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F9935A-B473-B3E9-2BA5-F1C85D01D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972" y="4218204"/>
                <a:ext cx="345028" cy="276999"/>
              </a:xfrm>
              <a:prstGeom prst="rect">
                <a:avLst/>
              </a:prstGeom>
              <a:blipFill>
                <a:blip r:embed="rId4"/>
                <a:stretch>
                  <a:fillRect l="-1754" r="-35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33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thevenin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B05-241E-D488-4F3C-7DCFF13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- 2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2D236F-20AF-C9E1-4179-359F0B9D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49" y="3384737"/>
            <a:ext cx="2994920" cy="1417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/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blipFill>
                <a:blip r:embed="rId3"/>
                <a:stretch>
                  <a:fillRect l="-18605" r="-2093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4D51EF-8E39-9B5D-4E51-6BEAE5C8B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75" y="3429000"/>
            <a:ext cx="2484335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thevenin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B05-241E-D488-4F3C-7DCFF13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– 2 (Example)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603A57-E9F0-E45F-492F-C2C8F612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43" y="3011772"/>
            <a:ext cx="5014395" cy="283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F9935A-B473-B3E9-2BA5-F1C85D01DCDC}"/>
                  </a:ext>
                </a:extLst>
              </p:cNvPr>
              <p:cNvSpPr txBox="1"/>
              <p:nvPr/>
            </p:nvSpPr>
            <p:spPr>
              <a:xfrm>
                <a:off x="5750972" y="4218204"/>
                <a:ext cx="3450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F9935A-B473-B3E9-2BA5-F1C85D01D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972" y="4218204"/>
                <a:ext cx="345028" cy="276999"/>
              </a:xfrm>
              <a:prstGeom prst="rect">
                <a:avLst/>
              </a:prstGeom>
              <a:blipFill>
                <a:blip r:embed="rId3"/>
                <a:stretch>
                  <a:fillRect l="-1754" r="-35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0575B64-247C-DBE9-6BF1-37C231D87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705" y="2852950"/>
            <a:ext cx="5044877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7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thevenin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B05-241E-D488-4F3C-7DCFF13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- 3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2D236F-20AF-C9E1-4179-359F0B9D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49" y="3384737"/>
            <a:ext cx="2994920" cy="1417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/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5558BE-3DB5-3C55-EA1F-1BBD14EF8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54958"/>
                <a:ext cx="262892" cy="276999"/>
              </a:xfrm>
              <a:prstGeom prst="rect">
                <a:avLst/>
              </a:prstGeom>
              <a:blipFill>
                <a:blip r:embed="rId3"/>
                <a:stretch>
                  <a:fillRect l="-18605" r="-2093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1A8D00E-B8A5-A534-3DEC-AE8B9A6D9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191" y="3361873"/>
            <a:ext cx="2705334" cy="1463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152B67-CA19-952B-CB3C-A5D29A67E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330" y="5191840"/>
            <a:ext cx="2446232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06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for finding r(Thevenin) or </a:t>
            </a:r>
            <a:r>
              <a:rPr lang="en-US" dirty="0" err="1"/>
              <a:t>rth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9E1F3-5B61-9905-8B1A-991D2A47F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327" y="2430645"/>
            <a:ext cx="8611346" cy="1280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3CAE67-F2A8-FA37-387D-FB9353F9C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32" y="4350657"/>
            <a:ext cx="2484335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0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for finding r(Thevenin) or </a:t>
            </a:r>
            <a:r>
              <a:rPr lang="en-US" dirty="0" err="1"/>
              <a:t>rth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Not included in final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BF7BC-3D09-44DE-7081-5D08A59A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57" y="3171794"/>
            <a:ext cx="5445225" cy="2357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DCBE53-1106-9F85-BC42-AC51D6F0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378" y="1979885"/>
            <a:ext cx="3506770" cy="44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39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E18602-E28D-B0AC-FDA2-ADB8168C2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8718" y="3860775"/>
            <a:ext cx="4320914" cy="5715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90E4F-2B7C-B621-9E44-0546E8F04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90" y="1604404"/>
            <a:ext cx="8403419" cy="36491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8F05D7-0C0D-4B04-7413-EB6E937F9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385" y="5525205"/>
            <a:ext cx="4320914" cy="5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86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264CD0B-7B1B-4864-DED0-D0BBCCBD8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5039" y="2093976"/>
            <a:ext cx="4233328" cy="40513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CDAD4-EC3B-8F17-A498-35DD4B9D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2093976"/>
            <a:ext cx="4320914" cy="662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484704-F03D-81C6-D876-845598E3B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52" y="2879417"/>
            <a:ext cx="6081287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7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Sadiku_Practice_Problem_4.8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0789E-9141-3DC9-1C77-A5349BDF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2" y="2651239"/>
            <a:ext cx="10899675" cy="299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78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8366FC-E3AE-54A5-BC2B-EC0C93AAC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23" y="1191838"/>
            <a:ext cx="3772519" cy="566616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454F3-97CF-BB21-9D1E-54A1B6896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357" y="1191837"/>
            <a:ext cx="3679767" cy="55759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BAE2B-7676-B86B-C384-4C0C1D84C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53" y="1236941"/>
            <a:ext cx="3661604" cy="5575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8010124" y="5894436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Sadiku_Practice_Problem_4.8</a:t>
            </a:r>
          </a:p>
        </p:txBody>
      </p:sp>
    </p:spTree>
    <p:extLst>
      <p:ext uri="{BB962C8B-B14F-4D97-AF65-F5344CB8AC3E}">
        <p14:creationId xmlns:p14="http://schemas.microsoft.com/office/powerpoint/2010/main" val="1410353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31556-F629-373B-518F-B6EC40B94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77" y="1628946"/>
            <a:ext cx="4441045" cy="382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30998B-3CEC-FE4E-AA71-FD3E6C2EE384}"/>
              </a:ext>
            </a:extLst>
          </p:cNvPr>
          <p:cNvSpPr txBox="1"/>
          <p:nvPr/>
        </p:nvSpPr>
        <p:spPr>
          <a:xfrm>
            <a:off x="2488677" y="5367463"/>
            <a:ext cx="836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 equivalent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of the circuit in Fig. 4.39 at terminals a-b.</a:t>
            </a:r>
          </a:p>
        </p:txBody>
      </p:sp>
    </p:spTree>
    <p:extLst>
      <p:ext uri="{BB962C8B-B14F-4D97-AF65-F5344CB8AC3E}">
        <p14:creationId xmlns:p14="http://schemas.microsoft.com/office/powerpoint/2010/main" val="2285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8836E-9BC2-8AC5-53FF-D5845293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C2312-1482-1598-1916-3209FDFCC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7" y="2415576"/>
            <a:ext cx="7800326" cy="1826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84239-A3CB-02D3-BC39-D9D2390A6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96" y="4352742"/>
            <a:ext cx="2635082" cy="209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5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Sadiku_Example_4.11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E7CA2AB-4DDB-BC27-E9CC-2DC753D24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3616" y="2875174"/>
            <a:ext cx="3416384" cy="208410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AAC6A7-6F7C-7129-CF59-7E3D4233E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1389673"/>
            <a:ext cx="6142252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1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Sadiku_Practice_Problem_4.11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9E5F0-9BE8-FB06-2A60-3DFD76C6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68" y="1500487"/>
            <a:ext cx="5083663" cy="3938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6B46FD-9447-DAE9-1B1D-5511CD8B377E}"/>
              </a:ext>
            </a:extLst>
          </p:cNvPr>
          <p:cNvSpPr txBox="1"/>
          <p:nvPr/>
        </p:nvSpPr>
        <p:spPr>
          <a:xfrm>
            <a:off x="2522623" y="5620701"/>
            <a:ext cx="772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 equivalent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for the circuit in Fig. 4.42, at terminals a-b.</a:t>
            </a:r>
          </a:p>
        </p:txBody>
      </p:sp>
    </p:spTree>
    <p:extLst>
      <p:ext uri="{BB962C8B-B14F-4D97-AF65-F5344CB8AC3E}">
        <p14:creationId xmlns:p14="http://schemas.microsoft.com/office/powerpoint/2010/main" val="2765987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70D5E5-4009-583C-8733-A404C686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766"/>
            <a:ext cx="4855344" cy="54782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994E45-37E9-28D7-759C-F6E1068FE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344" y="1379766"/>
            <a:ext cx="3711280" cy="55094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991821" y="5720145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Sadiku_Practice_Problem_4.11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D05C7A-E1BD-1C77-EE36-F1177C413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624" y="2187018"/>
            <a:ext cx="3417047" cy="310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32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Sadiku_Exercise_4.36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EEDA2-F381-9380-CA6D-E4C79E563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65" y="1672025"/>
            <a:ext cx="6148126" cy="45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17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8A1DC-57C9-AC29-1370-5F36C8821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5624" y="1315968"/>
            <a:ext cx="4311044" cy="505343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D477C2-70D4-EB8C-48DF-325A3310DCD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Sadiku_Exercise_4.36</a:t>
            </a:r>
          </a:p>
        </p:txBody>
      </p:sp>
    </p:spTree>
    <p:extLst>
      <p:ext uri="{BB962C8B-B14F-4D97-AF65-F5344CB8AC3E}">
        <p14:creationId xmlns:p14="http://schemas.microsoft.com/office/powerpoint/2010/main" val="495362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Sadiku_Exercise_4.39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B9AAB-B411-53AF-A46B-4626DDB31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06" y="1134943"/>
            <a:ext cx="6782388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03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Sadiku_Exercise_4.39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7D5A5-5668-4CB6-A05C-9730AAE7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708" y="2194215"/>
            <a:ext cx="4275190" cy="336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A03304-E0A6-420F-AC58-0C02B1A2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834" y="1111038"/>
            <a:ext cx="4191363" cy="3939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4E28A0-FAC1-DCAF-9074-68CD766B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06" y="4952894"/>
            <a:ext cx="4435224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1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BAEE6-8DB8-5353-F5FE-C9C5A7AD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Sadiku_Exercise_4.43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AD356-52D0-64D7-22A3-BBAFC6ED5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82" y="2291174"/>
            <a:ext cx="7242482" cy="378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59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9B2911-C8E2-BEA5-2152-C7BC54F43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8747" y="1447654"/>
            <a:ext cx="4685122" cy="492174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Sadiku_Exercise_4.43</a:t>
            </a:r>
          </a:p>
        </p:txBody>
      </p:sp>
    </p:spTree>
    <p:extLst>
      <p:ext uri="{BB962C8B-B14F-4D97-AF65-F5344CB8AC3E}">
        <p14:creationId xmlns:p14="http://schemas.microsoft.com/office/powerpoint/2010/main" val="105096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Sadiku_Exercise_4.44</a:t>
            </a:r>
          </a:p>
        </p:txBody>
      </p:sp>
      <p:pic>
        <p:nvPicPr>
          <p:cNvPr id="3" name="Content Placeholder 2" descr="Schematic, timeline&#10;&#10;Description automatically generated">
            <a:extLst>
              <a:ext uri="{FF2B5EF4-FFF2-40B4-BE49-F238E27FC236}">
                <a16:creationId xmlns:a16="http://schemas.microsoft.com/office/drawing/2014/main" id="{66AEE5CE-2AAB-08A1-7F23-9324F3FF1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1064" y="2120900"/>
            <a:ext cx="581622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37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Sadiku_Exercise_4.44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434A29-3784-AA96-3ED6-DD081CCC1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5734" y="1376182"/>
            <a:ext cx="3403496" cy="507466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3878BB-5936-2D9F-B91F-DBB8EAE3F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1" y="2093976"/>
            <a:ext cx="3545955" cy="2599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F0E74B-DEE4-993E-9EE9-21DC25981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89" y="5093407"/>
            <a:ext cx="4320914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99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Sadiku_Exercise_4.44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ED131-73CC-3FBC-E064-4280567D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883EC-2960-4A00-4E8A-A8405CBDC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5" y="1633412"/>
            <a:ext cx="7236370" cy="45387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02869-1938-DCE3-256B-4629C848D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85" y="3429000"/>
            <a:ext cx="3981253" cy="109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90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066"/>
            <a:ext cx="10058400" cy="4543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54264-688D-4F52-73A9-CF54C95C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18" y="1728752"/>
            <a:ext cx="7414173" cy="4014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B1AC03-0096-382A-3EA2-233D6AA08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543" y="5743413"/>
            <a:ext cx="4762913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3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6B151C-14A9-B924-613B-682A0979F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269" y="1724973"/>
            <a:ext cx="3813341" cy="446489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8436E5-04BA-24E1-5F1B-26158482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67" y="1724973"/>
            <a:ext cx="3284594" cy="51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38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066"/>
            <a:ext cx="10058400" cy="4543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C691F-DD04-B60F-F76D-9449F0F3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73" y="1491030"/>
            <a:ext cx="6655233" cy="4137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688A4-0A40-2806-0CD3-97938A32E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047" y="5707734"/>
            <a:ext cx="6218459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3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336324-5533-09EE-9F8A-4D04F2EB3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467" y="1741917"/>
            <a:ext cx="3113678" cy="48729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1CC7D5-6035-6550-4364-5CF927A4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13" y="1741917"/>
            <a:ext cx="3317091" cy="511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80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circuit reference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What is SHORT CIRCUIT - Explained with Example | Basics of Electronics (youtube.com)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3"/>
              </a:rPr>
              <a:t>What is Short Circuit ? Easiest Explanation | </a:t>
            </a:r>
            <a:r>
              <a:rPr lang="en-US" dirty="0" err="1">
                <a:hlinkClick r:id="rId3"/>
              </a:rPr>
              <a:t>TheElectricalGuy</a:t>
            </a:r>
            <a:r>
              <a:rPr lang="en-US" dirty="0">
                <a:hlinkClick r:id="rId3"/>
              </a:rPr>
              <a:t> (youtube.com)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4"/>
              </a:rPr>
              <a:t>The Concept of Short Circuit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06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Thevenin’s Theorem: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4.8, 4.11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4.8, 4.11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4.36, 4.37, 4.38, 4.39, 4.41, 4.43, 4.44, 4.50(**), 4.51(**), 4.56, 4.59, 4.60, 4.61(***), 4.66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N:B: Please note that Circuits with Independent sources only, for Thevenin’s theorem!</a:t>
            </a:r>
            <a:endParaRPr lang="en-U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indent="0">
              <a:lnSpc>
                <a:spcPct val="115000"/>
              </a:lnSpc>
              <a:spcBef>
                <a:spcPts val="0"/>
              </a:spcBef>
              <a:buNone/>
            </a:pP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11819-A50C-D6D6-3FBB-FCABEB21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0112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948</TotalTime>
  <Words>574</Words>
  <Application>Microsoft Office PowerPoint</Application>
  <PresentationFormat>Widescreen</PresentationFormat>
  <Paragraphs>89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Cambria Math</vt:lpstr>
      <vt:lpstr>Rockwell</vt:lpstr>
      <vt:lpstr>Rockwell Condensed</vt:lpstr>
      <vt:lpstr>Times New Roman</vt:lpstr>
      <vt:lpstr>Wingdings</vt:lpstr>
      <vt:lpstr>Wood Type</vt:lpstr>
      <vt:lpstr>Thevenin’s Theorem</vt:lpstr>
      <vt:lpstr>Why Thevenin’s theorem</vt:lpstr>
      <vt:lpstr>PowerPoint Presentation</vt:lpstr>
      <vt:lpstr>Thevenin’s technique</vt:lpstr>
      <vt:lpstr>PowerPoint Presentation</vt:lpstr>
      <vt:lpstr>Thevenin’s theorem</vt:lpstr>
      <vt:lpstr>Steps for thevenin</vt:lpstr>
      <vt:lpstr>Steps for thevenin</vt:lpstr>
      <vt:lpstr>Steps for thevenin</vt:lpstr>
      <vt:lpstr>Steps for thevenin</vt:lpstr>
      <vt:lpstr>Steps for thevenin</vt:lpstr>
      <vt:lpstr>Cases for finding r(Thevenin) or rth</vt:lpstr>
      <vt:lpstr>Cases for finding r(Thevenin) or rth (Not included in final)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PowerPoint Presentation</vt:lpstr>
      <vt:lpstr>PowerPoint Presentation</vt:lpstr>
      <vt:lpstr>PowerPoint Presentation</vt:lpstr>
      <vt:lpstr>PowerPoint Presentation</vt:lpstr>
      <vt:lpstr>Short circuit reference 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Superposition</dc:title>
  <dc:creator>Shafqat Rakin</dc:creator>
  <cp:lastModifiedBy>Shafqat Rakin</cp:lastModifiedBy>
  <cp:revision>49</cp:revision>
  <dcterms:created xsi:type="dcterms:W3CDTF">2024-03-17T15:42:52Z</dcterms:created>
  <dcterms:modified xsi:type="dcterms:W3CDTF">2024-04-15T14:54:51Z</dcterms:modified>
</cp:coreProperties>
</file>