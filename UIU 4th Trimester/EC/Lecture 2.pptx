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7" r:id="rId9"/>
    <p:sldId id="285" r:id="rId10"/>
    <p:sldId id="272" r:id="rId11"/>
    <p:sldId id="286" r:id="rId12"/>
    <p:sldId id="271" r:id="rId13"/>
    <p:sldId id="287" r:id="rId14"/>
    <p:sldId id="270" r:id="rId15"/>
    <p:sldId id="288" r:id="rId16"/>
    <p:sldId id="289" r:id="rId17"/>
    <p:sldId id="28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38" autoAdjust="0"/>
    <p:restoredTop sz="95196" autoAdjust="0"/>
  </p:normalViewPr>
  <p:slideViewPr>
    <p:cSldViewPr snapToGrid="0">
      <p:cViewPr varScale="1">
        <p:scale>
          <a:sx n="85" d="100"/>
          <a:sy n="85" d="100"/>
        </p:scale>
        <p:origin x="7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1D0DF-51B9-4C29-86BF-E0C8F8885C97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444BD6-95DA-4B58-BCA8-A915478A6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839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11EF7-C0AF-4704-96C1-7E3FADC57D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5CEE2B-6581-49C7-9C1F-C5E39795F6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C07F29-5930-4607-8939-D97550F02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5856F-E7AB-4FE7-AD15-0CB81393319A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76F00-9B37-4E69-8B5D-6A41B5FFC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9AE42-764B-40A7-8EAE-41D59F66A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5ACA8-E4EC-4CBD-B7E6-A3207CEA7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787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17087-2659-4C93-815F-169B3D9F6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57125-B3A6-4B03-A138-22771D16E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E09B3-CFFB-4B10-BFAC-9B78D1794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5856F-E7AB-4FE7-AD15-0CB81393319A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D7000-A424-42D5-ACE3-469594DA1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AF985-D934-437A-AD00-BC723D630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5ACA8-E4EC-4CBD-B7E6-A3207CEA7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613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B1094-A311-4F52-AFC5-07EDF9639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C7C66-BE13-4527-90D3-A2C0ECCDA3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0A60CB-8A83-4E0A-8F79-7D1B7391F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5856F-E7AB-4FE7-AD15-0CB81393319A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8B745D-F832-4C50-B727-F05820498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D9175-33EF-47E7-BB54-065A93A7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5ACA8-E4EC-4CBD-B7E6-A3207CEA7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284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A30AC-5FFD-45E4-B24C-6546E6A2C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420A1-2CB8-49D9-9918-56E445CCAD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62B808-9D16-428E-B75C-F992521C4D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83C7F5-4D9F-42E2-86E8-CECC0B40B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5856F-E7AB-4FE7-AD15-0CB81393319A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548561-9AC3-4B2A-AC21-6A39D73B8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4642A1-9B40-4E16-BEF7-16EDB597D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5ACA8-E4EC-4CBD-B7E6-A3207CEA7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086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49EF4-73A3-4B1B-A2C3-C24D85840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F80970-D040-434F-9F5E-A0A6D099B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F96FE4-DE6F-48A7-9B0C-5806DC4C54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2FF299-67CE-4626-A8FB-15C500BA1B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CA1A5-3C11-4C31-87BD-ED179C2721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D69644-FD82-4B2E-9B75-8026B53CF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5856F-E7AB-4FE7-AD15-0CB81393319A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ACB605-6D6F-44B6-8975-3F1832FD7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EB8AB0-6B9A-4EB9-94D3-DBBBD9812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5ACA8-E4EC-4CBD-B7E6-A3207CEA7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277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13248-63C7-4DEB-8D69-5EBF21EBC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D91440-7E2D-4765-B418-08169C3BC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5856F-E7AB-4FE7-AD15-0CB81393319A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10B0E7-5B0A-447A-BFD5-5F11FCAA0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48AD86-DB52-43E4-9F39-8F251AC1C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5ACA8-E4EC-4CBD-B7E6-A3207CEA7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574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8B045F-F651-40E1-AE65-EC09C691E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5856F-E7AB-4FE7-AD15-0CB81393319A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C1CAED-A47E-4CFF-B603-C2517E69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B8B61C-5EF2-4700-8C91-A61AA65EC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5ACA8-E4EC-4CBD-B7E6-A3207CEA7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860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B964F-31B8-4EA4-82C1-1E116397D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0A15D-2756-4AB3-80E5-10B636C4C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F1D860-F808-4EA3-B312-3CA4A8A4DE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76216C-E9CC-4E09-9219-232B0BAEB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5856F-E7AB-4FE7-AD15-0CB81393319A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4EA407-0B66-4E5F-9581-1E11FE873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70C649-D856-4347-85E7-9FAF12517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5ACA8-E4EC-4CBD-B7E6-A3207CEA7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947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18939-F21E-442D-8F94-C43F70550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6D6FA6-A68F-4AED-A17A-88DCB1450C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9FA83-DB85-4E74-A619-2AAA6D8E80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B7C38D-D43E-4D59-922A-67DEDA0EA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5856F-E7AB-4FE7-AD15-0CB81393319A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9D5F5D-C88A-4598-A3A1-95275FD39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A97772-6FFD-4C6A-942F-FCBB598F9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5ACA8-E4EC-4CBD-B7E6-A3207CEA7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557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990A8-7A36-4172-B083-CB3779E29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8A8A4-F540-4163-B047-7A73DCF8B2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6DE857-068E-4DF5-94A2-1E536BC20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5856F-E7AB-4FE7-AD15-0CB81393319A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CEA2D-5675-4006-94B7-8AFC3B6AB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0C86F-B1BD-4271-BED5-43662F003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5ACA8-E4EC-4CBD-B7E6-A3207CEA7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964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3AEAC9-30D0-466F-A1B5-E77674AD31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4311F5-5671-439C-B409-7D5177D69E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DBF816-E6A6-4111-BF96-545C8D2C8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5856F-E7AB-4FE7-AD15-0CB81393319A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215CD-36ED-4209-AC76-2DCF3EBE3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6441E-CA35-4C79-9F1F-AD3C56101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5ACA8-E4EC-4CBD-B7E6-A3207CEA7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455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C7E098-E87D-4780-BAB3-430A4D32B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447B3B-3F59-42D6-8715-5AD654F75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C515B-D921-494B-BE3A-160E1C3AEA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15856F-E7AB-4FE7-AD15-0CB81393319A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CAFCE-00BD-4B90-BBA3-24B5C3F10E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7A021-B979-413B-AEB5-7F0310414E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F5ACA8-E4EC-4CBD-B7E6-A3207CEA7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774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shafqat@cse.uiu.ac.bd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89ED1AA-8684-4D37-B208-8777E1A7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raphic 33">
            <a:extLst>
              <a:ext uri="{FF2B5EF4-FFF2-40B4-BE49-F238E27FC236}">
                <a16:creationId xmlns:a16="http://schemas.microsoft.com/office/drawing/2014/main" id="{4180E01B-B1F4-437C-807D-1C930718E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0784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90FCC3-69E7-4EBF-B0B2-1575E0EE3A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8716" y="955309"/>
            <a:ext cx="7074568" cy="2898975"/>
          </a:xfrm>
        </p:spPr>
        <p:txBody>
          <a:bodyPr>
            <a:normAutofit/>
          </a:bodyPr>
          <a:lstStyle/>
          <a:p>
            <a:r>
              <a:rPr lang="en-US" sz="6600" dirty="0">
                <a:solidFill>
                  <a:srgbClr val="FFFFFF"/>
                </a:solidFill>
              </a:rPr>
              <a:t>Electrical Circuits</a:t>
            </a:r>
            <a:br>
              <a:rPr lang="en-US" sz="6600" dirty="0">
                <a:solidFill>
                  <a:srgbClr val="FFFFFF"/>
                </a:solidFill>
              </a:rPr>
            </a:br>
            <a:r>
              <a:rPr lang="en-US" sz="6600" dirty="0">
                <a:solidFill>
                  <a:srgbClr val="FFFFFF"/>
                </a:solidFill>
              </a:rPr>
              <a:t>Power Calculation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41F77738-2AF0-4750-A0C7-F97C2C175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ubtitle 4">
            <a:extLst>
              <a:ext uri="{FF2B5EF4-FFF2-40B4-BE49-F238E27FC236}">
                <a16:creationId xmlns:a16="http://schemas.microsoft.com/office/drawing/2014/main" id="{EC6A8E65-51F6-A63E-4A8C-FDE3DA477DE9}"/>
              </a:ext>
            </a:extLst>
          </p:cNvPr>
          <p:cNvSpPr>
            <a:spLocks noGrp="1"/>
          </p:cNvSpPr>
          <p:nvPr/>
        </p:nvSpPr>
        <p:spPr>
          <a:xfrm>
            <a:off x="1998452" y="4564938"/>
            <a:ext cx="3084537" cy="1066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95"/>
              </a:spcBef>
              <a:buNone/>
            </a:pPr>
            <a:r>
              <a:rPr lang="en-US" sz="1600" spc="-5" dirty="0">
                <a:solidFill>
                  <a:schemeClr val="bg1"/>
                </a:solidFill>
                <a:latin typeface="Arial"/>
                <a:cs typeface="Arial"/>
              </a:rPr>
              <a:t>Md. Shafqat </a:t>
            </a:r>
            <a:r>
              <a:rPr lang="en-US" sz="1600" spc="-5" dirty="0" err="1">
                <a:solidFill>
                  <a:schemeClr val="bg1"/>
                </a:solidFill>
                <a:latin typeface="Arial"/>
                <a:cs typeface="Arial"/>
              </a:rPr>
              <a:t>Talukder</a:t>
            </a:r>
            <a:r>
              <a:rPr lang="en-US" sz="1600" spc="-5" dirty="0">
                <a:solidFill>
                  <a:schemeClr val="bg1"/>
                </a:solidFill>
                <a:latin typeface="Arial"/>
                <a:cs typeface="Arial"/>
              </a:rPr>
              <a:t> Rakin</a:t>
            </a:r>
            <a:endParaRPr lang="en-US" sz="16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0" marR="5080" indent="0">
              <a:lnSpc>
                <a:spcPct val="100000"/>
              </a:lnSpc>
              <a:buNone/>
            </a:pPr>
            <a:r>
              <a:rPr lang="en-US" sz="1600" spc="-5" dirty="0">
                <a:solidFill>
                  <a:schemeClr val="bg1"/>
                </a:solidFill>
                <a:latin typeface="Arial"/>
                <a:cs typeface="Arial"/>
              </a:rPr>
              <a:t>Lecturer, Department of CSE,  </a:t>
            </a:r>
          </a:p>
          <a:p>
            <a:pPr marL="0" marR="5080" indent="0">
              <a:lnSpc>
                <a:spcPct val="100000"/>
              </a:lnSpc>
              <a:buNone/>
            </a:pPr>
            <a:r>
              <a:rPr lang="en-US" sz="1600" spc="-5" dirty="0">
                <a:solidFill>
                  <a:schemeClr val="bg1"/>
                </a:solidFill>
                <a:latin typeface="Arial"/>
                <a:cs typeface="Arial"/>
              </a:rPr>
              <a:t>United International</a:t>
            </a:r>
            <a:r>
              <a:rPr lang="en-US" sz="1600" spc="1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1600" spc="-5" dirty="0">
                <a:solidFill>
                  <a:schemeClr val="bg1"/>
                </a:solidFill>
                <a:latin typeface="Arial"/>
                <a:cs typeface="Arial"/>
              </a:rPr>
              <a:t>University</a:t>
            </a:r>
          </a:p>
          <a:p>
            <a:pPr marL="0" marR="5080" indent="0">
              <a:lnSpc>
                <a:spcPct val="100000"/>
              </a:lnSpc>
              <a:buNone/>
            </a:pPr>
            <a:r>
              <a:rPr lang="en-US" sz="1600" spc="-5" dirty="0">
                <a:solidFill>
                  <a:schemeClr val="bg1"/>
                </a:solidFill>
                <a:latin typeface="Arial"/>
                <a:cs typeface="Arial"/>
              </a:rPr>
              <a:t>Email id : </a:t>
            </a:r>
            <a:r>
              <a:rPr lang="en-US" sz="1600" spc="-5" dirty="0">
                <a:solidFill>
                  <a:schemeClr val="bg1"/>
                </a:solidFill>
                <a:latin typeface="Arial"/>
                <a:cs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shafqat@cse.uiu.ac.bd</a:t>
            </a:r>
            <a:endParaRPr lang="en-US" sz="1600" dirty="0">
              <a:solidFill>
                <a:schemeClr val="bg1"/>
              </a:solidFill>
              <a:latin typeface="Arial"/>
              <a:cs typeface="Arial"/>
            </a:endParaRPr>
          </a:p>
          <a:p>
            <a:endParaRPr 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4C05329-BFD2-BD2C-16B7-BBC619E34582}"/>
              </a:ext>
            </a:extLst>
          </p:cNvPr>
          <p:cNvSpPr txBox="1"/>
          <p:nvPr/>
        </p:nvSpPr>
        <p:spPr>
          <a:xfrm>
            <a:off x="6548991" y="5090761"/>
            <a:ext cx="3686805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95"/>
              </a:spcBef>
            </a:pPr>
            <a:r>
              <a:rPr sz="2400" spc="-5" dirty="0">
                <a:solidFill>
                  <a:schemeClr val="bg1"/>
                </a:solidFill>
                <a:latin typeface="Arial"/>
                <a:cs typeface="Arial"/>
              </a:rPr>
              <a:t>Courtesy:</a:t>
            </a:r>
            <a:r>
              <a:rPr lang="en-US" sz="2400" spc="-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Rifat Bin Rashid</a:t>
            </a:r>
          </a:p>
        </p:txBody>
      </p:sp>
      <p:sp>
        <p:nvSpPr>
          <p:cNvPr id="3" name="object 5">
            <a:extLst>
              <a:ext uri="{FF2B5EF4-FFF2-40B4-BE49-F238E27FC236}">
                <a16:creationId xmlns:a16="http://schemas.microsoft.com/office/drawing/2014/main" id="{F434273A-DAE6-DC09-9EE1-C866F1A89251}"/>
              </a:ext>
            </a:extLst>
          </p:cNvPr>
          <p:cNvSpPr txBox="1"/>
          <p:nvPr/>
        </p:nvSpPr>
        <p:spPr>
          <a:xfrm>
            <a:off x="1600563" y="3719074"/>
            <a:ext cx="8987825" cy="2276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95"/>
              </a:spcBef>
            </a:pPr>
            <a:r>
              <a:rPr lang="en-US" sz="1400" spc="-5" dirty="0">
                <a:solidFill>
                  <a:schemeClr val="bg1"/>
                </a:solidFill>
                <a:latin typeface="Arial"/>
                <a:cs typeface="Arial"/>
              </a:rPr>
              <a:t>Section 1.1, 1.2, 1.3, 1.4, 1.5, 1.6 from Fundamentals of Electric Circuits (5th Edition) by Alexandar and Sadiku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9606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3125A-A24B-48BD-B39F-E3B465828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3" y="1445494"/>
            <a:ext cx="3616856" cy="4376572"/>
          </a:xfrm>
        </p:spPr>
        <p:txBody>
          <a:bodyPr anchor="ctr">
            <a:normAutofit/>
          </a:bodyPr>
          <a:lstStyle/>
          <a:p>
            <a:r>
              <a:rPr lang="en-US" sz="4800"/>
              <a:t>Independent Power Sources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F2AC85-FAA0-4844-813F-83C04D738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7636" y="0"/>
            <a:ext cx="7281316" cy="6858000"/>
          </a:xfrm>
          <a:custGeom>
            <a:avLst/>
            <a:gdLst>
              <a:gd name="connsiteX0" fmla="*/ 361354 w 7281316"/>
              <a:gd name="connsiteY0" fmla="*/ 0 h 6858000"/>
              <a:gd name="connsiteX1" fmla="*/ 7281316 w 7281316"/>
              <a:gd name="connsiteY1" fmla="*/ 0 h 6858000"/>
              <a:gd name="connsiteX2" fmla="*/ 7281316 w 7281316"/>
              <a:gd name="connsiteY2" fmla="*/ 6858000 h 6858000"/>
              <a:gd name="connsiteX3" fmla="*/ 696735 w 7281316"/>
              <a:gd name="connsiteY3" fmla="*/ 6858000 h 6858000"/>
              <a:gd name="connsiteX4" fmla="*/ 690849 w 7281316"/>
              <a:gd name="connsiteY4" fmla="*/ 6842426 h 6858000"/>
              <a:gd name="connsiteX5" fmla="*/ 335637 w 7281316"/>
              <a:gd name="connsiteY5" fmla="*/ 9472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281316" h="6858000">
                <a:moveTo>
                  <a:pt x="361354" y="0"/>
                </a:moveTo>
                <a:lnTo>
                  <a:pt x="7281316" y="0"/>
                </a:lnTo>
                <a:lnTo>
                  <a:pt x="7281316" y="6858000"/>
                </a:lnTo>
                <a:lnTo>
                  <a:pt x="696735" y="6858000"/>
                </a:lnTo>
                <a:lnTo>
                  <a:pt x="690849" y="6842426"/>
                </a:lnTo>
                <a:cubicBezTo>
                  <a:pt x="-65870" y="4704140"/>
                  <a:pt x="-226206" y="2374054"/>
                  <a:pt x="335637" y="9472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9CC0F1E-BAA2-47B1-8F83-7ECB9FD9E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89558" y="0"/>
            <a:ext cx="6999394" cy="6858000"/>
          </a:xfrm>
          <a:custGeom>
            <a:avLst/>
            <a:gdLst>
              <a:gd name="connsiteX0" fmla="*/ 6999394 w 6999394"/>
              <a:gd name="connsiteY0" fmla="*/ 0 h 6858000"/>
              <a:gd name="connsiteX1" fmla="*/ 6999394 w 6999394"/>
              <a:gd name="connsiteY1" fmla="*/ 6858000 h 6858000"/>
              <a:gd name="connsiteX2" fmla="*/ 717029 w 6999394"/>
              <a:gd name="connsiteY2" fmla="*/ 6858000 h 6858000"/>
              <a:gd name="connsiteX3" fmla="*/ 623642 w 6999394"/>
              <a:gd name="connsiteY3" fmla="*/ 6599363 h 6858000"/>
              <a:gd name="connsiteX4" fmla="*/ 319533 w 6999394"/>
              <a:gd name="connsiteY4" fmla="*/ 193787 h 6858000"/>
              <a:gd name="connsiteX5" fmla="*/ 371685 w 6999394"/>
              <a:gd name="connsiteY5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99394" h="6858000">
                <a:moveTo>
                  <a:pt x="6999394" y="0"/>
                </a:moveTo>
                <a:lnTo>
                  <a:pt x="6999394" y="6858000"/>
                </a:lnTo>
                <a:lnTo>
                  <a:pt x="717029" y="6858000"/>
                </a:lnTo>
                <a:lnTo>
                  <a:pt x="623642" y="6599363"/>
                </a:lnTo>
                <a:cubicBezTo>
                  <a:pt x="-67685" y="4563346"/>
                  <a:pt x="-206622" y="2355719"/>
                  <a:pt x="319533" y="193787"/>
                </a:cubicBezTo>
                <a:lnTo>
                  <a:pt x="371685" y="1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3DB67-DBA9-46B3-90D5-2A677BA07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399032"/>
            <a:ext cx="5501834" cy="4471416"/>
          </a:xfrm>
        </p:spPr>
        <p:txBody>
          <a:bodyPr anchor="ctr">
            <a:normAutofit/>
          </a:bodyPr>
          <a:lstStyle/>
          <a:p>
            <a:r>
              <a:rPr lang="en-US" sz="2200">
                <a:solidFill>
                  <a:schemeClr val="bg1"/>
                </a:solidFill>
              </a:rPr>
              <a:t>An ideal independent source is an </a:t>
            </a:r>
            <a:r>
              <a:rPr lang="en-US" sz="2200" b="1">
                <a:solidFill>
                  <a:schemeClr val="bg1"/>
                </a:solidFill>
              </a:rPr>
              <a:t>active element </a:t>
            </a:r>
            <a:r>
              <a:rPr lang="en-US" sz="2200">
                <a:solidFill>
                  <a:schemeClr val="bg1"/>
                </a:solidFill>
              </a:rPr>
              <a:t>that provides a specified voltage or current that is completely independent of other circuit elements.</a:t>
            </a:r>
          </a:p>
          <a:p>
            <a:pPr lvl="1"/>
            <a:r>
              <a:rPr lang="en-US" sz="2200">
                <a:solidFill>
                  <a:schemeClr val="bg1"/>
                </a:solidFill>
              </a:rPr>
              <a:t>An active element is one that can generate energy</a:t>
            </a:r>
          </a:p>
          <a:p>
            <a:pPr lvl="1"/>
            <a:r>
              <a:rPr lang="en-US" sz="2200">
                <a:solidFill>
                  <a:schemeClr val="bg1"/>
                </a:solidFill>
              </a:rPr>
              <a:t>A passive element is one that cannot generate energy</a:t>
            </a:r>
          </a:p>
        </p:txBody>
      </p:sp>
    </p:spTree>
    <p:extLst>
      <p:ext uri="{BB962C8B-B14F-4D97-AF65-F5344CB8AC3E}">
        <p14:creationId xmlns:p14="http://schemas.microsoft.com/office/powerpoint/2010/main" val="6068752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C62F6-9872-43BA-8AE3-E55D58944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 fontScale="90000"/>
          </a:bodyPr>
          <a:lstStyle/>
          <a:p>
            <a:r>
              <a:rPr lang="en-US" sz="4200" dirty="0"/>
              <a:t>Independent Voltage Sources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CD495-D2A7-4CD1-BE0F-8C678CC5B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 dirty="0"/>
              <a:t>Independent Voltage Sources provide a specified amount of voltage, irrespective of other circuit parameters</a:t>
            </a:r>
          </a:p>
          <a:p>
            <a:r>
              <a:rPr lang="en-US" sz="2200" dirty="0"/>
              <a:t>It provides necessary amount of current to the circuit to maintain its voltage supply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3FA7C5-D34D-412F-A75E-67CF8DFA7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816586"/>
            <a:ext cx="6903720" cy="5224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565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5CB858-BA55-4149-AC33-D1D75531D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324" y="830984"/>
            <a:ext cx="3429001" cy="1527608"/>
          </a:xfrm>
        </p:spPr>
        <p:txBody>
          <a:bodyPr anchor="b">
            <a:normAutofit/>
          </a:bodyPr>
          <a:lstStyle/>
          <a:p>
            <a:r>
              <a:rPr lang="en-US" sz="4000" dirty="0"/>
              <a:t>Independent Current Source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0EDFD-C46D-4D70-A4FC-A2EE66ED6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 dirty="0"/>
              <a:t>Provides a specific amount of current to the circuit</a:t>
            </a:r>
          </a:p>
          <a:p>
            <a:r>
              <a:rPr lang="en-US" sz="2200" dirty="0"/>
              <a:t>It maintains necessary voltage to provide the specified amount of current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01D16D-04D0-498E-BB28-A1CC45FB4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3068" y="1257155"/>
            <a:ext cx="6381121" cy="4343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897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1C7F37-ED51-4D3C-8145-124692E4D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/>
              <a:t>Dependent Source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6BE81-439C-4F8A-AE17-5735E9B453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2200"/>
              <a:t>An ideal dependent (or controlled) source is an active element in which the source quantity is controlled by another voltage or current.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87F2E6-147D-4002-8C5B-75F43B10E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204471"/>
            <a:ext cx="5458968" cy="444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283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A4217D-9371-41FA-9453-89E635E25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4600"/>
              <a:t>Example of a dependent source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3D6C102-618C-42F3-A349-F3284EB7E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2200" dirty="0"/>
              <a:t>The source on the right is:</a:t>
            </a:r>
          </a:p>
          <a:p>
            <a:pPr lvl="1"/>
            <a:r>
              <a:rPr lang="en-US" sz="1800" dirty="0"/>
              <a:t>A dependent source (It is in a diamond shape)</a:t>
            </a:r>
          </a:p>
          <a:p>
            <a:pPr lvl="1"/>
            <a:r>
              <a:rPr lang="en-US" sz="1800" dirty="0"/>
              <a:t>A voltage source (It has +/- terminals marked on it)</a:t>
            </a:r>
          </a:p>
          <a:p>
            <a:pPr lvl="1"/>
            <a:r>
              <a:rPr lang="en-US" sz="1800" dirty="0"/>
              <a:t>The value on its label (10i) is the voltage of the source, and not the current (Since it is a voltage source)</a:t>
            </a:r>
          </a:p>
          <a:p>
            <a:pPr lvl="1"/>
            <a:r>
              <a:rPr lang="en-US" sz="1800" dirty="0"/>
              <a:t>The source depends on the current of the middle branch (</a:t>
            </a:r>
            <a:r>
              <a:rPr lang="en-US" sz="1800" dirty="0" err="1"/>
              <a:t>i</a:t>
            </a:r>
            <a:r>
              <a:rPr lang="en-US" sz="1800" dirty="0"/>
              <a:t>). So, it is a current controlled source.</a:t>
            </a:r>
          </a:p>
          <a:p>
            <a:pPr lvl="1"/>
            <a:endParaRPr lang="en-US" sz="1800" dirty="0"/>
          </a:p>
          <a:p>
            <a:pPr lvl="1"/>
            <a:endParaRPr lang="en-US" sz="1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2CB445-F169-4365-8DDA-4A61A1BC9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409182"/>
            <a:ext cx="5458968" cy="403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935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AEA5E-DD56-40CA-B5C3-930521FA4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428" y="627564"/>
            <a:ext cx="7474172" cy="1325563"/>
          </a:xfrm>
        </p:spPr>
        <p:txBody>
          <a:bodyPr>
            <a:normAutofit/>
          </a:bodyPr>
          <a:lstStyle/>
          <a:p>
            <a:r>
              <a:rPr lang="en-US" dirty="0"/>
              <a:t>Types of Dependent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C038D-6865-4F12-A166-5AC693A6F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429" y="2278173"/>
            <a:ext cx="6467867" cy="3450613"/>
          </a:xfrm>
        </p:spPr>
        <p:txBody>
          <a:bodyPr anchor="ctr">
            <a:normAutofit/>
          </a:bodyPr>
          <a:lstStyle/>
          <a:p>
            <a:r>
              <a:rPr lang="en-US" sz="2400" dirty="0"/>
              <a:t>There are four possible types of dependent sources, namely: </a:t>
            </a:r>
          </a:p>
          <a:p>
            <a:pPr marL="0" indent="0">
              <a:buNone/>
            </a:pPr>
            <a:endParaRPr lang="en-US" sz="2400" dirty="0"/>
          </a:p>
          <a:p>
            <a:pPr lvl="1"/>
            <a:r>
              <a:rPr lang="en-US" dirty="0"/>
              <a:t>A voltage-controlled voltage source (VCVS).</a:t>
            </a:r>
          </a:p>
          <a:p>
            <a:pPr lvl="1"/>
            <a:r>
              <a:rPr lang="en-US" dirty="0"/>
              <a:t>A current-controlled voltage source (CCVS).</a:t>
            </a:r>
          </a:p>
          <a:p>
            <a:pPr lvl="1"/>
            <a:r>
              <a:rPr lang="en-US" dirty="0"/>
              <a:t>A voltage-controlled current source (VCCS). </a:t>
            </a:r>
          </a:p>
          <a:p>
            <a:pPr lvl="1"/>
            <a:r>
              <a:rPr lang="en-US" dirty="0"/>
              <a:t>A current-controlled current source (CCCS).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15400" y="2358913"/>
            <a:ext cx="2140172" cy="2140172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High Voltage">
            <a:extLst>
              <a:ext uri="{FF2B5EF4-FFF2-40B4-BE49-F238E27FC236}">
                <a16:creationId xmlns:a16="http://schemas.microsoft.com/office/drawing/2014/main" id="{6C11E171-D27D-4A6B-8072-709222F8CB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13987" y="2857501"/>
            <a:ext cx="1142998" cy="1142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361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AEA5E-DD56-40CA-B5C3-930521FA4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428" y="627564"/>
            <a:ext cx="7474172" cy="1325563"/>
          </a:xfrm>
        </p:spPr>
        <p:txBody>
          <a:bodyPr>
            <a:normAutofit/>
          </a:bodyPr>
          <a:lstStyle/>
          <a:p>
            <a:r>
              <a:rPr lang="en-US" dirty="0"/>
              <a:t>Types of Dependent Sources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15400" y="2358913"/>
            <a:ext cx="2140172" cy="2140172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High Voltage">
            <a:extLst>
              <a:ext uri="{FF2B5EF4-FFF2-40B4-BE49-F238E27FC236}">
                <a16:creationId xmlns:a16="http://schemas.microsoft.com/office/drawing/2014/main" id="{6C11E171-D27D-4A6B-8072-709222F8CB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13987" y="2857501"/>
            <a:ext cx="1142998" cy="11429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AB9FF5-2ED1-BF0B-9E2B-A14C960235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1675" y="2075325"/>
            <a:ext cx="6061982" cy="423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619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AEA5E-DD56-40CA-B5C3-930521FA4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428" y="627564"/>
            <a:ext cx="7474172" cy="1325563"/>
          </a:xfrm>
        </p:spPr>
        <p:txBody>
          <a:bodyPr>
            <a:normAutofit/>
          </a:bodyPr>
          <a:lstStyle/>
          <a:p>
            <a:r>
              <a:rPr lang="en-US" dirty="0"/>
              <a:t>Types of Dependent Sources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15400" y="2358913"/>
            <a:ext cx="2140172" cy="2140172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High Voltage">
            <a:extLst>
              <a:ext uri="{FF2B5EF4-FFF2-40B4-BE49-F238E27FC236}">
                <a16:creationId xmlns:a16="http://schemas.microsoft.com/office/drawing/2014/main" id="{6C11E171-D27D-4A6B-8072-709222F8CB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13987" y="2857501"/>
            <a:ext cx="1142998" cy="11429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AB9FF5-2ED1-BF0B-9E2B-A14C960235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0850" y="1953127"/>
            <a:ext cx="6061982" cy="4234987"/>
          </a:xfrm>
          <a:prstGeom prst="rect">
            <a:avLst/>
          </a:prstGeom>
        </p:spPr>
      </p:pic>
      <p:pic>
        <p:nvPicPr>
          <p:cNvPr id="4" name="Graphic 3" descr="Checkmark">
            <a:extLst>
              <a:ext uri="{FF2B5EF4-FFF2-40B4-BE49-F238E27FC236}">
                <a16:creationId xmlns:a16="http://schemas.microsoft.com/office/drawing/2014/main" id="{D371168B-A783-5EDE-3721-271A315C62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22520" y="3677770"/>
            <a:ext cx="498586" cy="498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849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 Problem Practice: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37F679-9601-70B3-979C-4C9358D590E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035"/>
          <a:stretch/>
        </p:blipFill>
        <p:spPr>
          <a:xfrm>
            <a:off x="2953077" y="2091193"/>
            <a:ext cx="6285845" cy="31598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4D47115-C855-CE80-ED02-2BE97FB3ADDB}"/>
              </a:ext>
            </a:extLst>
          </p:cNvPr>
          <p:cNvSpPr txBox="1"/>
          <p:nvPr/>
        </p:nvSpPr>
        <p:spPr>
          <a:xfrm>
            <a:off x="1271295" y="1468407"/>
            <a:ext cx="80476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power supplied or absorbed by each element:</a:t>
            </a:r>
          </a:p>
        </p:txBody>
      </p:sp>
    </p:spTree>
    <p:extLst>
      <p:ext uri="{BB962C8B-B14F-4D97-AF65-F5344CB8AC3E}">
        <p14:creationId xmlns:p14="http://schemas.microsoft.com/office/powerpoint/2010/main" val="2639432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88315C0-F2A6-D2D9-3A9D-E2D7EA3A1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880" y="487425"/>
            <a:ext cx="9236240" cy="588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586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70FE33-3527-0E46-C1A1-1015D67F9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681" y="1005260"/>
            <a:ext cx="8007356" cy="51761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 Problem Practice:</a:t>
            </a:r>
          </a:p>
        </p:txBody>
      </p:sp>
    </p:spTree>
    <p:extLst>
      <p:ext uri="{BB962C8B-B14F-4D97-AF65-F5344CB8AC3E}">
        <p14:creationId xmlns:p14="http://schemas.microsoft.com/office/powerpoint/2010/main" val="7055362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2C150F7-C9DC-D7B8-A4A1-FB8C7A05E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289"/>
            <a:ext cx="5738357" cy="67214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2CBF95-55B4-AD91-4C29-180105ECB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6143" y="1215198"/>
            <a:ext cx="5761219" cy="4427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7933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 Problem Practice: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8B6715-73EF-BA91-9AB2-DC593FCBC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892" y="777903"/>
            <a:ext cx="7877755" cy="586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7980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66021E-B13D-8D83-7111-23166D7CC9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084" y="148305"/>
            <a:ext cx="4823878" cy="65613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6863C4-3AE0-A146-6798-FA037A784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8700" y="0"/>
            <a:ext cx="48119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0743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842ED-9241-2EED-6B92-33A47AF57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Math to Practice from the Book for Exam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00BC1-BA28-FBAA-2EC5-898CB0225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u="sng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Chapter 1</a:t>
            </a:r>
            <a:br>
              <a:rPr lang="en-US" sz="1800" b="1" u="sng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n-US" sz="1800" u="sng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457200" lvl="1">
              <a:lnSpc>
                <a:spcPct val="115000"/>
              </a:lnSpc>
              <a:spcBef>
                <a:spcPts val="0"/>
              </a:spcBef>
            </a:pPr>
            <a:r>
              <a:rPr lang="en-US" sz="2000" b="1" u="sng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Example:</a:t>
            </a:r>
            <a:endParaRPr lang="en-US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914400" lvl="2">
              <a:lnSpc>
                <a:spcPct val="115000"/>
              </a:lnSpc>
              <a:spcBef>
                <a:spcPts val="0"/>
              </a:spcBef>
            </a:pPr>
            <a:r>
              <a:rPr lang="en-US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1.2, 1.3, 1.4, 1.5, 1.7</a:t>
            </a:r>
          </a:p>
          <a:p>
            <a:pPr marL="457200" lvl="1">
              <a:lnSpc>
                <a:spcPct val="115000"/>
              </a:lnSpc>
              <a:spcBef>
                <a:spcPts val="0"/>
              </a:spcBef>
            </a:pPr>
            <a:r>
              <a:rPr lang="en-US" sz="2000" b="1" u="sng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Practice Problem:</a:t>
            </a:r>
            <a:endParaRPr lang="en-US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914400" lvl="2">
              <a:lnSpc>
                <a:spcPct val="115000"/>
              </a:lnSpc>
              <a:spcBef>
                <a:spcPts val="0"/>
              </a:spcBef>
            </a:pPr>
            <a:r>
              <a:rPr lang="en-US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1.2, 1.3, 1.4, 1.5, 1.7</a:t>
            </a:r>
          </a:p>
          <a:p>
            <a:pPr marL="457200" lvl="1">
              <a:lnSpc>
                <a:spcPct val="115000"/>
              </a:lnSpc>
              <a:spcBef>
                <a:spcPts val="0"/>
              </a:spcBef>
            </a:pPr>
            <a:r>
              <a:rPr lang="en-US" sz="2000" b="1" u="sng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Problem:</a:t>
            </a:r>
            <a:endParaRPr lang="en-US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914400" lvl="2">
              <a:lnSpc>
                <a:spcPct val="115000"/>
              </a:lnSpc>
              <a:spcBef>
                <a:spcPts val="0"/>
              </a:spcBef>
            </a:pPr>
            <a:r>
              <a:rPr lang="en-US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1.2(from a to e), 1.3 (a, b &amp; c), 1.6, 1.7, 1.8, 1.9, 1.11, 1.12, 1.13, 1.16, 1.18, 1.19, 1.20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56238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E678D-8BCE-B2D6-42D8-E7C87C239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01185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</TotalTime>
  <Words>419</Words>
  <Application>Microsoft Office PowerPoint</Application>
  <PresentationFormat>Widescreen</PresentationFormat>
  <Paragraphs>47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Office Theme</vt:lpstr>
      <vt:lpstr>Electrical Circuits Power Calculation</vt:lpstr>
      <vt:lpstr>Independent Power Sources</vt:lpstr>
      <vt:lpstr>Independent Voltage Sources</vt:lpstr>
      <vt:lpstr>Independent Current Source</vt:lpstr>
      <vt:lpstr>Dependent Source</vt:lpstr>
      <vt:lpstr>Example of a dependent source</vt:lpstr>
      <vt:lpstr>Types of Dependent Sources</vt:lpstr>
      <vt:lpstr>Types of Dependent Sources</vt:lpstr>
      <vt:lpstr>Types of Dependent Sources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Math to Practice from the Book for Exam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Electrical Circuits Power Calculation</dc:title>
  <dc:creator>Sajeed Mehrab</dc:creator>
  <cp:lastModifiedBy>Shafqat Rakin</cp:lastModifiedBy>
  <cp:revision>16</cp:revision>
  <dcterms:created xsi:type="dcterms:W3CDTF">2021-07-05T19:20:03Z</dcterms:created>
  <dcterms:modified xsi:type="dcterms:W3CDTF">2024-01-29T17:52:51Z</dcterms:modified>
</cp:coreProperties>
</file>