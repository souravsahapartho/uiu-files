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91" r:id="rId3"/>
    <p:sldId id="257" r:id="rId4"/>
    <p:sldId id="258" r:id="rId5"/>
    <p:sldId id="262" r:id="rId6"/>
    <p:sldId id="264" r:id="rId7"/>
    <p:sldId id="279" r:id="rId8"/>
    <p:sldId id="302" r:id="rId9"/>
    <p:sldId id="292" r:id="rId10"/>
    <p:sldId id="303" r:id="rId11"/>
    <p:sldId id="293" r:id="rId12"/>
    <p:sldId id="304" r:id="rId13"/>
    <p:sldId id="294" r:id="rId14"/>
    <p:sldId id="305" r:id="rId15"/>
    <p:sldId id="295" r:id="rId16"/>
    <p:sldId id="306" r:id="rId17"/>
    <p:sldId id="296" r:id="rId18"/>
    <p:sldId id="307" r:id="rId19"/>
    <p:sldId id="297" r:id="rId20"/>
    <p:sldId id="308" r:id="rId21"/>
    <p:sldId id="298" r:id="rId22"/>
    <p:sldId id="309" r:id="rId23"/>
    <p:sldId id="299" r:id="rId24"/>
    <p:sldId id="310" r:id="rId25"/>
    <p:sldId id="300" r:id="rId26"/>
    <p:sldId id="311" r:id="rId27"/>
    <p:sldId id="301" r:id="rId28"/>
    <p:sldId id="312" r:id="rId29"/>
    <p:sldId id="289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-582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8BB452F-DC42-FDBE-862B-9E0900F1B4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F2964A9-4B74-E4A2-51FC-E1C441BDD4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CD327B2-96D3-1028-4C09-BB22DA462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9287C-4E38-4D7B-8EE9-A163BF663D86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8FF431C-07D4-85E6-4BFD-84696F17C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F0F7EEB-CBD0-CA55-AC7D-01A3D2967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7EBA8-D253-4CC7-8CD8-346EF46B7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532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0B7B920-B80B-BAE4-DDF4-6C446D683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9345137-68CC-2C0D-9B73-039F67632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AE82047-D199-C438-7C20-0345FB444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9287C-4E38-4D7B-8EE9-A163BF663D86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6968813-8423-7032-00A7-0DEB67B57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DB1631B-35F3-2817-FB59-8DC06CCC1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7EBA8-D253-4CC7-8CD8-346EF46B7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310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3C86B53-9B37-9D65-3820-4FFE213EE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0B3C10D-9258-6CE5-29B3-ED5D655052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01EB094-62D2-4AA4-8ECD-8374D61C5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9287C-4E38-4D7B-8EE9-A163BF663D86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218BFBE-4ABB-23D1-37B9-2799FF562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68B4291-94EE-45C4-B523-37E970726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7EBA8-D253-4CC7-8CD8-346EF46B7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65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46C2670-749F-0D40-658F-A565556EF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248BCC0-5D44-CF39-9786-D8090EBF74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F1DCBC6-BA02-F226-EFCB-2F7C21F5A8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915C681-86F4-BABD-8FE6-607E25871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9287C-4E38-4D7B-8EE9-A163BF663D86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02ED9FC-DEFE-26EE-B6F0-D57E7C96C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A271172-5EE7-2043-81D3-F5FF1738F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7EBA8-D253-4CC7-8CD8-346EF46B7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743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0E0342E-1035-235B-F337-217E264DB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A066726-7BFC-0D4D-4A15-30F814808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2AB22BD-37CC-1B88-2207-39BCB310C3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71A41B85-FFC0-CC96-4F12-AE069F3752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478CEE19-D9C1-CC3C-25BF-808477FAC1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B2694AA6-1892-A2C4-8104-F2E7CE9F6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9287C-4E38-4D7B-8EE9-A163BF663D86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24B5F6FB-E18B-46D8-1B9F-469B6D0AB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6FE35308-0DA4-D20B-8856-11E6B535E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7EBA8-D253-4CC7-8CD8-346EF46B7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626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98673AA-B484-B566-43FC-BD4D19F2D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9DF2FDAC-87CE-77F0-7130-6FA98C11E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9287C-4E38-4D7B-8EE9-A163BF663D86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2EFE54E-8D80-2D35-2389-09E047B8B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7EB568-CC96-2FE3-8308-82991A850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7EBA8-D253-4CC7-8CD8-346EF46B7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412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6CBFE3F3-328C-DFE3-691A-70DA14394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9287C-4E38-4D7B-8EE9-A163BF663D86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A29CA31E-164F-F0B6-612D-00A8E336E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6226D97-DA6E-4703-9D72-01C0FC56F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7EBA8-D253-4CC7-8CD8-346EF46B7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135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7E3901F-9CCA-1A3D-D259-532B062C9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18DAC37-7431-4F5A-0C6B-CF8E34EA3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C07D765-FB68-224A-46BB-2CB8258B09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07B79FA-FD18-5AB6-8D72-CE98EEB91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9287C-4E38-4D7B-8EE9-A163BF663D86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0AD4713-2F4E-DF14-4BD8-A8D24FD41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32BE555-4D94-BA9C-7ED5-9B36B8CC3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7EBA8-D253-4CC7-8CD8-346EF46B7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608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F87E2A-C88B-5E20-DB36-5D0058318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27C0A8B5-3454-883E-8229-5DB15D054D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4DDD49C-61D7-EAA8-21CF-903A2A6275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EF735F3-F938-E9A7-45F1-523B580EC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9287C-4E38-4D7B-8EE9-A163BF663D86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1BE82A3-0D49-AA19-0D79-B9DB1D2BB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A5C4A0A-633F-E2A9-F6D8-CE97767EA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7EBA8-D253-4CC7-8CD8-346EF46B7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112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E27E355-8FB6-F210-CD97-B2C734997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AD9C120-7F86-C229-7B05-832B21DCCE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B340AA2-FAFA-1095-705F-7071E1D5D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9287C-4E38-4D7B-8EE9-A163BF663D86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8D70680-B309-0DAB-D731-57147FACB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DEEC948-2FE9-997F-8364-A38110472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7EBA8-D253-4CC7-8CD8-346EF46B7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080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642125FF-A1B6-184C-9DAA-B214727620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2304D27B-23DA-4D09-C9A5-513A9825D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44D4026-26C9-8EDC-F429-EBBBAD543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9287C-4E38-4D7B-8EE9-A163BF663D86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06C4B9C-F508-F4AF-3FB1-626FB37E8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BAE5F32-F535-BBB2-F078-4AA2E1FE7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7EBA8-D253-4CC7-8CD8-346EF46B7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9062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4095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7845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3203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5748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0915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2085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0233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2807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2861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0550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1593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813087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666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1762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2553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6751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593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E58DA31B-A9D0-65BF-6965-C2A0B3986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BB2797C-043C-2682-7FF2-18C34F9DC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7AB7D3F-4EEF-4E5E-A3B4-C9458FB949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B9287C-4E38-4D7B-8EE9-A163BF663D86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7DF6DAA-9D8C-D4FC-5C74-8CECA258A8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7CB55E5-EDF1-95AD-FA28-57ABC959CD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17EBA8-D253-4CC7-8CD8-346EF46B7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257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401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hafqat@cse.uiu.ac.bd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19">
            <a:extLst>
              <a:ext uri="{FF2B5EF4-FFF2-40B4-BE49-F238E27FC236}">
                <a16:creationId xmlns:a16="http://schemas.microsoft.com/office/drawing/2014/main" xmlns="" id="{657F69E0-C4B0-4BEC-A689-4F8D877F05D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Electronics protoboard">
            <a:extLst>
              <a:ext uri="{FF2B5EF4-FFF2-40B4-BE49-F238E27FC236}">
                <a16:creationId xmlns:a16="http://schemas.microsoft.com/office/drawing/2014/main" xmlns="" id="{60A13CD2-E348-86CB-9037-B06FE3A16FF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15709" r="-1" b="-1"/>
          <a:stretch/>
        </p:blipFill>
        <p:spPr>
          <a:xfrm>
            <a:off x="3070" y="10"/>
            <a:ext cx="12188930" cy="68579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80C5C3E-BD37-D72A-4480-C35245650DF0}"/>
              </a:ext>
            </a:extLst>
          </p:cNvPr>
          <p:cNvSpPr txBox="1"/>
          <p:nvPr/>
        </p:nvSpPr>
        <p:spPr>
          <a:xfrm>
            <a:off x="1524000" y="1122363"/>
            <a:ext cx="9144000" cy="30632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dirty="0">
                <a:solidFill>
                  <a:srgbClr val="FFFFFF"/>
                </a:solidFill>
                <a:ea typeface="+mj-ea"/>
                <a:cs typeface="+mj-cs"/>
              </a:rPr>
              <a:t>Node Voltage Analysis</a:t>
            </a:r>
            <a:br>
              <a:rPr lang="en-US" sz="6600" b="1" dirty="0">
                <a:solidFill>
                  <a:srgbClr val="FFFFFF"/>
                </a:solidFill>
                <a:ea typeface="+mj-ea"/>
                <a:cs typeface="+mj-cs"/>
              </a:rPr>
            </a:b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Section 3.1, 3.2, 3.4, 3.5</a:t>
            </a:r>
            <a:endParaRPr lang="en-US" sz="6600" b="1" dirty="0">
              <a:solidFill>
                <a:srgbClr val="FFFFFF"/>
              </a:solidFill>
              <a:ea typeface="+mj-ea"/>
              <a:cs typeface="+mj-cs"/>
            </a:endParaRPr>
          </a:p>
        </p:txBody>
      </p:sp>
      <p:sp>
        <p:nvSpPr>
          <p:cNvPr id="27" name="sketchy line">
            <a:extLst>
              <a:ext uri="{FF2B5EF4-FFF2-40B4-BE49-F238E27FC236}">
                <a16:creationId xmlns:a16="http://schemas.microsoft.com/office/drawing/2014/main" xmlns="" id="{9F6380B4-6A1C-481E-8408-B4E6C75B9B8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rgbClr val="FFFFFF">
                <a:alpha val="75000"/>
              </a:srgbClr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ubtitle 4">
            <a:extLst>
              <a:ext uri="{FF2B5EF4-FFF2-40B4-BE49-F238E27FC236}">
                <a16:creationId xmlns:a16="http://schemas.microsoft.com/office/drawing/2014/main" xmlns="" id="{34DD34A7-0713-420D-0D34-4EE88CEA8E18}"/>
              </a:ext>
            </a:extLst>
          </p:cNvPr>
          <p:cNvSpPr>
            <a:spLocks noGrp="1"/>
          </p:cNvSpPr>
          <p:nvPr/>
        </p:nvSpPr>
        <p:spPr>
          <a:xfrm>
            <a:off x="402734" y="5327464"/>
            <a:ext cx="2528725" cy="1066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95"/>
              </a:spcBef>
              <a:buNone/>
            </a:pPr>
            <a:r>
              <a:rPr lang="en-US" sz="1600" b="1" spc="-5" dirty="0">
                <a:latin typeface="Arial"/>
                <a:cs typeface="Arial"/>
              </a:rPr>
              <a:t>Md. Shafqat </a:t>
            </a:r>
            <a:r>
              <a:rPr lang="en-US" sz="1600" b="1" spc="-5" dirty="0" err="1">
                <a:latin typeface="Arial"/>
                <a:cs typeface="Arial"/>
              </a:rPr>
              <a:t>Talukder</a:t>
            </a:r>
            <a:r>
              <a:rPr lang="en-US" sz="1600" b="1" spc="-5" dirty="0">
                <a:latin typeface="Arial"/>
                <a:cs typeface="Arial"/>
              </a:rPr>
              <a:t> Rakin</a:t>
            </a:r>
            <a:endParaRPr lang="en-US" sz="1600" b="1" dirty="0">
              <a:latin typeface="Arial"/>
              <a:cs typeface="Arial"/>
            </a:endParaRPr>
          </a:p>
          <a:p>
            <a:pPr marL="0" marR="5080" indent="0">
              <a:lnSpc>
                <a:spcPct val="100000"/>
              </a:lnSpc>
              <a:buNone/>
            </a:pPr>
            <a:r>
              <a:rPr lang="en-US" sz="1600" b="1" spc="-5" dirty="0">
                <a:latin typeface="Arial"/>
                <a:cs typeface="Arial"/>
              </a:rPr>
              <a:t>Lecturer, Department of CSE,  </a:t>
            </a:r>
          </a:p>
          <a:p>
            <a:pPr marL="0" marR="5080" indent="0">
              <a:lnSpc>
                <a:spcPct val="100000"/>
              </a:lnSpc>
              <a:buNone/>
            </a:pPr>
            <a:r>
              <a:rPr lang="en-US" sz="1600" b="1" spc="-5" dirty="0">
                <a:latin typeface="Arial"/>
                <a:cs typeface="Arial"/>
              </a:rPr>
              <a:t>United International</a:t>
            </a:r>
            <a:r>
              <a:rPr lang="en-US" sz="1600" b="1" spc="10" dirty="0">
                <a:latin typeface="Arial"/>
                <a:cs typeface="Arial"/>
              </a:rPr>
              <a:t> </a:t>
            </a:r>
            <a:r>
              <a:rPr lang="en-US" sz="1600" b="1" spc="-5" dirty="0">
                <a:latin typeface="Arial"/>
                <a:cs typeface="Arial"/>
              </a:rPr>
              <a:t>University</a:t>
            </a:r>
          </a:p>
          <a:p>
            <a:pPr marL="0" marR="5080" indent="0">
              <a:lnSpc>
                <a:spcPct val="100000"/>
              </a:lnSpc>
              <a:buNone/>
            </a:pPr>
            <a:r>
              <a:rPr lang="en-US" sz="1600" b="1" spc="-5" dirty="0">
                <a:latin typeface="Arial"/>
                <a:cs typeface="Arial"/>
              </a:rPr>
              <a:t>Email id : </a:t>
            </a:r>
            <a:r>
              <a:rPr lang="en-US" sz="1600" b="1" spc="-5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/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shafqat@cse.uiu.ac.bd</a:t>
            </a:r>
            <a:endParaRPr lang="en-US" sz="1600" b="1" dirty="0">
              <a:solidFill>
                <a:schemeClr val="accent4">
                  <a:lumMod val="20000"/>
                  <a:lumOff val="80000"/>
                </a:schemeClr>
              </a:solidFill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xmlns="" id="{12F5FB85-5C29-5584-1441-C2D8ADD60577}"/>
              </a:ext>
            </a:extLst>
          </p:cNvPr>
          <p:cNvSpPr txBox="1"/>
          <p:nvPr/>
        </p:nvSpPr>
        <p:spPr>
          <a:xfrm>
            <a:off x="7903913" y="6135298"/>
            <a:ext cx="4064000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95"/>
              </a:spcBef>
            </a:pPr>
            <a:r>
              <a:rPr sz="2400" spc="-5" dirty="0">
                <a:solidFill>
                  <a:srgbClr val="FFFF00"/>
                </a:solidFill>
                <a:latin typeface="Arial"/>
                <a:cs typeface="Arial"/>
              </a:rPr>
              <a:t>Courtesy:</a:t>
            </a:r>
            <a:r>
              <a:rPr lang="en-US" sz="2400" spc="-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FFFF00"/>
                </a:solidFill>
              </a:rPr>
              <a:t>Rifat Bin Rashid</a:t>
            </a:r>
          </a:p>
        </p:txBody>
      </p:sp>
    </p:spTree>
    <p:extLst>
      <p:ext uri="{BB962C8B-B14F-4D97-AF65-F5344CB8AC3E}">
        <p14:creationId xmlns:p14="http://schemas.microsoft.com/office/powerpoint/2010/main" val="35806002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C5CCCD6-25F7-0043-8FBB-DE8981AE756F}"/>
              </a:ext>
            </a:extLst>
          </p:cNvPr>
          <p:cNvSpPr txBox="1"/>
          <p:nvPr/>
        </p:nvSpPr>
        <p:spPr>
          <a:xfrm>
            <a:off x="2088859" y="612396"/>
            <a:ext cx="7675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BAD3BD1-9E29-AB51-908E-524D9005D66D}"/>
              </a:ext>
            </a:extLst>
          </p:cNvPr>
          <p:cNvSpPr txBox="1"/>
          <p:nvPr/>
        </p:nvSpPr>
        <p:spPr>
          <a:xfrm>
            <a:off x="1627465" y="498931"/>
            <a:ext cx="7907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, Branch and Loop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DF9AFBE-59E8-213E-5AE9-EEF56FC46A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0059"/>
          <a:stretch/>
        </p:blipFill>
        <p:spPr>
          <a:xfrm>
            <a:off x="6686548" y="1903224"/>
            <a:ext cx="4658323" cy="26378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6724D09-3B22-B2C5-806A-741FB2A7E7FC}"/>
              </a:ext>
            </a:extLst>
          </p:cNvPr>
          <p:cNvSpPr txBox="1"/>
          <p:nvPr/>
        </p:nvSpPr>
        <p:spPr>
          <a:xfrm>
            <a:off x="1037625" y="1788587"/>
            <a:ext cx="465832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Branch: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two-terminal device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10 V Battery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2A current source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Three Resistances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955E1F1-3882-E3ED-DCE1-84EEB5BF7D43}"/>
              </a:ext>
            </a:extLst>
          </p:cNvPr>
          <p:cNvSpPr txBox="1"/>
          <p:nvPr/>
        </p:nvSpPr>
        <p:spPr>
          <a:xfrm>
            <a:off x="1037625" y="3865471"/>
            <a:ext cx="56489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Node: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Junction of different branches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‘a’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node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‘b’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node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‘c’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4D7D06E8-15CA-8A5E-7E87-8DB06A26E624}"/>
              </a:ext>
            </a:extLst>
          </p:cNvPr>
          <p:cNvSpPr txBox="1"/>
          <p:nvPr/>
        </p:nvSpPr>
        <p:spPr>
          <a:xfrm>
            <a:off x="1037625" y="6014771"/>
            <a:ext cx="3397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Loop: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closed path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E5507BA2-180F-FF47-F35B-D627F87DB987}"/>
              </a:ext>
            </a:extLst>
          </p:cNvPr>
          <p:cNvSpPr/>
          <p:nvPr/>
        </p:nvSpPr>
        <p:spPr>
          <a:xfrm>
            <a:off x="274320" y="381564"/>
            <a:ext cx="11643360" cy="630687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243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C5CCCD6-25F7-0043-8FBB-DE8981AE756F}"/>
              </a:ext>
            </a:extLst>
          </p:cNvPr>
          <p:cNvSpPr txBox="1"/>
          <p:nvPr/>
        </p:nvSpPr>
        <p:spPr>
          <a:xfrm>
            <a:off x="2088859" y="612396"/>
            <a:ext cx="7675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A18E951-09D0-D562-78A4-E586B4205EB6}"/>
              </a:ext>
            </a:extLst>
          </p:cNvPr>
          <p:cNvSpPr txBox="1"/>
          <p:nvPr/>
        </p:nvSpPr>
        <p:spPr>
          <a:xfrm>
            <a:off x="4308267" y="540106"/>
            <a:ext cx="28983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Nodal Analysis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="" id="{DC4A4BA3-0C3B-985A-D01F-7FCB921BB94C}"/>
                  </a:ext>
                </a:extLst>
              </p:cNvPr>
              <p:cNvSpPr txBox="1"/>
              <p:nvPr/>
            </p:nvSpPr>
            <p:spPr>
              <a:xfrm>
                <a:off x="980173" y="2405431"/>
                <a:ext cx="5009566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cs typeface="Times New Roman" panose="02020603050405020304" pitchFamily="18" charset="0"/>
                  </a:rPr>
                  <a:t>Use of Kirchhoff current law </a:t>
                </a:r>
                <a:r>
                  <a:rPr lang="en-US" sz="2000" b="1" dirty="0">
                    <a:cs typeface="Times New Roman" panose="02020603050405020304" pitchFamily="18" charset="0"/>
                  </a:rPr>
                  <a:t>(KCL) </a:t>
                </a:r>
                <a:r>
                  <a:rPr lang="en-US" sz="2000" dirty="0">
                    <a:cs typeface="Times New Roman" panose="02020603050405020304" pitchFamily="18" charset="0"/>
                  </a:rPr>
                  <a:t>at each node .</a:t>
                </a:r>
              </a:p>
              <a:p>
                <a:endParaRPr lang="en-US" sz="2000" b="1" dirty="0"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          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000" i="1" smtClean="0">
                            <a:latin typeface="Cambria Math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nor/>
                          </m:rPr>
                          <a:rPr lang="en-US" sz="2000" dirty="0">
                            <a:cs typeface="Times New Roman" panose="02020603050405020304" pitchFamily="18" charset="0"/>
                          </a:rPr>
                          <m:t>Incoming</m:t>
                        </m:r>
                        <m:r>
                          <m:rPr>
                            <m:nor/>
                          </m:rPr>
                          <a:rPr lang="en-US" sz="2000" dirty="0"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000" dirty="0">
                            <a:cs typeface="Times New Roman" panose="02020603050405020304" pitchFamily="18" charset="0"/>
                          </a:rPr>
                          <m:t>current</m:t>
                        </m:r>
                      </m:e>
                    </m:nary>
                  </m:oMath>
                </a14:m>
                <a:r>
                  <a:rPr lang="en-US" sz="2000" dirty="0"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000" i="1">
                            <a:latin typeface="Cambria Math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nor/>
                          </m:rPr>
                          <a:rPr lang="en-US" sz="2000" i="0" smtClean="0">
                            <a:cs typeface="Times New Roman" panose="02020603050405020304" pitchFamily="18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en-US" sz="2000" dirty="0">
                            <a:cs typeface="Times New Roman" panose="02020603050405020304" pitchFamily="18" charset="0"/>
                          </a:rPr>
                          <m:t>utgoing</m:t>
                        </m:r>
                        <m:r>
                          <m:rPr>
                            <m:nor/>
                          </m:rPr>
                          <a:rPr lang="en-US" sz="2000" dirty="0"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000" dirty="0">
                            <a:cs typeface="Times New Roman" panose="02020603050405020304" pitchFamily="18" charset="0"/>
                          </a:rPr>
                          <m:t>current</m:t>
                        </m:r>
                      </m:e>
                    </m:nary>
                  </m:oMath>
                </a14:m>
                <a:endParaRPr lang="en-US" sz="2000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C4A4BA3-0C3B-985A-D01F-7FCB921BB9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173" y="2405431"/>
                <a:ext cx="5009566" cy="1323439"/>
              </a:xfrm>
              <a:prstGeom prst="rect">
                <a:avLst/>
              </a:prstGeom>
              <a:blipFill>
                <a:blip r:embed="rId2"/>
                <a:stretch>
                  <a:fillRect l="-1338" t="-2765" b="-553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192D3AD-8B58-5100-CB6B-18D177853243}"/>
              </a:ext>
            </a:extLst>
          </p:cNvPr>
          <p:cNvSpPr txBox="1"/>
          <p:nvPr/>
        </p:nvSpPr>
        <p:spPr>
          <a:xfrm>
            <a:off x="3660395" y="1189701"/>
            <a:ext cx="58639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: Finding the node voltages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BB2AC386-34F7-2169-F25B-9E0E3B1D2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100" y="1887404"/>
            <a:ext cx="4984132" cy="2637943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xmlns="" id="{2513D471-661C-F84E-2A35-EC07D672A651}"/>
              </a:ext>
            </a:extLst>
          </p:cNvPr>
          <p:cNvSpPr/>
          <p:nvPr/>
        </p:nvSpPr>
        <p:spPr>
          <a:xfrm>
            <a:off x="6868007" y="2375914"/>
            <a:ext cx="1256476" cy="3392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24BA39B5-DDEB-E70D-F8FC-991D254C1FCD}"/>
              </a:ext>
            </a:extLst>
          </p:cNvPr>
          <p:cNvSpPr/>
          <p:nvPr/>
        </p:nvSpPr>
        <p:spPr>
          <a:xfrm>
            <a:off x="9340372" y="2331128"/>
            <a:ext cx="1256476" cy="3392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CC0C7542-C062-9B0C-2E25-8608B881838F}"/>
              </a:ext>
            </a:extLst>
          </p:cNvPr>
          <p:cNvSpPr txBox="1"/>
          <p:nvPr/>
        </p:nvSpPr>
        <p:spPr>
          <a:xfrm>
            <a:off x="975480" y="4084958"/>
            <a:ext cx="6006517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To find V</a:t>
            </a:r>
            <a:r>
              <a:rPr lang="en-US" sz="2000" baseline="-25000" dirty="0"/>
              <a:t>1</a:t>
            </a:r>
            <a:r>
              <a:rPr lang="en-US" sz="2000" dirty="0"/>
              <a:t> and V</a:t>
            </a:r>
            <a:r>
              <a:rPr lang="en-US" sz="2000" baseline="-25000" dirty="0"/>
              <a:t>2</a:t>
            </a:r>
            <a:r>
              <a:rPr lang="en-US" sz="2000" dirty="0"/>
              <a:t> , we need two equations.</a:t>
            </a:r>
          </a:p>
          <a:p>
            <a:endParaRPr lang="en-US" sz="2800" b="1" dirty="0"/>
          </a:p>
          <a:p>
            <a:r>
              <a:rPr lang="en-US" sz="2800" b="1" dirty="0"/>
              <a:t>Less computational complexity !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A0B6360B-4D79-D5C8-CD6A-898401AE3D0C}"/>
              </a:ext>
            </a:extLst>
          </p:cNvPr>
          <p:cNvSpPr/>
          <p:nvPr/>
        </p:nvSpPr>
        <p:spPr>
          <a:xfrm>
            <a:off x="274320" y="381564"/>
            <a:ext cx="11643360" cy="630687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256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C5CCCD6-25F7-0043-8FBB-DE8981AE756F}"/>
              </a:ext>
            </a:extLst>
          </p:cNvPr>
          <p:cNvSpPr txBox="1"/>
          <p:nvPr/>
        </p:nvSpPr>
        <p:spPr>
          <a:xfrm>
            <a:off x="2088859" y="612396"/>
            <a:ext cx="7675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A18E951-09D0-D562-78A4-E586B4205EB6}"/>
              </a:ext>
            </a:extLst>
          </p:cNvPr>
          <p:cNvSpPr txBox="1"/>
          <p:nvPr/>
        </p:nvSpPr>
        <p:spPr>
          <a:xfrm>
            <a:off x="836103" y="629174"/>
            <a:ext cx="56485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to Determine Node Voltages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id="{A238C207-BCC5-1DF5-300C-102B66F8F95E}"/>
                  </a:ext>
                </a:extLst>
              </p:cNvPr>
              <p:cNvSpPr txBox="1"/>
              <p:nvPr/>
            </p:nvSpPr>
            <p:spPr>
              <a:xfrm>
                <a:off x="1603131" y="2359055"/>
                <a:ext cx="753436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Select a node as the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reference node.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Assign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….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voltages to the remaining nodes.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238C207-BCC5-1DF5-300C-102B66F8F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3131" y="2359055"/>
                <a:ext cx="7534363" cy="830997"/>
              </a:xfrm>
              <a:prstGeom prst="rect">
                <a:avLst/>
              </a:prstGeom>
              <a:blipFill>
                <a:blip r:embed="rId2"/>
                <a:stretch>
                  <a:fillRect l="-1294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C5097BE8-5AD3-C0AE-FADE-4D0030A32E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3865" y="3309030"/>
            <a:ext cx="3761207" cy="296434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B40FB3D0-2695-CF9A-A4FC-3FB76243F591}"/>
              </a:ext>
            </a:extLst>
          </p:cNvPr>
          <p:cNvSpPr txBox="1"/>
          <p:nvPr/>
        </p:nvSpPr>
        <p:spPr>
          <a:xfrm>
            <a:off x="7227104" y="690729"/>
            <a:ext cx="34814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Three Steps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D9FC24C-4E91-5693-4134-C9E900CE39FA}"/>
              </a:ext>
            </a:extLst>
          </p:cNvPr>
          <p:cNvSpPr/>
          <p:nvPr/>
        </p:nvSpPr>
        <p:spPr>
          <a:xfrm>
            <a:off x="7121204" y="606426"/>
            <a:ext cx="1711878" cy="6822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E236D4A6-E0EF-8B82-A299-81A00AB6371E}"/>
              </a:ext>
            </a:extLst>
          </p:cNvPr>
          <p:cNvSpPr txBox="1"/>
          <p:nvPr/>
        </p:nvSpPr>
        <p:spPr>
          <a:xfrm>
            <a:off x="1048624" y="1870745"/>
            <a:ext cx="1912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xmlns="" id="{31FC1BF0-DEB6-E61C-954D-9D3A8A6B47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1278" y="3081538"/>
            <a:ext cx="4234910" cy="35913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616EC131-F95E-461E-463B-AAFD96B17A22}"/>
              </a:ext>
            </a:extLst>
          </p:cNvPr>
          <p:cNvSpPr/>
          <p:nvPr/>
        </p:nvSpPr>
        <p:spPr>
          <a:xfrm>
            <a:off x="274320" y="381564"/>
            <a:ext cx="11643360" cy="630687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600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C5CCCD6-25F7-0043-8FBB-DE8981AE756F}"/>
              </a:ext>
            </a:extLst>
          </p:cNvPr>
          <p:cNvSpPr txBox="1"/>
          <p:nvPr/>
        </p:nvSpPr>
        <p:spPr>
          <a:xfrm>
            <a:off x="2088859" y="612396"/>
            <a:ext cx="7675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A18E951-09D0-D562-78A4-E586B4205EB6}"/>
              </a:ext>
            </a:extLst>
          </p:cNvPr>
          <p:cNvSpPr txBox="1"/>
          <p:nvPr/>
        </p:nvSpPr>
        <p:spPr>
          <a:xfrm>
            <a:off x="836103" y="629174"/>
            <a:ext cx="6599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to Determine Node Voltages :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(Continued)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D5CDD266-7F7B-EDB9-8F0A-FD7E45EFE19A}"/>
              </a:ext>
            </a:extLst>
          </p:cNvPr>
          <p:cNvSpPr txBox="1"/>
          <p:nvPr/>
        </p:nvSpPr>
        <p:spPr>
          <a:xfrm>
            <a:off x="1420360" y="1891168"/>
            <a:ext cx="60149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KCL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each of the nonreference nodes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958D44DB-0623-DFBD-0945-41C7F77551EA}"/>
              </a:ext>
            </a:extLst>
          </p:cNvPr>
          <p:cNvSpPr txBox="1"/>
          <p:nvPr/>
        </p:nvSpPr>
        <p:spPr>
          <a:xfrm>
            <a:off x="1452696" y="5728637"/>
            <a:ext cx="60946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 the resulting simultaneous equations.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814B6F8F-2D22-7169-938D-DC1A22DDC1EF}"/>
              </a:ext>
            </a:extLst>
          </p:cNvPr>
          <p:cNvSpPr txBox="1"/>
          <p:nvPr/>
        </p:nvSpPr>
        <p:spPr>
          <a:xfrm>
            <a:off x="836103" y="1363092"/>
            <a:ext cx="1912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3AB784C6-93F9-6654-9662-003344D2A563}"/>
              </a:ext>
            </a:extLst>
          </p:cNvPr>
          <p:cNvSpPr txBox="1"/>
          <p:nvPr/>
        </p:nvSpPr>
        <p:spPr>
          <a:xfrm>
            <a:off x="973123" y="5101069"/>
            <a:ext cx="1912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C3A13651-387B-B183-BB4D-D09609C61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8628" y="1118123"/>
            <a:ext cx="3886200" cy="32956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="" id="{23F0E4E6-5CED-28FC-3F76-F4ACEC781AC4}"/>
                  </a:ext>
                </a:extLst>
              </p:cNvPr>
              <p:cNvSpPr txBox="1"/>
              <p:nvPr/>
            </p:nvSpPr>
            <p:spPr>
              <a:xfrm>
                <a:off x="1012273" y="2678032"/>
                <a:ext cx="3657600" cy="26262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node 1,</a:t>
                </a:r>
              </a:p>
              <a:p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i</a:t>
                </a:r>
                <a:r>
                  <a:rPr lang="en-US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i</a:t>
                </a:r>
                <a:r>
                  <a:rPr lang="en-US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i</a:t>
                </a:r>
                <a:r>
                  <a:rPr lang="en-US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  <a:p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5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000" b="0" i="1" baseline="-2500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000" b="0" i="1" baseline="-2500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000" b="0" i="1" baseline="-2500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3v</a:t>
                </a:r>
                <a:r>
                  <a:rPr lang="en-US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v</a:t>
                </a:r>
                <a:r>
                  <a:rPr lang="en-US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20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3F0E4E6-5CED-28FC-3F76-F4ACEC781A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273" y="2678032"/>
                <a:ext cx="3657600" cy="2626232"/>
              </a:xfrm>
              <a:prstGeom prst="rect">
                <a:avLst/>
              </a:prstGeom>
              <a:blipFill>
                <a:blip r:embed="rId3"/>
                <a:stretch>
                  <a:fillRect l="-1333" t="-11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="" id="{C416F01B-925A-3FBB-523A-4C03FC4E1BF7}"/>
                  </a:ext>
                </a:extLst>
              </p:cNvPr>
              <p:cNvSpPr txBox="1"/>
              <p:nvPr/>
            </p:nvSpPr>
            <p:spPr>
              <a:xfrm>
                <a:off x="4137870" y="2683559"/>
                <a:ext cx="6094602" cy="23511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node 2,</a:t>
                </a:r>
              </a:p>
              <a:p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i</a:t>
                </a:r>
                <a:r>
                  <a:rPr lang="en-US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i</a:t>
                </a:r>
                <a:r>
                  <a:rPr lang="en-US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i</a:t>
                </a:r>
                <a:r>
                  <a:rPr lang="en-US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i</a:t>
                </a:r>
                <a:r>
                  <a:rPr lang="en-US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</a:p>
              <a:p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000" i="1" baseline="-250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000" i="1" baseline="-2500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+ 10  = 5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000" b="0" i="1" baseline="-2500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- 3v</a:t>
                </a:r>
                <a:r>
                  <a:rPr lang="en-US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+ 5v</a:t>
                </a:r>
                <a:r>
                  <a:rPr lang="en-US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60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416F01B-925A-3FBB-523A-4C03FC4E1B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7870" y="2683559"/>
                <a:ext cx="6094602" cy="2351156"/>
              </a:xfrm>
              <a:prstGeom prst="rect">
                <a:avLst/>
              </a:prstGeom>
              <a:blipFill>
                <a:blip r:embed="rId4"/>
                <a:stretch>
                  <a:fillRect l="-900" t="-1295" b="-23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3B6C96AE-12AA-71F6-1716-389DAA23B166}"/>
              </a:ext>
            </a:extLst>
          </p:cNvPr>
          <p:cNvSpPr/>
          <p:nvPr/>
        </p:nvSpPr>
        <p:spPr>
          <a:xfrm>
            <a:off x="973123" y="2530396"/>
            <a:ext cx="2994870" cy="2504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44C6C8D4-4614-34E9-ED85-F27B3A6B3640}"/>
              </a:ext>
            </a:extLst>
          </p:cNvPr>
          <p:cNvSpPr/>
          <p:nvPr/>
        </p:nvSpPr>
        <p:spPr>
          <a:xfrm>
            <a:off x="4137869" y="2530396"/>
            <a:ext cx="3505199" cy="2504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DCFC6C7F-D3CA-CFFE-166E-1040078FA739}"/>
              </a:ext>
            </a:extLst>
          </p:cNvPr>
          <p:cNvSpPr/>
          <p:nvPr/>
        </p:nvSpPr>
        <p:spPr>
          <a:xfrm>
            <a:off x="6096000" y="5706363"/>
            <a:ext cx="2351714" cy="8957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CE8296A1-39A6-54E9-8914-A4589D447A37}"/>
              </a:ext>
            </a:extLst>
          </p:cNvPr>
          <p:cNvSpPr txBox="1"/>
          <p:nvPr/>
        </p:nvSpPr>
        <p:spPr>
          <a:xfrm>
            <a:off x="6374059" y="5786843"/>
            <a:ext cx="21224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13.333 V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20 V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xmlns="" id="{B6D2EB45-45F5-EBAA-8653-5E8CD1C78FC5}"/>
              </a:ext>
            </a:extLst>
          </p:cNvPr>
          <p:cNvSpPr/>
          <p:nvPr/>
        </p:nvSpPr>
        <p:spPr>
          <a:xfrm>
            <a:off x="1478387" y="4060651"/>
            <a:ext cx="284173" cy="133844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xmlns="" id="{63DDE49E-6E8C-E4AD-7852-09765582930E}"/>
              </a:ext>
            </a:extLst>
          </p:cNvPr>
          <p:cNvSpPr/>
          <p:nvPr/>
        </p:nvSpPr>
        <p:spPr>
          <a:xfrm>
            <a:off x="1508275" y="4755819"/>
            <a:ext cx="284173" cy="135622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xmlns="" id="{D81F5529-5515-5CDC-4D0E-50D252D14769}"/>
              </a:ext>
            </a:extLst>
          </p:cNvPr>
          <p:cNvSpPr/>
          <p:nvPr/>
        </p:nvSpPr>
        <p:spPr>
          <a:xfrm>
            <a:off x="4499997" y="4060651"/>
            <a:ext cx="284173" cy="133844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xmlns="" id="{E5134516-333C-83DA-B8D2-1B6B5C6FF908}"/>
              </a:ext>
            </a:extLst>
          </p:cNvPr>
          <p:cNvSpPr/>
          <p:nvPr/>
        </p:nvSpPr>
        <p:spPr>
          <a:xfrm>
            <a:off x="4553307" y="4755819"/>
            <a:ext cx="284173" cy="133844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DF55515F-EA1F-01FA-93A1-26A742379074}"/>
              </a:ext>
            </a:extLst>
          </p:cNvPr>
          <p:cNvSpPr/>
          <p:nvPr/>
        </p:nvSpPr>
        <p:spPr>
          <a:xfrm>
            <a:off x="274320" y="381564"/>
            <a:ext cx="11643360" cy="630687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38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18746FA-C61B-C0EB-C53B-4A2F3464961E}"/>
              </a:ext>
            </a:extLst>
          </p:cNvPr>
          <p:cNvSpPr txBox="1"/>
          <p:nvPr/>
        </p:nvSpPr>
        <p:spPr>
          <a:xfrm>
            <a:off x="7552985" y="6369398"/>
            <a:ext cx="3313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Sadiku_Example_3.2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EF5414D1-ED9A-DB13-F9DF-95EF0C02DBF8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952253D3-A9A3-A891-09C2-C50809E3F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5853" y="1852492"/>
            <a:ext cx="7108447" cy="414757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6CB13019-C560-6F8C-F29B-BB5E798C2F72}"/>
              </a:ext>
            </a:extLst>
          </p:cNvPr>
          <p:cNvSpPr txBox="1"/>
          <p:nvPr/>
        </p:nvSpPr>
        <p:spPr>
          <a:xfrm>
            <a:off x="4134339" y="111726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Determine the voltages at the nodes.</a:t>
            </a:r>
          </a:p>
        </p:txBody>
      </p:sp>
    </p:spTree>
    <p:extLst>
      <p:ext uri="{BB962C8B-B14F-4D97-AF65-F5344CB8AC3E}">
        <p14:creationId xmlns:p14="http://schemas.microsoft.com/office/powerpoint/2010/main" val="2622080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88D2BBF-F4F7-9363-3CDD-6290AD38B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BD8EC8CA-01E6-4A26-4985-B86EBA78E80B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D860C36-FBFA-AA51-A07F-B0B7A2E4A37A}"/>
              </a:ext>
            </a:extLst>
          </p:cNvPr>
          <p:cNvSpPr txBox="1"/>
          <p:nvPr/>
        </p:nvSpPr>
        <p:spPr>
          <a:xfrm>
            <a:off x="7552985" y="6369398"/>
            <a:ext cx="3313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Sadiku_Example_3.2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2E67458A-8F0F-5A5A-3F96-046483AB9679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B3D443BF-9BB2-B465-3E71-E66368C32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012" y="1036291"/>
            <a:ext cx="6211975" cy="496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091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18746FA-C61B-C0EB-C53B-4A2F3464961E}"/>
              </a:ext>
            </a:extLst>
          </p:cNvPr>
          <p:cNvSpPr txBox="1"/>
          <p:nvPr/>
        </p:nvSpPr>
        <p:spPr>
          <a:xfrm>
            <a:off x="7552985" y="6369398"/>
            <a:ext cx="4172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Sadiku_Practice_Problem_3.2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EF5414D1-ED9A-DB13-F9DF-95EF0C02DBF8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E6B974A0-D2C6-BABE-EAFD-86B91376C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1305" y="2352799"/>
            <a:ext cx="5610303" cy="38061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DD41D5B6-CE14-C9E4-CE9F-F1D19FCF4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5708" y="957549"/>
            <a:ext cx="8156231" cy="139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231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2FCC319-CB70-3C27-AD85-4B97A3E01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81AA2DF-49F6-21E7-7060-1DF7DB8DD1D8}"/>
              </a:ext>
            </a:extLst>
          </p:cNvPr>
          <p:cNvSpPr txBox="1"/>
          <p:nvPr/>
        </p:nvSpPr>
        <p:spPr>
          <a:xfrm>
            <a:off x="373710" y="333954"/>
            <a:ext cx="65291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Sadiku_Practice_Problem_3.2 Solution:</a:t>
            </a:r>
            <a:endParaRPr kumimoji="0" lang="en-US" sz="2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9CCD7FA-08E0-172F-1083-71B5B8D7C37B}"/>
              </a:ext>
            </a:extLst>
          </p:cNvPr>
          <p:cNvSpPr txBox="1"/>
          <p:nvPr/>
        </p:nvSpPr>
        <p:spPr>
          <a:xfrm>
            <a:off x="7552985" y="6369398"/>
            <a:ext cx="4172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Sadiku_Practice_Problem_3.2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09690C18-4BCC-CB95-4659-0EA57ED15EF0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EFE40F8A-7663-D93C-2BD9-5B629936ED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404" y="993363"/>
            <a:ext cx="3435768" cy="52398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C18FC039-D5FA-57C6-486B-C1A415C5AD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4534" y="993362"/>
            <a:ext cx="3434062" cy="523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720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18746FA-C61B-C0EB-C53B-4A2F3464961E}"/>
              </a:ext>
            </a:extLst>
          </p:cNvPr>
          <p:cNvSpPr txBox="1"/>
          <p:nvPr/>
        </p:nvSpPr>
        <p:spPr>
          <a:xfrm>
            <a:off x="7552985" y="6369398"/>
            <a:ext cx="3288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Sadiku_Exercise_3.5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EF5414D1-ED9A-DB13-F9DF-95EF0C02DBF8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AFC9AE94-8FD9-20B1-B1E8-1D1C4DC63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596" y="1279661"/>
            <a:ext cx="7320215" cy="4840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883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8E7632E-E83B-1BB3-7ECE-63D1082CB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5DDFCBD-DA04-F233-B2D6-0CE8484F3CE4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7773A3B3-40E9-0279-8732-F603AD664275}"/>
              </a:ext>
            </a:extLst>
          </p:cNvPr>
          <p:cNvSpPr txBox="1"/>
          <p:nvPr/>
        </p:nvSpPr>
        <p:spPr>
          <a:xfrm>
            <a:off x="7552985" y="6369398"/>
            <a:ext cx="3288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Sadiku_Exercise_3.5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A12A6E3D-B591-18A8-96F8-6982A8A6A336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C5414AD1-68BF-0D42-076C-1AB5ED6AC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1216" y="1226629"/>
            <a:ext cx="4709568" cy="440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899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18746FA-C61B-C0EB-C53B-4A2F3464961E}"/>
              </a:ext>
            </a:extLst>
          </p:cNvPr>
          <p:cNvSpPr txBox="1"/>
          <p:nvPr/>
        </p:nvSpPr>
        <p:spPr>
          <a:xfrm>
            <a:off x="7552985" y="6369398"/>
            <a:ext cx="3403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Sadiku_Exercise_3.10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EF5414D1-ED9A-DB13-F9DF-95EF0C02DBF8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933E50E0-E1B3-D3D0-2B73-2EA240D7EB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183"/>
          <a:stretch/>
        </p:blipFill>
        <p:spPr>
          <a:xfrm>
            <a:off x="2861348" y="1158250"/>
            <a:ext cx="7970505" cy="497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674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ED7C2C0-E623-DE01-62AF-05A7D9DE1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636CDE06-EFE3-C8F4-3ACB-FF4B7D9EC152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860266B-87CB-C131-5A9B-08EF04D77791}"/>
              </a:ext>
            </a:extLst>
          </p:cNvPr>
          <p:cNvSpPr txBox="1"/>
          <p:nvPr/>
        </p:nvSpPr>
        <p:spPr>
          <a:xfrm>
            <a:off x="7552985" y="6369398"/>
            <a:ext cx="3403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Sadiku_Exercise_3.10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67A6BCDD-2509-9F85-54E7-AB71086F57E0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CF6CDF6F-AA51-96F2-796C-4263BE5FC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11" y="1194087"/>
            <a:ext cx="4234148" cy="49630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B1935BFF-6498-C082-FD56-9EB27C49A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8966" y="1052744"/>
            <a:ext cx="5799323" cy="5121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216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18746FA-C61B-C0EB-C53B-4A2F3464961E}"/>
              </a:ext>
            </a:extLst>
          </p:cNvPr>
          <p:cNvSpPr txBox="1"/>
          <p:nvPr/>
        </p:nvSpPr>
        <p:spPr>
          <a:xfrm>
            <a:off x="7552985" y="6369398"/>
            <a:ext cx="3403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Sadiku_Exercise_3.12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EF5414D1-ED9A-DB13-F9DF-95EF0C02DBF8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7B6F4927-009A-4B4F-F391-4BCA09AB7F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1713"/>
          <a:stretch/>
        </p:blipFill>
        <p:spPr>
          <a:xfrm>
            <a:off x="2724315" y="1228969"/>
            <a:ext cx="7591390" cy="4632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937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18746FA-C61B-C0EB-C53B-4A2F3464961E}"/>
              </a:ext>
            </a:extLst>
          </p:cNvPr>
          <p:cNvSpPr txBox="1"/>
          <p:nvPr/>
        </p:nvSpPr>
        <p:spPr>
          <a:xfrm>
            <a:off x="7552985" y="6369398"/>
            <a:ext cx="3403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Sadiku_Exercise_3.12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EF5414D1-ED9A-DB13-F9DF-95EF0C02DBF8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9631" y="1047727"/>
            <a:ext cx="5933955" cy="51311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18839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18746FA-C61B-C0EB-C53B-4A2F3464961E}"/>
              </a:ext>
            </a:extLst>
          </p:cNvPr>
          <p:cNvSpPr txBox="1"/>
          <p:nvPr/>
        </p:nvSpPr>
        <p:spPr>
          <a:xfrm>
            <a:off x="7552985" y="6369398"/>
            <a:ext cx="3403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Sadiku_Exercise_3.13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EF5414D1-ED9A-DB13-F9DF-95EF0C02DBF8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40509D70-4043-2BAD-3223-72C1260C9E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91" t="6163" r="4311" b="5575"/>
          <a:stretch/>
        </p:blipFill>
        <p:spPr>
          <a:xfrm>
            <a:off x="2864497" y="1175121"/>
            <a:ext cx="7611134" cy="4647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951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18746FA-C61B-C0EB-C53B-4A2F3464961E}"/>
              </a:ext>
            </a:extLst>
          </p:cNvPr>
          <p:cNvSpPr txBox="1"/>
          <p:nvPr/>
        </p:nvSpPr>
        <p:spPr>
          <a:xfrm>
            <a:off x="7552985" y="6369398"/>
            <a:ext cx="3403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Sadiku_Exercise_3.13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EF5414D1-ED9A-DB13-F9DF-95EF0C02DBF8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665" y="1097665"/>
            <a:ext cx="5915887" cy="50312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64087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18746FA-C61B-C0EB-C53B-4A2F3464961E}"/>
              </a:ext>
            </a:extLst>
          </p:cNvPr>
          <p:cNvSpPr txBox="1"/>
          <p:nvPr/>
        </p:nvSpPr>
        <p:spPr>
          <a:xfrm>
            <a:off x="7552985" y="6369398"/>
            <a:ext cx="3403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Sadiku_Exercise_3.14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EF5414D1-ED9A-DB13-F9DF-95EF0C02DBF8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66E74478-49B8-7919-4349-C91E31C9E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348" y="928878"/>
            <a:ext cx="7870837" cy="5375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652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18746FA-C61B-C0EB-C53B-4A2F3464961E}"/>
              </a:ext>
            </a:extLst>
          </p:cNvPr>
          <p:cNvSpPr txBox="1"/>
          <p:nvPr/>
        </p:nvSpPr>
        <p:spPr>
          <a:xfrm>
            <a:off x="7552985" y="6369398"/>
            <a:ext cx="3403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Sadiku_Exercise_3.14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EF5414D1-ED9A-DB13-F9DF-95EF0C02DBF8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929" y="798648"/>
            <a:ext cx="6678612" cy="562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8251" y="1451745"/>
            <a:ext cx="6650038" cy="1838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8251" y="3395148"/>
            <a:ext cx="6669088" cy="254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90400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18746FA-C61B-C0EB-C53B-4A2F3464961E}"/>
              </a:ext>
            </a:extLst>
          </p:cNvPr>
          <p:cNvSpPr txBox="1"/>
          <p:nvPr/>
        </p:nvSpPr>
        <p:spPr>
          <a:xfrm>
            <a:off x="7552985" y="6369398"/>
            <a:ext cx="3403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Sadiku_Exercise_3.19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EF5414D1-ED9A-DB13-F9DF-95EF0C02DBF8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681083F-8B37-6E39-1C6C-1A7572A0BC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92" r="7751" b="14341"/>
          <a:stretch/>
        </p:blipFill>
        <p:spPr>
          <a:xfrm>
            <a:off x="2789181" y="897456"/>
            <a:ext cx="7077698" cy="5431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8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18746FA-C61B-C0EB-C53B-4A2F3464961E}"/>
              </a:ext>
            </a:extLst>
          </p:cNvPr>
          <p:cNvSpPr txBox="1"/>
          <p:nvPr/>
        </p:nvSpPr>
        <p:spPr>
          <a:xfrm>
            <a:off x="7552985" y="6369398"/>
            <a:ext cx="3403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Sadiku_Exercise_3.19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EF5414D1-ED9A-DB13-F9DF-95EF0C02DBF8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4788" y="1189173"/>
            <a:ext cx="6697662" cy="484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53008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18746FA-C61B-C0EB-C53B-4A2F3464961E}"/>
              </a:ext>
            </a:extLst>
          </p:cNvPr>
          <p:cNvSpPr txBox="1"/>
          <p:nvPr/>
        </p:nvSpPr>
        <p:spPr>
          <a:xfrm>
            <a:off x="7552985" y="6369398"/>
            <a:ext cx="3403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Sadiku_Exercise_3.26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EF5414D1-ED9A-DB13-F9DF-95EF0C02DBF8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B7CD00AC-567E-3DB6-4D64-08E7AE7568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0885"/>
          <a:stretch/>
        </p:blipFill>
        <p:spPr>
          <a:xfrm>
            <a:off x="3208704" y="935084"/>
            <a:ext cx="5864958" cy="5355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2986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18746FA-C61B-C0EB-C53B-4A2F3464961E}"/>
              </a:ext>
            </a:extLst>
          </p:cNvPr>
          <p:cNvSpPr txBox="1"/>
          <p:nvPr/>
        </p:nvSpPr>
        <p:spPr>
          <a:xfrm>
            <a:off x="7552985" y="6369398"/>
            <a:ext cx="3403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Sadiku_Exercise_3.26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EF5414D1-ED9A-DB13-F9DF-95EF0C02DBF8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9550" y="998673"/>
            <a:ext cx="6688138" cy="5229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529239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18746FA-C61B-C0EB-C53B-4A2F3464961E}"/>
              </a:ext>
            </a:extLst>
          </p:cNvPr>
          <p:cNvSpPr txBox="1"/>
          <p:nvPr/>
        </p:nvSpPr>
        <p:spPr>
          <a:xfrm>
            <a:off x="7552985" y="6369398"/>
            <a:ext cx="3403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Sadiku_Exercise_3.27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EF5414D1-ED9A-DB13-F9DF-95EF0C02DBF8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A11E8B4C-CF5F-B35C-8CC1-2A22102BC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862" y="955811"/>
            <a:ext cx="6772275" cy="531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6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18746FA-C61B-C0EB-C53B-4A2F3464961E}"/>
              </a:ext>
            </a:extLst>
          </p:cNvPr>
          <p:cNvSpPr txBox="1"/>
          <p:nvPr/>
        </p:nvSpPr>
        <p:spPr>
          <a:xfrm>
            <a:off x="7552985" y="6369398"/>
            <a:ext cx="3403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Sadiku_Exercise_3.27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EF5414D1-ED9A-DB13-F9DF-95EF0C02DBF8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711" y="1193936"/>
            <a:ext cx="6678612" cy="483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413" y="1141548"/>
            <a:ext cx="4810125" cy="4943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780821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18746FA-C61B-C0EB-C53B-4A2F3464961E}"/>
              </a:ext>
            </a:extLst>
          </p:cNvPr>
          <p:cNvSpPr txBox="1"/>
          <p:nvPr/>
        </p:nvSpPr>
        <p:spPr>
          <a:xfrm>
            <a:off x="7552985" y="6369398"/>
            <a:ext cx="3441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</a:t>
            </a:r>
            <a:r>
              <a:rPr lang="en-US" b="1" i="1" u="sng" dirty="0"/>
              <a:t>Nilsson</a:t>
            </a: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_Exercise_4.21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EF5414D1-ED9A-DB13-F9DF-95EF0C02DBF8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4C06A1B0-C93A-DC94-8A6D-78E5381D0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270" y="1380394"/>
            <a:ext cx="8762560" cy="4282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3215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18746FA-C61B-C0EB-C53B-4A2F3464961E}"/>
              </a:ext>
            </a:extLst>
          </p:cNvPr>
          <p:cNvSpPr txBox="1"/>
          <p:nvPr/>
        </p:nvSpPr>
        <p:spPr>
          <a:xfrm>
            <a:off x="7552985" y="6369398"/>
            <a:ext cx="3441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</a:t>
            </a:r>
            <a:r>
              <a:rPr lang="en-US" b="1" i="1" u="sng" dirty="0"/>
              <a:t>Nilsson</a:t>
            </a: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_Exercise_4.21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EF5414D1-ED9A-DB13-F9DF-95EF0C02DBF8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6340" y="1146311"/>
            <a:ext cx="6840538" cy="493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65115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8">
            <a:extLst>
              <a:ext uri="{FF2B5EF4-FFF2-40B4-BE49-F238E27FC236}">
                <a16:creationId xmlns:a16="http://schemas.microsoft.com/office/drawing/2014/main" xmlns="" id="{F7471772-E57F-4CD9-9241-D264A2F782E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516EF04-93A4-BB10-2055-5177D6666658}"/>
              </a:ext>
            </a:extLst>
          </p:cNvPr>
          <p:cNvSpPr txBox="1"/>
          <p:nvPr/>
        </p:nvSpPr>
        <p:spPr>
          <a:xfrm>
            <a:off x="4377625" y="963507"/>
            <a:ext cx="6849344" cy="49950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0" b="0" i="0" u="none" strike="noStrike" kern="1200" cap="none" spc="0" normalizeH="0" baseline="0" noProof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rgbClr val="DADADA"/>
                </a:solidFill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uLnTx/>
                <a:uFillTx/>
                <a:latin typeface="Calisto MT" panose="02040603050505030304"/>
                <a:ea typeface="+mn-ea"/>
                <a:cs typeface="+mn-cs"/>
              </a:rPr>
              <a:t>Thank You for patient Hearing</a:t>
            </a:r>
            <a:endParaRPr kumimoji="0" lang="en-US" sz="5200" b="0" i="0" u="none" strike="noStrike" kern="1200" cap="none" spc="0" normalizeH="0" baseline="0" noProof="0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solidFill>
                <a:srgbClr val="DADADA"/>
              </a:solidFill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cxnSp>
        <p:nvCxnSpPr>
          <p:cNvPr id="14" name="Straight Connector 10">
            <a:extLst>
              <a:ext uri="{FF2B5EF4-FFF2-40B4-BE49-F238E27FC236}">
                <a16:creationId xmlns:a16="http://schemas.microsoft.com/office/drawing/2014/main" xmlns="" id="{31CC7E9E-3FF6-4189-9B36-995A779F3C5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4055891" y="2057399"/>
            <a:ext cx="0" cy="27432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6476996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alibri Light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490</TotalTime>
  <Words>351</Words>
  <Application>Microsoft Office PowerPoint</Application>
  <PresentationFormat>Custom</PresentationFormat>
  <Paragraphs>104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0" baseType="lpstr">
      <vt:lpstr>Office Theme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1606117 - Rifat Bin Rashid</dc:creator>
  <cp:lastModifiedBy>Md. Shafqat Talukder</cp:lastModifiedBy>
  <cp:revision>22</cp:revision>
  <dcterms:created xsi:type="dcterms:W3CDTF">2022-09-22T08:02:39Z</dcterms:created>
  <dcterms:modified xsi:type="dcterms:W3CDTF">2024-02-12T08:32:34Z</dcterms:modified>
</cp:coreProperties>
</file>