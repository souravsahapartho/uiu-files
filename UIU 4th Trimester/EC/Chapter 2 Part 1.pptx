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78" r:id="rId7"/>
    <p:sldId id="260" r:id="rId8"/>
    <p:sldId id="262" r:id="rId9"/>
    <p:sldId id="263" r:id="rId10"/>
    <p:sldId id="264" r:id="rId11"/>
    <p:sldId id="277" r:id="rId12"/>
    <p:sldId id="271" r:id="rId13"/>
    <p:sldId id="279" r:id="rId14"/>
    <p:sldId id="272" r:id="rId15"/>
    <p:sldId id="280" r:id="rId16"/>
    <p:sldId id="273" r:id="rId17"/>
    <p:sldId id="281" r:id="rId18"/>
    <p:sldId id="275" r:id="rId19"/>
    <p:sldId id="282" r:id="rId20"/>
    <p:sldId id="276" r:id="rId21"/>
    <p:sldId id="283" r:id="rId22"/>
    <p:sldId id="26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A5E4E21-57DD-446D-9922-EB414A1869A3}">
          <p14:sldIdLst>
            <p14:sldId id="256"/>
            <p14:sldId id="257"/>
            <p14:sldId id="258"/>
            <p14:sldId id="259"/>
            <p14:sldId id="261"/>
            <p14:sldId id="278"/>
            <p14:sldId id="260"/>
            <p14:sldId id="262"/>
            <p14:sldId id="263"/>
            <p14:sldId id="264"/>
            <p14:sldId id="277"/>
            <p14:sldId id="271"/>
            <p14:sldId id="279"/>
            <p14:sldId id="272"/>
            <p14:sldId id="280"/>
            <p14:sldId id="273"/>
            <p14:sldId id="281"/>
            <p14:sldId id="275"/>
            <p14:sldId id="282"/>
            <p14:sldId id="276"/>
            <p14:sldId id="283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16" autoAdjust="0"/>
    <p:restoredTop sz="95196" autoAdjust="0"/>
  </p:normalViewPr>
  <p:slideViewPr>
    <p:cSldViewPr snapToGrid="0">
      <p:cViewPr varScale="1">
        <p:scale>
          <a:sx n="85" d="100"/>
          <a:sy n="85" d="100"/>
        </p:scale>
        <p:origin x="62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38D20-99DB-4716-9AA6-AF007E8E5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3B636B-E4E7-441D-BBDF-75AE92EE4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58FC0-BAE8-4E4A-8E87-255A89268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C4AD-2B46-4DC2-92AF-FA2E2E5BADAE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BE838-E2D4-489F-8D30-93F78360B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7C4E0-B4ED-4FF4-8C92-257974B5B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D329-92F2-44AE-A26C-0C654BB5F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290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3E8D2-856D-4263-AE8C-DBF109424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DDD8A-620E-4B2A-B276-2229BADBD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34BBC-7361-4255-9C88-B56BF629A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C4AD-2B46-4DC2-92AF-FA2E2E5BADAE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65863-94A6-42FF-BA7B-E0B6DF4F0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B1296-E361-4395-AFC9-729FD4503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D329-92F2-44AE-A26C-0C654BB5F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582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F4D93-D151-4B1E-AD23-2151DBD1F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7D68A-1AC5-4430-865B-75A7E8392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1F04E-AFDD-4A1E-BA70-139337E96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C4AD-2B46-4DC2-92AF-FA2E2E5BADAE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2AA75-41F2-4BB8-94CF-AA704AB3F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1A9DC-6FA1-479F-9149-583F33AA9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D329-92F2-44AE-A26C-0C654BB5F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017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11229-ECB1-4B77-A97F-B50A688EC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B73DE-D725-4F47-A744-48BB905934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C5822A-111A-4060-BFB8-C6D8B16D64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F5965-F546-4AC1-9579-54957168A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C4AD-2B46-4DC2-92AF-FA2E2E5BADAE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CF46C-9CC4-4791-9753-D4DD0CA65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39B59-AD6D-49F3-9480-40E6B4F51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D329-92F2-44AE-A26C-0C654BB5F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017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1BFC9-8342-4CFE-9812-5A36E8EEC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C68CD-9242-4CDC-8665-EDE94AA83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2E9893-A327-4D6C-AB3C-1868A1D5D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4FCA1C-A063-40D9-AB90-32B8786658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856944-DED1-4452-8A8B-674A61318D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23EE64-A7A5-42D0-A07A-63988693B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C4AD-2B46-4DC2-92AF-FA2E2E5BADAE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9A0B47-2B7C-43EA-9488-1E915CEC7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A00FEE-930B-4FF3-B325-B63BC7480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D329-92F2-44AE-A26C-0C654BB5F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804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CFAFC-B04A-4AC6-82D4-F6E2BD4A8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489830-3AD6-46B7-BB90-8B414FC75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C4AD-2B46-4DC2-92AF-FA2E2E5BADAE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034A8E-2D24-4053-840F-7B3733279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06A687-2FE0-4502-844F-28C8D7E81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D329-92F2-44AE-A26C-0C654BB5F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37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B6992D-BAA0-4024-8746-726F6EB67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C4AD-2B46-4DC2-92AF-FA2E2E5BADAE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A5C8D5-F872-42B6-B1F8-976376984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A9F2A-EC9A-4ACB-817C-C3D7D40AA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D329-92F2-44AE-A26C-0C654BB5F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328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EE800-2F0E-4268-A9AB-C9CC5DB7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E4744-4167-4F9D-ADE8-37E0E6C65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29B97-288D-4B2E-82DD-574C5DBC7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1DEE4-AAC3-45E9-AC98-66624A4FA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C4AD-2B46-4DC2-92AF-FA2E2E5BADAE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6B8B6-49F4-4B75-9F08-37342E3D8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FA851-3A4A-4BA0-80D4-A2EF038BC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D329-92F2-44AE-A26C-0C654BB5F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51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F1606-543F-4F0E-8931-843B3547A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D3923-02C7-4111-AB89-5EDADF1DC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D7B46-A6FE-4DFF-8A75-2588E9868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10EEDB-E9B5-4209-8CCC-7DFB2CDAA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C4AD-2B46-4DC2-92AF-FA2E2E5BADAE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84837-79D2-4F9A-B3F8-BBFD154E8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885E7-B427-4674-99F1-20B9E6713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D329-92F2-44AE-A26C-0C654BB5F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10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10962-36DB-47A2-B867-C5FCB3B68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936F5C-F9B5-4A9C-999E-0C07672EE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D72DB-B877-4609-9E97-8CE429ECE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C4AD-2B46-4DC2-92AF-FA2E2E5BADAE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5B81F-CEB2-47C9-B28D-4E8FC8EDB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C5C7F-C616-4B86-84F9-10CCBD170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D329-92F2-44AE-A26C-0C654BB5F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31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57C310-73C8-4C8C-959F-42344DDBA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C183D4-307A-478E-9A31-1743F80BB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15E01-A797-4ADD-A267-F5146388B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C4AD-2B46-4DC2-92AF-FA2E2E5BADAE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F2DDE-5D24-475B-8F6C-DA2550DA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433E8-F4F5-4D18-B9C8-4309E1A8C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D329-92F2-44AE-A26C-0C654BB5F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964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5DD809-DA83-41FF-968C-884D4F0EC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0C9D8-3DF2-424C-BEA8-17CFBA7CC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710CD-962B-4A88-A3E3-8AB9952BB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5C4AD-2B46-4DC2-92AF-FA2E2E5BADAE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518C2-4D8F-4F85-A85B-7510200056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96E97-2704-43C8-9EC8-686C4BC8A5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BD329-92F2-44AE-A26C-0C654BB5F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12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hafqat@cse.uiu.ac.bd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4" descr="One glowing light bulb in sea of unlit bulbs">
            <a:extLst>
              <a:ext uri="{FF2B5EF4-FFF2-40B4-BE49-F238E27FC236}">
                <a16:creationId xmlns:a16="http://schemas.microsoft.com/office/drawing/2014/main" id="{24E1FB21-659E-47E0-B23E-F42DC2670F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436"/>
          <a:stretch/>
        </p:blipFill>
        <p:spPr>
          <a:xfrm>
            <a:off x="2522358" y="0"/>
            <a:ext cx="9669642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049871-8F7B-46F8-A188-5F6EFF846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5726478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dirty="0"/>
              <a:t>Basic Circuit Laws and their Applications</a:t>
            </a:r>
            <a:br>
              <a:rPr lang="en-US" sz="5200" dirty="0"/>
            </a:br>
            <a:r>
              <a:rPr lang="fr-FR" sz="3200" dirty="0"/>
              <a:t>Section 2.1, 2.2, 2.3, 2.4, 2.5, 2.6</a:t>
            </a:r>
            <a:endParaRPr lang="en-US" sz="3200" dirty="0"/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D6A348E9-2728-AB8E-692E-9D086AB97679}"/>
              </a:ext>
            </a:extLst>
          </p:cNvPr>
          <p:cNvSpPr>
            <a:spLocks noGrp="1"/>
          </p:cNvSpPr>
          <p:nvPr/>
        </p:nvSpPr>
        <p:spPr>
          <a:xfrm>
            <a:off x="402734" y="5327464"/>
            <a:ext cx="2528725" cy="1066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95"/>
              </a:spcBef>
              <a:buNone/>
            </a:pPr>
            <a:r>
              <a:rPr lang="en-US" sz="1600" spc="-5" dirty="0">
                <a:solidFill>
                  <a:srgbClr val="585858"/>
                </a:solidFill>
                <a:latin typeface="Arial"/>
                <a:cs typeface="Arial"/>
              </a:rPr>
              <a:t>Md. Shafqat </a:t>
            </a:r>
            <a:r>
              <a:rPr lang="en-US" sz="1600" spc="-5" dirty="0" err="1">
                <a:solidFill>
                  <a:srgbClr val="585858"/>
                </a:solidFill>
                <a:latin typeface="Arial"/>
                <a:cs typeface="Arial"/>
              </a:rPr>
              <a:t>Talukder</a:t>
            </a:r>
            <a:r>
              <a:rPr lang="en-US" sz="1600" spc="-5" dirty="0">
                <a:solidFill>
                  <a:srgbClr val="585858"/>
                </a:solidFill>
                <a:latin typeface="Arial"/>
                <a:cs typeface="Arial"/>
              </a:rPr>
              <a:t> Rakin</a:t>
            </a:r>
            <a:endParaRPr lang="en-US" sz="1600" dirty="0">
              <a:latin typeface="Arial"/>
              <a:cs typeface="Arial"/>
            </a:endParaRP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spc="-5" dirty="0">
                <a:solidFill>
                  <a:srgbClr val="585858"/>
                </a:solidFill>
                <a:latin typeface="Arial"/>
                <a:cs typeface="Arial"/>
              </a:rPr>
              <a:t>Lecturer, Department of CSE,  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spc="-5" dirty="0">
                <a:solidFill>
                  <a:srgbClr val="585858"/>
                </a:solidFill>
                <a:latin typeface="Arial"/>
                <a:cs typeface="Arial"/>
              </a:rPr>
              <a:t>United International</a:t>
            </a:r>
            <a:r>
              <a:rPr lang="en-US" sz="1600" spc="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lang="en-US" sz="1600" spc="-5" dirty="0">
                <a:solidFill>
                  <a:srgbClr val="585858"/>
                </a:solidFill>
                <a:latin typeface="Arial"/>
                <a:cs typeface="Arial"/>
              </a:rPr>
              <a:t>University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spc="-5" dirty="0">
                <a:solidFill>
                  <a:srgbClr val="585858"/>
                </a:solidFill>
                <a:latin typeface="Arial"/>
                <a:cs typeface="Arial"/>
              </a:rPr>
              <a:t>Email id : </a:t>
            </a:r>
            <a:r>
              <a:rPr lang="en-US" sz="1600" spc="-5" dirty="0">
                <a:solidFill>
                  <a:srgbClr val="585858"/>
                </a:solidFill>
                <a:latin typeface="Arial"/>
                <a:cs typeface="Arial"/>
                <a:hlinkClick r:id="rId3"/>
              </a:rPr>
              <a:t>shafqat@cse.uiu.ac.bd</a:t>
            </a:r>
            <a:endParaRPr lang="en-US" sz="16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F879DB8C-B120-E674-7DD1-7E470526EE1E}"/>
              </a:ext>
            </a:extLst>
          </p:cNvPr>
          <p:cNvSpPr txBox="1"/>
          <p:nvPr/>
        </p:nvSpPr>
        <p:spPr>
          <a:xfrm>
            <a:off x="6819830" y="6012749"/>
            <a:ext cx="406400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r>
              <a:rPr sz="2400" spc="-5" dirty="0">
                <a:solidFill>
                  <a:srgbClr val="FFFF00"/>
                </a:solidFill>
                <a:latin typeface="Arial"/>
                <a:cs typeface="Arial"/>
              </a:rPr>
              <a:t>Courtesy:</a:t>
            </a:r>
            <a:r>
              <a:rPr lang="en-US" sz="2400" spc="-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FFFF00"/>
                </a:solidFill>
              </a:rPr>
              <a:t>Rifat Bin Rashid</a:t>
            </a:r>
          </a:p>
        </p:txBody>
      </p:sp>
    </p:spTree>
    <p:extLst>
      <p:ext uri="{BB962C8B-B14F-4D97-AF65-F5344CB8AC3E}">
        <p14:creationId xmlns:p14="http://schemas.microsoft.com/office/powerpoint/2010/main" val="295632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9899462-FC16-43B0-966B-FCA263450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93775" y="478232"/>
            <a:ext cx="5809306" cy="5918673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206669-824B-4A48-A27F-ABE4DB9CB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446" y="1053711"/>
            <a:ext cx="4933490" cy="14244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Resistance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AFEA932-2DF1-410C-A00A-7A1E7DBF7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9782" y="2639023"/>
            <a:ext cx="4800600" cy="0"/>
          </a:xfrm>
          <a:prstGeom prst="line">
            <a:avLst/>
          </a:prstGeom>
          <a:ln w="2222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B629AAF-DE03-4607-85A4-6E94411B0035}"/>
              </a:ext>
            </a:extLst>
          </p:cNvPr>
          <p:cNvSpPr txBox="1"/>
          <p:nvPr/>
        </p:nvSpPr>
        <p:spPr>
          <a:xfrm>
            <a:off x="947447" y="2799889"/>
            <a:ext cx="4933490" cy="29875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FFFFFF"/>
                </a:solidFill>
              </a:rPr>
              <a:t>R is resistance in ohms (Ω)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i="1">
                <a:solidFill>
                  <a:srgbClr val="FFFFFF"/>
                </a:solidFill>
              </a:rPr>
              <a:t>l </a:t>
            </a:r>
            <a:r>
              <a:rPr lang="en-US" sz="2200">
                <a:solidFill>
                  <a:srgbClr val="FFFFFF"/>
                </a:solidFill>
              </a:rPr>
              <a:t>is length of the conductor (m)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FFFFFF"/>
                </a:solidFill>
              </a:rPr>
              <a:t>A is cross-sectional area of conductor (m</a:t>
            </a:r>
            <a:r>
              <a:rPr lang="en-US" sz="2200" baseline="30000">
                <a:solidFill>
                  <a:srgbClr val="FFFFFF"/>
                </a:solidFill>
              </a:rPr>
              <a:t>2</a:t>
            </a:r>
            <a:r>
              <a:rPr lang="en-US" sz="2200">
                <a:solidFill>
                  <a:srgbClr val="FFFFFF"/>
                </a:solidFill>
              </a:rPr>
              <a:t>)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FFFFFF"/>
                </a:solidFill>
              </a:rPr>
              <a:t>ƿ is Resistivity of the material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FFFFFF"/>
                </a:solidFill>
              </a:rPr>
              <a:t>Notice the sign convention followed in the figure</a:t>
            </a:r>
            <a:endParaRPr lang="en-US" sz="2200" dirty="0">
              <a:solidFill>
                <a:srgbClr val="FFFFFF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85CB3A-7521-40BE-8426-336F94BA16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40201" y="457199"/>
            <a:ext cx="3319024" cy="31281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8320C8-994E-4BCF-8D50-6F0A64500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417" y="3566160"/>
            <a:ext cx="4773976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500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34348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5EE845-DC65-4734-8EBA-2FD29EF91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6657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Ohm’s Law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144863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F97A3D-0F3A-4D1F-8E66-F3B385F959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40" y="2239348"/>
            <a:ext cx="11438793" cy="28882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547514-A584-49A8-9F97-ACD9866DC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962" y="5390086"/>
            <a:ext cx="1974076" cy="112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37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DFF21D-E46A-49F2-960B-A8F8FBB49D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044575"/>
            <a:ext cx="7186613" cy="7778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847C4E-94BC-4D2A-8163-71B90B35C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881188"/>
            <a:ext cx="7186613" cy="4524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494DFF-12EC-4D71-BB05-7B52D0E49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2390775"/>
            <a:ext cx="7186613" cy="5016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D520E8-5700-4AD3-A76E-711CA16185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600" y="2951163"/>
            <a:ext cx="4030663" cy="28559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AD420B-B1F3-43BE-9CBB-D31F150357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00" y="2951163"/>
            <a:ext cx="3097213" cy="28559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14316B-F3E3-4BEA-BFC9-64D7023B4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Branches and Nodes</a:t>
            </a:r>
          </a:p>
        </p:txBody>
      </p:sp>
    </p:spTree>
    <p:extLst>
      <p:ext uri="{BB962C8B-B14F-4D97-AF65-F5344CB8AC3E}">
        <p14:creationId xmlns:p14="http://schemas.microsoft.com/office/powerpoint/2010/main" val="1655322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8EAC66-3B77-B030-84A1-5F16DB32F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333" y="1392261"/>
            <a:ext cx="3147333" cy="4198984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CC1CB0-F885-2343-D6E4-6ACEB7537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6551" y="5141503"/>
            <a:ext cx="4598896" cy="64847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 the nodes for this circuit</a:t>
            </a:r>
          </a:p>
        </p:txBody>
      </p:sp>
    </p:spTree>
    <p:extLst>
      <p:ext uri="{BB962C8B-B14F-4D97-AF65-F5344CB8AC3E}">
        <p14:creationId xmlns:p14="http://schemas.microsoft.com/office/powerpoint/2010/main" val="873884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25173BD-75F9-4151-B34D-868CA5F94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636" y="910712"/>
            <a:ext cx="7908797" cy="503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582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D5666-8DCD-479E-AD69-2C845FFBA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Series and Parallel Circuits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4D8D68-826C-4DF5-9435-197E104F30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9692" y="3022039"/>
            <a:ext cx="10112616" cy="1958510"/>
          </a:xfrm>
        </p:spPr>
      </p:pic>
    </p:spTree>
    <p:extLst>
      <p:ext uri="{BB962C8B-B14F-4D97-AF65-F5344CB8AC3E}">
        <p14:creationId xmlns:p14="http://schemas.microsoft.com/office/powerpoint/2010/main" val="2881019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3E124-6D14-4492-BCF2-791CC3B95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Kirchhoff's Current Law (KCL)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298ABA3-477C-47F4-BFBA-BAF914E1E2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26229" y="3349310"/>
            <a:ext cx="4435224" cy="586791"/>
          </a:xfr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63D274-6A01-42AA-976B-107325C9A0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393" r="3" b="3"/>
          <a:stretch/>
        </p:blipFill>
        <p:spPr>
          <a:xfrm>
            <a:off x="0" y="2496310"/>
            <a:ext cx="6236208" cy="36601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1AB1B2-53A9-4584-8412-AF7E82A337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5564" y="4076608"/>
            <a:ext cx="5425910" cy="106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628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62902-C58F-494A-A733-2FE677F8C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Applying KCL to Current Sources in Parallel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4D515E-674F-4C5C-83E2-71DEEBEE48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3388" y="1825625"/>
            <a:ext cx="3185223" cy="4351338"/>
          </a:xfrm>
        </p:spPr>
      </p:pic>
    </p:spTree>
    <p:extLst>
      <p:ext uri="{BB962C8B-B14F-4D97-AF65-F5344CB8AC3E}">
        <p14:creationId xmlns:p14="http://schemas.microsoft.com/office/powerpoint/2010/main" val="1417208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55AD7-76A5-4A2F-AD54-517307B2B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Kirchhoff's Voltage Law (KVL)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A5F368-05A6-474F-84E1-DEAA095FA3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5981" y="2031568"/>
            <a:ext cx="9160034" cy="99830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41CF77-E5CE-41BE-8714-3EFD1AAAF2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66" b="32539"/>
          <a:stretch/>
        </p:blipFill>
        <p:spPr>
          <a:xfrm>
            <a:off x="3702956" y="3446104"/>
            <a:ext cx="4414676" cy="20737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6DDC3B-659F-4852-993D-BF877C5E3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592" y="5877051"/>
            <a:ext cx="5114813" cy="5994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2A4FDF-5881-46E8-AC3D-FD7E0384EC5D}"/>
              </a:ext>
            </a:extLst>
          </p:cNvPr>
          <p:cNvSpPr txBox="1"/>
          <p:nvPr/>
        </p:nvSpPr>
        <p:spPr>
          <a:xfrm>
            <a:off x="3538592" y="5536171"/>
            <a:ext cx="2927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In the above example, </a:t>
            </a:r>
          </a:p>
        </p:txBody>
      </p:sp>
    </p:spTree>
    <p:extLst>
      <p:ext uri="{BB962C8B-B14F-4D97-AF65-F5344CB8AC3E}">
        <p14:creationId xmlns:p14="http://schemas.microsoft.com/office/powerpoint/2010/main" val="1011401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C2FAB-322A-9EC2-A1A4-A56FE9E4B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KVL Rules: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F2340-3F3B-4F3C-0839-99E73FCB1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Assign currents in all the branches with suitable direction.</a:t>
            </a:r>
          </a:p>
          <a:p>
            <a:endParaRPr lang="en-US" dirty="0"/>
          </a:p>
          <a:p>
            <a:r>
              <a:rPr lang="en-US" dirty="0"/>
              <a:t>Name all the nodes and terminals.</a:t>
            </a:r>
          </a:p>
          <a:p>
            <a:endParaRPr lang="en-US" dirty="0"/>
          </a:p>
          <a:p>
            <a:r>
              <a:rPr lang="en-US" dirty="0"/>
              <a:t>Add voltage polarity (+/-) to all the elements according to assigned current direction. </a:t>
            </a:r>
          </a:p>
          <a:p>
            <a:endParaRPr lang="en-US" dirty="0"/>
          </a:p>
          <a:p>
            <a:r>
              <a:rPr lang="en-US" dirty="0"/>
              <a:t>Apply KVL by collecting voltages with appropriate signs along the independent loops.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797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3651D5-93A4-5537-3C9A-A6BD86296B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00" r="6760" b="23477"/>
          <a:stretch/>
        </p:blipFill>
        <p:spPr>
          <a:xfrm>
            <a:off x="3953450" y="726546"/>
            <a:ext cx="8088961" cy="4256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9AE660-F633-45E2-640F-8B6AE24DE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96" y="5092159"/>
            <a:ext cx="6812125" cy="16352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DC95EB-E8D0-8388-9568-58E84D3E5A08}"/>
              </a:ext>
            </a:extLst>
          </p:cNvPr>
          <p:cNvSpPr txBox="1"/>
          <p:nvPr/>
        </p:nvSpPr>
        <p:spPr>
          <a:xfrm>
            <a:off x="7800367" y="6358039"/>
            <a:ext cx="417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Sadiku_Practice_Problem_2.8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D1A8CF-7816-84E2-A67C-831F569A1E02}"/>
              </a:ext>
            </a:extLst>
          </p:cNvPr>
          <p:cNvSpPr txBox="1"/>
          <p:nvPr/>
        </p:nvSpPr>
        <p:spPr>
          <a:xfrm>
            <a:off x="1353670" y="5988707"/>
            <a:ext cx="114748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2.5 A</a:t>
            </a:r>
          </a:p>
        </p:txBody>
      </p:sp>
    </p:spTree>
    <p:extLst>
      <p:ext uri="{BB962C8B-B14F-4D97-AF65-F5344CB8AC3E}">
        <p14:creationId xmlns:p14="http://schemas.microsoft.com/office/powerpoint/2010/main" val="705536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9037A7-3561-D34D-65EC-D513D1F6F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611" y="0"/>
            <a:ext cx="47067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625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D5FAE5-5E04-9A1E-6173-1AD7DFF06A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1739"/>
          <a:stretch/>
        </p:blipFill>
        <p:spPr>
          <a:xfrm>
            <a:off x="2157586" y="1853441"/>
            <a:ext cx="7556254" cy="43607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9A03C5-12F1-4923-191D-9930F7D3C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743" y="1331024"/>
            <a:ext cx="5848350" cy="4476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8127FD-4545-2FDD-292A-EA05274A8AFE}"/>
              </a:ext>
            </a:extLst>
          </p:cNvPr>
          <p:cNvSpPr txBox="1"/>
          <p:nvPr/>
        </p:nvSpPr>
        <p:spPr>
          <a:xfrm>
            <a:off x="8332212" y="6488668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Sadiku_Example_2.6</a:t>
            </a:r>
          </a:p>
        </p:txBody>
      </p:sp>
    </p:spTree>
    <p:extLst>
      <p:ext uri="{BB962C8B-B14F-4D97-AF65-F5344CB8AC3E}">
        <p14:creationId xmlns:p14="http://schemas.microsoft.com/office/powerpoint/2010/main" val="3102437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8127FD-4545-2FDD-292A-EA05274A8AFE}"/>
              </a:ext>
            </a:extLst>
          </p:cNvPr>
          <p:cNvSpPr txBox="1"/>
          <p:nvPr/>
        </p:nvSpPr>
        <p:spPr>
          <a:xfrm>
            <a:off x="8332212" y="6488668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Sadiku_Example_2.6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DBC877-04B6-D4BE-0029-C2691F041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300" y="1148705"/>
            <a:ext cx="7992865" cy="490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361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92BBDF-FC92-E5D5-A6B2-74C1C5D43B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722" r="9897" b="36069"/>
          <a:stretch/>
        </p:blipFill>
        <p:spPr>
          <a:xfrm>
            <a:off x="4948341" y="1090086"/>
            <a:ext cx="6824498" cy="38551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A6D288-3694-9886-7BD9-5F1113D9D5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325"/>
          <a:stretch/>
        </p:blipFill>
        <p:spPr>
          <a:xfrm>
            <a:off x="419161" y="4844345"/>
            <a:ext cx="4375571" cy="14919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0ECA8C-A7CF-A728-C1A5-C60E4CFCEF06}"/>
              </a:ext>
            </a:extLst>
          </p:cNvPr>
          <p:cNvSpPr txBox="1"/>
          <p:nvPr/>
        </p:nvSpPr>
        <p:spPr>
          <a:xfrm>
            <a:off x="6763289" y="6336328"/>
            <a:ext cx="417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Sadiku_Practice_Problem_2.6</a:t>
            </a:r>
          </a:p>
        </p:txBody>
      </p:sp>
    </p:spTree>
    <p:extLst>
      <p:ext uri="{BB962C8B-B14F-4D97-AF65-F5344CB8AC3E}">
        <p14:creationId xmlns:p14="http://schemas.microsoft.com/office/powerpoint/2010/main" val="731909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0ECA8C-A7CF-A728-C1A5-C60E4CFCEF06}"/>
              </a:ext>
            </a:extLst>
          </p:cNvPr>
          <p:cNvSpPr txBox="1"/>
          <p:nvPr/>
        </p:nvSpPr>
        <p:spPr>
          <a:xfrm>
            <a:off x="6763289" y="6336328"/>
            <a:ext cx="417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Sadiku_Practice_Problem_2.6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E6AAB1-B9CA-DB52-407F-1C357F086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6080" y="772246"/>
            <a:ext cx="3639839" cy="531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80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3C1CB2-1099-CE2A-37EA-B6463A795C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71" t="5949" b="19516"/>
          <a:stretch/>
        </p:blipFill>
        <p:spPr>
          <a:xfrm>
            <a:off x="547175" y="1146659"/>
            <a:ext cx="11097649" cy="43853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C304C9-AA9D-C8F6-4599-E54C58869703}"/>
              </a:ext>
            </a:extLst>
          </p:cNvPr>
          <p:cNvSpPr txBox="1"/>
          <p:nvPr/>
        </p:nvSpPr>
        <p:spPr>
          <a:xfrm>
            <a:off x="7175216" y="6302055"/>
            <a:ext cx="417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Sadiku_Practice_Problem_2.7</a:t>
            </a:r>
          </a:p>
        </p:txBody>
      </p:sp>
    </p:spTree>
    <p:extLst>
      <p:ext uri="{BB962C8B-B14F-4D97-AF65-F5344CB8AC3E}">
        <p14:creationId xmlns:p14="http://schemas.microsoft.com/office/powerpoint/2010/main" val="2443339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C304C9-AA9D-C8F6-4599-E54C58869703}"/>
              </a:ext>
            </a:extLst>
          </p:cNvPr>
          <p:cNvSpPr txBox="1"/>
          <p:nvPr/>
        </p:nvSpPr>
        <p:spPr>
          <a:xfrm>
            <a:off x="7175216" y="6302055"/>
            <a:ext cx="417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Sadiku_Practice_Problem_2.7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450D26-6862-1B7D-5EC9-172DF1B2F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665" y="977020"/>
            <a:ext cx="3474670" cy="520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2583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B4B3B6-E6D1-E896-731D-E4D17EC9FC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131"/>
          <a:stretch/>
        </p:blipFill>
        <p:spPr>
          <a:xfrm>
            <a:off x="791263" y="857174"/>
            <a:ext cx="9054888" cy="48518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23726E-3A7A-2D1A-EB5E-D82278934E08}"/>
              </a:ext>
            </a:extLst>
          </p:cNvPr>
          <p:cNvSpPr txBox="1"/>
          <p:nvPr/>
        </p:nvSpPr>
        <p:spPr>
          <a:xfrm>
            <a:off x="7175216" y="6302055"/>
            <a:ext cx="4326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Sadiku_Exercise_Problem_2.15</a:t>
            </a:r>
          </a:p>
        </p:txBody>
      </p:sp>
    </p:spTree>
    <p:extLst>
      <p:ext uri="{BB962C8B-B14F-4D97-AF65-F5344CB8AC3E}">
        <p14:creationId xmlns:p14="http://schemas.microsoft.com/office/powerpoint/2010/main" val="1995150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23726E-3A7A-2D1A-EB5E-D82278934E08}"/>
              </a:ext>
            </a:extLst>
          </p:cNvPr>
          <p:cNvSpPr txBox="1"/>
          <p:nvPr/>
        </p:nvSpPr>
        <p:spPr>
          <a:xfrm>
            <a:off x="7175216" y="6302055"/>
            <a:ext cx="4326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Sadiku_Exercise_Problem_2.15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A4DDF7-D10F-820A-689B-6E3D73602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731" y="1058974"/>
            <a:ext cx="3886537" cy="47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4948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0C67D-BE2B-4F54-B8C0-7FE41C6D4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97609"/>
            <a:ext cx="10515600" cy="66278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76228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295</Words>
  <Application>Microsoft Office PowerPoint</Application>
  <PresentationFormat>Widescreen</PresentationFormat>
  <Paragraphs>48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Basic Circuit Laws and their Applications Section 2.1, 2.2, 2.3, 2.4, 2.5, 2.6</vt:lpstr>
      <vt:lpstr>Resistance</vt:lpstr>
      <vt:lpstr>Ohm’s Law</vt:lpstr>
      <vt:lpstr>Branches and Nodes</vt:lpstr>
      <vt:lpstr>PowerPoint Presentation</vt:lpstr>
      <vt:lpstr>PowerPoint Presentation</vt:lpstr>
      <vt:lpstr>Series and Parallel Circuits</vt:lpstr>
      <vt:lpstr>Kirchhoff's Current Law (KCL)</vt:lpstr>
      <vt:lpstr>Applying KCL to Current Sources in Parallel</vt:lpstr>
      <vt:lpstr>Kirchhoff's Voltage Law (KVL)</vt:lpstr>
      <vt:lpstr>KVL Rules: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Laws and their Applications</dc:title>
  <dc:creator>Sajeed Mehrab</dc:creator>
  <cp:lastModifiedBy>Shafqat Rakin</cp:lastModifiedBy>
  <cp:revision>22</cp:revision>
  <dcterms:created xsi:type="dcterms:W3CDTF">2021-07-09T17:06:04Z</dcterms:created>
  <dcterms:modified xsi:type="dcterms:W3CDTF">2024-01-29T05:35:03Z</dcterms:modified>
</cp:coreProperties>
</file>