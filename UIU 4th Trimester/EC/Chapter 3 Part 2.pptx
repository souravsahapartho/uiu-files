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92" r:id="rId5"/>
    <p:sldId id="303" r:id="rId6"/>
    <p:sldId id="293" r:id="rId7"/>
    <p:sldId id="304" r:id="rId8"/>
    <p:sldId id="294" r:id="rId9"/>
    <p:sldId id="305" r:id="rId10"/>
    <p:sldId id="295" r:id="rId11"/>
    <p:sldId id="306" r:id="rId12"/>
    <p:sldId id="296" r:id="rId13"/>
    <p:sldId id="307" r:id="rId14"/>
    <p:sldId id="299" r:id="rId15"/>
    <p:sldId id="308" r:id="rId16"/>
    <p:sldId id="300" r:id="rId17"/>
    <p:sldId id="313" r:id="rId18"/>
    <p:sldId id="301" r:id="rId19"/>
    <p:sldId id="314" r:id="rId20"/>
    <p:sldId id="297" r:id="rId21"/>
    <p:sldId id="309" r:id="rId22"/>
    <p:sldId id="302" r:id="rId23"/>
    <p:sldId id="315" r:id="rId24"/>
    <p:sldId id="312" r:id="rId25"/>
    <p:sldId id="31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222D27-C745-DCE2-E1FA-E2DFE4C5C5AD}" v="46" dt="2023-03-01T14:07:51.605"/>
    <p1510:client id="{D0749517-E927-CA77-1328-E786C81CD12B}" v="220" dt="2023-03-01T14:29:21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5" d="100"/>
          <a:sy n="85" d="100"/>
        </p:scale>
        <p:origin x="49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D2BB-3506-E4A5-0502-CEA8330C0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C95216-975A-CD08-FC75-4ABCC4040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9C529-8C81-895D-7347-D83AB9A23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37A1D-BE0C-3EB3-2CE2-C81F491CA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69113-FB46-869A-15CB-FDFF07680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06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4C455-E77A-FD68-A027-AC636FF1B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8CC7B-F700-C070-3926-EA369A8FB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CCABC-D55E-FE38-F208-16891A420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880B4-6073-D19D-9A50-A850D9BED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413B4-68A5-8D59-B499-2F00674C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19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13BF-9B83-37AC-C104-2C398B593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86443-4330-A1B1-B749-2803F868D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968B9-4B4F-672C-0823-E3854FE8C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8904B-7804-C9BE-2671-82C75430E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51D3D-3FB4-F408-5B84-F2A76B16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343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77A35-DE00-7A80-CC00-3D024DC2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A56AA-B078-4423-7A93-2A422AACD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A304E-AFF3-8546-E967-AB426EB6A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A435E-C153-5E9F-00B4-874F92B18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2D663-D51A-755E-D924-CDC54E2C1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DB03-CD9E-4EE9-66D8-755141B01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3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DB26-DBF0-69FD-9D78-3F4664CC0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ED74A-2239-009B-2939-38ABAF327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0A8CE-51F4-E7AC-208A-531E28A19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1C2642-5098-E2E3-154F-877FF6007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14691C-14EC-3D16-38A8-5237D52CC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DC9F79-3FF5-CFF2-46F5-E57D77BD6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C474A3-01BA-859A-26EB-ECE92A5D4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724E6B-E001-82CE-1F15-58127D873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436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E718-F4A1-001B-0E37-B59C654D5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963A2C-A1D3-3A17-07E5-81B6288BC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F1D16-124B-9AA7-B14E-B839CE9C8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7FA7A-7CDD-9514-E9F9-FC4D125DA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533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FE9873-1127-6769-E15A-5D3EB3AA5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1BFB77-7685-107C-20DD-F02D1C11E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BBFAF-E36E-209C-22B7-0A4172CC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56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0B043-56C0-E4FF-7042-DCD5835BC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12E22-327A-C36E-808A-DE8144F8D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DC268-F76A-27D3-2376-D9E312EBB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40E58-DC5C-AFD6-4753-0CC6A6B21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B42D5-2ADA-5987-A571-FEDE8A4D1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E0CA9-23C0-E12E-66A6-80FB1AAB7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25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88D8-17BD-D348-50BF-FC7E1A194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AAE64F-926B-078B-FB43-E80FE4B18F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F858A-1607-FCEF-8A71-EDC613A324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32871-F4DB-4167-70CA-FF8EC6D03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133DD-70DE-5597-C8BC-764D97410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15E11-1B4D-E31A-F93A-E85683A04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37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69D2-B05D-D9DD-0D9E-1908EF438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6A1A1C-9628-F764-C9FA-E94AB74E6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FCFDE-4F81-FE12-E19D-E43A49457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78B07-389D-F626-4D6E-78AB47A4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B4C87-BA94-D0BD-37A2-7E76D0731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68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085CC-DE84-996D-DFCF-F3ADAD528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3C947-5894-3709-B4AC-127C0A343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0CC84-9288-706F-5F70-83E69204B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BA1B1-2F99-4812-8EE7-72A17929DDCD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39FD1-E3D2-1BA9-CEB3-9A033BC8A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69D48-FE90-86FB-C15B-494D59B3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88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59D26E-E77C-7A25-E7B3-78B32425C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DF16E-5440-3E63-BD65-B4A9F918F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E4BAE-DAD5-3583-B62F-7EF7369C11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4BA1B1-2F99-4812-8EE7-72A17929DDCD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0E42E-C4DB-FF3D-24D8-1369DC9DE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1330A-8DF9-DA89-F4E0-B1A70C8D6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596AA-A108-4C07-A2C9-317202669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3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hafqat@cse.uiu.ac.b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ED06AC-5BDA-B2CE-6050-846A09D5F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9431" y="2288856"/>
            <a:ext cx="6420125" cy="2150719"/>
          </a:xfrm>
          <a:noFill/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080808"/>
                </a:solidFill>
              </a:rPr>
              <a:t>  </a:t>
            </a:r>
            <a:r>
              <a:rPr lang="en-US" sz="7200" b="1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Mesh Analysis</a:t>
            </a:r>
            <a:br>
              <a:rPr lang="en-US" sz="7200" b="1" dirty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Arial" panose="020B0604020202020204" pitchFamily="34" charset="0"/>
                <a:ea typeface="Arial" panose="020B0604020202020204" pitchFamily="34" charset="0"/>
              </a:rPr>
              <a:t>Section 3.1, 3.2, 3.4, 3.5</a:t>
            </a:r>
            <a:br>
              <a:rPr lang="en-US" sz="9600" b="1" dirty="0">
                <a:solidFill>
                  <a:srgbClr val="FFFFFF"/>
                </a:solidFill>
              </a:rPr>
            </a:br>
            <a:endParaRPr lang="en-US" sz="3600" b="1" dirty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Subtitle 4">
            <a:extLst>
              <a:ext uri="{FF2B5EF4-FFF2-40B4-BE49-F238E27FC236}">
                <a16:creationId xmlns:a16="http://schemas.microsoft.com/office/drawing/2014/main" id="{34DD34A7-0713-420D-0D34-4EE88CEA8E18}"/>
              </a:ext>
            </a:extLst>
          </p:cNvPr>
          <p:cNvSpPr>
            <a:spLocks noGrp="1"/>
          </p:cNvSpPr>
          <p:nvPr/>
        </p:nvSpPr>
        <p:spPr>
          <a:xfrm>
            <a:off x="591083" y="5362614"/>
            <a:ext cx="2528725" cy="106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95"/>
              </a:spcBef>
              <a:buNone/>
            </a:pPr>
            <a:r>
              <a:rPr lang="en-US" sz="1600" b="1" spc="-5" dirty="0">
                <a:latin typeface="Arial"/>
                <a:cs typeface="Arial"/>
              </a:rPr>
              <a:t>Md. Shafqat </a:t>
            </a:r>
            <a:r>
              <a:rPr lang="en-US" sz="1600" b="1" spc="-5" dirty="0" err="1">
                <a:latin typeface="Arial"/>
                <a:cs typeface="Arial"/>
              </a:rPr>
              <a:t>Talukder</a:t>
            </a:r>
            <a:r>
              <a:rPr lang="en-US" sz="1600" b="1" spc="-5" dirty="0">
                <a:latin typeface="Arial"/>
                <a:cs typeface="Arial"/>
              </a:rPr>
              <a:t> Rakin</a:t>
            </a:r>
            <a:endParaRPr lang="en-US" sz="1600" b="1" dirty="0">
              <a:latin typeface="Arial"/>
              <a:cs typeface="Arial"/>
            </a:endParaRP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Lecturer, Department of CSE,  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United International</a:t>
            </a:r>
            <a:r>
              <a:rPr lang="en-US" sz="1600" b="1" spc="10" dirty="0">
                <a:latin typeface="Arial"/>
                <a:cs typeface="Arial"/>
              </a:rPr>
              <a:t> </a:t>
            </a:r>
            <a:r>
              <a:rPr lang="en-US" sz="1600" b="1" spc="-5" dirty="0">
                <a:latin typeface="Arial"/>
                <a:cs typeface="Arial"/>
              </a:rPr>
              <a:t>University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Email id : </a:t>
            </a:r>
            <a:r>
              <a:rPr lang="en-US" sz="1600" b="1" spc="-5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shafqat@cse.uiu.ac.bd</a:t>
            </a:r>
            <a:endParaRPr lang="en-US" sz="1600" b="1" dirty="0">
              <a:solidFill>
                <a:schemeClr val="accent4">
                  <a:lumMod val="20000"/>
                  <a:lumOff val="80000"/>
                </a:schemeClr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17" name="object 5">
            <a:extLst>
              <a:ext uri="{FF2B5EF4-FFF2-40B4-BE49-F238E27FC236}">
                <a16:creationId xmlns:a16="http://schemas.microsoft.com/office/drawing/2014/main" id="{12F5FB85-5C29-5584-1441-C2D8ADD60577}"/>
              </a:ext>
            </a:extLst>
          </p:cNvPr>
          <p:cNvSpPr txBox="1"/>
          <p:nvPr/>
        </p:nvSpPr>
        <p:spPr>
          <a:xfrm>
            <a:off x="7903913" y="6135298"/>
            <a:ext cx="406400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r>
              <a:rPr sz="2400" spc="-5" dirty="0">
                <a:latin typeface="Arial"/>
                <a:cs typeface="Arial"/>
              </a:rPr>
              <a:t>Courtesy:</a:t>
            </a:r>
            <a:r>
              <a:rPr lang="en-US" sz="2400" spc="-5" dirty="0">
                <a:latin typeface="Arial"/>
                <a:cs typeface="Arial"/>
              </a:rPr>
              <a:t> </a:t>
            </a:r>
            <a:r>
              <a:rPr lang="en-US" sz="2400" dirty="0"/>
              <a:t>Rifat Bin Rashid</a:t>
            </a:r>
          </a:p>
        </p:txBody>
      </p:sp>
    </p:spTree>
    <p:extLst>
      <p:ext uri="{BB962C8B-B14F-4D97-AF65-F5344CB8AC3E}">
        <p14:creationId xmlns:p14="http://schemas.microsoft.com/office/powerpoint/2010/main" val="1307104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5CCCD6-25F7-0043-8FBB-DE8981AE756F}"/>
              </a:ext>
            </a:extLst>
          </p:cNvPr>
          <p:cNvSpPr txBox="1"/>
          <p:nvPr/>
        </p:nvSpPr>
        <p:spPr>
          <a:xfrm>
            <a:off x="2088859" y="612396"/>
            <a:ext cx="7675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AD3BD1-9E29-AB51-908E-524D9005D66D}"/>
              </a:ext>
            </a:extLst>
          </p:cNvPr>
          <p:cNvSpPr txBox="1"/>
          <p:nvPr/>
        </p:nvSpPr>
        <p:spPr>
          <a:xfrm>
            <a:off x="1627465" y="498931"/>
            <a:ext cx="7907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and Mesh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7D06E8-15CA-8A5E-7E87-8DB06A26E624}"/>
              </a:ext>
            </a:extLst>
          </p:cNvPr>
          <p:cNvSpPr txBox="1"/>
          <p:nvPr/>
        </p:nvSpPr>
        <p:spPr>
          <a:xfrm>
            <a:off x="1435190" y="1903224"/>
            <a:ext cx="3397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Loop: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closed path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507BA2-180F-FF47-F35B-D627F87DB987}"/>
              </a:ext>
            </a:extLst>
          </p:cNvPr>
          <p:cNvSpPr/>
          <p:nvPr/>
        </p:nvSpPr>
        <p:spPr>
          <a:xfrm>
            <a:off x="274320" y="381564"/>
            <a:ext cx="11643360" cy="630687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48CA16-94AF-1DA3-9CEC-E6F53099684B}"/>
              </a:ext>
            </a:extLst>
          </p:cNvPr>
          <p:cNvSpPr txBox="1"/>
          <p:nvPr/>
        </p:nvSpPr>
        <p:spPr>
          <a:xfrm>
            <a:off x="1379313" y="2630398"/>
            <a:ext cx="91959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mesh is a loop which does not contain any other loops within it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9F2A27-8099-ECB9-0ECB-6A88CC96C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259" y="3551523"/>
            <a:ext cx="5347481" cy="253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243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5CCCD6-25F7-0043-8FBB-DE8981AE756F}"/>
              </a:ext>
            </a:extLst>
          </p:cNvPr>
          <p:cNvSpPr txBox="1"/>
          <p:nvPr/>
        </p:nvSpPr>
        <p:spPr>
          <a:xfrm>
            <a:off x="2088859" y="612396"/>
            <a:ext cx="7675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8E951-09D0-D562-78A4-E586B4205EB6}"/>
              </a:ext>
            </a:extLst>
          </p:cNvPr>
          <p:cNvSpPr txBox="1"/>
          <p:nvPr/>
        </p:nvSpPr>
        <p:spPr>
          <a:xfrm>
            <a:off x="4308267" y="540106"/>
            <a:ext cx="28085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Analysis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2D3AD-8B58-5100-CB6B-18D177853243}"/>
              </a:ext>
            </a:extLst>
          </p:cNvPr>
          <p:cNvSpPr txBox="1"/>
          <p:nvPr/>
        </p:nvSpPr>
        <p:spPr>
          <a:xfrm>
            <a:off x="3660395" y="1189701"/>
            <a:ext cx="5863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: Finding the mesh Currents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B6360B-4D79-D5C8-CD6A-898401AE3D0C}"/>
              </a:ext>
            </a:extLst>
          </p:cNvPr>
          <p:cNvSpPr/>
          <p:nvPr/>
        </p:nvSpPr>
        <p:spPr>
          <a:xfrm>
            <a:off x="274320" y="381564"/>
            <a:ext cx="11643360" cy="630687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E2161B-6663-3A98-71F0-B253276D7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636" y="2012421"/>
            <a:ext cx="9997706" cy="365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256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Sadiku_Example_3.5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CF2741-9E02-6D7F-3514-1BF7EB0A71B0}"/>
              </a:ext>
            </a:extLst>
          </p:cNvPr>
          <p:cNvSpPr txBox="1"/>
          <p:nvPr/>
        </p:nvSpPr>
        <p:spPr>
          <a:xfrm>
            <a:off x="1361661" y="1235291"/>
            <a:ext cx="90306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circuit in Fig , find the branch currents I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using mesh analysis.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651DB6-725A-6221-46C6-7DFBBD112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152" y="2220176"/>
            <a:ext cx="5145695" cy="360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31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Sadiku_Example_3.5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328" y="1422628"/>
            <a:ext cx="7040562" cy="300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29" y="4752567"/>
            <a:ext cx="4543425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5138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CF2741-9E02-6D7F-3514-1BF7EB0A71B0}"/>
              </a:ext>
            </a:extLst>
          </p:cNvPr>
          <p:cNvSpPr txBox="1"/>
          <p:nvPr/>
        </p:nvSpPr>
        <p:spPr>
          <a:xfrm>
            <a:off x="1361661" y="1235291"/>
            <a:ext cx="90306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analysis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the current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circuit of Fig. below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F9F60-A0D6-DE1B-4AD0-BF6268C72E61}"/>
              </a:ext>
            </a:extLst>
          </p:cNvPr>
          <p:cNvSpPr txBox="1"/>
          <p:nvPr/>
        </p:nvSpPr>
        <p:spPr>
          <a:xfrm>
            <a:off x="7552985" y="636939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Sadiku_Example_3.6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E3D387-9DF7-8213-8F20-B4CB55A72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432" y="2220176"/>
            <a:ext cx="5391150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01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F9F60-A0D6-DE1B-4AD0-BF6268C72E61}"/>
              </a:ext>
            </a:extLst>
          </p:cNvPr>
          <p:cNvSpPr txBox="1"/>
          <p:nvPr/>
        </p:nvSpPr>
        <p:spPr>
          <a:xfrm>
            <a:off x="7552985" y="636939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Sadiku_Example_3.6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001" y="1667071"/>
            <a:ext cx="7402512" cy="356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513" y="943353"/>
            <a:ext cx="2838803" cy="5339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1397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CF2741-9E02-6D7F-3514-1BF7EB0A71B0}"/>
              </a:ext>
            </a:extLst>
          </p:cNvPr>
          <p:cNvSpPr txBox="1"/>
          <p:nvPr/>
        </p:nvSpPr>
        <p:spPr>
          <a:xfrm>
            <a:off x="1361661" y="1235291"/>
            <a:ext cx="90306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analysis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the current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circuit of Fig. below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F9F60-A0D6-DE1B-4AD0-BF6268C72E61}"/>
              </a:ext>
            </a:extLst>
          </p:cNvPr>
          <p:cNvSpPr txBox="1"/>
          <p:nvPr/>
        </p:nvSpPr>
        <p:spPr>
          <a:xfrm>
            <a:off x="7552985" y="6369398"/>
            <a:ext cx="417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Sadiku_Practice_Problem_3.6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FF1C98-9866-7BCA-619A-CD30CBA3B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823" y="2102943"/>
            <a:ext cx="5993113" cy="3519765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890" y="5629239"/>
            <a:ext cx="127635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0382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F9F60-A0D6-DE1B-4AD0-BF6268C72E61}"/>
              </a:ext>
            </a:extLst>
          </p:cNvPr>
          <p:cNvSpPr txBox="1"/>
          <p:nvPr/>
        </p:nvSpPr>
        <p:spPr>
          <a:xfrm>
            <a:off x="7552985" y="6369398"/>
            <a:ext cx="417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Sadiku_Practice_Problem_3.6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73" y="974231"/>
            <a:ext cx="3577801" cy="527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28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F9F60-A0D6-DE1B-4AD0-BF6268C72E61}"/>
              </a:ext>
            </a:extLst>
          </p:cNvPr>
          <p:cNvSpPr txBox="1"/>
          <p:nvPr/>
        </p:nvSpPr>
        <p:spPr>
          <a:xfrm>
            <a:off x="7552985" y="6369398"/>
            <a:ext cx="4326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Sadiku_Exercise_Problem_3.41</a:t>
            </a: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4B6477-A5A8-EB6C-29DD-5248E3C8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299" y="1195387"/>
            <a:ext cx="6403119" cy="487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742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F9F60-A0D6-DE1B-4AD0-BF6268C72E61}"/>
              </a:ext>
            </a:extLst>
          </p:cNvPr>
          <p:cNvSpPr txBox="1"/>
          <p:nvPr/>
        </p:nvSpPr>
        <p:spPr>
          <a:xfrm>
            <a:off x="7552985" y="6369398"/>
            <a:ext cx="4326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Sadiku_Exercise_Problem_3.41</a:t>
            </a: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036" y="1317761"/>
            <a:ext cx="3638550" cy="459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112" y="2743200"/>
            <a:ext cx="32194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6291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F9F60-A0D6-DE1B-4AD0-BF6268C72E61}"/>
              </a:ext>
            </a:extLst>
          </p:cNvPr>
          <p:cNvSpPr txBox="1"/>
          <p:nvPr/>
        </p:nvSpPr>
        <p:spPr>
          <a:xfrm>
            <a:off x="7552985" y="6369398"/>
            <a:ext cx="4326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Sadiku_Exercise_Problem_3.43</a:t>
            </a: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5C1D73-676D-DCC8-F333-F5D85310F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670" y="1085891"/>
            <a:ext cx="7070532" cy="519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491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F9F60-A0D6-DE1B-4AD0-BF6268C72E61}"/>
              </a:ext>
            </a:extLst>
          </p:cNvPr>
          <p:cNvSpPr txBox="1"/>
          <p:nvPr/>
        </p:nvSpPr>
        <p:spPr>
          <a:xfrm>
            <a:off x="7552985" y="6369398"/>
            <a:ext cx="4326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Sadiku_Exercise_Problem_3.43</a:t>
            </a: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824" y="1182642"/>
            <a:ext cx="4728557" cy="486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8008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F9F60-A0D6-DE1B-4AD0-BF6268C72E61}"/>
              </a:ext>
            </a:extLst>
          </p:cNvPr>
          <p:cNvSpPr txBox="1"/>
          <p:nvPr/>
        </p:nvSpPr>
        <p:spPr>
          <a:xfrm>
            <a:off x="7552985" y="6369398"/>
            <a:ext cx="4326826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b="1" i="1" u="sng" dirty="0">
                <a:latin typeface="Times New Roman"/>
                <a:cs typeface="Times New Roman"/>
              </a:rPr>
              <a:t>Reference: Sadiku_Exercise_Problem_3.53</a:t>
            </a:r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B0CA0FB3-E02A-BD32-6F39-8CE0D1C2F9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471" r="9161" b="2206"/>
          <a:stretch/>
        </p:blipFill>
        <p:spPr>
          <a:xfrm>
            <a:off x="3454401" y="1057347"/>
            <a:ext cx="5768180" cy="51060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0E3218-37A6-109E-EFCB-E06057B468DD}"/>
              </a:ext>
            </a:extLst>
          </p:cNvPr>
          <p:cNvSpPr txBox="1"/>
          <p:nvPr/>
        </p:nvSpPr>
        <p:spPr>
          <a:xfrm>
            <a:off x="486832" y="1006593"/>
            <a:ext cx="42121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"/>
                <a:ea typeface="+mn-lt"/>
                <a:cs typeface="+mn-lt"/>
              </a:rPr>
              <a:t>Find the mesh currents.</a:t>
            </a:r>
            <a:endParaRPr lang="en-US" sz="2400" dirty="0">
              <a:latin typeface="Times"/>
              <a:cs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1613544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F9F60-A0D6-DE1B-4AD0-BF6268C72E61}"/>
              </a:ext>
            </a:extLst>
          </p:cNvPr>
          <p:cNvSpPr txBox="1"/>
          <p:nvPr/>
        </p:nvSpPr>
        <p:spPr>
          <a:xfrm>
            <a:off x="7552985" y="6369398"/>
            <a:ext cx="4326826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b="1" i="1" u="sng" dirty="0">
                <a:latin typeface="Times New Roman"/>
                <a:cs typeface="Times New Roman"/>
              </a:rPr>
              <a:t>Reference: Sadiku_Exercise_Problem_3.53</a:t>
            </a:r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015" y="1384436"/>
            <a:ext cx="8231188" cy="445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3649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F9F60-A0D6-DE1B-4AD0-BF6268C72E61}"/>
              </a:ext>
            </a:extLst>
          </p:cNvPr>
          <p:cNvSpPr txBox="1"/>
          <p:nvPr/>
        </p:nvSpPr>
        <p:spPr>
          <a:xfrm>
            <a:off x="7552985" y="6369398"/>
            <a:ext cx="184731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0E3218-37A6-109E-EFCB-E06057B468DD}"/>
              </a:ext>
            </a:extLst>
          </p:cNvPr>
          <p:cNvSpPr txBox="1"/>
          <p:nvPr/>
        </p:nvSpPr>
        <p:spPr>
          <a:xfrm>
            <a:off x="1764782" y="997186"/>
            <a:ext cx="712846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ea typeface="+mn-lt"/>
                <a:cs typeface="+mn-lt"/>
              </a:rPr>
              <a:t>Calculate the currents through all the resistors using mesh analysis method and find vo.</a:t>
            </a:r>
            <a:endParaRPr lang="en-US" b="1" dirty="0">
              <a:latin typeface="Times New Roman"/>
              <a:ea typeface="+mn-lt"/>
              <a:cs typeface="+mn-lt"/>
            </a:endParaRPr>
          </a:p>
        </p:txBody>
      </p:sp>
      <p:pic>
        <p:nvPicPr>
          <p:cNvPr id="7" name="Picture 7" descr="Diagram, schematic&#10;&#10;Description automatically generated">
            <a:extLst>
              <a:ext uri="{FF2B5EF4-FFF2-40B4-BE49-F238E27FC236}">
                <a16:creationId xmlns:a16="http://schemas.microsoft.com/office/drawing/2014/main" id="{F2426DBA-45C7-8D88-F805-CF994A1208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2" r="11416" b="5242"/>
          <a:stretch/>
        </p:blipFill>
        <p:spPr>
          <a:xfrm>
            <a:off x="3189933" y="1821772"/>
            <a:ext cx="5621099" cy="44232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E71023-4359-2D6A-B1F9-2BF6EF4AE3A9}"/>
              </a:ext>
            </a:extLst>
          </p:cNvPr>
          <p:cNvSpPr txBox="1"/>
          <p:nvPr/>
        </p:nvSpPr>
        <p:spPr>
          <a:xfrm>
            <a:off x="5246982" y="21637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Summer 2022</a:t>
            </a:r>
            <a:endParaRPr lang="en-US" sz="2800" b="1" i="1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6949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9781A-2D9C-5DEC-8AA6-09EBB1EED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345563-6527-3C2D-7BFB-DEFEC94C0240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289595-8C5A-3B8A-96E3-8490FD9D0DF1}"/>
              </a:ext>
            </a:extLst>
          </p:cNvPr>
          <p:cNvSpPr txBox="1"/>
          <p:nvPr/>
        </p:nvSpPr>
        <p:spPr>
          <a:xfrm>
            <a:off x="7552985" y="6369398"/>
            <a:ext cx="184731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E6F2B6-F6FB-69D1-ED52-BADD22EF93C2}"/>
              </a:ext>
            </a:extLst>
          </p:cNvPr>
          <p:cNvSpPr txBox="1"/>
          <p:nvPr/>
        </p:nvSpPr>
        <p:spPr>
          <a:xfrm>
            <a:off x="5246982" y="21637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Summer 2022</a:t>
            </a:r>
            <a:endParaRPr lang="en-US" sz="2800" b="1" i="1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A59F4A-02D8-A4D4-C0D6-BB76D9687C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929" y="1394422"/>
            <a:ext cx="3499548" cy="52981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23DE24-77F3-F7EE-5E7A-710351359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364" y="1394421"/>
            <a:ext cx="3555104" cy="529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426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F9F60-A0D6-DE1B-4AD0-BF6268C72E61}"/>
              </a:ext>
            </a:extLst>
          </p:cNvPr>
          <p:cNvSpPr txBox="1"/>
          <p:nvPr/>
        </p:nvSpPr>
        <p:spPr>
          <a:xfrm>
            <a:off x="7552985" y="6369398"/>
            <a:ext cx="184731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0E3218-37A6-109E-EFCB-E06057B468DD}"/>
              </a:ext>
            </a:extLst>
          </p:cNvPr>
          <p:cNvSpPr txBox="1"/>
          <p:nvPr/>
        </p:nvSpPr>
        <p:spPr>
          <a:xfrm>
            <a:off x="1764782" y="997186"/>
            <a:ext cx="839846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  <a:ea typeface="+mn-lt"/>
                <a:cs typeface="+mn-lt"/>
              </a:rPr>
              <a:t>(a) Determine the currents in all resistors using Mesh Analysis. </a:t>
            </a:r>
            <a:endParaRPr lang="en-US" dirty="0">
              <a:latin typeface="Times New Roman"/>
              <a:ea typeface="+mn-lt"/>
              <a:cs typeface="+mn-lt"/>
            </a:endParaRPr>
          </a:p>
          <a:p>
            <a:r>
              <a:rPr lang="en-US" sz="2400" dirty="0">
                <a:latin typeface="Times New Roman"/>
                <a:ea typeface="+mn-lt"/>
                <a:cs typeface="+mn-lt"/>
              </a:rPr>
              <a:t>(b) Determine the power absorbed the in R1 resistor.</a:t>
            </a:r>
            <a:r>
              <a:rPr lang="en-US" sz="2400" dirty="0">
                <a:ea typeface="+mn-lt"/>
                <a:cs typeface="+mn-lt"/>
              </a:rPr>
              <a:t> </a:t>
            </a:r>
            <a:endParaRPr lang="en-US"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71023-4359-2D6A-B1F9-2BF6EF4AE3A9}"/>
              </a:ext>
            </a:extLst>
          </p:cNvPr>
          <p:cNvSpPr txBox="1"/>
          <p:nvPr/>
        </p:nvSpPr>
        <p:spPr>
          <a:xfrm>
            <a:off x="5246982" y="21637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Fall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cs typeface="Calibri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2022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4" name="Picture 8" descr="Diagram&#10;&#10;Description automatically generated">
            <a:extLst>
              <a:ext uri="{FF2B5EF4-FFF2-40B4-BE49-F238E27FC236}">
                <a16:creationId xmlns:a16="http://schemas.microsoft.com/office/drawing/2014/main" id="{E6BE2504-E5A7-5974-8424-D06DE7930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734" y="2027044"/>
            <a:ext cx="6280384" cy="412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123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200F5-EA4B-822A-9C6A-36C270901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67CA26-280E-6968-1A82-4784CCD5B938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363682-699B-0A5E-3567-A888D1C96C3C}"/>
              </a:ext>
            </a:extLst>
          </p:cNvPr>
          <p:cNvSpPr txBox="1"/>
          <p:nvPr/>
        </p:nvSpPr>
        <p:spPr>
          <a:xfrm>
            <a:off x="7552985" y="6369398"/>
            <a:ext cx="184731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76CB21-2166-A96C-B86C-490D2BDB537C}"/>
              </a:ext>
            </a:extLst>
          </p:cNvPr>
          <p:cNvSpPr txBox="1"/>
          <p:nvPr/>
        </p:nvSpPr>
        <p:spPr>
          <a:xfrm>
            <a:off x="5246982" y="21637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Fall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cs typeface="Calibri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2022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35D7C6E-0BC0-665C-17AC-6EE00FB67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230" y="857174"/>
            <a:ext cx="3932059" cy="59167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4FB5F6-A093-729F-AE2F-AAD3F8128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883" y="739590"/>
            <a:ext cx="4012723" cy="611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753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F9F60-A0D6-DE1B-4AD0-BF6268C72E61}"/>
              </a:ext>
            </a:extLst>
          </p:cNvPr>
          <p:cNvSpPr txBox="1"/>
          <p:nvPr/>
        </p:nvSpPr>
        <p:spPr>
          <a:xfrm>
            <a:off x="7552985" y="6369398"/>
            <a:ext cx="4352474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b="1" i="1" u="sng">
                <a:latin typeface="Times New Roman"/>
                <a:cs typeface="Times New Roman"/>
              </a:rPr>
              <a:t>Reference: Nilsson_Exercise_Problem_4.37</a:t>
            </a: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DBF79A76-0DE0-ADFF-2ECA-15D5BD87C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549" y="1317658"/>
            <a:ext cx="7710309" cy="48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320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F9F60-A0D6-DE1B-4AD0-BF6268C72E61}"/>
              </a:ext>
            </a:extLst>
          </p:cNvPr>
          <p:cNvSpPr txBox="1"/>
          <p:nvPr/>
        </p:nvSpPr>
        <p:spPr>
          <a:xfrm>
            <a:off x="7552985" y="6369398"/>
            <a:ext cx="4352474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b="1" i="1" u="sng">
                <a:latin typeface="Times New Roman"/>
                <a:cs typeface="Times New Roman"/>
              </a:rPr>
              <a:t>Reference: Nilsson_Exercise_Problem_4.37</a:t>
            </a: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0560" y="993911"/>
            <a:ext cx="7078662" cy="523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0260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F9F60-A0D6-DE1B-4AD0-BF6268C72E61}"/>
              </a:ext>
            </a:extLst>
          </p:cNvPr>
          <p:cNvSpPr txBox="1"/>
          <p:nvPr/>
        </p:nvSpPr>
        <p:spPr>
          <a:xfrm>
            <a:off x="7552985" y="6369398"/>
            <a:ext cx="184731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endParaRPr lang="en-US" b="1" i="1" u="sng" dirty="0">
              <a:latin typeface="Times New Roman"/>
              <a:cs typeface="Times New Roman"/>
            </a:endParaRPr>
          </a:p>
        </p:txBody>
      </p:sp>
      <p:pic>
        <p:nvPicPr>
          <p:cNvPr id="5" name="Picture 6" descr="Diagram, schematic&#10;&#10;Description automatically generated">
            <a:extLst>
              <a:ext uri="{FF2B5EF4-FFF2-40B4-BE49-F238E27FC236}">
                <a16:creationId xmlns:a16="http://schemas.microsoft.com/office/drawing/2014/main" id="{096EB5A1-BE52-7E4C-C64E-9A7A92584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214" y="2180118"/>
            <a:ext cx="8199495" cy="32973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7DAA69-F943-65F4-4176-62DF89E5B84F}"/>
              </a:ext>
            </a:extLst>
          </p:cNvPr>
          <p:cNvSpPr txBox="1"/>
          <p:nvPr/>
        </p:nvSpPr>
        <p:spPr>
          <a:xfrm>
            <a:off x="618536" y="1373482"/>
            <a:ext cx="42121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"/>
                <a:ea typeface="+mn-lt"/>
                <a:cs typeface="+mn-lt"/>
              </a:rPr>
              <a:t>Find the mesh currents.</a:t>
            </a:r>
            <a:endParaRPr lang="en-US" sz="2400" dirty="0">
              <a:latin typeface="Times"/>
              <a:cs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3210389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A86BB-2362-8878-9A6A-3B2B9A590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01258C-7E4D-CCFF-1188-DBDEE9A665C3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709190-E9F7-EB81-1452-006738E6CB6C}"/>
              </a:ext>
            </a:extLst>
          </p:cNvPr>
          <p:cNvSpPr txBox="1"/>
          <p:nvPr/>
        </p:nvSpPr>
        <p:spPr>
          <a:xfrm>
            <a:off x="7552985" y="6369398"/>
            <a:ext cx="184731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endParaRPr lang="en-US" b="1" i="1" u="sng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04EE40-80B2-D7A0-1CE9-21E0B36A1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826" y="892294"/>
            <a:ext cx="3923016" cy="5846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772B95-E029-229F-8A30-F609482C9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106" y="857174"/>
            <a:ext cx="3878287" cy="596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69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42ED-9241-2EED-6B92-33A47AF57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Math to Practice from the Book for Exam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00BC1-BA28-FBAA-2EC5-898CB0225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Chapter 3</a:t>
            </a:r>
            <a:br>
              <a:rPr lang="en-US" sz="18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800" u="sng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lvl="1">
              <a:lnSpc>
                <a:spcPct val="115000"/>
              </a:lnSpc>
              <a:spcBef>
                <a:spcPts val="0"/>
              </a:spcBef>
            </a:pPr>
            <a:r>
              <a:rPr lang="en-US" sz="20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Example: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  <a:t>3.1, 3.2, 3.5, 3.6, 3.7 </a:t>
            </a:r>
          </a:p>
          <a:p>
            <a:pPr marL="457200" lvl="1">
              <a:lnSpc>
                <a:spcPct val="115000"/>
              </a:lnSpc>
              <a:spcBef>
                <a:spcPts val="0"/>
              </a:spcBef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Practice Problem: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  <a:t>3.1, 3.2, 3.5, 3.6, 3.7</a:t>
            </a:r>
          </a:p>
          <a:p>
            <a:pPr marL="457200" lvl="1">
              <a:lnSpc>
                <a:spcPct val="115000"/>
              </a:lnSpc>
              <a:spcBef>
                <a:spcPts val="0"/>
              </a:spcBef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Problem: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  <a:t>3.2 to 3.9, 3.12, 3.14, 3.19, 3.38, 3.40, 3.41, 3.42, 3.43, 3.44, 3.45, 3.46, 3.48, 3.50, 3.51, 3.52, 3.55, 3.58, 3.63</a:t>
            </a:r>
            <a:b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lvl="1">
              <a:lnSpc>
                <a:spcPct val="115000"/>
              </a:lnSpc>
              <a:spcBef>
                <a:spcPts val="0"/>
              </a:spcBef>
            </a:pPr>
            <a:r>
              <a:rPr lang="en-US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N:B: Please note that the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supernode</a:t>
            </a:r>
            <a:r>
              <a:rPr lang="en-US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concept is not in the present syllabus!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242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C67D-BE2B-4F54-B8C0-7FE41C6D4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97609"/>
            <a:ext cx="10515600" cy="66278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45817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480</Words>
  <Application>Microsoft Office PowerPoint</Application>
  <PresentationFormat>Widescreen</PresentationFormat>
  <Paragraphs>69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Times</vt:lpstr>
      <vt:lpstr>Times New Roman</vt:lpstr>
      <vt:lpstr>Office Theme</vt:lpstr>
      <vt:lpstr>  Mesh Analysis Section 3.1, 3.2, 3.4, 3.5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 to Practice from the Book for Exam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 Analysis</dc:title>
  <dc:creator>1606117 - Rifat Bin Rashid</dc:creator>
  <cp:lastModifiedBy>Shafqat Rakin</cp:lastModifiedBy>
  <cp:revision>90</cp:revision>
  <dcterms:created xsi:type="dcterms:W3CDTF">2023-02-24T16:42:05Z</dcterms:created>
  <dcterms:modified xsi:type="dcterms:W3CDTF">2024-03-12T12:56:55Z</dcterms:modified>
</cp:coreProperties>
</file>