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7.jpg" ContentType="image/jpeg"/>
  <Override PartName="/ppt/media/image14.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5"/>
  </p:notesMasterIdLst>
  <p:sldIdLst>
    <p:sldId id="256" r:id="rId2"/>
    <p:sldId id="307" r:id="rId3"/>
    <p:sldId id="360" r:id="rId4"/>
    <p:sldId id="361" r:id="rId5"/>
    <p:sldId id="362" r:id="rId6"/>
    <p:sldId id="363" r:id="rId7"/>
    <p:sldId id="364" r:id="rId8"/>
    <p:sldId id="365" r:id="rId9"/>
    <p:sldId id="367" r:id="rId10"/>
    <p:sldId id="359" r:id="rId11"/>
    <p:sldId id="308" r:id="rId12"/>
    <p:sldId id="344" r:id="rId13"/>
    <p:sldId id="346" r:id="rId14"/>
    <p:sldId id="347" r:id="rId15"/>
    <p:sldId id="348" r:id="rId16"/>
    <p:sldId id="345" r:id="rId17"/>
    <p:sldId id="349" r:id="rId18"/>
    <p:sldId id="353" r:id="rId19"/>
    <p:sldId id="351" r:id="rId20"/>
    <p:sldId id="369" r:id="rId21"/>
    <p:sldId id="354" r:id="rId22"/>
    <p:sldId id="370" r:id="rId23"/>
    <p:sldId id="371" r:id="rId24"/>
    <p:sldId id="355" r:id="rId25"/>
    <p:sldId id="372" r:id="rId26"/>
    <p:sldId id="352" r:id="rId27"/>
    <p:sldId id="373" r:id="rId28"/>
    <p:sldId id="356" r:id="rId29"/>
    <p:sldId id="374" r:id="rId30"/>
    <p:sldId id="357" r:id="rId31"/>
    <p:sldId id="358" r:id="rId32"/>
    <p:sldId id="368" r:id="rId33"/>
    <p:sldId id="333" r:id="rId3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829"/>
    <a:srgbClr val="E9EAEC"/>
    <a:srgbClr val="EBD3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846" y="6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5BF5C4-5BCD-43DE-BAC0-FB510A327C58}" type="datetimeFigureOut">
              <a:rPr lang="en-US" smtClean="0"/>
              <a:pPr/>
              <a:t>6/11/2024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9DDF84-88D4-4278-84EC-5093E57A860C}" type="slidenum">
              <a:rPr lang="en-US" smtClean="0"/>
              <a:pPr/>
              <a:t>‹#›</a:t>
            </a:fld>
            <a:endParaRPr lang="en-US"/>
          </a:p>
        </p:txBody>
      </p:sp>
    </p:spTree>
    <p:extLst>
      <p:ext uri="{BB962C8B-B14F-4D97-AF65-F5344CB8AC3E}">
        <p14:creationId xmlns:p14="http://schemas.microsoft.com/office/powerpoint/2010/main" val="4176037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6/11/2024</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43434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1352554"/>
            <a:ext cx="3962399" cy="1754326"/>
          </a:xfrm>
          <a:prstGeom prst="rect">
            <a:avLst/>
          </a:prstGeom>
          <a:noFill/>
          <a:ln>
            <a:noFill/>
          </a:ln>
        </p:spPr>
        <p:txBody>
          <a:bodyPr wrap="square" lIns="91440" tIns="45720" rIns="91440" bIns="45720">
            <a:spAutoFit/>
          </a:bodyPr>
          <a:lstStyle/>
          <a:p>
            <a:r>
              <a:rPr lang="en-US" sz="3600" b="1" cap="none" spc="0" dirty="0">
                <a:ln w="12700">
                  <a:noFill/>
                  <a:prstDash val="solid"/>
                </a:ln>
                <a:latin typeface="Roboto Condensed" pitchFamily="2" charset="0"/>
                <a:ea typeface="Roboto Condensed" pitchFamily="2" charset="0"/>
              </a:rPr>
              <a:t>Social evolution/</a:t>
            </a:r>
          </a:p>
          <a:p>
            <a:r>
              <a:rPr lang="en-US" sz="3600" b="1" dirty="0">
                <a:ln w="12700">
                  <a:noFill/>
                  <a:prstDash val="solid"/>
                </a:ln>
                <a:latin typeface="Roboto Condensed" pitchFamily="2" charset="0"/>
                <a:ea typeface="Roboto Condensed" pitchFamily="2" charset="0"/>
              </a:rPr>
              <a:t>Evolution of Society</a:t>
            </a:r>
            <a:endParaRPr lang="en-US" sz="3600" b="1" cap="none" spc="0" dirty="0">
              <a:ln w="12700">
                <a:noFill/>
                <a:prstDash val="solid"/>
              </a:ln>
              <a:latin typeface="Roboto Condensed" pitchFamily="2" charset="0"/>
              <a:ea typeface="Roboto Condensed" pitchFamily="2" charset="0"/>
            </a:endParaRPr>
          </a:p>
        </p:txBody>
      </p:sp>
      <p:pic>
        <p:nvPicPr>
          <p:cNvPr id="6" name="Picture 5">
            <a:extLst>
              <a:ext uri="{FF2B5EF4-FFF2-40B4-BE49-F238E27FC236}">
                <a16:creationId xmlns:a16="http://schemas.microsoft.com/office/drawing/2014/main" id="{E3EC027D-A832-4CB7-A344-CF4F9F9FE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590550"/>
            <a:ext cx="4119367" cy="3733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1200151"/>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Society</a:t>
            </a:r>
          </a:p>
        </p:txBody>
      </p:sp>
      <p:sp>
        <p:nvSpPr>
          <p:cNvPr id="6" name="Rectangle 5"/>
          <p:cNvSpPr/>
          <p:nvPr/>
        </p:nvSpPr>
        <p:spPr>
          <a:xfrm>
            <a:off x="3962400" y="666750"/>
            <a:ext cx="5029207" cy="3539430"/>
          </a:xfrm>
          <a:prstGeom prst="rect">
            <a:avLst/>
          </a:prstGeom>
          <a:noFill/>
          <a:ln>
            <a:noFill/>
          </a:ln>
        </p:spPr>
        <p:txBody>
          <a:bodyPr wrap="square" lIns="91440" tIns="45720" rIns="91440" bIns="45720">
            <a:spAutoFit/>
          </a:bodyPr>
          <a:lstStyle/>
          <a:p>
            <a:endParaRPr lang="en-US" sz="2800" dirty="0"/>
          </a:p>
          <a:p>
            <a:endParaRPr lang="en-US" sz="2800" dirty="0"/>
          </a:p>
          <a:p>
            <a:endParaRPr lang="en-US" sz="2800" dirty="0"/>
          </a:p>
          <a:p>
            <a:r>
              <a:rPr lang="en-US" sz="2800" dirty="0"/>
              <a:t>MacIver and Page defined society as, "It is the web of social relationships.“</a:t>
            </a:r>
          </a:p>
          <a:p>
            <a:endParaRPr lang="en-US" sz="2800" dirty="0"/>
          </a:p>
          <a:p>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1200151"/>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Society</a:t>
            </a:r>
          </a:p>
        </p:txBody>
      </p:sp>
      <p:sp>
        <p:nvSpPr>
          <p:cNvPr id="6" name="Rectangle 5"/>
          <p:cNvSpPr/>
          <p:nvPr/>
        </p:nvSpPr>
        <p:spPr>
          <a:xfrm>
            <a:off x="3962400" y="666750"/>
            <a:ext cx="5029207" cy="3970318"/>
          </a:xfrm>
          <a:prstGeom prst="rect">
            <a:avLst/>
          </a:prstGeom>
          <a:noFill/>
          <a:ln>
            <a:noFill/>
          </a:ln>
        </p:spPr>
        <p:txBody>
          <a:bodyPr wrap="square" lIns="91440" tIns="45720" rIns="91440" bIns="45720">
            <a:spAutoFit/>
          </a:bodyPr>
          <a:lstStyle/>
          <a:p>
            <a:pPr marL="285750" lvl="0" indent="-285750" algn="just">
              <a:buFont typeface="Wingdings" panose="05000000000000000000" pitchFamily="2" charset="2"/>
              <a:buChar char="v"/>
            </a:pPr>
            <a:r>
              <a:rPr lang="en-US" sz="2800" dirty="0">
                <a:latin typeface="Book Antiqua" panose="02040602050305030304" pitchFamily="18" charset="0"/>
              </a:rPr>
              <a:t>A society is a collection of individuals united by certain relations or mode of behavior which mark them off from others who do not enter into these relations or who differ from them in behavior”. - Morris Ginsberg. </a:t>
            </a:r>
            <a:endParaRPr lang="en-US" sz="2800" b="1" dirty="0">
              <a:ln w="12700">
                <a:noFill/>
                <a:prstDash val="solid"/>
              </a:ln>
              <a:latin typeface="Book Antiqua" panose="02040602050305030304" pitchFamily="18" charset="0"/>
              <a:ea typeface="Roboto Condensed" pitchFamily="2" charset="0"/>
              <a:cs typeface="Kalpurush" panose="02000600000000000000" pitchFamily="2" charset="0"/>
            </a:endParaRPr>
          </a:p>
        </p:txBody>
      </p:sp>
    </p:spTree>
    <p:extLst>
      <p:ext uri="{BB962C8B-B14F-4D97-AF65-F5344CB8AC3E}">
        <p14:creationId xmlns:p14="http://schemas.microsoft.com/office/powerpoint/2010/main" val="873333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1200151"/>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Society</a:t>
            </a:r>
          </a:p>
        </p:txBody>
      </p:sp>
      <p:sp>
        <p:nvSpPr>
          <p:cNvPr id="6" name="Rectangle 5"/>
          <p:cNvSpPr/>
          <p:nvPr/>
        </p:nvSpPr>
        <p:spPr>
          <a:xfrm>
            <a:off x="3962400" y="666750"/>
            <a:ext cx="5029207" cy="2862322"/>
          </a:xfrm>
          <a:prstGeom prst="rect">
            <a:avLst/>
          </a:prstGeom>
          <a:noFill/>
          <a:ln>
            <a:noFill/>
          </a:ln>
        </p:spPr>
        <p:txBody>
          <a:bodyPr wrap="square" lIns="91440" tIns="45720" rIns="91440" bIns="45720">
            <a:spAutoFit/>
          </a:bodyPr>
          <a:lstStyle/>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r>
              <a:rPr lang="en-US" sz="2800" dirty="0"/>
              <a:t>Society involves Likeness: </a:t>
            </a:r>
            <a:r>
              <a:rPr lang="en-US" sz="2400" dirty="0"/>
              <a:t>Without the sense of likeness there could be no mutual recognition of "belonging together" and, therefore, no society.</a:t>
            </a:r>
            <a:endParaRPr lang="en-US" sz="2400" b="1" dirty="0">
              <a:ln w="12700">
                <a:noFill/>
                <a:prstDash val="solid"/>
              </a:ln>
              <a:latin typeface="Book Antiqua" panose="02040602050305030304" pitchFamily="18" charset="0"/>
              <a:ea typeface="Roboto Condensed" pitchFamily="2" charset="0"/>
              <a:cs typeface="Kalpurush" panose="02000600000000000000" pitchFamily="2" charset="0"/>
            </a:endParaRPr>
          </a:p>
        </p:txBody>
      </p:sp>
    </p:spTree>
    <p:extLst>
      <p:ext uri="{BB962C8B-B14F-4D97-AF65-F5344CB8AC3E}">
        <p14:creationId xmlns:p14="http://schemas.microsoft.com/office/powerpoint/2010/main" val="3977733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666750"/>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Society</a:t>
            </a:r>
          </a:p>
        </p:txBody>
      </p:sp>
      <p:sp>
        <p:nvSpPr>
          <p:cNvPr id="6" name="Rectangle 5"/>
          <p:cNvSpPr/>
          <p:nvPr/>
        </p:nvSpPr>
        <p:spPr>
          <a:xfrm>
            <a:off x="3962400" y="666750"/>
            <a:ext cx="5029207" cy="4401205"/>
          </a:xfrm>
          <a:prstGeom prst="rect">
            <a:avLst/>
          </a:prstGeom>
          <a:noFill/>
          <a:ln>
            <a:noFill/>
          </a:ln>
        </p:spPr>
        <p:txBody>
          <a:bodyPr wrap="square" lIns="91440" tIns="45720" rIns="91440" bIns="45720">
            <a:spAutoFit/>
          </a:bodyPr>
          <a:lstStyle/>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r>
              <a:rPr lang="en-US" sz="2800" dirty="0"/>
              <a:t>Society involves Difference: </a:t>
            </a:r>
            <a:r>
              <a:rPr lang="en-US" sz="2000" dirty="0"/>
              <a:t>Though likeness serves as the basis, society also depends on differences. If people were all alike, their social relationships would be as limited as those of the biological organisms like ants and bees. </a:t>
            </a:r>
          </a:p>
          <a:p>
            <a:pPr marL="285750" lvl="0" indent="-285750" algn="just">
              <a:buFont typeface="Wingdings" panose="05000000000000000000" pitchFamily="2" charset="2"/>
              <a:buChar char="v"/>
            </a:pPr>
            <a:endParaRPr lang="en-US" sz="2000" dirty="0"/>
          </a:p>
          <a:p>
            <a:pPr lvl="0" algn="just"/>
            <a:endParaRPr lang="en-US" sz="2000" dirty="0"/>
          </a:p>
        </p:txBody>
      </p:sp>
      <p:pic>
        <p:nvPicPr>
          <p:cNvPr id="3" name="Picture 2">
            <a:extLst>
              <a:ext uri="{FF2B5EF4-FFF2-40B4-BE49-F238E27FC236}">
                <a16:creationId xmlns:a16="http://schemas.microsoft.com/office/drawing/2014/main" id="{29D05404-1D6E-44B8-94F4-F477B63086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1778" y="75545"/>
            <a:ext cx="4681212" cy="2039005"/>
          </a:xfrm>
          <a:prstGeom prst="rect">
            <a:avLst/>
          </a:prstGeom>
        </p:spPr>
      </p:pic>
    </p:spTree>
    <p:extLst>
      <p:ext uri="{BB962C8B-B14F-4D97-AF65-F5344CB8AC3E}">
        <p14:creationId xmlns:p14="http://schemas.microsoft.com/office/powerpoint/2010/main" val="337049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666750"/>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Society</a:t>
            </a:r>
          </a:p>
        </p:txBody>
      </p:sp>
      <p:sp>
        <p:nvSpPr>
          <p:cNvPr id="6" name="Rectangle 5"/>
          <p:cNvSpPr/>
          <p:nvPr/>
        </p:nvSpPr>
        <p:spPr>
          <a:xfrm>
            <a:off x="3962400" y="666750"/>
            <a:ext cx="5029207" cy="4708981"/>
          </a:xfrm>
          <a:prstGeom prst="rect">
            <a:avLst/>
          </a:prstGeom>
          <a:noFill/>
          <a:ln>
            <a:noFill/>
          </a:ln>
        </p:spPr>
        <p:txBody>
          <a:bodyPr wrap="square" lIns="91440" tIns="45720" rIns="91440" bIns="45720">
            <a:spAutoFit/>
          </a:bodyPr>
          <a:lstStyle/>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r>
              <a:rPr lang="en-US" sz="2800" dirty="0"/>
              <a:t>Inter-dependence in the Society: In addition to likeness, interdependence based on cooperation is yet another essential element to constitute the society.  </a:t>
            </a:r>
            <a:endParaRPr lang="en-US" sz="2000" dirty="0"/>
          </a:p>
          <a:p>
            <a:pPr lvl="0" algn="just"/>
            <a:endParaRPr lang="en-US" sz="2000" dirty="0"/>
          </a:p>
        </p:txBody>
      </p:sp>
      <p:pic>
        <p:nvPicPr>
          <p:cNvPr id="9" name="Picture 8">
            <a:extLst>
              <a:ext uri="{FF2B5EF4-FFF2-40B4-BE49-F238E27FC236}">
                <a16:creationId xmlns:a16="http://schemas.microsoft.com/office/drawing/2014/main" id="{461B8D54-B409-4BE7-91AC-11612ABAF5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0" y="31152"/>
            <a:ext cx="4330186" cy="2405659"/>
          </a:xfrm>
          <a:prstGeom prst="rect">
            <a:avLst/>
          </a:prstGeom>
        </p:spPr>
      </p:pic>
    </p:spTree>
    <p:extLst>
      <p:ext uri="{BB962C8B-B14F-4D97-AF65-F5344CB8AC3E}">
        <p14:creationId xmlns:p14="http://schemas.microsoft.com/office/powerpoint/2010/main" val="2524717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666750"/>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Society</a:t>
            </a:r>
          </a:p>
        </p:txBody>
      </p:sp>
      <p:sp>
        <p:nvSpPr>
          <p:cNvPr id="6" name="Rectangle 5"/>
          <p:cNvSpPr/>
          <p:nvPr/>
        </p:nvSpPr>
        <p:spPr>
          <a:xfrm>
            <a:off x="3962400" y="666750"/>
            <a:ext cx="5029207" cy="3970318"/>
          </a:xfrm>
          <a:prstGeom prst="rect">
            <a:avLst/>
          </a:prstGeom>
          <a:noFill/>
          <a:ln>
            <a:noFill/>
          </a:ln>
        </p:spPr>
        <p:txBody>
          <a:bodyPr wrap="square" lIns="91440" tIns="45720" rIns="91440" bIns="45720">
            <a:spAutoFit/>
          </a:bodyPr>
          <a:lstStyle/>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r>
              <a:rPr lang="en-US" sz="2800" dirty="0"/>
              <a:t>Multiplicity of Relationships: Society consists of numerous social relationships, which may be hundreds or thousands of types. </a:t>
            </a:r>
            <a:endParaRPr lang="en-US" sz="2000" dirty="0"/>
          </a:p>
        </p:txBody>
      </p:sp>
      <p:pic>
        <p:nvPicPr>
          <p:cNvPr id="3" name="Picture 2">
            <a:extLst>
              <a:ext uri="{FF2B5EF4-FFF2-40B4-BE49-F238E27FC236}">
                <a16:creationId xmlns:a16="http://schemas.microsoft.com/office/drawing/2014/main" id="{E9EFC18B-D219-41F0-9717-6B1937E50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0" y="209550"/>
            <a:ext cx="3976687" cy="1881187"/>
          </a:xfrm>
          <a:prstGeom prst="rect">
            <a:avLst/>
          </a:prstGeom>
        </p:spPr>
      </p:pic>
    </p:spTree>
    <p:extLst>
      <p:ext uri="{BB962C8B-B14F-4D97-AF65-F5344CB8AC3E}">
        <p14:creationId xmlns:p14="http://schemas.microsoft.com/office/powerpoint/2010/main" val="3712212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666750"/>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Society</a:t>
            </a:r>
          </a:p>
        </p:txBody>
      </p:sp>
      <p:sp>
        <p:nvSpPr>
          <p:cNvPr id="6" name="Rectangle 5"/>
          <p:cNvSpPr/>
          <p:nvPr/>
        </p:nvSpPr>
        <p:spPr>
          <a:xfrm>
            <a:off x="3962400" y="666750"/>
            <a:ext cx="5029207" cy="4401205"/>
          </a:xfrm>
          <a:prstGeom prst="rect">
            <a:avLst/>
          </a:prstGeom>
          <a:noFill/>
          <a:ln>
            <a:noFill/>
          </a:ln>
        </p:spPr>
        <p:txBody>
          <a:bodyPr wrap="square" lIns="91440" tIns="45720" rIns="91440" bIns="45720">
            <a:spAutoFit/>
          </a:bodyPr>
          <a:lstStyle/>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endParaRPr lang="en-US" sz="2800" dirty="0"/>
          </a:p>
          <a:p>
            <a:pPr marL="285750" lvl="0" indent="-285750" algn="just">
              <a:buFont typeface="Wingdings" panose="05000000000000000000" pitchFamily="2" charset="2"/>
              <a:buChar char="v"/>
            </a:pPr>
            <a:r>
              <a:rPr lang="en-US" sz="2400" b="1" dirty="0">
                <a:latin typeface="Roboto Condensed"/>
              </a:rPr>
              <a:t>Society is dynamic</a:t>
            </a:r>
            <a:r>
              <a:rPr lang="en-US" sz="2400" dirty="0">
                <a:latin typeface="Roboto Condensed"/>
              </a:rPr>
              <a:t>:</a:t>
            </a:r>
          </a:p>
          <a:p>
            <a:pPr lvl="0" algn="just"/>
            <a:r>
              <a:rPr lang="en-US" sz="2400" dirty="0">
                <a:latin typeface="Roboto Condensed"/>
              </a:rPr>
              <a:t>Society is not at all a static phenomenon, but it is a dynamic entity. Society is subject to constant changes. Social change has occurred in all societies and at all times. </a:t>
            </a:r>
          </a:p>
        </p:txBody>
      </p:sp>
      <p:pic>
        <p:nvPicPr>
          <p:cNvPr id="4" name="Picture 3">
            <a:extLst>
              <a:ext uri="{FF2B5EF4-FFF2-40B4-BE49-F238E27FC236}">
                <a16:creationId xmlns:a16="http://schemas.microsoft.com/office/drawing/2014/main" id="{F78097EE-72DB-4FBD-A750-CCDE99825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9" y="0"/>
            <a:ext cx="4571982" cy="2190750"/>
          </a:xfrm>
          <a:prstGeom prst="rect">
            <a:avLst/>
          </a:prstGeom>
        </p:spPr>
      </p:pic>
    </p:spTree>
    <p:extLst>
      <p:ext uri="{BB962C8B-B14F-4D97-AF65-F5344CB8AC3E}">
        <p14:creationId xmlns:p14="http://schemas.microsoft.com/office/powerpoint/2010/main" val="1603029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666750"/>
            <a:ext cx="3124192" cy="1323439"/>
          </a:xfrm>
          <a:prstGeom prst="rect">
            <a:avLst/>
          </a:prstGeom>
          <a:noFill/>
          <a:ln>
            <a:noFill/>
          </a:ln>
        </p:spPr>
        <p:txBody>
          <a:bodyPr wrap="square" lIns="91440" tIns="45720" rIns="91440" bIns="45720">
            <a:spAutoFit/>
          </a:bodyPr>
          <a:lstStyle/>
          <a:p>
            <a:pPr algn="ctr"/>
            <a:r>
              <a:rPr lang="en-US" sz="4000" b="1" dirty="0">
                <a:ln w="12700">
                  <a:noFill/>
                  <a:prstDash val="solid"/>
                </a:ln>
                <a:latin typeface="Roboto Condensed" pitchFamily="2" charset="0"/>
                <a:ea typeface="Roboto Condensed" pitchFamily="2" charset="0"/>
              </a:rPr>
              <a:t>Changes occurred</a:t>
            </a:r>
            <a:endParaRPr lang="en-US" sz="4000" b="1" cap="none" spc="0" dirty="0">
              <a:ln w="12700">
                <a:noFill/>
                <a:prstDash val="solid"/>
              </a:ln>
              <a:latin typeface="Roboto Condensed" pitchFamily="2" charset="0"/>
              <a:ea typeface="Roboto Condensed" pitchFamily="2" charset="0"/>
            </a:endParaRPr>
          </a:p>
        </p:txBody>
      </p:sp>
      <p:sp>
        <p:nvSpPr>
          <p:cNvPr id="6" name="Rectangle 5"/>
          <p:cNvSpPr/>
          <p:nvPr/>
        </p:nvSpPr>
        <p:spPr>
          <a:xfrm>
            <a:off x="3962400" y="666750"/>
            <a:ext cx="5029207" cy="2862322"/>
          </a:xfrm>
          <a:prstGeom prst="rect">
            <a:avLst/>
          </a:prstGeom>
          <a:noFill/>
          <a:ln>
            <a:noFill/>
          </a:ln>
        </p:spPr>
        <p:txBody>
          <a:bodyPr wrap="square" lIns="91440" tIns="45720" rIns="91440" bIns="45720">
            <a:spAutoFit/>
          </a:bodyPr>
          <a:lstStyle/>
          <a:p>
            <a:pPr marL="285750" lvl="0" indent="-285750" algn="just">
              <a:buFont typeface="Wingdings" panose="05000000000000000000" pitchFamily="2" charset="2"/>
              <a:buChar char="v"/>
            </a:pPr>
            <a:r>
              <a:rPr lang="en-US" sz="2000" dirty="0">
                <a:latin typeface="Roboto Condensed"/>
              </a:rPr>
              <a:t>Human beings have existed on earth for less than half a million years or so. </a:t>
            </a:r>
          </a:p>
          <a:p>
            <a:pPr lvl="0" algn="just"/>
            <a:endParaRPr lang="en-US" sz="2000" dirty="0">
              <a:latin typeface="Roboto Condensed"/>
            </a:endParaRPr>
          </a:p>
          <a:p>
            <a:pPr marL="285750" lvl="0" indent="-285750" algn="just">
              <a:buFont typeface="Wingdings" panose="05000000000000000000" pitchFamily="2" charset="2"/>
              <a:buChar char="v"/>
            </a:pPr>
            <a:r>
              <a:rPr lang="en-US" sz="2000" dirty="0">
                <a:latin typeface="Roboto Condensed"/>
              </a:rPr>
              <a:t>Agriculture, the necessary basis of fixed settlements, is much more recent, being just 12,000 years old.</a:t>
            </a:r>
          </a:p>
          <a:p>
            <a:pPr marL="285750" lvl="0" indent="-285750" algn="just">
              <a:buFont typeface="Wingdings" panose="05000000000000000000" pitchFamily="2" charset="2"/>
              <a:buChar char="v"/>
            </a:pPr>
            <a:endParaRPr lang="en-US" sz="2000" dirty="0">
              <a:latin typeface="Roboto Condensed"/>
            </a:endParaRPr>
          </a:p>
          <a:p>
            <a:pPr marL="285750" lvl="0" indent="-285750" algn="just">
              <a:buFont typeface="Wingdings" panose="05000000000000000000" pitchFamily="2" charset="2"/>
              <a:buChar char="v"/>
            </a:pPr>
            <a:r>
              <a:rPr lang="en-US" sz="2000" dirty="0">
                <a:latin typeface="Roboto Condensed"/>
              </a:rPr>
              <a:t>Large-scale human civilizations date back no more than 6,000 years. </a:t>
            </a:r>
          </a:p>
        </p:txBody>
      </p:sp>
    </p:spTree>
    <p:extLst>
      <p:ext uri="{BB962C8B-B14F-4D97-AF65-F5344CB8AC3E}">
        <p14:creationId xmlns:p14="http://schemas.microsoft.com/office/powerpoint/2010/main" val="1322209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810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381009" y="1200151"/>
            <a:ext cx="3124192"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Evolution</a:t>
            </a:r>
          </a:p>
        </p:txBody>
      </p:sp>
      <p:sp>
        <p:nvSpPr>
          <p:cNvPr id="6" name="Rectangle 5"/>
          <p:cNvSpPr/>
          <p:nvPr/>
        </p:nvSpPr>
        <p:spPr>
          <a:xfrm>
            <a:off x="3962400" y="666750"/>
            <a:ext cx="5029207" cy="3970318"/>
          </a:xfrm>
          <a:prstGeom prst="rect">
            <a:avLst/>
          </a:prstGeom>
          <a:noFill/>
          <a:ln>
            <a:noFill/>
          </a:ln>
        </p:spPr>
        <p:txBody>
          <a:bodyPr wrap="square" lIns="91440" tIns="45720" rIns="91440" bIns="45720">
            <a:spAutoFit/>
          </a:bodyPr>
          <a:lstStyle/>
          <a:p>
            <a:pPr algn="ctr"/>
            <a:endParaRPr lang="en-US" sz="2800" dirty="0"/>
          </a:p>
          <a:p>
            <a:pPr algn="just">
              <a:buFont typeface="Arial" pitchFamily="34" charset="0"/>
              <a:buChar char="•"/>
            </a:pPr>
            <a:r>
              <a:rPr lang="en-US" sz="2800" dirty="0"/>
              <a:t>In general, the term evolution represents the process of gradual development. </a:t>
            </a:r>
          </a:p>
          <a:p>
            <a:pPr algn="just">
              <a:buFont typeface="Arial" pitchFamily="34" charset="0"/>
              <a:buChar char="•"/>
            </a:pPr>
            <a:endParaRPr lang="en-US" sz="2800" dirty="0"/>
          </a:p>
          <a:p>
            <a:pPr algn="just">
              <a:buFont typeface="Arial" pitchFamily="34" charset="0"/>
              <a:buChar char="•"/>
            </a:pPr>
            <a:r>
              <a:rPr lang="en-US" sz="2800" dirty="0"/>
              <a:t>This is the process through which simple things, over the time, become complex. </a:t>
            </a:r>
          </a:p>
          <a:p>
            <a:pPr algn="ctr">
              <a:buFont typeface="Arial" pitchFamily="34" charset="0"/>
              <a:buChar char="•"/>
            </a:pPr>
            <a:endParaRPr lang="en-US" sz="2800" dirty="0"/>
          </a:p>
        </p:txBody>
      </p:sp>
    </p:spTree>
    <p:extLst>
      <p:ext uri="{BB962C8B-B14F-4D97-AF65-F5344CB8AC3E}">
        <p14:creationId xmlns:p14="http://schemas.microsoft.com/office/powerpoint/2010/main" val="3998362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3505200" cy="1569660"/>
          </a:xfrm>
          <a:prstGeom prst="rect">
            <a:avLst/>
          </a:prstGeom>
          <a:noFill/>
          <a:ln>
            <a:noFill/>
          </a:ln>
        </p:spPr>
        <p:txBody>
          <a:bodyPr wrap="square" lIns="91440" tIns="45720" rIns="91440" bIns="45720">
            <a:spAutoFit/>
          </a:bodyPr>
          <a:lstStyle/>
          <a:p>
            <a:pPr algn="ctr"/>
            <a:r>
              <a:rPr lang="en-US" sz="2400" b="1" cap="none" spc="0" dirty="0">
                <a:ln w="12700">
                  <a:noFill/>
                  <a:prstDash val="solid"/>
                </a:ln>
                <a:latin typeface="Roboto Condensed" pitchFamily="2" charset="0"/>
                <a:ea typeface="Roboto Condensed" pitchFamily="2" charset="0"/>
              </a:rPr>
              <a:t>Evolutionist in</a:t>
            </a:r>
          </a:p>
          <a:p>
            <a:pPr algn="ctr"/>
            <a:r>
              <a:rPr lang="en-US" sz="2400" b="1" dirty="0">
                <a:ln w="12700">
                  <a:noFill/>
                  <a:prstDash val="solid"/>
                </a:ln>
                <a:latin typeface="Roboto Condensed" pitchFamily="2" charset="0"/>
                <a:ea typeface="Roboto Condensed" pitchFamily="2" charset="0"/>
              </a:rPr>
              <a:t>Anthropology</a:t>
            </a:r>
            <a:endParaRPr lang="en-US" sz="2400" b="1" cap="none" spc="0" dirty="0">
              <a:ln w="12700">
                <a:noFill/>
                <a:prstDash val="solid"/>
              </a:ln>
              <a:latin typeface="Roboto Condensed" pitchFamily="2" charset="0"/>
              <a:ea typeface="Roboto Condensed" pitchFamily="2" charset="0"/>
            </a:endParaRPr>
          </a:p>
          <a:p>
            <a:pPr algn="ctr"/>
            <a:endParaRPr lang="en-US" sz="2400" b="1" dirty="0">
              <a:ln w="12700">
                <a:noFill/>
                <a:prstDash val="solid"/>
              </a:ln>
              <a:latin typeface="Roboto Condensed" pitchFamily="2" charset="0"/>
              <a:ea typeface="Roboto Condensed" pitchFamily="2" charset="0"/>
            </a:endParaRPr>
          </a:p>
          <a:p>
            <a:pPr algn="ctr"/>
            <a:endParaRPr lang="en-US" sz="2400" b="1" cap="none" spc="0" dirty="0">
              <a:ln w="12700">
                <a:noFill/>
                <a:prstDash val="solid"/>
              </a:ln>
              <a:latin typeface="Roboto Condensed" pitchFamily="2" charset="0"/>
              <a:ea typeface="Roboto Condensed" pitchFamily="2" charset="0"/>
            </a:endParaRPr>
          </a:p>
        </p:txBody>
      </p:sp>
      <p:sp>
        <p:nvSpPr>
          <p:cNvPr id="6" name="Rectangle 5"/>
          <p:cNvSpPr/>
          <p:nvPr/>
        </p:nvSpPr>
        <p:spPr>
          <a:xfrm>
            <a:off x="3733800" y="666750"/>
            <a:ext cx="5257807" cy="3970318"/>
          </a:xfrm>
          <a:prstGeom prst="rect">
            <a:avLst/>
          </a:prstGeom>
          <a:noFill/>
          <a:ln>
            <a:noFill/>
          </a:ln>
        </p:spPr>
        <p:txBody>
          <a:bodyPr wrap="square" lIns="91440" tIns="45720" rIns="91440" bIns="45720">
            <a:spAutoFit/>
          </a:bodyPr>
          <a:lstStyle/>
          <a:p>
            <a:pPr algn="just">
              <a:buFont typeface="Arial" pitchFamily="34" charset="0"/>
              <a:buChar char="•"/>
            </a:pPr>
            <a:r>
              <a:rPr lang="en-US" sz="2800" dirty="0">
                <a:latin typeface="Roboto Condensed" pitchFamily="2" charset="0"/>
                <a:ea typeface="Roboto Condensed" pitchFamily="2" charset="0"/>
              </a:rPr>
              <a:t>The two evolutionists who were regarded as anthropologists are the British anthropologist</a:t>
            </a:r>
            <a:r>
              <a:rPr lang="en-US" sz="2800" dirty="0">
                <a:solidFill>
                  <a:srgbClr val="FF0000"/>
                </a:solidFill>
                <a:latin typeface="Roboto Condensed" pitchFamily="2" charset="0"/>
                <a:ea typeface="Roboto Condensed" pitchFamily="2" charset="0"/>
              </a:rPr>
              <a:t> E. B. </a:t>
            </a:r>
            <a:r>
              <a:rPr lang="en-US" sz="2800" dirty="0" err="1">
                <a:solidFill>
                  <a:srgbClr val="FF0000"/>
                </a:solidFill>
                <a:latin typeface="Roboto Condensed" pitchFamily="2" charset="0"/>
                <a:ea typeface="Roboto Condensed" pitchFamily="2" charset="0"/>
              </a:rPr>
              <a:t>Tylor</a:t>
            </a:r>
            <a:r>
              <a:rPr lang="en-US" sz="2800" dirty="0">
                <a:solidFill>
                  <a:srgbClr val="FF0000"/>
                </a:solidFill>
                <a:latin typeface="Roboto Condensed" pitchFamily="2" charset="0"/>
                <a:ea typeface="Roboto Condensed" pitchFamily="2" charset="0"/>
              </a:rPr>
              <a:t> </a:t>
            </a:r>
            <a:r>
              <a:rPr lang="en-US" sz="2800" dirty="0">
                <a:latin typeface="Roboto Condensed" pitchFamily="2" charset="0"/>
                <a:ea typeface="Roboto Condensed" pitchFamily="2" charset="0"/>
              </a:rPr>
              <a:t>and the American anthropologist </a:t>
            </a:r>
            <a:r>
              <a:rPr lang="en-US" sz="2800" dirty="0">
                <a:solidFill>
                  <a:srgbClr val="FF0000"/>
                </a:solidFill>
                <a:latin typeface="Roboto Condensed" pitchFamily="2" charset="0"/>
                <a:ea typeface="Roboto Condensed" pitchFamily="2" charset="0"/>
              </a:rPr>
              <a:t>L. H. Morgan</a:t>
            </a:r>
            <a:r>
              <a:rPr lang="en-US" sz="2800" dirty="0">
                <a:latin typeface="Roboto Condensed" pitchFamily="2" charset="0"/>
                <a:ea typeface="Roboto Condensed" pitchFamily="2" charset="0"/>
              </a:rPr>
              <a:t>. </a:t>
            </a:r>
          </a:p>
          <a:p>
            <a:pPr algn="just"/>
            <a:endParaRPr lang="en-US" sz="2800" dirty="0">
              <a:latin typeface="Roboto Condensed" pitchFamily="2" charset="0"/>
              <a:ea typeface="Roboto Condensed" pitchFamily="2" charset="0"/>
            </a:endParaRPr>
          </a:p>
          <a:p>
            <a:pPr algn="just">
              <a:buFont typeface="Arial" pitchFamily="34" charset="0"/>
              <a:buChar char="•"/>
            </a:pPr>
            <a:r>
              <a:rPr lang="en-US" sz="2800" dirty="0">
                <a:latin typeface="Roboto Condensed" pitchFamily="2" charset="0"/>
                <a:ea typeface="Roboto Condensed" pitchFamily="2" charset="0"/>
              </a:rPr>
              <a:t>They are considered as the founders of the nineteenth century evolutionism.</a:t>
            </a:r>
            <a:endParaRPr lang="en-US" sz="2800" b="1" cap="none" spc="0" dirty="0">
              <a:ln w="12700">
                <a:noFill/>
                <a:prstDash val="solid"/>
              </a:ln>
              <a:latin typeface="Roboto Condensed" pitchFamily="2" charset="0"/>
              <a:ea typeface="Roboto Condensed"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3505200" cy="70788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E. B. </a:t>
            </a:r>
            <a:r>
              <a:rPr lang="en-US" sz="4000" b="1" cap="none" spc="0" dirty="0" err="1">
                <a:ln w="12700">
                  <a:noFill/>
                  <a:prstDash val="solid"/>
                </a:ln>
                <a:latin typeface="Roboto Condensed" pitchFamily="2" charset="0"/>
                <a:ea typeface="Roboto Condensed" pitchFamily="2" charset="0"/>
              </a:rPr>
              <a:t>Tylor</a:t>
            </a:r>
            <a:endParaRPr lang="en-US" sz="4000" b="1" cap="none" spc="0" dirty="0">
              <a:ln w="12700">
                <a:noFill/>
                <a:prstDash val="solid"/>
              </a:ln>
              <a:latin typeface="Roboto Condensed" pitchFamily="2" charset="0"/>
              <a:ea typeface="Roboto Condensed" pitchFamily="2" charset="0"/>
            </a:endParaRPr>
          </a:p>
        </p:txBody>
      </p:sp>
      <p:sp>
        <p:nvSpPr>
          <p:cNvPr id="6" name="Rectangle 5"/>
          <p:cNvSpPr/>
          <p:nvPr/>
        </p:nvSpPr>
        <p:spPr>
          <a:xfrm>
            <a:off x="3733800" y="438150"/>
            <a:ext cx="5257807" cy="3046988"/>
          </a:xfrm>
          <a:prstGeom prst="rect">
            <a:avLst/>
          </a:prstGeom>
          <a:noFill/>
          <a:ln>
            <a:noFill/>
          </a:ln>
        </p:spPr>
        <p:txBody>
          <a:bodyPr wrap="square" lIns="91440" tIns="45720" rIns="91440" bIns="45720">
            <a:spAutoFit/>
          </a:bodyPr>
          <a:lstStyle/>
          <a:p>
            <a:pPr algn="just"/>
            <a:endParaRPr lang="en-US" sz="3200" dirty="0">
              <a:latin typeface="Roboto Condensed" pitchFamily="2" charset="0"/>
              <a:ea typeface="Roboto Condensed" pitchFamily="2" charset="0"/>
            </a:endParaRPr>
          </a:p>
          <a:p>
            <a:pPr algn="just"/>
            <a:r>
              <a:rPr lang="en-US" sz="3200" dirty="0">
                <a:latin typeface="Roboto Condensed" pitchFamily="2" charset="0"/>
                <a:ea typeface="Roboto Condensed" pitchFamily="2" charset="0"/>
              </a:rPr>
              <a:t>E. B. Tylor’s famous contribution titled </a:t>
            </a:r>
            <a:r>
              <a:rPr lang="en-US" sz="3200" dirty="0">
                <a:solidFill>
                  <a:srgbClr val="FF0000"/>
                </a:solidFill>
                <a:latin typeface="Roboto Condensed" pitchFamily="2" charset="0"/>
                <a:ea typeface="Roboto Condensed" pitchFamily="2" charset="0"/>
              </a:rPr>
              <a:t>‘Primitive Culture</a:t>
            </a:r>
            <a:r>
              <a:rPr lang="en-US" sz="3200" dirty="0">
                <a:latin typeface="Roboto Condensed" pitchFamily="2" charset="0"/>
                <a:ea typeface="Roboto Condensed" pitchFamily="2" charset="0"/>
              </a:rPr>
              <a:t>’ was published in 1871</a:t>
            </a:r>
          </a:p>
          <a:p>
            <a:pPr algn="just"/>
            <a:endParaRPr lang="en-US" sz="3200" dirty="0">
              <a:latin typeface="Roboto Condensed" pitchFamily="2" charset="0"/>
              <a:ea typeface="Roboto Condensed"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57150"/>
            <a:ext cx="3505200" cy="1938992"/>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Sources of Charles </a:t>
            </a:r>
            <a:r>
              <a:rPr lang="en-US" sz="4000" b="1" dirty="0">
                <a:ln w="12700">
                  <a:noFill/>
                  <a:prstDash val="solid"/>
                </a:ln>
                <a:latin typeface="Roboto Condensed" pitchFamily="2" charset="0"/>
                <a:ea typeface="Roboto Condensed" pitchFamily="2" charset="0"/>
              </a:rPr>
              <a:t>Tylor</a:t>
            </a:r>
            <a:r>
              <a:rPr lang="en-US" sz="4000" b="1" cap="none" spc="0" dirty="0">
                <a:ln w="12700">
                  <a:noFill/>
                  <a:prstDash val="solid"/>
                </a:ln>
                <a:latin typeface="Roboto Condensed" pitchFamily="2" charset="0"/>
                <a:ea typeface="Roboto Condensed" pitchFamily="2" charset="0"/>
              </a:rPr>
              <a:t>’s work</a:t>
            </a:r>
          </a:p>
        </p:txBody>
      </p:sp>
      <p:sp>
        <p:nvSpPr>
          <p:cNvPr id="6" name="Rectangle 5"/>
          <p:cNvSpPr/>
          <p:nvPr/>
        </p:nvSpPr>
        <p:spPr>
          <a:xfrm>
            <a:off x="3733800" y="666750"/>
            <a:ext cx="5257807" cy="2677656"/>
          </a:xfrm>
          <a:prstGeom prst="rect">
            <a:avLst/>
          </a:prstGeom>
          <a:noFill/>
          <a:ln>
            <a:noFill/>
          </a:ln>
        </p:spPr>
        <p:txBody>
          <a:bodyPr wrap="square" lIns="91440" tIns="45720" rIns="91440" bIns="45720">
            <a:spAutoFit/>
          </a:bodyPr>
          <a:lstStyle/>
          <a:p>
            <a:pPr algn="just">
              <a:buFont typeface="Arial" pitchFamily="34" charset="0"/>
              <a:buChar char="•"/>
            </a:pPr>
            <a:endParaRPr lang="en-US" sz="2400" dirty="0">
              <a:latin typeface="Roboto Condensed" pitchFamily="2" charset="0"/>
              <a:ea typeface="Roboto Condensed" pitchFamily="2" charset="0"/>
            </a:endParaRPr>
          </a:p>
          <a:p>
            <a:pPr algn="just">
              <a:buFont typeface="Arial" pitchFamily="34" charset="0"/>
              <a:buChar char="•"/>
            </a:pPr>
            <a:r>
              <a:rPr lang="en-US" sz="2400" dirty="0">
                <a:latin typeface="Roboto Condensed" pitchFamily="2" charset="0"/>
                <a:ea typeface="Roboto Condensed" pitchFamily="2" charset="0"/>
              </a:rPr>
              <a:t>If we concentrate on the world history of that point of time, we shall find out that in that particular era, English people were mainly concentrating on</a:t>
            </a:r>
            <a:r>
              <a:rPr lang="en-US" sz="2400" dirty="0">
                <a:solidFill>
                  <a:srgbClr val="FF0000"/>
                </a:solidFill>
                <a:latin typeface="Roboto Condensed" pitchFamily="2" charset="0"/>
                <a:ea typeface="Roboto Condensed" pitchFamily="2" charset="0"/>
              </a:rPr>
              <a:t> expanding their political territory through massive colonialism. </a:t>
            </a:r>
            <a:endParaRPr lang="en-US" sz="2400" b="1" cap="none" spc="0" dirty="0">
              <a:ln w="12700">
                <a:noFill/>
                <a:prstDash val="solid"/>
              </a:ln>
              <a:solidFill>
                <a:srgbClr val="FF0000"/>
              </a:solidFill>
              <a:latin typeface="Roboto Condensed" pitchFamily="2" charset="0"/>
              <a:ea typeface="Roboto Condensed"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285750"/>
            <a:ext cx="3505200" cy="1938992"/>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Sources of Charles Tylor’s work</a:t>
            </a:r>
          </a:p>
        </p:txBody>
      </p:sp>
      <p:sp>
        <p:nvSpPr>
          <p:cNvPr id="6" name="Rectangle 5"/>
          <p:cNvSpPr/>
          <p:nvPr/>
        </p:nvSpPr>
        <p:spPr>
          <a:xfrm>
            <a:off x="3733800" y="972562"/>
            <a:ext cx="5257807" cy="3046988"/>
          </a:xfrm>
          <a:prstGeom prst="rect">
            <a:avLst/>
          </a:prstGeom>
          <a:noFill/>
          <a:ln>
            <a:noFill/>
          </a:ln>
        </p:spPr>
        <p:txBody>
          <a:bodyPr wrap="square" lIns="91440" tIns="45720" rIns="91440" bIns="45720">
            <a:spAutoFit/>
          </a:bodyPr>
          <a:lstStyle/>
          <a:p>
            <a:pPr algn="just">
              <a:buFont typeface="Arial" pitchFamily="34" charset="0"/>
              <a:buChar char="•"/>
            </a:pPr>
            <a:r>
              <a:rPr lang="en-US" sz="2400" dirty="0">
                <a:latin typeface="Roboto Condensed" pitchFamily="2" charset="0"/>
                <a:ea typeface="Roboto Condensed" pitchFamily="2" charset="0"/>
              </a:rPr>
              <a:t>As a result, many people like the travelers, explorers, businessmen, missionaries and several officials of the Government were visiting the different parts of the world.</a:t>
            </a:r>
          </a:p>
          <a:p>
            <a:pPr algn="just"/>
            <a:endParaRPr lang="en-US" sz="2400" dirty="0">
              <a:latin typeface="Roboto Condensed" pitchFamily="2" charset="0"/>
              <a:ea typeface="Roboto Condensed" pitchFamily="2" charset="0"/>
            </a:endParaRPr>
          </a:p>
          <a:p>
            <a:pPr algn="just">
              <a:buFont typeface="Arial" pitchFamily="34" charset="0"/>
              <a:buChar char="•"/>
            </a:pPr>
            <a:r>
              <a:rPr lang="en-US" sz="2400" dirty="0">
                <a:latin typeface="Roboto Condensed" pitchFamily="2" charset="0"/>
                <a:ea typeface="Roboto Condensed" pitchFamily="2" charset="0"/>
              </a:rPr>
              <a:t>Tylor took the help of these people in preparing his thoughts and writings</a:t>
            </a:r>
            <a:endParaRPr lang="en-US" sz="2400" b="1" cap="none" spc="0" dirty="0">
              <a:ln w="12700">
                <a:noFill/>
                <a:prstDash val="solid"/>
              </a:ln>
              <a:latin typeface="Roboto Condensed" pitchFamily="2" charset="0"/>
              <a:ea typeface="Roboto Condensed" pitchFamily="2"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285750"/>
            <a:ext cx="3505200" cy="1323439"/>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Evolution by Tylor</a:t>
            </a:r>
          </a:p>
        </p:txBody>
      </p:sp>
      <p:sp>
        <p:nvSpPr>
          <p:cNvPr id="6" name="Rectangle 5"/>
          <p:cNvSpPr/>
          <p:nvPr/>
        </p:nvSpPr>
        <p:spPr>
          <a:xfrm>
            <a:off x="3733800" y="209550"/>
            <a:ext cx="5257807" cy="3108543"/>
          </a:xfrm>
          <a:prstGeom prst="rect">
            <a:avLst/>
          </a:prstGeom>
          <a:noFill/>
          <a:ln>
            <a:noFill/>
          </a:ln>
        </p:spPr>
        <p:txBody>
          <a:bodyPr wrap="square" lIns="91440" tIns="45720" rIns="91440" bIns="45720">
            <a:spAutoFit/>
          </a:bodyPr>
          <a:lstStyle/>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endParaRPr lang="en-US" sz="2800" dirty="0">
              <a:latin typeface="Roboto Condensed" pitchFamily="2" charset="0"/>
              <a:ea typeface="Roboto Condensed" pitchFamily="2" charset="0"/>
            </a:endParaRPr>
          </a:p>
          <a:p>
            <a:pPr algn="just"/>
            <a:endParaRPr lang="en-US" sz="2800" dirty="0">
              <a:latin typeface="Roboto Condensed" pitchFamily="2" charset="0"/>
              <a:ea typeface="Roboto Condensed" pitchFamily="2" charset="0"/>
            </a:endParaRPr>
          </a:p>
          <a:p>
            <a:pPr algn="just"/>
            <a:r>
              <a:rPr lang="en-US" sz="2800" dirty="0">
                <a:latin typeface="Roboto Condensed" pitchFamily="2" charset="0"/>
                <a:ea typeface="Roboto Condensed" pitchFamily="2" charset="0"/>
              </a:rPr>
              <a:t>According to him, a society’s evolution is unidirectional and it passes through three different stages one after another.</a:t>
            </a:r>
            <a:endParaRPr lang="en-US" sz="2800" b="1" cap="none" spc="0" dirty="0">
              <a:ln w="12700">
                <a:noFill/>
                <a:prstDash val="solid"/>
              </a:ln>
              <a:latin typeface="Roboto Condensed" pitchFamily="2" charset="0"/>
              <a:ea typeface="Roboto Condensed"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3505200" cy="1323439"/>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Three stages of evolution</a:t>
            </a:r>
          </a:p>
        </p:txBody>
      </p:sp>
      <p:pic>
        <p:nvPicPr>
          <p:cNvPr id="7" name="Picture 6" descr="LfRQzB3FpINcKtFdiOYRMQ.jpg"/>
          <p:cNvPicPr>
            <a:picLocks noChangeAspect="1"/>
          </p:cNvPicPr>
          <p:nvPr/>
        </p:nvPicPr>
        <p:blipFill>
          <a:blip r:embed="rId2"/>
          <a:stretch>
            <a:fillRect/>
          </a:stretch>
        </p:blipFill>
        <p:spPr>
          <a:xfrm>
            <a:off x="4604273" y="1123950"/>
            <a:ext cx="2743200" cy="2514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3505200" cy="1938992"/>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Three stages of evolution</a:t>
            </a:r>
          </a:p>
          <a:p>
            <a:pPr algn="ctr"/>
            <a:endParaRPr lang="en-US" sz="4000" b="1" cap="none" spc="0" dirty="0">
              <a:ln w="12700">
                <a:noFill/>
                <a:prstDash val="solid"/>
              </a:ln>
              <a:latin typeface="Roboto Condensed" pitchFamily="2" charset="0"/>
              <a:ea typeface="Roboto Condensed" pitchFamily="2" charset="0"/>
            </a:endParaRPr>
          </a:p>
        </p:txBody>
      </p:sp>
      <p:sp>
        <p:nvSpPr>
          <p:cNvPr id="6" name="Rectangle 5"/>
          <p:cNvSpPr/>
          <p:nvPr/>
        </p:nvSpPr>
        <p:spPr>
          <a:xfrm>
            <a:off x="4038600" y="971550"/>
            <a:ext cx="4571999" cy="2554545"/>
          </a:xfrm>
          <a:prstGeom prst="rect">
            <a:avLst/>
          </a:prstGeom>
          <a:noFill/>
          <a:ln>
            <a:noFill/>
          </a:ln>
        </p:spPr>
        <p:txBody>
          <a:bodyPr wrap="square" lIns="91440" tIns="45720" rIns="91440" bIns="45720">
            <a:spAutoFit/>
          </a:bodyPr>
          <a:lstStyle/>
          <a:p>
            <a:pPr algn="just">
              <a:buFont typeface="Arial" pitchFamily="34" charset="0"/>
              <a:buChar char="•"/>
            </a:pPr>
            <a:r>
              <a:rPr lang="en-US" sz="3200" dirty="0">
                <a:latin typeface="Roboto Condensed" pitchFamily="2" charset="0"/>
                <a:ea typeface="Roboto Condensed" pitchFamily="2" charset="0"/>
              </a:rPr>
              <a:t> Later anthropologists Lewis Henry Morgan gave a detailed exposition of it in his 1877 book </a:t>
            </a:r>
            <a:r>
              <a:rPr lang="en-US" sz="3200" b="1" i="1" dirty="0">
                <a:latin typeface="Roboto Condensed" pitchFamily="2" charset="0"/>
                <a:ea typeface="Roboto Condensed" pitchFamily="2" charset="0"/>
              </a:rPr>
              <a:t>Ancient Society. </a:t>
            </a:r>
            <a:endParaRPr lang="en-US" sz="3200" b="1" cap="none" spc="0" dirty="0">
              <a:ln w="12700">
                <a:noFill/>
                <a:prstDash val="solid"/>
              </a:ln>
              <a:latin typeface="Roboto Condensed" pitchFamily="2" charset="0"/>
              <a:ea typeface="Roboto Condensed"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52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3505200" cy="2554545"/>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Division </a:t>
            </a:r>
            <a:r>
              <a:rPr lang="en-US" sz="4000" b="1" dirty="0">
                <a:ln w="12700">
                  <a:noFill/>
                  <a:prstDash val="solid"/>
                </a:ln>
                <a:latin typeface="Roboto Condensed" pitchFamily="2" charset="0"/>
                <a:ea typeface="Roboto Condensed" pitchFamily="2" charset="0"/>
              </a:rPr>
              <a:t>of </a:t>
            </a:r>
            <a:r>
              <a:rPr lang="en-US" sz="4000" b="1" cap="none" spc="0" dirty="0">
                <a:ln w="12700">
                  <a:noFill/>
                  <a:prstDash val="solid"/>
                </a:ln>
                <a:latin typeface="Roboto Condensed" pitchFamily="2" charset="0"/>
                <a:ea typeface="Roboto Condensed" pitchFamily="2" charset="0"/>
              </a:rPr>
              <a:t>Three stages of evolution</a:t>
            </a:r>
          </a:p>
          <a:p>
            <a:pPr algn="ctr"/>
            <a:endParaRPr lang="en-US" sz="4000" b="1" cap="none" spc="0" dirty="0">
              <a:ln w="12700">
                <a:noFill/>
                <a:prstDash val="solid"/>
              </a:ln>
              <a:latin typeface="Roboto Condensed" pitchFamily="2" charset="0"/>
              <a:ea typeface="Roboto Condensed" pitchFamily="2" charset="0"/>
            </a:endParaRPr>
          </a:p>
        </p:txBody>
      </p:sp>
      <p:sp>
        <p:nvSpPr>
          <p:cNvPr id="6" name="Rectangle 5"/>
          <p:cNvSpPr/>
          <p:nvPr/>
        </p:nvSpPr>
        <p:spPr>
          <a:xfrm>
            <a:off x="4038600" y="971550"/>
            <a:ext cx="4571999" cy="3539430"/>
          </a:xfrm>
          <a:prstGeom prst="rect">
            <a:avLst/>
          </a:prstGeom>
          <a:noFill/>
          <a:ln>
            <a:noFill/>
          </a:ln>
        </p:spPr>
        <p:txBody>
          <a:bodyPr wrap="square" lIns="91440" tIns="45720" rIns="91440" bIns="45720">
            <a:spAutoFit/>
          </a:bodyPr>
          <a:lstStyle/>
          <a:p>
            <a:pPr algn="just">
              <a:buFont typeface="Arial" pitchFamily="34" charset="0"/>
              <a:buChar char="•"/>
            </a:pPr>
            <a:r>
              <a:rPr lang="en-US" sz="3200" b="1" cap="none" spc="0" dirty="0">
                <a:ln w="12700">
                  <a:noFill/>
                  <a:prstDash val="solid"/>
                </a:ln>
                <a:latin typeface="Roboto Condensed" pitchFamily="2" charset="0"/>
                <a:ea typeface="Roboto Condensed" pitchFamily="2" charset="0"/>
              </a:rPr>
              <a:t>Savagery (Lower, Middle, Upper)</a:t>
            </a:r>
          </a:p>
          <a:p>
            <a:pPr algn="just"/>
            <a:endParaRPr lang="en-US" sz="3200" b="1" cap="none" spc="0" dirty="0">
              <a:ln w="12700">
                <a:noFill/>
                <a:prstDash val="solid"/>
              </a:ln>
              <a:latin typeface="Roboto Condensed" pitchFamily="2" charset="0"/>
              <a:ea typeface="Roboto Condensed" pitchFamily="2" charset="0"/>
            </a:endParaRPr>
          </a:p>
          <a:p>
            <a:pPr algn="just">
              <a:buFont typeface="Arial" pitchFamily="34" charset="0"/>
              <a:buChar char="•"/>
            </a:pPr>
            <a:r>
              <a:rPr lang="en-US" sz="3200" b="1" cap="none" spc="0" dirty="0">
                <a:ln w="12700">
                  <a:noFill/>
                  <a:prstDash val="solid"/>
                </a:ln>
                <a:latin typeface="Roboto Condensed" pitchFamily="2" charset="0"/>
                <a:ea typeface="Roboto Condensed" pitchFamily="2" charset="0"/>
              </a:rPr>
              <a:t>  Barbarism (Lower, Middle, Upper)</a:t>
            </a:r>
          </a:p>
          <a:p>
            <a:pPr algn="just"/>
            <a:endParaRPr lang="en-US" sz="3200" b="1" cap="none" spc="0" dirty="0">
              <a:ln w="12700">
                <a:noFill/>
                <a:prstDash val="solid"/>
              </a:ln>
              <a:latin typeface="Roboto Condensed" pitchFamily="2" charset="0"/>
              <a:ea typeface="Roboto Condensed" pitchFamily="2" charset="0"/>
            </a:endParaRPr>
          </a:p>
          <a:p>
            <a:pPr algn="just">
              <a:buFont typeface="Arial" pitchFamily="34" charset="0"/>
              <a:buChar char="•"/>
            </a:pPr>
            <a:r>
              <a:rPr lang="en-US" sz="3200" b="1" dirty="0">
                <a:ln w="12700">
                  <a:noFill/>
                  <a:prstDash val="solid"/>
                </a:ln>
                <a:latin typeface="Roboto Condensed" pitchFamily="2" charset="0"/>
                <a:ea typeface="Roboto Condensed" pitchFamily="2" charset="0"/>
              </a:rPr>
              <a:t> Civilization (None)</a:t>
            </a:r>
            <a:endParaRPr lang="en-US" sz="3200" b="1" cap="none" spc="0" dirty="0">
              <a:ln w="12700">
                <a:noFill/>
                <a:prstDash val="solid"/>
              </a:ln>
              <a:latin typeface="Roboto Condensed" pitchFamily="2" charset="0"/>
              <a:ea typeface="Roboto Condensed"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4191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514350"/>
            <a:ext cx="3276599" cy="3046988"/>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 Lower Savagery</a:t>
            </a:r>
          </a:p>
          <a:p>
            <a:pPr algn="ctr"/>
            <a:endParaRPr lang="en-US" sz="4000" b="1" cap="none" spc="0" dirty="0">
              <a:ln w="12700">
                <a:noFill/>
                <a:prstDash val="solid"/>
              </a:ln>
              <a:latin typeface="Roboto Condensed" pitchFamily="2" charset="0"/>
              <a:ea typeface="Roboto Condensed" pitchFamily="2" charset="0"/>
            </a:endParaRPr>
          </a:p>
          <a:p>
            <a:pPr algn="ctr"/>
            <a:r>
              <a:rPr lang="en-US" sz="1600" dirty="0">
                <a:latin typeface="Roboto Condensed" pitchFamily="2" charset="0"/>
                <a:ea typeface="Roboto Condensed" pitchFamily="2" charset="0"/>
              </a:rPr>
              <a:t>Time period - Paleolithic (ca. 2 million years ago to 12,000 years)</a:t>
            </a:r>
          </a:p>
          <a:p>
            <a:pPr algn="ctr"/>
            <a:endParaRPr lang="en-US" sz="4000" b="1" cap="none" spc="0" dirty="0">
              <a:ln w="12700">
                <a:noFill/>
                <a:prstDash val="solid"/>
              </a:ln>
              <a:latin typeface="Roboto Condensed" pitchFamily="2" charset="0"/>
              <a:ea typeface="Roboto Condensed" pitchFamily="2" charset="0"/>
            </a:endParaRPr>
          </a:p>
        </p:txBody>
      </p:sp>
      <p:sp>
        <p:nvSpPr>
          <p:cNvPr id="6" name="Rectangle 5"/>
          <p:cNvSpPr/>
          <p:nvPr/>
        </p:nvSpPr>
        <p:spPr>
          <a:xfrm>
            <a:off x="4343400" y="285750"/>
            <a:ext cx="4572000" cy="4278094"/>
          </a:xfrm>
          <a:prstGeom prst="rect">
            <a:avLst/>
          </a:prstGeom>
          <a:noFill/>
          <a:ln>
            <a:noFill/>
          </a:ln>
        </p:spPr>
        <p:txBody>
          <a:bodyPr wrap="square" lIns="91440" tIns="45720" rIns="91440" bIns="45720">
            <a:spAutoFit/>
          </a:bodyPr>
          <a:lstStyle/>
          <a:p>
            <a:pPr algn="just"/>
            <a:endParaRPr lang="en-US" sz="3200" dirty="0">
              <a:latin typeface="Roboto Condensed" pitchFamily="2" charset="0"/>
              <a:ea typeface="Roboto Condensed" pitchFamily="2" charset="0"/>
            </a:endParaRPr>
          </a:p>
          <a:p>
            <a:pPr algn="just">
              <a:buFont typeface="Arial" pitchFamily="34" charset="0"/>
              <a:buChar char="•"/>
            </a:pPr>
            <a:r>
              <a:rPr lang="en-US" sz="2400" dirty="0">
                <a:latin typeface="Roboto Condensed" pitchFamily="2" charset="0"/>
                <a:ea typeface="Roboto Condensed" pitchFamily="2" charset="0"/>
              </a:rPr>
              <a:t>It was the time before fire</a:t>
            </a:r>
          </a:p>
          <a:p>
            <a:pPr algn="just"/>
            <a:endParaRPr lang="en-US" sz="2400" dirty="0">
              <a:latin typeface="Roboto Condensed" pitchFamily="2" charset="0"/>
              <a:ea typeface="Roboto Condensed" pitchFamily="2" charset="0"/>
            </a:endParaRPr>
          </a:p>
          <a:p>
            <a:pPr algn="just">
              <a:buFont typeface="Arial" pitchFamily="34" charset="0"/>
              <a:buChar char="•"/>
            </a:pPr>
            <a:r>
              <a:rPr lang="en-US" sz="2400" dirty="0">
                <a:latin typeface="Roboto Condensed" pitchFamily="2" charset="0"/>
                <a:ea typeface="Roboto Condensed" pitchFamily="2" charset="0"/>
              </a:rPr>
              <a:t>People used to collect fruits and nuts</a:t>
            </a:r>
          </a:p>
          <a:p>
            <a:pPr algn="just"/>
            <a:endParaRPr lang="en-US" sz="2400" dirty="0">
              <a:latin typeface="Roboto Condensed" pitchFamily="2" charset="0"/>
              <a:ea typeface="Roboto Condensed" pitchFamily="2" charset="0"/>
            </a:endParaRPr>
          </a:p>
          <a:p>
            <a:pPr algn="just">
              <a:buFont typeface="Arial" pitchFamily="34" charset="0"/>
              <a:buChar char="•"/>
            </a:pPr>
            <a:r>
              <a:rPr lang="en-US" sz="2400" dirty="0"/>
              <a:t>Man still lived in his original habitat, in tropical or subtropical forests, and was partially at least a tree-dweller. </a:t>
            </a:r>
            <a:endParaRPr lang="en-US" sz="2400" dirty="0">
              <a:latin typeface="Roboto Condensed" pitchFamily="2" charset="0"/>
              <a:ea typeface="Roboto Condensed" pitchFamily="2" charset="0"/>
            </a:endParaRPr>
          </a:p>
          <a:p>
            <a:pPr algn="just"/>
            <a:endParaRPr lang="en-US" sz="2400" cap="none" spc="0" dirty="0">
              <a:ln w="12700">
                <a:noFill/>
                <a:prstDash val="solid"/>
              </a:ln>
              <a:latin typeface="Roboto Condensed" pitchFamily="2" charset="0"/>
              <a:ea typeface="Roboto Condensed" pitchFamily="2"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4191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514350"/>
            <a:ext cx="3276599" cy="3046988"/>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 Lower Savagery</a:t>
            </a:r>
          </a:p>
          <a:p>
            <a:pPr algn="ctr"/>
            <a:endParaRPr lang="en-US" sz="4000" b="1" cap="none" spc="0" dirty="0">
              <a:ln w="12700">
                <a:noFill/>
                <a:prstDash val="solid"/>
              </a:ln>
              <a:latin typeface="Roboto Condensed" pitchFamily="2" charset="0"/>
              <a:ea typeface="Roboto Condensed" pitchFamily="2" charset="0"/>
            </a:endParaRPr>
          </a:p>
          <a:p>
            <a:pPr algn="ctr"/>
            <a:r>
              <a:rPr lang="en-US" sz="1600" dirty="0">
                <a:latin typeface="Roboto Condensed" pitchFamily="2" charset="0"/>
                <a:ea typeface="Roboto Condensed" pitchFamily="2" charset="0"/>
              </a:rPr>
              <a:t>Time period - Paleolithic (ca. 2 million years ago to 12,000 </a:t>
            </a:r>
            <a:r>
              <a:rPr lang="en-US" sz="1600" dirty="0" err="1">
                <a:latin typeface="Roboto Condensed" pitchFamily="2" charset="0"/>
                <a:ea typeface="Roboto Condensed" pitchFamily="2" charset="0"/>
              </a:rPr>
              <a:t>ya</a:t>
            </a:r>
            <a:r>
              <a:rPr lang="en-US" sz="1600" dirty="0">
                <a:latin typeface="Roboto Condensed" pitchFamily="2" charset="0"/>
                <a:ea typeface="Roboto Condensed" pitchFamily="2" charset="0"/>
              </a:rPr>
              <a:t>)</a:t>
            </a:r>
          </a:p>
          <a:p>
            <a:pPr algn="ctr"/>
            <a:endParaRPr lang="en-US" sz="4000" b="1" cap="none" spc="0" dirty="0">
              <a:ln w="12700">
                <a:noFill/>
                <a:prstDash val="solid"/>
              </a:ln>
              <a:latin typeface="Roboto Condensed" pitchFamily="2" charset="0"/>
              <a:ea typeface="Roboto Condensed" pitchFamily="2" charset="0"/>
            </a:endParaRPr>
          </a:p>
        </p:txBody>
      </p:sp>
      <p:sp>
        <p:nvSpPr>
          <p:cNvPr id="6" name="Rectangle 5"/>
          <p:cNvSpPr/>
          <p:nvPr/>
        </p:nvSpPr>
        <p:spPr>
          <a:xfrm>
            <a:off x="4343400" y="285750"/>
            <a:ext cx="4572000" cy="4893647"/>
          </a:xfrm>
          <a:prstGeom prst="rect">
            <a:avLst/>
          </a:prstGeom>
          <a:noFill/>
          <a:ln>
            <a:noFill/>
          </a:ln>
        </p:spPr>
        <p:txBody>
          <a:bodyPr wrap="square" lIns="91440" tIns="45720" rIns="91440" bIns="45720">
            <a:spAutoFit/>
          </a:bodyPr>
          <a:lstStyle/>
          <a:p>
            <a:pPr algn="just"/>
            <a:endParaRPr lang="en-US" sz="2400" dirty="0">
              <a:latin typeface="Roboto Condensed"/>
              <a:ea typeface="Roboto Condensed" pitchFamily="2" charset="0"/>
            </a:endParaRPr>
          </a:p>
          <a:p>
            <a:pPr algn="just">
              <a:buFont typeface="Arial" pitchFamily="34" charset="0"/>
              <a:buChar char="•"/>
            </a:pPr>
            <a:r>
              <a:rPr lang="en-US" sz="2400" dirty="0">
                <a:latin typeface="Roboto Condensed"/>
                <a:ea typeface="Roboto Condensed" pitchFamily="2" charset="0"/>
              </a:rPr>
              <a:t>Promiscuous bands</a:t>
            </a:r>
          </a:p>
          <a:p>
            <a:pPr algn="just"/>
            <a:endParaRPr lang="en-US" sz="2400" dirty="0">
              <a:latin typeface="Roboto Condensed"/>
              <a:ea typeface="Roboto Condensed" pitchFamily="2" charset="0"/>
            </a:endParaRPr>
          </a:p>
          <a:p>
            <a:pPr algn="just">
              <a:buFont typeface="Arial" pitchFamily="34" charset="0"/>
              <a:buChar char="•"/>
            </a:pPr>
            <a:r>
              <a:rPr lang="en-US" sz="2400" dirty="0">
                <a:latin typeface="Roboto Condensed"/>
                <a:ea typeface="Roboto Condensed" pitchFamily="2" charset="0"/>
              </a:rPr>
              <a:t>People practiced  Indiscriminate mating</a:t>
            </a:r>
          </a:p>
          <a:p>
            <a:pPr algn="just"/>
            <a:endParaRPr lang="en-US" sz="2400" dirty="0">
              <a:latin typeface="Roboto Condensed"/>
              <a:ea typeface="Roboto Condensed" pitchFamily="2" charset="0"/>
            </a:endParaRPr>
          </a:p>
          <a:p>
            <a:pPr algn="just">
              <a:buFont typeface="Arial" pitchFamily="34" charset="0"/>
              <a:buChar char="•"/>
            </a:pPr>
            <a:r>
              <a:rPr lang="en-US" sz="2400" dirty="0">
                <a:latin typeface="Roboto Condensed"/>
                <a:ea typeface="Roboto Condensed" pitchFamily="2" charset="0"/>
              </a:rPr>
              <a:t>Social and economic system was Communistic. </a:t>
            </a:r>
          </a:p>
          <a:p>
            <a:pPr algn="just">
              <a:buFont typeface="Arial" pitchFamily="34" charset="0"/>
              <a:buChar char="•"/>
            </a:pPr>
            <a:endParaRPr lang="en-US" sz="2400" dirty="0">
              <a:latin typeface="Roboto Condensed"/>
              <a:ea typeface="Roboto Condensed" pitchFamily="2" charset="0"/>
            </a:endParaRPr>
          </a:p>
          <a:p>
            <a:pPr algn="just">
              <a:buFont typeface="Arial" pitchFamily="34" charset="0"/>
              <a:buChar char="•"/>
            </a:pPr>
            <a:r>
              <a:rPr lang="en-US" sz="2400" dirty="0">
                <a:latin typeface="Roboto Condensed"/>
              </a:rPr>
              <a:t>The development of articulate speech is the main result of this period</a:t>
            </a:r>
            <a:endParaRPr lang="en-US" sz="2400" dirty="0">
              <a:latin typeface="Roboto Condensed"/>
              <a:ea typeface="Roboto Condensed" pitchFamily="2" charset="0"/>
            </a:endParaRPr>
          </a:p>
          <a:p>
            <a:pPr algn="just">
              <a:buFont typeface="Arial" pitchFamily="34" charset="0"/>
              <a:buChar char="•"/>
            </a:pPr>
            <a:endParaRPr lang="en-US" sz="2400" cap="none" spc="0" dirty="0">
              <a:ln w="12700">
                <a:noFill/>
                <a:prstDash val="solid"/>
              </a:ln>
              <a:latin typeface="Roboto Condensed"/>
              <a:ea typeface="Roboto Condensed" pitchFamily="2" charset="0"/>
            </a:endParaRPr>
          </a:p>
        </p:txBody>
      </p:sp>
      <p:pic>
        <p:nvPicPr>
          <p:cNvPr id="3" name="Picture 2">
            <a:extLst>
              <a:ext uri="{FF2B5EF4-FFF2-40B4-BE49-F238E27FC236}">
                <a16:creationId xmlns:a16="http://schemas.microsoft.com/office/drawing/2014/main" id="{474F7EFA-7DE7-4E6C-A6D3-C1DD1A9A7A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028950"/>
            <a:ext cx="3276600" cy="1766794"/>
          </a:xfrm>
          <a:prstGeom prst="rect">
            <a:avLst/>
          </a:prstGeom>
        </p:spPr>
      </p:pic>
    </p:spTree>
    <p:extLst>
      <p:ext uri="{BB962C8B-B14F-4D97-AF65-F5344CB8AC3E}">
        <p14:creationId xmlns:p14="http://schemas.microsoft.com/office/powerpoint/2010/main" val="2746272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33528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361950"/>
            <a:ext cx="2666999" cy="215443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 Middle Savagery</a:t>
            </a:r>
          </a:p>
          <a:p>
            <a:pPr algn="ctr"/>
            <a:r>
              <a:rPr lang="en-US" dirty="0">
                <a:latin typeface="Roboto Condensed" pitchFamily="2" charset="0"/>
                <a:ea typeface="Roboto Condensed" pitchFamily="2" charset="0"/>
              </a:rPr>
              <a:t>Time period - Paleolithic (ca. 2 million years ago to 12,000 years)</a:t>
            </a:r>
            <a:endParaRPr lang="en-US" b="1" cap="none" spc="0" dirty="0">
              <a:ln w="12700">
                <a:noFill/>
                <a:prstDash val="solid"/>
              </a:ln>
              <a:latin typeface="Roboto Condensed" pitchFamily="2" charset="0"/>
              <a:ea typeface="Roboto Condensed" pitchFamily="2" charset="0"/>
            </a:endParaRPr>
          </a:p>
        </p:txBody>
      </p:sp>
      <p:sp>
        <p:nvSpPr>
          <p:cNvPr id="6" name="Rectangle 5"/>
          <p:cNvSpPr/>
          <p:nvPr/>
        </p:nvSpPr>
        <p:spPr>
          <a:xfrm>
            <a:off x="3505200" y="285750"/>
            <a:ext cx="5410200" cy="4154984"/>
          </a:xfrm>
          <a:prstGeom prst="rect">
            <a:avLst/>
          </a:prstGeom>
          <a:noFill/>
          <a:ln>
            <a:noFill/>
          </a:ln>
        </p:spPr>
        <p:txBody>
          <a:bodyPr wrap="square" lIns="91440" tIns="45720" rIns="91440" bIns="45720">
            <a:spAutoFit/>
          </a:bodyPr>
          <a:lstStyle/>
          <a:p>
            <a:pPr algn="just"/>
            <a:endParaRPr lang="en-US" sz="2400" dirty="0">
              <a:latin typeface="Roboto Condensed" pitchFamily="2" charset="0"/>
              <a:ea typeface="Roboto Condensed" pitchFamily="2" charset="0"/>
            </a:endParaRPr>
          </a:p>
          <a:p>
            <a:pPr algn="just"/>
            <a:endParaRPr lang="en-US" sz="2400" dirty="0">
              <a:latin typeface="Roboto Condensed" pitchFamily="2" charset="0"/>
              <a:ea typeface="Roboto Condensed" pitchFamily="2" charset="0"/>
            </a:endParaRPr>
          </a:p>
          <a:p>
            <a:pPr algn="just">
              <a:buFont typeface="Arial" pitchFamily="34" charset="0"/>
              <a:buChar char="•"/>
            </a:pPr>
            <a:endParaRPr lang="en-US" sz="2400" dirty="0">
              <a:latin typeface="Roboto Condensed" pitchFamily="2" charset="0"/>
              <a:ea typeface="Roboto Condensed" pitchFamily="2" charset="0"/>
            </a:endParaRPr>
          </a:p>
          <a:p>
            <a:pPr algn="just">
              <a:buFont typeface="Arial" pitchFamily="34" charset="0"/>
              <a:buChar char="•"/>
            </a:pPr>
            <a:endParaRPr lang="en-US" sz="2400" dirty="0">
              <a:latin typeface="Roboto Condensed" pitchFamily="2" charset="0"/>
              <a:ea typeface="Roboto Condensed" pitchFamily="2" charset="0"/>
            </a:endParaRPr>
          </a:p>
          <a:p>
            <a:pPr algn="just"/>
            <a:endParaRPr lang="en-US" sz="2400" dirty="0"/>
          </a:p>
          <a:p>
            <a:pPr algn="just"/>
            <a:endParaRPr lang="en-US" sz="2400" dirty="0"/>
          </a:p>
          <a:p>
            <a:pPr algn="just"/>
            <a:r>
              <a:rPr lang="en-US" sz="2400" dirty="0"/>
              <a:t>Begins with the utilization of fish for food (including crabs, mussels, and other aquatic animals), and with the use of fire. The two are complementary, since fish becomes edible only by the use of fire.</a:t>
            </a:r>
            <a:endParaRPr lang="en-US" sz="2400" cap="none" spc="0" dirty="0">
              <a:ln w="12700">
                <a:noFill/>
                <a:prstDash val="solid"/>
              </a:ln>
              <a:latin typeface="Roboto Condensed" pitchFamily="2" charset="0"/>
              <a:ea typeface="Roboto Condensed" pitchFamily="2" charset="0"/>
            </a:endParaRPr>
          </a:p>
        </p:txBody>
      </p:sp>
      <p:pic>
        <p:nvPicPr>
          <p:cNvPr id="7" name="Picture 6" descr="caveman-making-fire-with-stones.jpg"/>
          <p:cNvPicPr>
            <a:picLocks noChangeAspect="1"/>
          </p:cNvPicPr>
          <p:nvPr/>
        </p:nvPicPr>
        <p:blipFill>
          <a:blip r:embed="rId2"/>
          <a:stretch>
            <a:fillRect/>
          </a:stretch>
        </p:blipFill>
        <p:spPr>
          <a:xfrm>
            <a:off x="3886200" y="133350"/>
            <a:ext cx="4648200" cy="16478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33528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2666999" cy="215443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 Middle Savagery</a:t>
            </a:r>
          </a:p>
          <a:p>
            <a:pPr algn="ctr"/>
            <a:r>
              <a:rPr lang="en-US" dirty="0">
                <a:latin typeface="Roboto Condensed" pitchFamily="2" charset="0"/>
                <a:ea typeface="Roboto Condensed" pitchFamily="2" charset="0"/>
              </a:rPr>
              <a:t>Time period - Paleolithic (ca. 2 million years ago to 12,000 </a:t>
            </a:r>
            <a:r>
              <a:rPr lang="en-US" dirty="0" err="1">
                <a:latin typeface="Roboto Condensed" pitchFamily="2" charset="0"/>
                <a:ea typeface="Roboto Condensed" pitchFamily="2" charset="0"/>
              </a:rPr>
              <a:t>ya</a:t>
            </a:r>
            <a:endParaRPr lang="en-US" b="1" cap="none" spc="0" dirty="0">
              <a:ln w="12700">
                <a:noFill/>
                <a:prstDash val="solid"/>
              </a:ln>
              <a:latin typeface="Roboto Condensed" pitchFamily="2" charset="0"/>
              <a:ea typeface="Roboto Condensed" pitchFamily="2" charset="0"/>
            </a:endParaRPr>
          </a:p>
        </p:txBody>
      </p:sp>
      <p:sp>
        <p:nvSpPr>
          <p:cNvPr id="6" name="Rectangle 5"/>
          <p:cNvSpPr/>
          <p:nvPr/>
        </p:nvSpPr>
        <p:spPr>
          <a:xfrm>
            <a:off x="3505200" y="285750"/>
            <a:ext cx="5410200" cy="5016758"/>
          </a:xfrm>
          <a:prstGeom prst="rect">
            <a:avLst/>
          </a:prstGeom>
          <a:noFill/>
          <a:ln>
            <a:noFill/>
          </a:ln>
        </p:spPr>
        <p:txBody>
          <a:bodyPr wrap="square" lIns="91440" tIns="45720" rIns="91440" bIns="45720">
            <a:spAutoFit/>
          </a:bodyPr>
          <a:lstStyle/>
          <a:p>
            <a:pPr algn="just"/>
            <a:endParaRPr lang="en-US" sz="3200" dirty="0"/>
          </a:p>
          <a:p>
            <a:pPr marL="457200" indent="-457200" algn="just">
              <a:buFont typeface="Arial" panose="020B0604020202020204" pitchFamily="34" charset="0"/>
              <a:buChar char="•"/>
            </a:pPr>
            <a:r>
              <a:rPr lang="en-US" sz="3200" dirty="0"/>
              <a:t>Human now became independent of climate and locality</a:t>
            </a:r>
          </a:p>
          <a:p>
            <a:pPr algn="just"/>
            <a:endParaRPr lang="en-US" sz="3200" dirty="0"/>
          </a:p>
          <a:p>
            <a:pPr marL="457200" indent="-457200" algn="just">
              <a:buFont typeface="Arial" panose="020B0604020202020204" pitchFamily="34" charset="0"/>
              <a:buChar char="•"/>
            </a:pPr>
            <a:r>
              <a:rPr lang="en-US" sz="3200" dirty="0"/>
              <a:t>Discovered new kinds of food: roots and tubers, for instance, were baked in hot ashes or in ground ovens.</a:t>
            </a:r>
          </a:p>
          <a:p>
            <a:pPr marL="457200" indent="-457200" algn="just">
              <a:buFont typeface="Arial" panose="020B0604020202020204" pitchFamily="34" charset="0"/>
              <a:buChar char="•"/>
            </a:pPr>
            <a:endParaRPr lang="en-US" sz="3200" cap="none" spc="0" dirty="0">
              <a:ln w="12700">
                <a:noFill/>
                <a:prstDash val="solid"/>
              </a:ln>
              <a:latin typeface="Roboto Condensed" pitchFamily="2" charset="0"/>
              <a:ea typeface="Roboto Condensed" pitchFamily="2" charset="0"/>
            </a:endParaRPr>
          </a:p>
        </p:txBody>
      </p:sp>
    </p:spTree>
    <p:extLst>
      <p:ext uri="{BB962C8B-B14F-4D97-AF65-F5344CB8AC3E}">
        <p14:creationId xmlns:p14="http://schemas.microsoft.com/office/powerpoint/2010/main" val="2001948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33528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285750"/>
            <a:ext cx="2666999" cy="215443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 Middle Savagery</a:t>
            </a:r>
          </a:p>
          <a:p>
            <a:pPr algn="ctr"/>
            <a:r>
              <a:rPr lang="en-US" dirty="0">
                <a:latin typeface="Roboto Condensed" pitchFamily="2" charset="0"/>
                <a:ea typeface="Roboto Condensed" pitchFamily="2" charset="0"/>
              </a:rPr>
              <a:t>Time period - Paleolithic (ca. 2 million years ago to 12,000 years)</a:t>
            </a:r>
            <a:endParaRPr lang="en-US" b="1" cap="none" spc="0" dirty="0">
              <a:ln w="12700">
                <a:noFill/>
                <a:prstDash val="solid"/>
              </a:ln>
              <a:latin typeface="Roboto Condensed" pitchFamily="2" charset="0"/>
              <a:ea typeface="Roboto Condensed" pitchFamily="2" charset="0"/>
            </a:endParaRPr>
          </a:p>
        </p:txBody>
      </p:sp>
      <p:sp>
        <p:nvSpPr>
          <p:cNvPr id="6" name="Rectangle 5"/>
          <p:cNvSpPr/>
          <p:nvPr/>
        </p:nvSpPr>
        <p:spPr>
          <a:xfrm>
            <a:off x="3505200" y="285750"/>
            <a:ext cx="5410200" cy="4401205"/>
          </a:xfrm>
          <a:prstGeom prst="rect">
            <a:avLst/>
          </a:prstGeom>
          <a:noFill/>
          <a:ln>
            <a:noFill/>
          </a:ln>
        </p:spPr>
        <p:txBody>
          <a:bodyPr wrap="square" lIns="91440" tIns="45720" rIns="91440" bIns="45720">
            <a:spAutoFit/>
          </a:bodyPr>
          <a:lstStyle/>
          <a:p>
            <a:pPr marL="457200" indent="-457200" algn="just">
              <a:buFont typeface="Arial" panose="020B0604020202020204" pitchFamily="34" charset="0"/>
              <a:buChar char="•"/>
            </a:pPr>
            <a:r>
              <a:rPr lang="en-US" sz="2800" dirty="0">
                <a:latin typeface="Roboto Condensed" panose="02000000000000000000" pitchFamily="2" charset="0"/>
                <a:ea typeface="Roboto Condensed" panose="02000000000000000000" pitchFamily="2" charset="0"/>
                <a:cs typeface="Roboto Condensed" panose="02000000000000000000" pitchFamily="2" charset="0"/>
              </a:rPr>
              <a:t>Continual uncertainty of food supplies, cannibalism seems to have arisen, and was practiced from now onwards for a long time. </a:t>
            </a:r>
          </a:p>
          <a:p>
            <a:pPr marL="457200" indent="-457200" algn="just">
              <a:buFont typeface="Arial" panose="020B0604020202020204" pitchFamily="34" charset="0"/>
              <a:buChar char="•"/>
            </a:pPr>
            <a:r>
              <a:rPr lang="en-US" sz="2800" dirty="0">
                <a:latin typeface="Roboto Condensed" panose="02000000000000000000" pitchFamily="2" charset="0"/>
                <a:ea typeface="Roboto Condensed" panose="02000000000000000000" pitchFamily="2" charset="0"/>
                <a:cs typeface="Roboto Condensed" panose="02000000000000000000" pitchFamily="2" charset="0"/>
              </a:rPr>
              <a:t>The Australian aborigines and many of the Polynesians are still in this middle stage of savagery today (when the book Ancient Society was written). </a:t>
            </a:r>
            <a:endParaRPr lang="en-US" sz="2800" cap="none" spc="0" dirty="0">
              <a:ln w="12700">
                <a:noFill/>
                <a:prstDash val="solid"/>
              </a:ln>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3926816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33528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2743199" cy="215443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 Upper Savagery</a:t>
            </a:r>
          </a:p>
          <a:p>
            <a:pPr algn="ctr"/>
            <a:r>
              <a:rPr lang="en-US" dirty="0">
                <a:latin typeface="Roboto Condensed" pitchFamily="2" charset="0"/>
                <a:ea typeface="Roboto Condensed" pitchFamily="2" charset="0"/>
              </a:rPr>
              <a:t>Time period - Paleolithic (ca. 2 million years ago to 12,000 </a:t>
            </a:r>
            <a:r>
              <a:rPr lang="en-US" dirty="0" err="1">
                <a:latin typeface="Roboto Condensed" pitchFamily="2" charset="0"/>
                <a:ea typeface="Roboto Condensed" pitchFamily="2" charset="0"/>
              </a:rPr>
              <a:t>ya</a:t>
            </a:r>
            <a:endParaRPr lang="en-US" b="1" cap="none" spc="0" dirty="0">
              <a:ln w="12700">
                <a:noFill/>
                <a:prstDash val="solid"/>
              </a:ln>
              <a:latin typeface="Roboto Condensed" pitchFamily="2" charset="0"/>
              <a:ea typeface="Roboto Condensed" pitchFamily="2" charset="0"/>
            </a:endParaRPr>
          </a:p>
        </p:txBody>
      </p:sp>
      <p:sp>
        <p:nvSpPr>
          <p:cNvPr id="6" name="Rectangle 5"/>
          <p:cNvSpPr/>
          <p:nvPr/>
        </p:nvSpPr>
        <p:spPr>
          <a:xfrm>
            <a:off x="3352800" y="285750"/>
            <a:ext cx="5562600" cy="3046988"/>
          </a:xfrm>
          <a:prstGeom prst="rect">
            <a:avLst/>
          </a:prstGeom>
          <a:noFill/>
          <a:ln>
            <a:noFill/>
          </a:ln>
        </p:spPr>
        <p:txBody>
          <a:bodyPr wrap="square" lIns="91440" tIns="45720" rIns="91440" bIns="45720">
            <a:spAutoFit/>
          </a:bodyPr>
          <a:lstStyle/>
          <a:p>
            <a:pPr algn="just"/>
            <a:endParaRPr lang="en-US" sz="3200" cap="none" spc="0" dirty="0">
              <a:ln w="12700">
                <a:noFill/>
                <a:prstDash val="solid"/>
              </a:ln>
              <a:latin typeface="Roboto Condensed" pitchFamily="2" charset="0"/>
              <a:ea typeface="Roboto Condensed" pitchFamily="2" charset="0"/>
            </a:endParaRPr>
          </a:p>
          <a:p>
            <a:pPr algn="just"/>
            <a:endParaRPr lang="en-US" sz="3200" dirty="0">
              <a:ln w="12700">
                <a:noFill/>
                <a:prstDash val="solid"/>
              </a:ln>
              <a:latin typeface="Roboto Condensed" pitchFamily="2" charset="0"/>
              <a:ea typeface="Roboto Condensed" pitchFamily="2" charset="0"/>
            </a:endParaRPr>
          </a:p>
          <a:p>
            <a:pPr algn="just"/>
            <a:endParaRPr lang="en-US" sz="3200" cap="none" spc="0" dirty="0">
              <a:ln w="12700">
                <a:noFill/>
                <a:prstDash val="solid"/>
              </a:ln>
              <a:latin typeface="Roboto Condensed" pitchFamily="2" charset="0"/>
              <a:ea typeface="Roboto Condensed" pitchFamily="2" charset="0"/>
            </a:endParaRPr>
          </a:p>
          <a:p>
            <a:pPr algn="just"/>
            <a:endParaRPr lang="en-US" sz="3200" dirty="0">
              <a:ln w="12700">
                <a:noFill/>
                <a:prstDash val="solid"/>
              </a:ln>
              <a:latin typeface="Roboto Condensed" pitchFamily="2" charset="0"/>
              <a:ea typeface="Roboto Condensed" pitchFamily="2" charset="0"/>
            </a:endParaRPr>
          </a:p>
          <a:p>
            <a:pPr marL="457200" indent="-457200" algn="just">
              <a:buFont typeface="Arial" panose="020B0604020202020204" pitchFamily="34" charset="0"/>
              <a:buChar char="•"/>
            </a:pPr>
            <a:r>
              <a:rPr lang="en-US" sz="3200" cap="none" spc="0" dirty="0">
                <a:ln w="12700">
                  <a:noFill/>
                  <a:prstDash val="solid"/>
                </a:ln>
                <a:latin typeface="Roboto Condensed" pitchFamily="2" charset="0"/>
                <a:ea typeface="Roboto Condensed" pitchFamily="2" charset="0"/>
              </a:rPr>
              <a:t>The bow and arrow was introduced. </a:t>
            </a:r>
          </a:p>
        </p:txBody>
      </p:sp>
      <p:pic>
        <p:nvPicPr>
          <p:cNvPr id="7" name="Picture 6" descr="aa.jpg"/>
          <p:cNvPicPr>
            <a:picLocks noChangeAspect="1"/>
          </p:cNvPicPr>
          <p:nvPr/>
        </p:nvPicPr>
        <p:blipFill>
          <a:blip r:embed="rId2"/>
          <a:stretch>
            <a:fillRect/>
          </a:stretch>
        </p:blipFill>
        <p:spPr>
          <a:xfrm>
            <a:off x="3733800" y="209550"/>
            <a:ext cx="4572000" cy="1600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33528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438150"/>
            <a:ext cx="2743199" cy="2154436"/>
          </a:xfrm>
          <a:prstGeom prst="rect">
            <a:avLst/>
          </a:prstGeom>
          <a:noFill/>
          <a:ln>
            <a:noFill/>
          </a:ln>
        </p:spPr>
        <p:txBody>
          <a:bodyPr wrap="square" lIns="91440" tIns="45720" rIns="91440" bIns="45720">
            <a:spAutoFit/>
          </a:bodyPr>
          <a:lstStyle/>
          <a:p>
            <a:pPr algn="ctr"/>
            <a:r>
              <a:rPr lang="en-US" sz="4000" b="1" cap="none" spc="0" dirty="0">
                <a:ln w="12700">
                  <a:noFill/>
                  <a:prstDash val="solid"/>
                </a:ln>
                <a:latin typeface="Roboto Condensed" pitchFamily="2" charset="0"/>
                <a:ea typeface="Roboto Condensed" pitchFamily="2" charset="0"/>
              </a:rPr>
              <a:t> Upper Savagery</a:t>
            </a:r>
          </a:p>
          <a:p>
            <a:pPr algn="ctr"/>
            <a:r>
              <a:rPr lang="en-US" dirty="0">
                <a:latin typeface="Roboto Condensed" pitchFamily="2" charset="0"/>
                <a:ea typeface="Roboto Condensed" pitchFamily="2" charset="0"/>
              </a:rPr>
              <a:t>Time period - Paleolithic (ca. 2 million years ago to 12,000 </a:t>
            </a:r>
            <a:r>
              <a:rPr lang="en-US" dirty="0" err="1">
                <a:latin typeface="Roboto Condensed" pitchFamily="2" charset="0"/>
                <a:ea typeface="Roboto Condensed" pitchFamily="2" charset="0"/>
              </a:rPr>
              <a:t>ya</a:t>
            </a:r>
            <a:endParaRPr lang="en-US" b="1" cap="none" spc="0" dirty="0">
              <a:ln w="12700">
                <a:noFill/>
                <a:prstDash val="solid"/>
              </a:ln>
              <a:latin typeface="Roboto Condensed" pitchFamily="2" charset="0"/>
              <a:ea typeface="Roboto Condensed" pitchFamily="2" charset="0"/>
            </a:endParaRPr>
          </a:p>
        </p:txBody>
      </p:sp>
      <p:sp>
        <p:nvSpPr>
          <p:cNvPr id="6" name="Rectangle 5"/>
          <p:cNvSpPr/>
          <p:nvPr/>
        </p:nvSpPr>
        <p:spPr>
          <a:xfrm>
            <a:off x="3352800" y="285750"/>
            <a:ext cx="5562600" cy="5016758"/>
          </a:xfrm>
          <a:prstGeom prst="rect">
            <a:avLst/>
          </a:prstGeom>
          <a:noFill/>
          <a:ln>
            <a:noFill/>
          </a:ln>
        </p:spPr>
        <p:txBody>
          <a:bodyPr wrap="square" lIns="91440" tIns="45720" rIns="91440" bIns="45720">
            <a:spAutoFit/>
          </a:bodyPr>
          <a:lstStyle/>
          <a:p>
            <a:pPr marL="457200" indent="-457200" algn="just">
              <a:buFont typeface="Arial" panose="020B0604020202020204" pitchFamily="34" charset="0"/>
              <a:buChar char="•"/>
            </a:pPr>
            <a:r>
              <a:rPr lang="en-US" sz="3200" dirty="0"/>
              <a:t>Settlement in villages </a:t>
            </a:r>
          </a:p>
          <a:p>
            <a:pPr marL="457200" indent="-457200" algn="just">
              <a:buFont typeface="Arial" panose="020B0604020202020204" pitchFamily="34" charset="0"/>
              <a:buChar char="•"/>
            </a:pPr>
            <a:r>
              <a:rPr lang="en-US" sz="3200" dirty="0"/>
              <a:t>Wooden vessels and utensils, finger-weaving (without looms); plaited baskets of bast or osier; sharpened (neolithic) stone tools.</a:t>
            </a:r>
          </a:p>
          <a:p>
            <a:pPr algn="just"/>
            <a:endParaRPr lang="en-US" sz="3200" dirty="0"/>
          </a:p>
          <a:p>
            <a:pPr marL="457200" indent="-457200" algn="just">
              <a:buFont typeface="Arial" panose="020B0604020202020204" pitchFamily="34" charset="0"/>
              <a:buChar char="•"/>
            </a:pPr>
            <a:r>
              <a:rPr lang="en-US" sz="3200" dirty="0"/>
              <a:t>Example, Indians of northwest America</a:t>
            </a:r>
            <a:endParaRPr lang="en-US" sz="3200" dirty="0">
              <a:ln w="12700">
                <a:noFill/>
                <a:prstDash val="solid"/>
              </a:ln>
              <a:latin typeface="Roboto Condensed" pitchFamily="2" charset="0"/>
              <a:ea typeface="Roboto Condensed" pitchFamily="2" charset="0"/>
            </a:endParaRPr>
          </a:p>
          <a:p>
            <a:pPr algn="just"/>
            <a:endParaRPr lang="en-US" sz="3200" cap="none" spc="0" dirty="0">
              <a:ln w="12700">
                <a:noFill/>
                <a:prstDash val="solid"/>
              </a:ln>
              <a:latin typeface="Roboto Condensed" pitchFamily="2" charset="0"/>
              <a:ea typeface="Roboto Condensed" pitchFamily="2" charset="0"/>
            </a:endParaRPr>
          </a:p>
        </p:txBody>
      </p:sp>
    </p:spTree>
    <p:extLst>
      <p:ext uri="{BB962C8B-B14F-4D97-AF65-F5344CB8AC3E}">
        <p14:creationId xmlns:p14="http://schemas.microsoft.com/office/powerpoint/2010/main" val="231074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28194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0" y="438150"/>
            <a:ext cx="2666999" cy="2277547"/>
          </a:xfrm>
          <a:prstGeom prst="rect">
            <a:avLst/>
          </a:prstGeom>
          <a:noFill/>
          <a:ln>
            <a:noFill/>
          </a:ln>
        </p:spPr>
        <p:txBody>
          <a:bodyPr wrap="square" lIns="91440" tIns="45720" rIns="91440" bIns="45720">
            <a:spAutoFit/>
          </a:bodyPr>
          <a:lstStyle/>
          <a:p>
            <a:pPr algn="ctr"/>
            <a:r>
              <a:rPr lang="en-US" sz="3200" b="1" dirty="0">
                <a:ln w="12700">
                  <a:noFill/>
                  <a:prstDash val="solid"/>
                </a:ln>
                <a:latin typeface="Roboto Condensed" pitchFamily="2" charset="0"/>
                <a:ea typeface="Roboto Condensed" pitchFamily="2" charset="0"/>
              </a:rPr>
              <a:t>Lower</a:t>
            </a:r>
          </a:p>
          <a:p>
            <a:pPr algn="ctr"/>
            <a:r>
              <a:rPr lang="en-US" sz="3200" b="1" cap="none" spc="0" dirty="0">
                <a:ln w="12700">
                  <a:noFill/>
                  <a:prstDash val="solid"/>
                </a:ln>
                <a:latin typeface="Roboto Condensed" pitchFamily="2" charset="0"/>
                <a:ea typeface="Roboto Condensed" pitchFamily="2" charset="0"/>
              </a:rPr>
              <a:t>Barbarism</a:t>
            </a:r>
          </a:p>
          <a:p>
            <a:pPr algn="ctr"/>
            <a:endParaRPr lang="en-US" sz="4000" b="1" dirty="0">
              <a:ln w="12700">
                <a:noFill/>
                <a:prstDash val="solid"/>
              </a:ln>
              <a:latin typeface="Roboto Condensed" pitchFamily="2" charset="0"/>
              <a:ea typeface="Roboto Condensed" pitchFamily="2" charset="0"/>
            </a:endParaRPr>
          </a:p>
          <a:p>
            <a:pPr algn="ctr"/>
            <a:r>
              <a:rPr lang="en-US" sz="2000" b="1" dirty="0">
                <a:ln w="12700">
                  <a:noFill/>
                  <a:prstDash val="solid"/>
                </a:ln>
                <a:latin typeface="Roboto Condensed" pitchFamily="2" charset="0"/>
                <a:ea typeface="Roboto Condensed" pitchFamily="2" charset="0"/>
              </a:rPr>
              <a:t>(</a:t>
            </a:r>
            <a:r>
              <a:rPr lang="en-US" b="1" dirty="0">
                <a:ln w="12700">
                  <a:noFill/>
                  <a:prstDash val="solid"/>
                </a:ln>
                <a:latin typeface="Roboto Condensed" pitchFamily="2" charset="0"/>
                <a:ea typeface="Roboto Condensed" pitchFamily="2" charset="0"/>
              </a:rPr>
              <a:t>Neolithic era around 12000 years ago)</a:t>
            </a:r>
            <a:endParaRPr lang="en-US" b="1" cap="none" spc="0" dirty="0">
              <a:ln w="12700">
                <a:noFill/>
                <a:prstDash val="solid"/>
              </a:ln>
              <a:latin typeface="Roboto Condensed" pitchFamily="2" charset="0"/>
              <a:ea typeface="Roboto Condensed" pitchFamily="2" charset="0"/>
            </a:endParaRPr>
          </a:p>
        </p:txBody>
      </p:sp>
      <p:sp>
        <p:nvSpPr>
          <p:cNvPr id="6" name="Rectangle 5"/>
          <p:cNvSpPr/>
          <p:nvPr/>
        </p:nvSpPr>
        <p:spPr>
          <a:xfrm>
            <a:off x="2667000" y="819150"/>
            <a:ext cx="6248400" cy="3970318"/>
          </a:xfrm>
          <a:prstGeom prst="rect">
            <a:avLst/>
          </a:prstGeom>
          <a:noFill/>
          <a:ln>
            <a:noFill/>
          </a:ln>
        </p:spPr>
        <p:txBody>
          <a:bodyPr wrap="square" lIns="91440" tIns="45720" rIns="91440" bIns="45720">
            <a:spAutoFit/>
          </a:bodyPr>
          <a:lstStyle/>
          <a:p>
            <a:pPr algn="just">
              <a:buFont typeface="Arial" pitchFamily="34" charset="0"/>
              <a:buChar char="•"/>
            </a:pPr>
            <a:endParaRPr lang="en-US" sz="2800" cap="none" spc="0" dirty="0">
              <a:ln w="12700">
                <a:noFill/>
                <a:prstDash val="solid"/>
              </a:ln>
              <a:latin typeface="Roboto Condensed"/>
              <a:ea typeface="Roboto Condensed" pitchFamily="2" charset="0"/>
            </a:endParaRPr>
          </a:p>
          <a:p>
            <a:pPr algn="just">
              <a:buFont typeface="Arial" pitchFamily="34" charset="0"/>
              <a:buChar char="•"/>
            </a:pPr>
            <a:endParaRPr lang="en-US" sz="2800" dirty="0">
              <a:ln w="12700">
                <a:noFill/>
                <a:prstDash val="solid"/>
              </a:ln>
              <a:latin typeface="Roboto Condensed"/>
              <a:ea typeface="Roboto Condensed" pitchFamily="2" charset="0"/>
            </a:endParaRPr>
          </a:p>
          <a:p>
            <a:pPr algn="just"/>
            <a:endParaRPr lang="en-US" sz="2800" dirty="0">
              <a:latin typeface="Roboto Condensed"/>
              <a:ea typeface="Roboto Condensed" pitchFamily="2" charset="0"/>
            </a:endParaRPr>
          </a:p>
          <a:p>
            <a:pPr algn="just">
              <a:buFont typeface="Arial" pitchFamily="34" charset="0"/>
              <a:buChar char="•"/>
            </a:pPr>
            <a:r>
              <a:rPr lang="en-US" sz="2800" dirty="0">
                <a:latin typeface="Roboto Condensed"/>
                <a:ea typeface="Roboto Condensed" pitchFamily="2" charset="0"/>
              </a:rPr>
              <a:t> Beginning of Plant domestication</a:t>
            </a:r>
          </a:p>
          <a:p>
            <a:pPr algn="just">
              <a:buFont typeface="Arial" pitchFamily="34" charset="0"/>
              <a:buChar char="•"/>
            </a:pPr>
            <a:r>
              <a:rPr lang="en-US" sz="2800" dirty="0">
                <a:latin typeface="Roboto Condensed"/>
                <a:ea typeface="Roboto Condensed" pitchFamily="2" charset="0"/>
              </a:rPr>
              <a:t>Invention of pottery</a:t>
            </a:r>
          </a:p>
          <a:p>
            <a:pPr algn="just">
              <a:buFont typeface="Arial" pitchFamily="34" charset="0"/>
              <a:buChar char="•"/>
            </a:pPr>
            <a:r>
              <a:rPr lang="en-US" sz="2800" dirty="0">
                <a:latin typeface="Roboto Condensed"/>
              </a:rPr>
              <a:t>The first pots originated from the habit of covering baskets or wooden vessels with clay to make them fireproof</a:t>
            </a:r>
            <a:endParaRPr lang="en-US" sz="2800" dirty="0">
              <a:latin typeface="Roboto Condensed"/>
              <a:ea typeface="Roboto Condensed" pitchFamily="2" charset="0"/>
            </a:endParaRPr>
          </a:p>
        </p:txBody>
      </p:sp>
      <p:pic>
        <p:nvPicPr>
          <p:cNvPr id="7" name="Picture 6" descr="1515784437_4.jpg"/>
          <p:cNvPicPr>
            <a:picLocks noChangeAspect="1"/>
          </p:cNvPicPr>
          <p:nvPr/>
        </p:nvPicPr>
        <p:blipFill>
          <a:blip r:embed="rId2"/>
          <a:stretch>
            <a:fillRect/>
          </a:stretch>
        </p:blipFill>
        <p:spPr>
          <a:xfrm>
            <a:off x="3124201" y="133350"/>
            <a:ext cx="5019674" cy="188299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3429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0" y="285750"/>
            <a:ext cx="2895599" cy="1354217"/>
          </a:xfrm>
          <a:prstGeom prst="rect">
            <a:avLst/>
          </a:prstGeom>
          <a:noFill/>
          <a:ln>
            <a:noFill/>
          </a:ln>
        </p:spPr>
        <p:txBody>
          <a:bodyPr wrap="square" lIns="91440" tIns="45720" rIns="91440" bIns="45720">
            <a:spAutoFit/>
          </a:bodyPr>
          <a:lstStyle/>
          <a:p>
            <a:pPr algn="ctr"/>
            <a:r>
              <a:rPr lang="en-US" sz="3200" b="1" dirty="0">
                <a:ln w="12700">
                  <a:noFill/>
                  <a:prstDash val="solid"/>
                </a:ln>
                <a:latin typeface="Roboto Condensed" pitchFamily="2" charset="0"/>
                <a:ea typeface="Roboto Condensed" pitchFamily="2" charset="0"/>
              </a:rPr>
              <a:t>Lower</a:t>
            </a:r>
          </a:p>
          <a:p>
            <a:pPr algn="ctr"/>
            <a:r>
              <a:rPr lang="en-US" sz="3200" b="1" cap="none" spc="0" dirty="0">
                <a:ln w="12700">
                  <a:noFill/>
                  <a:prstDash val="solid"/>
                </a:ln>
                <a:latin typeface="Roboto Condensed" pitchFamily="2" charset="0"/>
                <a:ea typeface="Roboto Condensed" pitchFamily="2" charset="0"/>
              </a:rPr>
              <a:t>Barbarism</a:t>
            </a:r>
          </a:p>
          <a:p>
            <a:pPr algn="ctr"/>
            <a:endParaRPr lang="en-US" b="1" cap="none" spc="0" dirty="0">
              <a:ln w="12700">
                <a:noFill/>
                <a:prstDash val="solid"/>
              </a:ln>
              <a:latin typeface="Roboto Condensed" pitchFamily="2" charset="0"/>
              <a:ea typeface="Roboto Condensed" pitchFamily="2" charset="0"/>
            </a:endParaRPr>
          </a:p>
        </p:txBody>
      </p:sp>
      <p:sp>
        <p:nvSpPr>
          <p:cNvPr id="6" name="Rectangle 5"/>
          <p:cNvSpPr/>
          <p:nvPr/>
        </p:nvSpPr>
        <p:spPr>
          <a:xfrm>
            <a:off x="4191000" y="819150"/>
            <a:ext cx="4724400" cy="1815882"/>
          </a:xfrm>
          <a:prstGeom prst="rect">
            <a:avLst/>
          </a:prstGeom>
          <a:noFill/>
          <a:ln>
            <a:noFill/>
          </a:ln>
        </p:spPr>
        <p:txBody>
          <a:bodyPr wrap="square" lIns="91440" tIns="45720" rIns="91440" bIns="45720">
            <a:spAutoFit/>
          </a:bodyPr>
          <a:lstStyle/>
          <a:p>
            <a:pPr algn="just"/>
            <a:endParaRPr lang="en-US" sz="2800" dirty="0">
              <a:latin typeface="Roboto Condensed" pitchFamily="2" charset="0"/>
              <a:ea typeface="Roboto Condensed" pitchFamily="2" charset="0"/>
            </a:endParaRPr>
          </a:p>
          <a:p>
            <a:pPr algn="just">
              <a:buFont typeface="Arial" pitchFamily="34" charset="0"/>
              <a:buChar char="•"/>
            </a:pPr>
            <a:r>
              <a:rPr lang="en-US" sz="2800" dirty="0">
                <a:latin typeface="Roboto Condensed" pitchFamily="2" charset="0"/>
                <a:ea typeface="Roboto Condensed" pitchFamily="2" charset="0"/>
              </a:rPr>
              <a:t>Clan was matrilineal, </a:t>
            </a:r>
          </a:p>
          <a:p>
            <a:pPr algn="just">
              <a:buFont typeface="Arial" pitchFamily="34" charset="0"/>
              <a:buChar char="•"/>
            </a:pPr>
            <a:r>
              <a:rPr lang="en-US" sz="2800" dirty="0">
                <a:latin typeface="Roboto Condensed" pitchFamily="2" charset="0"/>
                <a:ea typeface="Roboto Condensed" pitchFamily="2" charset="0"/>
              </a:rPr>
              <a:t>Communal ownership</a:t>
            </a:r>
          </a:p>
          <a:p>
            <a:pPr algn="just">
              <a:buFont typeface="Arial" pitchFamily="34" charset="0"/>
              <a:buChar char="•"/>
            </a:pPr>
            <a:r>
              <a:rPr lang="en-US" sz="2800" dirty="0">
                <a:latin typeface="Roboto Condensed" pitchFamily="2" charset="0"/>
                <a:ea typeface="Roboto Condensed" pitchFamily="2" charset="0"/>
              </a:rPr>
              <a:t>Clan exogamy</a:t>
            </a:r>
            <a:endParaRPr lang="en-US" sz="2800" dirty="0">
              <a:ln w="12700">
                <a:noFill/>
                <a:prstDash val="solid"/>
              </a:ln>
              <a:latin typeface="Roboto Condensed" pitchFamily="2" charset="0"/>
              <a:ea typeface="Roboto Condensed" pitchFamily="2" charset="0"/>
            </a:endParaRPr>
          </a:p>
        </p:txBody>
      </p:sp>
    </p:spTree>
    <p:extLst>
      <p:ext uri="{BB962C8B-B14F-4D97-AF65-F5344CB8AC3E}">
        <p14:creationId xmlns:p14="http://schemas.microsoft.com/office/powerpoint/2010/main" val="3616693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25146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2285999" cy="1077218"/>
          </a:xfrm>
          <a:prstGeom prst="rect">
            <a:avLst/>
          </a:prstGeom>
          <a:noFill/>
          <a:ln>
            <a:noFill/>
          </a:ln>
        </p:spPr>
        <p:txBody>
          <a:bodyPr wrap="square" lIns="91440" tIns="45720" rIns="91440" bIns="45720">
            <a:spAutoFit/>
          </a:bodyPr>
          <a:lstStyle/>
          <a:p>
            <a:pPr algn="ctr"/>
            <a:r>
              <a:rPr lang="en-US" sz="3200" b="1" dirty="0">
                <a:ln w="12700">
                  <a:noFill/>
                  <a:prstDash val="solid"/>
                </a:ln>
                <a:latin typeface="Roboto Condensed" pitchFamily="2" charset="0"/>
                <a:ea typeface="Roboto Condensed" pitchFamily="2" charset="0"/>
              </a:rPr>
              <a:t>Middle</a:t>
            </a:r>
          </a:p>
          <a:p>
            <a:pPr algn="ctr"/>
            <a:r>
              <a:rPr lang="en-US" sz="3200" b="1" cap="none" spc="0" dirty="0">
                <a:ln w="12700">
                  <a:noFill/>
                  <a:prstDash val="solid"/>
                </a:ln>
                <a:latin typeface="Roboto Condensed" pitchFamily="2" charset="0"/>
                <a:ea typeface="Roboto Condensed" pitchFamily="2" charset="0"/>
              </a:rPr>
              <a:t>Barbarism</a:t>
            </a:r>
          </a:p>
        </p:txBody>
      </p:sp>
      <p:sp>
        <p:nvSpPr>
          <p:cNvPr id="6" name="Rectangle 5"/>
          <p:cNvSpPr/>
          <p:nvPr/>
        </p:nvSpPr>
        <p:spPr>
          <a:xfrm>
            <a:off x="2667000" y="819150"/>
            <a:ext cx="6248400" cy="4093428"/>
          </a:xfrm>
          <a:prstGeom prst="rect">
            <a:avLst/>
          </a:prstGeom>
          <a:noFill/>
          <a:ln>
            <a:noFill/>
          </a:ln>
        </p:spPr>
        <p:txBody>
          <a:bodyPr wrap="square" lIns="91440" tIns="45720" rIns="91440" bIns="45720">
            <a:spAutoFit/>
          </a:bodyPr>
          <a:lstStyle/>
          <a:p>
            <a:pPr algn="just">
              <a:buFont typeface="Arial" pitchFamily="34" charset="0"/>
              <a:buChar char="•"/>
            </a:pPr>
            <a:endParaRPr lang="en-US" sz="2000" cap="none" spc="0" dirty="0">
              <a:ln w="12700">
                <a:noFill/>
                <a:prstDash val="solid"/>
              </a:ln>
              <a:latin typeface="Roboto Condensed"/>
              <a:ea typeface="Roboto Condensed" pitchFamily="2" charset="0"/>
            </a:endParaRPr>
          </a:p>
          <a:p>
            <a:pPr algn="just">
              <a:buFont typeface="Arial" pitchFamily="34" charset="0"/>
              <a:buChar char="•"/>
            </a:pPr>
            <a:endParaRPr lang="en-US" sz="2000" dirty="0">
              <a:ln w="12700">
                <a:noFill/>
                <a:prstDash val="solid"/>
              </a:ln>
              <a:latin typeface="Roboto Condensed"/>
              <a:ea typeface="Roboto Condensed" pitchFamily="2" charset="0"/>
            </a:endParaRPr>
          </a:p>
          <a:p>
            <a:pPr algn="just">
              <a:buFont typeface="Arial" pitchFamily="34" charset="0"/>
              <a:buChar char="•"/>
            </a:pPr>
            <a:endParaRPr lang="en-US" sz="2000" dirty="0">
              <a:latin typeface="Roboto Condensed"/>
              <a:ea typeface="Roboto Condensed" pitchFamily="2" charset="0"/>
            </a:endParaRPr>
          </a:p>
          <a:p>
            <a:pPr algn="just"/>
            <a:endParaRPr lang="en-US" sz="2000" dirty="0">
              <a:latin typeface="Roboto Condensed"/>
              <a:ea typeface="Roboto Condensed" pitchFamily="2" charset="0"/>
            </a:endParaRPr>
          </a:p>
          <a:p>
            <a:pPr algn="just"/>
            <a:endParaRPr lang="en-US" sz="2000" dirty="0">
              <a:latin typeface="Roboto Condensed"/>
              <a:ea typeface="Roboto Condensed" pitchFamily="2" charset="0"/>
            </a:endParaRPr>
          </a:p>
          <a:p>
            <a:pPr algn="just">
              <a:buFont typeface="Arial" pitchFamily="34" charset="0"/>
              <a:buChar char="•"/>
            </a:pPr>
            <a:r>
              <a:rPr lang="en-US" sz="2000" dirty="0">
                <a:latin typeface="Roboto Condensed"/>
                <a:ea typeface="Roboto Condensed" pitchFamily="2" charset="0"/>
              </a:rPr>
              <a:t>Animal domestication</a:t>
            </a:r>
          </a:p>
          <a:p>
            <a:pPr algn="just">
              <a:buFont typeface="Arial" pitchFamily="34" charset="0"/>
              <a:buChar char="•"/>
            </a:pPr>
            <a:endParaRPr lang="en-US" sz="2000" dirty="0">
              <a:latin typeface="Roboto Condensed"/>
              <a:ea typeface="Roboto Condensed" pitchFamily="2" charset="0"/>
            </a:endParaRPr>
          </a:p>
          <a:p>
            <a:pPr algn="just">
              <a:buFont typeface="Arial" pitchFamily="34" charset="0"/>
              <a:buChar char="•"/>
            </a:pPr>
            <a:r>
              <a:rPr lang="en-US" sz="2000" dirty="0">
                <a:latin typeface="Roboto Condensed"/>
              </a:rPr>
              <a:t>The Indians at the lower stage of barbarism (comprising all the tribes living east of the Mississippi) were already practicing some horticulture of maize, and possibly also of gourds, melons, and other garden plants, from which they obtained a very considerable part of their food.</a:t>
            </a:r>
            <a:endParaRPr lang="en-US" sz="2000" cap="none" spc="0" dirty="0">
              <a:ln w="12700">
                <a:noFill/>
                <a:prstDash val="solid"/>
              </a:ln>
              <a:latin typeface="Roboto Condensed"/>
              <a:ea typeface="Roboto Condensed" pitchFamily="2" charset="0"/>
            </a:endParaRPr>
          </a:p>
        </p:txBody>
      </p:sp>
      <p:pic>
        <p:nvPicPr>
          <p:cNvPr id="7" name="Picture 6" descr="download (14).jpg"/>
          <p:cNvPicPr>
            <a:picLocks noChangeAspect="1"/>
          </p:cNvPicPr>
          <p:nvPr/>
        </p:nvPicPr>
        <p:blipFill>
          <a:blip r:embed="rId2"/>
          <a:stretch>
            <a:fillRect/>
          </a:stretch>
        </p:blipFill>
        <p:spPr>
          <a:xfrm>
            <a:off x="3248024" y="209550"/>
            <a:ext cx="5286375" cy="205739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25146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33350"/>
            <a:ext cx="2285999" cy="1077218"/>
          </a:xfrm>
          <a:prstGeom prst="rect">
            <a:avLst/>
          </a:prstGeom>
          <a:noFill/>
          <a:ln>
            <a:noFill/>
          </a:ln>
        </p:spPr>
        <p:txBody>
          <a:bodyPr wrap="square" lIns="91440" tIns="45720" rIns="91440" bIns="45720">
            <a:spAutoFit/>
          </a:bodyPr>
          <a:lstStyle/>
          <a:p>
            <a:pPr algn="ctr"/>
            <a:r>
              <a:rPr lang="en-US" sz="3200" b="1" dirty="0">
                <a:ln w="12700">
                  <a:noFill/>
                  <a:prstDash val="solid"/>
                </a:ln>
                <a:latin typeface="Roboto Condensed" pitchFamily="2" charset="0"/>
                <a:ea typeface="Roboto Condensed" pitchFamily="2" charset="0"/>
              </a:rPr>
              <a:t>Middle</a:t>
            </a:r>
          </a:p>
          <a:p>
            <a:pPr algn="ctr"/>
            <a:r>
              <a:rPr lang="en-US" sz="3200" b="1" cap="none" spc="0" dirty="0">
                <a:ln w="12700">
                  <a:noFill/>
                  <a:prstDash val="solid"/>
                </a:ln>
                <a:latin typeface="Roboto Condensed" pitchFamily="2" charset="0"/>
                <a:ea typeface="Roboto Condensed" pitchFamily="2" charset="0"/>
              </a:rPr>
              <a:t>Barbarism</a:t>
            </a:r>
          </a:p>
        </p:txBody>
      </p:sp>
      <p:sp>
        <p:nvSpPr>
          <p:cNvPr id="6" name="Rectangle 5"/>
          <p:cNvSpPr/>
          <p:nvPr/>
        </p:nvSpPr>
        <p:spPr>
          <a:xfrm>
            <a:off x="2667000" y="819150"/>
            <a:ext cx="6248400" cy="3416320"/>
          </a:xfrm>
          <a:prstGeom prst="rect">
            <a:avLst/>
          </a:prstGeom>
          <a:noFill/>
          <a:ln>
            <a:noFill/>
          </a:ln>
        </p:spPr>
        <p:txBody>
          <a:bodyPr wrap="square" lIns="91440" tIns="45720" rIns="91440" bIns="45720">
            <a:spAutoFit/>
          </a:bodyPr>
          <a:lstStyle/>
          <a:p>
            <a:pPr marL="457200" indent="-457200" algn="just">
              <a:buFont typeface="Arial" panose="020B0604020202020204" pitchFamily="34" charset="0"/>
              <a:buChar char="•"/>
            </a:pPr>
            <a:r>
              <a:rPr lang="en-US" sz="2400" dirty="0">
                <a:latin typeface="Roboto Condensed"/>
              </a:rPr>
              <a:t>The plentiful supply of milk and meat and especially the beneficial effect of these foods on the growth of the children account perhaps for the superior development of the Aryan and Semitic races.</a:t>
            </a:r>
          </a:p>
          <a:p>
            <a:pPr algn="just"/>
            <a:endParaRPr lang="en-US" sz="2400" dirty="0">
              <a:latin typeface="Roboto Condensed"/>
            </a:endParaRPr>
          </a:p>
          <a:p>
            <a:pPr marL="457200" indent="-457200" algn="just">
              <a:buFont typeface="Arial" panose="020B0604020202020204" pitchFamily="34" charset="0"/>
              <a:buChar char="•"/>
            </a:pPr>
            <a:r>
              <a:rPr lang="en-US" sz="2400" dirty="0">
                <a:latin typeface="Roboto Condensed"/>
                <a:ea typeface="Roboto Condensed" pitchFamily="2" charset="0"/>
              </a:rPr>
              <a:t>Cannibalism ended from most of the societies</a:t>
            </a:r>
          </a:p>
          <a:p>
            <a:pPr marL="457200" indent="-457200" algn="just">
              <a:buFont typeface="Arial" panose="020B0604020202020204" pitchFamily="34" charset="0"/>
              <a:buChar char="•"/>
            </a:pPr>
            <a:r>
              <a:rPr lang="en-US" sz="2400" dirty="0">
                <a:latin typeface="Roboto Condensed"/>
                <a:ea typeface="Roboto Condensed" pitchFamily="2" charset="0"/>
              </a:rPr>
              <a:t>Patrilineal clans; </a:t>
            </a:r>
          </a:p>
          <a:p>
            <a:pPr marL="457200" indent="-457200" algn="just">
              <a:buFont typeface="Arial" panose="020B0604020202020204" pitchFamily="34" charset="0"/>
              <a:buChar char="•"/>
            </a:pPr>
            <a:r>
              <a:rPr lang="en-US" sz="2400" dirty="0">
                <a:solidFill>
                  <a:srgbClr val="FF0000"/>
                </a:solidFill>
                <a:latin typeface="Roboto Condensed"/>
                <a:ea typeface="Roboto Condensed" pitchFamily="2" charset="0"/>
              </a:rPr>
              <a:t>individual ownership</a:t>
            </a:r>
            <a:r>
              <a:rPr lang="en-US" sz="2400" dirty="0">
                <a:latin typeface="Roboto Condensed"/>
                <a:ea typeface="Roboto Condensed" pitchFamily="2" charset="0"/>
              </a:rPr>
              <a:t>, polygamy</a:t>
            </a:r>
            <a:endParaRPr lang="en-US" sz="2400" cap="none" spc="0" dirty="0">
              <a:ln w="12700">
                <a:noFill/>
                <a:prstDash val="solid"/>
              </a:ln>
              <a:latin typeface="Roboto Condensed"/>
              <a:ea typeface="Roboto Condensed" pitchFamily="2" charset="0"/>
            </a:endParaRPr>
          </a:p>
        </p:txBody>
      </p:sp>
    </p:spTree>
    <p:extLst>
      <p:ext uri="{BB962C8B-B14F-4D97-AF65-F5344CB8AC3E}">
        <p14:creationId xmlns:p14="http://schemas.microsoft.com/office/powerpoint/2010/main" val="527600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26670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2285999" cy="1077218"/>
          </a:xfrm>
          <a:prstGeom prst="rect">
            <a:avLst/>
          </a:prstGeom>
          <a:noFill/>
          <a:ln>
            <a:noFill/>
          </a:ln>
        </p:spPr>
        <p:txBody>
          <a:bodyPr wrap="square" lIns="91440" tIns="45720" rIns="91440" bIns="45720">
            <a:spAutoFit/>
          </a:bodyPr>
          <a:lstStyle/>
          <a:p>
            <a:pPr algn="ctr"/>
            <a:r>
              <a:rPr lang="en-US" sz="3200" b="1" dirty="0">
                <a:ln w="12700">
                  <a:noFill/>
                  <a:prstDash val="solid"/>
                </a:ln>
                <a:latin typeface="Roboto Condensed" pitchFamily="2" charset="0"/>
                <a:ea typeface="Roboto Condensed" pitchFamily="2" charset="0"/>
              </a:rPr>
              <a:t>Upper</a:t>
            </a:r>
          </a:p>
          <a:p>
            <a:pPr algn="ctr"/>
            <a:r>
              <a:rPr lang="en-US" sz="3200" b="1" cap="none" spc="0" dirty="0">
                <a:ln w="12700">
                  <a:noFill/>
                  <a:prstDash val="solid"/>
                </a:ln>
                <a:latin typeface="Roboto Condensed" pitchFamily="2" charset="0"/>
                <a:ea typeface="Roboto Condensed" pitchFamily="2" charset="0"/>
              </a:rPr>
              <a:t>Barbarism</a:t>
            </a:r>
          </a:p>
        </p:txBody>
      </p:sp>
      <p:sp>
        <p:nvSpPr>
          <p:cNvPr id="6" name="Rectangle 5"/>
          <p:cNvSpPr/>
          <p:nvPr/>
        </p:nvSpPr>
        <p:spPr>
          <a:xfrm>
            <a:off x="2667000" y="819150"/>
            <a:ext cx="6248400" cy="3539430"/>
          </a:xfrm>
          <a:prstGeom prst="rect">
            <a:avLst/>
          </a:prstGeom>
          <a:noFill/>
          <a:ln>
            <a:noFill/>
          </a:ln>
        </p:spPr>
        <p:txBody>
          <a:bodyPr wrap="square" lIns="91440" tIns="45720" rIns="91440" bIns="45720">
            <a:spAutoFit/>
          </a:bodyPr>
          <a:lstStyle/>
          <a:p>
            <a:pPr algn="just">
              <a:buFont typeface="Arial" pitchFamily="34" charset="0"/>
              <a:buChar char="•"/>
            </a:pPr>
            <a:endParaRPr lang="en-US" sz="2800" cap="none" spc="0" dirty="0">
              <a:ln w="12700">
                <a:noFill/>
                <a:prstDash val="solid"/>
              </a:ln>
              <a:latin typeface="Roboto Condensed" pitchFamily="2" charset="0"/>
              <a:ea typeface="Roboto Condensed" pitchFamily="2" charset="0"/>
            </a:endParaRPr>
          </a:p>
          <a:p>
            <a:pPr algn="just">
              <a:buFont typeface="Arial" pitchFamily="34" charset="0"/>
              <a:buChar char="•"/>
            </a:pPr>
            <a:endParaRPr lang="en-US" sz="2800" dirty="0">
              <a:ln w="12700">
                <a:noFill/>
                <a:prstDash val="solid"/>
              </a:ln>
              <a:latin typeface="Roboto Condensed" pitchFamily="2" charset="0"/>
              <a:ea typeface="Roboto Condensed" pitchFamily="2" charset="0"/>
            </a:endParaRPr>
          </a:p>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r>
              <a:rPr lang="en-US" sz="2800" dirty="0">
                <a:latin typeface="Roboto Condensed" pitchFamily="2" charset="0"/>
                <a:ea typeface="Roboto Condensed" pitchFamily="2" charset="0"/>
              </a:rPr>
              <a:t>Traits-</a:t>
            </a:r>
            <a:r>
              <a:rPr lang="en-US" sz="2800" b="1" dirty="0"/>
              <a:t> </a:t>
            </a:r>
            <a:r>
              <a:rPr lang="en-US" sz="2800" dirty="0">
                <a:latin typeface="Roboto Condensed" pitchFamily="2" charset="0"/>
                <a:ea typeface="Roboto Condensed" pitchFamily="2" charset="0"/>
              </a:rPr>
              <a:t>Eventually in certain areas a Bronze Age and/or Iron Age developed as Neolithic cultures added the use of metal.</a:t>
            </a:r>
            <a:endParaRPr lang="en-US" sz="2800" cap="none" spc="0" dirty="0">
              <a:ln w="12700">
                <a:noFill/>
                <a:prstDash val="solid"/>
              </a:ln>
              <a:latin typeface="Roboto Condensed" pitchFamily="2" charset="0"/>
              <a:ea typeface="Roboto Condensed" pitchFamily="2" charset="0"/>
            </a:endParaRPr>
          </a:p>
        </p:txBody>
      </p:sp>
      <p:pic>
        <p:nvPicPr>
          <p:cNvPr id="7" name="Picture 6" descr="iron-age-gettyimages-113635638.jpg"/>
          <p:cNvPicPr>
            <a:picLocks noChangeAspect="1"/>
          </p:cNvPicPr>
          <p:nvPr/>
        </p:nvPicPr>
        <p:blipFill>
          <a:blip r:embed="rId2" cstate="print"/>
          <a:stretch>
            <a:fillRect/>
          </a:stretch>
        </p:blipFill>
        <p:spPr>
          <a:xfrm>
            <a:off x="2590800" y="28575"/>
            <a:ext cx="6324600" cy="23145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28194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2285999" cy="523220"/>
          </a:xfrm>
          <a:prstGeom prst="rect">
            <a:avLst/>
          </a:prstGeom>
          <a:noFill/>
          <a:ln>
            <a:noFill/>
          </a:ln>
        </p:spPr>
        <p:txBody>
          <a:bodyPr wrap="square" lIns="91440" tIns="45720" rIns="91440" bIns="45720">
            <a:spAutoFit/>
          </a:bodyPr>
          <a:lstStyle/>
          <a:p>
            <a:pPr algn="ctr"/>
            <a:r>
              <a:rPr lang="en-US" sz="2800" b="1" cap="none" spc="0" dirty="0">
                <a:ln w="12700">
                  <a:noFill/>
                  <a:prstDash val="solid"/>
                </a:ln>
                <a:latin typeface="Roboto Condensed" pitchFamily="2" charset="0"/>
                <a:ea typeface="Roboto Condensed" pitchFamily="2" charset="0"/>
              </a:rPr>
              <a:t>Civilization</a:t>
            </a:r>
          </a:p>
        </p:txBody>
      </p:sp>
      <p:sp>
        <p:nvSpPr>
          <p:cNvPr id="6" name="Rectangle 5"/>
          <p:cNvSpPr/>
          <p:nvPr/>
        </p:nvSpPr>
        <p:spPr>
          <a:xfrm>
            <a:off x="2667000" y="819150"/>
            <a:ext cx="6248400" cy="4401205"/>
          </a:xfrm>
          <a:prstGeom prst="rect">
            <a:avLst/>
          </a:prstGeom>
          <a:noFill/>
          <a:ln>
            <a:noFill/>
          </a:ln>
        </p:spPr>
        <p:txBody>
          <a:bodyPr wrap="square" lIns="91440" tIns="45720" rIns="91440" bIns="45720">
            <a:spAutoFit/>
          </a:bodyPr>
          <a:lstStyle/>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endParaRPr lang="en-US" sz="2800" dirty="0">
              <a:latin typeface="Roboto Condensed" pitchFamily="2" charset="0"/>
              <a:ea typeface="Roboto Condensed" pitchFamily="2" charset="0"/>
            </a:endParaRPr>
          </a:p>
          <a:p>
            <a:pPr algn="just">
              <a:buFont typeface="Arial" pitchFamily="34" charset="0"/>
              <a:buChar char="•"/>
            </a:pPr>
            <a:r>
              <a:rPr lang="en-US" sz="2800" dirty="0">
                <a:latin typeface="Roboto Condensed" pitchFamily="2" charset="0"/>
                <a:ea typeface="Roboto Condensed" pitchFamily="2" charset="0"/>
              </a:rPr>
              <a:t>Civilization (ca. </a:t>
            </a:r>
            <a:r>
              <a:rPr lang="en-US" sz="2800">
                <a:latin typeface="Roboto Condensed" pitchFamily="2" charset="0"/>
                <a:ea typeface="Roboto Condensed" pitchFamily="2" charset="0"/>
              </a:rPr>
              <a:t>5000/6000 </a:t>
            </a:r>
            <a:r>
              <a:rPr lang="en-US" sz="2800" dirty="0">
                <a:latin typeface="Roboto Condensed" pitchFamily="2" charset="0"/>
                <a:ea typeface="Roboto Condensed" pitchFamily="2" charset="0"/>
              </a:rPr>
              <a:t>years ago) Traits include intensive agriculture, industrialization, capitalism, social stratification, political state, full-time occupational specialists.</a:t>
            </a:r>
            <a:endParaRPr lang="en-US" sz="2800" cap="none" spc="0" dirty="0">
              <a:ln w="12700">
                <a:noFill/>
                <a:prstDash val="solid"/>
              </a:ln>
              <a:latin typeface="Roboto Condensed" pitchFamily="2" charset="0"/>
              <a:ea typeface="Roboto Condensed" pitchFamily="2" charset="0"/>
            </a:endParaRPr>
          </a:p>
        </p:txBody>
      </p:sp>
      <p:pic>
        <p:nvPicPr>
          <p:cNvPr id="7" name="Picture 6" descr="science.jpg"/>
          <p:cNvPicPr>
            <a:picLocks noChangeAspect="1"/>
          </p:cNvPicPr>
          <p:nvPr/>
        </p:nvPicPr>
        <p:blipFill>
          <a:blip r:embed="rId2"/>
          <a:stretch>
            <a:fillRect/>
          </a:stretch>
        </p:blipFill>
        <p:spPr>
          <a:xfrm>
            <a:off x="2895600" y="209550"/>
            <a:ext cx="5410199" cy="17811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2819400" cy="5143500"/>
          </a:xfrm>
          <a:prstGeom prst="rect">
            <a:avLst/>
          </a:prstGeom>
          <a:solidFill>
            <a:srgbClr val="EBD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8" name="Rectangle 7"/>
          <p:cNvSpPr/>
          <p:nvPr/>
        </p:nvSpPr>
        <p:spPr>
          <a:xfrm>
            <a:off x="1" y="1200154"/>
            <a:ext cx="2285999" cy="523220"/>
          </a:xfrm>
          <a:prstGeom prst="rect">
            <a:avLst/>
          </a:prstGeom>
          <a:noFill/>
          <a:ln>
            <a:noFill/>
          </a:ln>
        </p:spPr>
        <p:txBody>
          <a:bodyPr wrap="square" lIns="91440" tIns="45720" rIns="91440" bIns="45720">
            <a:spAutoFit/>
          </a:bodyPr>
          <a:lstStyle/>
          <a:p>
            <a:pPr algn="ctr"/>
            <a:r>
              <a:rPr lang="en-US" sz="2800" b="1" cap="none" spc="0" dirty="0">
                <a:ln w="12700">
                  <a:noFill/>
                  <a:prstDash val="solid"/>
                </a:ln>
                <a:latin typeface="Roboto Condensed" pitchFamily="2" charset="0"/>
                <a:ea typeface="Roboto Condensed" pitchFamily="2" charset="0"/>
              </a:rPr>
              <a:t>Civilization</a:t>
            </a:r>
          </a:p>
        </p:txBody>
      </p:sp>
      <p:pic>
        <p:nvPicPr>
          <p:cNvPr id="3" name="Picture 2">
            <a:extLst>
              <a:ext uri="{FF2B5EF4-FFF2-40B4-BE49-F238E27FC236}">
                <a16:creationId xmlns:a16="http://schemas.microsoft.com/office/drawing/2014/main" id="{1062D30D-3725-40D9-A143-3A9E02B9A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5535" y="795796"/>
            <a:ext cx="5569359" cy="3680953"/>
          </a:xfrm>
          <a:prstGeom prst="rect">
            <a:avLst/>
          </a:prstGeom>
        </p:spPr>
      </p:pic>
    </p:spTree>
    <p:extLst>
      <p:ext uri="{BB962C8B-B14F-4D97-AF65-F5344CB8AC3E}">
        <p14:creationId xmlns:p14="http://schemas.microsoft.com/office/powerpoint/2010/main" val="3132892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2047279"/>
            <a:ext cx="4572000" cy="461665"/>
          </a:xfrm>
          <a:prstGeom prst="rect">
            <a:avLst/>
          </a:prstGeom>
          <a:noFill/>
          <a:ln>
            <a:noFill/>
          </a:ln>
        </p:spPr>
        <p:txBody>
          <a:bodyPr wrap="square" lIns="91440" tIns="45720" rIns="91440" bIns="45720">
            <a:spAutoFit/>
          </a:bodyPr>
          <a:lstStyle/>
          <a:p>
            <a:pPr algn="ctr"/>
            <a:r>
              <a:rPr lang="en-US" sz="2400" b="1" cap="none" spc="0" dirty="0">
                <a:ln w="12700">
                  <a:noFill/>
                  <a:prstDash val="solid"/>
                </a:ln>
                <a:latin typeface="Roboto Condensed" pitchFamily="2" charset="0"/>
                <a:ea typeface="Roboto Condensed" pitchFamily="2" charset="0"/>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973</TotalTime>
  <Words>1089</Words>
  <Application>Microsoft Office PowerPoint</Application>
  <PresentationFormat>On-screen Show (16:9)</PresentationFormat>
  <Paragraphs>179</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Book Antiqua</vt:lpstr>
      <vt:lpstr>Calibri</vt:lpstr>
      <vt:lpstr>Kalpurush</vt:lpstr>
      <vt:lpstr>Roboto Condensed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Guest</dc:creator>
  <cp:lastModifiedBy>Ms. Taniah Mahmuda Tinni</cp:lastModifiedBy>
  <cp:revision>86</cp:revision>
  <dcterms:created xsi:type="dcterms:W3CDTF">2006-08-16T00:00:00Z</dcterms:created>
  <dcterms:modified xsi:type="dcterms:W3CDTF">2024-06-11T04:31:54Z</dcterms:modified>
</cp:coreProperties>
</file>