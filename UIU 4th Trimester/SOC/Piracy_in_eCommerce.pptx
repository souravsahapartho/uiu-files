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1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AA5F30-8FA5-4FD8-870B-4155D6484724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7FBC97-F01A-4DC3-9FB8-E0844D1A8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754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25904-58E3-A1D5-64AA-E4A482DEA4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A1F48B-58E6-BBFD-F2F6-8145A682D6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2C8C50-271E-E5CE-2F51-DD5B729D2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B4EB-8C99-4944-9ED3-5CBB30EE0219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4CA1A-A032-31FE-5611-4419BD4D1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7F875-FA40-3799-FE1E-44EABF666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E8F27-01DA-42F5-86A2-C1714C667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329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207D8-BF1B-50BF-C18B-C2A93BF7E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57F72-7D3A-F568-5BBE-D204FB9C9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AD1AF-9258-4B26-5635-7915A921D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B4EB-8C99-4944-9ED3-5CBB30EE0219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FE4B4-D36A-9FC0-24A4-DF9A0FA7F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866AE-AB1F-D20B-C9F3-E0D209164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E8F27-01DA-42F5-86A2-C1714C667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063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7A909-352B-ABA0-AFE8-32EBF7D34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4648B7-A4FF-67E7-56F7-5495E0A19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8442B-8E8E-E8AE-40A0-8A3BAECC2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B4EB-8C99-4944-9ED3-5CBB30EE0219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84DFB-E458-C28D-6BED-877A19C14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4B0D3-3FDB-C191-D47F-4981593EB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E8F27-01DA-42F5-86A2-C1714C667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427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1D1F7-6AD6-F746-3A23-67933608A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7345E-80DC-9DC4-38D5-16E8742062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3875CC-33D4-C71E-1094-C3B40577D3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CF2A47-32B0-D6BF-D437-F76C59C54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B4EB-8C99-4944-9ED3-5CBB30EE0219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FD93D9-B003-3BB9-757F-69BEEDA29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E6FDA4-C160-654E-CDB3-3C0A3A694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E8F27-01DA-42F5-86A2-C1714C667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799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B8CE7-5B0A-8FDA-2566-586D05AC6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830B81-0910-6B80-7A2A-058AFEDD61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ADC4E1-D1D1-DC4B-ED17-19540C3BC3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CF1F9D-7A4B-39B3-F3B3-41CF21A20A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AFEBF6-5A13-9BD1-A604-607AB51360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EC1338-EB29-331B-2614-AA86F52A2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B4EB-8C99-4944-9ED3-5CBB30EE0219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2A5E2B-F6ED-7DD9-41AB-97AFB9861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03F337-EFD0-D228-E305-8ABC496B8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E8F27-01DA-42F5-86A2-C1714C667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114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17ACC-D4E3-F37A-7207-A1AA8B7E0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B49109-DDB0-884B-D0AF-DB9B5AB68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B4EB-8C99-4944-9ED3-5CBB30EE0219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908A10-85A7-D8AA-4B1E-843F8AB8B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C75E49-99B0-C00D-57B7-B256949B9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E8F27-01DA-42F5-86A2-C1714C667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325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615300-B30E-6FDB-DC15-55A550597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B4EB-8C99-4944-9ED3-5CBB30EE0219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74335C-54A9-EFF6-BE3D-4056EB6B7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9D8C7F-7E4D-387E-638C-34453DF7E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E8F27-01DA-42F5-86A2-C1714C667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40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04496-FED7-A969-6A9E-0D3F5B730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943EF-22AC-E76D-9591-61DCF2623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3222D2-8B77-4E77-0C27-26D0BC54FB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89CC18-06DC-8E94-6C41-4070F4DA8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B4EB-8C99-4944-9ED3-5CBB30EE0219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B1AD58-A077-1BA2-F030-5EF5F213B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0F88D0-2801-3819-1A8B-D022D1D5A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E8F27-01DA-42F5-86A2-C1714C667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99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341F3-4C8D-8ED5-6433-CDB2CD7D8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852CDD-08D2-5895-CF82-9DA3B59677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EDF714-2034-AC34-86DE-41C17A1DD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00E6DA-C296-CAC7-6C2E-56F723299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B4EB-8C99-4944-9ED3-5CBB30EE0219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1DB676-B9E3-F5EE-267B-95A1DDCB0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453319-2746-1829-E225-4191438CA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E8F27-01DA-42F5-86A2-C1714C667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86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BE5FD-A06A-8710-4C90-7CA386656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88FC21-832E-3E8C-3EB0-5894B6D780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25F44-B52B-97BD-E23F-FF56B6E94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B4EB-8C99-4944-9ED3-5CBB30EE0219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9AD63-039D-3A7F-B07C-45020E11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26EF8C-FA76-CC8B-34A5-93BB82477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E8F27-01DA-42F5-86A2-C1714C667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277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98722D-471B-D8F7-FFFD-ED78E51E5F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9DC2BE-B43E-3CDB-1A55-A48652F59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D07524-A82A-DD8F-5E33-4A0EFBFEC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B4EB-8C99-4944-9ED3-5CBB30EE0219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58663-689F-53D9-DDF5-EA5B26D22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DB224-76A0-821B-0BDF-B0722C375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E8F27-01DA-42F5-86A2-C1714C667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136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97690B-3DBA-D816-8858-EBA008735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20A6E-C02F-8F9D-82DA-BAA5EFECB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34DE1-4264-1C34-D2E5-E1B72BD239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3B4EB-8C99-4944-9ED3-5CBB30EE0219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86071-5E50-5EEF-6877-B717E3C93D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27B35-E4A1-D883-EBC5-8D94C238A7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9E8F27-01DA-42F5-86A2-C1714C667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099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915FEB-B80D-5B63-968F-1E86253BF4C0}"/>
              </a:ext>
            </a:extLst>
          </p:cNvPr>
          <p:cNvSpPr/>
          <p:nvPr/>
        </p:nvSpPr>
        <p:spPr>
          <a:xfrm>
            <a:off x="0" y="6469624"/>
            <a:ext cx="12192000" cy="40803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F8AD2B-2CB3-861D-86BD-936D9ADE0DE4}"/>
              </a:ext>
            </a:extLst>
          </p:cNvPr>
          <p:cNvSpPr/>
          <p:nvPr/>
        </p:nvSpPr>
        <p:spPr>
          <a:xfrm>
            <a:off x="0" y="0"/>
            <a:ext cx="411480" cy="6857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B67827-825E-3A08-1F79-D6C4B7E487B8}"/>
              </a:ext>
            </a:extLst>
          </p:cNvPr>
          <p:cNvSpPr txBox="1"/>
          <p:nvPr/>
        </p:nvSpPr>
        <p:spPr>
          <a:xfrm>
            <a:off x="1582993" y="993058"/>
            <a:ext cx="9399639" cy="646331"/>
          </a:xfrm>
          <a:prstGeom prst="rect">
            <a:avLst/>
          </a:prstGeom>
          <a:gradFill flip="none" rotWithShape="1">
            <a:gsLst>
              <a:gs pos="0">
                <a:srgbClr val="FFFFFF">
                  <a:shade val="30000"/>
                  <a:satMod val="115000"/>
                </a:srgbClr>
              </a:gs>
              <a:gs pos="50000">
                <a:srgbClr val="FFFFFF">
                  <a:shade val="67500"/>
                  <a:satMod val="115000"/>
                </a:srgbClr>
              </a:gs>
              <a:gs pos="100000">
                <a:srgbClr val="FFFFFF">
                  <a:shade val="100000"/>
                  <a:satMod val="115000"/>
                </a:srgbClr>
              </a:gs>
            </a:gsLst>
            <a:lin ang="5400000" scaled="1"/>
            <a:tileRect/>
          </a:gra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Combating Piracy in</a:t>
            </a: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en-US" sz="3600" b="1" dirty="0">
                <a:latin typeface="Arial Black" panose="020B0A04020102020204" pitchFamily="34" charset="0"/>
              </a:rPr>
              <a:t>eCommerce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49DE48-6E5F-EFD5-6311-7E21A86354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825" y="2160638"/>
            <a:ext cx="3802624" cy="38026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B3BC8D2-A862-E1BA-C64B-1F8F6B91A028}"/>
              </a:ext>
            </a:extLst>
          </p:cNvPr>
          <p:cNvSpPr txBox="1"/>
          <p:nvPr/>
        </p:nvSpPr>
        <p:spPr>
          <a:xfrm>
            <a:off x="6478472" y="4000501"/>
            <a:ext cx="48866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Name</a:t>
            </a:r>
            <a:r>
              <a:rPr lang="en-US" dirty="0"/>
              <a:t>		: Sourav Saha</a:t>
            </a:r>
          </a:p>
          <a:p>
            <a:r>
              <a:rPr lang="en-US" b="1" dirty="0"/>
              <a:t>ID</a:t>
            </a:r>
            <a:r>
              <a:rPr lang="en-US" dirty="0"/>
              <a:t>		: 0112330638</a:t>
            </a:r>
          </a:p>
          <a:p>
            <a:r>
              <a:rPr lang="en-US" b="1" dirty="0"/>
              <a:t>Course Title</a:t>
            </a:r>
            <a:r>
              <a:rPr lang="en-US" dirty="0"/>
              <a:t>	: Society, Environment and 			  Computing Ethics</a:t>
            </a:r>
          </a:p>
          <a:p>
            <a:r>
              <a:rPr lang="en-US" b="1" dirty="0"/>
              <a:t>Group Topic</a:t>
            </a:r>
            <a:r>
              <a:rPr lang="en-US" dirty="0"/>
              <a:t>	: Piracy</a:t>
            </a:r>
          </a:p>
          <a:p>
            <a:r>
              <a:rPr lang="en-US" b="1" dirty="0"/>
              <a:t>Section</a:t>
            </a:r>
            <a:r>
              <a:rPr lang="en-US" dirty="0"/>
              <a:t>		: D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FBE6104F-22AB-B72B-35D0-81B7B898C1B4}"/>
              </a:ext>
            </a:extLst>
          </p:cNvPr>
          <p:cNvCxnSpPr>
            <a:cxnSpLocks/>
          </p:cNvCxnSpPr>
          <p:nvPr/>
        </p:nvCxnSpPr>
        <p:spPr>
          <a:xfrm>
            <a:off x="1582993" y="2062318"/>
            <a:ext cx="9547123" cy="3876366"/>
          </a:xfrm>
          <a:prstGeom prst="bentConnector3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3518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FA286-D7DE-895F-969C-809A8601A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38DAAFA-8AE1-C246-F196-B6691B536FF8}"/>
              </a:ext>
            </a:extLst>
          </p:cNvPr>
          <p:cNvSpPr/>
          <p:nvPr/>
        </p:nvSpPr>
        <p:spPr>
          <a:xfrm>
            <a:off x="0" y="6469624"/>
            <a:ext cx="12192000" cy="40803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C61ABF-0B72-4C5B-2D1E-7429C318B156}"/>
              </a:ext>
            </a:extLst>
          </p:cNvPr>
          <p:cNvSpPr/>
          <p:nvPr/>
        </p:nvSpPr>
        <p:spPr>
          <a:xfrm>
            <a:off x="0" y="0"/>
            <a:ext cx="411480" cy="6857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927790-3936-8E33-E3A6-27E0C6F5AE4F}"/>
              </a:ext>
            </a:extLst>
          </p:cNvPr>
          <p:cNvSpPr txBox="1"/>
          <p:nvPr/>
        </p:nvSpPr>
        <p:spPr>
          <a:xfrm>
            <a:off x="3849328" y="471947"/>
            <a:ext cx="4493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Arial Black" panose="020B0A04020102020204" pitchFamily="34" charset="0"/>
              </a:rPr>
              <a:t>Challenges of Piracy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62955E-4EA8-E2ED-EB0D-8EBB8BBA7605}"/>
              </a:ext>
            </a:extLst>
          </p:cNvPr>
          <p:cNvSpPr txBox="1"/>
          <p:nvPr/>
        </p:nvSpPr>
        <p:spPr>
          <a:xfrm>
            <a:off x="698091" y="1268355"/>
            <a:ext cx="4355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Economic Losses from Piracy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669887E-BF15-0D29-B411-A12801FE6DE5}"/>
              </a:ext>
            </a:extLst>
          </p:cNvPr>
          <p:cNvCxnSpPr>
            <a:cxnSpLocks/>
          </p:cNvCxnSpPr>
          <p:nvPr/>
        </p:nvCxnSpPr>
        <p:spPr>
          <a:xfrm>
            <a:off x="4572000" y="1524001"/>
            <a:ext cx="721490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F52E940-635E-17AB-0D30-6BA86721C3A9}"/>
              </a:ext>
            </a:extLst>
          </p:cNvPr>
          <p:cNvSpPr txBox="1"/>
          <p:nvPr/>
        </p:nvSpPr>
        <p:spPr>
          <a:xfrm>
            <a:off x="717759" y="1995948"/>
            <a:ext cx="523386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$51 billion lost annually due to piracy in software industry.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Music, movies and eBooks industries also face significant revenue decline.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Indirect effects: Decrease in innovation, reduced investor confidence.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Fewer opportunities for developers and artists.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5F70E9-961A-9DA6-4670-2D288158D4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383" y="2155723"/>
            <a:ext cx="5368575" cy="357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05798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DD4E8-B15F-314E-532F-9B5ABAA39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9357FA2-0B37-CC2F-977D-5CD4ED3459F9}"/>
              </a:ext>
            </a:extLst>
          </p:cNvPr>
          <p:cNvSpPr/>
          <p:nvPr/>
        </p:nvSpPr>
        <p:spPr>
          <a:xfrm>
            <a:off x="0" y="6469624"/>
            <a:ext cx="12192000" cy="40803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7E7AC9-D6DD-B9F8-8597-90846C36AD08}"/>
              </a:ext>
            </a:extLst>
          </p:cNvPr>
          <p:cNvSpPr/>
          <p:nvPr/>
        </p:nvSpPr>
        <p:spPr>
          <a:xfrm>
            <a:off x="0" y="0"/>
            <a:ext cx="411480" cy="6857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B9A49D-FCC1-4CEB-5DC5-78C2A2690AAE}"/>
              </a:ext>
            </a:extLst>
          </p:cNvPr>
          <p:cNvSpPr txBox="1"/>
          <p:nvPr/>
        </p:nvSpPr>
        <p:spPr>
          <a:xfrm>
            <a:off x="3849328" y="471947"/>
            <a:ext cx="4493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Arial Black" panose="020B0A04020102020204" pitchFamily="34" charset="0"/>
              </a:rPr>
              <a:t>Challenges of Piracy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F882E1-B396-D46E-E805-5F3D90927377}"/>
              </a:ext>
            </a:extLst>
          </p:cNvPr>
          <p:cNvSpPr txBox="1"/>
          <p:nvPr/>
        </p:nvSpPr>
        <p:spPr>
          <a:xfrm>
            <a:off x="760705" y="1268355"/>
            <a:ext cx="3297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Security Risks of Piracy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50E8EBB-58A3-4DEB-4235-A7CAD141061C}"/>
              </a:ext>
            </a:extLst>
          </p:cNvPr>
          <p:cNvCxnSpPr>
            <a:cxnSpLocks/>
          </p:cNvCxnSpPr>
          <p:nvPr/>
        </p:nvCxnSpPr>
        <p:spPr>
          <a:xfrm>
            <a:off x="3849328" y="1524001"/>
            <a:ext cx="792677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3F42250-AAAC-7C3E-78E0-6C1137D239B6}"/>
              </a:ext>
            </a:extLst>
          </p:cNvPr>
          <p:cNvSpPr txBox="1"/>
          <p:nvPr/>
        </p:nvSpPr>
        <p:spPr>
          <a:xfrm>
            <a:off x="776748" y="2005263"/>
            <a:ext cx="575238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Malware, spyware and ransomware hidden in pirated products.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theft: Credit card details, passwords, and sensitive files stolen.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Companies, unknowingly using pirated software face data breaches.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Increased operational costs for damage control and recovery.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69575E-252B-C15D-F203-309F11BA55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9821" y="2002170"/>
            <a:ext cx="3893021" cy="3893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3286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9594E-4EE6-6B86-FEC0-62F42A9CC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F50AEF2-02BD-70A7-5961-149F3151270B}"/>
              </a:ext>
            </a:extLst>
          </p:cNvPr>
          <p:cNvSpPr/>
          <p:nvPr/>
        </p:nvSpPr>
        <p:spPr>
          <a:xfrm>
            <a:off x="0" y="6469624"/>
            <a:ext cx="12192000" cy="40803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BD75C2-C150-FBA0-CB1C-BE4C6C66C66F}"/>
              </a:ext>
            </a:extLst>
          </p:cNvPr>
          <p:cNvSpPr/>
          <p:nvPr/>
        </p:nvSpPr>
        <p:spPr>
          <a:xfrm>
            <a:off x="0" y="0"/>
            <a:ext cx="411480" cy="6857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A40F44-AED6-C048-1A4A-6E22AFDC4494}"/>
              </a:ext>
            </a:extLst>
          </p:cNvPr>
          <p:cNvSpPr txBox="1"/>
          <p:nvPr/>
        </p:nvSpPr>
        <p:spPr>
          <a:xfrm>
            <a:off x="3849328" y="471947"/>
            <a:ext cx="4493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Arial Black" panose="020B0A04020102020204" pitchFamily="34" charset="0"/>
              </a:rPr>
              <a:t>Challenges of Piracy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865E81-2022-2298-03D3-7C574CDBC39D}"/>
              </a:ext>
            </a:extLst>
          </p:cNvPr>
          <p:cNvSpPr txBox="1"/>
          <p:nvPr/>
        </p:nvSpPr>
        <p:spPr>
          <a:xfrm>
            <a:off x="792789" y="1268355"/>
            <a:ext cx="45813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Consumer Trust and Brand Impact</a:t>
            </a:r>
          </a:p>
          <a:p>
            <a:endParaRPr lang="en-US" sz="2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E0E56A5-EE19-356E-E4AC-6A3ACB2A0682}"/>
              </a:ext>
            </a:extLst>
          </p:cNvPr>
          <p:cNvCxnSpPr>
            <a:cxnSpLocks/>
          </p:cNvCxnSpPr>
          <p:nvPr/>
        </p:nvCxnSpPr>
        <p:spPr>
          <a:xfrm>
            <a:off x="5325978" y="1524001"/>
            <a:ext cx="64175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783C8CB-224E-6936-709A-4B60996E316C}"/>
              </a:ext>
            </a:extLst>
          </p:cNvPr>
          <p:cNvSpPr txBox="1"/>
          <p:nvPr/>
        </p:nvSpPr>
        <p:spPr>
          <a:xfrm>
            <a:off x="930442" y="2099351"/>
            <a:ext cx="53901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Consumer lose faith in platforms hosting counterfeit goods.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Companies selling pirated or counterfeit products suffer reputational damage.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Consumers may face consequences for unknowingly buying pirated products.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CA6FF1-F797-0B9C-0CE2-1C7D694937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938" y="1779648"/>
            <a:ext cx="4427620" cy="4427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189582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C2F63-9533-215B-F7FE-9870554F2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319F560-F9AA-FFBE-B37E-BB2E9E7F8FE3}"/>
              </a:ext>
            </a:extLst>
          </p:cNvPr>
          <p:cNvSpPr/>
          <p:nvPr/>
        </p:nvSpPr>
        <p:spPr>
          <a:xfrm>
            <a:off x="0" y="6469624"/>
            <a:ext cx="12192000" cy="40803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5C65D1-0780-AA3D-4731-778B56A5D482}"/>
              </a:ext>
            </a:extLst>
          </p:cNvPr>
          <p:cNvSpPr/>
          <p:nvPr/>
        </p:nvSpPr>
        <p:spPr>
          <a:xfrm>
            <a:off x="0" y="0"/>
            <a:ext cx="411480" cy="6857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783C11-0E6E-3F6C-8CC7-D381EC5D3EE7}"/>
              </a:ext>
            </a:extLst>
          </p:cNvPr>
          <p:cNvSpPr txBox="1"/>
          <p:nvPr/>
        </p:nvSpPr>
        <p:spPr>
          <a:xfrm>
            <a:off x="930441" y="471947"/>
            <a:ext cx="10797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Arial Black" panose="020B0A04020102020204" pitchFamily="34" charset="0"/>
              </a:rPr>
              <a:t>Legal Measures Against Piracy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C48883-6352-9B97-6033-1825F3C21232}"/>
              </a:ext>
            </a:extLst>
          </p:cNvPr>
          <p:cNvSpPr txBox="1"/>
          <p:nvPr/>
        </p:nvSpPr>
        <p:spPr>
          <a:xfrm>
            <a:off x="856957" y="1268355"/>
            <a:ext cx="50144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Legal Frameworks to Combat Piracy</a:t>
            </a:r>
          </a:p>
          <a:p>
            <a:endParaRPr lang="en-US" sz="2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848F657-30E9-CE26-063A-8ABBCA559B54}"/>
              </a:ext>
            </a:extLst>
          </p:cNvPr>
          <p:cNvCxnSpPr>
            <a:cxnSpLocks/>
          </p:cNvCxnSpPr>
          <p:nvPr/>
        </p:nvCxnSpPr>
        <p:spPr>
          <a:xfrm>
            <a:off x="5614737" y="1524001"/>
            <a:ext cx="61127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99A97F4-4001-AFD6-746A-75548958A156}"/>
              </a:ext>
            </a:extLst>
          </p:cNvPr>
          <p:cNvSpPr txBox="1"/>
          <p:nvPr/>
        </p:nvSpPr>
        <p:spPr>
          <a:xfrm>
            <a:off x="930442" y="2099351"/>
            <a:ext cx="539014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WIPO Copyright Treaty (1996): Digital rights protection.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Berne Convention (1886): Copyright standardization across borders.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TRIPS Agreement (1994): Stronger global enforcement of intellectual property rights.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USA: DMCA, SOPA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Europe: Copyright Directives under GRPR.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Bangladesh: Emerging copyright laws under the Digital Security Act.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F8F11E0-260C-6FF5-9503-3810D58D6C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9551" y="1682595"/>
            <a:ext cx="4422007" cy="442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031311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D95DC-A5D2-5976-3598-1537071D1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1F79D54-26D3-2C71-C829-A5DCECB107D0}"/>
              </a:ext>
            </a:extLst>
          </p:cNvPr>
          <p:cNvSpPr/>
          <p:nvPr/>
        </p:nvSpPr>
        <p:spPr>
          <a:xfrm>
            <a:off x="0" y="6469624"/>
            <a:ext cx="12192000" cy="40803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055194-9D3F-0240-BF02-4361E16BC6FF}"/>
              </a:ext>
            </a:extLst>
          </p:cNvPr>
          <p:cNvSpPr/>
          <p:nvPr/>
        </p:nvSpPr>
        <p:spPr>
          <a:xfrm>
            <a:off x="0" y="0"/>
            <a:ext cx="411480" cy="6857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1C0E71-91D1-946A-E94F-D449B0767EC7}"/>
              </a:ext>
            </a:extLst>
          </p:cNvPr>
          <p:cNvSpPr txBox="1"/>
          <p:nvPr/>
        </p:nvSpPr>
        <p:spPr>
          <a:xfrm>
            <a:off x="884904" y="471947"/>
            <a:ext cx="108586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Arial Black" panose="020B0A04020102020204" pitchFamily="34" charset="0"/>
              </a:rPr>
              <a:t>Solutions to Piracy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8EAADE-81A7-AAAD-D747-5DCCCEB2A1BB}"/>
              </a:ext>
            </a:extLst>
          </p:cNvPr>
          <p:cNvSpPr txBox="1"/>
          <p:nvPr/>
        </p:nvSpPr>
        <p:spPr>
          <a:xfrm>
            <a:off x="884903" y="1397414"/>
            <a:ext cx="4955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Technology-Based Solutions: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D71069-7AD0-38FB-E33B-DCFCF37987FF}"/>
              </a:ext>
            </a:extLst>
          </p:cNvPr>
          <p:cNvSpPr txBox="1"/>
          <p:nvPr/>
        </p:nvSpPr>
        <p:spPr>
          <a:xfrm>
            <a:off x="884903" y="2680387"/>
            <a:ext cx="4955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Educational Campaigns: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ACC123-A80C-23B3-3174-E129898E61C3}"/>
              </a:ext>
            </a:extLst>
          </p:cNvPr>
          <p:cNvSpPr txBox="1"/>
          <p:nvPr/>
        </p:nvSpPr>
        <p:spPr>
          <a:xfrm>
            <a:off x="884903" y="3986041"/>
            <a:ext cx="4955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International Cooperation: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B79FD7-B7CA-349A-AE9C-F4E1ECFC2758}"/>
              </a:ext>
            </a:extLst>
          </p:cNvPr>
          <p:cNvSpPr txBox="1"/>
          <p:nvPr/>
        </p:nvSpPr>
        <p:spPr>
          <a:xfrm>
            <a:off x="1301222" y="1720794"/>
            <a:ext cx="44276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AI-based tools for piracy detection.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Blockchain for verifying digital product authenticity.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100179-8699-98DE-7410-C307363B62A5}"/>
              </a:ext>
            </a:extLst>
          </p:cNvPr>
          <p:cNvSpPr txBox="1"/>
          <p:nvPr/>
        </p:nvSpPr>
        <p:spPr>
          <a:xfrm>
            <a:off x="1301222" y="2996433"/>
            <a:ext cx="44276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Raising awareness about the consequences of piracy.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Promoting ethical use of digital goods.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2B480A-F1EE-AFD8-E8F4-E9452F904BA8}"/>
              </a:ext>
            </a:extLst>
          </p:cNvPr>
          <p:cNvSpPr txBox="1"/>
          <p:nvPr/>
        </p:nvSpPr>
        <p:spPr>
          <a:xfrm>
            <a:off x="1301222" y="4302334"/>
            <a:ext cx="4427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Cross-border legal collaboration to combat piracy networks.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1AEEDC6-7AA6-E6DE-F512-C8CF922B35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6243" y="1546209"/>
            <a:ext cx="3765581" cy="376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42057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DE8A8-0131-25C7-AD69-B409B5052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ED395D-49B4-AC2D-95FF-C0DF02F1FFAE}"/>
              </a:ext>
            </a:extLst>
          </p:cNvPr>
          <p:cNvSpPr/>
          <p:nvPr/>
        </p:nvSpPr>
        <p:spPr>
          <a:xfrm>
            <a:off x="0" y="6469624"/>
            <a:ext cx="12192000" cy="40803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680210-56D7-0AC6-B41B-F8C3ABE70DBC}"/>
              </a:ext>
            </a:extLst>
          </p:cNvPr>
          <p:cNvSpPr/>
          <p:nvPr/>
        </p:nvSpPr>
        <p:spPr>
          <a:xfrm>
            <a:off x="0" y="0"/>
            <a:ext cx="411480" cy="6857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1E06A5-F804-FA41-B3DD-1497368CB665}"/>
              </a:ext>
            </a:extLst>
          </p:cNvPr>
          <p:cNvSpPr txBox="1"/>
          <p:nvPr/>
        </p:nvSpPr>
        <p:spPr>
          <a:xfrm>
            <a:off x="884904" y="471947"/>
            <a:ext cx="108586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Arial Black" panose="020B0A04020102020204" pitchFamily="34" charset="0"/>
              </a:rPr>
              <a:t>Key Takeaways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D2DFF1-DB67-A8E2-733E-8BF93CF2CA02}"/>
              </a:ext>
            </a:extLst>
          </p:cNvPr>
          <p:cNvSpPr txBox="1"/>
          <p:nvPr/>
        </p:nvSpPr>
        <p:spPr>
          <a:xfrm>
            <a:off x="884903" y="1397414"/>
            <a:ext cx="4955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Impact of Piracy: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74A79C-5E3D-73C5-67EE-DE62B9E3831A}"/>
              </a:ext>
            </a:extLst>
          </p:cNvPr>
          <p:cNvSpPr txBox="1"/>
          <p:nvPr/>
        </p:nvSpPr>
        <p:spPr>
          <a:xfrm>
            <a:off x="875071" y="2965516"/>
            <a:ext cx="4955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Challenges: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00AE20-0D06-0655-4BE2-E81CC522AADA}"/>
              </a:ext>
            </a:extLst>
          </p:cNvPr>
          <p:cNvSpPr txBox="1"/>
          <p:nvPr/>
        </p:nvSpPr>
        <p:spPr>
          <a:xfrm>
            <a:off x="884903" y="4526813"/>
            <a:ext cx="4955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Opportunities: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8E95C0-A35D-62FE-06DB-64F8B0509F5A}"/>
              </a:ext>
            </a:extLst>
          </p:cNvPr>
          <p:cNvSpPr txBox="1"/>
          <p:nvPr/>
        </p:nvSpPr>
        <p:spPr>
          <a:xfrm>
            <a:off x="1301222" y="1720794"/>
            <a:ext cx="44276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Annual losses of billions of dollars in revenue.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reduces trust in online shopping.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Affects businesses and slows innovation.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43A1C2-F9B9-AF50-AD2F-20025D595DD4}"/>
              </a:ext>
            </a:extLst>
          </p:cNvPr>
          <p:cNvSpPr txBox="1"/>
          <p:nvPr/>
        </p:nvSpPr>
        <p:spPr>
          <a:xfrm>
            <a:off x="1301222" y="3281567"/>
            <a:ext cx="44276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Hard to balance copyright laws with user privacy.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Developing countries face issues with resources to stop piracy.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FB9561-C35D-B72D-50E7-993CFDDD9B19}"/>
              </a:ext>
            </a:extLst>
          </p:cNvPr>
          <p:cNvSpPr txBox="1"/>
          <p:nvPr/>
        </p:nvSpPr>
        <p:spPr>
          <a:xfrm>
            <a:off x="1301222" y="4843113"/>
            <a:ext cx="44276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Tools like AI and blockchain can stop piracy.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Countries need to work together for better results.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6880C5-CD53-B84C-13B6-635C9EBFFA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4993" y="1895571"/>
            <a:ext cx="4775746" cy="3276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295936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4A332-DCAB-F0A3-F1CA-325D48550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F87529-39C2-7B4C-F188-253A6FF9D38D}"/>
              </a:ext>
            </a:extLst>
          </p:cNvPr>
          <p:cNvSpPr/>
          <p:nvPr/>
        </p:nvSpPr>
        <p:spPr>
          <a:xfrm>
            <a:off x="0" y="6469624"/>
            <a:ext cx="12192000" cy="40803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CFEFB7-E8B0-F591-7050-61043A9E5338}"/>
              </a:ext>
            </a:extLst>
          </p:cNvPr>
          <p:cNvSpPr/>
          <p:nvPr/>
        </p:nvSpPr>
        <p:spPr>
          <a:xfrm>
            <a:off x="0" y="0"/>
            <a:ext cx="411480" cy="6857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F986BF-1226-96A3-FFF6-3C15A32C431B}"/>
              </a:ext>
            </a:extLst>
          </p:cNvPr>
          <p:cNvSpPr txBox="1"/>
          <p:nvPr/>
        </p:nvSpPr>
        <p:spPr>
          <a:xfrm>
            <a:off x="884904" y="471947"/>
            <a:ext cx="108586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Arial Black" panose="020B0A04020102020204" pitchFamily="34" charset="0"/>
              </a:rPr>
              <a:t>What We Can Do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E7A8AF-1DBA-9FC5-C7DC-66F255C9DAAF}"/>
              </a:ext>
            </a:extLst>
          </p:cNvPr>
          <p:cNvSpPr txBox="1"/>
          <p:nvPr/>
        </p:nvSpPr>
        <p:spPr>
          <a:xfrm>
            <a:off x="884903" y="1397414"/>
            <a:ext cx="4955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Consumers: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BBBA45-5718-BEB4-2935-E30409F718D4}"/>
              </a:ext>
            </a:extLst>
          </p:cNvPr>
          <p:cNvSpPr txBox="1"/>
          <p:nvPr/>
        </p:nvSpPr>
        <p:spPr>
          <a:xfrm>
            <a:off x="884903" y="2680387"/>
            <a:ext cx="4955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Governments: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77B4AE-5FDB-FB33-ACCD-93907A0BD31C}"/>
              </a:ext>
            </a:extLst>
          </p:cNvPr>
          <p:cNvSpPr txBox="1"/>
          <p:nvPr/>
        </p:nvSpPr>
        <p:spPr>
          <a:xfrm>
            <a:off x="884903" y="3710744"/>
            <a:ext cx="4955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Businesses: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3ED6BD-F83A-ED57-EA59-E4624A07EA25}"/>
              </a:ext>
            </a:extLst>
          </p:cNvPr>
          <p:cNvSpPr txBox="1"/>
          <p:nvPr/>
        </p:nvSpPr>
        <p:spPr>
          <a:xfrm>
            <a:off x="1301222" y="1720794"/>
            <a:ext cx="44276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Always buy from trusted platforms.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Report fake or pirated products on eCommerce sites.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C635F2-03BD-4BB2-F263-8F7FF0CF6356}"/>
              </a:ext>
            </a:extLst>
          </p:cNvPr>
          <p:cNvSpPr txBox="1"/>
          <p:nvPr/>
        </p:nvSpPr>
        <p:spPr>
          <a:xfrm>
            <a:off x="1301222" y="2996433"/>
            <a:ext cx="4427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Make stronger copyright laws.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 global efforts to stop piracy.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50E47B-8415-0553-A2F2-B1FF0A13E51D}"/>
              </a:ext>
            </a:extLst>
          </p:cNvPr>
          <p:cNvSpPr txBox="1"/>
          <p:nvPr/>
        </p:nvSpPr>
        <p:spPr>
          <a:xfrm>
            <a:off x="1301222" y="3997537"/>
            <a:ext cx="4427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secure tools to protect products.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Offer fair pricing to reduce piracy.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43D919-7A18-FD40-A1C5-3701CEB6E6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680" y="1761511"/>
            <a:ext cx="4828649" cy="3513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344313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B624816-38F3-FAF8-523F-793534F312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561" y="769374"/>
            <a:ext cx="7978878" cy="531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42532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5700</TotalTime>
  <Words>408</Words>
  <Application>Microsoft Office PowerPoint</Application>
  <PresentationFormat>Widescreen</PresentationFormat>
  <Paragraphs>62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Sourav Saha</dc:creator>
  <cp:lastModifiedBy>Sourav Saha</cp:lastModifiedBy>
  <cp:revision>28</cp:revision>
  <dcterms:created xsi:type="dcterms:W3CDTF">2025-01-18T03:58:49Z</dcterms:created>
  <dcterms:modified xsi:type="dcterms:W3CDTF">2025-01-22T03:01:45Z</dcterms:modified>
</cp:coreProperties>
</file>