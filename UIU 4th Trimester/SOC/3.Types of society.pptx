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8" r:id="rId2"/>
    <p:sldId id="261" r:id="rId3"/>
    <p:sldId id="263" r:id="rId4"/>
    <p:sldId id="269" r:id="rId5"/>
    <p:sldId id="281" r:id="rId6"/>
    <p:sldId id="311" r:id="rId7"/>
    <p:sldId id="282" r:id="rId8"/>
    <p:sldId id="284" r:id="rId9"/>
    <p:sldId id="285" r:id="rId10"/>
    <p:sldId id="286" r:id="rId11"/>
    <p:sldId id="287" r:id="rId12"/>
    <p:sldId id="288" r:id="rId13"/>
    <p:sldId id="289" r:id="rId14"/>
    <p:sldId id="291" r:id="rId15"/>
    <p:sldId id="292" r:id="rId16"/>
    <p:sldId id="283" r:id="rId17"/>
    <p:sldId id="312" r:id="rId18"/>
    <p:sldId id="293" r:id="rId19"/>
    <p:sldId id="294" r:id="rId20"/>
    <p:sldId id="295" r:id="rId21"/>
    <p:sldId id="296" r:id="rId22"/>
    <p:sldId id="297" r:id="rId23"/>
    <p:sldId id="298" r:id="rId24"/>
    <p:sldId id="299" r:id="rId25"/>
    <p:sldId id="300" r:id="rId26"/>
    <p:sldId id="301" r:id="rId27"/>
    <p:sldId id="302" r:id="rId28"/>
    <p:sldId id="318" r:id="rId29"/>
    <p:sldId id="304" r:id="rId30"/>
    <p:sldId id="305" r:id="rId31"/>
    <p:sldId id="306" r:id="rId32"/>
    <p:sldId id="313" r:id="rId33"/>
    <p:sldId id="314" r:id="rId34"/>
    <p:sldId id="316" r:id="rId35"/>
    <p:sldId id="307" r:id="rId36"/>
    <p:sldId id="308" r:id="rId37"/>
    <p:sldId id="317" r:id="rId38"/>
    <p:sldId id="309" r:id="rId39"/>
    <p:sldId id="310" r:id="rId40"/>
    <p:sldId id="260"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910080" y="359898"/>
            <a:ext cx="987552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910080" y="1850064"/>
            <a:ext cx="987552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1F42D15D-FA78-49D6-8D82-41044460263C}" type="datetimeFigureOut">
              <a:rPr lang="en-US" smtClean="0"/>
              <a:pPr/>
              <a:t>6/7/2024</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068EFF37-A2CF-4645-9580-7176C6F0304B}" type="slidenum">
              <a:rPr lang="en-US" smtClean="0"/>
              <a:pPr/>
              <a:t>‹#›</a:t>
            </a:fld>
            <a:endParaRPr lang="en-US"/>
          </a:p>
        </p:txBody>
      </p:sp>
      <p:sp>
        <p:nvSpPr>
          <p:cNvPr id="8" name="Oval 7"/>
          <p:cNvSpPr/>
          <p:nvPr/>
        </p:nvSpPr>
        <p:spPr>
          <a:xfrm>
            <a:off x="1228577" y="1413802"/>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542901" y="1345016"/>
            <a:ext cx="85344"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F42D15D-FA78-49D6-8D82-41044460263C}" type="datetimeFigureOut">
              <a:rPr lang="en-US" smtClean="0"/>
              <a:pPr/>
              <a:t>6/7/2024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8EFF37-A2CF-4645-9580-7176C6F0304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043853" y="-54"/>
            <a:ext cx="9144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437856" y="2600325"/>
            <a:ext cx="85344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3437856" y="1066800"/>
            <a:ext cx="85344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F42D15D-FA78-49D6-8D82-41044460263C}" type="datetimeFigureOut">
              <a:rPr lang="en-US" smtClean="0"/>
              <a:pPr/>
              <a:t>6/7/2024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8EFF37-A2CF-4645-9580-7176C6F0304B}" type="slidenum">
              <a:rPr lang="en-US" smtClean="0"/>
              <a:pPr/>
              <a:t>‹#›</a:t>
            </a:fld>
            <a:endParaRPr lang="en-US"/>
          </a:p>
        </p:txBody>
      </p:sp>
      <p:sp>
        <p:nvSpPr>
          <p:cNvPr id="10" name="Rectangle 9"/>
          <p:cNvSpPr/>
          <p:nvPr/>
        </p:nvSpPr>
        <p:spPr bwMode="invGray">
          <a:xfrm>
            <a:off x="3048000" y="0"/>
            <a:ext cx="1016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896428" y="2814656"/>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3210752" y="2745870"/>
            <a:ext cx="85344"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320"/>
            <a:ext cx="9997440" cy="1143000"/>
          </a:xfrm>
        </p:spPr>
        <p:txBody>
          <a:bodyPr/>
          <a:lstStyle/>
          <a:p>
            <a:r>
              <a:rPr kumimoji="0" lang="en-US"/>
              <a:t>Click to edit Master title style</a:t>
            </a:r>
          </a:p>
        </p:txBody>
      </p:sp>
      <p:sp>
        <p:nvSpPr>
          <p:cNvPr id="3" name="Content Placeholder 2"/>
          <p:cNvSpPr>
            <a:spLocks noGrp="1"/>
          </p:cNvSpPr>
          <p:nvPr>
            <p:ph sz="half" idx="1"/>
          </p:nvPr>
        </p:nvSpPr>
        <p:spPr>
          <a:xfrm>
            <a:off x="1914144" y="1524000"/>
            <a:ext cx="48768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7034784" y="1524000"/>
            <a:ext cx="48768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F42D15D-FA78-49D6-8D82-41044460263C}" type="datetimeFigureOut">
              <a:rPr lang="en-US" smtClean="0"/>
              <a:pPr/>
              <a:t>6/7/2024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8EFF37-A2CF-4645-9580-7176C6F0304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5160336"/>
            <a:ext cx="109728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609600" y="328278"/>
            <a:ext cx="536448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217920" y="328278"/>
            <a:ext cx="536448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969336"/>
            <a:ext cx="536448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217920" y="969336"/>
            <a:ext cx="536448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F42D15D-FA78-49D6-8D82-41044460263C}" type="datetimeFigureOut">
              <a:rPr lang="en-US" smtClean="0"/>
              <a:pPr/>
              <a:t>6/7/2024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68EFF37-A2CF-4645-9580-7176C6F0304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320"/>
            <a:ext cx="999744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1F42D15D-FA78-49D6-8D82-41044460263C}" type="datetimeFigureOut">
              <a:rPr lang="en-US" smtClean="0"/>
              <a:pPr/>
              <a:t>6/7/2024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68EFF37-A2CF-4645-9580-7176C6F0304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353312" y="0"/>
            <a:ext cx="10838688"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1F42D15D-FA78-49D6-8D82-41044460263C}" type="datetimeFigureOut">
              <a:rPr lang="en-US" smtClean="0"/>
              <a:pPr/>
              <a:t>6/7/2024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68EFF37-A2CF-4645-9580-7176C6F0304B}" type="slidenum">
              <a:rPr lang="en-US" smtClean="0"/>
              <a:pPr/>
              <a:t>‹#›</a:t>
            </a:fld>
            <a:endParaRPr lang="en-US"/>
          </a:p>
        </p:txBody>
      </p:sp>
      <p:sp>
        <p:nvSpPr>
          <p:cNvPr id="6" name="Rectangle 5"/>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16778"/>
            <a:ext cx="508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609600" y="1406964"/>
            <a:ext cx="508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609600" y="2133601"/>
            <a:ext cx="108712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F42D15D-FA78-49D6-8D82-41044460263C}" type="datetimeFigureOut">
              <a:rPr lang="en-US" smtClean="0"/>
              <a:pPr/>
              <a:t>6/7/2024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8EFF37-A2CF-4645-9580-7176C6F0304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49195" y="1066800"/>
            <a:ext cx="36576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1F42D15D-FA78-49D6-8D82-41044460263C}" type="datetimeFigureOut">
              <a:rPr lang="en-US" smtClean="0"/>
              <a:pPr/>
              <a:t>6/7/2024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8EFF37-A2CF-4645-9580-7176C6F0304B}" type="slidenum">
              <a:rPr lang="en-US" smtClean="0"/>
              <a:pPr/>
              <a:t>‹#›</a:t>
            </a:fld>
            <a:endParaRPr lang="en-US"/>
          </a:p>
        </p:txBody>
      </p:sp>
      <p:sp>
        <p:nvSpPr>
          <p:cNvPr id="8" name="Rectangle 7"/>
          <p:cNvSpPr/>
          <p:nvPr/>
        </p:nvSpPr>
        <p:spPr>
          <a:xfrm>
            <a:off x="1016000" y="1066800"/>
            <a:ext cx="6096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1117600" y="1143004"/>
            <a:ext cx="58928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528967" y="954341"/>
            <a:ext cx="9144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6671556" y="936786"/>
            <a:ext cx="865632"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1117600" y="4800600"/>
            <a:ext cx="58928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F42D15D-FA78-49D6-8D82-41044460263C}" type="datetimeFigureOut">
              <a:rPr lang="en-US" smtClean="0"/>
              <a:pPr/>
              <a:t>6/7/2024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8EFF37-A2CF-4645-9580-7176C6F0304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4000" y="274640"/>
            <a:ext cx="2438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524000" y="274641"/>
            <a:ext cx="7416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F42D15D-FA78-49D6-8D82-41044460263C}" type="datetimeFigureOut">
              <a:rPr lang="en-US" smtClean="0"/>
              <a:pPr/>
              <a:t>6/7/2024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8EFF37-A2CF-4645-9580-7176C6F0304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1087902" y="-815922"/>
            <a:ext cx="2185183"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25089" y="21103"/>
            <a:ext cx="2269588"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243842" y="1055077"/>
            <a:ext cx="1500956"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350498" y="-54"/>
            <a:ext cx="10841503"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914144" y="274638"/>
            <a:ext cx="999744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914144" y="1447800"/>
            <a:ext cx="999744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4775200" y="6305550"/>
            <a:ext cx="28448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F42D15D-FA78-49D6-8D82-41044460263C}" type="datetimeFigureOut">
              <a:rPr lang="en-US" smtClean="0"/>
              <a:pPr/>
              <a:t>6/7/2024</a:t>
            </a:fld>
            <a:endParaRPr lang="en-US"/>
          </a:p>
        </p:txBody>
      </p:sp>
      <p:sp>
        <p:nvSpPr>
          <p:cNvPr id="10" name="Footer Placeholder 9"/>
          <p:cNvSpPr>
            <a:spLocks noGrp="1"/>
          </p:cNvSpPr>
          <p:nvPr>
            <p:ph type="ftr" sz="quarter" idx="3"/>
          </p:nvPr>
        </p:nvSpPr>
        <p:spPr>
          <a:xfrm>
            <a:off x="7620000" y="6305550"/>
            <a:ext cx="38608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11484864" y="6305550"/>
            <a:ext cx="6096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068EFF37-A2CF-4645-9580-7176C6F0304B}" type="slidenum">
              <a:rPr lang="en-US" smtClean="0"/>
              <a:pPr/>
              <a:t>‹#›</a:t>
            </a:fld>
            <a:endParaRPr lang="en-US"/>
          </a:p>
        </p:txBody>
      </p:sp>
      <p:sp>
        <p:nvSpPr>
          <p:cNvPr id="15" name="Rectangle 14"/>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9A874-53D7-4054-B0BD-9EADA89EF06C}"/>
              </a:ext>
            </a:extLst>
          </p:cNvPr>
          <p:cNvSpPr>
            <a:spLocks noGrp="1"/>
          </p:cNvSpPr>
          <p:nvPr>
            <p:ph type="ctrTitle"/>
          </p:nvPr>
        </p:nvSpPr>
        <p:spPr>
          <a:xfrm>
            <a:off x="290286" y="2859385"/>
            <a:ext cx="11596914" cy="1093633"/>
          </a:xfrm>
        </p:spPr>
        <p:txBody>
          <a:bodyPr>
            <a:noAutofit/>
          </a:bodyPr>
          <a:lstStyle/>
          <a:p>
            <a:pPr algn="ctr"/>
            <a:r>
              <a:rPr lang="en-US" sz="6000" b="1" dirty="0">
                <a:latin typeface="Cambria" panose="02040503050406030204" pitchFamily="18" charset="0"/>
                <a:ea typeface="Cambria" panose="02040503050406030204" pitchFamily="18" charset="0"/>
              </a:rPr>
              <a:t>Types of Societies from hunter gatherer to post industrial</a:t>
            </a:r>
          </a:p>
        </p:txBody>
      </p:sp>
    </p:spTree>
    <p:extLst>
      <p:ext uri="{BB962C8B-B14F-4D97-AF65-F5344CB8AC3E}">
        <p14:creationId xmlns:p14="http://schemas.microsoft.com/office/powerpoint/2010/main" val="3841031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31936-49F5-4145-BBC8-F56BAC47BDE7}"/>
              </a:ext>
            </a:extLst>
          </p:cNvPr>
          <p:cNvSpPr>
            <a:spLocks noGrp="1"/>
          </p:cNvSpPr>
          <p:nvPr>
            <p:ph type="title"/>
          </p:nvPr>
        </p:nvSpPr>
        <p:spPr/>
        <p:txBody>
          <a:bodyPr>
            <a:normAutofit/>
          </a:bodyPr>
          <a:lstStyle/>
          <a:p>
            <a:pPr algn="ctr"/>
            <a:r>
              <a:rPr lang="en-US" sz="6600" b="1" dirty="0"/>
              <a:t>questions</a:t>
            </a:r>
          </a:p>
        </p:txBody>
      </p:sp>
      <p:sp>
        <p:nvSpPr>
          <p:cNvPr id="3" name="Content Placeholder 2">
            <a:extLst>
              <a:ext uri="{FF2B5EF4-FFF2-40B4-BE49-F238E27FC236}">
                <a16:creationId xmlns:a16="http://schemas.microsoft.com/office/drawing/2014/main" id="{0234656B-1A85-461C-BFC4-2F0FD802C092}"/>
              </a:ext>
            </a:extLst>
          </p:cNvPr>
          <p:cNvSpPr>
            <a:spLocks noGrp="1"/>
          </p:cNvSpPr>
          <p:nvPr>
            <p:ph idx="1"/>
          </p:nvPr>
        </p:nvSpPr>
        <p:spPr/>
        <p:txBody>
          <a:bodyPr/>
          <a:lstStyle/>
          <a:p>
            <a:pPr algn="just"/>
            <a:endParaRPr lang="en-US" dirty="0"/>
          </a:p>
          <a:p>
            <a:pPr algn="just"/>
            <a:endParaRPr lang="en-US" dirty="0"/>
          </a:p>
          <a:p>
            <a:pPr algn="just"/>
            <a:r>
              <a:rPr lang="en-US" dirty="0"/>
              <a:t>How do people make a living in different types of society?</a:t>
            </a:r>
          </a:p>
          <a:p>
            <a:pPr algn="just">
              <a:buNone/>
            </a:pPr>
            <a:endParaRPr lang="en-US" dirty="0"/>
          </a:p>
          <a:p>
            <a:pPr algn="just"/>
            <a:r>
              <a:rPr lang="en-US" dirty="0"/>
              <a:t>Why some unrelated societies show similar characteristics? </a:t>
            </a:r>
          </a:p>
        </p:txBody>
      </p:sp>
    </p:spTree>
    <p:extLst>
      <p:ext uri="{BB962C8B-B14F-4D97-AF65-F5344CB8AC3E}">
        <p14:creationId xmlns:p14="http://schemas.microsoft.com/office/powerpoint/2010/main" val="340109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rmAutofit/>
          </a:bodyPr>
          <a:lstStyle/>
          <a:p>
            <a:pPr algn="ctr"/>
            <a:r>
              <a:rPr lang="en-US" dirty="0"/>
              <a:t>Types of Society</a:t>
            </a: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857829" y="1941342"/>
            <a:ext cx="9535885" cy="4163430"/>
          </a:xfrm>
        </p:spPr>
        <p:txBody>
          <a:bodyPr>
            <a:normAutofit/>
          </a:bodyPr>
          <a:lstStyle/>
          <a:p>
            <a:pPr marL="82296" indent="0">
              <a:buNone/>
            </a:pPr>
            <a:endParaRPr lang="en-US" dirty="0"/>
          </a:p>
          <a:p>
            <a:pPr marL="596646" indent="-514350">
              <a:buFont typeface="+mj-lt"/>
              <a:buAutoNum type="arabicPeriod"/>
            </a:pPr>
            <a:r>
              <a:rPr lang="en-US" dirty="0"/>
              <a:t>Foraging</a:t>
            </a:r>
          </a:p>
          <a:p>
            <a:pPr marL="596646" indent="-514350">
              <a:buFont typeface="+mj-lt"/>
              <a:buAutoNum type="arabicPeriod"/>
            </a:pPr>
            <a:r>
              <a:rPr lang="en-US" dirty="0"/>
              <a:t>Horticulture (Food producing societies)</a:t>
            </a:r>
          </a:p>
          <a:p>
            <a:pPr marL="596646" indent="-514350">
              <a:buFont typeface="+mj-lt"/>
              <a:buAutoNum type="arabicPeriod"/>
            </a:pPr>
            <a:r>
              <a:rPr lang="en-US" dirty="0"/>
              <a:t>Agriculture, (Food producing societies)</a:t>
            </a:r>
          </a:p>
          <a:p>
            <a:pPr marL="596646" indent="-514350">
              <a:buFont typeface="+mj-lt"/>
              <a:buAutoNum type="arabicPeriod"/>
            </a:pPr>
            <a:r>
              <a:rPr lang="en-US" dirty="0" err="1"/>
              <a:t>Pastoralism</a:t>
            </a:r>
            <a:r>
              <a:rPr lang="en-US" dirty="0"/>
              <a:t> (Food producing societies)</a:t>
            </a:r>
          </a:p>
          <a:p>
            <a:pPr marL="596646" indent="-514350">
              <a:buFont typeface="+mj-lt"/>
              <a:buAutoNum type="arabicPeriod"/>
            </a:pPr>
            <a:r>
              <a:rPr lang="en-US" dirty="0"/>
              <a:t> industrialism.</a:t>
            </a:r>
          </a:p>
        </p:txBody>
      </p:sp>
    </p:spTree>
    <p:extLst>
      <p:ext uri="{BB962C8B-B14F-4D97-AF65-F5344CB8AC3E}">
        <p14:creationId xmlns:p14="http://schemas.microsoft.com/office/powerpoint/2010/main" val="2744207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dirty="0">
                <a:latin typeface="Roboto Condensed" pitchFamily="2" charset="0"/>
                <a:ea typeface="Roboto Condensed" pitchFamily="2" charset="0"/>
              </a:rPr>
              <a:t>Food Foraging</a:t>
            </a: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857829" y="1941342"/>
            <a:ext cx="9535885" cy="4163430"/>
          </a:xfrm>
        </p:spPr>
        <p:txBody>
          <a:bodyPr>
            <a:normAutofit/>
          </a:bodyPr>
          <a:lstStyle/>
          <a:p>
            <a:pPr algn="just"/>
            <a:r>
              <a:rPr lang="en-US" sz="4400" dirty="0"/>
              <a:t>Foraging—an economy and way of life based on hunting and gathering—was humans’ only way of making a living until about 12,000 years ago, when people began experimenting with food production.</a:t>
            </a:r>
            <a:endParaRPr lang="en-US" sz="4400" dirty="0">
              <a:latin typeface="Roboto Condensed" pitchFamily="2" charset="0"/>
              <a:ea typeface="Roboto Condensed" pitchFamily="2" charset="0"/>
            </a:endParaRPr>
          </a:p>
        </p:txBody>
      </p:sp>
    </p:spTree>
    <p:extLst>
      <p:ext uri="{BB962C8B-B14F-4D97-AF65-F5344CB8AC3E}">
        <p14:creationId xmlns:p14="http://schemas.microsoft.com/office/powerpoint/2010/main" val="2744207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dirty="0">
                <a:latin typeface="Roboto Condensed" pitchFamily="2" charset="0"/>
                <a:ea typeface="Roboto Condensed" pitchFamily="2" charset="0"/>
              </a:rPr>
              <a:t>Food Foraging</a:t>
            </a: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857829" y="1941342"/>
            <a:ext cx="9535885" cy="4163430"/>
          </a:xfrm>
        </p:spPr>
        <p:txBody>
          <a:bodyPr>
            <a:normAutofit fontScale="92500" lnSpcReduction="20000"/>
          </a:bodyPr>
          <a:lstStyle/>
          <a:p>
            <a:pPr algn="just"/>
            <a:r>
              <a:rPr lang="en-US" sz="4400" dirty="0"/>
              <a:t>Before the domestication of plants and animals, all people supported themselves through food foraging.</a:t>
            </a:r>
          </a:p>
          <a:p>
            <a:pPr algn="just"/>
            <a:endParaRPr lang="en-US" sz="4400" dirty="0"/>
          </a:p>
          <a:p>
            <a:pPr algn="just"/>
            <a:r>
              <a:rPr lang="en-US" sz="4400" dirty="0"/>
              <a:t>a mode of subsistence involving some combination of hunting, fishing, and gathering wild plant foods.</a:t>
            </a:r>
          </a:p>
          <a:p>
            <a:pPr algn="just"/>
            <a:endParaRPr lang="en-US" sz="4400" dirty="0">
              <a:latin typeface="Roboto Condensed" pitchFamily="2" charset="0"/>
              <a:ea typeface="Roboto Condensed" pitchFamily="2" charset="0"/>
            </a:endParaRPr>
          </a:p>
        </p:txBody>
      </p:sp>
    </p:spTree>
    <p:extLst>
      <p:ext uri="{BB962C8B-B14F-4D97-AF65-F5344CB8AC3E}">
        <p14:creationId xmlns:p14="http://schemas.microsoft.com/office/powerpoint/2010/main" val="2744207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dirty="0">
                <a:latin typeface="Roboto Condensed" pitchFamily="2" charset="0"/>
                <a:ea typeface="Roboto Condensed" pitchFamily="2" charset="0"/>
              </a:rPr>
              <a:t>Food Foraging</a:t>
            </a: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857829" y="1941342"/>
            <a:ext cx="9535885" cy="4163430"/>
          </a:xfrm>
        </p:spPr>
        <p:txBody>
          <a:bodyPr>
            <a:normAutofit/>
          </a:bodyPr>
          <a:lstStyle/>
          <a:p>
            <a:pPr algn="just"/>
            <a:r>
              <a:rPr lang="en-US" sz="4400" dirty="0"/>
              <a:t>Most hunting and gathering cultures, however, have been destroyed or absorbed by the spread of Western culture (the culture of Europe, the United </a:t>
            </a:r>
            <a:r>
              <a:rPr lang="en-US" sz="4400" dirty="0" err="1"/>
              <a:t>Sta</a:t>
            </a:r>
            <a:r>
              <a:rPr lang="en-US" sz="4400" dirty="0"/>
              <a:t> </a:t>
            </a:r>
            <a:r>
              <a:rPr lang="en-US" sz="4400" dirty="0" err="1"/>
              <a:t>tes</a:t>
            </a:r>
            <a:r>
              <a:rPr lang="en-US" sz="4400" dirty="0"/>
              <a:t>, Australasia) . </a:t>
            </a:r>
            <a:endParaRPr lang="en-US" sz="4400" dirty="0">
              <a:latin typeface="Roboto Condensed" pitchFamily="2" charset="0"/>
              <a:ea typeface="Roboto Condensed" pitchFamily="2" charset="0"/>
            </a:endParaRPr>
          </a:p>
        </p:txBody>
      </p:sp>
    </p:spTree>
    <p:extLst>
      <p:ext uri="{BB962C8B-B14F-4D97-AF65-F5344CB8AC3E}">
        <p14:creationId xmlns:p14="http://schemas.microsoft.com/office/powerpoint/2010/main" val="3933854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dirty="0">
                <a:latin typeface="Roboto Condensed" pitchFamily="2" charset="0"/>
                <a:ea typeface="Roboto Condensed" pitchFamily="2" charset="0"/>
              </a:rPr>
              <a:t>Characteristics of Food Foraging</a:t>
            </a: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248228" y="1941342"/>
            <a:ext cx="5791201" cy="4163430"/>
          </a:xfrm>
        </p:spPr>
        <p:txBody>
          <a:bodyPr>
            <a:normAutofit lnSpcReduction="10000"/>
          </a:bodyPr>
          <a:lstStyle/>
          <a:p>
            <a:pPr algn="just"/>
            <a:r>
              <a:rPr lang="en-US" sz="4400" dirty="0"/>
              <a:t>Rely on nature:</a:t>
            </a:r>
          </a:p>
          <a:p>
            <a:pPr algn="just">
              <a:buNone/>
            </a:pPr>
            <a:r>
              <a:rPr lang="en-US" sz="4400" dirty="0"/>
              <a:t>  People rely on nature to make their living. They don’t grow crops or breed and  tend animals.</a:t>
            </a:r>
            <a:endParaRPr lang="en-US" sz="4400" dirty="0">
              <a:latin typeface="Roboto Condensed" pitchFamily="2" charset="0"/>
              <a:ea typeface="Roboto Condensed" pitchFamily="2" charset="0"/>
            </a:endParaRPr>
          </a:p>
        </p:txBody>
      </p:sp>
      <p:pic>
        <p:nvPicPr>
          <p:cNvPr id="4" name="Picture 3" descr="gathering-tubers.jpg"/>
          <p:cNvPicPr>
            <a:picLocks noChangeAspect="1"/>
          </p:cNvPicPr>
          <p:nvPr/>
        </p:nvPicPr>
        <p:blipFill>
          <a:blip r:embed="rId2"/>
          <a:stretch>
            <a:fillRect/>
          </a:stretch>
        </p:blipFill>
        <p:spPr>
          <a:xfrm>
            <a:off x="7518400" y="2017488"/>
            <a:ext cx="4589198" cy="3985080"/>
          </a:xfrm>
          <a:prstGeom prst="rect">
            <a:avLst/>
          </a:prstGeom>
        </p:spPr>
      </p:pic>
    </p:spTree>
    <p:extLst>
      <p:ext uri="{BB962C8B-B14F-4D97-AF65-F5344CB8AC3E}">
        <p14:creationId xmlns:p14="http://schemas.microsoft.com/office/powerpoint/2010/main" val="2744207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dirty="0">
                <a:latin typeface="Roboto Condensed" pitchFamily="2" charset="0"/>
                <a:ea typeface="Roboto Condensed" pitchFamily="2" charset="0"/>
              </a:rPr>
              <a:t>Characteristics of Food Foraging</a:t>
            </a: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320800" y="1941342"/>
            <a:ext cx="5965372" cy="4163430"/>
          </a:xfrm>
        </p:spPr>
        <p:txBody>
          <a:bodyPr>
            <a:normAutofit fontScale="92500" lnSpcReduction="20000"/>
          </a:bodyPr>
          <a:lstStyle/>
          <a:p>
            <a:pPr algn="just"/>
            <a:r>
              <a:rPr lang="en-US" sz="4400" dirty="0"/>
              <a:t>Example, on the North Pacific Coast of North America, foragers could draw on varied sea, river, and land species, such as salmon and other fish, sea mammals, berries, and mountain goats</a:t>
            </a:r>
            <a:endParaRPr lang="en-US" sz="4400" dirty="0">
              <a:latin typeface="Roboto Condensed" pitchFamily="2" charset="0"/>
              <a:ea typeface="Roboto Condensed" pitchFamily="2" charset="0"/>
            </a:endParaRPr>
          </a:p>
        </p:txBody>
      </p:sp>
      <p:pic>
        <p:nvPicPr>
          <p:cNvPr id="4" name="Picture 3" descr="image-asset.jpeg"/>
          <p:cNvPicPr>
            <a:picLocks noChangeAspect="1"/>
          </p:cNvPicPr>
          <p:nvPr/>
        </p:nvPicPr>
        <p:blipFill>
          <a:blip r:embed="rId2"/>
          <a:stretch>
            <a:fillRect/>
          </a:stretch>
        </p:blipFill>
        <p:spPr>
          <a:xfrm>
            <a:off x="7400472" y="2191430"/>
            <a:ext cx="4762500" cy="3171825"/>
          </a:xfrm>
          <a:prstGeom prst="rect">
            <a:avLst/>
          </a:prstGeom>
        </p:spPr>
      </p:pic>
    </p:spTree>
    <p:extLst>
      <p:ext uri="{BB962C8B-B14F-4D97-AF65-F5344CB8AC3E}">
        <p14:creationId xmlns:p14="http://schemas.microsoft.com/office/powerpoint/2010/main" val="27442071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dirty="0">
                <a:latin typeface="Roboto Condensed" pitchFamily="2" charset="0"/>
                <a:ea typeface="Roboto Condensed" pitchFamily="2" charset="0"/>
              </a:rPr>
              <a:t>Characteristics of Food Foraging</a:t>
            </a: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320799" y="1941342"/>
            <a:ext cx="9419771" cy="4163430"/>
          </a:xfrm>
        </p:spPr>
        <p:txBody>
          <a:bodyPr>
            <a:normAutofit/>
          </a:bodyPr>
          <a:lstStyle/>
          <a:p>
            <a:pPr algn="just"/>
            <a:r>
              <a:rPr lang="en-US" sz="4400" dirty="0"/>
              <a:t>Movement: </a:t>
            </a:r>
          </a:p>
          <a:p>
            <a:pPr algn="just">
              <a:buNone/>
            </a:pPr>
            <a:r>
              <a:rPr lang="en-US" sz="4400" dirty="0"/>
              <a:t> Food foragers move as needed within a circumscribed (restricted) region that is their home range to tap into naturally available food sources. </a:t>
            </a:r>
          </a:p>
          <a:p>
            <a:pPr algn="just"/>
            <a:endParaRPr lang="en-US" sz="4400" dirty="0">
              <a:latin typeface="Roboto Condensed" pitchFamily="2" charset="0"/>
              <a:ea typeface="Roboto Condensed" pitchFamily="2" charset="0"/>
            </a:endParaRPr>
          </a:p>
        </p:txBody>
      </p:sp>
    </p:spTree>
    <p:extLst>
      <p:ext uri="{BB962C8B-B14F-4D97-AF65-F5344CB8AC3E}">
        <p14:creationId xmlns:p14="http://schemas.microsoft.com/office/powerpoint/2010/main" val="2744207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dirty="0">
                <a:latin typeface="Roboto Condensed" pitchFamily="2" charset="0"/>
                <a:ea typeface="Roboto Condensed" pitchFamily="2" charset="0"/>
              </a:rPr>
              <a:t>Characteristics of Food Foraging</a:t>
            </a: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6473371" y="2220686"/>
            <a:ext cx="5080000" cy="3884086"/>
          </a:xfrm>
        </p:spPr>
        <p:txBody>
          <a:bodyPr>
            <a:normAutofit fontScale="70000" lnSpcReduction="20000"/>
          </a:bodyPr>
          <a:lstStyle/>
          <a:p>
            <a:pPr algn="just"/>
            <a:r>
              <a:rPr lang="en-US" sz="4400" dirty="0"/>
              <a:t>the </a:t>
            </a:r>
            <a:r>
              <a:rPr lang="en-US" sz="4400" dirty="0" err="1"/>
              <a:t>Ju</a:t>
            </a:r>
            <a:r>
              <a:rPr lang="en-US" sz="4400" dirty="0"/>
              <a:t>/’</a:t>
            </a:r>
            <a:r>
              <a:rPr lang="en-US" sz="4400" dirty="0" err="1"/>
              <a:t>hoansi</a:t>
            </a:r>
            <a:r>
              <a:rPr lang="en-US" sz="4400" dirty="0"/>
              <a:t> in the Kalahari Desert of southern Africa, who depend on the reliable and highly drought-resistant </a:t>
            </a:r>
            <a:r>
              <a:rPr lang="en-US" sz="4400" dirty="0" err="1"/>
              <a:t>mongongo</a:t>
            </a:r>
            <a:r>
              <a:rPr lang="en-US" sz="4400" dirty="0"/>
              <a:t> nut, may keep to fairly fixed annual routes and cover only a restricted territory.</a:t>
            </a:r>
            <a:endParaRPr lang="en-US" sz="4400" dirty="0">
              <a:latin typeface="Roboto Condensed" pitchFamily="2" charset="0"/>
              <a:ea typeface="Roboto Condensed" pitchFamily="2" charset="0"/>
            </a:endParaRPr>
          </a:p>
        </p:txBody>
      </p:sp>
      <p:pic>
        <p:nvPicPr>
          <p:cNvPr id="4" name="Picture 3" descr="1537 NAMIBIA - Ju-Hoansi bushmen in Eastern Bushmanland.jpg"/>
          <p:cNvPicPr>
            <a:picLocks noChangeAspect="1"/>
          </p:cNvPicPr>
          <p:nvPr/>
        </p:nvPicPr>
        <p:blipFill>
          <a:blip r:embed="rId2" cstate="print"/>
          <a:stretch>
            <a:fillRect/>
          </a:stretch>
        </p:blipFill>
        <p:spPr>
          <a:xfrm>
            <a:off x="1951348" y="2423886"/>
            <a:ext cx="4043052" cy="3410857"/>
          </a:xfrm>
          <a:prstGeom prst="rect">
            <a:avLst/>
          </a:prstGeom>
        </p:spPr>
      </p:pic>
    </p:spTree>
    <p:extLst>
      <p:ext uri="{BB962C8B-B14F-4D97-AF65-F5344CB8AC3E}">
        <p14:creationId xmlns:p14="http://schemas.microsoft.com/office/powerpoint/2010/main" val="2744207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dirty="0">
                <a:latin typeface="Roboto Condensed" pitchFamily="2" charset="0"/>
                <a:ea typeface="Roboto Condensed" pitchFamily="2" charset="0"/>
              </a:rPr>
              <a:t>Characteristics of Food Foraging</a:t>
            </a: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320800" y="1941342"/>
            <a:ext cx="5965372" cy="4163430"/>
          </a:xfrm>
        </p:spPr>
        <p:txBody>
          <a:bodyPr>
            <a:normAutofit fontScale="62500" lnSpcReduction="20000"/>
          </a:bodyPr>
          <a:lstStyle/>
          <a:p>
            <a:pPr algn="just"/>
            <a:r>
              <a:rPr lang="en-US" sz="4400" dirty="0"/>
              <a:t>Availability of water is essential:</a:t>
            </a:r>
          </a:p>
          <a:p>
            <a:pPr algn="just">
              <a:buNone/>
            </a:pPr>
            <a:endParaRPr lang="en-US" sz="4400" dirty="0"/>
          </a:p>
          <a:p>
            <a:pPr algn="just">
              <a:buNone/>
            </a:pPr>
            <a:r>
              <a:rPr lang="en-US" sz="4400" dirty="0"/>
              <a:t>   A crucial factor in this mobility is availability of water. </a:t>
            </a:r>
          </a:p>
          <a:p>
            <a:pPr algn="just"/>
            <a:endParaRPr lang="en-US" sz="4400" dirty="0"/>
          </a:p>
          <a:p>
            <a:pPr algn="just">
              <a:buNone/>
            </a:pPr>
            <a:r>
              <a:rPr lang="en-US" sz="4400" dirty="0"/>
              <a:t>   The distance between the food supply and water must not be so great that more energy is required to fetch water than can be obtained from the food.</a:t>
            </a:r>
          </a:p>
          <a:p>
            <a:pPr algn="just"/>
            <a:endParaRPr lang="en-US" sz="4400" dirty="0">
              <a:latin typeface="Roboto Condensed" pitchFamily="2" charset="0"/>
              <a:ea typeface="Roboto Condensed" pitchFamily="2" charset="0"/>
            </a:endParaRPr>
          </a:p>
        </p:txBody>
      </p:sp>
      <p:pic>
        <p:nvPicPr>
          <p:cNvPr id="4" name="Picture 3" descr="download (5).jpg"/>
          <p:cNvPicPr>
            <a:picLocks noChangeAspect="1"/>
          </p:cNvPicPr>
          <p:nvPr/>
        </p:nvPicPr>
        <p:blipFill>
          <a:blip r:embed="rId2"/>
          <a:stretch>
            <a:fillRect/>
          </a:stretch>
        </p:blipFill>
        <p:spPr>
          <a:xfrm>
            <a:off x="7924801" y="1959429"/>
            <a:ext cx="3918856" cy="4238172"/>
          </a:xfrm>
          <a:prstGeom prst="rect">
            <a:avLst/>
          </a:prstGeom>
        </p:spPr>
      </p:pic>
    </p:spTree>
    <p:extLst>
      <p:ext uri="{BB962C8B-B14F-4D97-AF65-F5344CB8AC3E}">
        <p14:creationId xmlns:p14="http://schemas.microsoft.com/office/powerpoint/2010/main" val="2744207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dirty="0">
                <a:latin typeface="Roboto Condensed" pitchFamily="2" charset="0"/>
                <a:ea typeface="Roboto Condensed" pitchFamily="2" charset="0"/>
              </a:rPr>
              <a:t>Characteristics of Food Foraging</a:t>
            </a: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320800" y="1941342"/>
            <a:ext cx="5965372" cy="4163430"/>
          </a:xfrm>
        </p:spPr>
        <p:txBody>
          <a:bodyPr>
            <a:normAutofit fontScale="92500" lnSpcReduction="10000"/>
          </a:bodyPr>
          <a:lstStyle/>
          <a:p>
            <a:pPr algn="just"/>
            <a:r>
              <a:rPr lang="en-US" sz="4400" dirty="0"/>
              <a:t>Small group:</a:t>
            </a:r>
          </a:p>
          <a:p>
            <a:pPr algn="just">
              <a:buNone/>
            </a:pPr>
            <a:r>
              <a:rPr lang="en-US" sz="4400" dirty="0"/>
              <a:t>Another characteristic of the food-foraging adaptation is the small size of local groups, typically fewer than a hundred people.</a:t>
            </a:r>
            <a:endParaRPr lang="en-US" sz="4400" dirty="0">
              <a:latin typeface="Roboto Condensed" pitchFamily="2" charset="0"/>
              <a:ea typeface="Roboto Condensed" pitchFamily="2" charset="0"/>
            </a:endParaRPr>
          </a:p>
        </p:txBody>
      </p:sp>
      <p:pic>
        <p:nvPicPr>
          <p:cNvPr id="4" name="Picture 3" descr="hunting-for-game.jpg"/>
          <p:cNvPicPr>
            <a:picLocks noChangeAspect="1"/>
          </p:cNvPicPr>
          <p:nvPr/>
        </p:nvPicPr>
        <p:blipFill>
          <a:blip r:embed="rId2"/>
          <a:stretch>
            <a:fillRect/>
          </a:stretch>
        </p:blipFill>
        <p:spPr>
          <a:xfrm>
            <a:off x="7431314" y="2380342"/>
            <a:ext cx="4470399" cy="3810907"/>
          </a:xfrm>
          <a:prstGeom prst="rect">
            <a:avLst/>
          </a:prstGeom>
        </p:spPr>
      </p:pic>
    </p:spTree>
    <p:extLst>
      <p:ext uri="{BB962C8B-B14F-4D97-AF65-F5344CB8AC3E}">
        <p14:creationId xmlns:p14="http://schemas.microsoft.com/office/powerpoint/2010/main" val="2744207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dirty="0">
                <a:latin typeface="Roboto Condensed" pitchFamily="2" charset="0"/>
                <a:ea typeface="Roboto Condensed" pitchFamily="2" charset="0"/>
              </a:rPr>
              <a:t>Characteristics of Food Foraging</a:t>
            </a: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320800" y="1941342"/>
            <a:ext cx="9448800" cy="4163430"/>
          </a:xfrm>
        </p:spPr>
        <p:txBody>
          <a:bodyPr>
            <a:normAutofit/>
          </a:bodyPr>
          <a:lstStyle/>
          <a:p>
            <a:pPr algn="just"/>
            <a:r>
              <a:rPr lang="en-US" sz="4400" dirty="0"/>
              <a:t>It may be more adaptive for a group to keep its numbers low rather than to expand indefinitely and risk destruction by a sudden and unexpected natural reduction in food resources.</a:t>
            </a:r>
            <a:endParaRPr lang="en-US" sz="4400" dirty="0">
              <a:latin typeface="Roboto Condensed" pitchFamily="2" charset="0"/>
              <a:ea typeface="Roboto Condensed" pitchFamily="2" charset="0"/>
            </a:endParaRPr>
          </a:p>
        </p:txBody>
      </p:sp>
    </p:spTree>
    <p:extLst>
      <p:ext uri="{BB962C8B-B14F-4D97-AF65-F5344CB8AC3E}">
        <p14:creationId xmlns:p14="http://schemas.microsoft.com/office/powerpoint/2010/main" val="27442071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dirty="0">
                <a:latin typeface="Roboto Condensed" pitchFamily="2" charset="0"/>
                <a:ea typeface="Roboto Condensed" pitchFamily="2" charset="0"/>
              </a:rPr>
              <a:t>Characteristics of Food Foraging</a:t>
            </a: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320800" y="1941342"/>
            <a:ext cx="9869714" cy="4163430"/>
          </a:xfrm>
        </p:spPr>
        <p:txBody>
          <a:bodyPr>
            <a:normAutofit fontScale="85000" lnSpcReduction="20000"/>
          </a:bodyPr>
          <a:lstStyle/>
          <a:p>
            <a:pPr algn="just"/>
            <a:r>
              <a:rPr lang="en-US" sz="4400" dirty="0"/>
              <a:t>Ample and Balance Diet:</a:t>
            </a:r>
          </a:p>
          <a:p>
            <a:pPr algn="just">
              <a:buNone/>
            </a:pPr>
            <a:r>
              <a:rPr lang="en-US" sz="4400" dirty="0"/>
              <a:t>  Anthropological research shows that forager diets are typically ample and balanced and that foragers are less likely to experience severe famine than farmers.</a:t>
            </a:r>
          </a:p>
          <a:p>
            <a:pPr algn="just"/>
            <a:endParaRPr lang="en-US" sz="4400" dirty="0"/>
          </a:p>
          <a:p>
            <a:pPr algn="just">
              <a:buNone/>
            </a:pPr>
            <a:r>
              <a:rPr lang="en-US" sz="4400" dirty="0"/>
              <a:t>  The material possessions of foragers may be limited, but so is their desire to a mass things. </a:t>
            </a:r>
          </a:p>
          <a:p>
            <a:pPr algn="just"/>
            <a:endParaRPr lang="en-US" sz="4400" dirty="0">
              <a:latin typeface="Roboto Condensed" pitchFamily="2" charset="0"/>
              <a:ea typeface="Roboto Condensed" pitchFamily="2" charset="0"/>
            </a:endParaRPr>
          </a:p>
        </p:txBody>
      </p:sp>
    </p:spTree>
    <p:extLst>
      <p:ext uri="{BB962C8B-B14F-4D97-AF65-F5344CB8AC3E}">
        <p14:creationId xmlns:p14="http://schemas.microsoft.com/office/powerpoint/2010/main" val="27442071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dirty="0">
                <a:latin typeface="Roboto Condensed" pitchFamily="2" charset="0"/>
                <a:ea typeface="Roboto Condensed" pitchFamily="2" charset="0"/>
              </a:rPr>
              <a:t>Characteristics of Food Foraging</a:t>
            </a: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320799" y="1941342"/>
            <a:ext cx="9811657" cy="4163430"/>
          </a:xfrm>
        </p:spPr>
        <p:txBody>
          <a:bodyPr>
            <a:normAutofit fontScale="77500" lnSpcReduction="20000"/>
          </a:bodyPr>
          <a:lstStyle/>
          <a:p>
            <a:pPr algn="just"/>
            <a:r>
              <a:rPr lang="en-US" sz="4400" dirty="0"/>
              <a:t>Leisure Time:</a:t>
            </a:r>
          </a:p>
          <a:p>
            <a:pPr algn="just">
              <a:buNone/>
            </a:pPr>
            <a:r>
              <a:rPr lang="en-US" sz="4400" dirty="0"/>
              <a:t>  They have plenty of leisure time for concentrating on family ties, social life, and spiritual development—apparently far more than people living in farming and industrial societies. </a:t>
            </a:r>
          </a:p>
          <a:p>
            <a:pPr algn="just"/>
            <a:endParaRPr lang="en-US" sz="4400" dirty="0"/>
          </a:p>
          <a:p>
            <a:pPr algn="just">
              <a:buNone/>
            </a:pPr>
            <a:r>
              <a:rPr lang="en-US" sz="4400" dirty="0"/>
              <a:t> Such findings clearly challenge the once widely held view that food foragers live a miserable existence.</a:t>
            </a:r>
          </a:p>
          <a:p>
            <a:pPr algn="just"/>
            <a:endParaRPr lang="en-US" sz="4400" dirty="0">
              <a:latin typeface="Roboto Condensed" pitchFamily="2" charset="0"/>
              <a:ea typeface="Roboto Condensed" pitchFamily="2" charset="0"/>
            </a:endParaRPr>
          </a:p>
        </p:txBody>
      </p:sp>
    </p:spTree>
    <p:extLst>
      <p:ext uri="{BB962C8B-B14F-4D97-AF65-F5344CB8AC3E}">
        <p14:creationId xmlns:p14="http://schemas.microsoft.com/office/powerpoint/2010/main" val="27442071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dirty="0">
                <a:latin typeface="Roboto Condensed" pitchFamily="2" charset="0"/>
                <a:ea typeface="Roboto Condensed" pitchFamily="2" charset="0"/>
              </a:rPr>
              <a:t>Number of foragers at present</a:t>
            </a: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857829" y="1941342"/>
            <a:ext cx="9535885" cy="4163430"/>
          </a:xfrm>
        </p:spPr>
        <p:txBody>
          <a:bodyPr>
            <a:normAutofit/>
          </a:bodyPr>
          <a:lstStyle/>
          <a:p>
            <a:pPr algn="just"/>
            <a:r>
              <a:rPr lang="en-US" sz="4400" dirty="0"/>
              <a:t>Today at most a quarter of a million people—less then 0.001 percent of the world population of about 6 billion—still support themselves mainly as foragers. </a:t>
            </a:r>
          </a:p>
          <a:p>
            <a:pPr algn="just"/>
            <a:endParaRPr lang="en-US" sz="4400" dirty="0">
              <a:latin typeface="Roboto Condensed" pitchFamily="2" charset="0"/>
              <a:ea typeface="Roboto Condensed" pitchFamily="2" charset="0"/>
            </a:endParaRPr>
          </a:p>
        </p:txBody>
      </p:sp>
    </p:spTree>
    <p:extLst>
      <p:ext uri="{BB962C8B-B14F-4D97-AF65-F5344CB8AC3E}">
        <p14:creationId xmlns:p14="http://schemas.microsoft.com/office/powerpoint/2010/main" val="27442071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dirty="0">
                <a:latin typeface="Roboto Condensed" pitchFamily="2" charset="0"/>
                <a:ea typeface="Roboto Condensed" pitchFamily="2" charset="0"/>
              </a:rPr>
              <a:t>Anthony Giddens</a:t>
            </a: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857829" y="1941342"/>
            <a:ext cx="9535885" cy="4163430"/>
          </a:xfrm>
        </p:spPr>
        <p:txBody>
          <a:bodyPr>
            <a:normAutofit fontScale="62500" lnSpcReduction="20000"/>
          </a:bodyPr>
          <a:lstStyle/>
          <a:p>
            <a:pPr algn="just"/>
            <a:r>
              <a:rPr lang="en-US" sz="4400" dirty="0"/>
              <a:t>Hunters and gatherers are not merely 'primitive' peoples whose ways of life no longer hold any interest for us. Studying their cultures allows us to see more clearly that modern institutions are far from being 'natural' features of all human life. Of course, we should not idealize the circumstances in which hunters and gatherers have lived, but, nonetheless, the absence of war, the lack of major inequalities of wealth and power and the emphasis on cooperation rather than competition are all instructive reminders that the world created by modern industrial civilization is not necessarily to be equated in any obvious way with 'progress</a:t>
            </a:r>
            <a:endParaRPr lang="en-US" sz="4400" dirty="0">
              <a:latin typeface="Roboto Condensed" pitchFamily="2" charset="0"/>
              <a:ea typeface="Roboto Condensed" pitchFamily="2" charset="0"/>
            </a:endParaRPr>
          </a:p>
        </p:txBody>
      </p:sp>
    </p:spTree>
    <p:extLst>
      <p:ext uri="{BB962C8B-B14F-4D97-AF65-F5344CB8AC3E}">
        <p14:creationId xmlns:p14="http://schemas.microsoft.com/office/powerpoint/2010/main" val="1519814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857829" y="1941342"/>
            <a:ext cx="9535885" cy="4163430"/>
          </a:xfrm>
        </p:spPr>
        <p:txBody>
          <a:bodyPr>
            <a:normAutofit/>
          </a:bodyPr>
          <a:lstStyle/>
          <a:p>
            <a:pPr algn="just"/>
            <a:endParaRPr lang="en-US" sz="6000" dirty="0">
              <a:solidFill>
                <a:srgbClr val="FF0000"/>
              </a:solidFill>
              <a:latin typeface="Roboto Condensed" pitchFamily="2" charset="0"/>
              <a:ea typeface="Roboto Condensed" pitchFamily="2" charset="0"/>
            </a:endParaRPr>
          </a:p>
          <a:p>
            <a:pPr algn="ctr">
              <a:buNone/>
            </a:pPr>
            <a:r>
              <a:rPr lang="en-US" sz="6000" dirty="0">
                <a:solidFill>
                  <a:srgbClr val="FF0000"/>
                </a:solidFill>
                <a:latin typeface="Roboto Condensed" pitchFamily="2" charset="0"/>
                <a:ea typeface="Roboto Condensed" pitchFamily="2" charset="0"/>
              </a:rPr>
              <a:t>Food producing societies </a:t>
            </a:r>
          </a:p>
        </p:txBody>
      </p:sp>
    </p:spTree>
    <p:extLst>
      <p:ext uri="{BB962C8B-B14F-4D97-AF65-F5344CB8AC3E}">
        <p14:creationId xmlns:p14="http://schemas.microsoft.com/office/powerpoint/2010/main" val="27442071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dirty="0">
                <a:latin typeface="Roboto Condensed" pitchFamily="2" charset="0"/>
                <a:ea typeface="Roboto Condensed" pitchFamily="2" charset="0"/>
              </a:rPr>
              <a:t>Food producing societies</a:t>
            </a: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857829" y="1941342"/>
            <a:ext cx="9535885" cy="4163430"/>
          </a:xfrm>
        </p:spPr>
        <p:txBody>
          <a:bodyPr>
            <a:normAutofit fontScale="77500" lnSpcReduction="20000"/>
          </a:bodyPr>
          <a:lstStyle/>
          <a:p>
            <a:pPr algn="just"/>
            <a:r>
              <a:rPr lang="en-US" sz="4400" dirty="0"/>
              <a:t>The domestication of plants and animals began about 12,000 years ago. </a:t>
            </a:r>
          </a:p>
          <a:p>
            <a:pPr algn="just">
              <a:buNone/>
            </a:pPr>
            <a:endParaRPr lang="en-US" sz="4400" dirty="0"/>
          </a:p>
          <a:p>
            <a:pPr algn="just"/>
            <a:r>
              <a:rPr lang="en-US" sz="4400" dirty="0"/>
              <a:t>It led to radical transformations in cultural systems.</a:t>
            </a:r>
          </a:p>
          <a:p>
            <a:pPr algn="just">
              <a:buNone/>
            </a:pPr>
            <a:endParaRPr lang="en-US" sz="4400" dirty="0"/>
          </a:p>
          <a:p>
            <a:pPr algn="just"/>
            <a:r>
              <a:rPr lang="en-US" sz="4400" dirty="0"/>
              <a:t>Producers developed new social and economic patterns based either on plant cultivation or pastoralism.</a:t>
            </a:r>
          </a:p>
          <a:p>
            <a:pPr algn="just"/>
            <a:endParaRPr lang="en-US" sz="4400" dirty="0">
              <a:latin typeface="Roboto Condensed" pitchFamily="2" charset="0"/>
              <a:ea typeface="Roboto Condensed" pitchFamily="2" charset="0"/>
            </a:endParaRPr>
          </a:p>
        </p:txBody>
      </p:sp>
    </p:spTree>
    <p:extLst>
      <p:ext uri="{BB962C8B-B14F-4D97-AF65-F5344CB8AC3E}">
        <p14:creationId xmlns:p14="http://schemas.microsoft.com/office/powerpoint/2010/main" val="27442071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dirty="0">
                <a:latin typeface="Roboto Condensed" pitchFamily="2" charset="0"/>
                <a:ea typeface="Roboto Condensed" pitchFamily="2" charset="0"/>
              </a:rPr>
              <a:t>Horticulture</a:t>
            </a: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857829" y="1941342"/>
            <a:ext cx="6168571" cy="4163430"/>
          </a:xfrm>
        </p:spPr>
        <p:txBody>
          <a:bodyPr>
            <a:normAutofit fontScale="92500"/>
          </a:bodyPr>
          <a:lstStyle/>
          <a:p>
            <a:pPr algn="just"/>
            <a:r>
              <a:rPr lang="en-US" sz="4400" dirty="0">
                <a:latin typeface="Roboto Condensed" pitchFamily="2" charset="0"/>
                <a:ea typeface="Roboto Condensed" pitchFamily="2" charset="0"/>
              </a:rPr>
              <a:t>Horticulture is an adaptive system in which </a:t>
            </a:r>
            <a:r>
              <a:rPr lang="en-US" sz="4400" dirty="0"/>
              <a:t>small communities of gardeners work with simple hand tools, using neither irrigation nor the plow.  </a:t>
            </a:r>
            <a:endParaRPr lang="en-US" sz="4400" dirty="0">
              <a:latin typeface="Roboto Condensed" pitchFamily="2" charset="0"/>
              <a:ea typeface="Roboto Condensed" pitchFamily="2" charset="0"/>
            </a:endParaRPr>
          </a:p>
        </p:txBody>
      </p:sp>
      <p:pic>
        <p:nvPicPr>
          <p:cNvPr id="4" name="Picture 3" descr="istockphoto-1323663582-612x612.jpg"/>
          <p:cNvPicPr>
            <a:picLocks noChangeAspect="1"/>
          </p:cNvPicPr>
          <p:nvPr/>
        </p:nvPicPr>
        <p:blipFill>
          <a:blip r:embed="rId2"/>
          <a:stretch>
            <a:fillRect/>
          </a:stretch>
        </p:blipFill>
        <p:spPr>
          <a:xfrm>
            <a:off x="8345714" y="2191657"/>
            <a:ext cx="3352799" cy="3657600"/>
          </a:xfrm>
          <a:prstGeom prst="rect">
            <a:avLst/>
          </a:prstGeom>
        </p:spPr>
      </p:pic>
    </p:spTree>
    <p:extLst>
      <p:ext uri="{BB962C8B-B14F-4D97-AF65-F5344CB8AC3E}">
        <p14:creationId xmlns:p14="http://schemas.microsoft.com/office/powerpoint/2010/main" val="27442071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dirty="0">
                <a:latin typeface="Roboto Condensed" pitchFamily="2" charset="0"/>
                <a:ea typeface="Roboto Condensed" pitchFamily="2" charset="0"/>
              </a:rPr>
              <a:t>Horticulture</a:t>
            </a: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567543" y="1567542"/>
            <a:ext cx="6720114" cy="5290457"/>
          </a:xfrm>
        </p:spPr>
        <p:txBody>
          <a:bodyPr>
            <a:noAutofit/>
          </a:bodyPr>
          <a:lstStyle/>
          <a:p>
            <a:pPr algn="just"/>
            <a:r>
              <a:rPr lang="en-US" sz="2800" dirty="0"/>
              <a:t>A horticultural way of life involves producing enough food for the group’s subsistence.</a:t>
            </a:r>
          </a:p>
          <a:p>
            <a:pPr algn="just">
              <a:buNone/>
            </a:pPr>
            <a:endParaRPr lang="en-US" sz="2800" dirty="0"/>
          </a:p>
          <a:p>
            <a:pPr algn="just"/>
            <a:r>
              <a:rPr lang="en-US" sz="2800" dirty="0"/>
              <a:t>They often can (and sometimes do) produce more than they need for purposes such as inter-village feasts and exchange.</a:t>
            </a:r>
          </a:p>
          <a:p>
            <a:pPr algn="just">
              <a:buNone/>
            </a:pPr>
            <a:endParaRPr lang="en-US" sz="2800" dirty="0"/>
          </a:p>
          <a:p>
            <a:pPr algn="just"/>
            <a:r>
              <a:rPr lang="en-US" sz="2800" dirty="0"/>
              <a:t>Horticulturists do not produce a surplus to sell on the market</a:t>
            </a:r>
            <a:endParaRPr lang="en-US" sz="2800" dirty="0">
              <a:latin typeface="Roboto Condensed" pitchFamily="2" charset="0"/>
              <a:ea typeface="Roboto Condensed" pitchFamily="2" charset="0"/>
            </a:endParaRPr>
          </a:p>
        </p:txBody>
      </p:sp>
      <p:pic>
        <p:nvPicPr>
          <p:cNvPr id="4" name="Picture 3" descr="istockphoto-1323663582-612x612.jpg"/>
          <p:cNvPicPr>
            <a:picLocks noChangeAspect="1"/>
          </p:cNvPicPr>
          <p:nvPr/>
        </p:nvPicPr>
        <p:blipFill>
          <a:blip r:embed="rId2"/>
          <a:stretch>
            <a:fillRect/>
          </a:stretch>
        </p:blipFill>
        <p:spPr>
          <a:xfrm>
            <a:off x="8563429" y="1828800"/>
            <a:ext cx="3352800" cy="4020457"/>
          </a:xfrm>
          <a:prstGeom prst="rect">
            <a:avLst/>
          </a:prstGeom>
        </p:spPr>
      </p:pic>
    </p:spTree>
    <p:extLst>
      <p:ext uri="{BB962C8B-B14F-4D97-AF65-F5344CB8AC3E}">
        <p14:creationId xmlns:p14="http://schemas.microsoft.com/office/powerpoint/2010/main" val="27442071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dirty="0">
                <a:latin typeface="Roboto Condensed" pitchFamily="2" charset="0"/>
                <a:ea typeface="Roboto Condensed" pitchFamily="2" charset="0"/>
              </a:rPr>
              <a:t>Horticulture (example)</a:t>
            </a: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567543" y="1567543"/>
            <a:ext cx="6720114" cy="4804228"/>
          </a:xfrm>
        </p:spPr>
        <p:txBody>
          <a:bodyPr>
            <a:noAutofit/>
          </a:bodyPr>
          <a:lstStyle/>
          <a:p>
            <a:pPr algn="just"/>
            <a:r>
              <a:rPr lang="en-US" dirty="0"/>
              <a:t>Horticulturalists typically rely on slash-and-burn techniques. Farmers clear land by cutting down (slashing) trees, saplings, and brush. </a:t>
            </a:r>
          </a:p>
          <a:p>
            <a:pPr algn="just">
              <a:buNone/>
            </a:pPr>
            <a:endParaRPr lang="en-US" dirty="0"/>
          </a:p>
          <a:p>
            <a:pPr algn="just"/>
            <a:r>
              <a:rPr lang="en-US" dirty="0"/>
              <a:t>Then they burn that vegetation. They also may set fire directly to grasses and weeds on their farm plots before planting. </a:t>
            </a:r>
            <a:endParaRPr lang="en-US" dirty="0">
              <a:latin typeface="Roboto Condensed" pitchFamily="2" charset="0"/>
              <a:ea typeface="Roboto Condensed" pitchFamily="2" charset="0"/>
            </a:endParaRPr>
          </a:p>
        </p:txBody>
      </p:sp>
      <p:pic>
        <p:nvPicPr>
          <p:cNvPr id="5" name="Picture 4" descr="XbEwk8IRLCo2RjKtPqmm_slash-burn-guatemala.jpg"/>
          <p:cNvPicPr>
            <a:picLocks noChangeAspect="1"/>
          </p:cNvPicPr>
          <p:nvPr/>
        </p:nvPicPr>
        <p:blipFill>
          <a:blip r:embed="rId2"/>
          <a:stretch>
            <a:fillRect/>
          </a:stretch>
        </p:blipFill>
        <p:spPr>
          <a:xfrm>
            <a:off x="8316685" y="1770764"/>
            <a:ext cx="3701143" cy="3955143"/>
          </a:xfrm>
          <a:prstGeom prst="rect">
            <a:avLst/>
          </a:prstGeom>
        </p:spPr>
      </p:pic>
    </p:spTree>
    <p:extLst>
      <p:ext uri="{BB962C8B-B14F-4D97-AF65-F5344CB8AC3E}">
        <p14:creationId xmlns:p14="http://schemas.microsoft.com/office/powerpoint/2010/main" val="27442071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dirty="0">
                <a:latin typeface="Roboto Condensed" pitchFamily="2" charset="0"/>
                <a:ea typeface="Roboto Condensed" pitchFamily="2" charset="0"/>
              </a:rPr>
              <a:t>Horticulture (example)</a:t>
            </a: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567543" y="1567543"/>
            <a:ext cx="6720114" cy="5065486"/>
          </a:xfrm>
        </p:spPr>
        <p:txBody>
          <a:bodyPr>
            <a:noAutofit/>
          </a:bodyPr>
          <a:lstStyle/>
          <a:p>
            <a:pPr algn="just"/>
            <a:r>
              <a:rPr lang="en-US" dirty="0"/>
              <a:t>Slashing and burning not only gets rid of unwanted vegetation, but it also kills pests and provides ashes that help fertilize the soil. </a:t>
            </a:r>
          </a:p>
          <a:p>
            <a:pPr algn="just"/>
            <a:r>
              <a:rPr lang="en-US" dirty="0"/>
              <a:t>The farmers then sow, tend, and harvest their crops on the cleared plot.</a:t>
            </a:r>
          </a:p>
          <a:p>
            <a:pPr algn="just"/>
            <a:r>
              <a:rPr lang="en-US" dirty="0" err="1"/>
              <a:t>Kuikuru</a:t>
            </a:r>
            <a:r>
              <a:rPr lang="en-US" dirty="0"/>
              <a:t> of the South American tropical forest relied on horticulture for long time.</a:t>
            </a:r>
            <a:endParaRPr lang="en-US" dirty="0">
              <a:latin typeface="Roboto Condensed" pitchFamily="2" charset="0"/>
              <a:ea typeface="Roboto Condensed" pitchFamily="2" charset="0"/>
            </a:endParaRPr>
          </a:p>
        </p:txBody>
      </p:sp>
      <p:pic>
        <p:nvPicPr>
          <p:cNvPr id="5" name="Picture 4" descr="XbEwk8IRLCo2RjKtPqmm_slash-burn-guatemala.jpg"/>
          <p:cNvPicPr>
            <a:picLocks noChangeAspect="1"/>
          </p:cNvPicPr>
          <p:nvPr/>
        </p:nvPicPr>
        <p:blipFill>
          <a:blip r:embed="rId2"/>
          <a:stretch>
            <a:fillRect/>
          </a:stretch>
        </p:blipFill>
        <p:spPr>
          <a:xfrm>
            <a:off x="8316685" y="1770764"/>
            <a:ext cx="3701143" cy="4455865"/>
          </a:xfrm>
          <a:prstGeom prst="rect">
            <a:avLst/>
          </a:prstGeom>
        </p:spPr>
      </p:pic>
    </p:spTree>
    <p:extLst>
      <p:ext uri="{BB962C8B-B14F-4D97-AF65-F5344CB8AC3E}">
        <p14:creationId xmlns:p14="http://schemas.microsoft.com/office/powerpoint/2010/main" val="27442071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dirty="0">
                <a:latin typeface="Roboto Condensed" pitchFamily="2" charset="0"/>
                <a:ea typeface="Roboto Condensed" pitchFamily="2" charset="0"/>
              </a:rPr>
              <a:t>Crop cultivation: Agriculture</a:t>
            </a: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567543" y="1567543"/>
            <a:ext cx="5965371" cy="5065486"/>
          </a:xfrm>
        </p:spPr>
        <p:txBody>
          <a:bodyPr>
            <a:noAutofit/>
          </a:bodyPr>
          <a:lstStyle/>
          <a:p>
            <a:pPr algn="just"/>
            <a:r>
              <a:rPr lang="en-US" dirty="0"/>
              <a:t>In contrast to horticulture, agriculture is crop cultivation that involves using technologies other than hand tools, such as</a:t>
            </a:r>
          </a:p>
          <a:p>
            <a:pPr algn="just">
              <a:buFontTx/>
              <a:buChar char="-"/>
            </a:pPr>
            <a:r>
              <a:rPr lang="en-US" dirty="0"/>
              <a:t> irrigation</a:t>
            </a:r>
          </a:p>
          <a:p>
            <a:pPr algn="just">
              <a:buFontTx/>
              <a:buChar char="-"/>
            </a:pPr>
            <a:r>
              <a:rPr lang="en-US" dirty="0"/>
              <a:t>fertilizers, and </a:t>
            </a:r>
          </a:p>
          <a:p>
            <a:pPr algn="just">
              <a:buFontTx/>
              <a:buChar char="-"/>
            </a:pPr>
            <a:r>
              <a:rPr lang="en-US" dirty="0"/>
              <a:t>the wooden or metal plow pulled by harnessed draft animals</a:t>
            </a:r>
            <a:endParaRPr lang="en-US" dirty="0">
              <a:latin typeface="Roboto Condensed" pitchFamily="2" charset="0"/>
              <a:ea typeface="Roboto Condensed" pitchFamily="2" charset="0"/>
            </a:endParaRPr>
          </a:p>
        </p:txBody>
      </p:sp>
      <p:pic>
        <p:nvPicPr>
          <p:cNvPr id="6" name="Picture 5" descr="images (2).jpg"/>
          <p:cNvPicPr>
            <a:picLocks noChangeAspect="1"/>
          </p:cNvPicPr>
          <p:nvPr/>
        </p:nvPicPr>
        <p:blipFill>
          <a:blip r:embed="rId2"/>
          <a:stretch>
            <a:fillRect/>
          </a:stretch>
        </p:blipFill>
        <p:spPr>
          <a:xfrm>
            <a:off x="8026400" y="1788205"/>
            <a:ext cx="3831771" cy="4278766"/>
          </a:xfrm>
          <a:prstGeom prst="rect">
            <a:avLst/>
          </a:prstGeom>
        </p:spPr>
      </p:pic>
    </p:spTree>
    <p:extLst>
      <p:ext uri="{BB962C8B-B14F-4D97-AF65-F5344CB8AC3E}">
        <p14:creationId xmlns:p14="http://schemas.microsoft.com/office/powerpoint/2010/main" val="27442071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dirty="0">
                <a:latin typeface="Roboto Condensed" pitchFamily="2" charset="0"/>
                <a:ea typeface="Roboto Condensed" pitchFamily="2" charset="0"/>
              </a:rPr>
              <a:t>Crop cultivation: Agriculture</a:t>
            </a: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567543" y="1567543"/>
            <a:ext cx="5965371" cy="5065486"/>
          </a:xfrm>
        </p:spPr>
        <p:txBody>
          <a:bodyPr>
            <a:noAutofit/>
          </a:bodyPr>
          <a:lstStyle/>
          <a:p>
            <a:pPr algn="just"/>
            <a:endParaRPr lang="en-US" dirty="0"/>
          </a:p>
          <a:p>
            <a:pPr algn="just"/>
            <a:endParaRPr lang="en-US" dirty="0"/>
          </a:p>
          <a:p>
            <a:pPr algn="just"/>
            <a:r>
              <a:rPr lang="en-US" dirty="0"/>
              <a:t>In the so-called developed countries of the world, it relies on fuel-powered tractors to produce food on larger plots of land.</a:t>
            </a:r>
            <a:endParaRPr lang="en-US" dirty="0">
              <a:latin typeface="Roboto Condensed" pitchFamily="2" charset="0"/>
              <a:ea typeface="Roboto Condensed" pitchFamily="2" charset="0"/>
            </a:endParaRPr>
          </a:p>
        </p:txBody>
      </p:sp>
      <p:pic>
        <p:nvPicPr>
          <p:cNvPr id="6" name="Picture 5" descr="images (2).jpg"/>
          <p:cNvPicPr>
            <a:picLocks noChangeAspect="1"/>
          </p:cNvPicPr>
          <p:nvPr/>
        </p:nvPicPr>
        <p:blipFill>
          <a:blip r:embed="rId2"/>
          <a:stretch>
            <a:fillRect/>
          </a:stretch>
        </p:blipFill>
        <p:spPr>
          <a:xfrm>
            <a:off x="8026400" y="1788205"/>
            <a:ext cx="3831771" cy="4278766"/>
          </a:xfrm>
          <a:prstGeom prst="rect">
            <a:avLst/>
          </a:prstGeom>
        </p:spPr>
      </p:pic>
    </p:spTree>
    <p:extLst>
      <p:ext uri="{BB962C8B-B14F-4D97-AF65-F5344CB8AC3E}">
        <p14:creationId xmlns:p14="http://schemas.microsoft.com/office/powerpoint/2010/main" val="27442071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dirty="0">
                <a:latin typeface="Roboto Condensed" pitchFamily="2" charset="0"/>
                <a:ea typeface="Roboto Condensed" pitchFamily="2" charset="0"/>
              </a:rPr>
              <a:t>Crop cultivation: Agriculture</a:t>
            </a: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567543" y="1567543"/>
            <a:ext cx="5965371" cy="5065486"/>
          </a:xfrm>
        </p:spPr>
        <p:txBody>
          <a:bodyPr>
            <a:noAutofit/>
          </a:bodyPr>
          <a:lstStyle/>
          <a:p>
            <a:pPr algn="just"/>
            <a:endParaRPr lang="en-US" dirty="0"/>
          </a:p>
          <a:p>
            <a:pPr algn="just"/>
            <a:r>
              <a:rPr lang="en-US" dirty="0"/>
              <a:t>In contrast to horticulturists, agriculturists are able to grow </a:t>
            </a:r>
            <a:r>
              <a:rPr lang="en-US" dirty="0">
                <a:solidFill>
                  <a:srgbClr val="FF0000"/>
                </a:solidFill>
              </a:rPr>
              <a:t>surplus food—providing </a:t>
            </a:r>
            <a:r>
              <a:rPr lang="en-US" dirty="0"/>
              <a:t>not only for their own needs but for those of </a:t>
            </a:r>
            <a:r>
              <a:rPr lang="en-US" dirty="0">
                <a:solidFill>
                  <a:srgbClr val="FF0000"/>
                </a:solidFill>
              </a:rPr>
              <a:t>various full-time specialists and nonproducing consumers </a:t>
            </a:r>
            <a:r>
              <a:rPr lang="en-US" dirty="0"/>
              <a:t>as well. </a:t>
            </a:r>
            <a:endParaRPr lang="en-US" dirty="0">
              <a:latin typeface="Roboto Condensed" pitchFamily="2" charset="0"/>
              <a:ea typeface="Roboto Condensed" pitchFamily="2" charset="0"/>
            </a:endParaRPr>
          </a:p>
        </p:txBody>
      </p:sp>
      <p:pic>
        <p:nvPicPr>
          <p:cNvPr id="6" name="Picture 5" descr="images (2).jpg"/>
          <p:cNvPicPr>
            <a:picLocks noChangeAspect="1"/>
          </p:cNvPicPr>
          <p:nvPr/>
        </p:nvPicPr>
        <p:blipFill>
          <a:blip r:embed="rId2"/>
          <a:stretch>
            <a:fillRect/>
          </a:stretch>
        </p:blipFill>
        <p:spPr>
          <a:xfrm>
            <a:off x="8026400" y="1788205"/>
            <a:ext cx="3831771" cy="4278766"/>
          </a:xfrm>
          <a:prstGeom prst="rect">
            <a:avLst/>
          </a:prstGeom>
        </p:spPr>
      </p:pic>
    </p:spTree>
    <p:extLst>
      <p:ext uri="{BB962C8B-B14F-4D97-AF65-F5344CB8AC3E}">
        <p14:creationId xmlns:p14="http://schemas.microsoft.com/office/powerpoint/2010/main" val="27442071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dirty="0">
                <a:latin typeface="Roboto Condensed" pitchFamily="2" charset="0"/>
                <a:ea typeface="Roboto Condensed" pitchFamily="2" charset="0"/>
              </a:rPr>
              <a:t>Crop cultivation: Agriculture</a:t>
            </a: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567543" y="1567543"/>
            <a:ext cx="5965371" cy="5065486"/>
          </a:xfrm>
        </p:spPr>
        <p:txBody>
          <a:bodyPr>
            <a:noAutofit/>
          </a:bodyPr>
          <a:lstStyle/>
          <a:p>
            <a:pPr algn="just"/>
            <a:r>
              <a:rPr lang="en-US" dirty="0"/>
              <a:t>This surplus may be sold for cash, or it may be coerced out of the farmers through tribute, taxes, or rent paid to landowners.</a:t>
            </a:r>
          </a:p>
          <a:p>
            <a:pPr algn="just"/>
            <a:endParaRPr lang="en-US" dirty="0">
              <a:latin typeface="Roboto Condensed" pitchFamily="2" charset="0"/>
              <a:ea typeface="Roboto Condensed" pitchFamily="2" charset="0"/>
            </a:endParaRPr>
          </a:p>
          <a:p>
            <a:pPr algn="just"/>
            <a:r>
              <a:rPr lang="en-US" dirty="0">
                <a:latin typeface="Roboto Condensed" pitchFamily="2" charset="0"/>
                <a:ea typeface="Roboto Condensed" pitchFamily="2" charset="0"/>
              </a:rPr>
              <a:t>Example, USA, Bangladesh, India</a:t>
            </a:r>
          </a:p>
        </p:txBody>
      </p:sp>
      <p:pic>
        <p:nvPicPr>
          <p:cNvPr id="6" name="Picture 5" descr="images (2).jpg"/>
          <p:cNvPicPr>
            <a:picLocks noChangeAspect="1"/>
          </p:cNvPicPr>
          <p:nvPr/>
        </p:nvPicPr>
        <p:blipFill>
          <a:blip r:embed="rId2"/>
          <a:stretch>
            <a:fillRect/>
          </a:stretch>
        </p:blipFill>
        <p:spPr>
          <a:xfrm>
            <a:off x="8026400" y="1788205"/>
            <a:ext cx="3831771" cy="4278766"/>
          </a:xfrm>
          <a:prstGeom prst="rect">
            <a:avLst/>
          </a:prstGeom>
        </p:spPr>
      </p:pic>
    </p:spTree>
    <p:extLst>
      <p:ext uri="{BB962C8B-B14F-4D97-AF65-F5344CB8AC3E}">
        <p14:creationId xmlns:p14="http://schemas.microsoft.com/office/powerpoint/2010/main" val="27442071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dirty="0">
                <a:latin typeface="Roboto Condensed" pitchFamily="2" charset="0"/>
                <a:ea typeface="Roboto Condensed" pitchFamily="2" charset="0"/>
              </a:rPr>
              <a:t>Feudalism </a:t>
            </a: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567543" y="1567543"/>
            <a:ext cx="6404149" cy="5065486"/>
          </a:xfrm>
        </p:spPr>
        <p:txBody>
          <a:bodyPr>
            <a:noAutofit/>
          </a:bodyPr>
          <a:lstStyle/>
          <a:p>
            <a:pPr algn="just"/>
            <a:r>
              <a:rPr lang="en-GB" b="1" dirty="0"/>
              <a:t>Feudalism </a:t>
            </a:r>
            <a:r>
              <a:rPr lang="en-GB" dirty="0"/>
              <a:t>was a form of society based on ownership of land.  Unlike today's farmers, vassals under feudalism were bound  to cultivating their lord's land. </a:t>
            </a:r>
          </a:p>
          <a:p>
            <a:pPr algn="just"/>
            <a:r>
              <a:rPr lang="en-GB" dirty="0"/>
              <a:t>In exchange for military protection, the lords exploited the peasants into providing food, crops, crafts, homage, and other  services to the landowner. </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21002" y="2411604"/>
            <a:ext cx="3390582" cy="2922395"/>
          </a:xfrm>
          <a:prstGeom prst="rect">
            <a:avLst/>
          </a:prstGeom>
        </p:spPr>
      </p:pic>
    </p:spTree>
    <p:extLst>
      <p:ext uri="{BB962C8B-B14F-4D97-AF65-F5344CB8AC3E}">
        <p14:creationId xmlns:p14="http://schemas.microsoft.com/office/powerpoint/2010/main" val="3462866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dirty="0" err="1">
                <a:latin typeface="Roboto Condensed" pitchFamily="2" charset="0"/>
                <a:ea typeface="Roboto Condensed" pitchFamily="2" charset="0"/>
              </a:rPr>
              <a:t>Pastoralism</a:t>
            </a:r>
            <a:endParaRPr lang="en-US" sz="4800" dirty="0">
              <a:latin typeface="Roboto Condensed" pitchFamily="2" charset="0"/>
              <a:ea typeface="Roboto Condensed" pitchFamily="2" charset="0"/>
            </a:endParaRP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567543" y="1567543"/>
            <a:ext cx="5965371" cy="5065486"/>
          </a:xfrm>
        </p:spPr>
        <p:txBody>
          <a:bodyPr>
            <a:noAutofit/>
          </a:bodyPr>
          <a:lstStyle/>
          <a:p>
            <a:pPr algn="just"/>
            <a:r>
              <a:rPr lang="en-US" dirty="0"/>
              <a:t>Herders, or pastoralists, are people whose activities focus on such domesticated animals as cattle, sheep, goats, camels, and reindeer. </a:t>
            </a:r>
          </a:p>
          <a:p>
            <a:pPr algn="just">
              <a:buNone/>
            </a:pPr>
            <a:endParaRPr lang="en-US" dirty="0"/>
          </a:p>
          <a:p>
            <a:pPr algn="just"/>
            <a:r>
              <a:rPr lang="en-US" dirty="0"/>
              <a:t>They live in northern and sub-Saharan Africa, the Middle East, Europe, and Asia. </a:t>
            </a:r>
            <a:endParaRPr lang="en-US" dirty="0">
              <a:latin typeface="Roboto Condensed" pitchFamily="2" charset="0"/>
              <a:ea typeface="Roboto Condensed" pitchFamily="2" charset="0"/>
            </a:endParaRPr>
          </a:p>
        </p:txBody>
      </p:sp>
      <p:pic>
        <p:nvPicPr>
          <p:cNvPr id="5" name="Picture 4" descr="DGSahel22-FAO_24969_107.jpg"/>
          <p:cNvPicPr>
            <a:picLocks noChangeAspect="1"/>
          </p:cNvPicPr>
          <p:nvPr/>
        </p:nvPicPr>
        <p:blipFill>
          <a:blip r:embed="rId2" cstate="print"/>
          <a:stretch>
            <a:fillRect/>
          </a:stretch>
        </p:blipFill>
        <p:spPr>
          <a:xfrm>
            <a:off x="8142514" y="1582378"/>
            <a:ext cx="3802742" cy="4513621"/>
          </a:xfrm>
          <a:prstGeom prst="rect">
            <a:avLst/>
          </a:prstGeom>
        </p:spPr>
      </p:pic>
    </p:spTree>
    <p:extLst>
      <p:ext uri="{BB962C8B-B14F-4D97-AF65-F5344CB8AC3E}">
        <p14:creationId xmlns:p14="http://schemas.microsoft.com/office/powerpoint/2010/main" val="27442071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dirty="0" err="1">
                <a:latin typeface="Roboto Condensed" pitchFamily="2" charset="0"/>
                <a:ea typeface="Roboto Condensed" pitchFamily="2" charset="0"/>
              </a:rPr>
              <a:t>Pastoralism</a:t>
            </a:r>
            <a:endParaRPr lang="en-US" sz="4800" dirty="0">
              <a:latin typeface="Roboto Condensed" pitchFamily="2" charset="0"/>
              <a:ea typeface="Roboto Condensed" pitchFamily="2" charset="0"/>
            </a:endParaRP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567543" y="1567543"/>
            <a:ext cx="5965371" cy="5065486"/>
          </a:xfrm>
        </p:spPr>
        <p:txBody>
          <a:bodyPr>
            <a:noAutofit/>
          </a:bodyPr>
          <a:lstStyle/>
          <a:p>
            <a:pPr algn="just">
              <a:buNone/>
            </a:pPr>
            <a:endParaRPr lang="en-US" sz="3600" dirty="0">
              <a:latin typeface="Roboto Condensed" pitchFamily="2" charset="0"/>
              <a:ea typeface="Roboto Condensed" pitchFamily="2" charset="0"/>
            </a:endParaRPr>
          </a:p>
          <a:p>
            <a:pPr algn="just"/>
            <a:r>
              <a:rPr lang="en-US" sz="3600" dirty="0">
                <a:latin typeface="Roboto Condensed" pitchFamily="2" charset="0"/>
                <a:ea typeface="Roboto Condensed" pitchFamily="2" charset="0"/>
              </a:rPr>
              <a:t>Herders attempt to protect their animals and to ensure their reproduction in return for food (dairy products and meat) and other products, such as leather.</a:t>
            </a:r>
          </a:p>
          <a:p>
            <a:pPr algn="just"/>
            <a:endParaRPr lang="en-US" sz="3600" dirty="0">
              <a:latin typeface="Roboto Condensed" pitchFamily="2" charset="0"/>
              <a:ea typeface="Roboto Condensed" pitchFamily="2" charset="0"/>
            </a:endParaRPr>
          </a:p>
        </p:txBody>
      </p:sp>
      <p:pic>
        <p:nvPicPr>
          <p:cNvPr id="5" name="Picture 4" descr="DGSahel22-FAO_24969_107.jpg"/>
          <p:cNvPicPr>
            <a:picLocks noChangeAspect="1"/>
          </p:cNvPicPr>
          <p:nvPr/>
        </p:nvPicPr>
        <p:blipFill>
          <a:blip r:embed="rId2" cstate="print"/>
          <a:stretch>
            <a:fillRect/>
          </a:stretch>
        </p:blipFill>
        <p:spPr>
          <a:xfrm>
            <a:off x="8142514" y="1582378"/>
            <a:ext cx="3802742" cy="4513621"/>
          </a:xfrm>
          <a:prstGeom prst="rect">
            <a:avLst/>
          </a:prstGeom>
        </p:spPr>
      </p:pic>
    </p:spTree>
    <p:extLst>
      <p:ext uri="{BB962C8B-B14F-4D97-AF65-F5344CB8AC3E}">
        <p14:creationId xmlns:p14="http://schemas.microsoft.com/office/powerpoint/2010/main" val="27442071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dirty="0" err="1">
                <a:latin typeface="Roboto Condensed" pitchFamily="2" charset="0"/>
                <a:ea typeface="Roboto Condensed" pitchFamily="2" charset="0"/>
              </a:rPr>
              <a:t>Pastoralism</a:t>
            </a:r>
            <a:endParaRPr lang="en-US" sz="4800" dirty="0">
              <a:latin typeface="Roboto Condensed" pitchFamily="2" charset="0"/>
              <a:ea typeface="Roboto Condensed" pitchFamily="2" charset="0"/>
            </a:endParaRP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567543" y="1567543"/>
            <a:ext cx="5965371" cy="5065486"/>
          </a:xfrm>
        </p:spPr>
        <p:txBody>
          <a:bodyPr>
            <a:noAutofit/>
          </a:bodyPr>
          <a:lstStyle/>
          <a:p>
            <a:pPr algn="just"/>
            <a:r>
              <a:rPr lang="en-US" sz="3600" dirty="0"/>
              <a:t>People use livestock in various ways. </a:t>
            </a:r>
          </a:p>
          <a:p>
            <a:pPr algn="just"/>
            <a:r>
              <a:rPr lang="en-US" sz="3600" dirty="0"/>
              <a:t>Natives of North America’s Great Plains, for example, didn’t eat, but only rode, their horses.</a:t>
            </a:r>
          </a:p>
          <a:p>
            <a:pPr algn="just"/>
            <a:r>
              <a:rPr lang="en-US" sz="3600" dirty="0"/>
              <a:t>For Plains Indians, horses served as “tools of the trade.”</a:t>
            </a:r>
            <a:endParaRPr lang="en-US" sz="3600" dirty="0">
              <a:latin typeface="Roboto Condensed" pitchFamily="2" charset="0"/>
              <a:ea typeface="Roboto Condensed" pitchFamily="2" charset="0"/>
            </a:endParaRPr>
          </a:p>
        </p:txBody>
      </p:sp>
      <p:pic>
        <p:nvPicPr>
          <p:cNvPr id="5" name="Picture 4" descr="DGSahel22-FAO_24969_107.jpg"/>
          <p:cNvPicPr>
            <a:picLocks noChangeAspect="1"/>
          </p:cNvPicPr>
          <p:nvPr/>
        </p:nvPicPr>
        <p:blipFill>
          <a:blip r:embed="rId2" cstate="print"/>
          <a:stretch>
            <a:fillRect/>
          </a:stretch>
        </p:blipFill>
        <p:spPr>
          <a:xfrm>
            <a:off x="8142514" y="1582378"/>
            <a:ext cx="3802742" cy="4513621"/>
          </a:xfrm>
          <a:prstGeom prst="rect">
            <a:avLst/>
          </a:prstGeom>
        </p:spPr>
      </p:pic>
    </p:spTree>
    <p:extLst>
      <p:ext uri="{BB962C8B-B14F-4D97-AF65-F5344CB8AC3E}">
        <p14:creationId xmlns:p14="http://schemas.microsoft.com/office/powerpoint/2010/main" val="27442071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dirty="0" err="1">
                <a:latin typeface="Roboto Condensed" pitchFamily="2" charset="0"/>
                <a:ea typeface="Roboto Condensed" pitchFamily="2" charset="0"/>
              </a:rPr>
              <a:t>Pastoralism</a:t>
            </a:r>
            <a:endParaRPr lang="en-US" sz="4800" dirty="0">
              <a:latin typeface="Roboto Condensed" pitchFamily="2" charset="0"/>
              <a:ea typeface="Roboto Condensed" pitchFamily="2" charset="0"/>
            </a:endParaRP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567543" y="1567543"/>
            <a:ext cx="5965371" cy="5065486"/>
          </a:xfrm>
        </p:spPr>
        <p:txBody>
          <a:bodyPr>
            <a:noAutofit/>
          </a:bodyPr>
          <a:lstStyle/>
          <a:p>
            <a:pPr algn="just"/>
            <a:r>
              <a:rPr lang="en-US" dirty="0"/>
              <a:t>Many pastoral societies still exist in the modern world, concentrated especially in areas of Africa, the Middle East and Central Asia. </a:t>
            </a:r>
          </a:p>
          <a:p>
            <a:pPr algn="just"/>
            <a:r>
              <a:rPr lang="en-US" dirty="0"/>
              <a:t>These societies are usually found in regions where there are dense grasslands, or in deserts or mountains.</a:t>
            </a:r>
            <a:endParaRPr lang="en-US" dirty="0">
              <a:latin typeface="Roboto Condensed" pitchFamily="2" charset="0"/>
              <a:ea typeface="Roboto Condensed" pitchFamily="2" charset="0"/>
            </a:endParaRPr>
          </a:p>
        </p:txBody>
      </p:sp>
      <p:pic>
        <p:nvPicPr>
          <p:cNvPr id="5" name="Picture 4" descr="DGSahel22-FAO_24969_107.jpg"/>
          <p:cNvPicPr>
            <a:picLocks noChangeAspect="1"/>
          </p:cNvPicPr>
          <p:nvPr/>
        </p:nvPicPr>
        <p:blipFill>
          <a:blip r:embed="rId2" cstate="print"/>
          <a:stretch>
            <a:fillRect/>
          </a:stretch>
        </p:blipFill>
        <p:spPr>
          <a:xfrm>
            <a:off x="8142514" y="1582378"/>
            <a:ext cx="3802742" cy="4513621"/>
          </a:xfrm>
          <a:prstGeom prst="rect">
            <a:avLst/>
          </a:prstGeom>
        </p:spPr>
      </p:pic>
    </p:spTree>
    <p:extLst>
      <p:ext uri="{BB962C8B-B14F-4D97-AF65-F5344CB8AC3E}">
        <p14:creationId xmlns:p14="http://schemas.microsoft.com/office/powerpoint/2010/main" val="886008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dirty="0">
                <a:latin typeface="Roboto Condensed" pitchFamily="2" charset="0"/>
                <a:ea typeface="Roboto Condensed" pitchFamily="2" charset="0"/>
              </a:rPr>
              <a:t>Pastoralism</a:t>
            </a: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567543" y="1567543"/>
            <a:ext cx="5965371" cy="5065486"/>
          </a:xfrm>
        </p:spPr>
        <p:txBody>
          <a:bodyPr>
            <a:noAutofit/>
          </a:bodyPr>
          <a:lstStyle/>
          <a:p>
            <a:pPr algn="just"/>
            <a:r>
              <a:rPr lang="en-US" sz="3600" dirty="0"/>
              <a:t>Pastoral societies usually migrate between different areas according to seasonal changes. </a:t>
            </a:r>
          </a:p>
          <a:p>
            <a:pPr algn="just"/>
            <a:r>
              <a:rPr lang="en-US" sz="3600" dirty="0"/>
              <a:t>Given their nomadic habits, people in pastoral societies do not normally accumulate many material possessions.</a:t>
            </a:r>
            <a:endParaRPr lang="en-US" sz="3600" dirty="0">
              <a:latin typeface="Roboto Condensed" pitchFamily="2" charset="0"/>
              <a:ea typeface="Roboto Condensed" pitchFamily="2" charset="0"/>
            </a:endParaRPr>
          </a:p>
        </p:txBody>
      </p:sp>
      <p:pic>
        <p:nvPicPr>
          <p:cNvPr id="5" name="Picture 4" descr="DGSahel22-FAO_24969_107.jpg"/>
          <p:cNvPicPr>
            <a:picLocks noChangeAspect="1"/>
          </p:cNvPicPr>
          <p:nvPr/>
        </p:nvPicPr>
        <p:blipFill>
          <a:blip r:embed="rId2" cstate="print"/>
          <a:stretch>
            <a:fillRect/>
          </a:stretch>
        </p:blipFill>
        <p:spPr>
          <a:xfrm>
            <a:off x="8142514" y="1582378"/>
            <a:ext cx="3802742" cy="4513621"/>
          </a:xfrm>
          <a:prstGeom prst="rect">
            <a:avLst/>
          </a:prstGeom>
        </p:spPr>
      </p:pic>
    </p:spTree>
    <p:extLst>
      <p:ext uri="{BB962C8B-B14F-4D97-AF65-F5344CB8AC3E}">
        <p14:creationId xmlns:p14="http://schemas.microsoft.com/office/powerpoint/2010/main" val="36911912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dirty="0">
                <a:latin typeface="Roboto Condensed" pitchFamily="2" charset="0"/>
                <a:ea typeface="Roboto Condensed" pitchFamily="2" charset="0"/>
              </a:rPr>
              <a:t>Non-industrial civilization</a:t>
            </a: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2282650" y="1417638"/>
            <a:ext cx="9510765" cy="5065486"/>
          </a:xfrm>
        </p:spPr>
        <p:txBody>
          <a:bodyPr>
            <a:noAutofit/>
          </a:bodyPr>
          <a:lstStyle/>
          <a:p>
            <a:pPr algn="just"/>
            <a:r>
              <a:rPr lang="en-US" sz="3600" dirty="0"/>
              <a:t>From about 6000 BCE onwards, we find evidence of larger societies than ever existed before. </a:t>
            </a:r>
          </a:p>
          <a:p>
            <a:pPr algn="just"/>
            <a:r>
              <a:rPr lang="en-US" sz="3600" dirty="0"/>
              <a:t>The development of cities. </a:t>
            </a:r>
          </a:p>
          <a:p>
            <a:pPr algn="just"/>
            <a:r>
              <a:rPr lang="en-US" sz="3600" dirty="0"/>
              <a:t>Very pronounced inequalities of wealth and power and were associated with the rule of kings or emperors. </a:t>
            </a:r>
            <a:endParaRPr lang="en-US" sz="3600" dirty="0">
              <a:latin typeface="Roboto Condensed" pitchFamily="2" charset="0"/>
              <a:ea typeface="Roboto Condensed" pitchFamily="2" charset="0"/>
            </a:endParaRPr>
          </a:p>
        </p:txBody>
      </p:sp>
    </p:spTree>
    <p:extLst>
      <p:ext uri="{BB962C8B-B14F-4D97-AF65-F5344CB8AC3E}">
        <p14:creationId xmlns:p14="http://schemas.microsoft.com/office/powerpoint/2010/main" val="12957531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i="1" dirty="0">
                <a:latin typeface="Roboto Condensed" pitchFamily="2" charset="0"/>
                <a:ea typeface="Roboto Condensed" pitchFamily="2" charset="0"/>
              </a:rPr>
              <a:t>Industrial society</a:t>
            </a: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567543" y="1567543"/>
            <a:ext cx="10174514" cy="5065486"/>
          </a:xfrm>
        </p:spPr>
        <p:txBody>
          <a:bodyPr>
            <a:noAutofit/>
          </a:bodyPr>
          <a:lstStyle/>
          <a:p>
            <a:pPr algn="just"/>
            <a:r>
              <a:rPr lang="en-US" sz="3600" dirty="0"/>
              <a:t>With the invention of the steam engine in England, which brought about an industrial revolution that quickly spread to other parts of the globe. </a:t>
            </a:r>
          </a:p>
          <a:p>
            <a:pPr algn="just"/>
            <a:endParaRPr lang="en-US" sz="3600" dirty="0"/>
          </a:p>
          <a:p>
            <a:pPr algn="just"/>
            <a:r>
              <a:rPr lang="en-US" sz="3600" dirty="0"/>
              <a:t>Machines and tools powered by water, wind, and steam (followed by oil, gas, and diesel) replaced human labor and hand tools, increasing factory production and facilitating mass transportation.</a:t>
            </a:r>
            <a:endParaRPr lang="en-US" sz="3600" dirty="0">
              <a:latin typeface="Roboto Condensed" pitchFamily="2" charset="0"/>
              <a:ea typeface="Roboto Condensed" pitchFamily="2" charset="0"/>
            </a:endParaRPr>
          </a:p>
        </p:txBody>
      </p:sp>
    </p:spTree>
    <p:extLst>
      <p:ext uri="{BB962C8B-B14F-4D97-AF65-F5344CB8AC3E}">
        <p14:creationId xmlns:p14="http://schemas.microsoft.com/office/powerpoint/2010/main" val="27442071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i="1" dirty="0">
                <a:latin typeface="Roboto Condensed" pitchFamily="2" charset="0"/>
                <a:ea typeface="Roboto Condensed" pitchFamily="2" charset="0"/>
              </a:rPr>
              <a:t>Industrial society</a:t>
            </a: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567543" y="1567543"/>
            <a:ext cx="10174514" cy="5065486"/>
          </a:xfrm>
        </p:spPr>
        <p:txBody>
          <a:bodyPr>
            <a:noAutofit/>
          </a:bodyPr>
          <a:lstStyle/>
          <a:p>
            <a:pPr algn="just"/>
            <a:r>
              <a:rPr lang="en-US" sz="3600" dirty="0"/>
              <a:t>Throughout the 1800s and 1900s, this resulted in large-scale industrialization of many societies. </a:t>
            </a:r>
          </a:p>
          <a:p>
            <a:pPr algn="just"/>
            <a:endParaRPr lang="en-US" sz="3600" dirty="0"/>
          </a:p>
          <a:p>
            <a:pPr algn="just"/>
            <a:r>
              <a:rPr lang="en-US" sz="3600" dirty="0"/>
              <a:t>Technological inventions utilizing oil, electricity, and nuclear energy (since the 1940s) brought about more dramatic changes in social and economic organization on a worldwide scale. </a:t>
            </a:r>
          </a:p>
          <a:p>
            <a:pPr algn="just"/>
            <a:endParaRPr lang="en-US" sz="3600" dirty="0">
              <a:latin typeface="Roboto Condensed" pitchFamily="2" charset="0"/>
              <a:ea typeface="Roboto Condensed" pitchFamily="2" charset="0"/>
            </a:endParaRPr>
          </a:p>
        </p:txBody>
      </p:sp>
    </p:spTree>
    <p:extLst>
      <p:ext uri="{BB962C8B-B14F-4D97-AF65-F5344CB8AC3E}">
        <p14:creationId xmlns:p14="http://schemas.microsoft.com/office/powerpoint/2010/main" val="27442071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i="1" dirty="0">
                <a:latin typeface="Roboto Condensed" pitchFamily="2" charset="0"/>
                <a:ea typeface="Roboto Condensed" pitchFamily="2" charset="0"/>
              </a:rPr>
              <a:t>Industrial society</a:t>
            </a: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567543" y="1567543"/>
            <a:ext cx="4915319" cy="5065486"/>
          </a:xfrm>
        </p:spPr>
        <p:txBody>
          <a:bodyPr>
            <a:noAutofit/>
          </a:bodyPr>
          <a:lstStyle/>
          <a:p>
            <a:pPr algn="just"/>
            <a:r>
              <a:rPr lang="en-US" sz="2400" dirty="0"/>
              <a:t>A large majority of the employed population work in factories. offices or shops rather than in agriculture. </a:t>
            </a:r>
          </a:p>
          <a:p>
            <a:pPr algn="just"/>
            <a:r>
              <a:rPr lang="en-US" sz="2400" dirty="0"/>
              <a:t>Majority people live in towns and cities, where most jobs are to be found and new job opportunities are created.</a:t>
            </a:r>
          </a:p>
          <a:p>
            <a:pPr algn="just"/>
            <a:r>
              <a:rPr lang="en-US" sz="2400" dirty="0">
                <a:latin typeface="Roboto Condensed" pitchFamily="2" charset="0"/>
                <a:ea typeface="Roboto Condensed" pitchFamily="2" charset="0"/>
              </a:rPr>
              <a:t>Mass production, environmental degradation. </a:t>
            </a:r>
          </a:p>
        </p:txBody>
      </p:sp>
      <p:pic>
        <p:nvPicPr>
          <p:cNvPr id="1026" name="Picture 2" descr="The Environmental Impact of the Textile and Fashion Industries">
            <a:extLst>
              <a:ext uri="{FF2B5EF4-FFF2-40B4-BE49-F238E27FC236}">
                <a16:creationId xmlns:a16="http://schemas.microsoft.com/office/drawing/2014/main" id="{4C423735-D509-B4C2-1AA6-D3511EAF50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4102" y="1417638"/>
            <a:ext cx="4536897" cy="4997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85414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809E-1E6C-4DCE-9291-E88028D51A2A}"/>
              </a:ext>
            </a:extLst>
          </p:cNvPr>
          <p:cNvSpPr>
            <a:spLocks noGrp="1"/>
          </p:cNvSpPr>
          <p:nvPr>
            <p:ph type="title"/>
          </p:nvPr>
        </p:nvSpPr>
        <p:spPr/>
        <p:txBody>
          <a:bodyPr>
            <a:noAutofit/>
          </a:bodyPr>
          <a:lstStyle/>
          <a:p>
            <a:pPr algn="ctr"/>
            <a:r>
              <a:rPr lang="en-US" sz="4800" i="1" dirty="0">
                <a:latin typeface="Roboto Condensed" pitchFamily="2" charset="0"/>
                <a:ea typeface="Roboto Condensed" pitchFamily="2" charset="0"/>
              </a:rPr>
              <a:t>Post-Industrial society</a:t>
            </a:r>
          </a:p>
        </p:txBody>
      </p:sp>
      <p:sp>
        <p:nvSpPr>
          <p:cNvPr id="3" name="Content Placeholder 2">
            <a:extLst>
              <a:ext uri="{FF2B5EF4-FFF2-40B4-BE49-F238E27FC236}">
                <a16:creationId xmlns:a16="http://schemas.microsoft.com/office/drawing/2014/main" id="{DC7863B3-71B7-4CE2-8446-AF84DC77F975}"/>
              </a:ext>
            </a:extLst>
          </p:cNvPr>
          <p:cNvSpPr>
            <a:spLocks noGrp="1"/>
          </p:cNvSpPr>
          <p:nvPr>
            <p:ph idx="1"/>
          </p:nvPr>
        </p:nvSpPr>
        <p:spPr>
          <a:xfrm>
            <a:off x="1567543" y="1567543"/>
            <a:ext cx="10174514" cy="5065486"/>
          </a:xfrm>
        </p:spPr>
        <p:txBody>
          <a:bodyPr>
            <a:noAutofit/>
          </a:bodyPr>
          <a:lstStyle/>
          <a:p>
            <a:pPr algn="just"/>
            <a:r>
              <a:rPr lang="en-US" sz="3600" dirty="0"/>
              <a:t>In the late 20th century, the electronic digital revolution made the production and distribution of information the center of economic activity in some wealthy societies. </a:t>
            </a:r>
          </a:p>
          <a:p>
            <a:pPr algn="just">
              <a:buNone/>
            </a:pPr>
            <a:endParaRPr lang="en-US" sz="3600" dirty="0">
              <a:latin typeface="Roboto Condensed" pitchFamily="2" charset="0"/>
              <a:ea typeface="Roboto Condensed" pitchFamily="2" charset="0"/>
            </a:endParaRPr>
          </a:p>
        </p:txBody>
      </p:sp>
    </p:spTree>
    <p:extLst>
      <p:ext uri="{BB962C8B-B14F-4D97-AF65-F5344CB8AC3E}">
        <p14:creationId xmlns:p14="http://schemas.microsoft.com/office/powerpoint/2010/main" val="27442071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Untitled.png"/>
          <p:cNvPicPr>
            <a:picLocks noGrp="1" noChangeAspect="1"/>
          </p:cNvPicPr>
          <p:nvPr>
            <p:ph idx="1"/>
          </p:nvPr>
        </p:nvPicPr>
        <p:blipFill>
          <a:blip r:embed="rId2"/>
          <a:stretch>
            <a:fillRect/>
          </a:stretch>
        </p:blipFill>
        <p:spPr>
          <a:xfrm>
            <a:off x="2002971" y="493486"/>
            <a:ext cx="8795658" cy="5849257"/>
          </a:xfrm>
        </p:spPr>
      </p:pic>
    </p:spTree>
    <p:extLst>
      <p:ext uri="{BB962C8B-B14F-4D97-AF65-F5344CB8AC3E}">
        <p14:creationId xmlns:p14="http://schemas.microsoft.com/office/powerpoint/2010/main" val="27442071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A97C9-A055-4485-B7B6-57AA41221617}"/>
              </a:ext>
            </a:extLst>
          </p:cNvPr>
          <p:cNvSpPr>
            <a:spLocks noGrp="1"/>
          </p:cNvSpPr>
          <p:nvPr>
            <p:ph type="ctrTitle"/>
          </p:nvPr>
        </p:nvSpPr>
        <p:spPr>
          <a:xfrm>
            <a:off x="1541817" y="2317655"/>
            <a:ext cx="9972590" cy="1677572"/>
          </a:xfrm>
        </p:spPr>
        <p:txBody>
          <a:bodyPr>
            <a:normAutofit fontScale="90000"/>
          </a:bodyPr>
          <a:lstStyle/>
          <a:p>
            <a:pPr algn="ctr"/>
            <a:br>
              <a:rPr lang="en-US" b="1" dirty="0">
                <a:solidFill>
                  <a:srgbClr val="7030A0"/>
                </a:solidFill>
                <a:latin typeface="Comic Sans MS" pitchFamily="66" charset="0"/>
              </a:rPr>
            </a:br>
            <a:r>
              <a:rPr lang="en-US" sz="10700" b="1" dirty="0">
                <a:latin typeface="Cambria" panose="02040503050406030204" pitchFamily="18" charset="0"/>
                <a:ea typeface="Cambria" panose="02040503050406030204" pitchFamily="18" charset="0"/>
              </a:rPr>
              <a:t>Thank you</a:t>
            </a:r>
            <a:endParaRPr lang="en-US" sz="107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998853066"/>
      </p:ext>
    </p:extLst>
  </p:cSld>
  <p:clrMapOvr>
    <a:masterClrMapping/>
  </p:clrMapOvr>
  <mc:AlternateContent xmlns:mc="http://schemas.openxmlformats.org/markup-compatibility/2006" xmlns:p14="http://schemas.microsoft.com/office/powerpoint/2010/main">
    <mc:Choice Requires="p14">
      <p:transition spd="slow" p14:dur="3750">
        <p:push dir="u"/>
      </p:transition>
    </mc:Choice>
    <mc:Fallback xmlns="">
      <p:transition spd="slow">
        <p:push dir="u"/>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875</TotalTime>
  <Words>1531</Words>
  <Application>Microsoft Office PowerPoint</Application>
  <PresentationFormat>Widescreen</PresentationFormat>
  <Paragraphs>136</Paragraphs>
  <Slides>40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Arial</vt:lpstr>
      <vt:lpstr>Cambria</vt:lpstr>
      <vt:lpstr>Comic Sans MS</vt:lpstr>
      <vt:lpstr>Gill Sans MT</vt:lpstr>
      <vt:lpstr>Roboto Condensed</vt:lpstr>
      <vt:lpstr>Verdana</vt:lpstr>
      <vt:lpstr>Wingdings 2</vt:lpstr>
      <vt:lpstr>Solstice</vt:lpstr>
      <vt:lpstr>Types of Societies from hunter gatherer to post industrial</vt:lpstr>
      <vt:lpstr>questions</vt:lpstr>
      <vt:lpstr>Types of Society</vt:lpstr>
      <vt:lpstr>Food Foraging</vt:lpstr>
      <vt:lpstr>Food Foraging</vt:lpstr>
      <vt:lpstr>Food Foraging</vt:lpstr>
      <vt:lpstr>Characteristics of Food Foraging</vt:lpstr>
      <vt:lpstr>Characteristics of Food Foraging</vt:lpstr>
      <vt:lpstr>Characteristics of Food Foraging</vt:lpstr>
      <vt:lpstr>Characteristics of Food Foraging</vt:lpstr>
      <vt:lpstr>Characteristics of Food Foraging</vt:lpstr>
      <vt:lpstr>Characteristics of Food Foraging</vt:lpstr>
      <vt:lpstr>Characteristics of Food Foraging</vt:lpstr>
      <vt:lpstr>Characteristics of Food Foraging</vt:lpstr>
      <vt:lpstr>Characteristics of Food Foraging</vt:lpstr>
      <vt:lpstr>Number of foragers at present</vt:lpstr>
      <vt:lpstr>Anthony Giddens</vt:lpstr>
      <vt:lpstr>PowerPoint Presentation</vt:lpstr>
      <vt:lpstr>Food producing societies</vt:lpstr>
      <vt:lpstr>Horticulture</vt:lpstr>
      <vt:lpstr>Horticulture</vt:lpstr>
      <vt:lpstr>Horticulture (example)</vt:lpstr>
      <vt:lpstr>Horticulture (example)</vt:lpstr>
      <vt:lpstr>Crop cultivation: Agriculture</vt:lpstr>
      <vt:lpstr>Crop cultivation: Agriculture</vt:lpstr>
      <vt:lpstr>Crop cultivation: Agriculture</vt:lpstr>
      <vt:lpstr>Crop cultivation: Agriculture</vt:lpstr>
      <vt:lpstr>Feudalism </vt:lpstr>
      <vt:lpstr>Pastoralism</vt:lpstr>
      <vt:lpstr>Pastoralism</vt:lpstr>
      <vt:lpstr>Pastoralism</vt:lpstr>
      <vt:lpstr>Pastoralism</vt:lpstr>
      <vt:lpstr>Pastoralism</vt:lpstr>
      <vt:lpstr>Non-industrial civilization</vt:lpstr>
      <vt:lpstr>Industrial society</vt:lpstr>
      <vt:lpstr>Industrial society</vt:lpstr>
      <vt:lpstr>Industrial society</vt:lpstr>
      <vt:lpstr>Post-Industrial society</vt:lpstr>
      <vt:lpstr>PowerPoint Presentation</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User</cp:lastModifiedBy>
  <cp:revision>41</cp:revision>
  <dcterms:created xsi:type="dcterms:W3CDTF">2021-08-10T04:45:25Z</dcterms:created>
  <dcterms:modified xsi:type="dcterms:W3CDTF">2024-06-07T16:37:17Z</dcterms:modified>
</cp:coreProperties>
</file>