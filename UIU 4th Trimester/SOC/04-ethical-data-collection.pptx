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Condensed"/>
      <p:regular r:id="rId15"/>
      <p:bold r:id="rId16"/>
      <p:italic r:id="rId17"/>
      <p:boldItalic r:id="rId18"/>
    </p:embeddedFont>
    <p:embeddedFont>
      <p:font typeface="Lora"/>
      <p:regular r:id="rId19"/>
      <p:bold r:id="rId20"/>
      <p:italic r:id="rId21"/>
      <p:boldItalic r:id="rId22"/>
    </p:embeddedFont>
    <p:embeddedFont>
      <p:font typeface="Oswa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01">
          <p15:clr>
            <a:srgbClr val="9AA0A6"/>
          </p15:clr>
        </p15:guide>
        <p15:guide id="2" pos="4367">
          <p15:clr>
            <a:srgbClr val="9AA0A6"/>
          </p15:clr>
        </p15:guide>
        <p15:guide id="3" pos="3400">
          <p15:clr>
            <a:srgbClr val="9AA0A6"/>
          </p15:clr>
        </p15:guide>
        <p15:guide id="4" orient="horz" pos="472">
          <p15:clr>
            <a:srgbClr val="9AA0A6"/>
          </p15:clr>
        </p15:guide>
        <p15:guide id="5" orient="horz" pos="1800">
          <p15:clr>
            <a:srgbClr val="9AA0A6"/>
          </p15:clr>
        </p15:guide>
      </p15:sldGuideLst>
    </p:ext>
    <p:ext uri="GoogleSlidesCustomDataVersion2">
      <go:slidesCustomData xmlns:go="http://customooxmlschemas.google.com/" r:id="rId25" roundtripDataSignature="AMtx7mgfat7xSme1GzYfczWKEiD6CuJl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01" orient="horz"/>
        <p:guide pos="4367"/>
        <p:guide pos="3400"/>
        <p:guide pos="472" orient="horz"/>
        <p:guide pos="180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ra-bold.fntdata"/><Relationship Id="rId22" Type="http://schemas.openxmlformats.org/officeDocument/2006/relationships/font" Target="fonts/Lora-boldItalic.fntdata"/><Relationship Id="rId21" Type="http://schemas.openxmlformats.org/officeDocument/2006/relationships/font" Target="fonts/Lora-italic.fntdata"/><Relationship Id="rId24" Type="http://schemas.openxmlformats.org/officeDocument/2006/relationships/font" Target="fonts/Oswald-bold.fntdata"/><Relationship Id="rId23" Type="http://schemas.openxmlformats.org/officeDocument/2006/relationships/font" Target="fonts/Oswa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Condensed-regular.fntdata"/><Relationship Id="rId14" Type="http://schemas.openxmlformats.org/officeDocument/2006/relationships/slide" Target="slides/slide9.xml"/><Relationship Id="rId17" Type="http://schemas.openxmlformats.org/officeDocument/2006/relationships/font" Target="fonts/RobotoCondensed-italic.fntdata"/><Relationship Id="rId16" Type="http://schemas.openxmlformats.org/officeDocument/2006/relationships/font" Target="fonts/RobotoCondensed-bold.fntdata"/><Relationship Id="rId19" Type="http://schemas.openxmlformats.org/officeDocument/2006/relationships/font" Target="fonts/Lora-regular.fntdata"/><Relationship Id="rId18" Type="http://schemas.openxmlformats.org/officeDocument/2006/relationships/font" Target="fonts/RobotoCondense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TITL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1"/>
          <p:cNvSpPr txBox="1"/>
          <p:nvPr>
            <p:ph type="ctrTitle"/>
          </p:nvPr>
        </p:nvSpPr>
        <p:spPr>
          <a:xfrm>
            <a:off x="311708" y="80268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11"/>
          <p:cNvSpPr txBox="1"/>
          <p:nvPr>
            <p:ph idx="1" type="subTitle"/>
          </p:nvPr>
        </p:nvSpPr>
        <p:spPr>
          <a:xfrm>
            <a:off x="311700" y="266363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BIG_NUMBER_1_2_2_1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 rot="-5400000">
            <a:off x="-2112301" y="2205450"/>
            <a:ext cx="55254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5397175" y="891350"/>
            <a:ext cx="3100500" cy="2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IG_NUMBER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 txBox="1"/>
          <p:nvPr>
            <p:ph type="title"/>
          </p:nvPr>
        </p:nvSpPr>
        <p:spPr>
          <a:xfrm>
            <a:off x="4376213" y="1408075"/>
            <a:ext cx="124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6" name="Google Shape;16;p13"/>
          <p:cNvSpPr txBox="1"/>
          <p:nvPr>
            <p:ph idx="2" type="ctrTitle"/>
          </p:nvPr>
        </p:nvSpPr>
        <p:spPr>
          <a:xfrm>
            <a:off x="3780413" y="1852450"/>
            <a:ext cx="243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3780413" y="2083950"/>
            <a:ext cx="2432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" name="Google Shape;18;p13"/>
          <p:cNvSpPr txBox="1"/>
          <p:nvPr>
            <p:ph idx="3" type="title"/>
          </p:nvPr>
        </p:nvSpPr>
        <p:spPr>
          <a:xfrm>
            <a:off x="6547513" y="1408075"/>
            <a:ext cx="124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19" name="Google Shape;19;p13"/>
          <p:cNvSpPr txBox="1"/>
          <p:nvPr>
            <p:ph idx="4" type="ctrTitle"/>
          </p:nvPr>
        </p:nvSpPr>
        <p:spPr>
          <a:xfrm>
            <a:off x="5951713" y="1852450"/>
            <a:ext cx="243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" name="Google Shape;20;p13"/>
          <p:cNvSpPr txBox="1"/>
          <p:nvPr>
            <p:ph idx="5" type="subTitle"/>
          </p:nvPr>
        </p:nvSpPr>
        <p:spPr>
          <a:xfrm>
            <a:off x="5951713" y="2083950"/>
            <a:ext cx="2432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" name="Google Shape;21;p13"/>
          <p:cNvSpPr txBox="1"/>
          <p:nvPr>
            <p:ph idx="6" type="title"/>
          </p:nvPr>
        </p:nvSpPr>
        <p:spPr>
          <a:xfrm>
            <a:off x="4344013" y="2571750"/>
            <a:ext cx="124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2" name="Google Shape;22;p13"/>
          <p:cNvSpPr txBox="1"/>
          <p:nvPr>
            <p:ph idx="7" type="ctrTitle"/>
          </p:nvPr>
        </p:nvSpPr>
        <p:spPr>
          <a:xfrm>
            <a:off x="3748213" y="3016125"/>
            <a:ext cx="243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" name="Google Shape;23;p13"/>
          <p:cNvSpPr txBox="1"/>
          <p:nvPr>
            <p:ph idx="8" type="subTitle"/>
          </p:nvPr>
        </p:nvSpPr>
        <p:spPr>
          <a:xfrm>
            <a:off x="3748213" y="3247625"/>
            <a:ext cx="2432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4" name="Google Shape;24;p13"/>
          <p:cNvSpPr txBox="1"/>
          <p:nvPr>
            <p:ph idx="9" type="title"/>
          </p:nvPr>
        </p:nvSpPr>
        <p:spPr>
          <a:xfrm>
            <a:off x="6547513" y="2571750"/>
            <a:ext cx="1240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5" name="Google Shape;25;p13"/>
          <p:cNvSpPr txBox="1"/>
          <p:nvPr>
            <p:ph idx="13" type="ctrTitle"/>
          </p:nvPr>
        </p:nvSpPr>
        <p:spPr>
          <a:xfrm>
            <a:off x="5951713" y="3016125"/>
            <a:ext cx="243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swald"/>
              <a:buNone/>
              <a:defRPr sz="14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" name="Google Shape;26;p13"/>
          <p:cNvSpPr txBox="1"/>
          <p:nvPr>
            <p:ph idx="14" type="subTitle"/>
          </p:nvPr>
        </p:nvSpPr>
        <p:spPr>
          <a:xfrm>
            <a:off x="5951713" y="3247625"/>
            <a:ext cx="2432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Condensed"/>
              <a:buNone/>
              <a:defRPr sz="1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Condensed"/>
              <a:buNone/>
              <a:defRPr sz="10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Condensed"/>
              <a:buNone/>
              <a:defRPr sz="10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Condensed"/>
              <a:buNone/>
              <a:defRPr sz="10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Condensed"/>
              <a:buNone/>
              <a:defRPr sz="10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Condensed"/>
              <a:buNone/>
              <a:defRPr sz="10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Condensed"/>
              <a:buNone/>
              <a:defRPr sz="10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Condensed"/>
              <a:buNone/>
              <a:defRPr sz="10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 Condensed"/>
              <a:buNone/>
              <a:defRPr sz="10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27" name="Google Shape;27;p13"/>
          <p:cNvSpPr txBox="1"/>
          <p:nvPr>
            <p:ph idx="15" type="ctrTitle"/>
          </p:nvPr>
        </p:nvSpPr>
        <p:spPr>
          <a:xfrm rot="-5400000">
            <a:off x="-2112301" y="2205450"/>
            <a:ext cx="55254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BIG_NUMBER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" type="subTitle"/>
          </p:nvPr>
        </p:nvSpPr>
        <p:spPr>
          <a:xfrm>
            <a:off x="4851475" y="1869489"/>
            <a:ext cx="23955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" name="Google Shape;30;p14"/>
          <p:cNvSpPr txBox="1"/>
          <p:nvPr>
            <p:ph type="ctrTitle"/>
          </p:nvPr>
        </p:nvSpPr>
        <p:spPr>
          <a:xfrm rot="-5400000">
            <a:off x="-2112301" y="2205450"/>
            <a:ext cx="55254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1">
  <p:cSld name="BIG_NUMBER_1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idx="1" type="subTitle"/>
          </p:nvPr>
        </p:nvSpPr>
        <p:spPr>
          <a:xfrm>
            <a:off x="6397350" y="2497713"/>
            <a:ext cx="1876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" name="Google Shape;33;p15"/>
          <p:cNvSpPr txBox="1"/>
          <p:nvPr>
            <p:ph type="ctrTitle"/>
          </p:nvPr>
        </p:nvSpPr>
        <p:spPr>
          <a:xfrm>
            <a:off x="6397350" y="2286975"/>
            <a:ext cx="34731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" name="Google Shape;34;p15"/>
          <p:cNvSpPr txBox="1"/>
          <p:nvPr>
            <p:ph idx="2" type="title"/>
          </p:nvPr>
        </p:nvSpPr>
        <p:spPr>
          <a:xfrm>
            <a:off x="5023000" y="2392350"/>
            <a:ext cx="12405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type="ctrTitle"/>
          </p:nvPr>
        </p:nvSpPr>
        <p:spPr>
          <a:xfrm>
            <a:off x="1820100" y="2549100"/>
            <a:ext cx="5503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ora"/>
              <a:buNone/>
              <a:defRPr sz="1000">
                <a:latin typeface="Lora"/>
                <a:ea typeface="Lora"/>
                <a:cs typeface="Lora"/>
                <a:sym typeface="L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" name="Google Shape;37;p16"/>
          <p:cNvSpPr txBox="1"/>
          <p:nvPr>
            <p:ph idx="1" type="subTitle"/>
          </p:nvPr>
        </p:nvSpPr>
        <p:spPr>
          <a:xfrm>
            <a:off x="1845750" y="1110600"/>
            <a:ext cx="5452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"/>
              <a:buNone/>
              <a:defRPr sz="28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BIG_NUMBER_1_2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type="ctrTitle"/>
          </p:nvPr>
        </p:nvSpPr>
        <p:spPr>
          <a:xfrm>
            <a:off x="5421213" y="2071760"/>
            <a:ext cx="243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0" name="Google Shape;40;p17"/>
          <p:cNvSpPr txBox="1"/>
          <p:nvPr>
            <p:ph idx="1" type="subTitle"/>
          </p:nvPr>
        </p:nvSpPr>
        <p:spPr>
          <a:xfrm>
            <a:off x="5421213" y="2303260"/>
            <a:ext cx="2432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1" name="Google Shape;41;p17"/>
          <p:cNvSpPr txBox="1"/>
          <p:nvPr>
            <p:ph idx="2" type="ctrTitle"/>
          </p:nvPr>
        </p:nvSpPr>
        <p:spPr>
          <a:xfrm>
            <a:off x="5421213" y="831885"/>
            <a:ext cx="243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200"/>
              <a:buNone/>
              <a:defRPr sz="52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2" name="Google Shape;42;p17"/>
          <p:cNvSpPr txBox="1"/>
          <p:nvPr>
            <p:ph idx="3" type="subTitle"/>
          </p:nvPr>
        </p:nvSpPr>
        <p:spPr>
          <a:xfrm>
            <a:off x="5421213" y="1063385"/>
            <a:ext cx="2432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3" name="Google Shape;43;p17"/>
          <p:cNvSpPr txBox="1"/>
          <p:nvPr>
            <p:ph idx="4" type="ctrTitle"/>
          </p:nvPr>
        </p:nvSpPr>
        <p:spPr>
          <a:xfrm>
            <a:off x="5421213" y="3311635"/>
            <a:ext cx="24321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4" name="Google Shape;44;p17"/>
          <p:cNvSpPr txBox="1"/>
          <p:nvPr>
            <p:ph idx="5" type="subTitle"/>
          </p:nvPr>
        </p:nvSpPr>
        <p:spPr>
          <a:xfrm>
            <a:off x="5421213" y="3543135"/>
            <a:ext cx="2432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17"/>
          <p:cNvSpPr txBox="1"/>
          <p:nvPr>
            <p:ph idx="6" type="ctrTitle"/>
          </p:nvPr>
        </p:nvSpPr>
        <p:spPr>
          <a:xfrm rot="-5400000">
            <a:off x="-2112301" y="2205450"/>
            <a:ext cx="55254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">
  <p:cSld name="BIG_NUMBER_1_2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>
            <p:ph type="ctrTitle"/>
          </p:nvPr>
        </p:nvSpPr>
        <p:spPr>
          <a:xfrm>
            <a:off x="6424323" y="982563"/>
            <a:ext cx="2019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8" name="Google Shape;48;p18"/>
          <p:cNvSpPr txBox="1"/>
          <p:nvPr>
            <p:ph idx="1" type="subTitle"/>
          </p:nvPr>
        </p:nvSpPr>
        <p:spPr>
          <a:xfrm>
            <a:off x="6424323" y="1290263"/>
            <a:ext cx="2019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9" name="Google Shape;49;p18"/>
          <p:cNvSpPr txBox="1"/>
          <p:nvPr>
            <p:ph idx="2" type="ctrTitle"/>
          </p:nvPr>
        </p:nvSpPr>
        <p:spPr>
          <a:xfrm>
            <a:off x="6424323" y="3136838"/>
            <a:ext cx="2019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" name="Google Shape;50;p18"/>
          <p:cNvSpPr txBox="1"/>
          <p:nvPr>
            <p:ph idx="3" type="subTitle"/>
          </p:nvPr>
        </p:nvSpPr>
        <p:spPr>
          <a:xfrm>
            <a:off x="6424323" y="3444538"/>
            <a:ext cx="2019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1" name="Google Shape;51;p18"/>
          <p:cNvSpPr txBox="1"/>
          <p:nvPr>
            <p:ph idx="4" type="ctrTitle"/>
          </p:nvPr>
        </p:nvSpPr>
        <p:spPr>
          <a:xfrm>
            <a:off x="3937673" y="982563"/>
            <a:ext cx="2019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2" name="Google Shape;52;p18"/>
          <p:cNvSpPr txBox="1"/>
          <p:nvPr>
            <p:ph idx="5" type="subTitle"/>
          </p:nvPr>
        </p:nvSpPr>
        <p:spPr>
          <a:xfrm>
            <a:off x="3937673" y="1290263"/>
            <a:ext cx="2019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3" name="Google Shape;53;p18"/>
          <p:cNvSpPr txBox="1"/>
          <p:nvPr>
            <p:ph idx="6" type="ctrTitle"/>
          </p:nvPr>
        </p:nvSpPr>
        <p:spPr>
          <a:xfrm>
            <a:off x="3937673" y="3136838"/>
            <a:ext cx="2019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4" name="Google Shape;54;p18"/>
          <p:cNvSpPr txBox="1"/>
          <p:nvPr>
            <p:ph idx="7" type="subTitle"/>
          </p:nvPr>
        </p:nvSpPr>
        <p:spPr>
          <a:xfrm>
            <a:off x="3937673" y="3444538"/>
            <a:ext cx="2019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5" name="Google Shape;55;p18"/>
          <p:cNvSpPr txBox="1"/>
          <p:nvPr>
            <p:ph idx="8" type="ctrTitle"/>
          </p:nvPr>
        </p:nvSpPr>
        <p:spPr>
          <a:xfrm rot="-5400000">
            <a:off x="-2112301" y="2205450"/>
            <a:ext cx="55254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BIG_NUMBER_1_2_1_2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/>
          <p:nvPr>
            <p:ph type="ctrTitle"/>
          </p:nvPr>
        </p:nvSpPr>
        <p:spPr>
          <a:xfrm>
            <a:off x="5877773" y="1794536"/>
            <a:ext cx="2019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9"/>
          <p:cNvSpPr txBox="1"/>
          <p:nvPr>
            <p:ph idx="1" type="subTitle"/>
          </p:nvPr>
        </p:nvSpPr>
        <p:spPr>
          <a:xfrm>
            <a:off x="5877773" y="2102236"/>
            <a:ext cx="2019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9"/>
          <p:cNvSpPr txBox="1"/>
          <p:nvPr>
            <p:ph idx="2" type="ctrTitle"/>
          </p:nvPr>
        </p:nvSpPr>
        <p:spPr>
          <a:xfrm>
            <a:off x="2705323" y="1794536"/>
            <a:ext cx="2019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9"/>
          <p:cNvSpPr txBox="1"/>
          <p:nvPr>
            <p:ph idx="3" type="subTitle"/>
          </p:nvPr>
        </p:nvSpPr>
        <p:spPr>
          <a:xfrm>
            <a:off x="2705323" y="2102236"/>
            <a:ext cx="2019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9"/>
          <p:cNvSpPr txBox="1"/>
          <p:nvPr>
            <p:ph idx="4" type="ctrTitle"/>
          </p:nvPr>
        </p:nvSpPr>
        <p:spPr>
          <a:xfrm rot="-5400000">
            <a:off x="-2112301" y="2205450"/>
            <a:ext cx="55254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&amp; CREDITS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/>
          <p:nvPr/>
        </p:nvSpPr>
        <p:spPr>
          <a:xfrm>
            <a:off x="394950" y="2408500"/>
            <a:ext cx="8354100" cy="2361000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0"/>
          <p:cNvSpPr txBox="1"/>
          <p:nvPr>
            <p:ph type="ctrTitle"/>
          </p:nvPr>
        </p:nvSpPr>
        <p:spPr>
          <a:xfrm>
            <a:off x="1809299" y="655175"/>
            <a:ext cx="55254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20"/>
          <p:cNvSpPr txBox="1"/>
          <p:nvPr>
            <p:ph idx="1" type="subTitle"/>
          </p:nvPr>
        </p:nvSpPr>
        <p:spPr>
          <a:xfrm>
            <a:off x="2821350" y="2650200"/>
            <a:ext cx="3501300" cy="11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None/>
              <a:defRPr sz="10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None/>
              <a:defRPr sz="10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None/>
              <a:defRPr sz="10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None/>
              <a:defRPr sz="10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None/>
              <a:defRPr sz="10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None/>
              <a:defRPr sz="10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None/>
              <a:defRPr sz="10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None/>
              <a:defRPr sz="1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6" name="Google Shape;66;p20"/>
          <p:cNvSpPr txBox="1"/>
          <p:nvPr/>
        </p:nvSpPr>
        <p:spPr>
          <a:xfrm>
            <a:off x="3136650" y="3665475"/>
            <a:ext cx="28707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CREDITS: This presentation template was created by </a:t>
            </a:r>
            <a:r>
              <a:rPr b="1" i="0" lang="en-US" sz="900" u="none" cap="none" strike="noStrike">
                <a:solidFill>
                  <a:srgbClr val="FFFFFF"/>
                </a:solidFill>
                <a:uFill>
                  <a:noFill/>
                </a:uFill>
                <a:latin typeface="Lora"/>
                <a:ea typeface="Lora"/>
                <a:cs typeface="Lora"/>
                <a:sym typeface="Lora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, including icons by </a:t>
            </a:r>
            <a:r>
              <a:rPr b="1" i="0" lang="en-US" sz="900" u="none" cap="none" strike="noStrike">
                <a:solidFill>
                  <a:srgbClr val="FFFFFF"/>
                </a:solidFill>
                <a:uFill>
                  <a:noFill/>
                </a:uFill>
                <a:latin typeface="Lora"/>
                <a:ea typeface="Lora"/>
                <a:cs typeface="Lora"/>
                <a:sym typeface="Lor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, and infographics &amp; images by </a:t>
            </a:r>
            <a:r>
              <a:rPr b="0" i="0" lang="en-US" sz="900" u="none" cap="none" strike="noStrike">
                <a:solidFill>
                  <a:srgbClr val="FFFFFF"/>
                </a:solidFill>
                <a:uFill>
                  <a:noFill/>
                </a:uFill>
                <a:latin typeface="Lora"/>
                <a:ea typeface="Lora"/>
                <a:cs typeface="Lora"/>
                <a:sym typeface="Lo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. </a:t>
            </a:r>
            <a:endParaRPr b="0" i="0" sz="900" u="none" cap="none" strike="noStrike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Please keep this slide for attribution.</a:t>
            </a:r>
            <a:endParaRPr b="1" i="0" sz="900" u="none" cap="none" strike="noStrike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 2">
  <p:cSld name="BIG_NUMBER_1_2_2_1_1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 txBox="1"/>
          <p:nvPr>
            <p:ph type="ctrTitle"/>
          </p:nvPr>
        </p:nvSpPr>
        <p:spPr>
          <a:xfrm rot="-5400000">
            <a:off x="-2112301" y="2205450"/>
            <a:ext cx="55254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9" name="Google Shape;69;p21"/>
          <p:cNvSpPr txBox="1"/>
          <p:nvPr>
            <p:ph idx="2" type="ctrTitle"/>
          </p:nvPr>
        </p:nvSpPr>
        <p:spPr>
          <a:xfrm>
            <a:off x="1740225" y="1090350"/>
            <a:ext cx="3051900" cy="25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70" name="Google Shape;70;p21"/>
          <p:cNvSpPr txBox="1"/>
          <p:nvPr>
            <p:ph idx="3" type="ctrTitle"/>
          </p:nvPr>
        </p:nvSpPr>
        <p:spPr>
          <a:xfrm>
            <a:off x="4950925" y="1090350"/>
            <a:ext cx="3051900" cy="25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Lora"/>
              <a:buNone/>
              <a:defRPr sz="8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 2">
  <p:cSld name="BIG_NUMBER_1_2_2_1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"/>
          <p:cNvSpPr txBox="1"/>
          <p:nvPr>
            <p:ph type="ctrTitle"/>
          </p:nvPr>
        </p:nvSpPr>
        <p:spPr>
          <a:xfrm rot="-5400000">
            <a:off x="-2112301" y="2205450"/>
            <a:ext cx="55254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3" name="Google Shape;73;p22"/>
          <p:cNvSpPr txBox="1"/>
          <p:nvPr>
            <p:ph idx="1" type="body"/>
          </p:nvPr>
        </p:nvSpPr>
        <p:spPr>
          <a:xfrm>
            <a:off x="3705450" y="1424750"/>
            <a:ext cx="4335000" cy="2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  <a:defRPr b="0" i="0" sz="2800" u="none" cap="none" strike="noStrike">
                <a:solidFill>
                  <a:srgbClr val="0F0F0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  <a:defRPr b="0" i="0" sz="2800" u="none" cap="none" strike="noStrike">
                <a:solidFill>
                  <a:srgbClr val="0F0F0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  <a:defRPr b="0" i="0" sz="2800" u="none" cap="none" strike="noStrike">
                <a:solidFill>
                  <a:srgbClr val="0F0F0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  <a:defRPr b="0" i="0" sz="2800" u="none" cap="none" strike="noStrike">
                <a:solidFill>
                  <a:srgbClr val="0F0F0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  <a:defRPr b="0" i="0" sz="2800" u="none" cap="none" strike="noStrike">
                <a:solidFill>
                  <a:srgbClr val="0F0F0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  <a:defRPr b="0" i="0" sz="2800" u="none" cap="none" strike="noStrike">
                <a:solidFill>
                  <a:srgbClr val="0F0F0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  <a:defRPr b="0" i="0" sz="2800" u="none" cap="none" strike="noStrike">
                <a:solidFill>
                  <a:srgbClr val="0F0F0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  <a:defRPr b="0" i="0" sz="2800" u="none" cap="none" strike="noStrike">
                <a:solidFill>
                  <a:srgbClr val="0F0F0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  <a:defRPr b="0" i="0" sz="2800" u="none" cap="none" strike="noStrike">
                <a:solidFill>
                  <a:srgbClr val="0F0F0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1800"/>
              <a:buFont typeface="Lora"/>
              <a:buChar char="●"/>
              <a:defRPr b="0" i="0" sz="1800" u="none" cap="none" strike="noStrike">
                <a:solidFill>
                  <a:srgbClr val="0F0F0F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0F0F"/>
              </a:buClr>
              <a:buSzPts val="1400"/>
              <a:buFont typeface="Lora"/>
              <a:buChar char="○"/>
              <a:defRPr b="0" i="0" sz="1400" u="none" cap="none" strike="noStrike">
                <a:solidFill>
                  <a:srgbClr val="0F0F0F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0F0F"/>
              </a:buClr>
              <a:buSzPts val="1400"/>
              <a:buFont typeface="Lora"/>
              <a:buChar char="■"/>
              <a:defRPr b="0" i="0" sz="1400" u="none" cap="none" strike="noStrike">
                <a:solidFill>
                  <a:srgbClr val="0F0F0F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0F0F"/>
              </a:buClr>
              <a:buSzPts val="1400"/>
              <a:buFont typeface="Lora"/>
              <a:buChar char="●"/>
              <a:defRPr b="0" i="0" sz="1400" u="none" cap="none" strike="noStrike">
                <a:solidFill>
                  <a:srgbClr val="0F0F0F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0F0F"/>
              </a:buClr>
              <a:buSzPts val="1400"/>
              <a:buFont typeface="Lora"/>
              <a:buChar char="○"/>
              <a:defRPr b="0" i="0" sz="1400" u="none" cap="none" strike="noStrike">
                <a:solidFill>
                  <a:srgbClr val="0F0F0F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0F0F"/>
              </a:buClr>
              <a:buSzPts val="1400"/>
              <a:buFont typeface="Lora"/>
              <a:buChar char="■"/>
              <a:defRPr b="0" i="0" sz="1400" u="none" cap="none" strike="noStrike">
                <a:solidFill>
                  <a:srgbClr val="0F0F0F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0F0F"/>
              </a:buClr>
              <a:buSzPts val="1400"/>
              <a:buFont typeface="Lora"/>
              <a:buChar char="●"/>
              <a:defRPr b="0" i="0" sz="1400" u="none" cap="none" strike="noStrike">
                <a:solidFill>
                  <a:srgbClr val="0F0F0F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F0F0F"/>
              </a:buClr>
              <a:buSzPts val="1400"/>
              <a:buFont typeface="Lora"/>
              <a:buChar char="○"/>
              <a:defRPr b="0" i="0" sz="1400" u="none" cap="none" strike="noStrike">
                <a:solidFill>
                  <a:srgbClr val="0F0F0F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F0F0F"/>
              </a:buClr>
              <a:buSzPts val="1400"/>
              <a:buFont typeface="Lora"/>
              <a:buChar char="■"/>
              <a:defRPr b="0" i="0" sz="1400" u="none" cap="none" strike="noStrike">
                <a:solidFill>
                  <a:srgbClr val="0F0F0F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ampusmentalhealth.ca/toolkits/evaluation/conducting/understanding-the-ethics/" TargetMode="External"/><Relationship Id="rId4" Type="http://schemas.openxmlformats.org/officeDocument/2006/relationships/hyperlink" Target="https://erau.edu/-/media/files/university/research/irb-history-of-ethic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 txBox="1"/>
          <p:nvPr>
            <p:ph type="ctrTitle"/>
          </p:nvPr>
        </p:nvSpPr>
        <p:spPr>
          <a:xfrm>
            <a:off x="311700" y="2109757"/>
            <a:ext cx="8520600" cy="7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solidFill>
                  <a:srgbClr val="78909C"/>
                </a:solidFill>
              </a:rPr>
              <a:t>Ethical </a:t>
            </a:r>
            <a:r>
              <a:rPr lang="en-US">
                <a:solidFill>
                  <a:srgbClr val="78909C"/>
                </a:solidFill>
              </a:rPr>
              <a:t>Concern</a:t>
            </a:r>
            <a:r>
              <a:rPr lang="en-US">
                <a:solidFill>
                  <a:srgbClr val="78909C"/>
                </a:solidFill>
              </a:rPr>
              <a:t> in Data Collection</a:t>
            </a:r>
            <a:endParaRPr>
              <a:solidFill>
                <a:srgbClr val="78909C"/>
              </a:solidFill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387900" y="1963200"/>
            <a:ext cx="8276400" cy="74100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387900" y="3106200"/>
            <a:ext cx="8276400" cy="74100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/>
          <p:nvPr/>
        </p:nvSpPr>
        <p:spPr>
          <a:xfrm>
            <a:off x="1361732" y="789410"/>
            <a:ext cx="6963093" cy="3372215"/>
          </a:xfrm>
          <a:prstGeom prst="rect">
            <a:avLst/>
          </a:prstGeom>
          <a:noFill/>
          <a:ln cap="flat" cmpd="sng" w="1905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1361732" y="789410"/>
            <a:ext cx="6963093" cy="3372215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 txBox="1"/>
          <p:nvPr>
            <p:ph idx="1" type="body"/>
          </p:nvPr>
        </p:nvSpPr>
        <p:spPr>
          <a:xfrm>
            <a:off x="1644604" y="1052547"/>
            <a:ext cx="6506671" cy="26005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Ethical considerations refer to the ethical practices of how data is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collected, stored or shared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. 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These can include securing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clear and informed consent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, how to safely store data or how to secure permissions to use or share data.</a:t>
            </a:r>
            <a:endParaRPr b="1" sz="1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2"/>
          <p:cNvSpPr/>
          <p:nvPr/>
        </p:nvSpPr>
        <p:spPr>
          <a:xfrm rot="-5400000">
            <a:off x="-1153670" y="2429179"/>
            <a:ext cx="3372340" cy="92801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 txBox="1"/>
          <p:nvPr>
            <p:ph idx="4294967295" type="ctrTitle"/>
          </p:nvPr>
        </p:nvSpPr>
        <p:spPr>
          <a:xfrm>
            <a:off x="2532812" y="100030"/>
            <a:ext cx="4420226" cy="62762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</a:pPr>
            <a:r>
              <a:rPr b="0" i="0" lang="en-US" sz="2000" u="none" cap="none" strike="noStrike">
                <a:solidFill>
                  <a:srgbClr val="78909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Ethical Consideration</a:t>
            </a:r>
            <a:endParaRPr b="0" i="0" sz="2000" u="none" cap="none" strike="noStrike">
              <a:solidFill>
                <a:srgbClr val="78909C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1361732" y="789410"/>
            <a:ext cx="6963093" cy="3372215"/>
          </a:xfrm>
          <a:prstGeom prst="rect">
            <a:avLst/>
          </a:prstGeom>
          <a:noFill/>
          <a:ln cap="flat" cmpd="sng" w="1905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361732" y="789410"/>
            <a:ext cx="6963093" cy="3372215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1589942" y="910444"/>
            <a:ext cx="6506671" cy="26005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Informed consent refers to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written consent 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by a person to participate in any given evaluation activity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where private data and information may be collected. </a:t>
            </a:r>
            <a:endParaRPr b="1" sz="1600">
              <a:latin typeface="Cambria"/>
              <a:ea typeface="Cambria"/>
              <a:cs typeface="Cambria"/>
              <a:sym typeface="Cambria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A document is typically prepared that 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-2921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Outlines the goals of the evaluation</a:t>
            </a:r>
            <a:endParaRPr/>
          </a:p>
          <a:p>
            <a:pPr indent="-2921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Why data is being collected from whom and how</a:t>
            </a:r>
            <a:endParaRPr/>
          </a:p>
          <a:p>
            <a:pPr indent="-2921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How it will be stored</a:t>
            </a:r>
            <a:endParaRPr/>
          </a:p>
          <a:p>
            <a:pPr indent="-2921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For how long and who will have access to it</a:t>
            </a:r>
            <a:endParaRPr b="1" sz="1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8" name="Google Shape;98;p3"/>
          <p:cNvSpPr/>
          <p:nvPr/>
        </p:nvSpPr>
        <p:spPr>
          <a:xfrm rot="-5400000">
            <a:off x="-1153670" y="2429179"/>
            <a:ext cx="3372340" cy="92801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 txBox="1"/>
          <p:nvPr>
            <p:ph idx="4294967295" type="ctrTitle"/>
          </p:nvPr>
        </p:nvSpPr>
        <p:spPr>
          <a:xfrm>
            <a:off x="2488669" y="161782"/>
            <a:ext cx="4420226" cy="62762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</a:pPr>
            <a:r>
              <a:rPr b="0" i="0" lang="en-US" sz="2000" u="none" cap="none" strike="noStrike">
                <a:solidFill>
                  <a:srgbClr val="78909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Informed Consent</a:t>
            </a:r>
            <a:endParaRPr b="0" i="0" sz="2000" u="none" cap="none" strike="noStrike">
              <a:solidFill>
                <a:srgbClr val="78909C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1361732" y="789410"/>
            <a:ext cx="6963093" cy="3372215"/>
          </a:xfrm>
          <a:prstGeom prst="rect">
            <a:avLst/>
          </a:prstGeom>
          <a:noFill/>
          <a:ln cap="flat" cmpd="sng" w="1905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361732" y="789410"/>
            <a:ext cx="6963093" cy="3372215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644604" y="1052547"/>
            <a:ext cx="6506671" cy="26005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Confidential data refers to information that is connected to a particular individual but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kept confidential such as medical or service records. </a:t>
            </a:r>
            <a:endParaRPr b="1" sz="1600">
              <a:latin typeface="Cambria"/>
              <a:ea typeface="Cambria"/>
              <a:cs typeface="Cambria"/>
              <a:sym typeface="Cambria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Anonymous data is information that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cannot be traced to a particular individual.</a:t>
            </a:r>
            <a:endParaRPr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Participants know if and how the information they provide is either confidential or anonymous.</a:t>
            </a:r>
            <a:endParaRPr b="1"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4"/>
          <p:cNvSpPr/>
          <p:nvPr/>
        </p:nvSpPr>
        <p:spPr>
          <a:xfrm rot="-5400000">
            <a:off x="-1153670" y="2429179"/>
            <a:ext cx="3372340" cy="92801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 txBox="1"/>
          <p:nvPr>
            <p:ph idx="4294967295" type="ctrTitle"/>
          </p:nvPr>
        </p:nvSpPr>
        <p:spPr>
          <a:xfrm>
            <a:off x="2759835" y="112643"/>
            <a:ext cx="4420226" cy="62762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</a:pPr>
            <a:r>
              <a:rPr b="0" i="0" lang="en-US" sz="2000" u="none" cap="none" strike="noStrike">
                <a:solidFill>
                  <a:srgbClr val="78909C"/>
                </a:solidFill>
                <a:latin typeface="Cambria"/>
                <a:ea typeface="Cambria"/>
                <a:cs typeface="Cambria"/>
                <a:sym typeface="Cambria"/>
              </a:rPr>
              <a:t>Confidentiality and Anonymity</a:t>
            </a:r>
            <a:endParaRPr b="0" i="0" sz="2000" u="none" cap="none" strike="noStrike">
              <a:solidFill>
                <a:srgbClr val="78909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1361732" y="789410"/>
            <a:ext cx="6963093" cy="3372215"/>
          </a:xfrm>
          <a:prstGeom prst="rect">
            <a:avLst/>
          </a:prstGeom>
          <a:noFill/>
          <a:ln cap="flat" cmpd="sng" w="1905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1361732" y="789410"/>
            <a:ext cx="6963093" cy="3372215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1644604" y="1052547"/>
            <a:ext cx="6506671" cy="26005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While it is important to have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clear processes for collecting data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, it is equally important to have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clear processes for sharing data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Participants must know 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that any information gathered is aggregated in the analysis process as a way of ensuring privacy of individual data.</a:t>
            </a:r>
            <a:endParaRPr b="1"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5"/>
          <p:cNvSpPr/>
          <p:nvPr/>
        </p:nvSpPr>
        <p:spPr>
          <a:xfrm rot="-5400000">
            <a:off x="-1153670" y="2429179"/>
            <a:ext cx="3372340" cy="92801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 txBox="1"/>
          <p:nvPr>
            <p:ph idx="4294967295" type="ctrTitle"/>
          </p:nvPr>
        </p:nvSpPr>
        <p:spPr>
          <a:xfrm>
            <a:off x="2576955" y="87418"/>
            <a:ext cx="4620856" cy="62762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</a:pPr>
            <a:r>
              <a:rPr b="0" i="0" lang="en-US" sz="2000" u="none" cap="none" strike="noStrike">
                <a:solidFill>
                  <a:srgbClr val="78909C"/>
                </a:solidFill>
                <a:latin typeface="Cambria"/>
                <a:ea typeface="Cambria"/>
                <a:cs typeface="Cambria"/>
                <a:sym typeface="Cambria"/>
              </a:rPr>
              <a:t>Clear Communication and Data Sharing</a:t>
            </a:r>
            <a:endParaRPr b="0" i="0" sz="2000" u="none" cap="none" strike="noStrike">
              <a:solidFill>
                <a:srgbClr val="78909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1361732" y="789410"/>
            <a:ext cx="6963093" cy="3372215"/>
          </a:xfrm>
          <a:prstGeom prst="rect">
            <a:avLst/>
          </a:prstGeom>
          <a:noFill/>
          <a:ln cap="flat" cmpd="sng" w="1905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361732" y="789410"/>
            <a:ext cx="6963093" cy="3372215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1644604" y="1052547"/>
            <a:ext cx="6506671" cy="26005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65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Ethical considerations in data collection and analysis involving human experimentation</a:t>
            </a:r>
            <a:endParaRPr/>
          </a:p>
          <a:p>
            <a:pPr indent="-2921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The Nazi Doctors' Trial and the Nuremberg Code </a:t>
            </a:r>
            <a:endParaRPr/>
          </a:p>
          <a:p>
            <a:pPr indent="-2921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The Tuskegee syphilis study and the Belmont Report</a:t>
            </a:r>
            <a:endParaRPr/>
          </a:p>
          <a:p>
            <a:pPr indent="-2921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Char char="■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The Declaration of Helsinki </a:t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 rot="-5400000">
            <a:off x="-1153670" y="2429179"/>
            <a:ext cx="3372340" cy="92801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 txBox="1"/>
          <p:nvPr>
            <p:ph idx="4294967295" type="ctrTitle"/>
          </p:nvPr>
        </p:nvSpPr>
        <p:spPr>
          <a:xfrm>
            <a:off x="2219226" y="89465"/>
            <a:ext cx="5248103" cy="62762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</a:pPr>
            <a:r>
              <a:rPr b="0" i="0" lang="en-US" sz="2000" u="none" cap="none" strike="noStrike">
                <a:solidFill>
                  <a:srgbClr val="78909C"/>
                </a:solidFill>
                <a:latin typeface="Cambria"/>
                <a:ea typeface="Cambria"/>
                <a:cs typeface="Cambria"/>
                <a:sym typeface="Cambria"/>
              </a:rPr>
              <a:t>Ethical Consideration in Data Collection</a:t>
            </a:r>
            <a:endParaRPr b="0" i="0" sz="2000" u="none" cap="none" strike="noStrike">
              <a:solidFill>
                <a:srgbClr val="78909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1361732" y="789410"/>
            <a:ext cx="6963093" cy="3559566"/>
          </a:xfrm>
          <a:prstGeom prst="rect">
            <a:avLst/>
          </a:prstGeom>
          <a:noFill/>
          <a:ln cap="flat" cmpd="sng" w="1905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361732" y="789410"/>
            <a:ext cx="6963093" cy="3559566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3" name="Google Shape;133;p7"/>
          <p:cNvSpPr txBox="1"/>
          <p:nvPr>
            <p:ph idx="1" type="body"/>
          </p:nvPr>
        </p:nvSpPr>
        <p:spPr>
          <a:xfrm>
            <a:off x="1644604" y="902043"/>
            <a:ext cx="6778284" cy="27510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The Health Insurance Portability and Accountability (HIPAA)</a:t>
            </a:r>
            <a:endParaRPr/>
          </a:p>
          <a:p>
            <a:pPr indent="0" lvl="0" marL="165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1996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in order to protect sensitive and identifying personal health data after medical treatment.</a:t>
            </a:r>
            <a:endParaRPr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A strict “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need to know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” sharing of medical data unless the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patient signed a consent 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form for a particular usage</a:t>
            </a:r>
            <a:endParaRPr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Some exceptions: gunshot and stab wounds, crime-related injuries, possible abuse cases, and infectious diseases.</a:t>
            </a:r>
            <a:endParaRPr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Updated HIPAA (2013),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patients’ rights to access electronic information, 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and including genetic data.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4" name="Google Shape;134;p7"/>
          <p:cNvSpPr/>
          <p:nvPr/>
        </p:nvSpPr>
        <p:spPr>
          <a:xfrm rot="-5400000">
            <a:off x="-1153670" y="2429179"/>
            <a:ext cx="3372340" cy="92801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 txBox="1"/>
          <p:nvPr>
            <p:ph idx="4294967295" type="ctrTitle"/>
          </p:nvPr>
        </p:nvSpPr>
        <p:spPr>
          <a:xfrm>
            <a:off x="2408565" y="102997"/>
            <a:ext cx="4420226" cy="57662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</a:pPr>
            <a:r>
              <a:rPr b="0" i="0" lang="en-US" sz="2000" u="none" cap="none" strike="noStrike">
                <a:solidFill>
                  <a:srgbClr val="78909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Protection Landscape</a:t>
            </a:r>
            <a:endParaRPr b="0" i="0" sz="2000" u="none" cap="none" strike="noStrike">
              <a:solidFill>
                <a:srgbClr val="78909C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1361732" y="889653"/>
            <a:ext cx="6963093" cy="3608206"/>
          </a:xfrm>
          <a:prstGeom prst="rect">
            <a:avLst/>
          </a:prstGeom>
          <a:noFill/>
          <a:ln cap="flat" cmpd="sng" w="1905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1361732" y="888264"/>
            <a:ext cx="6963093" cy="3609595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1361732" y="842482"/>
            <a:ext cx="6963093" cy="36553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General Data Protection Regulation (GDPR), goes much further in protecting personal data.</a:t>
            </a:r>
            <a:endParaRPr/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0" lvl="1" marL="622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(a) If the data subject has given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consent 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to the processing of his or her personal data;</a:t>
            </a:r>
            <a:endParaRPr/>
          </a:p>
          <a:p>
            <a:pPr indent="0" lvl="1" marL="622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(b) To fulfill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contractual obligations 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with a data subject, or for tasks at the request of a data subject who is in the process of entering into a contract;</a:t>
            </a:r>
            <a:endParaRPr/>
          </a:p>
          <a:p>
            <a:pPr indent="0" lvl="1" marL="622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(c) To comply with a data controller's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legal obligations</a:t>
            </a:r>
            <a:endParaRPr/>
          </a:p>
          <a:p>
            <a:pPr indent="0" lvl="1" marL="622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(d) To </a:t>
            </a:r>
            <a:r>
              <a:rPr b="1" lang="en-US" sz="1600">
                <a:latin typeface="Cambria"/>
                <a:ea typeface="Cambria"/>
                <a:cs typeface="Cambria"/>
                <a:sym typeface="Cambria"/>
              </a:rPr>
              <a:t>protect the vital interests 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of a data subject or another individual;</a:t>
            </a:r>
            <a:endParaRPr/>
          </a:p>
          <a:p>
            <a:pPr indent="0" lvl="1" marL="622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(e) To perform a task in the public interest or in official authority;</a:t>
            </a:r>
            <a:endParaRPr/>
          </a:p>
          <a:p>
            <a:pPr indent="0" lvl="0" marL="165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p8"/>
          <p:cNvSpPr/>
          <p:nvPr/>
        </p:nvSpPr>
        <p:spPr>
          <a:xfrm rot="-5400000">
            <a:off x="-1153670" y="2429179"/>
            <a:ext cx="3372340" cy="92801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 txBox="1"/>
          <p:nvPr>
            <p:ph idx="4294967295" type="ctrTitle"/>
          </p:nvPr>
        </p:nvSpPr>
        <p:spPr>
          <a:xfrm>
            <a:off x="2401448" y="161782"/>
            <a:ext cx="4420226" cy="62762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</a:pPr>
            <a:r>
              <a:rPr b="0" i="0" lang="en-US" sz="2000" u="none" cap="none" strike="noStrike">
                <a:solidFill>
                  <a:srgbClr val="78909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GDPR</a:t>
            </a:r>
            <a:endParaRPr b="0" i="0" sz="2000" u="none" cap="none" strike="noStrike">
              <a:solidFill>
                <a:srgbClr val="78909C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1361732" y="789410"/>
            <a:ext cx="6963093" cy="3372215"/>
          </a:xfrm>
          <a:prstGeom prst="rect">
            <a:avLst/>
          </a:prstGeom>
          <a:noFill/>
          <a:ln cap="flat" cmpd="sng" w="19050">
            <a:solidFill>
              <a:srgbClr val="7890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1361732" y="789410"/>
            <a:ext cx="6963093" cy="3372215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 txBox="1"/>
          <p:nvPr>
            <p:ph idx="1" type="body"/>
          </p:nvPr>
        </p:nvSpPr>
        <p:spPr>
          <a:xfrm>
            <a:off x="1644604" y="1052547"/>
            <a:ext cx="6506671" cy="26005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5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AutoNum type="arabicPeriod"/>
            </a:pPr>
            <a:r>
              <a:rPr lang="en-US" sz="16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https://campusmentalhealth.ca/toolkits/evaluation/conducting/understanding-the-ethics/</a:t>
            </a:r>
            <a:endParaRPr sz="16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508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AutoNum type="arabicPeriod"/>
            </a:pPr>
            <a:r>
              <a:rPr lang="en-US" sz="1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https://erau.edu/-/media/files/university/research/irb-history-of-ethics.pdf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b="1" sz="1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2" name="Google Shape;152;p9"/>
          <p:cNvSpPr/>
          <p:nvPr/>
        </p:nvSpPr>
        <p:spPr>
          <a:xfrm rot="-5400000">
            <a:off x="-1153670" y="2429179"/>
            <a:ext cx="3372340" cy="92801"/>
          </a:xfrm>
          <a:prstGeom prst="rect">
            <a:avLst/>
          </a:prstGeom>
          <a:solidFill>
            <a:srgbClr val="78909C">
              <a:alpha val="2352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 txBox="1"/>
          <p:nvPr>
            <p:ph idx="4294967295" type="ctrTitle"/>
          </p:nvPr>
        </p:nvSpPr>
        <p:spPr>
          <a:xfrm>
            <a:off x="2324708" y="161782"/>
            <a:ext cx="4420226" cy="62762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800"/>
              <a:buFont typeface="Roboto Condensed"/>
              <a:buNone/>
            </a:pPr>
            <a:r>
              <a:rPr b="0" i="0" lang="en-US" sz="2000" u="none" cap="none" strike="noStrike">
                <a:solidFill>
                  <a:srgbClr val="78909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Reference</a:t>
            </a:r>
            <a:endParaRPr b="0" i="0" sz="2000" u="none" cap="none" strike="noStrike">
              <a:solidFill>
                <a:srgbClr val="78909C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HD DISSERTATIO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CFD9E0"/>
      </a:accent1>
      <a:accent2>
        <a:srgbClr val="BAC8D3"/>
      </a:accent2>
      <a:accent3>
        <a:srgbClr val="869FB2"/>
      </a:accent3>
      <a:accent4>
        <a:srgbClr val="5F7D95"/>
      </a:accent4>
      <a:accent5>
        <a:srgbClr val="435D74"/>
      </a:accent5>
      <a:accent6>
        <a:srgbClr val="DFE5E8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