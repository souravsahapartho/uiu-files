
<file path=[Content_Types].xml><?xml version="1.0" encoding="utf-8"?>
<Types xmlns="http://schemas.openxmlformats.org/package/2006/content-types">
  <Default Extension="bin" ContentType="application/vnd.ms-office.activeX"/>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activeX/activeX1.xml" ContentType="application/vnd.ms-office.activeX+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2"/>
    <p:sldMasterId id="2147483651" r:id="rId3"/>
    <p:sldMasterId id="2147483652" r:id="rId4"/>
  </p:sldMasterIdLst>
  <p:notesMasterIdLst>
    <p:notesMasterId r:id="rId28"/>
  </p:notesMasterIdLst>
  <p:handoutMasterIdLst>
    <p:handoutMasterId r:id="rId29"/>
  </p:handoutMasterIdLst>
  <p:sldIdLst>
    <p:sldId id="261" r:id="rId5"/>
    <p:sldId id="398" r:id="rId6"/>
    <p:sldId id="399" r:id="rId7"/>
    <p:sldId id="400" r:id="rId8"/>
    <p:sldId id="401" r:id="rId9"/>
    <p:sldId id="402" r:id="rId10"/>
    <p:sldId id="403" r:id="rId11"/>
    <p:sldId id="404" r:id="rId12"/>
    <p:sldId id="405" r:id="rId13"/>
    <p:sldId id="406" r:id="rId14"/>
    <p:sldId id="407" r:id="rId15"/>
    <p:sldId id="408" r:id="rId16"/>
    <p:sldId id="409" r:id="rId17"/>
    <p:sldId id="410" r:id="rId18"/>
    <p:sldId id="411" r:id="rId19"/>
    <p:sldId id="413" r:id="rId20"/>
    <p:sldId id="414" r:id="rId21"/>
    <p:sldId id="415" r:id="rId22"/>
    <p:sldId id="416" r:id="rId23"/>
    <p:sldId id="417" r:id="rId24"/>
    <p:sldId id="418" r:id="rId25"/>
    <p:sldId id="433" r:id="rId26"/>
    <p:sldId id="434" r:id="rId27"/>
  </p:sldIdLst>
  <p:sldSz cx="9144000" cy="6858000" type="screen4x3"/>
  <p:notesSz cx="6858000" cy="9144000"/>
  <p:defaultTextStyle>
    <a:defPPr>
      <a:defRPr lang="en-US"/>
    </a:defPPr>
    <a:lvl1pPr algn="ctr" rtl="0" fontAlgn="base">
      <a:spcBef>
        <a:spcPct val="0"/>
      </a:spcBef>
      <a:spcAft>
        <a:spcPct val="0"/>
      </a:spcAft>
      <a:defRPr kern="1200">
        <a:solidFill>
          <a:schemeClr val="tx1"/>
        </a:solidFill>
        <a:latin typeface="Arial" charset="0"/>
        <a:ea typeface="+mn-ea"/>
        <a:cs typeface="+mn-cs"/>
      </a:defRPr>
    </a:lvl1pPr>
    <a:lvl2pPr marL="457200" algn="ctr" rtl="0" fontAlgn="base">
      <a:spcBef>
        <a:spcPct val="0"/>
      </a:spcBef>
      <a:spcAft>
        <a:spcPct val="0"/>
      </a:spcAft>
      <a:defRPr kern="1200">
        <a:solidFill>
          <a:schemeClr val="tx1"/>
        </a:solidFill>
        <a:latin typeface="Arial" charset="0"/>
        <a:ea typeface="+mn-ea"/>
        <a:cs typeface="+mn-cs"/>
      </a:defRPr>
    </a:lvl2pPr>
    <a:lvl3pPr marL="914400" algn="ctr" rtl="0" fontAlgn="base">
      <a:spcBef>
        <a:spcPct val="0"/>
      </a:spcBef>
      <a:spcAft>
        <a:spcPct val="0"/>
      </a:spcAft>
      <a:defRPr kern="1200">
        <a:solidFill>
          <a:schemeClr val="tx1"/>
        </a:solidFill>
        <a:latin typeface="Arial" charset="0"/>
        <a:ea typeface="+mn-ea"/>
        <a:cs typeface="+mn-cs"/>
      </a:defRPr>
    </a:lvl3pPr>
    <a:lvl4pPr marL="1371600" algn="ctr" rtl="0" fontAlgn="base">
      <a:spcBef>
        <a:spcPct val="0"/>
      </a:spcBef>
      <a:spcAft>
        <a:spcPct val="0"/>
      </a:spcAft>
      <a:defRPr kern="1200">
        <a:solidFill>
          <a:schemeClr val="tx1"/>
        </a:solidFill>
        <a:latin typeface="Arial" charset="0"/>
        <a:ea typeface="+mn-ea"/>
        <a:cs typeface="+mn-cs"/>
      </a:defRPr>
    </a:lvl4pPr>
    <a:lvl5pPr marL="1828800" algn="ctr"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99"/>
    <a:srgbClr val="A2D1F1"/>
    <a:srgbClr val="292929"/>
    <a:srgbClr val="993300"/>
    <a:srgbClr val="006600"/>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94667" autoAdjust="0"/>
  </p:normalViewPr>
  <p:slideViewPr>
    <p:cSldViewPr>
      <p:cViewPr varScale="1">
        <p:scale>
          <a:sx n="74" d="100"/>
          <a:sy n="74" d="100"/>
        </p:scale>
        <p:origin x="126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3" d="100"/>
          <a:sy n="53" d="100"/>
        </p:scale>
        <p:origin x="-259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2.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slideMaster" Target="slideMasters/slideMaster1.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3.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vl1pPr>
          </a:lstStyle>
          <a:p>
            <a:endParaRPr lang="en-US"/>
          </a:p>
        </p:txBody>
      </p:sp>
      <p:sp>
        <p:nvSpPr>
          <p:cNvPr id="6147"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6148"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vl1pPr>
          </a:lstStyle>
          <a:p>
            <a:endParaRPr lang="en-US"/>
          </a:p>
        </p:txBody>
      </p:sp>
      <p:sp>
        <p:nvSpPr>
          <p:cNvPr id="6149"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37D44D0C-B02A-4C62-A03B-23C0670E435A}" type="slidenum">
              <a:rPr lang="en-US"/>
              <a:pPr/>
              <a:t>‹#›</a:t>
            </a:fld>
            <a:endParaRPr lang="en-US"/>
          </a:p>
        </p:txBody>
      </p:sp>
    </p:spTree>
    <p:extLst>
      <p:ext uri="{BB962C8B-B14F-4D97-AF65-F5344CB8AC3E}">
        <p14:creationId xmlns:p14="http://schemas.microsoft.com/office/powerpoint/2010/main" val="18773403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36CE50-9E7D-4CDF-8C8F-3321AEA25267}" type="datetimeFigureOut">
              <a:rPr lang="en-US" smtClean="0"/>
              <a:pPr/>
              <a:t>4/9/2015</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39459B-34B6-4CDA-B945-5A2462D19951}" type="slidenum">
              <a:rPr lang="en-CA" smtClean="0"/>
              <a:pPr/>
              <a:t>‹#›</a:t>
            </a:fld>
            <a:endParaRPr lang="en-CA"/>
          </a:p>
        </p:txBody>
      </p:sp>
    </p:spTree>
    <p:extLst>
      <p:ext uri="{BB962C8B-B14F-4D97-AF65-F5344CB8AC3E}">
        <p14:creationId xmlns:p14="http://schemas.microsoft.com/office/powerpoint/2010/main" val="2677099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gi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hasCustomPrompt="1"/>
          </p:nvPr>
        </p:nvSpPr>
        <p:spPr>
          <a:xfrm>
            <a:off x="990600" y="2797175"/>
            <a:ext cx="7239000" cy="1470025"/>
          </a:xfrm>
        </p:spPr>
        <p:txBody>
          <a:bodyPr/>
          <a:lstStyle>
            <a:lvl1pPr>
              <a:defRPr baseline="0"/>
            </a:lvl1pPr>
          </a:lstStyle>
          <a:p>
            <a:pPr lvl="0"/>
            <a:r>
              <a:rPr lang="en-US" noProof="0" dirty="0" smtClean="0"/>
              <a:t>Your </a:t>
            </a:r>
          </a:p>
        </p:txBody>
      </p:sp>
      <p:sp>
        <p:nvSpPr>
          <p:cNvPr id="3075" name="Rectangle 3"/>
          <p:cNvSpPr>
            <a:spLocks noGrp="1" noChangeArrowheads="1"/>
          </p:cNvSpPr>
          <p:nvPr>
            <p:ph type="subTitle" idx="1"/>
          </p:nvPr>
        </p:nvSpPr>
        <p:spPr>
          <a:xfrm>
            <a:off x="1752600" y="4267200"/>
            <a:ext cx="6019800" cy="1752600"/>
          </a:xfrm>
        </p:spPr>
        <p:txBody>
          <a:bodyPr/>
          <a:lstStyle>
            <a:lvl1pPr marL="0" indent="0">
              <a:buFontTx/>
              <a:buNone/>
              <a:defRPr sz="1400"/>
            </a:lvl1pPr>
          </a:lstStyle>
          <a:p>
            <a:pPr lvl="0"/>
            <a:r>
              <a:rPr lang="en-US" noProof="0" smtClean="0"/>
              <a:t>Sub Title</a:t>
            </a:r>
          </a:p>
        </p:txBody>
      </p:sp>
      <p:sp>
        <p:nvSpPr>
          <p:cNvPr id="3076" name="Rectangle 4"/>
          <p:cNvSpPr>
            <a:spLocks noGrp="1" noChangeArrowheads="1"/>
          </p:cNvSpPr>
          <p:nvPr>
            <p:ph type="dt" sz="half" idx="2"/>
          </p:nvPr>
        </p:nvSpPr>
        <p:spPr/>
        <p:txBody>
          <a:bodyPr/>
          <a:lstStyle>
            <a:lvl1pPr>
              <a:defRPr/>
            </a:lvl1pPr>
          </a:lstStyle>
          <a:p>
            <a:fld id="{A75EE78C-35AD-4809-B0EF-2F30548A824A}" type="datetime5">
              <a:rPr lang="en-US" smtClean="0"/>
              <a:pPr/>
              <a:t>9-Apr-15</a:t>
            </a:fld>
            <a:endParaRPr lang="en-US"/>
          </a:p>
        </p:txBody>
      </p:sp>
      <p:sp>
        <p:nvSpPr>
          <p:cNvPr id="3077" name="Rectangle 5"/>
          <p:cNvSpPr>
            <a:spLocks noGrp="1" noChangeArrowheads="1"/>
          </p:cNvSpPr>
          <p:nvPr>
            <p:ph type="ftr" sz="quarter" idx="3"/>
          </p:nvPr>
        </p:nvSpPr>
        <p:spPr/>
        <p:txBody>
          <a:bodyPr/>
          <a:lstStyle>
            <a:lvl1pPr>
              <a:defRPr/>
            </a:lvl1pPr>
          </a:lstStyle>
          <a:p>
            <a:r>
              <a:rPr lang="en-US" smtClean="0"/>
              <a:t>CSE 225: Digital Logic Design</a:t>
            </a:r>
            <a:endParaRPr lang="en-US"/>
          </a:p>
        </p:txBody>
      </p:sp>
      <p:sp>
        <p:nvSpPr>
          <p:cNvPr id="3078" name="Rectangle 6"/>
          <p:cNvSpPr>
            <a:spLocks noGrp="1" noChangeArrowheads="1"/>
          </p:cNvSpPr>
          <p:nvPr>
            <p:ph type="sldNum" sz="quarter" idx="4"/>
          </p:nvPr>
        </p:nvSpPr>
        <p:spPr/>
        <p:txBody>
          <a:bodyPr/>
          <a:lstStyle>
            <a:lvl1pPr>
              <a:defRPr/>
            </a:lvl1pPr>
          </a:lstStyle>
          <a:p>
            <a:fld id="{4B4629A1-273F-4E06-ACDC-D3805787C543}" type="slidenum">
              <a:rPr lang="en-US"/>
              <a:pPr/>
              <a:t>‹#›</a:t>
            </a:fld>
            <a:endParaRPr lang="en-US"/>
          </a:p>
        </p:txBody>
      </p:sp>
      <p:pic>
        <p:nvPicPr>
          <p:cNvPr id="11" name="Picture 10" descr="800px-UIU_Campus_3582FAB2.jpg"/>
          <p:cNvPicPr>
            <a:picLocks noChangeAspect="1"/>
          </p:cNvPicPr>
          <p:nvPr userDrawn="1"/>
        </p:nvPicPr>
        <p:blipFill>
          <a:blip r:embed="rId3" cstate="print"/>
          <a:srcRect b="12509"/>
          <a:stretch>
            <a:fillRect/>
          </a:stretch>
        </p:blipFill>
        <p:spPr>
          <a:xfrm>
            <a:off x="4953000" y="0"/>
            <a:ext cx="4191000" cy="2438400"/>
          </a:xfrm>
          <a:prstGeom prst="rect">
            <a:avLst/>
          </a:prstGeom>
          <a:ln>
            <a:noFill/>
          </a:ln>
          <a:effectLst>
            <a:outerShdw blurRad="292100" dist="139700" dir="2700000" algn="tl" rotWithShape="0">
              <a:srgbClr val="333333">
                <a:alpha val="65000"/>
              </a:srgbClr>
            </a:outerShdw>
          </a:effectLst>
        </p:spPr>
      </p:pic>
      <p:pic>
        <p:nvPicPr>
          <p:cNvPr id="10" name="Picture 9" descr="UIU_Logo.gif"/>
          <p:cNvPicPr>
            <a:picLocks noChangeAspect="1"/>
          </p:cNvPicPr>
          <p:nvPr userDrawn="1"/>
        </p:nvPicPr>
        <p:blipFill>
          <a:blip r:embed="rId4" cstate="print"/>
          <a:srcRect r="3379"/>
          <a:stretch>
            <a:fillRect/>
          </a:stretch>
        </p:blipFill>
        <p:spPr>
          <a:xfrm>
            <a:off x="0" y="381000"/>
            <a:ext cx="4876799" cy="1006324"/>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F93B0D4F-04A9-453B-B0A6-531991C794BD}" type="datetime5">
              <a:rPr lang="en-US" smtClean="0"/>
              <a:pPr/>
              <a:t>9-Apr-15</a:t>
            </a:fld>
            <a:endParaRPr lang="en-US"/>
          </a:p>
        </p:txBody>
      </p:sp>
      <p:sp>
        <p:nvSpPr>
          <p:cNvPr id="5" name="Footer Placeholder 4"/>
          <p:cNvSpPr>
            <a:spLocks noGrp="1"/>
          </p:cNvSpPr>
          <p:nvPr>
            <p:ph type="ftr" sz="quarter" idx="11"/>
          </p:nvPr>
        </p:nvSpPr>
        <p:spPr/>
        <p:txBody>
          <a:bodyPr/>
          <a:lstStyle>
            <a:lvl1pPr>
              <a:defRPr/>
            </a:lvl1pPr>
          </a:lstStyle>
          <a:p>
            <a:r>
              <a:rPr lang="en-US" smtClean="0"/>
              <a:t>CSE 225: Digital Logic Design</a:t>
            </a:r>
            <a:endParaRPr lang="en-US"/>
          </a:p>
        </p:txBody>
      </p:sp>
      <p:sp>
        <p:nvSpPr>
          <p:cNvPr id="6" name="Slide Number Placeholder 5"/>
          <p:cNvSpPr>
            <a:spLocks noGrp="1"/>
          </p:cNvSpPr>
          <p:nvPr>
            <p:ph type="sldNum" sz="quarter" idx="12"/>
          </p:nvPr>
        </p:nvSpPr>
        <p:spPr/>
        <p:txBody>
          <a:bodyPr/>
          <a:lstStyle>
            <a:lvl1pPr>
              <a:defRPr/>
            </a:lvl1pPr>
          </a:lstStyle>
          <a:p>
            <a:fld id="{35A8121A-BC65-4240-8B49-A7031E02F99B}" type="slidenum">
              <a:rPr lang="en-US"/>
              <a:pPr/>
              <a:t>‹#›</a:t>
            </a:fld>
            <a:endParaRPr lang="en-US"/>
          </a:p>
        </p:txBody>
      </p:sp>
    </p:spTree>
    <p:extLst>
      <p:ext uri="{BB962C8B-B14F-4D97-AF65-F5344CB8AC3E}">
        <p14:creationId xmlns:p14="http://schemas.microsoft.com/office/powerpoint/2010/main" val="722052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487B0EF3-DDE0-4548-A810-E5DE2D925974}" type="datetime5">
              <a:rPr lang="en-US" smtClean="0"/>
              <a:pPr/>
              <a:t>9-Apr-15</a:t>
            </a:fld>
            <a:endParaRPr lang="en-US"/>
          </a:p>
        </p:txBody>
      </p:sp>
      <p:sp>
        <p:nvSpPr>
          <p:cNvPr id="5" name="Footer Placeholder 4"/>
          <p:cNvSpPr>
            <a:spLocks noGrp="1"/>
          </p:cNvSpPr>
          <p:nvPr>
            <p:ph type="ftr" sz="quarter" idx="11"/>
          </p:nvPr>
        </p:nvSpPr>
        <p:spPr/>
        <p:txBody>
          <a:bodyPr/>
          <a:lstStyle>
            <a:lvl1pPr>
              <a:defRPr/>
            </a:lvl1pPr>
          </a:lstStyle>
          <a:p>
            <a:r>
              <a:rPr lang="en-US" smtClean="0"/>
              <a:t>CSE 225: Digital Logic Design</a:t>
            </a:r>
            <a:endParaRPr lang="en-US"/>
          </a:p>
        </p:txBody>
      </p:sp>
      <p:sp>
        <p:nvSpPr>
          <p:cNvPr id="6" name="Slide Number Placeholder 5"/>
          <p:cNvSpPr>
            <a:spLocks noGrp="1"/>
          </p:cNvSpPr>
          <p:nvPr>
            <p:ph type="sldNum" sz="quarter" idx="12"/>
          </p:nvPr>
        </p:nvSpPr>
        <p:spPr/>
        <p:txBody>
          <a:bodyPr/>
          <a:lstStyle>
            <a:lvl1pPr>
              <a:defRPr/>
            </a:lvl1pPr>
          </a:lstStyle>
          <a:p>
            <a:fld id="{E56020CF-1514-496E-BC35-A2974E3467EB}" type="slidenum">
              <a:rPr lang="en-US"/>
              <a:pPr/>
              <a:t>‹#›</a:t>
            </a:fld>
            <a:endParaRPr lang="en-US"/>
          </a:p>
        </p:txBody>
      </p:sp>
    </p:spTree>
    <p:extLst>
      <p:ext uri="{BB962C8B-B14F-4D97-AF65-F5344CB8AC3E}">
        <p14:creationId xmlns:p14="http://schemas.microsoft.com/office/powerpoint/2010/main" val="2229854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295400" y="1295400"/>
            <a:ext cx="38481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295900" y="1295400"/>
            <a:ext cx="38481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fld id="{72D091FA-F5FE-4D1F-A4A1-F545AF11A4AC}" type="datetime5">
              <a:rPr lang="en-US" smtClean="0"/>
              <a:pPr/>
              <a:t>9-Apr-15</a:t>
            </a:fld>
            <a:endParaRPr lang="en-US"/>
          </a:p>
        </p:txBody>
      </p:sp>
      <p:sp>
        <p:nvSpPr>
          <p:cNvPr id="6" name="Footer Placeholder 5"/>
          <p:cNvSpPr>
            <a:spLocks noGrp="1"/>
          </p:cNvSpPr>
          <p:nvPr>
            <p:ph type="ftr" sz="quarter" idx="11"/>
          </p:nvPr>
        </p:nvSpPr>
        <p:spPr/>
        <p:txBody>
          <a:bodyPr/>
          <a:lstStyle>
            <a:lvl1pPr>
              <a:defRPr/>
            </a:lvl1pPr>
          </a:lstStyle>
          <a:p>
            <a:r>
              <a:rPr lang="en-US" smtClean="0"/>
              <a:t>CSE 225: Digital Logic Design</a:t>
            </a:r>
            <a:endParaRPr lang="en-US"/>
          </a:p>
        </p:txBody>
      </p:sp>
      <p:sp>
        <p:nvSpPr>
          <p:cNvPr id="7" name="Slide Number Placeholder 6"/>
          <p:cNvSpPr>
            <a:spLocks noGrp="1"/>
          </p:cNvSpPr>
          <p:nvPr>
            <p:ph type="sldNum" sz="quarter" idx="12"/>
          </p:nvPr>
        </p:nvSpPr>
        <p:spPr/>
        <p:txBody>
          <a:bodyPr/>
          <a:lstStyle>
            <a:lvl1pPr>
              <a:defRPr/>
            </a:lvl1pPr>
          </a:lstStyle>
          <a:p>
            <a:fld id="{F5C6EE28-BF58-4997-98BA-7F06E3B9AD70}" type="slidenum">
              <a:rPr lang="en-US"/>
              <a:pPr/>
              <a:t>‹#›</a:t>
            </a:fld>
            <a:endParaRPr lang="en-US"/>
          </a:p>
        </p:txBody>
      </p:sp>
    </p:spTree>
    <p:extLst>
      <p:ext uri="{BB962C8B-B14F-4D97-AF65-F5344CB8AC3E}">
        <p14:creationId xmlns:p14="http://schemas.microsoft.com/office/powerpoint/2010/main" val="2604555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fld id="{71014E47-405C-4154-A0F4-A6EEC5EA70BA}" type="datetime5">
              <a:rPr lang="en-US" smtClean="0"/>
              <a:pPr/>
              <a:t>9-Apr-15</a:t>
            </a:fld>
            <a:endParaRPr lang="en-US"/>
          </a:p>
        </p:txBody>
      </p:sp>
      <p:sp>
        <p:nvSpPr>
          <p:cNvPr id="8" name="Footer Placeholder 7"/>
          <p:cNvSpPr>
            <a:spLocks noGrp="1"/>
          </p:cNvSpPr>
          <p:nvPr>
            <p:ph type="ftr" sz="quarter" idx="11"/>
          </p:nvPr>
        </p:nvSpPr>
        <p:spPr/>
        <p:txBody>
          <a:bodyPr/>
          <a:lstStyle>
            <a:lvl1pPr>
              <a:defRPr/>
            </a:lvl1pPr>
          </a:lstStyle>
          <a:p>
            <a:r>
              <a:rPr lang="en-US" smtClean="0"/>
              <a:t>CSE 225: Digital Logic Design</a:t>
            </a:r>
            <a:endParaRPr lang="en-US"/>
          </a:p>
        </p:txBody>
      </p:sp>
      <p:sp>
        <p:nvSpPr>
          <p:cNvPr id="9" name="Slide Number Placeholder 8"/>
          <p:cNvSpPr>
            <a:spLocks noGrp="1"/>
          </p:cNvSpPr>
          <p:nvPr>
            <p:ph type="sldNum" sz="quarter" idx="12"/>
          </p:nvPr>
        </p:nvSpPr>
        <p:spPr/>
        <p:txBody>
          <a:bodyPr/>
          <a:lstStyle>
            <a:lvl1pPr>
              <a:defRPr/>
            </a:lvl1pPr>
          </a:lstStyle>
          <a:p>
            <a:fld id="{C894A99C-875E-4529-A60E-BCD06F1B8E17}" type="slidenum">
              <a:rPr lang="en-US"/>
              <a:pPr/>
              <a:t>‹#›</a:t>
            </a:fld>
            <a:endParaRPr lang="en-US"/>
          </a:p>
        </p:txBody>
      </p:sp>
    </p:spTree>
    <p:extLst>
      <p:ext uri="{BB962C8B-B14F-4D97-AF65-F5344CB8AC3E}">
        <p14:creationId xmlns:p14="http://schemas.microsoft.com/office/powerpoint/2010/main" val="2366222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fld id="{38B65AA0-FAE8-4438-84D9-5B7723565DBE}" type="datetime5">
              <a:rPr lang="en-US" smtClean="0"/>
              <a:pPr/>
              <a:t>9-Apr-15</a:t>
            </a:fld>
            <a:endParaRPr lang="en-US"/>
          </a:p>
        </p:txBody>
      </p:sp>
      <p:sp>
        <p:nvSpPr>
          <p:cNvPr id="4" name="Footer Placeholder 3"/>
          <p:cNvSpPr>
            <a:spLocks noGrp="1"/>
          </p:cNvSpPr>
          <p:nvPr>
            <p:ph type="ftr" sz="quarter" idx="11"/>
          </p:nvPr>
        </p:nvSpPr>
        <p:spPr/>
        <p:txBody>
          <a:bodyPr/>
          <a:lstStyle>
            <a:lvl1pPr>
              <a:defRPr/>
            </a:lvl1pPr>
          </a:lstStyle>
          <a:p>
            <a:r>
              <a:rPr lang="en-US" smtClean="0"/>
              <a:t>CSE 225: Digital Logic Design</a:t>
            </a:r>
            <a:endParaRPr lang="en-US"/>
          </a:p>
        </p:txBody>
      </p:sp>
      <p:sp>
        <p:nvSpPr>
          <p:cNvPr id="5" name="Slide Number Placeholder 4"/>
          <p:cNvSpPr>
            <a:spLocks noGrp="1"/>
          </p:cNvSpPr>
          <p:nvPr>
            <p:ph type="sldNum" sz="quarter" idx="12"/>
          </p:nvPr>
        </p:nvSpPr>
        <p:spPr/>
        <p:txBody>
          <a:bodyPr/>
          <a:lstStyle>
            <a:lvl1pPr>
              <a:defRPr/>
            </a:lvl1pPr>
          </a:lstStyle>
          <a:p>
            <a:fld id="{CB1796DF-E0FE-4E7A-9D2A-718C847D3509}" type="slidenum">
              <a:rPr lang="en-US"/>
              <a:pPr/>
              <a:t>‹#›</a:t>
            </a:fld>
            <a:endParaRPr lang="en-US"/>
          </a:p>
        </p:txBody>
      </p:sp>
    </p:spTree>
    <p:extLst>
      <p:ext uri="{BB962C8B-B14F-4D97-AF65-F5344CB8AC3E}">
        <p14:creationId xmlns:p14="http://schemas.microsoft.com/office/powerpoint/2010/main" val="3028890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A73C3098-4D94-4BDF-9008-0523DE0BA4B9}" type="datetime5">
              <a:rPr lang="en-US" smtClean="0"/>
              <a:pPr/>
              <a:t>9-Apr-15</a:t>
            </a:fld>
            <a:endParaRPr lang="en-US"/>
          </a:p>
        </p:txBody>
      </p:sp>
      <p:sp>
        <p:nvSpPr>
          <p:cNvPr id="3" name="Footer Placeholder 2"/>
          <p:cNvSpPr>
            <a:spLocks noGrp="1"/>
          </p:cNvSpPr>
          <p:nvPr>
            <p:ph type="ftr" sz="quarter" idx="11"/>
          </p:nvPr>
        </p:nvSpPr>
        <p:spPr/>
        <p:txBody>
          <a:bodyPr/>
          <a:lstStyle>
            <a:lvl1pPr>
              <a:defRPr/>
            </a:lvl1pPr>
          </a:lstStyle>
          <a:p>
            <a:r>
              <a:rPr lang="en-US" smtClean="0"/>
              <a:t>CSE 225: Digital Logic Design</a:t>
            </a:r>
            <a:endParaRPr lang="en-US"/>
          </a:p>
        </p:txBody>
      </p:sp>
      <p:sp>
        <p:nvSpPr>
          <p:cNvPr id="4" name="Slide Number Placeholder 3"/>
          <p:cNvSpPr>
            <a:spLocks noGrp="1"/>
          </p:cNvSpPr>
          <p:nvPr>
            <p:ph type="sldNum" sz="quarter" idx="12"/>
          </p:nvPr>
        </p:nvSpPr>
        <p:spPr/>
        <p:txBody>
          <a:bodyPr/>
          <a:lstStyle>
            <a:lvl1pPr>
              <a:defRPr/>
            </a:lvl1pPr>
          </a:lstStyle>
          <a:p>
            <a:fld id="{1AD0AA0F-4CB8-41BA-B282-8EBF3BEB1937}" type="slidenum">
              <a:rPr lang="en-US"/>
              <a:pPr/>
              <a:t>‹#›</a:t>
            </a:fld>
            <a:endParaRPr lang="en-US"/>
          </a:p>
        </p:txBody>
      </p:sp>
    </p:spTree>
    <p:extLst>
      <p:ext uri="{BB962C8B-B14F-4D97-AF65-F5344CB8AC3E}">
        <p14:creationId xmlns:p14="http://schemas.microsoft.com/office/powerpoint/2010/main" val="2977980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9196E36D-A6E8-4C11-A43D-355ED785C9F0}" type="datetime5">
              <a:rPr lang="en-US" smtClean="0"/>
              <a:pPr/>
              <a:t>9-Apr-15</a:t>
            </a:fld>
            <a:endParaRPr lang="en-US"/>
          </a:p>
        </p:txBody>
      </p:sp>
      <p:sp>
        <p:nvSpPr>
          <p:cNvPr id="6" name="Footer Placeholder 5"/>
          <p:cNvSpPr>
            <a:spLocks noGrp="1"/>
          </p:cNvSpPr>
          <p:nvPr>
            <p:ph type="ftr" sz="quarter" idx="11"/>
          </p:nvPr>
        </p:nvSpPr>
        <p:spPr/>
        <p:txBody>
          <a:bodyPr/>
          <a:lstStyle>
            <a:lvl1pPr>
              <a:defRPr/>
            </a:lvl1pPr>
          </a:lstStyle>
          <a:p>
            <a:r>
              <a:rPr lang="en-US" smtClean="0"/>
              <a:t>CSE 225: Digital Logic Design</a:t>
            </a:r>
            <a:endParaRPr lang="en-US"/>
          </a:p>
        </p:txBody>
      </p:sp>
      <p:sp>
        <p:nvSpPr>
          <p:cNvPr id="7" name="Slide Number Placeholder 6"/>
          <p:cNvSpPr>
            <a:spLocks noGrp="1"/>
          </p:cNvSpPr>
          <p:nvPr>
            <p:ph type="sldNum" sz="quarter" idx="12"/>
          </p:nvPr>
        </p:nvSpPr>
        <p:spPr/>
        <p:txBody>
          <a:bodyPr/>
          <a:lstStyle>
            <a:lvl1pPr>
              <a:defRPr/>
            </a:lvl1pPr>
          </a:lstStyle>
          <a:p>
            <a:fld id="{E22EBD2E-2ED0-477B-8430-90466F94013E}" type="slidenum">
              <a:rPr lang="en-US"/>
              <a:pPr/>
              <a:t>‹#›</a:t>
            </a:fld>
            <a:endParaRPr lang="en-US"/>
          </a:p>
        </p:txBody>
      </p:sp>
    </p:spTree>
    <p:extLst>
      <p:ext uri="{BB962C8B-B14F-4D97-AF65-F5344CB8AC3E}">
        <p14:creationId xmlns:p14="http://schemas.microsoft.com/office/powerpoint/2010/main" val="957086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352706C2-7D13-40C5-BEF6-8C1213806C70}" type="datetime5">
              <a:rPr lang="en-US" smtClean="0"/>
              <a:pPr/>
              <a:t>9-Apr-15</a:t>
            </a:fld>
            <a:endParaRPr lang="en-US"/>
          </a:p>
        </p:txBody>
      </p:sp>
      <p:sp>
        <p:nvSpPr>
          <p:cNvPr id="6" name="Footer Placeholder 5"/>
          <p:cNvSpPr>
            <a:spLocks noGrp="1"/>
          </p:cNvSpPr>
          <p:nvPr>
            <p:ph type="ftr" sz="quarter" idx="11"/>
          </p:nvPr>
        </p:nvSpPr>
        <p:spPr/>
        <p:txBody>
          <a:bodyPr/>
          <a:lstStyle>
            <a:lvl1pPr>
              <a:defRPr/>
            </a:lvl1pPr>
          </a:lstStyle>
          <a:p>
            <a:r>
              <a:rPr lang="en-US" smtClean="0"/>
              <a:t>CSE 225: Digital Logic Design</a:t>
            </a:r>
            <a:endParaRPr lang="en-US"/>
          </a:p>
        </p:txBody>
      </p:sp>
      <p:sp>
        <p:nvSpPr>
          <p:cNvPr id="7" name="Slide Number Placeholder 6"/>
          <p:cNvSpPr>
            <a:spLocks noGrp="1"/>
          </p:cNvSpPr>
          <p:nvPr>
            <p:ph type="sldNum" sz="quarter" idx="12"/>
          </p:nvPr>
        </p:nvSpPr>
        <p:spPr/>
        <p:txBody>
          <a:bodyPr/>
          <a:lstStyle>
            <a:lvl1pPr>
              <a:defRPr/>
            </a:lvl1pPr>
          </a:lstStyle>
          <a:p>
            <a:fld id="{62971FB5-C5F6-4D05-BB8A-8A7E3DE8E00E}" type="slidenum">
              <a:rPr lang="en-US"/>
              <a:pPr/>
              <a:t>‹#›</a:t>
            </a:fld>
            <a:endParaRPr lang="en-US"/>
          </a:p>
        </p:txBody>
      </p:sp>
    </p:spTree>
    <p:extLst>
      <p:ext uri="{BB962C8B-B14F-4D97-AF65-F5344CB8AC3E}">
        <p14:creationId xmlns:p14="http://schemas.microsoft.com/office/powerpoint/2010/main" val="2459787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82DBE5AC-08E7-4B0C-83E4-6FEECE542350}" type="datetime5">
              <a:rPr lang="en-US" smtClean="0"/>
              <a:pPr/>
              <a:t>9-Apr-15</a:t>
            </a:fld>
            <a:endParaRPr lang="en-US"/>
          </a:p>
        </p:txBody>
      </p:sp>
      <p:sp>
        <p:nvSpPr>
          <p:cNvPr id="5" name="Footer Placeholder 4"/>
          <p:cNvSpPr>
            <a:spLocks noGrp="1"/>
          </p:cNvSpPr>
          <p:nvPr>
            <p:ph type="ftr" sz="quarter" idx="11"/>
          </p:nvPr>
        </p:nvSpPr>
        <p:spPr/>
        <p:txBody>
          <a:bodyPr/>
          <a:lstStyle>
            <a:lvl1pPr>
              <a:defRPr/>
            </a:lvl1pPr>
          </a:lstStyle>
          <a:p>
            <a:r>
              <a:rPr lang="en-US" smtClean="0"/>
              <a:t>CSE 225: Digital Logic Design</a:t>
            </a:r>
            <a:endParaRPr lang="en-US"/>
          </a:p>
        </p:txBody>
      </p:sp>
      <p:sp>
        <p:nvSpPr>
          <p:cNvPr id="6" name="Slide Number Placeholder 5"/>
          <p:cNvSpPr>
            <a:spLocks noGrp="1"/>
          </p:cNvSpPr>
          <p:nvPr>
            <p:ph type="sldNum" sz="quarter" idx="12"/>
          </p:nvPr>
        </p:nvSpPr>
        <p:spPr/>
        <p:txBody>
          <a:bodyPr/>
          <a:lstStyle>
            <a:lvl1pPr>
              <a:defRPr/>
            </a:lvl1pPr>
          </a:lstStyle>
          <a:p>
            <a:fld id="{D0CE48AE-F3F0-426D-94A9-C7CF15689FE5}" type="slidenum">
              <a:rPr lang="en-US"/>
              <a:pPr/>
              <a:t>‹#›</a:t>
            </a:fld>
            <a:endParaRPr lang="en-US"/>
          </a:p>
        </p:txBody>
      </p:sp>
    </p:spTree>
    <p:extLst>
      <p:ext uri="{BB962C8B-B14F-4D97-AF65-F5344CB8AC3E}">
        <p14:creationId xmlns:p14="http://schemas.microsoft.com/office/powerpoint/2010/main" val="3993213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81850" y="381000"/>
            <a:ext cx="1962150" cy="6172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295400" y="381000"/>
            <a:ext cx="5734050" cy="6172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042922B6-37D1-4AAD-B85C-D4767C0D0C98}" type="datetime5">
              <a:rPr lang="en-US" smtClean="0"/>
              <a:pPr/>
              <a:t>9-Apr-15</a:t>
            </a:fld>
            <a:endParaRPr lang="en-US"/>
          </a:p>
        </p:txBody>
      </p:sp>
      <p:sp>
        <p:nvSpPr>
          <p:cNvPr id="5" name="Footer Placeholder 4"/>
          <p:cNvSpPr>
            <a:spLocks noGrp="1"/>
          </p:cNvSpPr>
          <p:nvPr>
            <p:ph type="ftr" sz="quarter" idx="11"/>
          </p:nvPr>
        </p:nvSpPr>
        <p:spPr/>
        <p:txBody>
          <a:bodyPr/>
          <a:lstStyle>
            <a:lvl1pPr>
              <a:defRPr/>
            </a:lvl1pPr>
          </a:lstStyle>
          <a:p>
            <a:r>
              <a:rPr lang="en-US" smtClean="0"/>
              <a:t>CSE 225: Digital Logic Design</a:t>
            </a:r>
            <a:endParaRPr lang="en-US"/>
          </a:p>
        </p:txBody>
      </p:sp>
      <p:sp>
        <p:nvSpPr>
          <p:cNvPr id="6" name="Slide Number Placeholder 5"/>
          <p:cNvSpPr>
            <a:spLocks noGrp="1"/>
          </p:cNvSpPr>
          <p:nvPr>
            <p:ph type="sldNum" sz="quarter" idx="12"/>
          </p:nvPr>
        </p:nvSpPr>
        <p:spPr/>
        <p:txBody>
          <a:bodyPr/>
          <a:lstStyle>
            <a:lvl1pPr>
              <a:defRPr/>
            </a:lvl1pPr>
          </a:lstStyle>
          <a:p>
            <a:fld id="{0F383741-8A21-4434-937A-618F9D9BE920}" type="slidenum">
              <a:rPr lang="en-US"/>
              <a:pPr/>
              <a:t>‹#›</a:t>
            </a:fld>
            <a:endParaRPr lang="en-US"/>
          </a:p>
        </p:txBody>
      </p:sp>
    </p:spTree>
    <p:extLst>
      <p:ext uri="{BB962C8B-B14F-4D97-AF65-F5344CB8AC3E}">
        <p14:creationId xmlns:p14="http://schemas.microsoft.com/office/powerpoint/2010/main" val="9237305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fld id="{B2E1C737-3614-4BBC-9DCF-DDB74A7C5AF9}" type="datetime5">
              <a:rPr lang="en-US" smtClean="0"/>
              <a:pPr/>
              <a:t>9-Apr-15</a:t>
            </a:fld>
            <a:endParaRPr lang="en-US"/>
          </a:p>
        </p:txBody>
      </p:sp>
      <p:sp>
        <p:nvSpPr>
          <p:cNvPr id="5" name="Footer Placeholder 4"/>
          <p:cNvSpPr>
            <a:spLocks noGrp="1"/>
          </p:cNvSpPr>
          <p:nvPr>
            <p:ph type="ftr" sz="quarter" idx="11"/>
          </p:nvPr>
        </p:nvSpPr>
        <p:spPr/>
        <p:txBody>
          <a:bodyPr/>
          <a:lstStyle>
            <a:lvl1pPr>
              <a:defRPr/>
            </a:lvl1pPr>
          </a:lstStyle>
          <a:p>
            <a:r>
              <a:rPr lang="en-US" smtClean="0"/>
              <a:t>CSE 225: Digital Logic Design</a:t>
            </a:r>
            <a:endParaRPr lang="en-US"/>
          </a:p>
        </p:txBody>
      </p:sp>
      <p:sp>
        <p:nvSpPr>
          <p:cNvPr id="6" name="Slide Number Placeholder 5"/>
          <p:cNvSpPr>
            <a:spLocks noGrp="1"/>
          </p:cNvSpPr>
          <p:nvPr>
            <p:ph type="sldNum" sz="quarter" idx="12"/>
          </p:nvPr>
        </p:nvSpPr>
        <p:spPr/>
        <p:txBody>
          <a:bodyPr/>
          <a:lstStyle>
            <a:lvl1pPr>
              <a:defRPr/>
            </a:lvl1pPr>
          </a:lstStyle>
          <a:p>
            <a:fld id="{BFBD332D-5F35-4D57-BE33-A3E062B219D3}" type="slidenum">
              <a:rPr lang="en-US"/>
              <a:pPr/>
              <a:t>‹#›</a:t>
            </a:fld>
            <a:endParaRPr lang="en-US"/>
          </a:p>
        </p:txBody>
      </p:sp>
    </p:spTree>
    <p:extLst>
      <p:ext uri="{BB962C8B-B14F-4D97-AF65-F5344CB8AC3E}">
        <p14:creationId xmlns:p14="http://schemas.microsoft.com/office/powerpoint/2010/main" val="18145059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43000" y="304800"/>
            <a:ext cx="7328848" cy="609600"/>
          </a:xfr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1143000" y="1066800"/>
            <a:ext cx="7772400" cy="5029200"/>
          </a:xfrm>
        </p:spPr>
        <p:txBody>
          <a:bodyPr/>
          <a:lstStyle>
            <a:lvl1pPr>
              <a:buSzPct val="115000"/>
              <a:buFont typeface="Arial" pitchFamily="34" charset="0"/>
              <a:buChar char="•"/>
              <a:defRPr sz="2400"/>
            </a:lvl1pPr>
            <a:lvl2pPr>
              <a:buSzPct val="80000"/>
              <a:buFont typeface="Courier New" pitchFamily="49" charset="0"/>
              <a:buChar char="o"/>
              <a:defRPr sz="2000"/>
            </a:lvl2pPr>
            <a:lvl3pPr>
              <a:defRPr sz="1800"/>
            </a:lvl3pPr>
            <a:lvl4pPr>
              <a:defRPr sz="1800"/>
            </a:lvl4pPr>
            <a:lvl5pPr>
              <a:defRPr sz="1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a:xfrm>
            <a:off x="457200" y="6351896"/>
            <a:ext cx="2133600" cy="476250"/>
          </a:xfrm>
        </p:spPr>
        <p:txBody>
          <a:bodyPr/>
          <a:lstStyle>
            <a:lvl1pPr>
              <a:defRPr/>
            </a:lvl1pPr>
          </a:lstStyle>
          <a:p>
            <a:fld id="{C496562B-8786-4769-A4C9-F5F316D27C5E}" type="datetime5">
              <a:rPr lang="en-US" smtClean="0"/>
              <a:pPr/>
              <a:t>9-Apr-15</a:t>
            </a:fld>
            <a:endParaRPr lang="en-US"/>
          </a:p>
        </p:txBody>
      </p:sp>
      <p:sp>
        <p:nvSpPr>
          <p:cNvPr id="5" name="Footer Placeholder 4"/>
          <p:cNvSpPr>
            <a:spLocks noGrp="1"/>
          </p:cNvSpPr>
          <p:nvPr>
            <p:ph type="ftr" sz="quarter" idx="11"/>
          </p:nvPr>
        </p:nvSpPr>
        <p:spPr>
          <a:xfrm>
            <a:off x="2743200" y="6324600"/>
            <a:ext cx="3657600" cy="476250"/>
          </a:xfrm>
        </p:spPr>
        <p:txBody>
          <a:bodyPr/>
          <a:lstStyle>
            <a:lvl1pPr>
              <a:defRPr/>
            </a:lvl1pPr>
          </a:lstStyle>
          <a:p>
            <a:r>
              <a:rPr lang="en-US" smtClean="0"/>
              <a:t>CSE 225: Digital Logic Design</a:t>
            </a:r>
            <a:endParaRPr lang="en-US"/>
          </a:p>
        </p:txBody>
      </p:sp>
      <p:sp>
        <p:nvSpPr>
          <p:cNvPr id="6" name="Slide Number Placeholder 5"/>
          <p:cNvSpPr>
            <a:spLocks noGrp="1"/>
          </p:cNvSpPr>
          <p:nvPr>
            <p:ph type="sldNum" sz="quarter" idx="12"/>
          </p:nvPr>
        </p:nvSpPr>
        <p:spPr>
          <a:xfrm>
            <a:off x="6629400" y="6324600"/>
            <a:ext cx="2133600" cy="476250"/>
          </a:xfrm>
        </p:spPr>
        <p:txBody>
          <a:bodyPr/>
          <a:lstStyle>
            <a:lvl1pPr>
              <a:defRPr/>
            </a:lvl1pPr>
          </a:lstStyle>
          <a:p>
            <a:fld id="{15CD6780-CDB5-4341-BE76-A36E52D8C546}" type="slidenum">
              <a:rPr lang="en-US"/>
              <a:pPr/>
              <a:t>‹#›</a:t>
            </a:fld>
            <a:endParaRPr lang="en-US"/>
          </a:p>
        </p:txBody>
      </p:sp>
    </p:spTree>
    <p:extLst>
      <p:ext uri="{BB962C8B-B14F-4D97-AF65-F5344CB8AC3E}">
        <p14:creationId xmlns:p14="http://schemas.microsoft.com/office/powerpoint/2010/main" val="40975161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77ACDD07-EA10-415D-9526-07B4700A3967}" type="datetime5">
              <a:rPr lang="en-US" smtClean="0"/>
              <a:pPr/>
              <a:t>9-Apr-15</a:t>
            </a:fld>
            <a:endParaRPr lang="en-US"/>
          </a:p>
        </p:txBody>
      </p:sp>
      <p:sp>
        <p:nvSpPr>
          <p:cNvPr id="5" name="Footer Placeholder 4"/>
          <p:cNvSpPr>
            <a:spLocks noGrp="1"/>
          </p:cNvSpPr>
          <p:nvPr>
            <p:ph type="ftr" sz="quarter" idx="11"/>
          </p:nvPr>
        </p:nvSpPr>
        <p:spPr/>
        <p:txBody>
          <a:bodyPr/>
          <a:lstStyle>
            <a:lvl1pPr>
              <a:defRPr/>
            </a:lvl1pPr>
          </a:lstStyle>
          <a:p>
            <a:r>
              <a:rPr lang="en-US" smtClean="0"/>
              <a:t>CSE 225: Digital Logic Design</a:t>
            </a:r>
            <a:endParaRPr lang="en-US"/>
          </a:p>
        </p:txBody>
      </p:sp>
      <p:sp>
        <p:nvSpPr>
          <p:cNvPr id="6" name="Slide Number Placeholder 5"/>
          <p:cNvSpPr>
            <a:spLocks noGrp="1"/>
          </p:cNvSpPr>
          <p:nvPr>
            <p:ph type="sldNum" sz="quarter" idx="12"/>
          </p:nvPr>
        </p:nvSpPr>
        <p:spPr/>
        <p:txBody>
          <a:bodyPr/>
          <a:lstStyle>
            <a:lvl1pPr>
              <a:defRPr/>
            </a:lvl1pPr>
          </a:lstStyle>
          <a:p>
            <a:fld id="{44A615FD-BD52-4B9B-BE83-317E843D90D9}" type="slidenum">
              <a:rPr lang="en-US"/>
              <a:pPr/>
              <a:t>‹#›</a:t>
            </a:fld>
            <a:endParaRPr lang="en-US"/>
          </a:p>
        </p:txBody>
      </p:sp>
    </p:spTree>
    <p:extLst>
      <p:ext uri="{BB962C8B-B14F-4D97-AF65-F5344CB8AC3E}">
        <p14:creationId xmlns:p14="http://schemas.microsoft.com/office/powerpoint/2010/main" val="29988878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371600" y="1265238"/>
            <a:ext cx="3638550" cy="42211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162550" y="1265238"/>
            <a:ext cx="3638550" cy="42211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fld id="{FFFB2A95-AFD3-472D-A317-C0D72E55E34E}" type="datetime5">
              <a:rPr lang="en-US" smtClean="0"/>
              <a:pPr/>
              <a:t>9-Apr-15</a:t>
            </a:fld>
            <a:endParaRPr lang="en-US"/>
          </a:p>
        </p:txBody>
      </p:sp>
      <p:sp>
        <p:nvSpPr>
          <p:cNvPr id="6" name="Footer Placeholder 5"/>
          <p:cNvSpPr>
            <a:spLocks noGrp="1"/>
          </p:cNvSpPr>
          <p:nvPr>
            <p:ph type="ftr" sz="quarter" idx="11"/>
          </p:nvPr>
        </p:nvSpPr>
        <p:spPr/>
        <p:txBody>
          <a:bodyPr/>
          <a:lstStyle>
            <a:lvl1pPr>
              <a:defRPr/>
            </a:lvl1pPr>
          </a:lstStyle>
          <a:p>
            <a:r>
              <a:rPr lang="en-US" smtClean="0"/>
              <a:t>CSE 225: Digital Logic Design</a:t>
            </a:r>
            <a:endParaRPr lang="en-US"/>
          </a:p>
        </p:txBody>
      </p:sp>
      <p:sp>
        <p:nvSpPr>
          <p:cNvPr id="7" name="Slide Number Placeholder 6"/>
          <p:cNvSpPr>
            <a:spLocks noGrp="1"/>
          </p:cNvSpPr>
          <p:nvPr>
            <p:ph type="sldNum" sz="quarter" idx="12"/>
          </p:nvPr>
        </p:nvSpPr>
        <p:spPr/>
        <p:txBody>
          <a:bodyPr/>
          <a:lstStyle>
            <a:lvl1pPr>
              <a:defRPr/>
            </a:lvl1pPr>
          </a:lstStyle>
          <a:p>
            <a:fld id="{52DA3C12-3926-4EB4-B88B-CFFED6CCD503}" type="slidenum">
              <a:rPr lang="en-US"/>
              <a:pPr/>
              <a:t>‹#›</a:t>
            </a:fld>
            <a:endParaRPr lang="en-US"/>
          </a:p>
        </p:txBody>
      </p:sp>
    </p:spTree>
    <p:extLst>
      <p:ext uri="{BB962C8B-B14F-4D97-AF65-F5344CB8AC3E}">
        <p14:creationId xmlns:p14="http://schemas.microsoft.com/office/powerpoint/2010/main" val="13427837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fld id="{4A3E21A1-3E2A-43FF-AF80-3E8A8C7199D5}" type="datetime5">
              <a:rPr lang="en-US" smtClean="0"/>
              <a:pPr/>
              <a:t>9-Apr-15</a:t>
            </a:fld>
            <a:endParaRPr lang="en-US"/>
          </a:p>
        </p:txBody>
      </p:sp>
      <p:sp>
        <p:nvSpPr>
          <p:cNvPr id="8" name="Footer Placeholder 7"/>
          <p:cNvSpPr>
            <a:spLocks noGrp="1"/>
          </p:cNvSpPr>
          <p:nvPr>
            <p:ph type="ftr" sz="quarter" idx="11"/>
          </p:nvPr>
        </p:nvSpPr>
        <p:spPr/>
        <p:txBody>
          <a:bodyPr/>
          <a:lstStyle>
            <a:lvl1pPr>
              <a:defRPr/>
            </a:lvl1pPr>
          </a:lstStyle>
          <a:p>
            <a:r>
              <a:rPr lang="en-US" smtClean="0"/>
              <a:t>CSE 225: Digital Logic Design</a:t>
            </a:r>
            <a:endParaRPr lang="en-US"/>
          </a:p>
        </p:txBody>
      </p:sp>
      <p:sp>
        <p:nvSpPr>
          <p:cNvPr id="9" name="Slide Number Placeholder 8"/>
          <p:cNvSpPr>
            <a:spLocks noGrp="1"/>
          </p:cNvSpPr>
          <p:nvPr>
            <p:ph type="sldNum" sz="quarter" idx="12"/>
          </p:nvPr>
        </p:nvSpPr>
        <p:spPr/>
        <p:txBody>
          <a:bodyPr/>
          <a:lstStyle>
            <a:lvl1pPr>
              <a:defRPr/>
            </a:lvl1pPr>
          </a:lstStyle>
          <a:p>
            <a:fld id="{30F47421-0CDC-478E-A7CA-01DA3B1837FB}" type="slidenum">
              <a:rPr lang="en-US"/>
              <a:pPr/>
              <a:t>‹#›</a:t>
            </a:fld>
            <a:endParaRPr lang="en-US"/>
          </a:p>
        </p:txBody>
      </p:sp>
    </p:spTree>
    <p:extLst>
      <p:ext uri="{BB962C8B-B14F-4D97-AF65-F5344CB8AC3E}">
        <p14:creationId xmlns:p14="http://schemas.microsoft.com/office/powerpoint/2010/main" val="32049244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fld id="{74E92149-7AC7-4794-AB42-3762BC5B38F7}" type="datetime5">
              <a:rPr lang="en-US" smtClean="0"/>
              <a:pPr/>
              <a:t>9-Apr-15</a:t>
            </a:fld>
            <a:endParaRPr lang="en-US"/>
          </a:p>
        </p:txBody>
      </p:sp>
      <p:sp>
        <p:nvSpPr>
          <p:cNvPr id="4" name="Footer Placeholder 3"/>
          <p:cNvSpPr>
            <a:spLocks noGrp="1"/>
          </p:cNvSpPr>
          <p:nvPr>
            <p:ph type="ftr" sz="quarter" idx="11"/>
          </p:nvPr>
        </p:nvSpPr>
        <p:spPr/>
        <p:txBody>
          <a:bodyPr/>
          <a:lstStyle>
            <a:lvl1pPr>
              <a:defRPr/>
            </a:lvl1pPr>
          </a:lstStyle>
          <a:p>
            <a:r>
              <a:rPr lang="en-US" smtClean="0"/>
              <a:t>CSE 225: Digital Logic Design</a:t>
            </a:r>
            <a:endParaRPr lang="en-US"/>
          </a:p>
        </p:txBody>
      </p:sp>
      <p:sp>
        <p:nvSpPr>
          <p:cNvPr id="5" name="Slide Number Placeholder 4"/>
          <p:cNvSpPr>
            <a:spLocks noGrp="1"/>
          </p:cNvSpPr>
          <p:nvPr>
            <p:ph type="sldNum" sz="quarter" idx="12"/>
          </p:nvPr>
        </p:nvSpPr>
        <p:spPr/>
        <p:txBody>
          <a:bodyPr/>
          <a:lstStyle>
            <a:lvl1pPr>
              <a:defRPr/>
            </a:lvl1pPr>
          </a:lstStyle>
          <a:p>
            <a:fld id="{E4500C6D-0BCF-4C30-982F-97586F9E6415}" type="slidenum">
              <a:rPr lang="en-US"/>
              <a:pPr/>
              <a:t>‹#›</a:t>
            </a:fld>
            <a:endParaRPr lang="en-US"/>
          </a:p>
        </p:txBody>
      </p:sp>
    </p:spTree>
    <p:extLst>
      <p:ext uri="{BB962C8B-B14F-4D97-AF65-F5344CB8AC3E}">
        <p14:creationId xmlns:p14="http://schemas.microsoft.com/office/powerpoint/2010/main" val="24556771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51BB12EA-6002-4B86-8696-DF9860CADDA1}" type="datetime5">
              <a:rPr lang="en-US" smtClean="0"/>
              <a:pPr/>
              <a:t>9-Apr-15</a:t>
            </a:fld>
            <a:endParaRPr lang="en-US"/>
          </a:p>
        </p:txBody>
      </p:sp>
      <p:sp>
        <p:nvSpPr>
          <p:cNvPr id="3" name="Footer Placeholder 2"/>
          <p:cNvSpPr>
            <a:spLocks noGrp="1"/>
          </p:cNvSpPr>
          <p:nvPr>
            <p:ph type="ftr" sz="quarter" idx="11"/>
          </p:nvPr>
        </p:nvSpPr>
        <p:spPr/>
        <p:txBody>
          <a:bodyPr/>
          <a:lstStyle>
            <a:lvl1pPr>
              <a:defRPr/>
            </a:lvl1pPr>
          </a:lstStyle>
          <a:p>
            <a:r>
              <a:rPr lang="en-US" smtClean="0"/>
              <a:t>CSE 225: Digital Logic Design</a:t>
            </a:r>
            <a:endParaRPr lang="en-US"/>
          </a:p>
        </p:txBody>
      </p:sp>
      <p:sp>
        <p:nvSpPr>
          <p:cNvPr id="4" name="Slide Number Placeholder 3"/>
          <p:cNvSpPr>
            <a:spLocks noGrp="1"/>
          </p:cNvSpPr>
          <p:nvPr>
            <p:ph type="sldNum" sz="quarter" idx="12"/>
          </p:nvPr>
        </p:nvSpPr>
        <p:spPr/>
        <p:txBody>
          <a:bodyPr/>
          <a:lstStyle>
            <a:lvl1pPr>
              <a:defRPr/>
            </a:lvl1pPr>
          </a:lstStyle>
          <a:p>
            <a:fld id="{56CE49BA-5AA6-4557-AA0E-BB7E1350362E}" type="slidenum">
              <a:rPr lang="en-US"/>
              <a:pPr/>
              <a:t>‹#›</a:t>
            </a:fld>
            <a:endParaRPr lang="en-US"/>
          </a:p>
        </p:txBody>
      </p:sp>
    </p:spTree>
    <p:extLst>
      <p:ext uri="{BB962C8B-B14F-4D97-AF65-F5344CB8AC3E}">
        <p14:creationId xmlns:p14="http://schemas.microsoft.com/office/powerpoint/2010/main" val="13307925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B3D3501B-E948-46FB-ACF6-697236CBF662}" type="datetime5">
              <a:rPr lang="en-US" smtClean="0"/>
              <a:pPr/>
              <a:t>9-Apr-15</a:t>
            </a:fld>
            <a:endParaRPr lang="en-US"/>
          </a:p>
        </p:txBody>
      </p:sp>
      <p:sp>
        <p:nvSpPr>
          <p:cNvPr id="6" name="Footer Placeholder 5"/>
          <p:cNvSpPr>
            <a:spLocks noGrp="1"/>
          </p:cNvSpPr>
          <p:nvPr>
            <p:ph type="ftr" sz="quarter" idx="11"/>
          </p:nvPr>
        </p:nvSpPr>
        <p:spPr/>
        <p:txBody>
          <a:bodyPr/>
          <a:lstStyle>
            <a:lvl1pPr>
              <a:defRPr/>
            </a:lvl1pPr>
          </a:lstStyle>
          <a:p>
            <a:r>
              <a:rPr lang="en-US" smtClean="0"/>
              <a:t>CSE 225: Digital Logic Design</a:t>
            </a:r>
            <a:endParaRPr lang="en-US"/>
          </a:p>
        </p:txBody>
      </p:sp>
      <p:sp>
        <p:nvSpPr>
          <p:cNvPr id="7" name="Slide Number Placeholder 6"/>
          <p:cNvSpPr>
            <a:spLocks noGrp="1"/>
          </p:cNvSpPr>
          <p:nvPr>
            <p:ph type="sldNum" sz="quarter" idx="12"/>
          </p:nvPr>
        </p:nvSpPr>
        <p:spPr/>
        <p:txBody>
          <a:bodyPr/>
          <a:lstStyle>
            <a:lvl1pPr>
              <a:defRPr/>
            </a:lvl1pPr>
          </a:lstStyle>
          <a:p>
            <a:fld id="{E275D357-93F4-4CA6-9F27-64659B73E243}" type="slidenum">
              <a:rPr lang="en-US"/>
              <a:pPr/>
              <a:t>‹#›</a:t>
            </a:fld>
            <a:endParaRPr lang="en-US"/>
          </a:p>
        </p:txBody>
      </p:sp>
    </p:spTree>
    <p:extLst>
      <p:ext uri="{BB962C8B-B14F-4D97-AF65-F5344CB8AC3E}">
        <p14:creationId xmlns:p14="http://schemas.microsoft.com/office/powerpoint/2010/main" val="38525382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1B2EA741-CF20-4EE4-AEC9-091E61EAF560}" type="datetime5">
              <a:rPr lang="en-US" smtClean="0"/>
              <a:pPr/>
              <a:t>9-Apr-15</a:t>
            </a:fld>
            <a:endParaRPr lang="en-US"/>
          </a:p>
        </p:txBody>
      </p:sp>
      <p:sp>
        <p:nvSpPr>
          <p:cNvPr id="6" name="Footer Placeholder 5"/>
          <p:cNvSpPr>
            <a:spLocks noGrp="1"/>
          </p:cNvSpPr>
          <p:nvPr>
            <p:ph type="ftr" sz="quarter" idx="11"/>
          </p:nvPr>
        </p:nvSpPr>
        <p:spPr/>
        <p:txBody>
          <a:bodyPr/>
          <a:lstStyle>
            <a:lvl1pPr>
              <a:defRPr/>
            </a:lvl1pPr>
          </a:lstStyle>
          <a:p>
            <a:r>
              <a:rPr lang="en-US" smtClean="0"/>
              <a:t>CSE 225: Digital Logic Design</a:t>
            </a:r>
            <a:endParaRPr lang="en-US"/>
          </a:p>
        </p:txBody>
      </p:sp>
      <p:sp>
        <p:nvSpPr>
          <p:cNvPr id="7" name="Slide Number Placeholder 6"/>
          <p:cNvSpPr>
            <a:spLocks noGrp="1"/>
          </p:cNvSpPr>
          <p:nvPr>
            <p:ph type="sldNum" sz="quarter" idx="12"/>
          </p:nvPr>
        </p:nvSpPr>
        <p:spPr/>
        <p:txBody>
          <a:bodyPr/>
          <a:lstStyle>
            <a:lvl1pPr>
              <a:defRPr/>
            </a:lvl1pPr>
          </a:lstStyle>
          <a:p>
            <a:fld id="{7EE7CDFA-D5E7-4007-A74C-A6327031F828}" type="slidenum">
              <a:rPr lang="en-US"/>
              <a:pPr/>
              <a:t>‹#›</a:t>
            </a:fld>
            <a:endParaRPr lang="en-US"/>
          </a:p>
        </p:txBody>
      </p:sp>
    </p:spTree>
    <p:extLst>
      <p:ext uri="{BB962C8B-B14F-4D97-AF65-F5344CB8AC3E}">
        <p14:creationId xmlns:p14="http://schemas.microsoft.com/office/powerpoint/2010/main" val="21892878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95B03394-8F23-4A3D-B78D-0C8BB768227E}" type="datetime5">
              <a:rPr lang="en-US" smtClean="0"/>
              <a:pPr/>
              <a:t>9-Apr-15</a:t>
            </a:fld>
            <a:endParaRPr lang="en-US"/>
          </a:p>
        </p:txBody>
      </p:sp>
      <p:sp>
        <p:nvSpPr>
          <p:cNvPr id="5" name="Footer Placeholder 4"/>
          <p:cNvSpPr>
            <a:spLocks noGrp="1"/>
          </p:cNvSpPr>
          <p:nvPr>
            <p:ph type="ftr" sz="quarter" idx="11"/>
          </p:nvPr>
        </p:nvSpPr>
        <p:spPr/>
        <p:txBody>
          <a:bodyPr/>
          <a:lstStyle>
            <a:lvl1pPr>
              <a:defRPr/>
            </a:lvl1pPr>
          </a:lstStyle>
          <a:p>
            <a:r>
              <a:rPr lang="en-US" smtClean="0"/>
              <a:t>CSE 225: Digital Logic Design</a:t>
            </a:r>
            <a:endParaRPr lang="en-US"/>
          </a:p>
        </p:txBody>
      </p:sp>
      <p:sp>
        <p:nvSpPr>
          <p:cNvPr id="6" name="Slide Number Placeholder 5"/>
          <p:cNvSpPr>
            <a:spLocks noGrp="1"/>
          </p:cNvSpPr>
          <p:nvPr>
            <p:ph type="sldNum" sz="quarter" idx="12"/>
          </p:nvPr>
        </p:nvSpPr>
        <p:spPr/>
        <p:txBody>
          <a:bodyPr/>
          <a:lstStyle>
            <a:lvl1pPr>
              <a:defRPr/>
            </a:lvl1pPr>
          </a:lstStyle>
          <a:p>
            <a:fld id="{40138A0F-CAAE-4810-B698-E489650DF558}" type="slidenum">
              <a:rPr lang="en-US"/>
              <a:pPr/>
              <a:t>‹#›</a:t>
            </a:fld>
            <a:endParaRPr lang="en-US"/>
          </a:p>
        </p:txBody>
      </p:sp>
    </p:spTree>
    <p:extLst>
      <p:ext uri="{BB962C8B-B14F-4D97-AF65-F5344CB8AC3E}">
        <p14:creationId xmlns:p14="http://schemas.microsoft.com/office/powerpoint/2010/main" val="38854639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43725" y="304800"/>
            <a:ext cx="1857375" cy="51816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371600" y="304800"/>
            <a:ext cx="5419725" cy="5181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9F83002B-4904-4A4A-83EB-3C8B696DD87F}" type="datetime5">
              <a:rPr lang="en-US" smtClean="0"/>
              <a:pPr/>
              <a:t>9-Apr-15</a:t>
            </a:fld>
            <a:endParaRPr lang="en-US"/>
          </a:p>
        </p:txBody>
      </p:sp>
      <p:sp>
        <p:nvSpPr>
          <p:cNvPr id="5" name="Footer Placeholder 4"/>
          <p:cNvSpPr>
            <a:spLocks noGrp="1"/>
          </p:cNvSpPr>
          <p:nvPr>
            <p:ph type="ftr" sz="quarter" idx="11"/>
          </p:nvPr>
        </p:nvSpPr>
        <p:spPr/>
        <p:txBody>
          <a:bodyPr/>
          <a:lstStyle>
            <a:lvl1pPr>
              <a:defRPr/>
            </a:lvl1pPr>
          </a:lstStyle>
          <a:p>
            <a:r>
              <a:rPr lang="en-US" smtClean="0"/>
              <a:t>CSE 225: Digital Logic Design</a:t>
            </a:r>
            <a:endParaRPr lang="en-US"/>
          </a:p>
        </p:txBody>
      </p:sp>
      <p:sp>
        <p:nvSpPr>
          <p:cNvPr id="6" name="Slide Number Placeholder 5"/>
          <p:cNvSpPr>
            <a:spLocks noGrp="1"/>
          </p:cNvSpPr>
          <p:nvPr>
            <p:ph type="sldNum" sz="quarter" idx="12"/>
          </p:nvPr>
        </p:nvSpPr>
        <p:spPr/>
        <p:txBody>
          <a:bodyPr/>
          <a:lstStyle>
            <a:lvl1pPr>
              <a:defRPr/>
            </a:lvl1pPr>
          </a:lstStyle>
          <a:p>
            <a:fld id="{8272A598-8ECE-4E7D-A8FF-D64CAB157013}" type="slidenum">
              <a:rPr lang="en-US"/>
              <a:pPr/>
              <a:t>‹#›</a:t>
            </a:fld>
            <a:endParaRPr lang="en-US"/>
          </a:p>
        </p:txBody>
      </p:sp>
    </p:spTree>
    <p:extLst>
      <p:ext uri="{BB962C8B-B14F-4D97-AF65-F5344CB8AC3E}">
        <p14:creationId xmlns:p14="http://schemas.microsoft.com/office/powerpoint/2010/main" val="34664776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fld id="{DFE2403C-36F8-4677-97DB-F41E1950E06F}" type="datetime5">
              <a:rPr lang="en-US" smtClean="0"/>
              <a:pPr/>
              <a:t>9-Apr-15</a:t>
            </a:fld>
            <a:endParaRPr lang="en-US"/>
          </a:p>
        </p:txBody>
      </p:sp>
      <p:sp>
        <p:nvSpPr>
          <p:cNvPr id="5" name="Footer Placeholder 4"/>
          <p:cNvSpPr>
            <a:spLocks noGrp="1"/>
          </p:cNvSpPr>
          <p:nvPr>
            <p:ph type="ftr" sz="quarter" idx="11"/>
          </p:nvPr>
        </p:nvSpPr>
        <p:spPr/>
        <p:txBody>
          <a:bodyPr/>
          <a:lstStyle>
            <a:lvl1pPr>
              <a:defRPr/>
            </a:lvl1pPr>
          </a:lstStyle>
          <a:p>
            <a:r>
              <a:rPr lang="en-US" smtClean="0"/>
              <a:t>CSE 225: Digital Logic Design</a:t>
            </a:r>
            <a:endParaRPr lang="en-US"/>
          </a:p>
        </p:txBody>
      </p:sp>
      <p:sp>
        <p:nvSpPr>
          <p:cNvPr id="6" name="Slide Number Placeholder 5"/>
          <p:cNvSpPr>
            <a:spLocks noGrp="1"/>
          </p:cNvSpPr>
          <p:nvPr>
            <p:ph type="sldNum" sz="quarter" idx="12"/>
          </p:nvPr>
        </p:nvSpPr>
        <p:spPr/>
        <p:txBody>
          <a:bodyPr/>
          <a:lstStyle>
            <a:lvl1pPr>
              <a:defRPr/>
            </a:lvl1pPr>
          </a:lstStyle>
          <a:p>
            <a:fld id="{BA63523B-164A-4974-895C-9D01DC8A9D21}" type="slidenum">
              <a:rPr lang="en-US"/>
              <a:pPr/>
              <a:t>‹#›</a:t>
            </a:fld>
            <a:endParaRPr lang="en-US"/>
          </a:p>
        </p:txBody>
      </p:sp>
    </p:spTree>
    <p:extLst>
      <p:ext uri="{BB962C8B-B14F-4D97-AF65-F5344CB8AC3E}">
        <p14:creationId xmlns:p14="http://schemas.microsoft.com/office/powerpoint/2010/main" val="3648132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E3CB7C2B-32CC-476F-A052-37E276BD8C63}" type="datetime5">
              <a:rPr lang="en-US" smtClean="0"/>
              <a:pPr/>
              <a:t>9-Apr-15</a:t>
            </a:fld>
            <a:endParaRPr lang="en-US"/>
          </a:p>
        </p:txBody>
      </p:sp>
      <p:sp>
        <p:nvSpPr>
          <p:cNvPr id="5" name="Footer Placeholder 4"/>
          <p:cNvSpPr>
            <a:spLocks noGrp="1"/>
          </p:cNvSpPr>
          <p:nvPr>
            <p:ph type="ftr" sz="quarter" idx="11"/>
          </p:nvPr>
        </p:nvSpPr>
        <p:spPr/>
        <p:txBody>
          <a:bodyPr/>
          <a:lstStyle>
            <a:lvl1pPr>
              <a:defRPr/>
            </a:lvl1pPr>
          </a:lstStyle>
          <a:p>
            <a:r>
              <a:rPr lang="en-US" smtClean="0"/>
              <a:t>CSE 225: Digital Logic Design</a:t>
            </a:r>
            <a:endParaRPr lang="en-US"/>
          </a:p>
        </p:txBody>
      </p:sp>
      <p:sp>
        <p:nvSpPr>
          <p:cNvPr id="6" name="Slide Number Placeholder 5"/>
          <p:cNvSpPr>
            <a:spLocks noGrp="1"/>
          </p:cNvSpPr>
          <p:nvPr>
            <p:ph type="sldNum" sz="quarter" idx="12"/>
          </p:nvPr>
        </p:nvSpPr>
        <p:spPr/>
        <p:txBody>
          <a:bodyPr/>
          <a:lstStyle>
            <a:lvl1pPr>
              <a:defRPr/>
            </a:lvl1pPr>
          </a:lstStyle>
          <a:p>
            <a:fld id="{50F965A1-26AD-430E-9B51-C914CDF63693}" type="slidenum">
              <a:rPr lang="en-US"/>
              <a:pPr/>
              <a:t>‹#›</a:t>
            </a:fld>
            <a:endParaRPr lang="en-US"/>
          </a:p>
        </p:txBody>
      </p:sp>
    </p:spTree>
    <p:extLst>
      <p:ext uri="{BB962C8B-B14F-4D97-AF65-F5344CB8AC3E}">
        <p14:creationId xmlns:p14="http://schemas.microsoft.com/office/powerpoint/2010/main" val="153374421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FB319B46-836C-41F9-A279-147D69DCFA57}" type="datetime5">
              <a:rPr lang="en-US" smtClean="0"/>
              <a:pPr/>
              <a:t>9-Apr-15</a:t>
            </a:fld>
            <a:endParaRPr lang="en-US"/>
          </a:p>
        </p:txBody>
      </p:sp>
      <p:sp>
        <p:nvSpPr>
          <p:cNvPr id="5" name="Footer Placeholder 4"/>
          <p:cNvSpPr>
            <a:spLocks noGrp="1"/>
          </p:cNvSpPr>
          <p:nvPr>
            <p:ph type="ftr" sz="quarter" idx="11"/>
          </p:nvPr>
        </p:nvSpPr>
        <p:spPr/>
        <p:txBody>
          <a:bodyPr/>
          <a:lstStyle>
            <a:lvl1pPr>
              <a:defRPr/>
            </a:lvl1pPr>
          </a:lstStyle>
          <a:p>
            <a:r>
              <a:rPr lang="en-US" smtClean="0"/>
              <a:t>CSE 225: Digital Logic Design</a:t>
            </a:r>
            <a:endParaRPr lang="en-US"/>
          </a:p>
        </p:txBody>
      </p:sp>
      <p:sp>
        <p:nvSpPr>
          <p:cNvPr id="6" name="Slide Number Placeholder 5"/>
          <p:cNvSpPr>
            <a:spLocks noGrp="1"/>
          </p:cNvSpPr>
          <p:nvPr>
            <p:ph type="sldNum" sz="quarter" idx="12"/>
          </p:nvPr>
        </p:nvSpPr>
        <p:spPr/>
        <p:txBody>
          <a:bodyPr/>
          <a:lstStyle>
            <a:lvl1pPr>
              <a:defRPr/>
            </a:lvl1pPr>
          </a:lstStyle>
          <a:p>
            <a:fld id="{160E1D77-A370-4F8E-B650-88F5BB2C0630}" type="slidenum">
              <a:rPr lang="en-US"/>
              <a:pPr/>
              <a:t>‹#›</a:t>
            </a:fld>
            <a:endParaRPr lang="en-US"/>
          </a:p>
        </p:txBody>
      </p:sp>
    </p:spTree>
    <p:extLst>
      <p:ext uri="{BB962C8B-B14F-4D97-AF65-F5344CB8AC3E}">
        <p14:creationId xmlns:p14="http://schemas.microsoft.com/office/powerpoint/2010/main" val="11070144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524000" y="1295400"/>
            <a:ext cx="3562350" cy="42211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238750" y="1295400"/>
            <a:ext cx="3562350" cy="42211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fld id="{BFC0DBAC-7109-4EC7-91F9-D9C64A2D47BA}" type="datetime5">
              <a:rPr lang="en-US" smtClean="0"/>
              <a:pPr/>
              <a:t>9-Apr-15</a:t>
            </a:fld>
            <a:endParaRPr lang="en-US"/>
          </a:p>
        </p:txBody>
      </p:sp>
      <p:sp>
        <p:nvSpPr>
          <p:cNvPr id="6" name="Footer Placeholder 5"/>
          <p:cNvSpPr>
            <a:spLocks noGrp="1"/>
          </p:cNvSpPr>
          <p:nvPr>
            <p:ph type="ftr" sz="quarter" idx="11"/>
          </p:nvPr>
        </p:nvSpPr>
        <p:spPr/>
        <p:txBody>
          <a:bodyPr/>
          <a:lstStyle>
            <a:lvl1pPr>
              <a:defRPr/>
            </a:lvl1pPr>
          </a:lstStyle>
          <a:p>
            <a:r>
              <a:rPr lang="en-US" smtClean="0"/>
              <a:t>CSE 225: Digital Logic Design</a:t>
            </a:r>
            <a:endParaRPr lang="en-US"/>
          </a:p>
        </p:txBody>
      </p:sp>
      <p:sp>
        <p:nvSpPr>
          <p:cNvPr id="7" name="Slide Number Placeholder 6"/>
          <p:cNvSpPr>
            <a:spLocks noGrp="1"/>
          </p:cNvSpPr>
          <p:nvPr>
            <p:ph type="sldNum" sz="quarter" idx="12"/>
          </p:nvPr>
        </p:nvSpPr>
        <p:spPr/>
        <p:txBody>
          <a:bodyPr/>
          <a:lstStyle>
            <a:lvl1pPr>
              <a:defRPr/>
            </a:lvl1pPr>
          </a:lstStyle>
          <a:p>
            <a:fld id="{A7DFCA12-3969-4A8B-A338-97F0776FC12C}" type="slidenum">
              <a:rPr lang="en-US"/>
              <a:pPr/>
              <a:t>‹#›</a:t>
            </a:fld>
            <a:endParaRPr lang="en-US"/>
          </a:p>
        </p:txBody>
      </p:sp>
    </p:spTree>
    <p:extLst>
      <p:ext uri="{BB962C8B-B14F-4D97-AF65-F5344CB8AC3E}">
        <p14:creationId xmlns:p14="http://schemas.microsoft.com/office/powerpoint/2010/main" val="21999832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fld id="{8ECDF8FE-9F05-488B-B802-72A934F9F64C}" type="datetime5">
              <a:rPr lang="en-US" smtClean="0"/>
              <a:pPr/>
              <a:t>9-Apr-15</a:t>
            </a:fld>
            <a:endParaRPr lang="en-US"/>
          </a:p>
        </p:txBody>
      </p:sp>
      <p:sp>
        <p:nvSpPr>
          <p:cNvPr id="8" name="Footer Placeholder 7"/>
          <p:cNvSpPr>
            <a:spLocks noGrp="1"/>
          </p:cNvSpPr>
          <p:nvPr>
            <p:ph type="ftr" sz="quarter" idx="11"/>
          </p:nvPr>
        </p:nvSpPr>
        <p:spPr/>
        <p:txBody>
          <a:bodyPr/>
          <a:lstStyle>
            <a:lvl1pPr>
              <a:defRPr/>
            </a:lvl1pPr>
          </a:lstStyle>
          <a:p>
            <a:r>
              <a:rPr lang="en-US" smtClean="0"/>
              <a:t>CSE 225: Digital Logic Design</a:t>
            </a:r>
            <a:endParaRPr lang="en-US"/>
          </a:p>
        </p:txBody>
      </p:sp>
      <p:sp>
        <p:nvSpPr>
          <p:cNvPr id="9" name="Slide Number Placeholder 8"/>
          <p:cNvSpPr>
            <a:spLocks noGrp="1"/>
          </p:cNvSpPr>
          <p:nvPr>
            <p:ph type="sldNum" sz="quarter" idx="12"/>
          </p:nvPr>
        </p:nvSpPr>
        <p:spPr/>
        <p:txBody>
          <a:bodyPr/>
          <a:lstStyle>
            <a:lvl1pPr>
              <a:defRPr/>
            </a:lvl1pPr>
          </a:lstStyle>
          <a:p>
            <a:fld id="{C6A57B6F-5ACE-4161-8153-A1A0C388F9DD}" type="slidenum">
              <a:rPr lang="en-US"/>
              <a:pPr/>
              <a:t>‹#›</a:t>
            </a:fld>
            <a:endParaRPr lang="en-US"/>
          </a:p>
        </p:txBody>
      </p:sp>
    </p:spTree>
    <p:extLst>
      <p:ext uri="{BB962C8B-B14F-4D97-AF65-F5344CB8AC3E}">
        <p14:creationId xmlns:p14="http://schemas.microsoft.com/office/powerpoint/2010/main" val="6376569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fld id="{01CC4E7F-AF6C-48CC-9676-473E8FE77D8F}" type="datetime5">
              <a:rPr lang="en-US" smtClean="0"/>
              <a:pPr/>
              <a:t>9-Apr-15</a:t>
            </a:fld>
            <a:endParaRPr lang="en-US"/>
          </a:p>
        </p:txBody>
      </p:sp>
      <p:sp>
        <p:nvSpPr>
          <p:cNvPr id="4" name="Footer Placeholder 3"/>
          <p:cNvSpPr>
            <a:spLocks noGrp="1"/>
          </p:cNvSpPr>
          <p:nvPr>
            <p:ph type="ftr" sz="quarter" idx="11"/>
          </p:nvPr>
        </p:nvSpPr>
        <p:spPr/>
        <p:txBody>
          <a:bodyPr/>
          <a:lstStyle>
            <a:lvl1pPr>
              <a:defRPr/>
            </a:lvl1pPr>
          </a:lstStyle>
          <a:p>
            <a:r>
              <a:rPr lang="en-US" smtClean="0"/>
              <a:t>CSE 225: Digital Logic Design</a:t>
            </a:r>
            <a:endParaRPr lang="en-US"/>
          </a:p>
        </p:txBody>
      </p:sp>
      <p:sp>
        <p:nvSpPr>
          <p:cNvPr id="5" name="Slide Number Placeholder 4"/>
          <p:cNvSpPr>
            <a:spLocks noGrp="1"/>
          </p:cNvSpPr>
          <p:nvPr>
            <p:ph type="sldNum" sz="quarter" idx="12"/>
          </p:nvPr>
        </p:nvSpPr>
        <p:spPr/>
        <p:txBody>
          <a:bodyPr/>
          <a:lstStyle>
            <a:lvl1pPr>
              <a:defRPr/>
            </a:lvl1pPr>
          </a:lstStyle>
          <a:p>
            <a:fld id="{8E81F89E-158F-4393-AF3B-5A399655EA5C}" type="slidenum">
              <a:rPr lang="en-US"/>
              <a:pPr/>
              <a:t>‹#›</a:t>
            </a:fld>
            <a:endParaRPr lang="en-US"/>
          </a:p>
        </p:txBody>
      </p:sp>
    </p:spTree>
    <p:extLst>
      <p:ext uri="{BB962C8B-B14F-4D97-AF65-F5344CB8AC3E}">
        <p14:creationId xmlns:p14="http://schemas.microsoft.com/office/powerpoint/2010/main" val="31781331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B2F2E0E2-6AC4-411A-AFDC-14B6F9426ABC}" type="datetime5">
              <a:rPr lang="en-US" smtClean="0"/>
              <a:pPr/>
              <a:t>9-Apr-15</a:t>
            </a:fld>
            <a:endParaRPr lang="en-US"/>
          </a:p>
        </p:txBody>
      </p:sp>
      <p:sp>
        <p:nvSpPr>
          <p:cNvPr id="3" name="Footer Placeholder 2"/>
          <p:cNvSpPr>
            <a:spLocks noGrp="1"/>
          </p:cNvSpPr>
          <p:nvPr>
            <p:ph type="ftr" sz="quarter" idx="11"/>
          </p:nvPr>
        </p:nvSpPr>
        <p:spPr/>
        <p:txBody>
          <a:bodyPr/>
          <a:lstStyle>
            <a:lvl1pPr>
              <a:defRPr/>
            </a:lvl1pPr>
          </a:lstStyle>
          <a:p>
            <a:r>
              <a:rPr lang="en-US" smtClean="0"/>
              <a:t>CSE 225: Digital Logic Design</a:t>
            </a:r>
            <a:endParaRPr lang="en-US"/>
          </a:p>
        </p:txBody>
      </p:sp>
      <p:sp>
        <p:nvSpPr>
          <p:cNvPr id="4" name="Slide Number Placeholder 3"/>
          <p:cNvSpPr>
            <a:spLocks noGrp="1"/>
          </p:cNvSpPr>
          <p:nvPr>
            <p:ph type="sldNum" sz="quarter" idx="12"/>
          </p:nvPr>
        </p:nvSpPr>
        <p:spPr/>
        <p:txBody>
          <a:bodyPr/>
          <a:lstStyle>
            <a:lvl1pPr>
              <a:defRPr/>
            </a:lvl1pPr>
          </a:lstStyle>
          <a:p>
            <a:fld id="{1A714129-4A18-4E51-B258-4C5FA284E402}" type="slidenum">
              <a:rPr lang="en-US"/>
              <a:pPr/>
              <a:t>‹#›</a:t>
            </a:fld>
            <a:endParaRPr lang="en-US"/>
          </a:p>
        </p:txBody>
      </p:sp>
    </p:spTree>
    <p:extLst>
      <p:ext uri="{BB962C8B-B14F-4D97-AF65-F5344CB8AC3E}">
        <p14:creationId xmlns:p14="http://schemas.microsoft.com/office/powerpoint/2010/main" val="13685445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4429CD6D-B501-4BBE-821F-E90EFD9A0B42}" type="datetime5">
              <a:rPr lang="en-US" smtClean="0"/>
              <a:pPr/>
              <a:t>9-Apr-15</a:t>
            </a:fld>
            <a:endParaRPr lang="en-US"/>
          </a:p>
        </p:txBody>
      </p:sp>
      <p:sp>
        <p:nvSpPr>
          <p:cNvPr id="6" name="Footer Placeholder 5"/>
          <p:cNvSpPr>
            <a:spLocks noGrp="1"/>
          </p:cNvSpPr>
          <p:nvPr>
            <p:ph type="ftr" sz="quarter" idx="11"/>
          </p:nvPr>
        </p:nvSpPr>
        <p:spPr/>
        <p:txBody>
          <a:bodyPr/>
          <a:lstStyle>
            <a:lvl1pPr>
              <a:defRPr/>
            </a:lvl1pPr>
          </a:lstStyle>
          <a:p>
            <a:r>
              <a:rPr lang="en-US" smtClean="0"/>
              <a:t>CSE 225: Digital Logic Design</a:t>
            </a:r>
            <a:endParaRPr lang="en-US"/>
          </a:p>
        </p:txBody>
      </p:sp>
      <p:sp>
        <p:nvSpPr>
          <p:cNvPr id="7" name="Slide Number Placeholder 6"/>
          <p:cNvSpPr>
            <a:spLocks noGrp="1"/>
          </p:cNvSpPr>
          <p:nvPr>
            <p:ph type="sldNum" sz="quarter" idx="12"/>
          </p:nvPr>
        </p:nvSpPr>
        <p:spPr/>
        <p:txBody>
          <a:bodyPr/>
          <a:lstStyle>
            <a:lvl1pPr>
              <a:defRPr/>
            </a:lvl1pPr>
          </a:lstStyle>
          <a:p>
            <a:fld id="{23927A20-7129-481E-AF6D-B62E8E0F2FB9}" type="slidenum">
              <a:rPr lang="en-US"/>
              <a:pPr/>
              <a:t>‹#›</a:t>
            </a:fld>
            <a:endParaRPr lang="en-US"/>
          </a:p>
        </p:txBody>
      </p:sp>
    </p:spTree>
    <p:extLst>
      <p:ext uri="{BB962C8B-B14F-4D97-AF65-F5344CB8AC3E}">
        <p14:creationId xmlns:p14="http://schemas.microsoft.com/office/powerpoint/2010/main" val="23892628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AB238757-B99B-41C5-8FAC-75534CC7D4C8}" type="datetime5">
              <a:rPr lang="en-US" smtClean="0"/>
              <a:pPr/>
              <a:t>9-Apr-15</a:t>
            </a:fld>
            <a:endParaRPr lang="en-US"/>
          </a:p>
        </p:txBody>
      </p:sp>
      <p:sp>
        <p:nvSpPr>
          <p:cNvPr id="6" name="Footer Placeholder 5"/>
          <p:cNvSpPr>
            <a:spLocks noGrp="1"/>
          </p:cNvSpPr>
          <p:nvPr>
            <p:ph type="ftr" sz="quarter" idx="11"/>
          </p:nvPr>
        </p:nvSpPr>
        <p:spPr/>
        <p:txBody>
          <a:bodyPr/>
          <a:lstStyle>
            <a:lvl1pPr>
              <a:defRPr/>
            </a:lvl1pPr>
          </a:lstStyle>
          <a:p>
            <a:r>
              <a:rPr lang="en-US" smtClean="0"/>
              <a:t>CSE 225: Digital Logic Design</a:t>
            </a:r>
            <a:endParaRPr lang="en-US"/>
          </a:p>
        </p:txBody>
      </p:sp>
      <p:sp>
        <p:nvSpPr>
          <p:cNvPr id="7" name="Slide Number Placeholder 6"/>
          <p:cNvSpPr>
            <a:spLocks noGrp="1"/>
          </p:cNvSpPr>
          <p:nvPr>
            <p:ph type="sldNum" sz="quarter" idx="12"/>
          </p:nvPr>
        </p:nvSpPr>
        <p:spPr/>
        <p:txBody>
          <a:bodyPr/>
          <a:lstStyle>
            <a:lvl1pPr>
              <a:defRPr/>
            </a:lvl1pPr>
          </a:lstStyle>
          <a:p>
            <a:fld id="{008400C7-CDF5-4255-9DC6-E3589ADD0252}" type="slidenum">
              <a:rPr lang="en-US"/>
              <a:pPr/>
              <a:t>‹#›</a:t>
            </a:fld>
            <a:endParaRPr lang="en-US"/>
          </a:p>
        </p:txBody>
      </p:sp>
    </p:spTree>
    <p:extLst>
      <p:ext uri="{BB962C8B-B14F-4D97-AF65-F5344CB8AC3E}">
        <p14:creationId xmlns:p14="http://schemas.microsoft.com/office/powerpoint/2010/main" val="7996109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F6A336D7-5721-4A79-AE5A-22AE9FC54946}" type="datetime5">
              <a:rPr lang="en-US" smtClean="0"/>
              <a:pPr/>
              <a:t>9-Apr-15</a:t>
            </a:fld>
            <a:endParaRPr lang="en-US"/>
          </a:p>
        </p:txBody>
      </p:sp>
      <p:sp>
        <p:nvSpPr>
          <p:cNvPr id="5" name="Footer Placeholder 4"/>
          <p:cNvSpPr>
            <a:spLocks noGrp="1"/>
          </p:cNvSpPr>
          <p:nvPr>
            <p:ph type="ftr" sz="quarter" idx="11"/>
          </p:nvPr>
        </p:nvSpPr>
        <p:spPr/>
        <p:txBody>
          <a:bodyPr/>
          <a:lstStyle>
            <a:lvl1pPr>
              <a:defRPr/>
            </a:lvl1pPr>
          </a:lstStyle>
          <a:p>
            <a:r>
              <a:rPr lang="en-US" smtClean="0"/>
              <a:t>CSE 225: Digital Logic Design</a:t>
            </a:r>
            <a:endParaRPr lang="en-US"/>
          </a:p>
        </p:txBody>
      </p:sp>
      <p:sp>
        <p:nvSpPr>
          <p:cNvPr id="6" name="Slide Number Placeholder 5"/>
          <p:cNvSpPr>
            <a:spLocks noGrp="1"/>
          </p:cNvSpPr>
          <p:nvPr>
            <p:ph type="sldNum" sz="quarter" idx="12"/>
          </p:nvPr>
        </p:nvSpPr>
        <p:spPr/>
        <p:txBody>
          <a:bodyPr/>
          <a:lstStyle>
            <a:lvl1pPr>
              <a:defRPr/>
            </a:lvl1pPr>
          </a:lstStyle>
          <a:p>
            <a:fld id="{7A69EAF3-2CB3-4C9C-9BDB-BDF22AA1DF6B}" type="slidenum">
              <a:rPr lang="en-US"/>
              <a:pPr/>
              <a:t>‹#›</a:t>
            </a:fld>
            <a:endParaRPr lang="en-US"/>
          </a:p>
        </p:txBody>
      </p:sp>
    </p:spTree>
    <p:extLst>
      <p:ext uri="{BB962C8B-B14F-4D97-AF65-F5344CB8AC3E}">
        <p14:creationId xmlns:p14="http://schemas.microsoft.com/office/powerpoint/2010/main" val="17610025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81825" y="304800"/>
            <a:ext cx="1819275" cy="52117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524000" y="304800"/>
            <a:ext cx="5305425" cy="52117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10E8A2D3-F615-46D4-A616-6F8749879B91}" type="datetime5">
              <a:rPr lang="en-US" smtClean="0"/>
              <a:pPr/>
              <a:t>9-Apr-15</a:t>
            </a:fld>
            <a:endParaRPr lang="en-US"/>
          </a:p>
        </p:txBody>
      </p:sp>
      <p:sp>
        <p:nvSpPr>
          <p:cNvPr id="5" name="Footer Placeholder 4"/>
          <p:cNvSpPr>
            <a:spLocks noGrp="1"/>
          </p:cNvSpPr>
          <p:nvPr>
            <p:ph type="ftr" sz="quarter" idx="11"/>
          </p:nvPr>
        </p:nvSpPr>
        <p:spPr/>
        <p:txBody>
          <a:bodyPr/>
          <a:lstStyle>
            <a:lvl1pPr>
              <a:defRPr/>
            </a:lvl1pPr>
          </a:lstStyle>
          <a:p>
            <a:r>
              <a:rPr lang="en-US" smtClean="0"/>
              <a:t>CSE 225: Digital Logic Design</a:t>
            </a:r>
            <a:endParaRPr lang="en-US"/>
          </a:p>
        </p:txBody>
      </p:sp>
      <p:sp>
        <p:nvSpPr>
          <p:cNvPr id="6" name="Slide Number Placeholder 5"/>
          <p:cNvSpPr>
            <a:spLocks noGrp="1"/>
          </p:cNvSpPr>
          <p:nvPr>
            <p:ph type="sldNum" sz="quarter" idx="12"/>
          </p:nvPr>
        </p:nvSpPr>
        <p:spPr/>
        <p:txBody>
          <a:bodyPr/>
          <a:lstStyle>
            <a:lvl1pPr>
              <a:defRPr/>
            </a:lvl1pPr>
          </a:lstStyle>
          <a:p>
            <a:fld id="{F7DA548F-7792-41F3-89E2-5E25412E156F}" type="slidenum">
              <a:rPr lang="en-US"/>
              <a:pPr/>
              <a:t>‹#›</a:t>
            </a:fld>
            <a:endParaRPr lang="en-US"/>
          </a:p>
        </p:txBody>
      </p:sp>
    </p:spTree>
    <p:extLst>
      <p:ext uri="{BB962C8B-B14F-4D97-AF65-F5344CB8AC3E}">
        <p14:creationId xmlns:p14="http://schemas.microsoft.com/office/powerpoint/2010/main" val="2702354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w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control" Target="../activeX/activeX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5.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6.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A2D1F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295400" y="381000"/>
            <a:ext cx="7010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1295400" y="1295400"/>
            <a:ext cx="78486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a:lvl1pPr>
          </a:lstStyle>
          <a:p>
            <a:fld id="{82B08AF5-BFF6-4EC2-AED8-CBB85B2F2CDF}" type="datetime5">
              <a:rPr lang="en-US" smtClean="0"/>
              <a:pPr/>
              <a:t>9-Apr-15</a:t>
            </a:fld>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r>
              <a:rPr lang="en-US" smtClean="0"/>
              <a:t>CSE 225: Digital Logic Design</a:t>
            </a: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CF15CF9D-E97D-46B1-94CC-E4BB91AFD052}" type="slidenum">
              <a:rPr lang="en-US"/>
              <a:pPr/>
              <a:t>‹#›</a:t>
            </a:fld>
            <a:endParaRPr lang="en-US"/>
          </a:p>
        </p:txBody>
      </p:sp>
    </p:spTree>
    <p:controls>
      <mc:AlternateContent xmlns:mc="http://schemas.openxmlformats.org/markup-compatibility/2006">
        <mc:Choice xmlns:v="urn:schemas-microsoft-com:vml" Requires="v">
          <p:control spid="1046" name="ShockwaveFlash2" r:id="rId14" imgW="1828800" imgH="1828800"/>
        </mc:Choice>
        <mc:Fallback>
          <p:control name="ShockwaveFlash2" r:id="rId14" imgW="1828800" imgH="1828800">
            <p:pic>
              <p:nvPicPr>
                <p:cNvPr id="2" name="ShockwaveFlash2"/>
                <p:cNvPicPr preferRelativeResize="0">
                  <a:picLocks noChangeArrowheads="1" noChangeShapeType="1"/>
                </p:cNvPicPr>
                <p:nvPr/>
              </p:nvPicPr>
              <p:blipFill>
                <a:blip r:embed="rId15"/>
                <a:srcRect/>
                <a:stretch>
                  <a:fillRect/>
                </a:stretch>
              </p:blipFill>
              <p:spPr bwMode="auto">
                <a:xfrm>
                  <a:off x="0" y="0"/>
                  <a:ext cx="1295400" cy="6858000"/>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Lst>
              </p:spPr>
            </p:pic>
          </p:control>
        </mc:Fallback>
      </mc:AlternateContent>
    </p:controls>
  </p:cSld>
  <p:clrMap bg1="lt1" tx1="dk1" bg2="lt2" tx2="dk2" accent1="accent1" accent2="accent2" accent3="accent3" accent4="accent4" accent5="accent5" accent6="accent6" hlink="hlink" folHlink="folHlink"/>
  <p:sldLayoutIdLst>
    <p:sldLayoutId id="2147483649"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hdr="0"/>
  <p:txStyles>
    <p:titleStyle>
      <a:lvl1pPr algn="l" rtl="0" fontAlgn="base">
        <a:spcBef>
          <a:spcPct val="0"/>
        </a:spcBef>
        <a:spcAft>
          <a:spcPct val="0"/>
        </a:spcAft>
        <a:defRPr sz="2800" b="1">
          <a:solidFill>
            <a:srgbClr val="003399"/>
          </a:solidFill>
          <a:latin typeface="+mj-lt"/>
          <a:ea typeface="+mj-ea"/>
          <a:cs typeface="+mj-cs"/>
        </a:defRPr>
      </a:lvl1pPr>
      <a:lvl2pPr algn="l" rtl="0" fontAlgn="base">
        <a:spcBef>
          <a:spcPct val="0"/>
        </a:spcBef>
        <a:spcAft>
          <a:spcPct val="0"/>
        </a:spcAft>
        <a:defRPr sz="2800" b="1">
          <a:solidFill>
            <a:srgbClr val="003399"/>
          </a:solidFill>
          <a:latin typeface="Arial" charset="0"/>
        </a:defRPr>
      </a:lvl2pPr>
      <a:lvl3pPr algn="l" rtl="0" fontAlgn="base">
        <a:spcBef>
          <a:spcPct val="0"/>
        </a:spcBef>
        <a:spcAft>
          <a:spcPct val="0"/>
        </a:spcAft>
        <a:defRPr sz="2800" b="1">
          <a:solidFill>
            <a:srgbClr val="003399"/>
          </a:solidFill>
          <a:latin typeface="Arial" charset="0"/>
        </a:defRPr>
      </a:lvl3pPr>
      <a:lvl4pPr algn="l" rtl="0" fontAlgn="base">
        <a:spcBef>
          <a:spcPct val="0"/>
        </a:spcBef>
        <a:spcAft>
          <a:spcPct val="0"/>
        </a:spcAft>
        <a:defRPr sz="2800" b="1">
          <a:solidFill>
            <a:srgbClr val="003399"/>
          </a:solidFill>
          <a:latin typeface="Arial" charset="0"/>
        </a:defRPr>
      </a:lvl4pPr>
      <a:lvl5pPr algn="l" rtl="0" fontAlgn="base">
        <a:spcBef>
          <a:spcPct val="0"/>
        </a:spcBef>
        <a:spcAft>
          <a:spcPct val="0"/>
        </a:spcAft>
        <a:defRPr sz="2800" b="1">
          <a:solidFill>
            <a:srgbClr val="003399"/>
          </a:solidFill>
          <a:latin typeface="Arial" charset="0"/>
        </a:defRPr>
      </a:lvl5pPr>
      <a:lvl6pPr marL="457200" algn="l" rtl="0" fontAlgn="base">
        <a:spcBef>
          <a:spcPct val="0"/>
        </a:spcBef>
        <a:spcAft>
          <a:spcPct val="0"/>
        </a:spcAft>
        <a:defRPr sz="2800" b="1">
          <a:solidFill>
            <a:srgbClr val="003399"/>
          </a:solidFill>
          <a:latin typeface="Arial" charset="0"/>
        </a:defRPr>
      </a:lvl6pPr>
      <a:lvl7pPr marL="914400" algn="l" rtl="0" fontAlgn="base">
        <a:spcBef>
          <a:spcPct val="0"/>
        </a:spcBef>
        <a:spcAft>
          <a:spcPct val="0"/>
        </a:spcAft>
        <a:defRPr sz="2800" b="1">
          <a:solidFill>
            <a:srgbClr val="003399"/>
          </a:solidFill>
          <a:latin typeface="Arial" charset="0"/>
        </a:defRPr>
      </a:lvl7pPr>
      <a:lvl8pPr marL="1371600" algn="l" rtl="0" fontAlgn="base">
        <a:spcBef>
          <a:spcPct val="0"/>
        </a:spcBef>
        <a:spcAft>
          <a:spcPct val="0"/>
        </a:spcAft>
        <a:defRPr sz="2800" b="1">
          <a:solidFill>
            <a:srgbClr val="003399"/>
          </a:solidFill>
          <a:latin typeface="Arial" charset="0"/>
        </a:defRPr>
      </a:lvl8pPr>
      <a:lvl9pPr marL="1828800" algn="l" rtl="0" fontAlgn="base">
        <a:spcBef>
          <a:spcPct val="0"/>
        </a:spcBef>
        <a:spcAft>
          <a:spcPct val="0"/>
        </a:spcAft>
        <a:defRPr sz="2800" b="1">
          <a:solidFill>
            <a:srgbClr val="003399"/>
          </a:solidFill>
          <a:latin typeface="Arial" charset="0"/>
        </a:defRPr>
      </a:lvl9pPr>
    </p:titleStyle>
    <p:bodyStyle>
      <a:lvl1pPr marL="342900" indent="-342900" algn="l" rtl="0" fontAlgn="base">
        <a:spcBef>
          <a:spcPct val="20000"/>
        </a:spcBef>
        <a:spcAft>
          <a:spcPct val="0"/>
        </a:spcAft>
        <a:buChar char="•"/>
        <a:defRPr sz="2400">
          <a:solidFill>
            <a:srgbClr val="003399"/>
          </a:solidFill>
          <a:latin typeface="+mn-lt"/>
          <a:ea typeface="+mn-ea"/>
          <a:cs typeface="+mn-cs"/>
        </a:defRPr>
      </a:lvl1pPr>
      <a:lvl2pPr marL="742950" indent="-285750" algn="l" rtl="0" fontAlgn="base">
        <a:spcBef>
          <a:spcPct val="20000"/>
        </a:spcBef>
        <a:spcAft>
          <a:spcPct val="0"/>
        </a:spcAft>
        <a:buChar char="–"/>
        <a:defRPr sz="2400">
          <a:solidFill>
            <a:srgbClr val="003399"/>
          </a:solidFill>
          <a:latin typeface="+mn-lt"/>
        </a:defRPr>
      </a:lvl2pPr>
      <a:lvl3pPr marL="1143000" indent="-228600" algn="l" rtl="0" fontAlgn="base">
        <a:spcBef>
          <a:spcPct val="20000"/>
        </a:spcBef>
        <a:spcAft>
          <a:spcPct val="0"/>
        </a:spcAft>
        <a:buChar char="•"/>
        <a:defRPr sz="2000">
          <a:solidFill>
            <a:srgbClr val="003399"/>
          </a:solidFill>
          <a:latin typeface="+mn-lt"/>
        </a:defRPr>
      </a:lvl3pPr>
      <a:lvl4pPr marL="1600200" indent="-228600" algn="l" rtl="0" fontAlgn="base">
        <a:spcBef>
          <a:spcPct val="20000"/>
        </a:spcBef>
        <a:spcAft>
          <a:spcPct val="0"/>
        </a:spcAft>
        <a:buChar char="–"/>
        <a:defRPr>
          <a:solidFill>
            <a:srgbClr val="003399"/>
          </a:solidFill>
          <a:latin typeface="+mn-lt"/>
        </a:defRPr>
      </a:lvl4pPr>
      <a:lvl5pPr marL="2057400" indent="-228600" algn="l" rtl="0" fontAlgn="base">
        <a:spcBef>
          <a:spcPct val="20000"/>
        </a:spcBef>
        <a:spcAft>
          <a:spcPct val="0"/>
        </a:spcAft>
        <a:buChar char="»"/>
        <a:defRPr sz="1600">
          <a:solidFill>
            <a:srgbClr val="003399"/>
          </a:solidFill>
          <a:latin typeface="+mn-lt"/>
        </a:defRPr>
      </a:lvl5pPr>
      <a:lvl6pPr marL="2514600" indent="-228600" algn="l" rtl="0" fontAlgn="base">
        <a:spcBef>
          <a:spcPct val="20000"/>
        </a:spcBef>
        <a:spcAft>
          <a:spcPct val="0"/>
        </a:spcAft>
        <a:buChar char="»"/>
        <a:defRPr sz="1600">
          <a:solidFill>
            <a:srgbClr val="003399"/>
          </a:solidFill>
          <a:latin typeface="+mn-lt"/>
        </a:defRPr>
      </a:lvl6pPr>
      <a:lvl7pPr marL="2971800" indent="-228600" algn="l" rtl="0" fontAlgn="base">
        <a:spcBef>
          <a:spcPct val="20000"/>
        </a:spcBef>
        <a:spcAft>
          <a:spcPct val="0"/>
        </a:spcAft>
        <a:buChar char="»"/>
        <a:defRPr sz="1600">
          <a:solidFill>
            <a:srgbClr val="003399"/>
          </a:solidFill>
          <a:latin typeface="+mn-lt"/>
        </a:defRPr>
      </a:lvl7pPr>
      <a:lvl8pPr marL="3429000" indent="-228600" algn="l" rtl="0" fontAlgn="base">
        <a:spcBef>
          <a:spcPct val="20000"/>
        </a:spcBef>
        <a:spcAft>
          <a:spcPct val="0"/>
        </a:spcAft>
        <a:buChar char="»"/>
        <a:defRPr sz="1600">
          <a:solidFill>
            <a:srgbClr val="003399"/>
          </a:solidFill>
          <a:latin typeface="+mn-lt"/>
        </a:defRPr>
      </a:lvl8pPr>
      <a:lvl9pPr marL="3886200" indent="-228600" algn="l" rtl="0" fontAlgn="base">
        <a:spcBef>
          <a:spcPct val="20000"/>
        </a:spcBef>
        <a:spcAft>
          <a:spcPct val="0"/>
        </a:spcAft>
        <a:buChar char="»"/>
        <a:defRPr sz="1600">
          <a:solidFill>
            <a:srgbClr val="003399"/>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bwMode="auto">
          <a:xfrm>
            <a:off x="1371600" y="304800"/>
            <a:ext cx="72390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title style</a:t>
            </a:r>
          </a:p>
        </p:txBody>
      </p:sp>
      <p:sp>
        <p:nvSpPr>
          <p:cNvPr id="44035" name="Rectangle 3"/>
          <p:cNvSpPr>
            <a:spLocks noGrp="1" noChangeArrowheads="1"/>
          </p:cNvSpPr>
          <p:nvPr>
            <p:ph type="body" idx="1"/>
          </p:nvPr>
        </p:nvSpPr>
        <p:spPr bwMode="auto">
          <a:xfrm>
            <a:off x="1371600" y="1265238"/>
            <a:ext cx="7429500" cy="4678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4036"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a:lvl1pPr>
          </a:lstStyle>
          <a:p>
            <a:fld id="{D089BFAE-4929-44E0-8ED2-642AE4406193}" type="datetime5">
              <a:rPr lang="en-US" smtClean="0"/>
              <a:pPr/>
              <a:t>9-Apr-15</a:t>
            </a:fld>
            <a:endParaRPr lang="en-US"/>
          </a:p>
        </p:txBody>
      </p:sp>
      <p:sp>
        <p:nvSpPr>
          <p:cNvPr id="44037"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r>
              <a:rPr lang="en-US" smtClean="0"/>
              <a:t>CSE 225: Digital Logic Design</a:t>
            </a:r>
            <a:endParaRPr lang="en-US"/>
          </a:p>
        </p:txBody>
      </p:sp>
      <p:sp>
        <p:nvSpPr>
          <p:cNvPr id="44038"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A3DAFE89-861D-4E86-8071-574D17232F99}" type="slidenum">
              <a:rPr lang="en-US"/>
              <a:pPr/>
              <a:t>‹#›</a:t>
            </a:fld>
            <a:endParaRPr lang="en-US"/>
          </a:p>
        </p:txBody>
      </p:sp>
      <p:sp>
        <p:nvSpPr>
          <p:cNvPr id="7" name="Rectangle 6"/>
          <p:cNvSpPr/>
          <p:nvPr userDrawn="1"/>
        </p:nvSpPr>
        <p:spPr>
          <a:xfrm>
            <a:off x="1" y="914400"/>
            <a:ext cx="990600" cy="2590801"/>
          </a:xfrm>
          <a:prstGeom prst="rect">
            <a:avLst/>
          </a:prstGeom>
          <a:noFill/>
        </p:spPr>
        <p:txBody>
          <a:bodyPr wrap="square" lIns="91440" tIns="45720" rIns="91440" bIns="45720">
            <a:spAutoFit/>
          </a:bodyPr>
          <a:lstStyle/>
          <a:p>
            <a:pPr algn="ctr"/>
            <a:r>
              <a:rPr lang="en-US" sz="5400" b="1" cap="none" spc="100" dirty="0" smtClean="0">
                <a:ln w="18000">
                  <a:solidFill>
                    <a:schemeClr val="accent1">
                      <a:satMod val="200000"/>
                      <a:tint val="72000"/>
                    </a:schemeClr>
                  </a:solidFill>
                  <a:prstDash val="solid"/>
                </a:ln>
                <a:solidFill>
                  <a:schemeClr val="accent1">
                    <a:satMod val="280000"/>
                    <a:tint val="100000"/>
                    <a:alpha val="5700"/>
                  </a:schemeClr>
                </a:solidFill>
                <a:effectLst>
                  <a:outerShdw blurRad="25000" dist="20000" dir="16020000" algn="tl">
                    <a:schemeClr val="accent1">
                      <a:satMod val="200000"/>
                      <a:shade val="1000"/>
                      <a:alpha val="60000"/>
                    </a:schemeClr>
                  </a:outerShdw>
                </a:effectLst>
              </a:rPr>
              <a:t>U</a:t>
            </a:r>
          </a:p>
          <a:p>
            <a:pPr algn="ctr"/>
            <a:r>
              <a:rPr lang="en-US" sz="5400" b="1" cap="none" spc="100" dirty="0" smtClean="0">
                <a:ln w="18000">
                  <a:solidFill>
                    <a:schemeClr val="accent1">
                      <a:satMod val="200000"/>
                      <a:tint val="72000"/>
                    </a:schemeClr>
                  </a:solidFill>
                  <a:prstDash val="solid"/>
                </a:ln>
                <a:solidFill>
                  <a:schemeClr val="accent1">
                    <a:satMod val="280000"/>
                    <a:tint val="100000"/>
                    <a:alpha val="5700"/>
                  </a:schemeClr>
                </a:solidFill>
                <a:effectLst>
                  <a:outerShdw blurRad="25000" dist="20000" dir="16020000" algn="tl">
                    <a:schemeClr val="accent1">
                      <a:satMod val="200000"/>
                      <a:shade val="1000"/>
                      <a:alpha val="60000"/>
                    </a:schemeClr>
                  </a:outerShdw>
                </a:effectLst>
              </a:rPr>
              <a:t>I</a:t>
            </a:r>
          </a:p>
          <a:p>
            <a:pPr algn="ctr"/>
            <a:r>
              <a:rPr lang="en-US" sz="5400" b="1" cap="none" spc="100" dirty="0" smtClean="0">
                <a:ln w="18000">
                  <a:solidFill>
                    <a:schemeClr val="accent1">
                      <a:satMod val="200000"/>
                      <a:tint val="72000"/>
                    </a:schemeClr>
                  </a:solidFill>
                  <a:prstDash val="solid"/>
                </a:ln>
                <a:solidFill>
                  <a:schemeClr val="accent1">
                    <a:satMod val="280000"/>
                    <a:tint val="100000"/>
                    <a:alpha val="5700"/>
                  </a:schemeClr>
                </a:solidFill>
                <a:effectLst>
                  <a:outerShdw blurRad="25000" dist="20000" dir="16020000" algn="tl">
                    <a:schemeClr val="accent1">
                      <a:satMod val="200000"/>
                      <a:shade val="1000"/>
                      <a:alpha val="60000"/>
                    </a:schemeClr>
                  </a:outerShdw>
                </a:effectLst>
              </a:rPr>
              <a:t>U</a:t>
            </a: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p:txStyles>
    <p:titleStyle>
      <a:lvl1pPr algn="l" rtl="0" fontAlgn="base">
        <a:spcBef>
          <a:spcPct val="0"/>
        </a:spcBef>
        <a:spcAft>
          <a:spcPct val="0"/>
        </a:spcAft>
        <a:defRPr sz="3200" b="1">
          <a:solidFill>
            <a:schemeClr val="tx2"/>
          </a:solidFill>
          <a:latin typeface="+mj-lt"/>
          <a:ea typeface="+mj-ea"/>
          <a:cs typeface="+mj-cs"/>
        </a:defRPr>
      </a:lvl1pPr>
      <a:lvl2pPr algn="l" rtl="0" fontAlgn="base">
        <a:spcBef>
          <a:spcPct val="0"/>
        </a:spcBef>
        <a:spcAft>
          <a:spcPct val="0"/>
        </a:spcAft>
        <a:defRPr sz="2800" b="1">
          <a:solidFill>
            <a:schemeClr val="tx2"/>
          </a:solidFill>
          <a:latin typeface="Arial" charset="0"/>
        </a:defRPr>
      </a:lvl2pPr>
      <a:lvl3pPr algn="l" rtl="0" fontAlgn="base">
        <a:spcBef>
          <a:spcPct val="0"/>
        </a:spcBef>
        <a:spcAft>
          <a:spcPct val="0"/>
        </a:spcAft>
        <a:defRPr sz="2800" b="1">
          <a:solidFill>
            <a:schemeClr val="tx2"/>
          </a:solidFill>
          <a:latin typeface="Arial" charset="0"/>
        </a:defRPr>
      </a:lvl3pPr>
      <a:lvl4pPr algn="l" rtl="0" fontAlgn="base">
        <a:spcBef>
          <a:spcPct val="0"/>
        </a:spcBef>
        <a:spcAft>
          <a:spcPct val="0"/>
        </a:spcAft>
        <a:defRPr sz="2800" b="1">
          <a:solidFill>
            <a:schemeClr val="tx2"/>
          </a:solidFill>
          <a:latin typeface="Arial" charset="0"/>
        </a:defRPr>
      </a:lvl4pPr>
      <a:lvl5pPr algn="l" rtl="0" fontAlgn="base">
        <a:spcBef>
          <a:spcPct val="0"/>
        </a:spcBef>
        <a:spcAft>
          <a:spcPct val="0"/>
        </a:spcAft>
        <a:defRPr sz="2800" b="1">
          <a:solidFill>
            <a:schemeClr val="tx2"/>
          </a:solidFill>
          <a:latin typeface="Arial" charset="0"/>
        </a:defRPr>
      </a:lvl5pPr>
      <a:lvl6pPr marL="457200" algn="l" rtl="0" fontAlgn="base">
        <a:spcBef>
          <a:spcPct val="0"/>
        </a:spcBef>
        <a:spcAft>
          <a:spcPct val="0"/>
        </a:spcAft>
        <a:defRPr sz="2800" b="1">
          <a:solidFill>
            <a:schemeClr val="tx2"/>
          </a:solidFill>
          <a:latin typeface="Arial" charset="0"/>
        </a:defRPr>
      </a:lvl6pPr>
      <a:lvl7pPr marL="914400" algn="l" rtl="0" fontAlgn="base">
        <a:spcBef>
          <a:spcPct val="0"/>
        </a:spcBef>
        <a:spcAft>
          <a:spcPct val="0"/>
        </a:spcAft>
        <a:defRPr sz="2800" b="1">
          <a:solidFill>
            <a:schemeClr val="tx2"/>
          </a:solidFill>
          <a:latin typeface="Arial" charset="0"/>
        </a:defRPr>
      </a:lvl7pPr>
      <a:lvl8pPr marL="1371600" algn="l" rtl="0" fontAlgn="base">
        <a:spcBef>
          <a:spcPct val="0"/>
        </a:spcBef>
        <a:spcAft>
          <a:spcPct val="0"/>
        </a:spcAft>
        <a:defRPr sz="2800" b="1">
          <a:solidFill>
            <a:schemeClr val="tx2"/>
          </a:solidFill>
          <a:latin typeface="Arial" charset="0"/>
        </a:defRPr>
      </a:lvl8pPr>
      <a:lvl9pPr marL="1828800" algn="l" rtl="0" fontAlgn="base">
        <a:spcBef>
          <a:spcPct val="0"/>
        </a:spcBef>
        <a:spcAft>
          <a:spcPct val="0"/>
        </a:spcAft>
        <a:defRPr sz="2800" b="1">
          <a:solidFill>
            <a:schemeClr val="tx2"/>
          </a:solidFill>
          <a:latin typeface="Arial" charset="0"/>
        </a:defRPr>
      </a:lvl9pPr>
    </p:titleStyle>
    <p:bodyStyle>
      <a:lvl1pPr marL="342900" indent="-342900" algn="l" rtl="0" fontAlgn="base">
        <a:spcBef>
          <a:spcPct val="20000"/>
        </a:spcBef>
        <a:spcAft>
          <a:spcPct val="0"/>
        </a:spcAft>
        <a:buChar char="•"/>
        <a:defRPr sz="28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bwMode="auto">
          <a:xfrm>
            <a:off x="1524000" y="304800"/>
            <a:ext cx="7086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title style</a:t>
            </a:r>
          </a:p>
        </p:txBody>
      </p:sp>
      <p:sp>
        <p:nvSpPr>
          <p:cNvPr id="64515" name="Rectangle 3"/>
          <p:cNvSpPr>
            <a:spLocks noGrp="1" noChangeArrowheads="1"/>
          </p:cNvSpPr>
          <p:nvPr>
            <p:ph type="body" idx="1"/>
          </p:nvPr>
        </p:nvSpPr>
        <p:spPr bwMode="auto">
          <a:xfrm>
            <a:off x="1524000" y="1295400"/>
            <a:ext cx="7277100" cy="422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4516"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a:lvl1pPr>
          </a:lstStyle>
          <a:p>
            <a:fld id="{1DB5029F-BFA3-4462-9757-6842DBB07225}" type="datetime5">
              <a:rPr lang="en-US" smtClean="0"/>
              <a:pPr/>
              <a:t>9-Apr-15</a:t>
            </a:fld>
            <a:endParaRPr lang="en-US"/>
          </a:p>
        </p:txBody>
      </p:sp>
      <p:sp>
        <p:nvSpPr>
          <p:cNvPr id="64517"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r>
              <a:rPr lang="en-US" smtClean="0"/>
              <a:t>CSE 225: Digital Logic Design</a:t>
            </a:r>
            <a:endParaRPr lang="en-US"/>
          </a:p>
        </p:txBody>
      </p:sp>
      <p:sp>
        <p:nvSpPr>
          <p:cNvPr id="64518"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23193279-FB8B-470F-A7A9-DD33211868A3}"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p:txStyles>
    <p:titleStyle>
      <a:lvl1pPr algn="l" rtl="0" fontAlgn="base">
        <a:spcBef>
          <a:spcPct val="0"/>
        </a:spcBef>
        <a:spcAft>
          <a:spcPct val="0"/>
        </a:spcAft>
        <a:defRPr sz="2800" b="1">
          <a:solidFill>
            <a:srgbClr val="003399"/>
          </a:solidFill>
          <a:latin typeface="+mj-lt"/>
          <a:ea typeface="+mj-ea"/>
          <a:cs typeface="+mj-cs"/>
        </a:defRPr>
      </a:lvl1pPr>
      <a:lvl2pPr algn="l" rtl="0" fontAlgn="base">
        <a:spcBef>
          <a:spcPct val="0"/>
        </a:spcBef>
        <a:spcAft>
          <a:spcPct val="0"/>
        </a:spcAft>
        <a:defRPr sz="2800" b="1">
          <a:solidFill>
            <a:srgbClr val="003399"/>
          </a:solidFill>
          <a:latin typeface="Arial" charset="0"/>
        </a:defRPr>
      </a:lvl2pPr>
      <a:lvl3pPr algn="l" rtl="0" fontAlgn="base">
        <a:spcBef>
          <a:spcPct val="0"/>
        </a:spcBef>
        <a:spcAft>
          <a:spcPct val="0"/>
        </a:spcAft>
        <a:defRPr sz="2800" b="1">
          <a:solidFill>
            <a:srgbClr val="003399"/>
          </a:solidFill>
          <a:latin typeface="Arial" charset="0"/>
        </a:defRPr>
      </a:lvl3pPr>
      <a:lvl4pPr algn="l" rtl="0" fontAlgn="base">
        <a:spcBef>
          <a:spcPct val="0"/>
        </a:spcBef>
        <a:spcAft>
          <a:spcPct val="0"/>
        </a:spcAft>
        <a:defRPr sz="2800" b="1">
          <a:solidFill>
            <a:srgbClr val="003399"/>
          </a:solidFill>
          <a:latin typeface="Arial" charset="0"/>
        </a:defRPr>
      </a:lvl4pPr>
      <a:lvl5pPr algn="l" rtl="0" fontAlgn="base">
        <a:spcBef>
          <a:spcPct val="0"/>
        </a:spcBef>
        <a:spcAft>
          <a:spcPct val="0"/>
        </a:spcAft>
        <a:defRPr sz="2800" b="1">
          <a:solidFill>
            <a:srgbClr val="003399"/>
          </a:solidFill>
          <a:latin typeface="Arial" charset="0"/>
        </a:defRPr>
      </a:lvl5pPr>
      <a:lvl6pPr marL="457200" algn="l" rtl="0" fontAlgn="base">
        <a:spcBef>
          <a:spcPct val="0"/>
        </a:spcBef>
        <a:spcAft>
          <a:spcPct val="0"/>
        </a:spcAft>
        <a:defRPr sz="2800" b="1">
          <a:solidFill>
            <a:srgbClr val="003399"/>
          </a:solidFill>
          <a:latin typeface="Arial" charset="0"/>
        </a:defRPr>
      </a:lvl6pPr>
      <a:lvl7pPr marL="914400" algn="l" rtl="0" fontAlgn="base">
        <a:spcBef>
          <a:spcPct val="0"/>
        </a:spcBef>
        <a:spcAft>
          <a:spcPct val="0"/>
        </a:spcAft>
        <a:defRPr sz="2800" b="1">
          <a:solidFill>
            <a:srgbClr val="003399"/>
          </a:solidFill>
          <a:latin typeface="Arial" charset="0"/>
        </a:defRPr>
      </a:lvl7pPr>
      <a:lvl8pPr marL="1371600" algn="l" rtl="0" fontAlgn="base">
        <a:spcBef>
          <a:spcPct val="0"/>
        </a:spcBef>
        <a:spcAft>
          <a:spcPct val="0"/>
        </a:spcAft>
        <a:defRPr sz="2800" b="1">
          <a:solidFill>
            <a:srgbClr val="003399"/>
          </a:solidFill>
          <a:latin typeface="Arial" charset="0"/>
        </a:defRPr>
      </a:lvl8pPr>
      <a:lvl9pPr marL="1828800" algn="l" rtl="0" fontAlgn="base">
        <a:spcBef>
          <a:spcPct val="0"/>
        </a:spcBef>
        <a:spcAft>
          <a:spcPct val="0"/>
        </a:spcAft>
        <a:defRPr sz="2800" b="1">
          <a:solidFill>
            <a:srgbClr val="003399"/>
          </a:solidFill>
          <a:latin typeface="Arial" charset="0"/>
        </a:defRPr>
      </a:lvl9pPr>
    </p:titleStyle>
    <p:bodyStyle>
      <a:lvl1pPr marL="342900" indent="-342900" algn="l" rtl="0" fontAlgn="base">
        <a:spcBef>
          <a:spcPct val="20000"/>
        </a:spcBef>
        <a:spcAft>
          <a:spcPct val="0"/>
        </a:spcAft>
        <a:buChar char="•"/>
        <a:defRPr sz="2800">
          <a:solidFill>
            <a:srgbClr val="003399"/>
          </a:solidFill>
          <a:latin typeface="+mn-lt"/>
          <a:ea typeface="+mn-ea"/>
          <a:cs typeface="+mn-cs"/>
        </a:defRPr>
      </a:lvl1pPr>
      <a:lvl2pPr marL="742950" indent="-285750" algn="l" rtl="0" fontAlgn="base">
        <a:spcBef>
          <a:spcPct val="20000"/>
        </a:spcBef>
        <a:spcAft>
          <a:spcPct val="0"/>
        </a:spcAft>
        <a:buChar char="–"/>
        <a:defRPr sz="2800">
          <a:solidFill>
            <a:srgbClr val="003399"/>
          </a:solidFill>
          <a:latin typeface="+mn-lt"/>
        </a:defRPr>
      </a:lvl2pPr>
      <a:lvl3pPr marL="1143000" indent="-228600" algn="l" rtl="0" fontAlgn="base">
        <a:spcBef>
          <a:spcPct val="20000"/>
        </a:spcBef>
        <a:spcAft>
          <a:spcPct val="0"/>
        </a:spcAft>
        <a:buChar char="•"/>
        <a:defRPr sz="2400">
          <a:solidFill>
            <a:srgbClr val="003399"/>
          </a:solidFill>
          <a:latin typeface="+mn-lt"/>
        </a:defRPr>
      </a:lvl3pPr>
      <a:lvl4pPr marL="1600200" indent="-228600" algn="l" rtl="0" fontAlgn="base">
        <a:spcBef>
          <a:spcPct val="20000"/>
        </a:spcBef>
        <a:spcAft>
          <a:spcPct val="0"/>
        </a:spcAft>
        <a:buChar char="–"/>
        <a:defRPr sz="2000">
          <a:solidFill>
            <a:srgbClr val="003399"/>
          </a:solidFill>
          <a:latin typeface="+mn-lt"/>
        </a:defRPr>
      </a:lvl4pPr>
      <a:lvl5pPr marL="2057400" indent="-228600" algn="l" rtl="0" fontAlgn="base">
        <a:spcBef>
          <a:spcPct val="20000"/>
        </a:spcBef>
        <a:spcAft>
          <a:spcPct val="0"/>
        </a:spcAft>
        <a:buChar char="»"/>
        <a:defRPr sz="2000">
          <a:solidFill>
            <a:srgbClr val="003399"/>
          </a:solidFill>
          <a:latin typeface="+mn-lt"/>
        </a:defRPr>
      </a:lvl5pPr>
      <a:lvl6pPr marL="2514600" indent="-228600" algn="l" rtl="0" fontAlgn="base">
        <a:spcBef>
          <a:spcPct val="20000"/>
        </a:spcBef>
        <a:spcAft>
          <a:spcPct val="0"/>
        </a:spcAft>
        <a:buChar char="»"/>
        <a:defRPr sz="2000">
          <a:solidFill>
            <a:srgbClr val="003399"/>
          </a:solidFill>
          <a:latin typeface="+mn-lt"/>
        </a:defRPr>
      </a:lvl6pPr>
      <a:lvl7pPr marL="2971800" indent="-228600" algn="l" rtl="0" fontAlgn="base">
        <a:spcBef>
          <a:spcPct val="20000"/>
        </a:spcBef>
        <a:spcAft>
          <a:spcPct val="0"/>
        </a:spcAft>
        <a:buChar char="»"/>
        <a:defRPr sz="2000">
          <a:solidFill>
            <a:srgbClr val="003399"/>
          </a:solidFill>
          <a:latin typeface="+mn-lt"/>
        </a:defRPr>
      </a:lvl7pPr>
      <a:lvl8pPr marL="3429000" indent="-228600" algn="l" rtl="0" fontAlgn="base">
        <a:spcBef>
          <a:spcPct val="20000"/>
        </a:spcBef>
        <a:spcAft>
          <a:spcPct val="0"/>
        </a:spcAft>
        <a:buChar char="»"/>
        <a:defRPr sz="2000">
          <a:solidFill>
            <a:srgbClr val="003399"/>
          </a:solidFill>
          <a:latin typeface="+mn-lt"/>
        </a:defRPr>
      </a:lvl8pPr>
      <a:lvl9pPr marL="3886200" indent="-228600" algn="l" rtl="0" fontAlgn="base">
        <a:spcBef>
          <a:spcPct val="20000"/>
        </a:spcBef>
        <a:spcAft>
          <a:spcPct val="0"/>
        </a:spcAft>
        <a:buChar char="»"/>
        <a:defRPr sz="2000">
          <a:solidFill>
            <a:srgbClr val="003399"/>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4"/>
          <p:cNvSpPr>
            <a:spLocks noGrp="1" noChangeArrowheads="1"/>
          </p:cNvSpPr>
          <p:nvPr>
            <p:ph type="ctrTitle"/>
          </p:nvPr>
        </p:nvSpPr>
        <p:spPr/>
        <p:txBody>
          <a:bodyPr/>
          <a:lstStyle/>
          <a:p>
            <a:pPr algn="ctr"/>
            <a:r>
              <a:rPr lang="en-US" spc="100" dirty="0" smtClean="0">
                <a:ln w="18000">
                  <a:solidFill>
                    <a:schemeClr val="accent1">
                      <a:satMod val="200000"/>
                      <a:tint val="72000"/>
                    </a:schemeClr>
                  </a:solidFill>
                  <a:prstDash val="solid"/>
                </a:ln>
                <a:solidFill>
                  <a:schemeClr val="bg1"/>
                </a:solidFill>
                <a:effectLst>
                  <a:outerShdw blurRad="38100" dist="38100" dir="2700000" algn="tl">
                    <a:srgbClr val="000000">
                      <a:alpha val="43137"/>
                    </a:srgbClr>
                  </a:outerShdw>
                </a:effectLst>
              </a:rPr>
              <a:t>CSI 121</a:t>
            </a:r>
            <a:r>
              <a:rPr lang="en-US" spc="100" dirty="0">
                <a:ln w="18000">
                  <a:solidFill>
                    <a:schemeClr val="accent1">
                      <a:satMod val="200000"/>
                      <a:tint val="72000"/>
                    </a:schemeClr>
                  </a:solidFill>
                  <a:prstDash val="solid"/>
                </a:ln>
                <a:solidFill>
                  <a:schemeClr val="bg1"/>
                </a:solidFill>
                <a:effectLst>
                  <a:outerShdw blurRad="38100" dist="38100" dir="2700000" algn="tl">
                    <a:srgbClr val="000000">
                      <a:alpha val="43137"/>
                    </a:srgbClr>
                  </a:outerShdw>
                </a:effectLst>
              </a:rPr>
              <a:t>: </a:t>
            </a:r>
            <a:r>
              <a:rPr lang="en-US" spc="100" dirty="0" smtClean="0">
                <a:ln w="18000">
                  <a:solidFill>
                    <a:schemeClr val="accent1">
                      <a:satMod val="200000"/>
                      <a:tint val="72000"/>
                    </a:schemeClr>
                  </a:solidFill>
                  <a:prstDash val="solid"/>
                </a:ln>
                <a:solidFill>
                  <a:schemeClr val="bg1"/>
                </a:solidFill>
                <a:effectLst>
                  <a:outerShdw blurRad="38100" dist="38100" dir="2700000" algn="tl">
                    <a:srgbClr val="000000">
                      <a:alpha val="43137"/>
                    </a:srgbClr>
                  </a:outerShdw>
                </a:effectLst>
              </a:rPr>
              <a:t>Structured Programming Language</a:t>
            </a:r>
            <a:br>
              <a:rPr lang="en-US" spc="100" dirty="0" smtClean="0">
                <a:ln w="18000">
                  <a:solidFill>
                    <a:schemeClr val="accent1">
                      <a:satMod val="200000"/>
                      <a:tint val="72000"/>
                    </a:schemeClr>
                  </a:solidFill>
                  <a:prstDash val="solid"/>
                </a:ln>
                <a:solidFill>
                  <a:schemeClr val="bg1"/>
                </a:solidFill>
                <a:effectLst>
                  <a:outerShdw blurRad="38100" dist="38100" dir="2700000" algn="tl">
                    <a:srgbClr val="000000">
                      <a:alpha val="43137"/>
                    </a:srgbClr>
                  </a:outerShdw>
                </a:effectLst>
              </a:rPr>
            </a:br>
            <a:r>
              <a:rPr lang="en-CA" spc="100" dirty="0" smtClean="0">
                <a:ln w="18000">
                  <a:solidFill>
                    <a:schemeClr val="accent1">
                      <a:satMod val="200000"/>
                      <a:tint val="72000"/>
                    </a:schemeClr>
                  </a:solidFill>
                  <a:prstDash val="solid"/>
                </a:ln>
                <a:solidFill>
                  <a:schemeClr val="bg1"/>
                </a:solidFill>
                <a:effectLst>
                  <a:outerShdw blurRad="38100" dist="38100" dir="2700000" algn="tl">
                    <a:srgbClr val="000000">
                      <a:alpha val="43137"/>
                    </a:srgbClr>
                  </a:outerShdw>
                </a:effectLst>
              </a:rPr>
              <a:t>Simple Functions</a:t>
            </a:r>
            <a:r>
              <a:rPr lang="en-US" spc="100" dirty="0" smtClean="0">
                <a:ln w="18000">
                  <a:solidFill>
                    <a:schemeClr val="accent1">
                      <a:satMod val="200000"/>
                      <a:tint val="72000"/>
                    </a:schemeClr>
                  </a:solidFill>
                  <a:prstDash val="solid"/>
                </a:ln>
                <a:solidFill>
                  <a:schemeClr val="bg1"/>
                </a:solidFill>
                <a:effectLst>
                  <a:outerShdw blurRad="38100" dist="38100" dir="2700000" algn="tl">
                    <a:srgbClr val="000000">
                      <a:alpha val="43137"/>
                    </a:srgbClr>
                  </a:outerShdw>
                </a:effectLst>
              </a:rPr>
              <a:t/>
            </a:r>
            <a:br>
              <a:rPr lang="en-US" spc="100" dirty="0" smtClean="0">
                <a:ln w="18000">
                  <a:solidFill>
                    <a:schemeClr val="accent1">
                      <a:satMod val="200000"/>
                      <a:tint val="72000"/>
                    </a:schemeClr>
                  </a:solidFill>
                  <a:prstDash val="solid"/>
                </a:ln>
                <a:solidFill>
                  <a:schemeClr val="bg1"/>
                </a:solidFill>
                <a:effectLst>
                  <a:outerShdw blurRad="38100" dist="38100" dir="2700000" algn="tl">
                    <a:srgbClr val="000000">
                      <a:alpha val="43137"/>
                    </a:srgbClr>
                  </a:outerShdw>
                </a:effectLst>
              </a:rPr>
            </a:br>
            <a:r>
              <a:rPr lang="en-US" sz="2400" spc="100" dirty="0" smtClean="0">
                <a:ln w="18000">
                  <a:solidFill>
                    <a:schemeClr val="accent1">
                      <a:satMod val="200000"/>
                      <a:tint val="72000"/>
                    </a:schemeClr>
                  </a:solidFill>
                  <a:prstDash val="solid"/>
                </a:ln>
                <a:solidFill>
                  <a:schemeClr val="bg1"/>
                </a:solidFill>
                <a:effectLst>
                  <a:outerShdw blurRad="38100" dist="38100" dir="2700000" algn="tl">
                    <a:srgbClr val="000000">
                      <a:alpha val="43137"/>
                    </a:srgbClr>
                  </a:outerShdw>
                </a:effectLst>
              </a:rPr>
              <a:t>Salekul Islam</a:t>
            </a:r>
            <a:br>
              <a:rPr lang="en-US" sz="2400" spc="100" dirty="0" smtClean="0">
                <a:ln w="18000">
                  <a:solidFill>
                    <a:schemeClr val="accent1">
                      <a:satMod val="200000"/>
                      <a:tint val="72000"/>
                    </a:schemeClr>
                  </a:solidFill>
                  <a:prstDash val="solid"/>
                </a:ln>
                <a:solidFill>
                  <a:schemeClr val="bg1"/>
                </a:solidFill>
                <a:effectLst>
                  <a:outerShdw blurRad="38100" dist="38100" dir="2700000" algn="tl">
                    <a:srgbClr val="000000">
                      <a:alpha val="43137"/>
                    </a:srgbClr>
                  </a:outerShdw>
                </a:effectLst>
              </a:rPr>
            </a:br>
            <a:r>
              <a:rPr lang="en-US" sz="2400" spc="100" dirty="0" smtClean="0">
                <a:ln w="18000">
                  <a:solidFill>
                    <a:schemeClr val="accent1">
                      <a:satMod val="200000"/>
                      <a:tint val="72000"/>
                    </a:schemeClr>
                  </a:solidFill>
                  <a:prstDash val="solid"/>
                </a:ln>
                <a:solidFill>
                  <a:schemeClr val="bg1"/>
                </a:solidFill>
                <a:effectLst>
                  <a:outerShdw blurRad="38100" dist="38100" dir="2700000" algn="tl">
                    <a:srgbClr val="000000">
                      <a:alpha val="43137"/>
                    </a:srgbClr>
                  </a:outerShdw>
                </a:effectLst>
              </a:rPr>
              <a:t>United International University</a:t>
            </a:r>
            <a:endParaRPr lang="en-US" sz="2400" spc="100" dirty="0">
              <a:ln w="18000">
                <a:solidFill>
                  <a:schemeClr val="accent1">
                    <a:satMod val="200000"/>
                    <a:tint val="72000"/>
                  </a:schemeClr>
                </a:solidFill>
                <a:prstDash val="solid"/>
              </a:ln>
              <a:solidFill>
                <a:schemeClr val="bg1"/>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altLang="en-US" dirty="0" smtClean="0"/>
              <a:t>Outline</a:t>
            </a:r>
            <a:endParaRPr lang="en-US" altLang="en-US" dirty="0"/>
          </a:p>
        </p:txBody>
      </p:sp>
      <p:sp>
        <p:nvSpPr>
          <p:cNvPr id="3075" name="Rectangle 3"/>
          <p:cNvSpPr>
            <a:spLocks noGrp="1" noChangeArrowheads="1"/>
          </p:cNvSpPr>
          <p:nvPr>
            <p:ph type="body" idx="1"/>
          </p:nvPr>
        </p:nvSpPr>
        <p:spPr>
          <a:xfrm>
            <a:off x="1118379" y="1052736"/>
            <a:ext cx="8229600" cy="4724400"/>
          </a:xfrm>
        </p:spPr>
        <p:txBody>
          <a:bodyPr/>
          <a:lstStyle/>
          <a:p>
            <a:pPr>
              <a:lnSpc>
                <a:spcPct val="80000"/>
              </a:lnSpc>
            </a:pPr>
            <a:r>
              <a:rPr lang="en-US" altLang="en-US" sz="2800" b="1" dirty="0"/>
              <a:t>Functions </a:t>
            </a:r>
            <a:endParaRPr lang="en-US" altLang="en-US" sz="2800" b="1" dirty="0" smtClean="0"/>
          </a:p>
          <a:p>
            <a:pPr lvl="1">
              <a:lnSpc>
                <a:spcPct val="80000"/>
              </a:lnSpc>
            </a:pPr>
            <a:r>
              <a:rPr lang="en-US" altLang="en-US" sz="2400" dirty="0" smtClean="0"/>
              <a:t>Defining </a:t>
            </a:r>
            <a:r>
              <a:rPr lang="en-US" altLang="en-US" sz="2400" dirty="0"/>
              <a:t>a Function  </a:t>
            </a:r>
          </a:p>
          <a:p>
            <a:pPr lvl="1">
              <a:lnSpc>
                <a:spcPct val="80000"/>
              </a:lnSpc>
            </a:pPr>
            <a:r>
              <a:rPr lang="en-US" altLang="en-US" sz="2400" dirty="0"/>
              <a:t>Arguments and Local Variables </a:t>
            </a:r>
          </a:p>
          <a:p>
            <a:pPr lvl="1">
              <a:lnSpc>
                <a:spcPct val="80000"/>
              </a:lnSpc>
            </a:pPr>
            <a:r>
              <a:rPr lang="en-US" altLang="en-US" sz="2400" dirty="0" smtClean="0"/>
              <a:t>Returning </a:t>
            </a:r>
            <a:r>
              <a:rPr lang="en-US" altLang="en-US" sz="2400" dirty="0"/>
              <a:t>Function Results </a:t>
            </a:r>
          </a:p>
          <a:p>
            <a:pPr lvl="1">
              <a:lnSpc>
                <a:spcPct val="80000"/>
              </a:lnSpc>
            </a:pPr>
            <a:r>
              <a:rPr lang="en-US" altLang="en-US" sz="2400" dirty="0"/>
              <a:t>Declaring a Function Prototype</a:t>
            </a:r>
          </a:p>
          <a:p>
            <a:pPr lvl="1">
              <a:lnSpc>
                <a:spcPct val="80000"/>
              </a:lnSpc>
            </a:pPr>
            <a:r>
              <a:rPr lang="en-US" altLang="en-US" sz="2400" dirty="0" smtClean="0"/>
              <a:t>Global </a:t>
            </a:r>
            <a:r>
              <a:rPr lang="en-US" altLang="en-US" sz="2400" dirty="0"/>
              <a:t>Variables </a:t>
            </a:r>
          </a:p>
        </p:txBody>
      </p:sp>
    </p:spTree>
    <p:extLst>
      <p:ext uri="{BB962C8B-B14F-4D97-AF65-F5344CB8AC3E}">
        <p14:creationId xmlns:p14="http://schemas.microsoft.com/office/powerpoint/2010/main" val="16107111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r>
              <a:rPr lang="en-US" altLang="en-US"/>
              <a:t>What is a function</a:t>
            </a:r>
          </a:p>
        </p:txBody>
      </p:sp>
      <p:sp>
        <p:nvSpPr>
          <p:cNvPr id="98307" name="Rectangle 3"/>
          <p:cNvSpPr>
            <a:spLocks noGrp="1" noChangeArrowheads="1"/>
          </p:cNvSpPr>
          <p:nvPr>
            <p:ph type="body" idx="1"/>
          </p:nvPr>
        </p:nvSpPr>
        <p:spPr>
          <a:xfrm>
            <a:off x="1058416" y="946220"/>
            <a:ext cx="7762056" cy="5075068"/>
          </a:xfrm>
        </p:spPr>
        <p:txBody>
          <a:bodyPr/>
          <a:lstStyle/>
          <a:p>
            <a:pPr>
              <a:lnSpc>
                <a:spcPct val="90000"/>
              </a:lnSpc>
            </a:pPr>
            <a:r>
              <a:rPr lang="en-US" altLang="en-US" sz="2000" dirty="0"/>
              <a:t>A function in C: is a self-contained unit of program code designed to accomplish a particular task. </a:t>
            </a:r>
          </a:p>
          <a:p>
            <a:pPr>
              <a:lnSpc>
                <a:spcPct val="90000"/>
              </a:lnSpc>
            </a:pPr>
            <a:r>
              <a:rPr lang="en-US" altLang="en-US" sz="2000" dirty="0"/>
              <a:t>The concept has some equivalent in all high-level programming languages:  </a:t>
            </a:r>
            <a:r>
              <a:rPr lang="en-US" altLang="en-US" sz="2000" i="1" dirty="0"/>
              <a:t>functions</a:t>
            </a:r>
            <a:r>
              <a:rPr lang="en-US" altLang="en-US" sz="2000" dirty="0"/>
              <a:t>, </a:t>
            </a:r>
            <a:r>
              <a:rPr lang="en-US" altLang="en-US" sz="2000" i="1" dirty="0"/>
              <a:t>subroutines</a:t>
            </a:r>
            <a:r>
              <a:rPr lang="en-US" altLang="en-US" sz="2000" dirty="0"/>
              <a:t>, and </a:t>
            </a:r>
            <a:r>
              <a:rPr lang="en-US" altLang="en-US" sz="2000" i="1" dirty="0"/>
              <a:t>procedures</a:t>
            </a:r>
          </a:p>
          <a:p>
            <a:pPr>
              <a:lnSpc>
                <a:spcPct val="90000"/>
              </a:lnSpc>
            </a:pPr>
            <a:r>
              <a:rPr lang="en-US" altLang="en-US" sz="2000" dirty="0"/>
              <a:t>The use of a function: a "black box" </a:t>
            </a:r>
          </a:p>
          <a:p>
            <a:pPr lvl="1">
              <a:lnSpc>
                <a:spcPct val="90000"/>
              </a:lnSpc>
            </a:pPr>
            <a:r>
              <a:rPr lang="en-US" altLang="en-US" sz="1800" dirty="0"/>
              <a:t>defined in terms of the information that goes in (its input) and the value or action it produces (its output). </a:t>
            </a:r>
          </a:p>
          <a:p>
            <a:pPr lvl="1">
              <a:lnSpc>
                <a:spcPct val="90000"/>
              </a:lnSpc>
            </a:pPr>
            <a:r>
              <a:rPr lang="en-US" altLang="en-US" sz="1800" dirty="0"/>
              <a:t>what goes on inside the black box is not your concern, unless you are the one who has to write the function.</a:t>
            </a:r>
          </a:p>
          <a:p>
            <a:pPr lvl="1">
              <a:lnSpc>
                <a:spcPct val="90000"/>
              </a:lnSpc>
            </a:pPr>
            <a:r>
              <a:rPr lang="en-US" altLang="en-US" sz="1800" dirty="0"/>
              <a:t>Think on how you used functions </a:t>
            </a:r>
            <a:r>
              <a:rPr lang="en-US" altLang="en-US" sz="1800" dirty="0" err="1"/>
              <a:t>printf</a:t>
            </a:r>
            <a:r>
              <a:rPr lang="en-US" altLang="en-US" sz="1800" dirty="0"/>
              <a:t>, </a:t>
            </a:r>
            <a:r>
              <a:rPr lang="en-US" altLang="en-US" sz="1800" dirty="0" err="1"/>
              <a:t>scanf</a:t>
            </a:r>
            <a:r>
              <a:rPr lang="en-US" altLang="en-US" sz="1800" dirty="0"/>
              <a:t>, </a:t>
            </a:r>
            <a:r>
              <a:rPr lang="en-US" altLang="en-US" sz="1800" dirty="0" err="1"/>
              <a:t>getchar</a:t>
            </a:r>
            <a:r>
              <a:rPr lang="en-US" altLang="en-US" sz="1800" dirty="0"/>
              <a:t> !</a:t>
            </a:r>
          </a:p>
          <a:p>
            <a:pPr>
              <a:lnSpc>
                <a:spcPct val="90000"/>
              </a:lnSpc>
            </a:pPr>
            <a:r>
              <a:rPr lang="en-US" altLang="en-US" sz="2000" dirty="0"/>
              <a:t>What kind of “output” comes out from a function black box ?</a:t>
            </a:r>
          </a:p>
          <a:p>
            <a:pPr lvl="1">
              <a:lnSpc>
                <a:spcPct val="90000"/>
              </a:lnSpc>
            </a:pPr>
            <a:r>
              <a:rPr lang="en-US" altLang="en-US" sz="1800" dirty="0"/>
              <a:t>Some functions find a </a:t>
            </a:r>
            <a:r>
              <a:rPr lang="en-US" altLang="en-US" sz="1800" b="1" dirty="0"/>
              <a:t>value</a:t>
            </a:r>
            <a:r>
              <a:rPr lang="en-US" altLang="en-US" sz="1800" dirty="0"/>
              <a:t> for a program to use. Example:  </a:t>
            </a:r>
            <a:r>
              <a:rPr lang="en-US" altLang="en-US" sz="1800" dirty="0" err="1"/>
              <a:t>getchar</a:t>
            </a:r>
            <a:r>
              <a:rPr lang="en-US" altLang="en-US" sz="1800" dirty="0"/>
              <a:t>() returns to the program the next character from the standard input buffer.</a:t>
            </a:r>
          </a:p>
          <a:p>
            <a:pPr lvl="1">
              <a:lnSpc>
                <a:spcPct val="90000"/>
              </a:lnSpc>
            </a:pPr>
            <a:r>
              <a:rPr lang="en-US" altLang="en-US" sz="1800" dirty="0"/>
              <a:t>Some functions cause an </a:t>
            </a:r>
            <a:r>
              <a:rPr lang="en-US" altLang="en-US" sz="1800" b="1" dirty="0"/>
              <a:t>action</a:t>
            </a:r>
            <a:r>
              <a:rPr lang="en-US" altLang="en-US" sz="1800" dirty="0"/>
              <a:t> to take place. Example: </a:t>
            </a:r>
            <a:r>
              <a:rPr lang="en-US" altLang="en-US" sz="1800" dirty="0" err="1"/>
              <a:t>printf</a:t>
            </a:r>
            <a:r>
              <a:rPr lang="en-US" altLang="en-US" sz="1800" dirty="0"/>
              <a:t>() causes data to be printed on the screen</a:t>
            </a:r>
          </a:p>
          <a:p>
            <a:pPr lvl="1">
              <a:lnSpc>
                <a:spcPct val="90000"/>
              </a:lnSpc>
            </a:pPr>
            <a:r>
              <a:rPr lang="en-US" altLang="en-US" sz="1800" dirty="0"/>
              <a:t>In general, a function can both produce actions and provide values.</a:t>
            </a:r>
          </a:p>
        </p:txBody>
      </p:sp>
    </p:spTree>
    <p:extLst>
      <p:ext uri="{BB962C8B-B14F-4D97-AF65-F5344CB8AC3E}">
        <p14:creationId xmlns:p14="http://schemas.microsoft.com/office/powerpoint/2010/main" val="9071318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en-US" altLang="en-US"/>
              <a:t>Defining a function</a:t>
            </a:r>
          </a:p>
        </p:txBody>
      </p:sp>
      <p:sp>
        <p:nvSpPr>
          <p:cNvPr id="87044" name="Text Box 4"/>
          <p:cNvSpPr txBox="1">
            <a:spLocks noChangeArrowheads="1"/>
          </p:cNvSpPr>
          <p:nvPr/>
        </p:nvSpPr>
        <p:spPr bwMode="auto">
          <a:xfrm>
            <a:off x="619944" y="1124744"/>
            <a:ext cx="5603875" cy="3937000"/>
          </a:xfrm>
          <a:prstGeom prst="rect">
            <a:avLst/>
          </a:prstGeom>
          <a:solidFill>
            <a:schemeClr val="bg1"/>
          </a:solidFill>
          <a:ln>
            <a:noFill/>
          </a:ln>
          <a:effectLst/>
        </p:spPr>
        <p:txBody>
          <a:bodyPr wrap="none">
            <a:spAutoFit/>
          </a:bodyPr>
          <a:lstStyle/>
          <a:p>
            <a:pPr algn="l"/>
            <a:r>
              <a:rPr lang="en-US" altLang="en-US" b="0" dirty="0">
                <a:latin typeface="Courier New" panose="02070309020205020404" pitchFamily="49" charset="0"/>
              </a:rPr>
              <a:t>#include &lt;</a:t>
            </a:r>
            <a:r>
              <a:rPr lang="en-US" altLang="en-US" b="0" dirty="0" err="1">
                <a:latin typeface="Courier New" panose="02070309020205020404" pitchFamily="49" charset="0"/>
              </a:rPr>
              <a:t>stdio.h</a:t>
            </a:r>
            <a:r>
              <a:rPr lang="en-US" altLang="en-US" b="0" dirty="0">
                <a:latin typeface="Courier New" panose="02070309020205020404" pitchFamily="49" charset="0"/>
              </a:rPr>
              <a:t>&gt;</a:t>
            </a:r>
          </a:p>
          <a:p>
            <a:pPr algn="l"/>
            <a:endParaRPr lang="en-US" altLang="en-US" b="0" dirty="0">
              <a:latin typeface="Courier New" panose="02070309020205020404" pitchFamily="49" charset="0"/>
            </a:endParaRPr>
          </a:p>
          <a:p>
            <a:pPr algn="l"/>
            <a:r>
              <a:rPr lang="en-US" altLang="en-US" b="0" dirty="0">
                <a:latin typeface="Courier New" panose="02070309020205020404" pitchFamily="49" charset="0"/>
              </a:rPr>
              <a:t>void </a:t>
            </a:r>
            <a:r>
              <a:rPr lang="en-US" altLang="en-US" b="0" dirty="0" err="1">
                <a:latin typeface="Courier New" panose="02070309020205020404" pitchFamily="49" charset="0"/>
              </a:rPr>
              <a:t>printMessage</a:t>
            </a:r>
            <a:r>
              <a:rPr lang="en-US" altLang="en-US" b="0" dirty="0">
                <a:latin typeface="Courier New" panose="02070309020205020404" pitchFamily="49" charset="0"/>
              </a:rPr>
              <a:t> (void)</a:t>
            </a:r>
          </a:p>
          <a:p>
            <a:pPr algn="l"/>
            <a:r>
              <a:rPr lang="en-US" altLang="en-US" b="0" dirty="0">
                <a:latin typeface="Courier New" panose="02070309020205020404" pitchFamily="49" charset="0"/>
              </a:rPr>
              <a:t>{</a:t>
            </a:r>
          </a:p>
          <a:p>
            <a:pPr algn="l"/>
            <a:r>
              <a:rPr lang="en-US" altLang="en-US" b="0" dirty="0">
                <a:latin typeface="Courier New" panose="02070309020205020404" pitchFamily="49" charset="0"/>
              </a:rPr>
              <a:t>	</a:t>
            </a:r>
            <a:r>
              <a:rPr lang="en-US" altLang="en-US" b="0" dirty="0" err="1">
                <a:latin typeface="Courier New" panose="02070309020205020404" pitchFamily="49" charset="0"/>
              </a:rPr>
              <a:t>printf</a:t>
            </a:r>
            <a:r>
              <a:rPr lang="en-US" altLang="en-US" b="0" dirty="0">
                <a:latin typeface="Courier New" panose="02070309020205020404" pitchFamily="49" charset="0"/>
              </a:rPr>
              <a:t> ("Programming is fun.\n");</a:t>
            </a:r>
          </a:p>
          <a:p>
            <a:pPr algn="l"/>
            <a:r>
              <a:rPr lang="en-US" altLang="en-US" b="0" dirty="0">
                <a:latin typeface="Courier New" panose="02070309020205020404" pitchFamily="49" charset="0"/>
              </a:rPr>
              <a:t>}</a:t>
            </a:r>
          </a:p>
          <a:p>
            <a:pPr algn="l"/>
            <a:endParaRPr lang="en-US" altLang="en-US" b="0" dirty="0">
              <a:latin typeface="Courier New" panose="02070309020205020404" pitchFamily="49" charset="0"/>
            </a:endParaRPr>
          </a:p>
          <a:p>
            <a:pPr algn="l"/>
            <a:endParaRPr lang="en-US" altLang="en-US" b="0" dirty="0">
              <a:latin typeface="Courier New" panose="02070309020205020404" pitchFamily="49" charset="0"/>
            </a:endParaRPr>
          </a:p>
          <a:p>
            <a:pPr algn="l"/>
            <a:r>
              <a:rPr lang="en-US" altLang="en-US" b="0" dirty="0" err="1">
                <a:latin typeface="Courier New" panose="02070309020205020404" pitchFamily="49" charset="0"/>
              </a:rPr>
              <a:t>int</a:t>
            </a:r>
            <a:r>
              <a:rPr lang="en-US" altLang="en-US" b="0" dirty="0">
                <a:latin typeface="Courier New" panose="02070309020205020404" pitchFamily="49" charset="0"/>
              </a:rPr>
              <a:t> main (void)</a:t>
            </a:r>
          </a:p>
          <a:p>
            <a:pPr algn="l"/>
            <a:r>
              <a:rPr lang="en-US" altLang="en-US" b="0" dirty="0">
                <a:latin typeface="Courier New" panose="02070309020205020404" pitchFamily="49" charset="0"/>
              </a:rPr>
              <a:t>{</a:t>
            </a:r>
          </a:p>
          <a:p>
            <a:pPr algn="l"/>
            <a:r>
              <a:rPr lang="en-US" altLang="en-US" b="0" dirty="0">
                <a:latin typeface="Courier New" panose="02070309020205020404" pitchFamily="49" charset="0"/>
              </a:rPr>
              <a:t>	</a:t>
            </a:r>
            <a:r>
              <a:rPr lang="en-US" altLang="en-US" b="0" dirty="0" err="1">
                <a:latin typeface="Courier New" panose="02070309020205020404" pitchFamily="49" charset="0"/>
              </a:rPr>
              <a:t>printMessage</a:t>
            </a:r>
            <a:r>
              <a:rPr lang="en-US" altLang="en-US" b="0" dirty="0">
                <a:latin typeface="Courier New" panose="02070309020205020404" pitchFamily="49" charset="0"/>
              </a:rPr>
              <a:t> (); </a:t>
            </a:r>
          </a:p>
          <a:p>
            <a:pPr algn="l"/>
            <a:r>
              <a:rPr lang="en-US" altLang="en-US" b="0" dirty="0">
                <a:latin typeface="Courier New" panose="02070309020205020404" pitchFamily="49" charset="0"/>
              </a:rPr>
              <a:t>	</a:t>
            </a:r>
            <a:r>
              <a:rPr lang="en-US" altLang="en-US" b="0" dirty="0" err="1">
                <a:latin typeface="Courier New" panose="02070309020205020404" pitchFamily="49" charset="0"/>
              </a:rPr>
              <a:t>printMessage</a:t>
            </a:r>
            <a:r>
              <a:rPr lang="en-US" altLang="en-US" b="0" dirty="0">
                <a:latin typeface="Courier New" panose="02070309020205020404" pitchFamily="49" charset="0"/>
              </a:rPr>
              <a:t> ();</a:t>
            </a:r>
          </a:p>
          <a:p>
            <a:pPr algn="l"/>
            <a:r>
              <a:rPr lang="en-US" altLang="en-US" b="0" dirty="0">
                <a:latin typeface="Courier New" panose="02070309020205020404" pitchFamily="49" charset="0"/>
              </a:rPr>
              <a:t>	return 0;</a:t>
            </a:r>
          </a:p>
          <a:p>
            <a:pPr algn="l"/>
            <a:r>
              <a:rPr lang="en-US" altLang="en-US" b="0" dirty="0">
                <a:latin typeface="Courier New" panose="02070309020205020404" pitchFamily="49" charset="0"/>
              </a:rPr>
              <a:t>}</a:t>
            </a:r>
          </a:p>
        </p:txBody>
      </p:sp>
      <p:sp>
        <p:nvSpPr>
          <p:cNvPr id="87045" name="AutoShape 5"/>
          <p:cNvSpPr>
            <a:spLocks noChangeArrowheads="1"/>
          </p:cNvSpPr>
          <p:nvPr/>
        </p:nvSpPr>
        <p:spPr bwMode="auto">
          <a:xfrm>
            <a:off x="467544" y="1581944"/>
            <a:ext cx="5867400" cy="1447800"/>
          </a:xfrm>
          <a:prstGeom prst="roundRect">
            <a:avLst>
              <a:gd name="adj" fmla="val 16667"/>
            </a:avLst>
          </a:prstGeom>
          <a:noFill/>
          <a:ln w="158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7046" name="AutoShape 6"/>
          <p:cNvSpPr>
            <a:spLocks noChangeArrowheads="1"/>
          </p:cNvSpPr>
          <p:nvPr/>
        </p:nvSpPr>
        <p:spPr bwMode="auto">
          <a:xfrm>
            <a:off x="1458144" y="3867944"/>
            <a:ext cx="2438400" cy="304800"/>
          </a:xfrm>
          <a:prstGeom prst="roundRect">
            <a:avLst>
              <a:gd name="adj" fmla="val 16667"/>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7047" name="AutoShape 7"/>
          <p:cNvSpPr>
            <a:spLocks noChangeArrowheads="1"/>
          </p:cNvSpPr>
          <p:nvPr/>
        </p:nvSpPr>
        <p:spPr bwMode="auto">
          <a:xfrm>
            <a:off x="1458144" y="4172744"/>
            <a:ext cx="2438400" cy="304800"/>
          </a:xfrm>
          <a:prstGeom prst="roundRect">
            <a:avLst>
              <a:gd name="adj" fmla="val 16667"/>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7048" name="Text Box 8"/>
          <p:cNvSpPr txBox="1">
            <a:spLocks noChangeArrowheads="1"/>
          </p:cNvSpPr>
          <p:nvPr/>
        </p:nvSpPr>
        <p:spPr bwMode="auto">
          <a:xfrm>
            <a:off x="6411144" y="1658144"/>
            <a:ext cx="26098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i="1" dirty="0"/>
              <a:t>Function</a:t>
            </a:r>
          </a:p>
          <a:p>
            <a:pPr algn="l"/>
            <a:r>
              <a:rPr lang="en-US" altLang="en-US" i="1" dirty="0"/>
              <a:t>Definition</a:t>
            </a:r>
          </a:p>
          <a:p>
            <a:pPr algn="l">
              <a:buFontTx/>
              <a:buChar char="-"/>
            </a:pPr>
            <a:r>
              <a:rPr lang="en-US" altLang="en-US" b="0" i="1" dirty="0"/>
              <a:t>occurs ONE time for all</a:t>
            </a:r>
          </a:p>
          <a:p>
            <a:pPr algn="l">
              <a:buFontTx/>
              <a:buChar char="-"/>
            </a:pPr>
            <a:r>
              <a:rPr lang="en-US" altLang="en-US" b="0" i="1" dirty="0"/>
              <a:t>outside other functions</a:t>
            </a:r>
          </a:p>
        </p:txBody>
      </p:sp>
      <p:sp>
        <p:nvSpPr>
          <p:cNvPr id="87049" name="Text Box 9"/>
          <p:cNvSpPr txBox="1">
            <a:spLocks noChangeArrowheads="1"/>
          </p:cNvSpPr>
          <p:nvPr/>
        </p:nvSpPr>
        <p:spPr bwMode="auto">
          <a:xfrm>
            <a:off x="4429944" y="3591719"/>
            <a:ext cx="43243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i="1" dirty="0"/>
              <a:t>Function</a:t>
            </a:r>
          </a:p>
          <a:p>
            <a:pPr algn="l"/>
            <a:r>
              <a:rPr lang="en-US" altLang="en-US" i="1" dirty="0"/>
              <a:t>calls (invocations)</a:t>
            </a:r>
          </a:p>
          <a:p>
            <a:pPr algn="l">
              <a:buFontTx/>
              <a:buChar char="-"/>
            </a:pPr>
            <a:r>
              <a:rPr lang="en-US" altLang="en-US" b="0" i="1" dirty="0"/>
              <a:t>occurs ANY (0-N) times</a:t>
            </a:r>
          </a:p>
          <a:p>
            <a:pPr algn="l">
              <a:buFontTx/>
              <a:buChar char="-"/>
            </a:pPr>
            <a:r>
              <a:rPr lang="en-US" altLang="en-US" b="0" i="1" dirty="0"/>
              <a:t>statement inside  (other) functions body </a:t>
            </a:r>
          </a:p>
        </p:txBody>
      </p:sp>
    </p:spTree>
    <p:extLst>
      <p:ext uri="{BB962C8B-B14F-4D97-AF65-F5344CB8AC3E}">
        <p14:creationId xmlns:p14="http://schemas.microsoft.com/office/powerpoint/2010/main" val="31983907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04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704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704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70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70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5" grpId="0" animBg="1"/>
      <p:bldP spid="87046" grpId="0" animBg="1"/>
      <p:bldP spid="87047" grpId="0" animBg="1"/>
      <p:bldP spid="87048" grpId="0"/>
      <p:bldP spid="8704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altLang="en-US"/>
              <a:t>Transfer of control flow</a:t>
            </a:r>
          </a:p>
        </p:txBody>
      </p:sp>
      <p:sp>
        <p:nvSpPr>
          <p:cNvPr id="100357" name="Rectangle 5"/>
          <p:cNvSpPr>
            <a:spLocks noChangeArrowheads="1"/>
          </p:cNvSpPr>
          <p:nvPr/>
        </p:nvSpPr>
        <p:spPr bwMode="auto">
          <a:xfrm>
            <a:off x="1600200" y="1509241"/>
            <a:ext cx="1524000" cy="1676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a:p>
            <a:pPr algn="ctr"/>
            <a:endParaRPr lang="en-US" altLang="en-US"/>
          </a:p>
          <a:p>
            <a:pPr algn="ctr"/>
            <a:endParaRPr lang="en-US" altLang="en-US"/>
          </a:p>
          <a:p>
            <a:pPr algn="ctr"/>
            <a:endParaRPr lang="en-US" altLang="en-US"/>
          </a:p>
          <a:p>
            <a:pPr algn="ctr"/>
            <a:endParaRPr lang="en-US" altLang="en-US"/>
          </a:p>
        </p:txBody>
      </p:sp>
      <p:sp>
        <p:nvSpPr>
          <p:cNvPr id="100358" name="Text Box 6"/>
          <p:cNvSpPr txBox="1">
            <a:spLocks noChangeArrowheads="1"/>
          </p:cNvSpPr>
          <p:nvPr/>
        </p:nvSpPr>
        <p:spPr bwMode="auto">
          <a:xfrm>
            <a:off x="1508125" y="1164753"/>
            <a:ext cx="717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main</a:t>
            </a:r>
          </a:p>
        </p:txBody>
      </p:sp>
      <p:sp>
        <p:nvSpPr>
          <p:cNvPr id="100359" name="Rectangle 7"/>
          <p:cNvSpPr>
            <a:spLocks noChangeArrowheads="1"/>
          </p:cNvSpPr>
          <p:nvPr/>
        </p:nvSpPr>
        <p:spPr bwMode="auto">
          <a:xfrm>
            <a:off x="4283075" y="1548928"/>
            <a:ext cx="1524000" cy="16367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a:p>
            <a:pPr algn="ctr"/>
            <a:endParaRPr lang="en-US" altLang="en-US"/>
          </a:p>
          <a:p>
            <a:pPr algn="ctr"/>
            <a:endParaRPr lang="en-US" altLang="en-US"/>
          </a:p>
          <a:p>
            <a:pPr algn="ctr"/>
            <a:endParaRPr lang="en-US" altLang="en-US"/>
          </a:p>
          <a:p>
            <a:pPr algn="ctr"/>
            <a:endParaRPr lang="en-US" altLang="en-US"/>
          </a:p>
        </p:txBody>
      </p:sp>
      <p:sp>
        <p:nvSpPr>
          <p:cNvPr id="100360" name="Text Box 8"/>
          <p:cNvSpPr txBox="1">
            <a:spLocks noChangeArrowheads="1"/>
          </p:cNvSpPr>
          <p:nvPr/>
        </p:nvSpPr>
        <p:spPr bwMode="auto">
          <a:xfrm>
            <a:off x="4191000" y="1204441"/>
            <a:ext cx="1530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printMesage</a:t>
            </a:r>
          </a:p>
        </p:txBody>
      </p:sp>
      <p:sp>
        <p:nvSpPr>
          <p:cNvPr id="100361" name="Rectangle 9"/>
          <p:cNvSpPr>
            <a:spLocks noChangeArrowheads="1"/>
          </p:cNvSpPr>
          <p:nvPr/>
        </p:nvSpPr>
        <p:spPr bwMode="auto">
          <a:xfrm>
            <a:off x="6781800" y="1433041"/>
            <a:ext cx="1524000" cy="17129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a:p>
            <a:pPr algn="ctr"/>
            <a:endParaRPr lang="en-US" altLang="en-US"/>
          </a:p>
          <a:p>
            <a:pPr algn="ctr"/>
            <a:endParaRPr lang="en-US" altLang="en-US"/>
          </a:p>
          <a:p>
            <a:pPr algn="ctr"/>
            <a:endParaRPr lang="en-US" altLang="en-US"/>
          </a:p>
          <a:p>
            <a:pPr algn="ctr"/>
            <a:endParaRPr lang="en-US" altLang="en-US"/>
          </a:p>
        </p:txBody>
      </p:sp>
      <p:sp>
        <p:nvSpPr>
          <p:cNvPr id="100362" name="Text Box 10"/>
          <p:cNvSpPr txBox="1">
            <a:spLocks noChangeArrowheads="1"/>
          </p:cNvSpPr>
          <p:nvPr/>
        </p:nvSpPr>
        <p:spPr bwMode="auto">
          <a:xfrm>
            <a:off x="6689725" y="1088553"/>
            <a:ext cx="768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printf</a:t>
            </a:r>
          </a:p>
        </p:txBody>
      </p:sp>
      <p:sp>
        <p:nvSpPr>
          <p:cNvPr id="100364" name="Line 12"/>
          <p:cNvSpPr>
            <a:spLocks noChangeShapeType="1"/>
          </p:cNvSpPr>
          <p:nvPr/>
        </p:nvSpPr>
        <p:spPr bwMode="auto">
          <a:xfrm>
            <a:off x="1676400" y="2195041"/>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365" name="Line 13"/>
          <p:cNvSpPr>
            <a:spLocks noChangeShapeType="1"/>
          </p:cNvSpPr>
          <p:nvPr/>
        </p:nvSpPr>
        <p:spPr bwMode="auto">
          <a:xfrm>
            <a:off x="1676400" y="2499841"/>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366" name="Line 14"/>
          <p:cNvSpPr>
            <a:spLocks noChangeShapeType="1"/>
          </p:cNvSpPr>
          <p:nvPr/>
        </p:nvSpPr>
        <p:spPr bwMode="auto">
          <a:xfrm>
            <a:off x="1676400" y="2804641"/>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368" name="Line 16"/>
          <p:cNvSpPr>
            <a:spLocks noChangeShapeType="1"/>
          </p:cNvSpPr>
          <p:nvPr/>
        </p:nvSpPr>
        <p:spPr bwMode="auto">
          <a:xfrm>
            <a:off x="4419600" y="2195041"/>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369" name="Line 17"/>
          <p:cNvSpPr>
            <a:spLocks noChangeShapeType="1"/>
          </p:cNvSpPr>
          <p:nvPr/>
        </p:nvSpPr>
        <p:spPr bwMode="auto">
          <a:xfrm>
            <a:off x="4419600" y="2499841"/>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372" name="Line 20"/>
          <p:cNvSpPr>
            <a:spLocks noChangeShapeType="1"/>
          </p:cNvSpPr>
          <p:nvPr/>
        </p:nvSpPr>
        <p:spPr bwMode="auto">
          <a:xfrm>
            <a:off x="6858000" y="2195041"/>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373" name="Line 21"/>
          <p:cNvSpPr>
            <a:spLocks noChangeShapeType="1"/>
          </p:cNvSpPr>
          <p:nvPr/>
        </p:nvSpPr>
        <p:spPr bwMode="auto">
          <a:xfrm>
            <a:off x="6858000" y="2499841"/>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375" name="Line 23"/>
          <p:cNvSpPr>
            <a:spLocks noChangeShapeType="1"/>
          </p:cNvSpPr>
          <p:nvPr/>
        </p:nvSpPr>
        <p:spPr bwMode="auto">
          <a:xfrm>
            <a:off x="609600" y="1926753"/>
            <a:ext cx="1066800" cy="39688"/>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376" name="Line 24"/>
          <p:cNvSpPr>
            <a:spLocks noChangeShapeType="1"/>
          </p:cNvSpPr>
          <p:nvPr/>
        </p:nvSpPr>
        <p:spPr bwMode="auto">
          <a:xfrm>
            <a:off x="2133600" y="1966441"/>
            <a:ext cx="0" cy="4572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377" name="Line 25"/>
          <p:cNvSpPr>
            <a:spLocks noChangeShapeType="1"/>
          </p:cNvSpPr>
          <p:nvPr/>
        </p:nvSpPr>
        <p:spPr bwMode="auto">
          <a:xfrm flipV="1">
            <a:off x="2743200" y="1966441"/>
            <a:ext cx="1600200" cy="4572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378" name="Line 26"/>
          <p:cNvSpPr>
            <a:spLocks noChangeShapeType="1"/>
          </p:cNvSpPr>
          <p:nvPr/>
        </p:nvSpPr>
        <p:spPr bwMode="auto">
          <a:xfrm flipV="1">
            <a:off x="5410200" y="1966441"/>
            <a:ext cx="1371600" cy="4572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379" name="Line 27"/>
          <p:cNvSpPr>
            <a:spLocks noChangeShapeType="1"/>
          </p:cNvSpPr>
          <p:nvPr/>
        </p:nvSpPr>
        <p:spPr bwMode="auto">
          <a:xfrm>
            <a:off x="4876800" y="1966441"/>
            <a:ext cx="0" cy="4572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380" name="Line 28"/>
          <p:cNvSpPr>
            <a:spLocks noChangeShapeType="1"/>
          </p:cNvSpPr>
          <p:nvPr/>
        </p:nvSpPr>
        <p:spPr bwMode="auto">
          <a:xfrm>
            <a:off x="4876800" y="2576041"/>
            <a:ext cx="0" cy="2286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381" name="Line 29"/>
          <p:cNvSpPr>
            <a:spLocks noChangeShapeType="1"/>
          </p:cNvSpPr>
          <p:nvPr/>
        </p:nvSpPr>
        <p:spPr bwMode="auto">
          <a:xfrm flipH="1" flipV="1">
            <a:off x="2971800" y="2499841"/>
            <a:ext cx="1905000" cy="265112"/>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382" name="Line 30"/>
          <p:cNvSpPr>
            <a:spLocks noChangeShapeType="1"/>
          </p:cNvSpPr>
          <p:nvPr/>
        </p:nvSpPr>
        <p:spPr bwMode="auto">
          <a:xfrm flipH="1" flipV="1">
            <a:off x="5562600" y="2499841"/>
            <a:ext cx="2438400" cy="265112"/>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383" name="Line 31"/>
          <p:cNvSpPr>
            <a:spLocks noChangeShapeType="1"/>
          </p:cNvSpPr>
          <p:nvPr/>
        </p:nvSpPr>
        <p:spPr bwMode="auto">
          <a:xfrm>
            <a:off x="7772400" y="1966441"/>
            <a:ext cx="0" cy="798512"/>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384" name="Line 32"/>
          <p:cNvSpPr>
            <a:spLocks noChangeShapeType="1"/>
          </p:cNvSpPr>
          <p:nvPr/>
        </p:nvSpPr>
        <p:spPr bwMode="auto">
          <a:xfrm>
            <a:off x="2133600" y="2499841"/>
            <a:ext cx="0" cy="2286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385" name="Line 33"/>
          <p:cNvSpPr>
            <a:spLocks noChangeShapeType="1"/>
          </p:cNvSpPr>
          <p:nvPr/>
        </p:nvSpPr>
        <p:spPr bwMode="auto">
          <a:xfrm flipV="1">
            <a:off x="2743200" y="1966441"/>
            <a:ext cx="1752600" cy="7620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386" name="Line 34"/>
          <p:cNvSpPr>
            <a:spLocks noChangeShapeType="1"/>
          </p:cNvSpPr>
          <p:nvPr/>
        </p:nvSpPr>
        <p:spPr bwMode="auto">
          <a:xfrm>
            <a:off x="5029200" y="1966441"/>
            <a:ext cx="0" cy="4572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387" name="Line 35"/>
          <p:cNvSpPr>
            <a:spLocks noChangeShapeType="1"/>
          </p:cNvSpPr>
          <p:nvPr/>
        </p:nvSpPr>
        <p:spPr bwMode="auto">
          <a:xfrm flipV="1">
            <a:off x="5791200" y="1966441"/>
            <a:ext cx="1371600" cy="4572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388" name="Line 36"/>
          <p:cNvSpPr>
            <a:spLocks noChangeShapeType="1"/>
          </p:cNvSpPr>
          <p:nvPr/>
        </p:nvSpPr>
        <p:spPr bwMode="auto">
          <a:xfrm>
            <a:off x="8001000" y="1966441"/>
            <a:ext cx="0" cy="798512"/>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389" name="Line 37"/>
          <p:cNvSpPr>
            <a:spLocks noChangeShapeType="1"/>
          </p:cNvSpPr>
          <p:nvPr/>
        </p:nvSpPr>
        <p:spPr bwMode="auto">
          <a:xfrm flipH="1" flipV="1">
            <a:off x="5105400" y="2499841"/>
            <a:ext cx="2667000" cy="3048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390" name="Line 38"/>
          <p:cNvSpPr>
            <a:spLocks noChangeShapeType="1"/>
          </p:cNvSpPr>
          <p:nvPr/>
        </p:nvSpPr>
        <p:spPr bwMode="auto">
          <a:xfrm>
            <a:off x="5029200" y="2576041"/>
            <a:ext cx="0" cy="3810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391" name="Line 39"/>
          <p:cNvSpPr>
            <a:spLocks noChangeShapeType="1"/>
          </p:cNvSpPr>
          <p:nvPr/>
        </p:nvSpPr>
        <p:spPr bwMode="auto">
          <a:xfrm flipH="1" flipV="1">
            <a:off x="2667000" y="2804641"/>
            <a:ext cx="2362200" cy="1524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0392" name="Text Box 40"/>
          <p:cNvSpPr txBox="1">
            <a:spLocks noChangeArrowheads="1"/>
          </p:cNvSpPr>
          <p:nvPr/>
        </p:nvSpPr>
        <p:spPr bwMode="auto">
          <a:xfrm>
            <a:off x="1190625" y="3924695"/>
            <a:ext cx="728122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en-US" b="0" dirty="0"/>
              <a:t>When a function call is executed, program execution is transferred </a:t>
            </a:r>
          </a:p>
          <a:p>
            <a:pPr algn="l"/>
            <a:r>
              <a:rPr lang="en-US" altLang="en-US" b="0" dirty="0"/>
              <a:t>directly to the indicated function. After the called routine is finished </a:t>
            </a:r>
          </a:p>
          <a:p>
            <a:pPr algn="l"/>
            <a:r>
              <a:rPr lang="en-US" altLang="en-US" b="0" dirty="0"/>
              <a:t>(as signaled by the closing brace) the program </a:t>
            </a:r>
            <a:r>
              <a:rPr lang="en-US" altLang="en-US" b="0" i="1" dirty="0"/>
              <a:t>returns </a:t>
            </a:r>
            <a:r>
              <a:rPr lang="en-US" altLang="en-US" b="0" dirty="0"/>
              <a:t>to the calling </a:t>
            </a:r>
            <a:r>
              <a:rPr lang="en-US" altLang="en-US" b="0" dirty="0" smtClean="0"/>
              <a:t>routine, where </a:t>
            </a:r>
            <a:r>
              <a:rPr lang="en-US" altLang="en-US" b="0" dirty="0"/>
              <a:t>program execution continues at the point where the</a:t>
            </a:r>
          </a:p>
          <a:p>
            <a:pPr algn="l"/>
            <a:r>
              <a:rPr lang="en-US" altLang="en-US" b="0" dirty="0"/>
              <a:t>function call was executed.</a:t>
            </a:r>
          </a:p>
        </p:txBody>
      </p:sp>
      <p:sp>
        <p:nvSpPr>
          <p:cNvPr id="100393" name="Text Box 41"/>
          <p:cNvSpPr txBox="1">
            <a:spLocks noChangeArrowheads="1"/>
          </p:cNvSpPr>
          <p:nvPr/>
        </p:nvSpPr>
        <p:spPr bwMode="auto">
          <a:xfrm>
            <a:off x="1660525" y="1734666"/>
            <a:ext cx="273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t>
            </a:r>
          </a:p>
        </p:txBody>
      </p:sp>
      <p:sp>
        <p:nvSpPr>
          <p:cNvPr id="100394" name="Text Box 42"/>
          <p:cNvSpPr txBox="1">
            <a:spLocks noChangeArrowheads="1"/>
          </p:cNvSpPr>
          <p:nvPr/>
        </p:nvSpPr>
        <p:spPr bwMode="auto">
          <a:xfrm>
            <a:off x="4375150" y="1712441"/>
            <a:ext cx="273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t>
            </a:r>
          </a:p>
        </p:txBody>
      </p:sp>
      <p:sp>
        <p:nvSpPr>
          <p:cNvPr id="100395" name="Text Box 43"/>
          <p:cNvSpPr txBox="1">
            <a:spLocks noChangeArrowheads="1"/>
          </p:cNvSpPr>
          <p:nvPr/>
        </p:nvSpPr>
        <p:spPr bwMode="auto">
          <a:xfrm>
            <a:off x="6781800" y="1698153"/>
            <a:ext cx="273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t>
            </a:r>
          </a:p>
        </p:txBody>
      </p:sp>
      <p:sp>
        <p:nvSpPr>
          <p:cNvPr id="100396" name="Text Box 44"/>
          <p:cNvSpPr txBox="1">
            <a:spLocks noChangeArrowheads="1"/>
          </p:cNvSpPr>
          <p:nvPr/>
        </p:nvSpPr>
        <p:spPr bwMode="auto">
          <a:xfrm>
            <a:off x="4632325" y="2649066"/>
            <a:ext cx="273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t>
            </a:r>
          </a:p>
        </p:txBody>
      </p:sp>
      <p:sp>
        <p:nvSpPr>
          <p:cNvPr id="100398" name="Text Box 46"/>
          <p:cNvSpPr txBox="1">
            <a:spLocks noChangeArrowheads="1"/>
          </p:cNvSpPr>
          <p:nvPr/>
        </p:nvSpPr>
        <p:spPr bwMode="auto">
          <a:xfrm>
            <a:off x="7315200" y="2612553"/>
            <a:ext cx="273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t>
            </a:r>
          </a:p>
        </p:txBody>
      </p:sp>
      <p:sp>
        <p:nvSpPr>
          <p:cNvPr id="100399" name="Line 47"/>
          <p:cNvSpPr>
            <a:spLocks noChangeShapeType="1"/>
          </p:cNvSpPr>
          <p:nvPr/>
        </p:nvSpPr>
        <p:spPr bwMode="auto">
          <a:xfrm>
            <a:off x="2133600" y="2841153"/>
            <a:ext cx="0" cy="2286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Tree>
    <p:extLst>
      <p:ext uri="{BB962C8B-B14F-4D97-AF65-F5344CB8AC3E}">
        <p14:creationId xmlns:p14="http://schemas.microsoft.com/office/powerpoint/2010/main" val="1038240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37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037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037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037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038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038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0380"/>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0381"/>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038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0385"/>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0386"/>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0387"/>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0388"/>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00389"/>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00390"/>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00391"/>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003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76" grpId="0" animBg="1"/>
      <p:bldP spid="100377" grpId="0" animBg="1"/>
      <p:bldP spid="100378" grpId="0" animBg="1"/>
      <p:bldP spid="100379" grpId="0" animBg="1"/>
      <p:bldP spid="100380" grpId="0" animBg="1"/>
      <p:bldP spid="100381" grpId="0" animBg="1"/>
      <p:bldP spid="100382" grpId="0" animBg="1"/>
      <p:bldP spid="100383" grpId="0" animBg="1"/>
      <p:bldP spid="100384" grpId="0" animBg="1"/>
      <p:bldP spid="100385" grpId="0" animBg="1"/>
      <p:bldP spid="100386" grpId="0" animBg="1"/>
      <p:bldP spid="100387" grpId="0" animBg="1"/>
      <p:bldP spid="100388" grpId="0" animBg="1"/>
      <p:bldP spid="100389" grpId="0" animBg="1"/>
      <p:bldP spid="100390" grpId="0" animBg="1"/>
      <p:bldP spid="100391" grpId="0" animBg="1"/>
      <p:bldP spid="10039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r>
              <a:rPr lang="en-US" altLang="en-US"/>
              <a:t>Function definitions</a:t>
            </a:r>
          </a:p>
        </p:txBody>
      </p:sp>
      <p:sp>
        <p:nvSpPr>
          <p:cNvPr id="99332" name="Text Box 4"/>
          <p:cNvSpPr txBox="1">
            <a:spLocks noChangeArrowheads="1"/>
          </p:cNvSpPr>
          <p:nvPr/>
        </p:nvSpPr>
        <p:spPr bwMode="auto">
          <a:xfrm>
            <a:off x="2237953" y="1752600"/>
            <a:ext cx="5286375" cy="120015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b="0" i="1" dirty="0"/>
              <a:t>return-type  function-name</a:t>
            </a:r>
            <a:r>
              <a:rPr lang="en-US" altLang="en-US" b="0" dirty="0"/>
              <a:t>(</a:t>
            </a:r>
            <a:r>
              <a:rPr lang="en-US" altLang="en-US" b="0" i="1" dirty="0"/>
              <a:t>argument declarations</a:t>
            </a:r>
            <a:r>
              <a:rPr lang="en-US" altLang="en-US" b="0" dirty="0"/>
              <a:t>)</a:t>
            </a:r>
          </a:p>
          <a:p>
            <a:pPr algn="l"/>
            <a:r>
              <a:rPr lang="en-US" altLang="en-US" b="0" dirty="0"/>
              <a:t>{</a:t>
            </a:r>
          </a:p>
          <a:p>
            <a:pPr algn="l"/>
            <a:r>
              <a:rPr lang="en-US" altLang="en-US" b="0" dirty="0"/>
              <a:t>      </a:t>
            </a:r>
            <a:r>
              <a:rPr lang="en-US" altLang="en-US" b="0" i="1" dirty="0"/>
              <a:t>declarations  and statements</a:t>
            </a:r>
          </a:p>
          <a:p>
            <a:pPr algn="l"/>
            <a:r>
              <a:rPr lang="en-US" altLang="en-US" b="0" dirty="0"/>
              <a:t>}</a:t>
            </a:r>
          </a:p>
        </p:txBody>
      </p:sp>
      <p:sp>
        <p:nvSpPr>
          <p:cNvPr id="99334" name="Text Box 6"/>
          <p:cNvSpPr txBox="1">
            <a:spLocks noChangeArrowheads="1"/>
          </p:cNvSpPr>
          <p:nvPr/>
        </p:nvSpPr>
        <p:spPr bwMode="auto">
          <a:xfrm>
            <a:off x="1587078" y="3733800"/>
            <a:ext cx="560387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b="0" dirty="0">
                <a:latin typeface="Courier New" panose="02070309020205020404" pitchFamily="49" charset="0"/>
              </a:rPr>
              <a:t>void </a:t>
            </a:r>
            <a:r>
              <a:rPr lang="en-US" altLang="en-US" b="0" dirty="0" err="1">
                <a:latin typeface="Courier New" panose="02070309020205020404" pitchFamily="49" charset="0"/>
              </a:rPr>
              <a:t>printMessage</a:t>
            </a:r>
            <a:r>
              <a:rPr lang="en-US" altLang="en-US" b="0" dirty="0">
                <a:latin typeface="Courier New" panose="02070309020205020404" pitchFamily="49" charset="0"/>
              </a:rPr>
              <a:t> ( void )</a:t>
            </a:r>
          </a:p>
          <a:p>
            <a:pPr algn="l"/>
            <a:r>
              <a:rPr lang="en-US" altLang="en-US" b="0" dirty="0">
                <a:latin typeface="Courier New" panose="02070309020205020404" pitchFamily="49" charset="0"/>
              </a:rPr>
              <a:t>{</a:t>
            </a:r>
          </a:p>
          <a:p>
            <a:pPr algn="l"/>
            <a:r>
              <a:rPr lang="en-US" altLang="en-US" b="0" dirty="0">
                <a:latin typeface="Courier New" panose="02070309020205020404" pitchFamily="49" charset="0"/>
              </a:rPr>
              <a:t>	</a:t>
            </a:r>
            <a:r>
              <a:rPr lang="en-US" altLang="en-US" b="0" dirty="0" err="1">
                <a:latin typeface="Courier New" panose="02070309020205020404" pitchFamily="49" charset="0"/>
              </a:rPr>
              <a:t>printf</a:t>
            </a:r>
            <a:r>
              <a:rPr lang="en-US" altLang="en-US" b="0" dirty="0">
                <a:latin typeface="Courier New" panose="02070309020205020404" pitchFamily="49" charset="0"/>
              </a:rPr>
              <a:t> ("Programming is fun.\n");</a:t>
            </a:r>
          </a:p>
          <a:p>
            <a:pPr algn="l"/>
            <a:r>
              <a:rPr lang="en-US" altLang="en-US" b="0" dirty="0">
                <a:latin typeface="Courier New" panose="02070309020205020404" pitchFamily="49" charset="0"/>
              </a:rPr>
              <a:t>}</a:t>
            </a:r>
            <a:endParaRPr lang="en-US" altLang="en-US" dirty="0">
              <a:latin typeface="Courier New" panose="02070309020205020404" pitchFamily="49" charset="0"/>
            </a:endParaRPr>
          </a:p>
        </p:txBody>
      </p:sp>
      <p:sp>
        <p:nvSpPr>
          <p:cNvPr id="99336" name="Text Box 8"/>
          <p:cNvSpPr txBox="1">
            <a:spLocks noChangeArrowheads="1"/>
          </p:cNvSpPr>
          <p:nvPr/>
        </p:nvSpPr>
        <p:spPr bwMode="auto">
          <a:xfrm>
            <a:off x="1628353" y="1385888"/>
            <a:ext cx="4083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FF0000"/>
                </a:solidFill>
              </a:rPr>
              <a:t>General form of  function definition:</a:t>
            </a:r>
          </a:p>
        </p:txBody>
      </p:sp>
      <p:sp>
        <p:nvSpPr>
          <p:cNvPr id="99337" name="Freeform 9"/>
          <p:cNvSpPr>
            <a:spLocks/>
          </p:cNvSpPr>
          <p:nvPr/>
        </p:nvSpPr>
        <p:spPr bwMode="auto">
          <a:xfrm>
            <a:off x="1488653" y="3695700"/>
            <a:ext cx="752475" cy="438150"/>
          </a:xfrm>
          <a:custGeom>
            <a:avLst/>
            <a:gdLst>
              <a:gd name="T0" fmla="*/ 77 w 474"/>
              <a:gd name="T1" fmla="*/ 15 h 276"/>
              <a:gd name="T2" fmla="*/ 45 w 474"/>
              <a:gd name="T3" fmla="*/ 213 h 276"/>
              <a:gd name="T4" fmla="*/ 100 w 474"/>
              <a:gd name="T5" fmla="*/ 244 h 276"/>
              <a:gd name="T6" fmla="*/ 148 w 474"/>
              <a:gd name="T7" fmla="*/ 276 h 276"/>
              <a:gd name="T8" fmla="*/ 353 w 474"/>
              <a:gd name="T9" fmla="*/ 268 h 276"/>
              <a:gd name="T10" fmla="*/ 392 w 474"/>
              <a:gd name="T11" fmla="*/ 228 h 276"/>
              <a:gd name="T12" fmla="*/ 440 w 474"/>
              <a:gd name="T13" fmla="*/ 213 h 276"/>
              <a:gd name="T14" fmla="*/ 471 w 474"/>
              <a:gd name="T15" fmla="*/ 157 h 276"/>
              <a:gd name="T16" fmla="*/ 448 w 474"/>
              <a:gd name="T17" fmla="*/ 55 h 276"/>
              <a:gd name="T18" fmla="*/ 392 w 474"/>
              <a:gd name="T19" fmla="*/ 39 h 276"/>
              <a:gd name="T20" fmla="*/ 290 w 474"/>
              <a:gd name="T21" fmla="*/ 0 h 276"/>
              <a:gd name="T22" fmla="*/ 124 w 474"/>
              <a:gd name="T23" fmla="*/ 15 h 276"/>
              <a:gd name="T24" fmla="*/ 69 w 474"/>
              <a:gd name="T25" fmla="*/ 47 h 276"/>
              <a:gd name="T26" fmla="*/ 77 w 474"/>
              <a:gd name="T27" fmla="*/ 15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4" h="276">
                <a:moveTo>
                  <a:pt x="77" y="15"/>
                </a:moveTo>
                <a:cubicBezTo>
                  <a:pt x="65" y="49"/>
                  <a:pt x="0" y="158"/>
                  <a:pt x="45" y="213"/>
                </a:cubicBezTo>
                <a:cubicBezTo>
                  <a:pt x="51" y="220"/>
                  <a:pt x="95" y="241"/>
                  <a:pt x="100" y="244"/>
                </a:cubicBezTo>
                <a:cubicBezTo>
                  <a:pt x="116" y="254"/>
                  <a:pt x="148" y="276"/>
                  <a:pt x="148" y="276"/>
                </a:cubicBezTo>
                <a:cubicBezTo>
                  <a:pt x="216" y="273"/>
                  <a:pt x="285" y="275"/>
                  <a:pt x="353" y="268"/>
                </a:cubicBezTo>
                <a:cubicBezTo>
                  <a:pt x="383" y="265"/>
                  <a:pt x="374" y="242"/>
                  <a:pt x="392" y="228"/>
                </a:cubicBezTo>
                <a:cubicBezTo>
                  <a:pt x="405" y="218"/>
                  <a:pt x="424" y="218"/>
                  <a:pt x="440" y="213"/>
                </a:cubicBezTo>
                <a:cubicBezTo>
                  <a:pt x="460" y="192"/>
                  <a:pt x="471" y="189"/>
                  <a:pt x="471" y="157"/>
                </a:cubicBezTo>
                <a:cubicBezTo>
                  <a:pt x="471" y="139"/>
                  <a:pt x="474" y="76"/>
                  <a:pt x="448" y="55"/>
                </a:cubicBezTo>
                <a:cubicBezTo>
                  <a:pt x="443" y="51"/>
                  <a:pt x="394" y="40"/>
                  <a:pt x="392" y="39"/>
                </a:cubicBezTo>
                <a:cubicBezTo>
                  <a:pt x="356" y="28"/>
                  <a:pt x="324" y="16"/>
                  <a:pt x="290" y="0"/>
                </a:cubicBezTo>
                <a:cubicBezTo>
                  <a:pt x="235" y="6"/>
                  <a:pt x="178" y="4"/>
                  <a:pt x="124" y="15"/>
                </a:cubicBezTo>
                <a:cubicBezTo>
                  <a:pt x="103" y="19"/>
                  <a:pt x="88" y="37"/>
                  <a:pt x="69" y="47"/>
                </a:cubicBezTo>
                <a:cubicBezTo>
                  <a:pt x="32" y="35"/>
                  <a:pt x="38" y="44"/>
                  <a:pt x="77" y="15"/>
                </a:cubicBezTo>
                <a:close/>
              </a:path>
            </a:pathLst>
          </a:cu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99338" name="Freeform 10"/>
          <p:cNvSpPr>
            <a:spLocks/>
          </p:cNvSpPr>
          <p:nvPr/>
        </p:nvSpPr>
        <p:spPr bwMode="auto">
          <a:xfrm>
            <a:off x="4295353" y="3676650"/>
            <a:ext cx="752475" cy="438150"/>
          </a:xfrm>
          <a:custGeom>
            <a:avLst/>
            <a:gdLst>
              <a:gd name="T0" fmla="*/ 77 w 474"/>
              <a:gd name="T1" fmla="*/ 15 h 276"/>
              <a:gd name="T2" fmla="*/ 45 w 474"/>
              <a:gd name="T3" fmla="*/ 213 h 276"/>
              <a:gd name="T4" fmla="*/ 100 w 474"/>
              <a:gd name="T5" fmla="*/ 244 h 276"/>
              <a:gd name="T6" fmla="*/ 148 w 474"/>
              <a:gd name="T7" fmla="*/ 276 h 276"/>
              <a:gd name="T8" fmla="*/ 353 w 474"/>
              <a:gd name="T9" fmla="*/ 268 h 276"/>
              <a:gd name="T10" fmla="*/ 392 w 474"/>
              <a:gd name="T11" fmla="*/ 228 h 276"/>
              <a:gd name="T12" fmla="*/ 440 w 474"/>
              <a:gd name="T13" fmla="*/ 213 h 276"/>
              <a:gd name="T14" fmla="*/ 471 w 474"/>
              <a:gd name="T15" fmla="*/ 157 h 276"/>
              <a:gd name="T16" fmla="*/ 448 w 474"/>
              <a:gd name="T17" fmla="*/ 55 h 276"/>
              <a:gd name="T18" fmla="*/ 392 w 474"/>
              <a:gd name="T19" fmla="*/ 39 h 276"/>
              <a:gd name="T20" fmla="*/ 290 w 474"/>
              <a:gd name="T21" fmla="*/ 0 h 276"/>
              <a:gd name="T22" fmla="*/ 124 w 474"/>
              <a:gd name="T23" fmla="*/ 15 h 276"/>
              <a:gd name="T24" fmla="*/ 69 w 474"/>
              <a:gd name="T25" fmla="*/ 47 h 276"/>
              <a:gd name="T26" fmla="*/ 77 w 474"/>
              <a:gd name="T27" fmla="*/ 15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4" h="276">
                <a:moveTo>
                  <a:pt x="77" y="15"/>
                </a:moveTo>
                <a:cubicBezTo>
                  <a:pt x="65" y="49"/>
                  <a:pt x="0" y="158"/>
                  <a:pt x="45" y="213"/>
                </a:cubicBezTo>
                <a:cubicBezTo>
                  <a:pt x="51" y="220"/>
                  <a:pt x="95" y="241"/>
                  <a:pt x="100" y="244"/>
                </a:cubicBezTo>
                <a:cubicBezTo>
                  <a:pt x="116" y="254"/>
                  <a:pt x="148" y="276"/>
                  <a:pt x="148" y="276"/>
                </a:cubicBezTo>
                <a:cubicBezTo>
                  <a:pt x="216" y="273"/>
                  <a:pt x="285" y="275"/>
                  <a:pt x="353" y="268"/>
                </a:cubicBezTo>
                <a:cubicBezTo>
                  <a:pt x="383" y="265"/>
                  <a:pt x="374" y="242"/>
                  <a:pt x="392" y="228"/>
                </a:cubicBezTo>
                <a:cubicBezTo>
                  <a:pt x="405" y="218"/>
                  <a:pt x="424" y="218"/>
                  <a:pt x="440" y="213"/>
                </a:cubicBezTo>
                <a:cubicBezTo>
                  <a:pt x="460" y="192"/>
                  <a:pt x="471" y="189"/>
                  <a:pt x="471" y="157"/>
                </a:cubicBezTo>
                <a:cubicBezTo>
                  <a:pt x="471" y="139"/>
                  <a:pt x="474" y="76"/>
                  <a:pt x="448" y="55"/>
                </a:cubicBezTo>
                <a:cubicBezTo>
                  <a:pt x="443" y="51"/>
                  <a:pt x="394" y="40"/>
                  <a:pt x="392" y="39"/>
                </a:cubicBezTo>
                <a:cubicBezTo>
                  <a:pt x="356" y="28"/>
                  <a:pt x="324" y="16"/>
                  <a:pt x="290" y="0"/>
                </a:cubicBezTo>
                <a:cubicBezTo>
                  <a:pt x="235" y="6"/>
                  <a:pt x="178" y="4"/>
                  <a:pt x="124" y="15"/>
                </a:cubicBezTo>
                <a:cubicBezTo>
                  <a:pt x="103" y="19"/>
                  <a:pt x="88" y="37"/>
                  <a:pt x="69" y="47"/>
                </a:cubicBezTo>
                <a:cubicBezTo>
                  <a:pt x="32" y="35"/>
                  <a:pt x="38" y="44"/>
                  <a:pt x="77" y="15"/>
                </a:cubicBezTo>
                <a:close/>
              </a:path>
            </a:pathLst>
          </a:cu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99339" name="Text Box 11"/>
          <p:cNvSpPr txBox="1">
            <a:spLocks noChangeArrowheads="1"/>
          </p:cNvSpPr>
          <p:nvPr/>
        </p:nvSpPr>
        <p:spPr bwMode="auto">
          <a:xfrm>
            <a:off x="1247353" y="3429000"/>
            <a:ext cx="1289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0" i="1"/>
              <a:t>return-type</a:t>
            </a:r>
          </a:p>
        </p:txBody>
      </p:sp>
      <p:sp>
        <p:nvSpPr>
          <p:cNvPr id="99340" name="Text Box 12"/>
          <p:cNvSpPr txBox="1">
            <a:spLocks noChangeArrowheads="1"/>
          </p:cNvSpPr>
          <p:nvPr/>
        </p:nvSpPr>
        <p:spPr bwMode="auto">
          <a:xfrm>
            <a:off x="4149303" y="3429000"/>
            <a:ext cx="1263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0" i="1"/>
              <a:t>arguments</a:t>
            </a:r>
          </a:p>
        </p:txBody>
      </p:sp>
    </p:spTree>
    <p:extLst>
      <p:ext uri="{BB962C8B-B14F-4D97-AF65-F5344CB8AC3E}">
        <p14:creationId xmlns:p14="http://schemas.microsoft.com/office/powerpoint/2010/main" val="10481785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r>
              <a:rPr lang="en-US" altLang="en-US"/>
              <a:t>Function prototype</a:t>
            </a:r>
          </a:p>
        </p:txBody>
      </p:sp>
      <p:sp>
        <p:nvSpPr>
          <p:cNvPr id="141315" name="Rectangle 3"/>
          <p:cNvSpPr>
            <a:spLocks noGrp="1" noChangeArrowheads="1"/>
          </p:cNvSpPr>
          <p:nvPr>
            <p:ph type="body" idx="1"/>
          </p:nvPr>
        </p:nvSpPr>
        <p:spPr/>
        <p:txBody>
          <a:bodyPr/>
          <a:lstStyle/>
          <a:p>
            <a:pPr>
              <a:lnSpc>
                <a:spcPct val="85000"/>
              </a:lnSpc>
            </a:pPr>
            <a:r>
              <a:rPr lang="en-US" altLang="en-US" sz="2400"/>
              <a:t>The first line of the function definition</a:t>
            </a:r>
          </a:p>
          <a:p>
            <a:pPr>
              <a:lnSpc>
                <a:spcPct val="85000"/>
              </a:lnSpc>
            </a:pPr>
            <a:r>
              <a:rPr lang="en-US" altLang="en-US" sz="2400"/>
              <a:t>Contains everything that others (other functions) need to know about the function in order to use it (call it) </a:t>
            </a:r>
          </a:p>
          <a:p>
            <a:pPr>
              <a:lnSpc>
                <a:spcPct val="85000"/>
              </a:lnSpc>
            </a:pPr>
            <a:endParaRPr lang="en-US" altLang="en-US" sz="2400"/>
          </a:p>
          <a:p>
            <a:pPr>
              <a:lnSpc>
                <a:spcPct val="85000"/>
              </a:lnSpc>
            </a:pPr>
            <a:r>
              <a:rPr lang="en-US" altLang="en-US" sz="2400">
                <a:latin typeface="Courier New" panose="02070309020205020404" pitchFamily="49" charset="0"/>
              </a:rPr>
              <a:t>void printMessage (void)</a:t>
            </a:r>
          </a:p>
          <a:p>
            <a:pPr>
              <a:lnSpc>
                <a:spcPct val="85000"/>
              </a:lnSpc>
            </a:pPr>
            <a:r>
              <a:rPr lang="en-US" altLang="en-US" sz="2400">
                <a:latin typeface="Courier New" panose="02070309020205020404" pitchFamily="49" charset="0"/>
              </a:rPr>
              <a:t>void calculateTriangularNumber (int n)</a:t>
            </a:r>
          </a:p>
          <a:p>
            <a:pPr>
              <a:lnSpc>
                <a:spcPct val="85000"/>
              </a:lnSpc>
            </a:pPr>
            <a:endParaRPr lang="en-US" altLang="en-US" sz="2400">
              <a:latin typeface="Courier New" panose="02070309020205020404" pitchFamily="49" charset="0"/>
            </a:endParaRPr>
          </a:p>
          <a:p>
            <a:endParaRPr lang="en-US" altLang="en-US" sz="2400"/>
          </a:p>
        </p:txBody>
      </p:sp>
      <p:sp>
        <p:nvSpPr>
          <p:cNvPr id="141316" name="Text Box 4"/>
          <p:cNvSpPr txBox="1">
            <a:spLocks noChangeArrowheads="1"/>
          </p:cNvSpPr>
          <p:nvPr/>
        </p:nvSpPr>
        <p:spPr bwMode="auto">
          <a:xfrm>
            <a:off x="1905000" y="4667250"/>
            <a:ext cx="5286375" cy="1200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b="0" i="1" dirty="0"/>
              <a:t>return-type  function-name</a:t>
            </a:r>
            <a:r>
              <a:rPr lang="en-US" altLang="en-US" b="0" dirty="0"/>
              <a:t>(</a:t>
            </a:r>
            <a:r>
              <a:rPr lang="en-US" altLang="en-US" b="0" i="1" dirty="0"/>
              <a:t>argument declarations</a:t>
            </a:r>
            <a:r>
              <a:rPr lang="en-US" altLang="en-US" b="0" dirty="0"/>
              <a:t>)</a:t>
            </a:r>
          </a:p>
          <a:p>
            <a:pPr algn="l"/>
            <a:r>
              <a:rPr lang="en-US" altLang="en-US" b="0" dirty="0"/>
              <a:t>{</a:t>
            </a:r>
          </a:p>
          <a:p>
            <a:pPr algn="l"/>
            <a:r>
              <a:rPr lang="en-US" altLang="en-US" b="0" dirty="0"/>
              <a:t>      </a:t>
            </a:r>
            <a:r>
              <a:rPr lang="en-US" altLang="en-US" b="0" i="1" dirty="0"/>
              <a:t>declarations  and statements</a:t>
            </a:r>
          </a:p>
          <a:p>
            <a:pPr algn="l"/>
            <a:r>
              <a:rPr lang="en-US" altLang="en-US" b="0" dirty="0"/>
              <a:t>}</a:t>
            </a:r>
          </a:p>
        </p:txBody>
      </p:sp>
      <p:sp>
        <p:nvSpPr>
          <p:cNvPr id="141317" name="Rectangle 5"/>
          <p:cNvSpPr>
            <a:spLocks noChangeArrowheads="1"/>
          </p:cNvSpPr>
          <p:nvPr/>
        </p:nvSpPr>
        <p:spPr bwMode="auto">
          <a:xfrm>
            <a:off x="1447800" y="4495800"/>
            <a:ext cx="6096000" cy="60960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141319" name="Text Box 7"/>
          <p:cNvSpPr txBox="1">
            <a:spLocks noChangeArrowheads="1"/>
          </p:cNvSpPr>
          <p:nvPr/>
        </p:nvSpPr>
        <p:spPr bwMode="auto">
          <a:xfrm>
            <a:off x="1295400" y="4129088"/>
            <a:ext cx="2266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FF0000"/>
                </a:solidFill>
              </a:rPr>
              <a:t>Function prototype</a:t>
            </a:r>
          </a:p>
        </p:txBody>
      </p:sp>
    </p:spTree>
    <p:extLst>
      <p:ext uri="{BB962C8B-B14F-4D97-AF65-F5344CB8AC3E}">
        <p14:creationId xmlns:p14="http://schemas.microsoft.com/office/powerpoint/2010/main" val="13195741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r>
              <a:rPr lang="en-US" altLang="en-US"/>
              <a:t>Function arguments</a:t>
            </a:r>
          </a:p>
        </p:txBody>
      </p:sp>
      <p:sp>
        <p:nvSpPr>
          <p:cNvPr id="103427" name="Rectangle 3"/>
          <p:cNvSpPr>
            <a:spLocks noGrp="1" noChangeArrowheads="1"/>
          </p:cNvSpPr>
          <p:nvPr>
            <p:ph type="body" idx="1"/>
          </p:nvPr>
        </p:nvSpPr>
        <p:spPr/>
        <p:txBody>
          <a:bodyPr/>
          <a:lstStyle/>
          <a:p>
            <a:r>
              <a:rPr lang="en-US" altLang="en-US" sz="2000"/>
              <a:t>arguments  (parameters): a kind of input for the function blackbox</a:t>
            </a:r>
          </a:p>
          <a:p>
            <a:r>
              <a:rPr lang="en-US" altLang="en-US" sz="2000" b="1"/>
              <a:t>In the function definition</a:t>
            </a:r>
            <a:r>
              <a:rPr lang="en-US" altLang="en-US" sz="2000"/>
              <a:t>: </a:t>
            </a:r>
            <a:r>
              <a:rPr lang="en-US" altLang="en-US" sz="2000" b="1" i="1">
                <a:solidFill>
                  <a:srgbClr val="FF0066"/>
                </a:solidFill>
              </a:rPr>
              <a:t>formal arguments</a:t>
            </a:r>
            <a:r>
              <a:rPr lang="en-US" altLang="en-US" sz="2000" b="1"/>
              <a:t> (formal parameters)</a:t>
            </a:r>
          </a:p>
          <a:p>
            <a:pPr lvl="1"/>
            <a:r>
              <a:rPr lang="en-US" altLang="en-US" sz="1800"/>
              <a:t>Formal parameter: a name that is used inside the function body to refer to its argument</a:t>
            </a:r>
          </a:p>
          <a:p>
            <a:r>
              <a:rPr lang="en-US" altLang="en-US" sz="2000" b="1"/>
              <a:t>In the function call</a:t>
            </a:r>
            <a:r>
              <a:rPr lang="en-US" altLang="en-US" sz="2000"/>
              <a:t>: </a:t>
            </a:r>
            <a:r>
              <a:rPr lang="en-US" altLang="en-US" sz="2000" b="1" i="1">
                <a:solidFill>
                  <a:srgbClr val="FF0066"/>
                </a:solidFill>
              </a:rPr>
              <a:t>actual arguments</a:t>
            </a:r>
            <a:r>
              <a:rPr lang="en-US" altLang="en-US" sz="2000" b="1"/>
              <a:t> (actual parameters)</a:t>
            </a:r>
          </a:p>
          <a:p>
            <a:pPr lvl="1"/>
            <a:r>
              <a:rPr lang="en-US" altLang="en-US" sz="1800"/>
              <a:t>The actual arguments are values are assigned to the corresponding formal parameters. </a:t>
            </a:r>
          </a:p>
          <a:p>
            <a:pPr lvl="1"/>
            <a:r>
              <a:rPr lang="en-US" altLang="en-US" sz="1800"/>
              <a:t>The actual argument can be a constant, a variable, or an even more elaborate expression. </a:t>
            </a:r>
          </a:p>
          <a:p>
            <a:pPr lvl="1"/>
            <a:r>
              <a:rPr lang="en-US" altLang="en-US" sz="1800"/>
              <a:t>The actual argument is evaluated, and its </a:t>
            </a:r>
            <a:r>
              <a:rPr lang="en-US" altLang="en-US" sz="1800" b="1">
                <a:solidFill>
                  <a:srgbClr val="FF0066"/>
                </a:solidFill>
              </a:rPr>
              <a:t>value is copied</a:t>
            </a:r>
            <a:r>
              <a:rPr lang="en-US" altLang="en-US" sz="1800"/>
              <a:t> to the corresponding formal parameter for the function.  </a:t>
            </a:r>
          </a:p>
          <a:p>
            <a:pPr lvl="2"/>
            <a:r>
              <a:rPr lang="en-US" altLang="en-US" sz="1600"/>
              <a:t>Because the called function works with data copied from the calling function, the original data in the calling function is protected from whatever manipulations the called function applies to the copies</a:t>
            </a:r>
            <a:r>
              <a:rPr lang="en-US" altLang="en-US" sz="2800"/>
              <a:t>.</a:t>
            </a:r>
            <a:r>
              <a:rPr lang="en-US" altLang="en-US"/>
              <a:t> </a:t>
            </a:r>
          </a:p>
          <a:p>
            <a:pPr lvl="1">
              <a:lnSpc>
                <a:spcPct val="85000"/>
              </a:lnSpc>
            </a:pPr>
            <a:endParaRPr lang="en-US" altLang="en-US" sz="1600"/>
          </a:p>
          <a:p>
            <a:pPr lvl="1">
              <a:lnSpc>
                <a:spcPct val="80000"/>
              </a:lnSpc>
            </a:pPr>
            <a:endParaRPr lang="en-US" altLang="en-US" sz="1600"/>
          </a:p>
        </p:txBody>
      </p:sp>
    </p:spTree>
    <p:extLst>
      <p:ext uri="{BB962C8B-B14F-4D97-AF65-F5344CB8AC3E}">
        <p14:creationId xmlns:p14="http://schemas.microsoft.com/office/powerpoint/2010/main" val="6298779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altLang="en-US"/>
              <a:t>Example: arguments</a:t>
            </a:r>
          </a:p>
        </p:txBody>
      </p:sp>
      <p:sp>
        <p:nvSpPr>
          <p:cNvPr id="90116" name="Text Box 4"/>
          <p:cNvSpPr txBox="1">
            <a:spLocks noChangeArrowheads="1"/>
          </p:cNvSpPr>
          <p:nvPr/>
        </p:nvSpPr>
        <p:spPr bwMode="auto">
          <a:xfrm>
            <a:off x="323528" y="1196752"/>
            <a:ext cx="8663880" cy="4486275"/>
          </a:xfrm>
          <a:prstGeom prst="rect">
            <a:avLst/>
          </a:prstGeom>
          <a:solidFill>
            <a:schemeClr val="bg1"/>
          </a:solidFill>
          <a:ln w="9525">
            <a:solidFill>
              <a:schemeClr val="tx1"/>
            </a:solidFill>
            <a:miter lim="800000"/>
            <a:headEnd/>
            <a:tailEnd/>
          </a:ln>
          <a:effectLst/>
        </p:spPr>
        <p:txBody>
          <a:bodyPr wrap="square">
            <a:spAutoFit/>
          </a:bodyPr>
          <a:lstStyle/>
          <a:p>
            <a:pPr algn="l"/>
            <a:r>
              <a:rPr lang="en-US" altLang="en-US" b="0" dirty="0">
                <a:latin typeface="Courier New" panose="02070309020205020404" pitchFamily="49" charset="0"/>
              </a:rPr>
              <a:t>// Function to calculate the nth triangular number</a:t>
            </a:r>
          </a:p>
          <a:p>
            <a:pPr algn="l"/>
            <a:r>
              <a:rPr lang="en-US" altLang="en-US" b="0" dirty="0">
                <a:latin typeface="Courier New" panose="02070309020205020404" pitchFamily="49" charset="0"/>
              </a:rPr>
              <a:t>#include &lt;</a:t>
            </a:r>
            <a:r>
              <a:rPr lang="en-US" altLang="en-US" b="0" dirty="0" err="1">
                <a:latin typeface="Courier New" panose="02070309020205020404" pitchFamily="49" charset="0"/>
              </a:rPr>
              <a:t>stdio.h</a:t>
            </a:r>
            <a:r>
              <a:rPr lang="en-US" altLang="en-US" b="0" dirty="0">
                <a:latin typeface="Courier New" panose="02070309020205020404" pitchFamily="49" charset="0"/>
              </a:rPr>
              <a:t>&gt;</a:t>
            </a:r>
          </a:p>
          <a:p>
            <a:pPr algn="l"/>
            <a:r>
              <a:rPr lang="en-US" altLang="en-US" b="0" dirty="0">
                <a:latin typeface="Courier New" panose="02070309020205020404" pitchFamily="49" charset="0"/>
              </a:rPr>
              <a:t>void </a:t>
            </a:r>
            <a:r>
              <a:rPr lang="en-US" altLang="en-US" b="0" dirty="0" err="1">
                <a:latin typeface="Courier New" panose="02070309020205020404" pitchFamily="49" charset="0"/>
              </a:rPr>
              <a:t>calculateTriangularNumber</a:t>
            </a:r>
            <a:r>
              <a:rPr lang="en-US" altLang="en-US" b="0" dirty="0">
                <a:latin typeface="Courier New" panose="02070309020205020404" pitchFamily="49" charset="0"/>
              </a:rPr>
              <a:t> ( </a:t>
            </a:r>
            <a:r>
              <a:rPr lang="en-US" altLang="en-US" b="0" dirty="0" err="1">
                <a:latin typeface="Courier New" panose="02070309020205020404" pitchFamily="49" charset="0"/>
              </a:rPr>
              <a:t>int</a:t>
            </a:r>
            <a:r>
              <a:rPr lang="en-US" altLang="en-US" b="0" dirty="0">
                <a:latin typeface="Courier New" panose="02070309020205020404" pitchFamily="49" charset="0"/>
              </a:rPr>
              <a:t> n )</a:t>
            </a:r>
          </a:p>
          <a:p>
            <a:pPr algn="l"/>
            <a:r>
              <a:rPr lang="en-US" altLang="en-US" b="0" dirty="0">
                <a:latin typeface="Courier New" panose="02070309020205020404" pitchFamily="49" charset="0"/>
              </a:rPr>
              <a:t>{</a:t>
            </a:r>
          </a:p>
          <a:p>
            <a:pPr lvl="1" algn="l"/>
            <a:r>
              <a:rPr lang="en-US" altLang="en-US" b="0" dirty="0" err="1">
                <a:latin typeface="Courier New" panose="02070309020205020404" pitchFamily="49" charset="0"/>
              </a:rPr>
              <a:t>int</a:t>
            </a:r>
            <a:r>
              <a:rPr lang="en-US" altLang="en-US" b="0" dirty="0">
                <a:latin typeface="Courier New" panose="02070309020205020404" pitchFamily="49" charset="0"/>
              </a:rPr>
              <a:t> </a:t>
            </a:r>
            <a:r>
              <a:rPr lang="en-US" altLang="en-US" b="0" dirty="0" err="1">
                <a:latin typeface="Courier New" panose="02070309020205020404" pitchFamily="49" charset="0"/>
              </a:rPr>
              <a:t>i</a:t>
            </a:r>
            <a:r>
              <a:rPr lang="en-US" altLang="en-US" b="0" dirty="0">
                <a:latin typeface="Courier New" panose="02070309020205020404" pitchFamily="49" charset="0"/>
              </a:rPr>
              <a:t>, </a:t>
            </a:r>
            <a:r>
              <a:rPr lang="en-US" altLang="en-US" b="0" dirty="0" err="1">
                <a:latin typeface="Courier New" panose="02070309020205020404" pitchFamily="49" charset="0"/>
              </a:rPr>
              <a:t>triangularNumber</a:t>
            </a:r>
            <a:r>
              <a:rPr lang="en-US" altLang="en-US" b="0" dirty="0">
                <a:latin typeface="Courier New" panose="02070309020205020404" pitchFamily="49" charset="0"/>
              </a:rPr>
              <a:t> = 0;</a:t>
            </a:r>
          </a:p>
          <a:p>
            <a:pPr lvl="1" algn="l"/>
            <a:r>
              <a:rPr lang="en-US" altLang="en-US" b="0" dirty="0">
                <a:latin typeface="Courier New" panose="02070309020205020404" pitchFamily="49" charset="0"/>
              </a:rPr>
              <a:t>for ( </a:t>
            </a:r>
            <a:r>
              <a:rPr lang="en-US" altLang="en-US" b="0" dirty="0" err="1">
                <a:latin typeface="Courier New" panose="02070309020205020404" pitchFamily="49" charset="0"/>
              </a:rPr>
              <a:t>i</a:t>
            </a:r>
            <a:r>
              <a:rPr lang="en-US" altLang="en-US" b="0" dirty="0">
                <a:latin typeface="Courier New" panose="02070309020205020404" pitchFamily="49" charset="0"/>
              </a:rPr>
              <a:t> = 1; </a:t>
            </a:r>
            <a:r>
              <a:rPr lang="en-US" altLang="en-US" b="0" dirty="0" err="1">
                <a:latin typeface="Courier New" panose="02070309020205020404" pitchFamily="49" charset="0"/>
              </a:rPr>
              <a:t>i</a:t>
            </a:r>
            <a:r>
              <a:rPr lang="en-US" altLang="en-US" b="0" dirty="0">
                <a:latin typeface="Courier New" panose="02070309020205020404" pitchFamily="49" charset="0"/>
              </a:rPr>
              <a:t> &lt;= n; ++</a:t>
            </a:r>
            <a:r>
              <a:rPr lang="en-US" altLang="en-US" b="0" dirty="0" err="1">
                <a:latin typeface="Courier New" panose="02070309020205020404" pitchFamily="49" charset="0"/>
              </a:rPr>
              <a:t>i</a:t>
            </a:r>
            <a:r>
              <a:rPr lang="en-US" altLang="en-US" b="0" dirty="0">
                <a:latin typeface="Courier New" panose="02070309020205020404" pitchFamily="49" charset="0"/>
              </a:rPr>
              <a:t> )</a:t>
            </a:r>
          </a:p>
          <a:p>
            <a:pPr lvl="1" algn="l"/>
            <a:r>
              <a:rPr lang="en-US" altLang="en-US" b="0" dirty="0">
                <a:latin typeface="Courier New" panose="02070309020205020404" pitchFamily="49" charset="0"/>
              </a:rPr>
              <a:t>	</a:t>
            </a:r>
            <a:r>
              <a:rPr lang="en-US" altLang="en-US" b="0" dirty="0" err="1">
                <a:latin typeface="Courier New" panose="02070309020205020404" pitchFamily="49" charset="0"/>
              </a:rPr>
              <a:t>triangularNumber</a:t>
            </a:r>
            <a:r>
              <a:rPr lang="en-US" altLang="en-US" b="0" dirty="0">
                <a:latin typeface="Courier New" panose="02070309020205020404" pitchFamily="49" charset="0"/>
              </a:rPr>
              <a:t> += </a:t>
            </a:r>
            <a:r>
              <a:rPr lang="en-US" altLang="en-US" b="0" dirty="0" err="1">
                <a:latin typeface="Courier New" panose="02070309020205020404" pitchFamily="49" charset="0"/>
              </a:rPr>
              <a:t>i</a:t>
            </a:r>
            <a:r>
              <a:rPr lang="en-US" altLang="en-US" b="0" dirty="0">
                <a:latin typeface="Courier New" panose="02070309020205020404" pitchFamily="49" charset="0"/>
              </a:rPr>
              <a:t>;</a:t>
            </a:r>
          </a:p>
          <a:p>
            <a:pPr lvl="1" algn="l"/>
            <a:r>
              <a:rPr lang="en-US" altLang="en-US" b="0" dirty="0" err="1" smtClean="0">
                <a:latin typeface="Courier New" panose="02070309020205020404" pitchFamily="49" charset="0"/>
              </a:rPr>
              <a:t>printf</a:t>
            </a:r>
            <a:r>
              <a:rPr lang="en-US" altLang="en-US" b="0" dirty="0" smtClean="0">
                <a:latin typeface="Courier New" panose="02070309020205020404" pitchFamily="49" charset="0"/>
              </a:rPr>
              <a:t>("</a:t>
            </a:r>
            <a:r>
              <a:rPr lang="en-US" altLang="en-US" b="0" dirty="0">
                <a:latin typeface="Courier New" panose="02070309020205020404" pitchFamily="49" charset="0"/>
              </a:rPr>
              <a:t>Triangular number %</a:t>
            </a:r>
            <a:r>
              <a:rPr lang="en-US" altLang="en-US" b="0" dirty="0" err="1">
                <a:latin typeface="Courier New" panose="02070309020205020404" pitchFamily="49" charset="0"/>
              </a:rPr>
              <a:t>i</a:t>
            </a:r>
            <a:r>
              <a:rPr lang="en-US" altLang="en-US" b="0" dirty="0">
                <a:latin typeface="Courier New" panose="02070309020205020404" pitchFamily="49" charset="0"/>
              </a:rPr>
              <a:t> is %</a:t>
            </a:r>
            <a:r>
              <a:rPr lang="en-US" altLang="en-US" b="0" dirty="0" err="1">
                <a:latin typeface="Courier New" panose="02070309020205020404" pitchFamily="49" charset="0"/>
              </a:rPr>
              <a:t>i</a:t>
            </a:r>
            <a:r>
              <a:rPr lang="en-US" altLang="en-US" b="0" dirty="0">
                <a:latin typeface="Courier New" panose="02070309020205020404" pitchFamily="49" charset="0"/>
              </a:rPr>
              <a:t>\n</a:t>
            </a:r>
            <a:r>
              <a:rPr lang="en-US" altLang="en-US" b="0" dirty="0" smtClean="0">
                <a:latin typeface="Courier New" panose="02070309020205020404" pitchFamily="49" charset="0"/>
              </a:rPr>
              <a:t>",</a:t>
            </a:r>
            <a:r>
              <a:rPr lang="en-US" altLang="en-US" b="0" dirty="0" err="1" smtClean="0">
                <a:latin typeface="Courier New" panose="02070309020205020404" pitchFamily="49" charset="0"/>
              </a:rPr>
              <a:t>n,triangularNumber</a:t>
            </a:r>
            <a:r>
              <a:rPr lang="en-US" altLang="en-US" b="0" dirty="0">
                <a:latin typeface="Courier New" panose="02070309020205020404" pitchFamily="49" charset="0"/>
              </a:rPr>
              <a:t>);</a:t>
            </a:r>
          </a:p>
          <a:p>
            <a:pPr algn="l"/>
            <a:r>
              <a:rPr lang="en-US" altLang="en-US" b="0" dirty="0">
                <a:latin typeface="Courier New" panose="02070309020205020404" pitchFamily="49" charset="0"/>
              </a:rPr>
              <a:t>}</a:t>
            </a:r>
          </a:p>
          <a:p>
            <a:pPr algn="l"/>
            <a:r>
              <a:rPr lang="en-US" altLang="en-US" b="0" dirty="0" err="1">
                <a:latin typeface="Courier New" panose="02070309020205020404" pitchFamily="49" charset="0"/>
              </a:rPr>
              <a:t>int</a:t>
            </a:r>
            <a:r>
              <a:rPr lang="en-US" altLang="en-US" b="0" dirty="0">
                <a:latin typeface="Courier New" panose="02070309020205020404" pitchFamily="49" charset="0"/>
              </a:rPr>
              <a:t> main (void)</a:t>
            </a:r>
          </a:p>
          <a:p>
            <a:pPr algn="l"/>
            <a:r>
              <a:rPr lang="en-US" altLang="en-US" b="0" dirty="0">
                <a:latin typeface="Courier New" panose="02070309020205020404" pitchFamily="49" charset="0"/>
              </a:rPr>
              <a:t>{</a:t>
            </a:r>
          </a:p>
          <a:p>
            <a:pPr lvl="1" algn="l"/>
            <a:r>
              <a:rPr lang="en-US" altLang="en-US" b="0" dirty="0" err="1">
                <a:latin typeface="Courier New" panose="02070309020205020404" pitchFamily="49" charset="0"/>
              </a:rPr>
              <a:t>calculateTriangularNumber</a:t>
            </a:r>
            <a:r>
              <a:rPr lang="en-US" altLang="en-US" b="0" dirty="0">
                <a:latin typeface="Courier New" panose="02070309020205020404" pitchFamily="49" charset="0"/>
              </a:rPr>
              <a:t> (10);</a:t>
            </a:r>
          </a:p>
          <a:p>
            <a:pPr lvl="1" algn="l"/>
            <a:r>
              <a:rPr lang="en-US" altLang="en-US" b="0" dirty="0" err="1">
                <a:latin typeface="Courier New" panose="02070309020205020404" pitchFamily="49" charset="0"/>
              </a:rPr>
              <a:t>calculateTriangularNumber</a:t>
            </a:r>
            <a:r>
              <a:rPr lang="en-US" altLang="en-US" b="0" dirty="0">
                <a:latin typeface="Courier New" panose="02070309020205020404" pitchFamily="49" charset="0"/>
              </a:rPr>
              <a:t> (20);</a:t>
            </a:r>
          </a:p>
          <a:p>
            <a:pPr lvl="1" algn="l"/>
            <a:r>
              <a:rPr lang="en-US" altLang="en-US" b="0" dirty="0" err="1">
                <a:latin typeface="Courier New" panose="02070309020205020404" pitchFamily="49" charset="0"/>
              </a:rPr>
              <a:t>calculateTriangularNumber</a:t>
            </a:r>
            <a:r>
              <a:rPr lang="en-US" altLang="en-US" b="0" dirty="0">
                <a:latin typeface="Courier New" panose="02070309020205020404" pitchFamily="49" charset="0"/>
              </a:rPr>
              <a:t> (50);</a:t>
            </a:r>
          </a:p>
          <a:p>
            <a:pPr lvl="1" algn="l"/>
            <a:r>
              <a:rPr lang="en-US" altLang="en-US" b="0" dirty="0">
                <a:latin typeface="Courier New" panose="02070309020205020404" pitchFamily="49" charset="0"/>
              </a:rPr>
              <a:t>return 0;</a:t>
            </a:r>
          </a:p>
          <a:p>
            <a:pPr algn="l"/>
            <a:r>
              <a:rPr lang="en-US" altLang="en-US" b="0" dirty="0">
                <a:latin typeface="Courier New" panose="02070309020205020404" pitchFamily="49" charset="0"/>
              </a:rPr>
              <a:t>}</a:t>
            </a:r>
          </a:p>
        </p:txBody>
      </p:sp>
      <p:sp>
        <p:nvSpPr>
          <p:cNvPr id="90117" name="Freeform 5"/>
          <p:cNvSpPr>
            <a:spLocks/>
          </p:cNvSpPr>
          <p:nvPr/>
        </p:nvSpPr>
        <p:spPr bwMode="auto">
          <a:xfrm>
            <a:off x="4828852" y="1692052"/>
            <a:ext cx="904875" cy="438150"/>
          </a:xfrm>
          <a:custGeom>
            <a:avLst/>
            <a:gdLst>
              <a:gd name="T0" fmla="*/ 77 w 474"/>
              <a:gd name="T1" fmla="*/ 15 h 276"/>
              <a:gd name="T2" fmla="*/ 45 w 474"/>
              <a:gd name="T3" fmla="*/ 213 h 276"/>
              <a:gd name="T4" fmla="*/ 100 w 474"/>
              <a:gd name="T5" fmla="*/ 244 h 276"/>
              <a:gd name="T6" fmla="*/ 148 w 474"/>
              <a:gd name="T7" fmla="*/ 276 h 276"/>
              <a:gd name="T8" fmla="*/ 353 w 474"/>
              <a:gd name="T9" fmla="*/ 268 h 276"/>
              <a:gd name="T10" fmla="*/ 392 w 474"/>
              <a:gd name="T11" fmla="*/ 228 h 276"/>
              <a:gd name="T12" fmla="*/ 440 w 474"/>
              <a:gd name="T13" fmla="*/ 213 h 276"/>
              <a:gd name="T14" fmla="*/ 471 w 474"/>
              <a:gd name="T15" fmla="*/ 157 h 276"/>
              <a:gd name="T16" fmla="*/ 448 w 474"/>
              <a:gd name="T17" fmla="*/ 55 h 276"/>
              <a:gd name="T18" fmla="*/ 392 w 474"/>
              <a:gd name="T19" fmla="*/ 39 h 276"/>
              <a:gd name="T20" fmla="*/ 290 w 474"/>
              <a:gd name="T21" fmla="*/ 0 h 276"/>
              <a:gd name="T22" fmla="*/ 124 w 474"/>
              <a:gd name="T23" fmla="*/ 15 h 276"/>
              <a:gd name="T24" fmla="*/ 69 w 474"/>
              <a:gd name="T25" fmla="*/ 47 h 276"/>
              <a:gd name="T26" fmla="*/ 77 w 474"/>
              <a:gd name="T27" fmla="*/ 15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4" h="276">
                <a:moveTo>
                  <a:pt x="77" y="15"/>
                </a:moveTo>
                <a:cubicBezTo>
                  <a:pt x="65" y="49"/>
                  <a:pt x="0" y="158"/>
                  <a:pt x="45" y="213"/>
                </a:cubicBezTo>
                <a:cubicBezTo>
                  <a:pt x="51" y="220"/>
                  <a:pt x="95" y="241"/>
                  <a:pt x="100" y="244"/>
                </a:cubicBezTo>
                <a:cubicBezTo>
                  <a:pt x="116" y="254"/>
                  <a:pt x="148" y="276"/>
                  <a:pt x="148" y="276"/>
                </a:cubicBezTo>
                <a:cubicBezTo>
                  <a:pt x="216" y="273"/>
                  <a:pt x="285" y="275"/>
                  <a:pt x="353" y="268"/>
                </a:cubicBezTo>
                <a:cubicBezTo>
                  <a:pt x="383" y="265"/>
                  <a:pt x="374" y="242"/>
                  <a:pt x="392" y="228"/>
                </a:cubicBezTo>
                <a:cubicBezTo>
                  <a:pt x="405" y="218"/>
                  <a:pt x="424" y="218"/>
                  <a:pt x="440" y="213"/>
                </a:cubicBezTo>
                <a:cubicBezTo>
                  <a:pt x="460" y="192"/>
                  <a:pt x="471" y="189"/>
                  <a:pt x="471" y="157"/>
                </a:cubicBezTo>
                <a:cubicBezTo>
                  <a:pt x="471" y="139"/>
                  <a:pt x="474" y="76"/>
                  <a:pt x="448" y="55"/>
                </a:cubicBezTo>
                <a:cubicBezTo>
                  <a:pt x="443" y="51"/>
                  <a:pt x="394" y="40"/>
                  <a:pt x="392" y="39"/>
                </a:cubicBezTo>
                <a:cubicBezTo>
                  <a:pt x="356" y="28"/>
                  <a:pt x="324" y="16"/>
                  <a:pt x="290" y="0"/>
                </a:cubicBezTo>
                <a:cubicBezTo>
                  <a:pt x="235" y="6"/>
                  <a:pt x="178" y="4"/>
                  <a:pt x="124" y="15"/>
                </a:cubicBezTo>
                <a:cubicBezTo>
                  <a:pt x="103" y="19"/>
                  <a:pt x="88" y="37"/>
                  <a:pt x="69" y="47"/>
                </a:cubicBezTo>
                <a:cubicBezTo>
                  <a:pt x="32" y="35"/>
                  <a:pt x="38" y="44"/>
                  <a:pt x="77" y="15"/>
                </a:cubicBezTo>
                <a:close/>
              </a:path>
            </a:pathLst>
          </a:cu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90118" name="Freeform 6"/>
          <p:cNvSpPr>
            <a:spLocks/>
          </p:cNvSpPr>
          <p:nvPr/>
        </p:nvSpPr>
        <p:spPr bwMode="auto">
          <a:xfrm>
            <a:off x="4438327" y="4130452"/>
            <a:ext cx="457200" cy="438150"/>
          </a:xfrm>
          <a:custGeom>
            <a:avLst/>
            <a:gdLst>
              <a:gd name="T0" fmla="*/ 77 w 474"/>
              <a:gd name="T1" fmla="*/ 15 h 276"/>
              <a:gd name="T2" fmla="*/ 45 w 474"/>
              <a:gd name="T3" fmla="*/ 213 h 276"/>
              <a:gd name="T4" fmla="*/ 100 w 474"/>
              <a:gd name="T5" fmla="*/ 244 h 276"/>
              <a:gd name="T6" fmla="*/ 148 w 474"/>
              <a:gd name="T7" fmla="*/ 276 h 276"/>
              <a:gd name="T8" fmla="*/ 353 w 474"/>
              <a:gd name="T9" fmla="*/ 268 h 276"/>
              <a:gd name="T10" fmla="*/ 392 w 474"/>
              <a:gd name="T11" fmla="*/ 228 h 276"/>
              <a:gd name="T12" fmla="*/ 440 w 474"/>
              <a:gd name="T13" fmla="*/ 213 h 276"/>
              <a:gd name="T14" fmla="*/ 471 w 474"/>
              <a:gd name="T15" fmla="*/ 157 h 276"/>
              <a:gd name="T16" fmla="*/ 448 w 474"/>
              <a:gd name="T17" fmla="*/ 55 h 276"/>
              <a:gd name="T18" fmla="*/ 392 w 474"/>
              <a:gd name="T19" fmla="*/ 39 h 276"/>
              <a:gd name="T20" fmla="*/ 290 w 474"/>
              <a:gd name="T21" fmla="*/ 0 h 276"/>
              <a:gd name="T22" fmla="*/ 124 w 474"/>
              <a:gd name="T23" fmla="*/ 15 h 276"/>
              <a:gd name="T24" fmla="*/ 69 w 474"/>
              <a:gd name="T25" fmla="*/ 47 h 276"/>
              <a:gd name="T26" fmla="*/ 77 w 474"/>
              <a:gd name="T27" fmla="*/ 15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4" h="276">
                <a:moveTo>
                  <a:pt x="77" y="15"/>
                </a:moveTo>
                <a:cubicBezTo>
                  <a:pt x="65" y="49"/>
                  <a:pt x="0" y="158"/>
                  <a:pt x="45" y="213"/>
                </a:cubicBezTo>
                <a:cubicBezTo>
                  <a:pt x="51" y="220"/>
                  <a:pt x="95" y="241"/>
                  <a:pt x="100" y="244"/>
                </a:cubicBezTo>
                <a:cubicBezTo>
                  <a:pt x="116" y="254"/>
                  <a:pt x="148" y="276"/>
                  <a:pt x="148" y="276"/>
                </a:cubicBezTo>
                <a:cubicBezTo>
                  <a:pt x="216" y="273"/>
                  <a:pt x="285" y="275"/>
                  <a:pt x="353" y="268"/>
                </a:cubicBezTo>
                <a:cubicBezTo>
                  <a:pt x="383" y="265"/>
                  <a:pt x="374" y="242"/>
                  <a:pt x="392" y="228"/>
                </a:cubicBezTo>
                <a:cubicBezTo>
                  <a:pt x="405" y="218"/>
                  <a:pt x="424" y="218"/>
                  <a:pt x="440" y="213"/>
                </a:cubicBezTo>
                <a:cubicBezTo>
                  <a:pt x="460" y="192"/>
                  <a:pt x="471" y="189"/>
                  <a:pt x="471" y="157"/>
                </a:cubicBezTo>
                <a:cubicBezTo>
                  <a:pt x="471" y="139"/>
                  <a:pt x="474" y="76"/>
                  <a:pt x="448" y="55"/>
                </a:cubicBezTo>
                <a:cubicBezTo>
                  <a:pt x="443" y="51"/>
                  <a:pt x="394" y="40"/>
                  <a:pt x="392" y="39"/>
                </a:cubicBezTo>
                <a:cubicBezTo>
                  <a:pt x="356" y="28"/>
                  <a:pt x="324" y="16"/>
                  <a:pt x="290" y="0"/>
                </a:cubicBezTo>
                <a:cubicBezTo>
                  <a:pt x="235" y="6"/>
                  <a:pt x="178" y="4"/>
                  <a:pt x="124" y="15"/>
                </a:cubicBezTo>
                <a:cubicBezTo>
                  <a:pt x="103" y="19"/>
                  <a:pt x="88" y="37"/>
                  <a:pt x="69" y="47"/>
                </a:cubicBezTo>
                <a:cubicBezTo>
                  <a:pt x="32" y="35"/>
                  <a:pt x="38" y="44"/>
                  <a:pt x="77" y="15"/>
                </a:cubicBezTo>
                <a:close/>
              </a:path>
            </a:pathLst>
          </a:cu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90119" name="Text Box 7"/>
          <p:cNvSpPr txBox="1">
            <a:spLocks noChangeArrowheads="1"/>
          </p:cNvSpPr>
          <p:nvPr/>
        </p:nvSpPr>
        <p:spPr bwMode="auto">
          <a:xfrm>
            <a:off x="5794052" y="1480915"/>
            <a:ext cx="1987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i="1">
                <a:solidFill>
                  <a:srgbClr val="FF0000"/>
                </a:solidFill>
              </a:rPr>
              <a:t>formal argument</a:t>
            </a:r>
          </a:p>
        </p:txBody>
      </p:sp>
      <p:sp>
        <p:nvSpPr>
          <p:cNvPr id="90120" name="Text Box 8"/>
          <p:cNvSpPr txBox="1">
            <a:spLocks noChangeArrowheads="1"/>
          </p:cNvSpPr>
          <p:nvPr/>
        </p:nvSpPr>
        <p:spPr bwMode="auto">
          <a:xfrm>
            <a:off x="4895527" y="3959002"/>
            <a:ext cx="1949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i="1">
                <a:solidFill>
                  <a:srgbClr val="FF0000"/>
                </a:solidFill>
              </a:rPr>
              <a:t>actual argument</a:t>
            </a:r>
          </a:p>
        </p:txBody>
      </p:sp>
      <p:sp>
        <p:nvSpPr>
          <p:cNvPr id="90121" name="Freeform 9"/>
          <p:cNvSpPr>
            <a:spLocks/>
          </p:cNvSpPr>
          <p:nvPr/>
        </p:nvSpPr>
        <p:spPr bwMode="auto">
          <a:xfrm>
            <a:off x="1390327" y="2206402"/>
            <a:ext cx="304800" cy="438150"/>
          </a:xfrm>
          <a:custGeom>
            <a:avLst/>
            <a:gdLst>
              <a:gd name="T0" fmla="*/ 77 w 474"/>
              <a:gd name="T1" fmla="*/ 15 h 276"/>
              <a:gd name="T2" fmla="*/ 45 w 474"/>
              <a:gd name="T3" fmla="*/ 213 h 276"/>
              <a:gd name="T4" fmla="*/ 100 w 474"/>
              <a:gd name="T5" fmla="*/ 244 h 276"/>
              <a:gd name="T6" fmla="*/ 148 w 474"/>
              <a:gd name="T7" fmla="*/ 276 h 276"/>
              <a:gd name="T8" fmla="*/ 353 w 474"/>
              <a:gd name="T9" fmla="*/ 268 h 276"/>
              <a:gd name="T10" fmla="*/ 392 w 474"/>
              <a:gd name="T11" fmla="*/ 228 h 276"/>
              <a:gd name="T12" fmla="*/ 440 w 474"/>
              <a:gd name="T13" fmla="*/ 213 h 276"/>
              <a:gd name="T14" fmla="*/ 471 w 474"/>
              <a:gd name="T15" fmla="*/ 157 h 276"/>
              <a:gd name="T16" fmla="*/ 448 w 474"/>
              <a:gd name="T17" fmla="*/ 55 h 276"/>
              <a:gd name="T18" fmla="*/ 392 w 474"/>
              <a:gd name="T19" fmla="*/ 39 h 276"/>
              <a:gd name="T20" fmla="*/ 290 w 474"/>
              <a:gd name="T21" fmla="*/ 0 h 276"/>
              <a:gd name="T22" fmla="*/ 124 w 474"/>
              <a:gd name="T23" fmla="*/ 15 h 276"/>
              <a:gd name="T24" fmla="*/ 69 w 474"/>
              <a:gd name="T25" fmla="*/ 47 h 276"/>
              <a:gd name="T26" fmla="*/ 77 w 474"/>
              <a:gd name="T27" fmla="*/ 15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4" h="276">
                <a:moveTo>
                  <a:pt x="77" y="15"/>
                </a:moveTo>
                <a:cubicBezTo>
                  <a:pt x="65" y="49"/>
                  <a:pt x="0" y="158"/>
                  <a:pt x="45" y="213"/>
                </a:cubicBezTo>
                <a:cubicBezTo>
                  <a:pt x="51" y="220"/>
                  <a:pt x="95" y="241"/>
                  <a:pt x="100" y="244"/>
                </a:cubicBezTo>
                <a:cubicBezTo>
                  <a:pt x="116" y="254"/>
                  <a:pt x="148" y="276"/>
                  <a:pt x="148" y="276"/>
                </a:cubicBezTo>
                <a:cubicBezTo>
                  <a:pt x="216" y="273"/>
                  <a:pt x="285" y="275"/>
                  <a:pt x="353" y="268"/>
                </a:cubicBezTo>
                <a:cubicBezTo>
                  <a:pt x="383" y="265"/>
                  <a:pt x="374" y="242"/>
                  <a:pt x="392" y="228"/>
                </a:cubicBezTo>
                <a:cubicBezTo>
                  <a:pt x="405" y="218"/>
                  <a:pt x="424" y="218"/>
                  <a:pt x="440" y="213"/>
                </a:cubicBezTo>
                <a:cubicBezTo>
                  <a:pt x="460" y="192"/>
                  <a:pt x="471" y="189"/>
                  <a:pt x="471" y="157"/>
                </a:cubicBezTo>
                <a:cubicBezTo>
                  <a:pt x="471" y="139"/>
                  <a:pt x="474" y="76"/>
                  <a:pt x="448" y="55"/>
                </a:cubicBezTo>
                <a:cubicBezTo>
                  <a:pt x="443" y="51"/>
                  <a:pt x="394" y="40"/>
                  <a:pt x="392" y="39"/>
                </a:cubicBezTo>
                <a:cubicBezTo>
                  <a:pt x="356" y="28"/>
                  <a:pt x="324" y="16"/>
                  <a:pt x="290" y="0"/>
                </a:cubicBezTo>
                <a:cubicBezTo>
                  <a:pt x="235" y="6"/>
                  <a:pt x="178" y="4"/>
                  <a:pt x="124" y="15"/>
                </a:cubicBezTo>
                <a:cubicBezTo>
                  <a:pt x="103" y="19"/>
                  <a:pt x="88" y="37"/>
                  <a:pt x="69" y="47"/>
                </a:cubicBezTo>
                <a:cubicBezTo>
                  <a:pt x="32" y="35"/>
                  <a:pt x="38" y="44"/>
                  <a:pt x="77" y="15"/>
                </a:cubicBezTo>
                <a:close/>
              </a:path>
            </a:pathLst>
          </a:custGeom>
          <a:noFill/>
          <a:ln w="9525">
            <a:solidFill>
              <a:srgbClr val="008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90122" name="Freeform 10"/>
          <p:cNvSpPr>
            <a:spLocks/>
          </p:cNvSpPr>
          <p:nvPr/>
        </p:nvSpPr>
        <p:spPr bwMode="auto">
          <a:xfrm>
            <a:off x="1542727" y="2206402"/>
            <a:ext cx="2667000" cy="438150"/>
          </a:xfrm>
          <a:custGeom>
            <a:avLst/>
            <a:gdLst>
              <a:gd name="T0" fmla="*/ 77 w 474"/>
              <a:gd name="T1" fmla="*/ 15 h 276"/>
              <a:gd name="T2" fmla="*/ 45 w 474"/>
              <a:gd name="T3" fmla="*/ 213 h 276"/>
              <a:gd name="T4" fmla="*/ 100 w 474"/>
              <a:gd name="T5" fmla="*/ 244 h 276"/>
              <a:gd name="T6" fmla="*/ 148 w 474"/>
              <a:gd name="T7" fmla="*/ 276 h 276"/>
              <a:gd name="T8" fmla="*/ 353 w 474"/>
              <a:gd name="T9" fmla="*/ 268 h 276"/>
              <a:gd name="T10" fmla="*/ 392 w 474"/>
              <a:gd name="T11" fmla="*/ 228 h 276"/>
              <a:gd name="T12" fmla="*/ 440 w 474"/>
              <a:gd name="T13" fmla="*/ 213 h 276"/>
              <a:gd name="T14" fmla="*/ 471 w 474"/>
              <a:gd name="T15" fmla="*/ 157 h 276"/>
              <a:gd name="T16" fmla="*/ 448 w 474"/>
              <a:gd name="T17" fmla="*/ 55 h 276"/>
              <a:gd name="T18" fmla="*/ 392 w 474"/>
              <a:gd name="T19" fmla="*/ 39 h 276"/>
              <a:gd name="T20" fmla="*/ 290 w 474"/>
              <a:gd name="T21" fmla="*/ 0 h 276"/>
              <a:gd name="T22" fmla="*/ 124 w 474"/>
              <a:gd name="T23" fmla="*/ 15 h 276"/>
              <a:gd name="T24" fmla="*/ 69 w 474"/>
              <a:gd name="T25" fmla="*/ 47 h 276"/>
              <a:gd name="T26" fmla="*/ 77 w 474"/>
              <a:gd name="T27" fmla="*/ 15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4" h="276">
                <a:moveTo>
                  <a:pt x="77" y="15"/>
                </a:moveTo>
                <a:cubicBezTo>
                  <a:pt x="65" y="49"/>
                  <a:pt x="0" y="158"/>
                  <a:pt x="45" y="213"/>
                </a:cubicBezTo>
                <a:cubicBezTo>
                  <a:pt x="51" y="220"/>
                  <a:pt x="95" y="241"/>
                  <a:pt x="100" y="244"/>
                </a:cubicBezTo>
                <a:cubicBezTo>
                  <a:pt x="116" y="254"/>
                  <a:pt x="148" y="276"/>
                  <a:pt x="148" y="276"/>
                </a:cubicBezTo>
                <a:cubicBezTo>
                  <a:pt x="216" y="273"/>
                  <a:pt x="285" y="275"/>
                  <a:pt x="353" y="268"/>
                </a:cubicBezTo>
                <a:cubicBezTo>
                  <a:pt x="383" y="265"/>
                  <a:pt x="374" y="242"/>
                  <a:pt x="392" y="228"/>
                </a:cubicBezTo>
                <a:cubicBezTo>
                  <a:pt x="405" y="218"/>
                  <a:pt x="424" y="218"/>
                  <a:pt x="440" y="213"/>
                </a:cubicBezTo>
                <a:cubicBezTo>
                  <a:pt x="460" y="192"/>
                  <a:pt x="471" y="189"/>
                  <a:pt x="471" y="157"/>
                </a:cubicBezTo>
                <a:cubicBezTo>
                  <a:pt x="471" y="139"/>
                  <a:pt x="474" y="76"/>
                  <a:pt x="448" y="55"/>
                </a:cubicBezTo>
                <a:cubicBezTo>
                  <a:pt x="443" y="51"/>
                  <a:pt x="394" y="40"/>
                  <a:pt x="392" y="39"/>
                </a:cubicBezTo>
                <a:cubicBezTo>
                  <a:pt x="356" y="28"/>
                  <a:pt x="324" y="16"/>
                  <a:pt x="290" y="0"/>
                </a:cubicBezTo>
                <a:cubicBezTo>
                  <a:pt x="235" y="6"/>
                  <a:pt x="178" y="4"/>
                  <a:pt x="124" y="15"/>
                </a:cubicBezTo>
                <a:cubicBezTo>
                  <a:pt x="103" y="19"/>
                  <a:pt x="88" y="37"/>
                  <a:pt x="69" y="47"/>
                </a:cubicBezTo>
                <a:cubicBezTo>
                  <a:pt x="32" y="35"/>
                  <a:pt x="38" y="44"/>
                  <a:pt x="77" y="15"/>
                </a:cubicBezTo>
                <a:close/>
              </a:path>
            </a:pathLst>
          </a:custGeom>
          <a:noFill/>
          <a:ln w="9525">
            <a:solidFill>
              <a:srgbClr val="008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90123" name="Text Box 11"/>
          <p:cNvSpPr txBox="1">
            <a:spLocks noChangeArrowheads="1"/>
          </p:cNvSpPr>
          <p:nvPr/>
        </p:nvSpPr>
        <p:spPr bwMode="auto">
          <a:xfrm>
            <a:off x="4774877" y="2282602"/>
            <a:ext cx="1758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i="1">
                <a:solidFill>
                  <a:srgbClr val="008000"/>
                </a:solidFill>
              </a:rPr>
              <a:t>local variables</a:t>
            </a:r>
          </a:p>
        </p:txBody>
      </p:sp>
    </p:spTree>
    <p:extLst>
      <p:ext uri="{BB962C8B-B14F-4D97-AF65-F5344CB8AC3E}">
        <p14:creationId xmlns:p14="http://schemas.microsoft.com/office/powerpoint/2010/main" val="35851463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1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01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01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01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01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01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0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7" grpId="0" animBg="1"/>
      <p:bldP spid="90118" grpId="0" animBg="1"/>
      <p:bldP spid="90119" grpId="0"/>
      <p:bldP spid="90120" grpId="0"/>
      <p:bldP spid="90121" grpId="0" animBg="1"/>
      <p:bldP spid="90122" grpId="0" animBg="1"/>
      <p:bldP spid="901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r>
              <a:rPr lang="en-US" altLang="en-US"/>
              <a:t>Arguments and local variables</a:t>
            </a:r>
          </a:p>
        </p:txBody>
      </p:sp>
      <p:sp>
        <p:nvSpPr>
          <p:cNvPr id="104451" name="Rectangle 3"/>
          <p:cNvSpPr>
            <a:spLocks noGrp="1" noChangeArrowheads="1"/>
          </p:cNvSpPr>
          <p:nvPr>
            <p:ph type="body" idx="1"/>
          </p:nvPr>
        </p:nvSpPr>
        <p:spPr>
          <a:xfrm>
            <a:off x="1043608" y="1066800"/>
            <a:ext cx="7772400" cy="5029200"/>
          </a:xfrm>
        </p:spPr>
        <p:txBody>
          <a:bodyPr/>
          <a:lstStyle/>
          <a:p>
            <a:pPr>
              <a:lnSpc>
                <a:spcPct val="80000"/>
              </a:lnSpc>
            </a:pPr>
            <a:r>
              <a:rPr lang="en-US" altLang="en-US" sz="2000" dirty="0"/>
              <a:t>Variables defined inside a function: </a:t>
            </a:r>
            <a:r>
              <a:rPr lang="en-US" altLang="en-US" sz="2000" i="1" dirty="0"/>
              <a:t>automatic local </a:t>
            </a:r>
            <a:r>
              <a:rPr lang="en-US" altLang="en-US" sz="2000" dirty="0"/>
              <a:t>variables </a:t>
            </a:r>
          </a:p>
          <a:p>
            <a:pPr lvl="1">
              <a:lnSpc>
                <a:spcPct val="80000"/>
              </a:lnSpc>
            </a:pPr>
            <a:r>
              <a:rPr lang="en-US" altLang="en-US" sz="1800" dirty="0"/>
              <a:t>they are automatically “created” each time the function is called</a:t>
            </a:r>
          </a:p>
          <a:p>
            <a:pPr lvl="1">
              <a:lnSpc>
                <a:spcPct val="80000"/>
              </a:lnSpc>
            </a:pPr>
            <a:r>
              <a:rPr lang="en-US" altLang="en-US" sz="1800" dirty="0"/>
              <a:t>their values are local to the function: </a:t>
            </a:r>
          </a:p>
          <a:p>
            <a:pPr lvl="2">
              <a:lnSpc>
                <a:spcPct val="80000"/>
              </a:lnSpc>
            </a:pPr>
            <a:r>
              <a:rPr lang="en-US" altLang="en-US" sz="1600" dirty="0"/>
              <a:t>The value of a local variable can only be accessed by the function in which the variable is defined</a:t>
            </a:r>
          </a:p>
          <a:p>
            <a:pPr lvl="2">
              <a:lnSpc>
                <a:spcPct val="80000"/>
              </a:lnSpc>
            </a:pPr>
            <a:r>
              <a:rPr lang="en-US" altLang="en-US" sz="1600" dirty="0"/>
              <a:t>Its value cannot be accessed by any other function. </a:t>
            </a:r>
          </a:p>
          <a:p>
            <a:pPr lvl="2">
              <a:lnSpc>
                <a:spcPct val="80000"/>
              </a:lnSpc>
            </a:pPr>
            <a:r>
              <a:rPr lang="en-US" altLang="en-US" sz="1600" dirty="0"/>
              <a:t>If an initial value is given to a variable inside a function, that initial value is assigned to the variable </a:t>
            </a:r>
            <a:r>
              <a:rPr lang="en-US" altLang="en-US" sz="1600" i="1" dirty="0"/>
              <a:t>each </a:t>
            </a:r>
            <a:r>
              <a:rPr lang="en-US" altLang="en-US" sz="1600" dirty="0"/>
              <a:t>time the function is called.</a:t>
            </a:r>
          </a:p>
          <a:p>
            <a:pPr>
              <a:lnSpc>
                <a:spcPct val="80000"/>
              </a:lnSpc>
            </a:pPr>
            <a:r>
              <a:rPr lang="en-US" altLang="en-US" sz="2000" dirty="0"/>
              <a:t>Formal parameters:  behave like local variables, private to the function. </a:t>
            </a:r>
          </a:p>
          <a:p>
            <a:pPr>
              <a:lnSpc>
                <a:spcPct val="80000"/>
              </a:lnSpc>
            </a:pPr>
            <a:r>
              <a:rPr lang="en-US" altLang="en-US" sz="2000" b="1" i="1" dirty="0">
                <a:solidFill>
                  <a:srgbClr val="FF0066"/>
                </a:solidFill>
              </a:rPr>
              <a:t>Lifetime</a:t>
            </a:r>
            <a:r>
              <a:rPr lang="en-US" altLang="en-US" sz="2000" dirty="0"/>
              <a:t>:  Period of time when memory location is allocated </a:t>
            </a:r>
          </a:p>
          <a:p>
            <a:pPr>
              <a:lnSpc>
                <a:spcPct val="80000"/>
              </a:lnSpc>
            </a:pPr>
            <a:r>
              <a:rPr lang="en-US" altLang="en-US" sz="2000" b="1" i="1" dirty="0">
                <a:solidFill>
                  <a:srgbClr val="FF0066"/>
                </a:solidFill>
              </a:rPr>
              <a:t>Scope</a:t>
            </a:r>
            <a:r>
              <a:rPr lang="en-US" altLang="en-US" sz="2000" b="1" dirty="0"/>
              <a:t>:</a:t>
            </a:r>
            <a:r>
              <a:rPr lang="en-US" altLang="en-US" sz="2000" dirty="0"/>
              <a:t>  Region of program text where declaration is visible</a:t>
            </a:r>
          </a:p>
          <a:p>
            <a:pPr>
              <a:lnSpc>
                <a:spcPct val="80000"/>
              </a:lnSpc>
            </a:pPr>
            <a:r>
              <a:rPr lang="en-US" altLang="en-US" sz="2000" dirty="0"/>
              <a:t>Scope:  local variables and formal parameters =&gt; only in the body of the function</a:t>
            </a:r>
          </a:p>
          <a:p>
            <a:pPr lvl="1">
              <a:lnSpc>
                <a:spcPct val="80000"/>
              </a:lnSpc>
            </a:pPr>
            <a:r>
              <a:rPr lang="en-US" altLang="en-US" sz="1800" dirty="0"/>
              <a:t>Local variable </a:t>
            </a:r>
            <a:r>
              <a:rPr lang="en-US" altLang="en-US" sz="1800" dirty="0" err="1"/>
              <a:t>i</a:t>
            </a:r>
            <a:r>
              <a:rPr lang="en-US" altLang="en-US" sz="1800" dirty="0"/>
              <a:t> in function </a:t>
            </a:r>
            <a:r>
              <a:rPr lang="en-US" altLang="en-US" sz="1800" dirty="0" err="1"/>
              <a:t>calculateTriangularNumber</a:t>
            </a:r>
            <a:r>
              <a:rPr lang="en-US" altLang="en-US" sz="1800" dirty="0"/>
              <a:t> is different from a variable </a:t>
            </a:r>
            <a:r>
              <a:rPr lang="en-US" altLang="en-US" sz="1800" dirty="0" err="1"/>
              <a:t>i</a:t>
            </a:r>
            <a:r>
              <a:rPr lang="en-US" altLang="en-US" sz="1800" dirty="0"/>
              <a:t> defined in another function (including main)</a:t>
            </a:r>
          </a:p>
          <a:p>
            <a:pPr lvl="1">
              <a:lnSpc>
                <a:spcPct val="80000"/>
              </a:lnSpc>
            </a:pPr>
            <a:r>
              <a:rPr lang="en-US" altLang="en-US" sz="1800" dirty="0"/>
              <a:t>Formal parameter n in function </a:t>
            </a:r>
            <a:r>
              <a:rPr lang="en-US" altLang="en-US" sz="1800" dirty="0" err="1"/>
              <a:t>calculateTriangularNumber</a:t>
            </a:r>
            <a:r>
              <a:rPr lang="en-US" altLang="en-US" sz="1800" dirty="0"/>
              <a:t> is different from a variable n defined in another function</a:t>
            </a:r>
          </a:p>
        </p:txBody>
      </p:sp>
    </p:spTree>
    <p:extLst>
      <p:ext uri="{BB962C8B-B14F-4D97-AF65-F5344CB8AC3E}">
        <p14:creationId xmlns:p14="http://schemas.microsoft.com/office/powerpoint/2010/main" val="25066144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en-US" altLang="en-US"/>
              <a:t>Automatic local variables</a:t>
            </a:r>
          </a:p>
        </p:txBody>
      </p:sp>
      <p:sp>
        <p:nvSpPr>
          <p:cNvPr id="102404" name="Rectangle 4"/>
          <p:cNvSpPr>
            <a:spLocks noChangeArrowheads="1"/>
          </p:cNvSpPr>
          <p:nvPr/>
        </p:nvSpPr>
        <p:spPr bwMode="auto">
          <a:xfrm>
            <a:off x="2250232" y="1613248"/>
            <a:ext cx="1524000" cy="23987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a:p>
            <a:pPr algn="ctr"/>
            <a:endParaRPr lang="en-US" altLang="en-US"/>
          </a:p>
          <a:p>
            <a:pPr algn="ctr"/>
            <a:endParaRPr lang="en-US" altLang="en-US"/>
          </a:p>
          <a:p>
            <a:pPr algn="ctr"/>
            <a:endParaRPr lang="en-US" altLang="en-US"/>
          </a:p>
          <a:p>
            <a:pPr algn="ctr"/>
            <a:endParaRPr lang="en-US" altLang="en-US"/>
          </a:p>
        </p:txBody>
      </p:sp>
      <p:sp>
        <p:nvSpPr>
          <p:cNvPr id="102405" name="Text Box 5"/>
          <p:cNvSpPr txBox="1">
            <a:spLocks noChangeArrowheads="1"/>
          </p:cNvSpPr>
          <p:nvPr/>
        </p:nvSpPr>
        <p:spPr bwMode="auto">
          <a:xfrm>
            <a:off x="2158157" y="1268760"/>
            <a:ext cx="717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main</a:t>
            </a:r>
          </a:p>
        </p:txBody>
      </p:sp>
      <p:sp>
        <p:nvSpPr>
          <p:cNvPr id="102406" name="Rectangle 6"/>
          <p:cNvSpPr>
            <a:spLocks noChangeArrowheads="1"/>
          </p:cNvSpPr>
          <p:nvPr/>
        </p:nvSpPr>
        <p:spPr bwMode="auto">
          <a:xfrm>
            <a:off x="4933107" y="1652935"/>
            <a:ext cx="1524000" cy="16367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a:p>
            <a:pPr algn="ctr"/>
            <a:endParaRPr lang="en-US" altLang="en-US"/>
          </a:p>
          <a:p>
            <a:pPr algn="ctr"/>
            <a:endParaRPr lang="en-US" altLang="en-US"/>
          </a:p>
          <a:p>
            <a:pPr algn="ctr"/>
            <a:endParaRPr lang="en-US" altLang="en-US"/>
          </a:p>
          <a:p>
            <a:pPr algn="ctr"/>
            <a:endParaRPr lang="en-US" altLang="en-US"/>
          </a:p>
        </p:txBody>
      </p:sp>
      <p:sp>
        <p:nvSpPr>
          <p:cNvPr id="102407" name="Text Box 7"/>
          <p:cNvSpPr txBox="1">
            <a:spLocks noChangeArrowheads="1"/>
          </p:cNvSpPr>
          <p:nvPr/>
        </p:nvSpPr>
        <p:spPr bwMode="auto">
          <a:xfrm>
            <a:off x="4841032" y="1308448"/>
            <a:ext cx="2927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0"/>
              <a:t>calculateTriangularNumber</a:t>
            </a:r>
          </a:p>
        </p:txBody>
      </p:sp>
      <p:sp>
        <p:nvSpPr>
          <p:cNvPr id="102408" name="Line 8"/>
          <p:cNvSpPr>
            <a:spLocks noChangeShapeType="1"/>
          </p:cNvSpPr>
          <p:nvPr/>
        </p:nvSpPr>
        <p:spPr bwMode="auto">
          <a:xfrm>
            <a:off x="2326432" y="2299048"/>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2409" name="Line 9"/>
          <p:cNvSpPr>
            <a:spLocks noChangeShapeType="1"/>
          </p:cNvSpPr>
          <p:nvPr/>
        </p:nvSpPr>
        <p:spPr bwMode="auto">
          <a:xfrm>
            <a:off x="2326432" y="2603848"/>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2410" name="Line 10"/>
          <p:cNvSpPr>
            <a:spLocks noChangeShapeType="1"/>
          </p:cNvSpPr>
          <p:nvPr/>
        </p:nvSpPr>
        <p:spPr bwMode="auto">
          <a:xfrm>
            <a:off x="2326432" y="2908648"/>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2411" name="Line 11"/>
          <p:cNvSpPr>
            <a:spLocks noChangeShapeType="1"/>
          </p:cNvSpPr>
          <p:nvPr/>
        </p:nvSpPr>
        <p:spPr bwMode="auto">
          <a:xfrm>
            <a:off x="5069632" y="2299048"/>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2412" name="Line 12"/>
          <p:cNvSpPr>
            <a:spLocks noChangeShapeType="1"/>
          </p:cNvSpPr>
          <p:nvPr/>
        </p:nvSpPr>
        <p:spPr bwMode="auto">
          <a:xfrm>
            <a:off x="5069632" y="2603848"/>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2413" name="Line 13"/>
          <p:cNvSpPr>
            <a:spLocks noChangeShapeType="1"/>
          </p:cNvSpPr>
          <p:nvPr/>
        </p:nvSpPr>
        <p:spPr bwMode="auto">
          <a:xfrm>
            <a:off x="1259632" y="2030760"/>
            <a:ext cx="1066800" cy="39688"/>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2414" name="Line 14"/>
          <p:cNvSpPr>
            <a:spLocks noChangeShapeType="1"/>
          </p:cNvSpPr>
          <p:nvPr/>
        </p:nvSpPr>
        <p:spPr bwMode="auto">
          <a:xfrm>
            <a:off x="2783632" y="2070448"/>
            <a:ext cx="0" cy="4572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2415" name="Line 15"/>
          <p:cNvSpPr>
            <a:spLocks noChangeShapeType="1"/>
          </p:cNvSpPr>
          <p:nvPr/>
        </p:nvSpPr>
        <p:spPr bwMode="auto">
          <a:xfrm flipV="1">
            <a:off x="3393232" y="2070448"/>
            <a:ext cx="1600200" cy="4572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2417" name="Line 17"/>
          <p:cNvSpPr>
            <a:spLocks noChangeShapeType="1"/>
          </p:cNvSpPr>
          <p:nvPr/>
        </p:nvSpPr>
        <p:spPr bwMode="auto">
          <a:xfrm flipH="1">
            <a:off x="5526832" y="2106960"/>
            <a:ext cx="15875" cy="801688"/>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2418" name="Line 18"/>
          <p:cNvSpPr>
            <a:spLocks noChangeShapeType="1"/>
          </p:cNvSpPr>
          <p:nvPr/>
        </p:nvSpPr>
        <p:spPr bwMode="auto">
          <a:xfrm flipH="1" flipV="1">
            <a:off x="3621832" y="2603848"/>
            <a:ext cx="1905000" cy="265112"/>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2419" name="Line 19"/>
          <p:cNvSpPr>
            <a:spLocks noChangeShapeType="1"/>
          </p:cNvSpPr>
          <p:nvPr/>
        </p:nvSpPr>
        <p:spPr bwMode="auto">
          <a:xfrm>
            <a:off x="2783632" y="2603848"/>
            <a:ext cx="0" cy="2286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2420" name="Line 20"/>
          <p:cNvSpPr>
            <a:spLocks noChangeShapeType="1"/>
          </p:cNvSpPr>
          <p:nvPr/>
        </p:nvSpPr>
        <p:spPr bwMode="auto">
          <a:xfrm flipV="1">
            <a:off x="3393232" y="2183160"/>
            <a:ext cx="2149475" cy="649288"/>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2422" name="Line 22"/>
          <p:cNvSpPr>
            <a:spLocks noChangeShapeType="1"/>
          </p:cNvSpPr>
          <p:nvPr/>
        </p:nvSpPr>
        <p:spPr bwMode="auto">
          <a:xfrm flipH="1">
            <a:off x="5390307" y="2106960"/>
            <a:ext cx="15875" cy="8382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2423" name="Line 23"/>
          <p:cNvSpPr>
            <a:spLocks noChangeShapeType="1"/>
          </p:cNvSpPr>
          <p:nvPr/>
        </p:nvSpPr>
        <p:spPr bwMode="auto">
          <a:xfrm flipH="1" flipV="1">
            <a:off x="3317032" y="2908648"/>
            <a:ext cx="2362200" cy="1524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2424" name="Text Box 24"/>
          <p:cNvSpPr txBox="1">
            <a:spLocks noChangeArrowheads="1"/>
          </p:cNvSpPr>
          <p:nvPr/>
        </p:nvSpPr>
        <p:spPr bwMode="auto">
          <a:xfrm>
            <a:off x="2310557" y="1838673"/>
            <a:ext cx="273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t>
            </a:r>
          </a:p>
        </p:txBody>
      </p:sp>
      <p:sp>
        <p:nvSpPr>
          <p:cNvPr id="102425" name="Text Box 25"/>
          <p:cNvSpPr txBox="1">
            <a:spLocks noChangeArrowheads="1"/>
          </p:cNvSpPr>
          <p:nvPr/>
        </p:nvSpPr>
        <p:spPr bwMode="auto">
          <a:xfrm>
            <a:off x="5025182" y="1816448"/>
            <a:ext cx="273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t>
            </a:r>
          </a:p>
        </p:txBody>
      </p:sp>
      <p:sp>
        <p:nvSpPr>
          <p:cNvPr id="102426" name="Text Box 26"/>
          <p:cNvSpPr txBox="1">
            <a:spLocks noChangeArrowheads="1"/>
          </p:cNvSpPr>
          <p:nvPr/>
        </p:nvSpPr>
        <p:spPr bwMode="auto">
          <a:xfrm>
            <a:off x="5955457" y="2753073"/>
            <a:ext cx="273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t>
            </a:r>
          </a:p>
        </p:txBody>
      </p:sp>
      <p:sp>
        <p:nvSpPr>
          <p:cNvPr id="102427" name="Line 27"/>
          <p:cNvSpPr>
            <a:spLocks noChangeShapeType="1"/>
          </p:cNvSpPr>
          <p:nvPr/>
        </p:nvSpPr>
        <p:spPr bwMode="auto">
          <a:xfrm>
            <a:off x="2783632" y="2945160"/>
            <a:ext cx="0" cy="2286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2428" name="Text Box 28"/>
          <p:cNvSpPr txBox="1">
            <a:spLocks noChangeArrowheads="1"/>
          </p:cNvSpPr>
          <p:nvPr/>
        </p:nvSpPr>
        <p:spPr bwMode="auto">
          <a:xfrm>
            <a:off x="1488232" y="4048473"/>
            <a:ext cx="447675"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0"/>
              <a:t>10</a:t>
            </a:r>
          </a:p>
        </p:txBody>
      </p:sp>
      <p:sp>
        <p:nvSpPr>
          <p:cNvPr id="102429" name="Text Box 29"/>
          <p:cNvSpPr txBox="1">
            <a:spLocks noChangeArrowheads="1"/>
          </p:cNvSpPr>
          <p:nvPr/>
        </p:nvSpPr>
        <p:spPr bwMode="auto">
          <a:xfrm>
            <a:off x="1504107" y="4559648"/>
            <a:ext cx="447675"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0"/>
              <a:t>20</a:t>
            </a:r>
          </a:p>
        </p:txBody>
      </p:sp>
      <p:sp>
        <p:nvSpPr>
          <p:cNvPr id="102430" name="Text Box 30"/>
          <p:cNvSpPr txBox="1">
            <a:spLocks noChangeArrowheads="1"/>
          </p:cNvSpPr>
          <p:nvPr/>
        </p:nvSpPr>
        <p:spPr bwMode="auto">
          <a:xfrm>
            <a:off x="1504107" y="5078760"/>
            <a:ext cx="4476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0"/>
              <a:t>50</a:t>
            </a:r>
          </a:p>
        </p:txBody>
      </p:sp>
      <p:sp>
        <p:nvSpPr>
          <p:cNvPr id="102431" name="Line 31"/>
          <p:cNvSpPr>
            <a:spLocks noChangeShapeType="1"/>
          </p:cNvSpPr>
          <p:nvPr/>
        </p:nvSpPr>
        <p:spPr bwMode="auto">
          <a:xfrm>
            <a:off x="2342307" y="3249960"/>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nvGrpSpPr>
          <p:cNvPr id="102438" name="Group 38"/>
          <p:cNvGrpSpPr>
            <a:grpSpLocks/>
          </p:cNvGrpSpPr>
          <p:nvPr/>
        </p:nvGrpSpPr>
        <p:grpSpPr bwMode="auto">
          <a:xfrm>
            <a:off x="3796457" y="4026248"/>
            <a:ext cx="1670050" cy="1433512"/>
            <a:chOff x="1876" y="2889"/>
            <a:chExt cx="1052" cy="903"/>
          </a:xfrm>
        </p:grpSpPr>
        <p:sp>
          <p:nvSpPr>
            <p:cNvPr id="102432" name="Text Box 32"/>
            <p:cNvSpPr txBox="1">
              <a:spLocks noChangeArrowheads="1"/>
            </p:cNvSpPr>
            <p:nvPr/>
          </p:nvSpPr>
          <p:spPr bwMode="auto">
            <a:xfrm>
              <a:off x="2636" y="2906"/>
              <a:ext cx="282"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0"/>
                <a:t>    </a:t>
              </a:r>
            </a:p>
          </p:txBody>
        </p:sp>
        <p:sp>
          <p:nvSpPr>
            <p:cNvPr id="102433" name="Text Box 33"/>
            <p:cNvSpPr txBox="1">
              <a:spLocks noChangeArrowheads="1"/>
            </p:cNvSpPr>
            <p:nvPr/>
          </p:nvSpPr>
          <p:spPr bwMode="auto">
            <a:xfrm>
              <a:off x="2646" y="3228"/>
              <a:ext cx="282"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0"/>
                <a:t>    </a:t>
              </a:r>
            </a:p>
          </p:txBody>
        </p:sp>
        <p:sp>
          <p:nvSpPr>
            <p:cNvPr id="102434" name="Text Box 34"/>
            <p:cNvSpPr txBox="1">
              <a:spLocks noChangeArrowheads="1"/>
            </p:cNvSpPr>
            <p:nvPr/>
          </p:nvSpPr>
          <p:spPr bwMode="auto">
            <a:xfrm>
              <a:off x="2646" y="3555"/>
              <a:ext cx="282"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0"/>
                <a:t>    </a:t>
              </a:r>
            </a:p>
          </p:txBody>
        </p:sp>
        <p:sp>
          <p:nvSpPr>
            <p:cNvPr id="102435" name="Text Box 35"/>
            <p:cNvSpPr txBox="1">
              <a:spLocks noChangeArrowheads="1"/>
            </p:cNvSpPr>
            <p:nvPr/>
          </p:nvSpPr>
          <p:spPr bwMode="auto">
            <a:xfrm>
              <a:off x="2396" y="2889"/>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0"/>
                <a:t>n</a:t>
              </a:r>
            </a:p>
          </p:txBody>
        </p:sp>
        <p:sp>
          <p:nvSpPr>
            <p:cNvPr id="102436" name="Text Box 36"/>
            <p:cNvSpPr txBox="1">
              <a:spLocks noChangeArrowheads="1"/>
            </p:cNvSpPr>
            <p:nvPr/>
          </p:nvSpPr>
          <p:spPr bwMode="auto">
            <a:xfrm>
              <a:off x="2438" y="3239"/>
              <a:ext cx="1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0"/>
                <a:t>i</a:t>
              </a:r>
            </a:p>
          </p:txBody>
        </p:sp>
        <p:sp>
          <p:nvSpPr>
            <p:cNvPr id="102437" name="Text Box 37"/>
            <p:cNvSpPr txBox="1">
              <a:spLocks noChangeArrowheads="1"/>
            </p:cNvSpPr>
            <p:nvPr/>
          </p:nvSpPr>
          <p:spPr bwMode="auto">
            <a:xfrm>
              <a:off x="1876" y="3567"/>
              <a:ext cx="8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0"/>
                <a:t>triangularNb</a:t>
              </a:r>
            </a:p>
          </p:txBody>
        </p:sp>
      </p:grpSp>
      <p:sp>
        <p:nvSpPr>
          <p:cNvPr id="102439" name="Line 39"/>
          <p:cNvSpPr>
            <a:spLocks noChangeShapeType="1"/>
          </p:cNvSpPr>
          <p:nvPr/>
        </p:nvSpPr>
        <p:spPr bwMode="auto">
          <a:xfrm>
            <a:off x="1885107" y="4240560"/>
            <a:ext cx="3200400" cy="0"/>
          </a:xfrm>
          <a:prstGeom prst="line">
            <a:avLst/>
          </a:prstGeom>
          <a:noFill/>
          <a:ln w="9525">
            <a:solidFill>
              <a:srgbClr val="008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2440" name="Line 40"/>
          <p:cNvSpPr>
            <a:spLocks noChangeShapeType="1"/>
          </p:cNvSpPr>
          <p:nvPr/>
        </p:nvSpPr>
        <p:spPr bwMode="auto">
          <a:xfrm flipV="1">
            <a:off x="1885107" y="4316760"/>
            <a:ext cx="3276600" cy="457200"/>
          </a:xfrm>
          <a:prstGeom prst="line">
            <a:avLst/>
          </a:prstGeom>
          <a:noFill/>
          <a:ln w="9525">
            <a:solidFill>
              <a:srgbClr val="008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Tree>
    <p:extLst>
      <p:ext uri="{BB962C8B-B14F-4D97-AF65-F5344CB8AC3E}">
        <p14:creationId xmlns:p14="http://schemas.microsoft.com/office/powerpoint/2010/main" val="3669368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1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1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243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43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242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xit" presetSubtype="0" fill="hold" nodeType="clickEffect">
                                  <p:stCondLst>
                                    <p:cond delay="0"/>
                                  </p:stCondLst>
                                  <p:childTnLst>
                                    <p:set>
                                      <p:cBhvr>
                                        <p:cTn id="26" dur="1" fill="hold">
                                          <p:stCondLst>
                                            <p:cond delay="0"/>
                                          </p:stCondLst>
                                        </p:cTn>
                                        <p:tgtEl>
                                          <p:spTgt spid="102438"/>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102439"/>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10241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2419"/>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2420"/>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02438"/>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2440"/>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2417"/>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xit" presetSubtype="0" fill="hold" nodeType="clickEffect">
                                  <p:stCondLst>
                                    <p:cond delay="0"/>
                                  </p:stCondLst>
                                  <p:childTnLst>
                                    <p:set>
                                      <p:cBhvr>
                                        <p:cTn id="54" dur="1" fill="hold">
                                          <p:stCondLst>
                                            <p:cond delay="0"/>
                                          </p:stCondLst>
                                        </p:cTn>
                                        <p:tgtEl>
                                          <p:spTgt spid="102438"/>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102440"/>
                                        </p:tgtEl>
                                        <p:attrNameLst>
                                          <p:attrName>style.visibility</p:attrName>
                                        </p:attrNameLst>
                                      </p:cBhvr>
                                      <p:to>
                                        <p:strVal val="hidden"/>
                                      </p:to>
                                    </p:set>
                                  </p:childTnLst>
                                </p:cTn>
                              </p:par>
                              <p:par>
                                <p:cTn id="57" presetID="1" presetClass="entr" presetSubtype="0" fill="hold" grpId="0" nodeType="withEffect">
                                  <p:stCondLst>
                                    <p:cond delay="0"/>
                                  </p:stCondLst>
                                  <p:childTnLst>
                                    <p:set>
                                      <p:cBhvr>
                                        <p:cTn id="58" dur="1" fill="hold">
                                          <p:stCondLst>
                                            <p:cond delay="0"/>
                                          </p:stCondLst>
                                        </p:cTn>
                                        <p:tgtEl>
                                          <p:spTgt spid="102423"/>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024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14" grpId="0" animBg="1"/>
      <p:bldP spid="102415" grpId="0" animBg="1"/>
      <p:bldP spid="102417" grpId="0" animBg="1"/>
      <p:bldP spid="102418" grpId="0" animBg="1"/>
      <p:bldP spid="102419" grpId="0" animBg="1"/>
      <p:bldP spid="102420" grpId="0" animBg="1"/>
      <p:bldP spid="102422" grpId="0" animBg="1"/>
      <p:bldP spid="102423" grpId="0" animBg="1"/>
      <p:bldP spid="102427" grpId="0" animBg="1"/>
      <p:bldP spid="102439" grpId="0" animBg="1"/>
      <p:bldP spid="102439" grpId="1" animBg="1"/>
      <p:bldP spid="102440" grpId="0" animBg="1"/>
      <p:bldP spid="102440"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r>
              <a:rPr lang="en-US" altLang="en-US" dirty="0"/>
              <a:t>Example: scope of local variables </a:t>
            </a:r>
          </a:p>
        </p:txBody>
      </p:sp>
      <p:sp>
        <p:nvSpPr>
          <p:cNvPr id="109574" name="Rectangle 6"/>
          <p:cNvSpPr>
            <a:spLocks noChangeArrowheads="1"/>
          </p:cNvSpPr>
          <p:nvPr/>
        </p:nvSpPr>
        <p:spPr bwMode="auto">
          <a:xfrm>
            <a:off x="1503784" y="1670050"/>
            <a:ext cx="47244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b="0" dirty="0">
                <a:latin typeface="Courier New" panose="02070309020205020404" pitchFamily="49" charset="0"/>
              </a:rPr>
              <a:t>#include &lt;</a:t>
            </a:r>
            <a:r>
              <a:rPr lang="en-US" altLang="en-US" b="0" dirty="0" err="1">
                <a:latin typeface="Courier New" panose="02070309020205020404" pitchFamily="49" charset="0"/>
              </a:rPr>
              <a:t>stdio.h</a:t>
            </a:r>
            <a:r>
              <a:rPr lang="en-US" altLang="en-US" b="0" dirty="0">
                <a:latin typeface="Courier New" panose="02070309020205020404" pitchFamily="49" charset="0"/>
              </a:rPr>
              <a:t>&gt;</a:t>
            </a:r>
          </a:p>
          <a:p>
            <a:pPr algn="l"/>
            <a:r>
              <a:rPr lang="en-US" altLang="en-US" b="0" dirty="0">
                <a:latin typeface="Courier New" panose="02070309020205020404" pitchFamily="49" charset="0"/>
              </a:rPr>
              <a:t>void f1 (float x)  {</a:t>
            </a:r>
          </a:p>
          <a:p>
            <a:pPr algn="l"/>
            <a:r>
              <a:rPr lang="en-US" altLang="en-US" b="0" dirty="0">
                <a:latin typeface="Courier New" panose="02070309020205020404" pitchFamily="49" charset="0"/>
              </a:rPr>
              <a:t>	</a:t>
            </a:r>
            <a:r>
              <a:rPr lang="en-US" altLang="en-US" b="0" dirty="0" err="1">
                <a:latin typeface="Courier New" panose="02070309020205020404" pitchFamily="49" charset="0"/>
              </a:rPr>
              <a:t>int</a:t>
            </a:r>
            <a:r>
              <a:rPr lang="en-US" altLang="en-US" b="0" dirty="0">
                <a:latin typeface="Courier New" panose="02070309020205020404" pitchFamily="49" charset="0"/>
              </a:rPr>
              <a:t> n=6;</a:t>
            </a:r>
          </a:p>
          <a:p>
            <a:pPr algn="l"/>
            <a:r>
              <a:rPr lang="en-US" altLang="en-US" b="0" dirty="0">
                <a:latin typeface="Courier New" panose="02070309020205020404" pitchFamily="49" charset="0"/>
              </a:rPr>
              <a:t>	</a:t>
            </a:r>
            <a:r>
              <a:rPr lang="en-US" altLang="en-US" b="0" dirty="0" err="1">
                <a:latin typeface="Courier New" panose="02070309020205020404" pitchFamily="49" charset="0"/>
              </a:rPr>
              <a:t>printf</a:t>
            </a:r>
            <a:r>
              <a:rPr lang="en-US" altLang="en-US" b="0" dirty="0">
                <a:latin typeface="Courier New" panose="02070309020205020404" pitchFamily="49" charset="0"/>
              </a:rPr>
              <a:t>(“%f \n”, </a:t>
            </a:r>
            <a:r>
              <a:rPr lang="en-US" altLang="en-US" b="0" dirty="0" err="1">
                <a:latin typeface="Courier New" panose="02070309020205020404" pitchFamily="49" charset="0"/>
              </a:rPr>
              <a:t>x+n</a:t>
            </a:r>
            <a:r>
              <a:rPr lang="en-US" altLang="en-US" b="0" dirty="0">
                <a:latin typeface="Courier New" panose="02070309020205020404" pitchFamily="49" charset="0"/>
              </a:rPr>
              <a:t>);</a:t>
            </a:r>
          </a:p>
          <a:p>
            <a:pPr algn="l"/>
            <a:r>
              <a:rPr lang="en-US" altLang="en-US" b="0" dirty="0">
                <a:latin typeface="Courier New" panose="02070309020205020404" pitchFamily="49" charset="0"/>
              </a:rPr>
              <a:t>}</a:t>
            </a:r>
          </a:p>
          <a:p>
            <a:pPr algn="l"/>
            <a:r>
              <a:rPr lang="en-US" altLang="en-US" b="0" dirty="0" err="1">
                <a:latin typeface="Courier New" panose="02070309020205020404" pitchFamily="49" charset="0"/>
              </a:rPr>
              <a:t>int</a:t>
            </a:r>
            <a:r>
              <a:rPr lang="en-US" altLang="en-US" b="0" dirty="0">
                <a:latin typeface="Courier New" panose="02070309020205020404" pitchFamily="49" charset="0"/>
              </a:rPr>
              <a:t> f2(void) {</a:t>
            </a:r>
          </a:p>
          <a:p>
            <a:pPr algn="l"/>
            <a:r>
              <a:rPr lang="en-US" altLang="en-US" b="0" dirty="0">
                <a:latin typeface="Courier New" panose="02070309020205020404" pitchFamily="49" charset="0"/>
              </a:rPr>
              <a:t>	float n=10;</a:t>
            </a:r>
          </a:p>
          <a:p>
            <a:pPr algn="l"/>
            <a:r>
              <a:rPr lang="en-US" altLang="en-US" b="0" dirty="0">
                <a:latin typeface="Courier New" panose="02070309020205020404" pitchFamily="49" charset="0"/>
              </a:rPr>
              <a:t>	</a:t>
            </a:r>
            <a:r>
              <a:rPr lang="en-US" altLang="en-US" b="0" dirty="0" err="1">
                <a:latin typeface="Courier New" panose="02070309020205020404" pitchFamily="49" charset="0"/>
              </a:rPr>
              <a:t>printf</a:t>
            </a:r>
            <a:r>
              <a:rPr lang="en-US" altLang="en-US" b="0" dirty="0">
                <a:latin typeface="Courier New" panose="02070309020205020404" pitchFamily="49" charset="0"/>
              </a:rPr>
              <a:t>(“%f \</a:t>
            </a:r>
            <a:r>
              <a:rPr lang="en-US" altLang="en-US" b="0" dirty="0" err="1">
                <a:latin typeface="Courier New" panose="02070309020205020404" pitchFamily="49" charset="0"/>
              </a:rPr>
              <a:t>n”,n</a:t>
            </a:r>
            <a:r>
              <a:rPr lang="en-US" altLang="en-US" b="0" dirty="0">
                <a:latin typeface="Courier New" panose="02070309020205020404" pitchFamily="49" charset="0"/>
              </a:rPr>
              <a:t>);</a:t>
            </a:r>
          </a:p>
          <a:p>
            <a:pPr algn="l"/>
            <a:r>
              <a:rPr lang="en-US" altLang="en-US" b="0" dirty="0">
                <a:latin typeface="Courier New" panose="02070309020205020404" pitchFamily="49" charset="0"/>
              </a:rPr>
              <a:t>}</a:t>
            </a:r>
          </a:p>
          <a:p>
            <a:pPr algn="l"/>
            <a:r>
              <a:rPr lang="en-US" altLang="en-US" b="0" dirty="0" err="1">
                <a:latin typeface="Courier New" panose="02070309020205020404" pitchFamily="49" charset="0"/>
              </a:rPr>
              <a:t>int</a:t>
            </a:r>
            <a:r>
              <a:rPr lang="en-US" altLang="en-US" b="0" dirty="0">
                <a:latin typeface="Courier New" panose="02070309020205020404" pitchFamily="49" charset="0"/>
              </a:rPr>
              <a:t> main (void)</a:t>
            </a:r>
          </a:p>
          <a:p>
            <a:pPr algn="l"/>
            <a:r>
              <a:rPr lang="en-US" altLang="en-US" b="0" dirty="0">
                <a:latin typeface="Courier New" panose="02070309020205020404" pitchFamily="49" charset="0"/>
              </a:rPr>
              <a:t>{</a:t>
            </a:r>
          </a:p>
          <a:p>
            <a:pPr algn="l"/>
            <a:r>
              <a:rPr lang="en-US" altLang="en-US" b="0" dirty="0">
                <a:latin typeface="Courier New" panose="02070309020205020404" pitchFamily="49" charset="0"/>
              </a:rPr>
              <a:t>   </a:t>
            </a:r>
            <a:r>
              <a:rPr lang="en-US" altLang="en-US" b="0" dirty="0" err="1">
                <a:latin typeface="Courier New" panose="02070309020205020404" pitchFamily="49" charset="0"/>
              </a:rPr>
              <a:t>int</a:t>
            </a:r>
            <a:r>
              <a:rPr lang="en-US" altLang="en-US" b="0" dirty="0">
                <a:latin typeface="Courier New" panose="02070309020205020404" pitchFamily="49" charset="0"/>
              </a:rPr>
              <a:t> n=5;</a:t>
            </a:r>
          </a:p>
          <a:p>
            <a:pPr algn="l"/>
            <a:r>
              <a:rPr lang="en-US" altLang="en-US" b="0" dirty="0">
                <a:latin typeface="Courier New" panose="02070309020205020404" pitchFamily="49" charset="0"/>
              </a:rPr>
              <a:t>   f1(3);</a:t>
            </a:r>
          </a:p>
          <a:p>
            <a:pPr algn="l"/>
            <a:r>
              <a:rPr lang="en-US" altLang="en-US" b="0" dirty="0">
                <a:latin typeface="Courier New" panose="02070309020205020404" pitchFamily="49" charset="0"/>
              </a:rPr>
              <a:t>   f2();		</a:t>
            </a:r>
          </a:p>
          <a:p>
            <a:pPr algn="l"/>
            <a:r>
              <a:rPr lang="en-US" altLang="en-US" b="0" dirty="0">
                <a:latin typeface="Courier New" panose="02070309020205020404" pitchFamily="49" charset="0"/>
              </a:rPr>
              <a:t>   return 0;</a:t>
            </a:r>
          </a:p>
          <a:p>
            <a:pPr algn="l"/>
            <a:r>
              <a:rPr lang="en-US" altLang="en-US" b="0" dirty="0">
                <a:latin typeface="Courier New" panose="02070309020205020404" pitchFamily="49" charset="0"/>
              </a:rPr>
              <a:t>}</a:t>
            </a:r>
          </a:p>
        </p:txBody>
      </p:sp>
      <p:sp>
        <p:nvSpPr>
          <p:cNvPr id="109575" name="AutoShape 7"/>
          <p:cNvSpPr>
            <a:spLocks noChangeArrowheads="1"/>
          </p:cNvSpPr>
          <p:nvPr/>
        </p:nvSpPr>
        <p:spPr bwMode="auto">
          <a:xfrm>
            <a:off x="2418184" y="2286000"/>
            <a:ext cx="1295400" cy="304800"/>
          </a:xfrm>
          <a:prstGeom prst="roundRect">
            <a:avLst>
              <a:gd name="adj" fmla="val 16667"/>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9576" name="AutoShape 8"/>
          <p:cNvSpPr>
            <a:spLocks noChangeArrowheads="1"/>
          </p:cNvSpPr>
          <p:nvPr/>
        </p:nvSpPr>
        <p:spPr bwMode="auto">
          <a:xfrm>
            <a:off x="2418184" y="3352800"/>
            <a:ext cx="1676400" cy="304800"/>
          </a:xfrm>
          <a:prstGeom prst="roundRect">
            <a:avLst>
              <a:gd name="adj" fmla="val 16667"/>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9577" name="AutoShape 9"/>
          <p:cNvSpPr>
            <a:spLocks noChangeArrowheads="1"/>
          </p:cNvSpPr>
          <p:nvPr/>
        </p:nvSpPr>
        <p:spPr bwMode="auto">
          <a:xfrm>
            <a:off x="1960984" y="4724400"/>
            <a:ext cx="1219200" cy="304800"/>
          </a:xfrm>
          <a:prstGeom prst="roundRect">
            <a:avLst>
              <a:gd name="adj" fmla="val 16667"/>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Tree>
    <p:extLst>
      <p:ext uri="{BB962C8B-B14F-4D97-AF65-F5344CB8AC3E}">
        <p14:creationId xmlns:p14="http://schemas.microsoft.com/office/powerpoint/2010/main" val="33723321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en-US" altLang="en-US" dirty="0"/>
              <a:t>Arguments are passed by copying values !</a:t>
            </a:r>
          </a:p>
        </p:txBody>
      </p:sp>
      <p:sp>
        <p:nvSpPr>
          <p:cNvPr id="142339" name="Rectangle 3"/>
          <p:cNvSpPr>
            <a:spLocks noGrp="1" noChangeArrowheads="1"/>
          </p:cNvSpPr>
          <p:nvPr>
            <p:ph type="body" idx="1"/>
          </p:nvPr>
        </p:nvSpPr>
        <p:spPr>
          <a:xfrm>
            <a:off x="1143000" y="1424136"/>
            <a:ext cx="7772400" cy="5029200"/>
          </a:xfrm>
        </p:spPr>
        <p:txBody>
          <a:bodyPr/>
          <a:lstStyle/>
          <a:p>
            <a:r>
              <a:rPr lang="en-US" altLang="en-US" dirty="0"/>
              <a:t>In a function call, the actual argument is evaluated, and its </a:t>
            </a:r>
            <a:r>
              <a:rPr lang="en-US" altLang="en-US" b="1" dirty="0">
                <a:solidFill>
                  <a:srgbClr val="FF0066"/>
                </a:solidFill>
              </a:rPr>
              <a:t>value is copied</a:t>
            </a:r>
            <a:r>
              <a:rPr lang="en-US" altLang="en-US" dirty="0"/>
              <a:t> to the corresponding formal parameter for the function.  </a:t>
            </a:r>
          </a:p>
          <a:p>
            <a:pPr lvl="1"/>
            <a:r>
              <a:rPr lang="en-US" altLang="en-US" dirty="0"/>
              <a:t>Because the called function works with data copied from the calling function, the original data in the calling function is protected from whatever manipulations the called function applies to the copies</a:t>
            </a:r>
          </a:p>
        </p:txBody>
      </p:sp>
    </p:spTree>
    <p:extLst>
      <p:ext uri="{BB962C8B-B14F-4D97-AF65-F5344CB8AC3E}">
        <p14:creationId xmlns:p14="http://schemas.microsoft.com/office/powerpoint/2010/main" val="34718540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en-US" altLang="en-US"/>
              <a:t>Example: arguments</a:t>
            </a:r>
          </a:p>
        </p:txBody>
      </p:sp>
      <p:sp>
        <p:nvSpPr>
          <p:cNvPr id="105476" name="Text Box 4"/>
          <p:cNvSpPr txBox="1">
            <a:spLocks noChangeArrowheads="1"/>
          </p:cNvSpPr>
          <p:nvPr/>
        </p:nvSpPr>
        <p:spPr bwMode="auto">
          <a:xfrm>
            <a:off x="1475656" y="1052736"/>
            <a:ext cx="6375400" cy="531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b="0" dirty="0">
                <a:latin typeface="Courier New" panose="02070309020205020404" pitchFamily="49" charset="0"/>
              </a:rPr>
              <a:t>#include &lt;</a:t>
            </a:r>
            <a:r>
              <a:rPr lang="en-US" altLang="en-US" b="0" dirty="0" err="1">
                <a:latin typeface="Courier New" panose="02070309020205020404" pitchFamily="49" charset="0"/>
              </a:rPr>
              <a:t>stdio.h</a:t>
            </a:r>
            <a:r>
              <a:rPr lang="en-US" altLang="en-US" b="0" dirty="0">
                <a:latin typeface="Courier New" panose="02070309020205020404" pitchFamily="49" charset="0"/>
              </a:rPr>
              <a:t>&gt;</a:t>
            </a:r>
          </a:p>
          <a:p>
            <a:pPr algn="l"/>
            <a:r>
              <a:rPr lang="en-US" altLang="en-US" b="0" dirty="0">
                <a:latin typeface="Courier New" panose="02070309020205020404" pitchFamily="49" charset="0"/>
              </a:rPr>
              <a:t>void </a:t>
            </a:r>
            <a:r>
              <a:rPr lang="en-US" altLang="en-US" b="0" dirty="0" err="1">
                <a:latin typeface="Courier New" panose="02070309020205020404" pitchFamily="49" charset="0"/>
              </a:rPr>
              <a:t>gcd</a:t>
            </a:r>
            <a:r>
              <a:rPr lang="en-US" altLang="en-US" b="0" dirty="0">
                <a:latin typeface="Courier New" panose="02070309020205020404" pitchFamily="49" charset="0"/>
              </a:rPr>
              <a:t> (</a:t>
            </a:r>
            <a:r>
              <a:rPr lang="en-US" altLang="en-US" b="0" dirty="0" err="1">
                <a:latin typeface="Courier New" panose="02070309020205020404" pitchFamily="49" charset="0"/>
              </a:rPr>
              <a:t>int</a:t>
            </a:r>
            <a:r>
              <a:rPr lang="en-US" altLang="en-US" b="0" dirty="0">
                <a:latin typeface="Courier New" panose="02070309020205020404" pitchFamily="49" charset="0"/>
              </a:rPr>
              <a:t> u, </a:t>
            </a:r>
            <a:r>
              <a:rPr lang="en-US" altLang="en-US" b="0" dirty="0" err="1">
                <a:latin typeface="Courier New" panose="02070309020205020404" pitchFamily="49" charset="0"/>
              </a:rPr>
              <a:t>int</a:t>
            </a:r>
            <a:r>
              <a:rPr lang="en-US" altLang="en-US" b="0" dirty="0">
                <a:latin typeface="Courier New" panose="02070309020205020404" pitchFamily="49" charset="0"/>
              </a:rPr>
              <a:t> v)</a:t>
            </a:r>
          </a:p>
          <a:p>
            <a:pPr algn="l"/>
            <a:r>
              <a:rPr lang="en-US" altLang="en-US" b="0" dirty="0">
                <a:latin typeface="Courier New" panose="02070309020205020404" pitchFamily="49" charset="0"/>
              </a:rPr>
              <a:t>{</a:t>
            </a:r>
          </a:p>
          <a:p>
            <a:pPr lvl="1" algn="l"/>
            <a:r>
              <a:rPr lang="en-US" altLang="en-US" b="0" dirty="0" err="1">
                <a:latin typeface="Courier New" panose="02070309020205020404" pitchFamily="49" charset="0"/>
              </a:rPr>
              <a:t>int</a:t>
            </a:r>
            <a:r>
              <a:rPr lang="en-US" altLang="en-US" b="0" dirty="0">
                <a:latin typeface="Courier New" panose="02070309020205020404" pitchFamily="49" charset="0"/>
              </a:rPr>
              <a:t> temp;</a:t>
            </a:r>
          </a:p>
          <a:p>
            <a:pPr lvl="1" algn="l"/>
            <a:r>
              <a:rPr lang="en-US" altLang="en-US" b="0" dirty="0" err="1">
                <a:latin typeface="Courier New" panose="02070309020205020404" pitchFamily="49" charset="0"/>
              </a:rPr>
              <a:t>printf</a:t>
            </a:r>
            <a:r>
              <a:rPr lang="en-US" altLang="en-US" b="0" dirty="0">
                <a:latin typeface="Courier New" panose="02070309020205020404" pitchFamily="49" charset="0"/>
              </a:rPr>
              <a:t> ("The </a:t>
            </a:r>
            <a:r>
              <a:rPr lang="en-US" altLang="en-US" b="0" dirty="0" err="1">
                <a:latin typeface="Courier New" panose="02070309020205020404" pitchFamily="49" charset="0"/>
              </a:rPr>
              <a:t>gcd</a:t>
            </a:r>
            <a:r>
              <a:rPr lang="en-US" altLang="en-US" b="0" dirty="0">
                <a:latin typeface="Courier New" panose="02070309020205020404" pitchFamily="49" charset="0"/>
              </a:rPr>
              <a:t> of %</a:t>
            </a:r>
            <a:r>
              <a:rPr lang="en-US" altLang="en-US" b="0" dirty="0" err="1">
                <a:latin typeface="Courier New" panose="02070309020205020404" pitchFamily="49" charset="0"/>
              </a:rPr>
              <a:t>i</a:t>
            </a:r>
            <a:r>
              <a:rPr lang="en-US" altLang="en-US" b="0" dirty="0">
                <a:latin typeface="Courier New" panose="02070309020205020404" pitchFamily="49" charset="0"/>
              </a:rPr>
              <a:t> and %</a:t>
            </a:r>
            <a:r>
              <a:rPr lang="en-US" altLang="en-US" b="0" dirty="0" err="1">
                <a:latin typeface="Courier New" panose="02070309020205020404" pitchFamily="49" charset="0"/>
              </a:rPr>
              <a:t>i</a:t>
            </a:r>
            <a:r>
              <a:rPr lang="en-US" altLang="en-US" b="0" dirty="0">
                <a:latin typeface="Courier New" panose="02070309020205020404" pitchFamily="49" charset="0"/>
              </a:rPr>
              <a:t> is ", u, v);</a:t>
            </a:r>
          </a:p>
          <a:p>
            <a:pPr lvl="1" algn="l"/>
            <a:r>
              <a:rPr lang="en-US" altLang="en-US" b="0" dirty="0">
                <a:latin typeface="Courier New" panose="02070309020205020404" pitchFamily="49" charset="0"/>
              </a:rPr>
              <a:t>while ( v != 0 ) {</a:t>
            </a:r>
          </a:p>
          <a:p>
            <a:pPr lvl="2" algn="l"/>
            <a:r>
              <a:rPr lang="en-US" altLang="en-US" b="0" dirty="0">
                <a:latin typeface="Courier New" panose="02070309020205020404" pitchFamily="49" charset="0"/>
              </a:rPr>
              <a:t>temp = u % v;</a:t>
            </a:r>
          </a:p>
          <a:p>
            <a:pPr lvl="2" algn="l"/>
            <a:r>
              <a:rPr lang="en-US" altLang="en-US" b="0" dirty="0">
                <a:latin typeface="Courier New" panose="02070309020205020404" pitchFamily="49" charset="0"/>
              </a:rPr>
              <a:t>u = v;</a:t>
            </a:r>
          </a:p>
          <a:p>
            <a:pPr lvl="2" algn="l"/>
            <a:r>
              <a:rPr lang="en-US" altLang="en-US" b="0" dirty="0">
                <a:latin typeface="Courier New" panose="02070309020205020404" pitchFamily="49" charset="0"/>
              </a:rPr>
              <a:t>v = temp;</a:t>
            </a:r>
          </a:p>
          <a:p>
            <a:pPr algn="l"/>
            <a:r>
              <a:rPr lang="en-US" altLang="en-US" b="0" dirty="0">
                <a:latin typeface="Courier New" panose="02070309020205020404" pitchFamily="49" charset="0"/>
              </a:rPr>
              <a:t>	}</a:t>
            </a:r>
          </a:p>
          <a:p>
            <a:pPr algn="l"/>
            <a:r>
              <a:rPr lang="en-US" altLang="en-US" b="0" dirty="0">
                <a:latin typeface="Courier New" panose="02070309020205020404" pitchFamily="49" charset="0"/>
              </a:rPr>
              <a:t>    </a:t>
            </a:r>
            <a:r>
              <a:rPr lang="en-US" altLang="en-US" b="0" dirty="0" err="1">
                <a:latin typeface="Courier New" panose="02070309020205020404" pitchFamily="49" charset="0"/>
              </a:rPr>
              <a:t>printf</a:t>
            </a:r>
            <a:r>
              <a:rPr lang="en-US" altLang="en-US" b="0" dirty="0">
                <a:latin typeface="Courier New" panose="02070309020205020404" pitchFamily="49" charset="0"/>
              </a:rPr>
              <a:t> ("%</a:t>
            </a:r>
            <a:r>
              <a:rPr lang="en-US" altLang="en-US" b="0" dirty="0" err="1">
                <a:latin typeface="Courier New" panose="02070309020205020404" pitchFamily="49" charset="0"/>
              </a:rPr>
              <a:t>i</a:t>
            </a:r>
            <a:r>
              <a:rPr lang="en-US" altLang="en-US" b="0" dirty="0">
                <a:latin typeface="Courier New" panose="02070309020205020404" pitchFamily="49" charset="0"/>
              </a:rPr>
              <a:t>\n", u);</a:t>
            </a:r>
          </a:p>
          <a:p>
            <a:pPr algn="l"/>
            <a:r>
              <a:rPr lang="en-US" altLang="en-US" b="0" dirty="0">
                <a:latin typeface="Courier New" panose="02070309020205020404" pitchFamily="49" charset="0"/>
              </a:rPr>
              <a:t>}</a:t>
            </a:r>
          </a:p>
          <a:p>
            <a:pPr algn="l"/>
            <a:r>
              <a:rPr lang="en-US" altLang="en-US" b="0" dirty="0" err="1">
                <a:latin typeface="Courier New" panose="02070309020205020404" pitchFamily="49" charset="0"/>
              </a:rPr>
              <a:t>int</a:t>
            </a:r>
            <a:r>
              <a:rPr lang="en-US" altLang="en-US" b="0" dirty="0">
                <a:latin typeface="Courier New" panose="02070309020205020404" pitchFamily="49" charset="0"/>
              </a:rPr>
              <a:t> main (void)</a:t>
            </a:r>
          </a:p>
          <a:p>
            <a:pPr algn="l"/>
            <a:r>
              <a:rPr lang="en-US" altLang="en-US" b="0" dirty="0">
                <a:latin typeface="Courier New" panose="02070309020205020404" pitchFamily="49" charset="0"/>
              </a:rPr>
              <a:t>{</a:t>
            </a:r>
          </a:p>
          <a:p>
            <a:pPr lvl="1" algn="l"/>
            <a:r>
              <a:rPr lang="en-US" altLang="en-US" b="0" dirty="0" err="1">
                <a:latin typeface="Courier New" panose="02070309020205020404" pitchFamily="49" charset="0"/>
              </a:rPr>
              <a:t>gcd</a:t>
            </a:r>
            <a:r>
              <a:rPr lang="en-US" altLang="en-US" b="0" dirty="0">
                <a:latin typeface="Courier New" panose="02070309020205020404" pitchFamily="49" charset="0"/>
              </a:rPr>
              <a:t> (150, 35);</a:t>
            </a:r>
          </a:p>
          <a:p>
            <a:pPr lvl="1" algn="l"/>
            <a:r>
              <a:rPr lang="en-US" altLang="en-US" b="0" dirty="0" err="1">
                <a:latin typeface="Courier New" panose="02070309020205020404" pitchFamily="49" charset="0"/>
              </a:rPr>
              <a:t>gcd</a:t>
            </a:r>
            <a:r>
              <a:rPr lang="en-US" altLang="en-US" b="0" dirty="0">
                <a:latin typeface="Courier New" panose="02070309020205020404" pitchFamily="49" charset="0"/>
              </a:rPr>
              <a:t> (1026, 405);</a:t>
            </a:r>
          </a:p>
          <a:p>
            <a:pPr lvl="1" algn="l"/>
            <a:r>
              <a:rPr lang="en-US" altLang="en-US" b="0" dirty="0" err="1">
                <a:latin typeface="Courier New" panose="02070309020205020404" pitchFamily="49" charset="0"/>
              </a:rPr>
              <a:t>gcd</a:t>
            </a:r>
            <a:r>
              <a:rPr lang="en-US" altLang="en-US" b="0" dirty="0">
                <a:latin typeface="Courier New" panose="02070309020205020404" pitchFamily="49" charset="0"/>
              </a:rPr>
              <a:t> (83, 240);</a:t>
            </a:r>
          </a:p>
          <a:p>
            <a:pPr lvl="1" algn="l"/>
            <a:r>
              <a:rPr lang="en-US" altLang="en-US" b="0" dirty="0">
                <a:latin typeface="Courier New" panose="02070309020205020404" pitchFamily="49" charset="0"/>
              </a:rPr>
              <a:t>return 0;</a:t>
            </a:r>
          </a:p>
          <a:p>
            <a:pPr algn="l"/>
            <a:r>
              <a:rPr lang="en-US" altLang="en-US" b="0" dirty="0">
                <a:latin typeface="Courier New" panose="02070309020205020404" pitchFamily="49" charset="0"/>
              </a:rPr>
              <a:t>}</a:t>
            </a:r>
          </a:p>
        </p:txBody>
      </p:sp>
    </p:spTree>
    <p:extLst>
      <p:ext uri="{BB962C8B-B14F-4D97-AF65-F5344CB8AC3E}">
        <p14:creationId xmlns:p14="http://schemas.microsoft.com/office/powerpoint/2010/main" val="36002888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418405" y="304800"/>
            <a:ext cx="8169275" cy="609600"/>
          </a:xfrm>
        </p:spPr>
        <p:txBody>
          <a:bodyPr/>
          <a:lstStyle/>
          <a:p>
            <a:r>
              <a:rPr lang="en-US" altLang="en-US" sz="2400" dirty="0"/>
              <a:t>Example: arguments are passed by copying values !</a:t>
            </a:r>
          </a:p>
        </p:txBody>
      </p:sp>
      <p:sp>
        <p:nvSpPr>
          <p:cNvPr id="106499" name="Text Box 3"/>
          <p:cNvSpPr txBox="1">
            <a:spLocks noChangeArrowheads="1"/>
          </p:cNvSpPr>
          <p:nvPr/>
        </p:nvSpPr>
        <p:spPr bwMode="auto">
          <a:xfrm>
            <a:off x="418405" y="1268760"/>
            <a:ext cx="6375400" cy="5310188"/>
          </a:xfrm>
          <a:prstGeom prst="rect">
            <a:avLst/>
          </a:prstGeom>
          <a:solidFill>
            <a:schemeClr val="bg1"/>
          </a:solidFill>
          <a:ln>
            <a:noFill/>
          </a:ln>
          <a:effectLst/>
        </p:spPr>
        <p:txBody>
          <a:bodyPr wrap="none">
            <a:spAutoFit/>
          </a:bodyPr>
          <a:lstStyle/>
          <a:p>
            <a:pPr algn="l"/>
            <a:r>
              <a:rPr lang="en-US" altLang="en-US" b="0" dirty="0">
                <a:latin typeface="Courier New" panose="02070309020205020404" pitchFamily="49" charset="0"/>
              </a:rPr>
              <a:t>#include &lt;</a:t>
            </a:r>
            <a:r>
              <a:rPr lang="en-US" altLang="en-US" b="0" dirty="0" err="1">
                <a:latin typeface="Courier New" panose="02070309020205020404" pitchFamily="49" charset="0"/>
              </a:rPr>
              <a:t>stdio.h</a:t>
            </a:r>
            <a:r>
              <a:rPr lang="en-US" altLang="en-US" b="0" dirty="0">
                <a:latin typeface="Courier New" panose="02070309020205020404" pitchFamily="49" charset="0"/>
              </a:rPr>
              <a:t>&gt;</a:t>
            </a:r>
          </a:p>
          <a:p>
            <a:pPr algn="l"/>
            <a:r>
              <a:rPr lang="en-US" altLang="en-US" b="0" dirty="0">
                <a:latin typeface="Courier New" panose="02070309020205020404" pitchFamily="49" charset="0"/>
              </a:rPr>
              <a:t>void </a:t>
            </a:r>
            <a:r>
              <a:rPr lang="en-US" altLang="en-US" b="0" dirty="0" err="1">
                <a:latin typeface="Courier New" panose="02070309020205020404" pitchFamily="49" charset="0"/>
              </a:rPr>
              <a:t>gcd</a:t>
            </a:r>
            <a:r>
              <a:rPr lang="en-US" altLang="en-US" b="0" dirty="0">
                <a:latin typeface="Courier New" panose="02070309020205020404" pitchFamily="49" charset="0"/>
              </a:rPr>
              <a:t> (</a:t>
            </a:r>
            <a:r>
              <a:rPr lang="en-US" altLang="en-US" b="0" dirty="0" err="1">
                <a:latin typeface="Courier New" panose="02070309020205020404" pitchFamily="49" charset="0"/>
              </a:rPr>
              <a:t>int</a:t>
            </a:r>
            <a:r>
              <a:rPr lang="en-US" altLang="en-US" b="0" dirty="0">
                <a:latin typeface="Courier New" panose="02070309020205020404" pitchFamily="49" charset="0"/>
              </a:rPr>
              <a:t> u, </a:t>
            </a:r>
            <a:r>
              <a:rPr lang="en-US" altLang="en-US" b="0" dirty="0" err="1">
                <a:latin typeface="Courier New" panose="02070309020205020404" pitchFamily="49" charset="0"/>
              </a:rPr>
              <a:t>int</a:t>
            </a:r>
            <a:r>
              <a:rPr lang="en-US" altLang="en-US" b="0" dirty="0">
                <a:latin typeface="Courier New" panose="02070309020205020404" pitchFamily="49" charset="0"/>
              </a:rPr>
              <a:t> v)</a:t>
            </a:r>
          </a:p>
          <a:p>
            <a:pPr algn="l"/>
            <a:r>
              <a:rPr lang="en-US" altLang="en-US" b="0" dirty="0">
                <a:latin typeface="Courier New" panose="02070309020205020404" pitchFamily="49" charset="0"/>
              </a:rPr>
              <a:t>{</a:t>
            </a:r>
          </a:p>
          <a:p>
            <a:pPr lvl="1" algn="l"/>
            <a:r>
              <a:rPr lang="en-US" altLang="en-US" b="0" dirty="0" err="1">
                <a:latin typeface="Courier New" panose="02070309020205020404" pitchFamily="49" charset="0"/>
              </a:rPr>
              <a:t>int</a:t>
            </a:r>
            <a:r>
              <a:rPr lang="en-US" altLang="en-US" b="0" dirty="0">
                <a:latin typeface="Courier New" panose="02070309020205020404" pitchFamily="49" charset="0"/>
              </a:rPr>
              <a:t> temp;</a:t>
            </a:r>
          </a:p>
          <a:p>
            <a:pPr lvl="1" algn="l"/>
            <a:r>
              <a:rPr lang="en-US" altLang="en-US" b="0" dirty="0" err="1">
                <a:latin typeface="Courier New" panose="02070309020205020404" pitchFamily="49" charset="0"/>
              </a:rPr>
              <a:t>printf</a:t>
            </a:r>
            <a:r>
              <a:rPr lang="en-US" altLang="en-US" b="0" dirty="0">
                <a:latin typeface="Courier New" panose="02070309020205020404" pitchFamily="49" charset="0"/>
              </a:rPr>
              <a:t> ("The </a:t>
            </a:r>
            <a:r>
              <a:rPr lang="en-US" altLang="en-US" b="0" dirty="0" err="1">
                <a:latin typeface="Courier New" panose="02070309020205020404" pitchFamily="49" charset="0"/>
              </a:rPr>
              <a:t>gcd</a:t>
            </a:r>
            <a:r>
              <a:rPr lang="en-US" altLang="en-US" b="0" dirty="0">
                <a:latin typeface="Courier New" panose="02070309020205020404" pitchFamily="49" charset="0"/>
              </a:rPr>
              <a:t> of %</a:t>
            </a:r>
            <a:r>
              <a:rPr lang="en-US" altLang="en-US" b="0" dirty="0" err="1">
                <a:latin typeface="Courier New" panose="02070309020205020404" pitchFamily="49" charset="0"/>
              </a:rPr>
              <a:t>i</a:t>
            </a:r>
            <a:r>
              <a:rPr lang="en-US" altLang="en-US" b="0" dirty="0">
                <a:latin typeface="Courier New" panose="02070309020205020404" pitchFamily="49" charset="0"/>
              </a:rPr>
              <a:t> and %</a:t>
            </a:r>
            <a:r>
              <a:rPr lang="en-US" altLang="en-US" b="0" dirty="0" err="1">
                <a:latin typeface="Courier New" panose="02070309020205020404" pitchFamily="49" charset="0"/>
              </a:rPr>
              <a:t>i</a:t>
            </a:r>
            <a:r>
              <a:rPr lang="en-US" altLang="en-US" b="0" dirty="0">
                <a:latin typeface="Courier New" panose="02070309020205020404" pitchFamily="49" charset="0"/>
              </a:rPr>
              <a:t> is ", u, v);</a:t>
            </a:r>
          </a:p>
          <a:p>
            <a:pPr lvl="1" algn="l"/>
            <a:r>
              <a:rPr lang="en-US" altLang="en-US" b="0" dirty="0">
                <a:latin typeface="Courier New" panose="02070309020205020404" pitchFamily="49" charset="0"/>
              </a:rPr>
              <a:t>while ( v != 0 ) {</a:t>
            </a:r>
          </a:p>
          <a:p>
            <a:pPr lvl="2" algn="l"/>
            <a:r>
              <a:rPr lang="en-US" altLang="en-US" b="0" dirty="0">
                <a:latin typeface="Courier New" panose="02070309020205020404" pitchFamily="49" charset="0"/>
              </a:rPr>
              <a:t>temp = u % v;</a:t>
            </a:r>
          </a:p>
          <a:p>
            <a:pPr lvl="2" algn="l"/>
            <a:r>
              <a:rPr lang="en-US" altLang="en-US" b="0" dirty="0">
                <a:latin typeface="Courier New" panose="02070309020205020404" pitchFamily="49" charset="0"/>
              </a:rPr>
              <a:t>u = v;</a:t>
            </a:r>
          </a:p>
          <a:p>
            <a:pPr lvl="2" algn="l"/>
            <a:r>
              <a:rPr lang="en-US" altLang="en-US" b="0" dirty="0">
                <a:latin typeface="Courier New" panose="02070309020205020404" pitchFamily="49" charset="0"/>
              </a:rPr>
              <a:t>v = temp;</a:t>
            </a:r>
          </a:p>
          <a:p>
            <a:pPr algn="l"/>
            <a:r>
              <a:rPr lang="en-US" altLang="en-US" b="0" dirty="0">
                <a:latin typeface="Courier New" panose="02070309020205020404" pitchFamily="49" charset="0"/>
              </a:rPr>
              <a:t>	}</a:t>
            </a:r>
          </a:p>
          <a:p>
            <a:pPr algn="l"/>
            <a:r>
              <a:rPr lang="en-US" altLang="en-US" b="0" dirty="0">
                <a:latin typeface="Courier New" panose="02070309020205020404" pitchFamily="49" charset="0"/>
              </a:rPr>
              <a:t>    </a:t>
            </a:r>
            <a:r>
              <a:rPr lang="en-US" altLang="en-US" b="0" dirty="0" err="1">
                <a:latin typeface="Courier New" panose="02070309020205020404" pitchFamily="49" charset="0"/>
              </a:rPr>
              <a:t>printf</a:t>
            </a:r>
            <a:r>
              <a:rPr lang="en-US" altLang="en-US" b="0" dirty="0">
                <a:latin typeface="Courier New" panose="02070309020205020404" pitchFamily="49" charset="0"/>
              </a:rPr>
              <a:t> ("%</a:t>
            </a:r>
            <a:r>
              <a:rPr lang="en-US" altLang="en-US" b="0" dirty="0" err="1">
                <a:latin typeface="Courier New" panose="02070309020205020404" pitchFamily="49" charset="0"/>
              </a:rPr>
              <a:t>i</a:t>
            </a:r>
            <a:r>
              <a:rPr lang="en-US" altLang="en-US" b="0" dirty="0">
                <a:latin typeface="Courier New" panose="02070309020205020404" pitchFamily="49" charset="0"/>
              </a:rPr>
              <a:t>\n", u);</a:t>
            </a:r>
          </a:p>
          <a:p>
            <a:pPr algn="l"/>
            <a:r>
              <a:rPr lang="en-US" altLang="en-US" b="0" dirty="0">
                <a:latin typeface="Courier New" panose="02070309020205020404" pitchFamily="49" charset="0"/>
              </a:rPr>
              <a:t>}</a:t>
            </a:r>
          </a:p>
          <a:p>
            <a:pPr algn="l"/>
            <a:r>
              <a:rPr lang="en-US" altLang="en-US" b="0" dirty="0" err="1">
                <a:latin typeface="Courier New" panose="02070309020205020404" pitchFamily="49" charset="0"/>
              </a:rPr>
              <a:t>int</a:t>
            </a:r>
            <a:r>
              <a:rPr lang="en-US" altLang="en-US" b="0" dirty="0">
                <a:latin typeface="Courier New" panose="02070309020205020404" pitchFamily="49" charset="0"/>
              </a:rPr>
              <a:t> main (void)</a:t>
            </a:r>
          </a:p>
          <a:p>
            <a:pPr algn="l"/>
            <a:r>
              <a:rPr lang="en-US" altLang="en-US" b="0" dirty="0">
                <a:latin typeface="Courier New" panose="02070309020205020404" pitchFamily="49" charset="0"/>
              </a:rPr>
              <a:t>{</a:t>
            </a:r>
          </a:p>
          <a:p>
            <a:pPr lvl="1" algn="l"/>
            <a:r>
              <a:rPr lang="en-US" altLang="en-US" b="0" dirty="0" err="1">
                <a:latin typeface="Courier New" panose="02070309020205020404" pitchFamily="49" charset="0"/>
              </a:rPr>
              <a:t>int</a:t>
            </a:r>
            <a:r>
              <a:rPr lang="en-US" altLang="en-US" b="0" dirty="0">
                <a:latin typeface="Courier New" panose="02070309020205020404" pitchFamily="49" charset="0"/>
              </a:rPr>
              <a:t> x=10,y=15;</a:t>
            </a:r>
          </a:p>
          <a:p>
            <a:pPr lvl="1" algn="l"/>
            <a:r>
              <a:rPr lang="en-US" altLang="en-US" b="0" dirty="0" err="1">
                <a:latin typeface="Courier New" panose="02070309020205020404" pitchFamily="49" charset="0"/>
              </a:rPr>
              <a:t>gcd</a:t>
            </a:r>
            <a:r>
              <a:rPr lang="en-US" altLang="en-US" b="0" dirty="0">
                <a:latin typeface="Courier New" panose="02070309020205020404" pitchFamily="49" charset="0"/>
              </a:rPr>
              <a:t> (x, y);</a:t>
            </a:r>
          </a:p>
          <a:p>
            <a:pPr lvl="1" algn="l"/>
            <a:r>
              <a:rPr lang="en-US" altLang="en-US" b="0" dirty="0" err="1">
                <a:latin typeface="Courier New" panose="02070309020205020404" pitchFamily="49" charset="0"/>
              </a:rPr>
              <a:t>printf</a:t>
            </a:r>
            <a:r>
              <a:rPr lang="en-US" altLang="en-US" b="0" dirty="0">
                <a:latin typeface="Courier New" panose="02070309020205020404" pitchFamily="49" charset="0"/>
              </a:rPr>
              <a:t>(“x=%</a:t>
            </a:r>
            <a:r>
              <a:rPr lang="en-US" altLang="en-US" b="0" dirty="0" err="1">
                <a:latin typeface="Courier New" panose="02070309020205020404" pitchFamily="49" charset="0"/>
              </a:rPr>
              <a:t>i</a:t>
            </a:r>
            <a:r>
              <a:rPr lang="en-US" altLang="en-US" b="0" dirty="0">
                <a:latin typeface="Courier New" panose="02070309020205020404" pitchFamily="49" charset="0"/>
              </a:rPr>
              <a:t> y=%</a:t>
            </a:r>
            <a:r>
              <a:rPr lang="en-US" altLang="en-US" b="0" dirty="0" err="1">
                <a:latin typeface="Courier New" panose="02070309020205020404" pitchFamily="49" charset="0"/>
              </a:rPr>
              <a:t>i</a:t>
            </a:r>
            <a:r>
              <a:rPr lang="en-US" altLang="en-US" b="0" dirty="0">
                <a:latin typeface="Courier New" panose="02070309020205020404" pitchFamily="49" charset="0"/>
              </a:rPr>
              <a:t> \n”,</a:t>
            </a:r>
            <a:r>
              <a:rPr lang="en-US" altLang="en-US" b="0" dirty="0" err="1">
                <a:latin typeface="Courier New" panose="02070309020205020404" pitchFamily="49" charset="0"/>
              </a:rPr>
              <a:t>x,y</a:t>
            </a:r>
            <a:r>
              <a:rPr lang="en-US" altLang="en-US" b="0" dirty="0">
                <a:latin typeface="Courier New" panose="02070309020205020404" pitchFamily="49" charset="0"/>
              </a:rPr>
              <a:t>);</a:t>
            </a:r>
          </a:p>
          <a:p>
            <a:pPr lvl="1" algn="l"/>
            <a:r>
              <a:rPr lang="en-US" altLang="en-US" b="0" dirty="0">
                <a:latin typeface="Courier New" panose="02070309020205020404" pitchFamily="49" charset="0"/>
              </a:rPr>
              <a:t>return 0;</a:t>
            </a:r>
          </a:p>
          <a:p>
            <a:pPr algn="l"/>
            <a:r>
              <a:rPr lang="en-US" altLang="en-US" b="0" dirty="0">
                <a:latin typeface="Courier New" panose="02070309020205020404" pitchFamily="49" charset="0"/>
              </a:rPr>
              <a:t>}</a:t>
            </a:r>
          </a:p>
        </p:txBody>
      </p:sp>
      <p:sp>
        <p:nvSpPr>
          <p:cNvPr id="106500" name="AutoShape 4"/>
          <p:cNvSpPr>
            <a:spLocks noChangeArrowheads="1"/>
          </p:cNvSpPr>
          <p:nvPr/>
        </p:nvSpPr>
        <p:spPr bwMode="auto">
          <a:xfrm>
            <a:off x="662880" y="5707410"/>
            <a:ext cx="4191000" cy="304800"/>
          </a:xfrm>
          <a:prstGeom prst="roundRect">
            <a:avLst>
              <a:gd name="adj" fmla="val 16667"/>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6501" name="AutoShape 5"/>
          <p:cNvSpPr>
            <a:spLocks noChangeArrowheads="1"/>
          </p:cNvSpPr>
          <p:nvPr/>
        </p:nvSpPr>
        <p:spPr bwMode="auto">
          <a:xfrm>
            <a:off x="5387280" y="4183410"/>
            <a:ext cx="3505200" cy="1600200"/>
          </a:xfrm>
          <a:prstGeom prst="cloudCallout">
            <a:avLst>
              <a:gd name="adj1" fmla="val -58968"/>
              <a:gd name="adj2" fmla="val 60514"/>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en-US" b="0"/>
              <a:t>The actual parameters x and y are not changed !</a:t>
            </a:r>
          </a:p>
        </p:txBody>
      </p:sp>
      <p:sp>
        <p:nvSpPr>
          <p:cNvPr id="106502" name="AutoShape 6"/>
          <p:cNvSpPr>
            <a:spLocks noChangeArrowheads="1"/>
          </p:cNvSpPr>
          <p:nvPr/>
        </p:nvSpPr>
        <p:spPr bwMode="auto">
          <a:xfrm>
            <a:off x="1196280" y="3269010"/>
            <a:ext cx="1676400" cy="533400"/>
          </a:xfrm>
          <a:prstGeom prst="roundRect">
            <a:avLst>
              <a:gd name="adj" fmla="val 16667"/>
            </a:avLst>
          </a:prstGeom>
          <a:noFill/>
          <a:ln w="9525">
            <a:solidFill>
              <a:srgbClr val="3399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6503" name="AutoShape 7"/>
          <p:cNvSpPr>
            <a:spLocks noChangeArrowheads="1"/>
          </p:cNvSpPr>
          <p:nvPr/>
        </p:nvSpPr>
        <p:spPr bwMode="auto">
          <a:xfrm>
            <a:off x="5082480" y="2430810"/>
            <a:ext cx="3505200" cy="1600200"/>
          </a:xfrm>
          <a:prstGeom prst="cloudCallout">
            <a:avLst>
              <a:gd name="adj1" fmla="val -103806"/>
              <a:gd name="adj2" fmla="val 29264"/>
            </a:avLst>
          </a:prstGeom>
          <a:noFill/>
          <a:ln w="9525">
            <a:solidFill>
              <a:srgbClr val="3399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en-US" b="0"/>
              <a:t>The formal parameters u and v are assigned new values in the function </a:t>
            </a:r>
          </a:p>
        </p:txBody>
      </p:sp>
    </p:spTree>
    <p:extLst>
      <p:ext uri="{BB962C8B-B14F-4D97-AF65-F5344CB8AC3E}">
        <p14:creationId xmlns:p14="http://schemas.microsoft.com/office/powerpoint/2010/main" val="38273991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50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65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1" grpId="0" animBg="1"/>
      <p:bldP spid="10650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r>
              <a:rPr lang="en-US" altLang="en-US"/>
              <a:t>Arguments by copying</a:t>
            </a:r>
          </a:p>
        </p:txBody>
      </p:sp>
      <p:sp>
        <p:nvSpPr>
          <p:cNvPr id="143363" name="Rectangle 3"/>
          <p:cNvSpPr>
            <a:spLocks noChangeArrowheads="1"/>
          </p:cNvSpPr>
          <p:nvPr/>
        </p:nvSpPr>
        <p:spPr bwMode="auto">
          <a:xfrm>
            <a:off x="2741389" y="1685256"/>
            <a:ext cx="1524000" cy="23987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a:p>
            <a:pPr algn="ctr"/>
            <a:endParaRPr lang="en-US" altLang="en-US"/>
          </a:p>
          <a:p>
            <a:pPr algn="ctr"/>
            <a:endParaRPr lang="en-US" altLang="en-US"/>
          </a:p>
          <a:p>
            <a:pPr algn="ctr"/>
            <a:endParaRPr lang="en-US" altLang="en-US"/>
          </a:p>
          <a:p>
            <a:pPr algn="ctr"/>
            <a:endParaRPr lang="en-US" altLang="en-US"/>
          </a:p>
        </p:txBody>
      </p:sp>
      <p:sp>
        <p:nvSpPr>
          <p:cNvPr id="143364" name="Text Box 4"/>
          <p:cNvSpPr txBox="1">
            <a:spLocks noChangeArrowheads="1"/>
          </p:cNvSpPr>
          <p:nvPr/>
        </p:nvSpPr>
        <p:spPr bwMode="auto">
          <a:xfrm>
            <a:off x="2649314" y="1340768"/>
            <a:ext cx="717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main</a:t>
            </a:r>
          </a:p>
        </p:txBody>
      </p:sp>
      <p:sp>
        <p:nvSpPr>
          <p:cNvPr id="143365" name="Rectangle 5"/>
          <p:cNvSpPr>
            <a:spLocks noChangeArrowheads="1"/>
          </p:cNvSpPr>
          <p:nvPr/>
        </p:nvSpPr>
        <p:spPr bwMode="auto">
          <a:xfrm>
            <a:off x="5424264" y="1724943"/>
            <a:ext cx="1524000" cy="16367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a:p>
            <a:pPr algn="ctr"/>
            <a:endParaRPr lang="en-US" altLang="en-US"/>
          </a:p>
          <a:p>
            <a:pPr algn="ctr"/>
            <a:endParaRPr lang="en-US" altLang="en-US"/>
          </a:p>
          <a:p>
            <a:pPr algn="ctr"/>
            <a:endParaRPr lang="en-US" altLang="en-US"/>
          </a:p>
          <a:p>
            <a:pPr algn="ctr"/>
            <a:endParaRPr lang="en-US" altLang="en-US"/>
          </a:p>
        </p:txBody>
      </p:sp>
      <p:sp>
        <p:nvSpPr>
          <p:cNvPr id="143366" name="Text Box 6"/>
          <p:cNvSpPr txBox="1">
            <a:spLocks noChangeArrowheads="1"/>
          </p:cNvSpPr>
          <p:nvPr/>
        </p:nvSpPr>
        <p:spPr bwMode="auto">
          <a:xfrm>
            <a:off x="5332189" y="1380456"/>
            <a:ext cx="1352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0"/>
              <a:t>multiplyBy2</a:t>
            </a:r>
          </a:p>
        </p:txBody>
      </p:sp>
      <p:sp>
        <p:nvSpPr>
          <p:cNvPr id="143367" name="Line 7"/>
          <p:cNvSpPr>
            <a:spLocks noChangeShapeType="1"/>
          </p:cNvSpPr>
          <p:nvPr/>
        </p:nvSpPr>
        <p:spPr bwMode="auto">
          <a:xfrm>
            <a:off x="2817589" y="2371056"/>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43368" name="Line 8"/>
          <p:cNvSpPr>
            <a:spLocks noChangeShapeType="1"/>
          </p:cNvSpPr>
          <p:nvPr/>
        </p:nvSpPr>
        <p:spPr bwMode="auto">
          <a:xfrm>
            <a:off x="2817589" y="2675856"/>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43369" name="Line 9"/>
          <p:cNvSpPr>
            <a:spLocks noChangeShapeType="1"/>
          </p:cNvSpPr>
          <p:nvPr/>
        </p:nvSpPr>
        <p:spPr bwMode="auto">
          <a:xfrm>
            <a:off x="2817589" y="2980656"/>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43370" name="Line 10"/>
          <p:cNvSpPr>
            <a:spLocks noChangeShapeType="1"/>
          </p:cNvSpPr>
          <p:nvPr/>
        </p:nvSpPr>
        <p:spPr bwMode="auto">
          <a:xfrm>
            <a:off x="5560789" y="2371056"/>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43371" name="Line 11"/>
          <p:cNvSpPr>
            <a:spLocks noChangeShapeType="1"/>
          </p:cNvSpPr>
          <p:nvPr/>
        </p:nvSpPr>
        <p:spPr bwMode="auto">
          <a:xfrm>
            <a:off x="5560789" y="2675856"/>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43372" name="Line 12"/>
          <p:cNvSpPr>
            <a:spLocks noChangeShapeType="1"/>
          </p:cNvSpPr>
          <p:nvPr/>
        </p:nvSpPr>
        <p:spPr bwMode="auto">
          <a:xfrm>
            <a:off x="1750789" y="2102768"/>
            <a:ext cx="1066800" cy="39688"/>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43373" name="Line 13"/>
          <p:cNvSpPr>
            <a:spLocks noChangeShapeType="1"/>
          </p:cNvSpPr>
          <p:nvPr/>
        </p:nvSpPr>
        <p:spPr bwMode="auto">
          <a:xfrm>
            <a:off x="3274789" y="2142456"/>
            <a:ext cx="0" cy="4572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43374" name="Line 14"/>
          <p:cNvSpPr>
            <a:spLocks noChangeShapeType="1"/>
          </p:cNvSpPr>
          <p:nvPr/>
        </p:nvSpPr>
        <p:spPr bwMode="auto">
          <a:xfrm flipV="1">
            <a:off x="3884389" y="2102768"/>
            <a:ext cx="1768475" cy="496888"/>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43375" name="Line 15"/>
          <p:cNvSpPr>
            <a:spLocks noChangeShapeType="1"/>
          </p:cNvSpPr>
          <p:nvPr/>
        </p:nvSpPr>
        <p:spPr bwMode="auto">
          <a:xfrm flipH="1">
            <a:off x="6017989" y="2178968"/>
            <a:ext cx="15875" cy="801688"/>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43376" name="Line 16"/>
          <p:cNvSpPr>
            <a:spLocks noChangeShapeType="1"/>
          </p:cNvSpPr>
          <p:nvPr/>
        </p:nvSpPr>
        <p:spPr bwMode="auto">
          <a:xfrm flipH="1" flipV="1">
            <a:off x="4112989" y="2675856"/>
            <a:ext cx="1905000" cy="265112"/>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43377" name="Line 17"/>
          <p:cNvSpPr>
            <a:spLocks noChangeShapeType="1"/>
          </p:cNvSpPr>
          <p:nvPr/>
        </p:nvSpPr>
        <p:spPr bwMode="auto">
          <a:xfrm>
            <a:off x="3274789" y="2675856"/>
            <a:ext cx="15875" cy="569912"/>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43381" name="Text Box 21"/>
          <p:cNvSpPr txBox="1">
            <a:spLocks noChangeArrowheads="1"/>
          </p:cNvSpPr>
          <p:nvPr/>
        </p:nvSpPr>
        <p:spPr bwMode="auto">
          <a:xfrm>
            <a:off x="2801714" y="1910681"/>
            <a:ext cx="273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t>
            </a:r>
          </a:p>
        </p:txBody>
      </p:sp>
      <p:sp>
        <p:nvSpPr>
          <p:cNvPr id="143382" name="Text Box 22"/>
          <p:cNvSpPr txBox="1">
            <a:spLocks noChangeArrowheads="1"/>
          </p:cNvSpPr>
          <p:nvPr/>
        </p:nvSpPr>
        <p:spPr bwMode="auto">
          <a:xfrm>
            <a:off x="5516339" y="1888456"/>
            <a:ext cx="273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t>
            </a:r>
          </a:p>
        </p:txBody>
      </p:sp>
      <p:sp>
        <p:nvSpPr>
          <p:cNvPr id="143383" name="Text Box 23"/>
          <p:cNvSpPr txBox="1">
            <a:spLocks noChangeArrowheads="1"/>
          </p:cNvSpPr>
          <p:nvPr/>
        </p:nvSpPr>
        <p:spPr bwMode="auto">
          <a:xfrm>
            <a:off x="6446614" y="2825081"/>
            <a:ext cx="273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t>
            </a:r>
          </a:p>
        </p:txBody>
      </p:sp>
      <p:sp>
        <p:nvSpPr>
          <p:cNvPr id="143385" name="Text Box 25"/>
          <p:cNvSpPr txBox="1">
            <a:spLocks noChangeArrowheads="1"/>
          </p:cNvSpPr>
          <p:nvPr/>
        </p:nvSpPr>
        <p:spPr bwMode="auto">
          <a:xfrm>
            <a:off x="1979389" y="4120481"/>
            <a:ext cx="320675"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0"/>
              <a:t>7</a:t>
            </a:r>
          </a:p>
        </p:txBody>
      </p:sp>
      <p:sp>
        <p:nvSpPr>
          <p:cNvPr id="143388" name="Line 28"/>
          <p:cNvSpPr>
            <a:spLocks noChangeShapeType="1"/>
          </p:cNvSpPr>
          <p:nvPr/>
        </p:nvSpPr>
        <p:spPr bwMode="auto">
          <a:xfrm>
            <a:off x="2833464" y="3321968"/>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43396" name="Line 36"/>
          <p:cNvSpPr>
            <a:spLocks noChangeShapeType="1"/>
          </p:cNvSpPr>
          <p:nvPr/>
        </p:nvSpPr>
        <p:spPr bwMode="auto">
          <a:xfrm>
            <a:off x="2376264" y="4312568"/>
            <a:ext cx="3200400" cy="0"/>
          </a:xfrm>
          <a:prstGeom prst="line">
            <a:avLst/>
          </a:prstGeom>
          <a:noFill/>
          <a:ln w="9525">
            <a:solidFill>
              <a:srgbClr val="008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43399" name="Text Box 39"/>
          <p:cNvSpPr txBox="1">
            <a:spLocks noChangeArrowheads="1"/>
          </p:cNvSpPr>
          <p:nvPr/>
        </p:nvSpPr>
        <p:spPr bwMode="auto">
          <a:xfrm>
            <a:off x="1522189" y="4120481"/>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y</a:t>
            </a:r>
          </a:p>
        </p:txBody>
      </p:sp>
      <p:sp>
        <p:nvSpPr>
          <p:cNvPr id="143400" name="Text Box 40"/>
          <p:cNvSpPr txBox="1">
            <a:spLocks noChangeArrowheads="1"/>
          </p:cNvSpPr>
          <p:nvPr/>
        </p:nvSpPr>
        <p:spPr bwMode="auto">
          <a:xfrm>
            <a:off x="6246589" y="4044281"/>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x</a:t>
            </a:r>
          </a:p>
        </p:txBody>
      </p:sp>
      <p:sp>
        <p:nvSpPr>
          <p:cNvPr id="143402" name="Text Box 42"/>
          <p:cNvSpPr txBox="1">
            <a:spLocks noChangeArrowheads="1"/>
          </p:cNvSpPr>
          <p:nvPr/>
        </p:nvSpPr>
        <p:spPr bwMode="auto">
          <a:xfrm>
            <a:off x="5805264" y="4160168"/>
            <a:ext cx="447675" cy="376238"/>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0"/>
              <a:t>14</a:t>
            </a:r>
          </a:p>
        </p:txBody>
      </p:sp>
      <p:sp>
        <p:nvSpPr>
          <p:cNvPr id="143401" name="Text Box 41"/>
          <p:cNvSpPr txBox="1">
            <a:spLocks noChangeArrowheads="1"/>
          </p:cNvSpPr>
          <p:nvPr/>
        </p:nvSpPr>
        <p:spPr bwMode="auto">
          <a:xfrm>
            <a:off x="5789389" y="4160168"/>
            <a:ext cx="3206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0" dirty="0"/>
              <a:t>7</a:t>
            </a:r>
          </a:p>
        </p:txBody>
      </p:sp>
    </p:spTree>
    <p:extLst>
      <p:ext uri="{BB962C8B-B14F-4D97-AF65-F5344CB8AC3E}">
        <p14:creationId xmlns:p14="http://schemas.microsoft.com/office/powerpoint/2010/main" val="15464189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37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37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339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340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337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340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337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3376"/>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143402"/>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143396"/>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143400"/>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14340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73" grpId="0" animBg="1"/>
      <p:bldP spid="143374" grpId="0" animBg="1"/>
      <p:bldP spid="143375" grpId="0" animBg="1"/>
      <p:bldP spid="143376" grpId="0" animBg="1"/>
      <p:bldP spid="143377" grpId="0" animBg="1"/>
      <p:bldP spid="143396" grpId="0" animBg="1"/>
      <p:bldP spid="143396" grpId="1" animBg="1"/>
      <p:bldP spid="143400" grpId="0"/>
      <p:bldP spid="143402" grpId="0" animBg="1"/>
      <p:bldP spid="143402" grpId="1" animBg="1"/>
      <p:bldP spid="143401" grpId="0" animBg="1"/>
      <p:bldP spid="143401"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r>
              <a:rPr lang="en-US" altLang="en-US"/>
              <a:t>Returning function results</a:t>
            </a:r>
          </a:p>
        </p:txBody>
      </p:sp>
      <p:sp>
        <p:nvSpPr>
          <p:cNvPr id="101379" name="Rectangle 3"/>
          <p:cNvSpPr>
            <a:spLocks noGrp="1" noChangeArrowheads="1"/>
          </p:cNvSpPr>
          <p:nvPr>
            <p:ph type="body" idx="1"/>
          </p:nvPr>
        </p:nvSpPr>
        <p:spPr/>
        <p:txBody>
          <a:bodyPr/>
          <a:lstStyle/>
          <a:p>
            <a:pPr>
              <a:lnSpc>
                <a:spcPct val="90000"/>
              </a:lnSpc>
            </a:pPr>
            <a:r>
              <a:rPr lang="en-US" altLang="en-US" sz="1800" dirty="0"/>
              <a:t>A  function in C can optionally return a single value </a:t>
            </a:r>
          </a:p>
          <a:p>
            <a:r>
              <a:rPr lang="en-US" altLang="en-US" sz="1800" dirty="0"/>
              <a:t>return </a:t>
            </a:r>
            <a:r>
              <a:rPr lang="en-US" altLang="en-US" sz="1800" i="1" dirty="0"/>
              <a:t>expression</a:t>
            </a:r>
            <a:r>
              <a:rPr lang="en-US" altLang="en-US" sz="1800" dirty="0"/>
              <a:t>;</a:t>
            </a:r>
          </a:p>
          <a:p>
            <a:r>
              <a:rPr lang="en-US" altLang="en-US" sz="1800" dirty="0"/>
              <a:t>The value of </a:t>
            </a:r>
            <a:r>
              <a:rPr lang="en-US" altLang="en-US" sz="1800" i="1" dirty="0"/>
              <a:t>expression </a:t>
            </a:r>
            <a:r>
              <a:rPr lang="en-US" altLang="en-US" sz="1800" dirty="0"/>
              <a:t>is returned to the calling function. If the type of </a:t>
            </a:r>
            <a:r>
              <a:rPr lang="en-US" altLang="en-US" sz="1800" i="1" dirty="0"/>
              <a:t>expression </a:t>
            </a:r>
            <a:r>
              <a:rPr lang="en-US" altLang="en-US" sz="1800" dirty="0"/>
              <a:t>does not agree with the return type declared in the function declaration, its value is  automatically converted to the declared type before it is returned.</a:t>
            </a:r>
          </a:p>
          <a:p>
            <a:r>
              <a:rPr lang="en-US" altLang="en-US" sz="1800" dirty="0"/>
              <a:t>A simpler format for declaring the return statement is as follows:</a:t>
            </a:r>
          </a:p>
          <a:p>
            <a:r>
              <a:rPr lang="en-US" altLang="en-US" sz="1800" dirty="0"/>
              <a:t>return;</a:t>
            </a:r>
          </a:p>
          <a:p>
            <a:r>
              <a:rPr lang="en-US" altLang="en-US" sz="1800" dirty="0"/>
              <a:t>Execution of the simple return statement causes program execution to be immediately returned to the calling </a:t>
            </a:r>
            <a:r>
              <a:rPr lang="en-US" altLang="en-US" sz="1800" dirty="0" err="1"/>
              <a:t>function.This</a:t>
            </a:r>
            <a:r>
              <a:rPr lang="en-US" altLang="en-US" sz="1800" dirty="0"/>
              <a:t> format can only be used to return from a function that does not return a value. </a:t>
            </a:r>
          </a:p>
          <a:p>
            <a:r>
              <a:rPr lang="en-US" altLang="en-US" sz="1800" dirty="0"/>
              <a:t>If execution proceeds to the end of a function and a return statement is not encountered, it returns as if a return statement of this form had been executed. Therefore, in such a case, no value is returned.</a:t>
            </a:r>
          </a:p>
          <a:p>
            <a:pPr>
              <a:lnSpc>
                <a:spcPct val="90000"/>
              </a:lnSpc>
            </a:pPr>
            <a:r>
              <a:rPr lang="en-US" altLang="en-US" sz="1800" dirty="0"/>
              <a:t>If the declaration of the type returned by a function is omitted, the C compiler assumes that the function returns an </a:t>
            </a:r>
            <a:r>
              <a:rPr lang="en-US" altLang="en-US" sz="1800" dirty="0" err="1"/>
              <a:t>int</a:t>
            </a:r>
            <a:r>
              <a:rPr lang="en-US" altLang="en-US" sz="1800" dirty="0"/>
              <a:t> !</a:t>
            </a:r>
          </a:p>
          <a:p>
            <a:pPr>
              <a:lnSpc>
                <a:spcPct val="90000"/>
              </a:lnSpc>
            </a:pPr>
            <a:endParaRPr lang="en-US" altLang="en-US" sz="1800" dirty="0"/>
          </a:p>
        </p:txBody>
      </p:sp>
    </p:spTree>
    <p:extLst>
      <p:ext uri="{BB962C8B-B14F-4D97-AF65-F5344CB8AC3E}">
        <p14:creationId xmlns:p14="http://schemas.microsoft.com/office/powerpoint/2010/main" val="188151852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r>
              <a:rPr lang="en-US" altLang="en-US"/>
              <a:t>Return example</a:t>
            </a:r>
          </a:p>
        </p:txBody>
      </p:sp>
      <p:sp>
        <p:nvSpPr>
          <p:cNvPr id="144388" name="Text Box 4"/>
          <p:cNvSpPr txBox="1">
            <a:spLocks noChangeArrowheads="1"/>
          </p:cNvSpPr>
          <p:nvPr/>
        </p:nvSpPr>
        <p:spPr bwMode="auto">
          <a:xfrm>
            <a:off x="1403648" y="1340768"/>
            <a:ext cx="5603875" cy="146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b="0" dirty="0">
                <a:latin typeface="Courier New" panose="02070309020205020404" pitchFamily="49" charset="0"/>
              </a:rPr>
              <a:t>void </a:t>
            </a:r>
            <a:r>
              <a:rPr lang="en-US" altLang="en-US" b="0" dirty="0" err="1">
                <a:latin typeface="Courier New" panose="02070309020205020404" pitchFamily="49" charset="0"/>
              </a:rPr>
              <a:t>printMessage</a:t>
            </a:r>
            <a:r>
              <a:rPr lang="en-US" altLang="en-US" b="0" dirty="0">
                <a:latin typeface="Courier New" panose="02070309020205020404" pitchFamily="49" charset="0"/>
              </a:rPr>
              <a:t> (void)</a:t>
            </a:r>
          </a:p>
          <a:p>
            <a:pPr algn="l"/>
            <a:r>
              <a:rPr lang="en-US" altLang="en-US" b="0" dirty="0">
                <a:latin typeface="Courier New" panose="02070309020205020404" pitchFamily="49" charset="0"/>
              </a:rPr>
              <a:t>{</a:t>
            </a:r>
          </a:p>
          <a:p>
            <a:pPr algn="l"/>
            <a:r>
              <a:rPr lang="en-US" altLang="en-US" b="0" dirty="0">
                <a:latin typeface="Courier New" panose="02070309020205020404" pitchFamily="49" charset="0"/>
              </a:rPr>
              <a:t>	</a:t>
            </a:r>
            <a:r>
              <a:rPr lang="en-US" altLang="en-US" b="0" dirty="0" err="1">
                <a:latin typeface="Courier New" panose="02070309020205020404" pitchFamily="49" charset="0"/>
              </a:rPr>
              <a:t>printf</a:t>
            </a:r>
            <a:r>
              <a:rPr lang="en-US" altLang="en-US" b="0" dirty="0">
                <a:latin typeface="Courier New" panose="02070309020205020404" pitchFamily="49" charset="0"/>
              </a:rPr>
              <a:t> ("Programming is fun.\n");</a:t>
            </a:r>
          </a:p>
          <a:p>
            <a:pPr algn="l"/>
            <a:r>
              <a:rPr lang="en-US" altLang="en-US" b="0" dirty="0">
                <a:latin typeface="Courier New" panose="02070309020205020404" pitchFamily="49" charset="0"/>
              </a:rPr>
              <a:t>	return;</a:t>
            </a:r>
          </a:p>
          <a:p>
            <a:pPr algn="l"/>
            <a:r>
              <a:rPr lang="en-US" altLang="en-US" b="0" dirty="0">
                <a:latin typeface="Courier New" panose="02070309020205020404" pitchFamily="49" charset="0"/>
              </a:rPr>
              <a:t>}</a:t>
            </a:r>
            <a:endParaRPr lang="en-US" altLang="en-US" dirty="0">
              <a:latin typeface="Courier New" panose="02070309020205020404" pitchFamily="49" charset="0"/>
            </a:endParaRPr>
          </a:p>
        </p:txBody>
      </p:sp>
    </p:spTree>
    <p:extLst>
      <p:ext uri="{BB962C8B-B14F-4D97-AF65-F5344CB8AC3E}">
        <p14:creationId xmlns:p14="http://schemas.microsoft.com/office/powerpoint/2010/main" val="427832794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en-US" altLang="en-US"/>
              <a:t>Example: function result</a:t>
            </a:r>
          </a:p>
        </p:txBody>
      </p:sp>
      <p:sp>
        <p:nvSpPr>
          <p:cNvPr id="91140" name="Text Box 4"/>
          <p:cNvSpPr txBox="1">
            <a:spLocks noChangeArrowheads="1"/>
          </p:cNvSpPr>
          <p:nvPr/>
        </p:nvSpPr>
        <p:spPr bwMode="auto">
          <a:xfrm>
            <a:off x="1259632" y="1124744"/>
            <a:ext cx="6660798"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400" b="0" dirty="0">
                <a:latin typeface="Courier New" panose="02070309020205020404" pitchFamily="49" charset="0"/>
              </a:rPr>
              <a:t>/* Function to find the greatest common divisor of two</a:t>
            </a:r>
          </a:p>
          <a:p>
            <a:pPr algn="l"/>
            <a:r>
              <a:rPr lang="en-US" altLang="en-US" sz="1400" b="0" dirty="0">
                <a:latin typeface="Courier New" panose="02070309020205020404" pitchFamily="49" charset="0"/>
              </a:rPr>
              <a:t>nonnegative integer values and to return the result */</a:t>
            </a:r>
          </a:p>
          <a:p>
            <a:pPr algn="l"/>
            <a:r>
              <a:rPr lang="en-US" altLang="en-US" sz="1400" b="0" dirty="0">
                <a:latin typeface="Courier New" panose="02070309020205020404" pitchFamily="49" charset="0"/>
              </a:rPr>
              <a:t>#include &lt;</a:t>
            </a:r>
            <a:r>
              <a:rPr lang="en-US" altLang="en-US" sz="1400" b="0" dirty="0" err="1">
                <a:latin typeface="Courier New" panose="02070309020205020404" pitchFamily="49" charset="0"/>
              </a:rPr>
              <a:t>stdio.h</a:t>
            </a:r>
            <a:r>
              <a:rPr lang="en-US" altLang="en-US" sz="1400" b="0" dirty="0">
                <a:latin typeface="Courier New" panose="02070309020205020404" pitchFamily="49" charset="0"/>
              </a:rPr>
              <a:t>&gt;</a:t>
            </a:r>
          </a:p>
          <a:p>
            <a:pPr algn="l"/>
            <a:r>
              <a:rPr lang="en-US" altLang="en-US" sz="1400" b="0" dirty="0" err="1">
                <a:latin typeface="Courier New" panose="02070309020205020404" pitchFamily="49" charset="0"/>
              </a:rPr>
              <a:t>int</a:t>
            </a:r>
            <a:r>
              <a:rPr lang="en-US" altLang="en-US" sz="1400" b="0" dirty="0">
                <a:latin typeface="Courier New" panose="02070309020205020404" pitchFamily="49" charset="0"/>
              </a:rPr>
              <a:t> </a:t>
            </a:r>
            <a:r>
              <a:rPr lang="en-US" altLang="en-US" sz="1400" b="0" dirty="0" err="1">
                <a:latin typeface="Courier New" panose="02070309020205020404" pitchFamily="49" charset="0"/>
              </a:rPr>
              <a:t>gcd</a:t>
            </a:r>
            <a:r>
              <a:rPr lang="en-US" altLang="en-US" sz="1400" b="0" dirty="0">
                <a:latin typeface="Courier New" panose="02070309020205020404" pitchFamily="49" charset="0"/>
              </a:rPr>
              <a:t> (</a:t>
            </a:r>
            <a:r>
              <a:rPr lang="en-US" altLang="en-US" sz="1400" b="0" dirty="0" err="1">
                <a:latin typeface="Courier New" panose="02070309020205020404" pitchFamily="49" charset="0"/>
              </a:rPr>
              <a:t>int</a:t>
            </a:r>
            <a:r>
              <a:rPr lang="en-US" altLang="en-US" sz="1400" b="0" dirty="0">
                <a:latin typeface="Courier New" panose="02070309020205020404" pitchFamily="49" charset="0"/>
              </a:rPr>
              <a:t> u, </a:t>
            </a:r>
            <a:r>
              <a:rPr lang="en-US" altLang="en-US" sz="1400" b="0" dirty="0" err="1">
                <a:latin typeface="Courier New" panose="02070309020205020404" pitchFamily="49" charset="0"/>
              </a:rPr>
              <a:t>int</a:t>
            </a:r>
            <a:r>
              <a:rPr lang="en-US" altLang="en-US" sz="1400" b="0" dirty="0">
                <a:latin typeface="Courier New" panose="02070309020205020404" pitchFamily="49" charset="0"/>
              </a:rPr>
              <a:t> v)</a:t>
            </a:r>
          </a:p>
          <a:p>
            <a:pPr algn="l"/>
            <a:r>
              <a:rPr lang="en-US" altLang="en-US" sz="1400" b="0" dirty="0">
                <a:latin typeface="Courier New" panose="02070309020205020404" pitchFamily="49" charset="0"/>
              </a:rPr>
              <a:t>{</a:t>
            </a:r>
          </a:p>
          <a:p>
            <a:pPr lvl="1" algn="l"/>
            <a:r>
              <a:rPr lang="en-US" altLang="en-US" sz="1400" b="0" dirty="0" err="1">
                <a:latin typeface="Courier New" panose="02070309020205020404" pitchFamily="49" charset="0"/>
              </a:rPr>
              <a:t>int</a:t>
            </a:r>
            <a:r>
              <a:rPr lang="en-US" altLang="en-US" sz="1400" b="0" dirty="0">
                <a:latin typeface="Courier New" panose="02070309020205020404" pitchFamily="49" charset="0"/>
              </a:rPr>
              <a:t> temp;</a:t>
            </a:r>
          </a:p>
          <a:p>
            <a:pPr lvl="1" algn="l"/>
            <a:r>
              <a:rPr lang="en-US" altLang="en-US" sz="1400" b="0" dirty="0">
                <a:latin typeface="Courier New" panose="02070309020205020404" pitchFamily="49" charset="0"/>
              </a:rPr>
              <a:t>while ( v != 0 ) {</a:t>
            </a:r>
          </a:p>
          <a:p>
            <a:pPr lvl="2" algn="l"/>
            <a:r>
              <a:rPr lang="en-US" altLang="en-US" sz="1400" b="0" dirty="0">
                <a:latin typeface="Courier New" panose="02070309020205020404" pitchFamily="49" charset="0"/>
              </a:rPr>
              <a:t>temp = u % v;</a:t>
            </a:r>
          </a:p>
          <a:p>
            <a:pPr lvl="2" algn="l"/>
            <a:r>
              <a:rPr lang="en-US" altLang="en-US" sz="1400" b="0" dirty="0">
                <a:latin typeface="Courier New" panose="02070309020205020404" pitchFamily="49" charset="0"/>
              </a:rPr>
              <a:t>u = v;</a:t>
            </a:r>
          </a:p>
          <a:p>
            <a:pPr lvl="2" algn="l"/>
            <a:r>
              <a:rPr lang="en-US" altLang="en-US" sz="1400" b="0" dirty="0">
                <a:latin typeface="Courier New" panose="02070309020205020404" pitchFamily="49" charset="0"/>
              </a:rPr>
              <a:t>v = temp;</a:t>
            </a:r>
          </a:p>
          <a:p>
            <a:pPr lvl="1" algn="l"/>
            <a:r>
              <a:rPr lang="en-US" altLang="en-US" sz="1400" b="0" dirty="0">
                <a:latin typeface="Courier New" panose="02070309020205020404" pitchFamily="49" charset="0"/>
              </a:rPr>
              <a:t>}</a:t>
            </a:r>
          </a:p>
          <a:p>
            <a:pPr lvl="1" algn="l"/>
            <a:r>
              <a:rPr lang="en-US" altLang="en-US" sz="1400" b="0" dirty="0">
                <a:latin typeface="Courier New" panose="02070309020205020404" pitchFamily="49" charset="0"/>
              </a:rPr>
              <a:t>return u;</a:t>
            </a:r>
          </a:p>
          <a:p>
            <a:pPr algn="l"/>
            <a:r>
              <a:rPr lang="en-US" altLang="en-US" sz="1400" b="0" dirty="0">
                <a:latin typeface="Courier New" panose="02070309020205020404" pitchFamily="49" charset="0"/>
              </a:rPr>
              <a:t>}</a:t>
            </a:r>
          </a:p>
          <a:p>
            <a:pPr algn="l"/>
            <a:r>
              <a:rPr lang="en-US" altLang="en-US" sz="1400" b="0" dirty="0" err="1">
                <a:latin typeface="Courier New" panose="02070309020205020404" pitchFamily="49" charset="0"/>
              </a:rPr>
              <a:t>int</a:t>
            </a:r>
            <a:r>
              <a:rPr lang="en-US" altLang="en-US" sz="1400" b="0" dirty="0">
                <a:latin typeface="Courier New" panose="02070309020205020404" pitchFamily="49" charset="0"/>
              </a:rPr>
              <a:t> main (void)</a:t>
            </a:r>
          </a:p>
          <a:p>
            <a:pPr algn="l"/>
            <a:r>
              <a:rPr lang="en-US" altLang="en-US" sz="1400" b="0" dirty="0">
                <a:latin typeface="Courier New" panose="02070309020205020404" pitchFamily="49" charset="0"/>
              </a:rPr>
              <a:t>{</a:t>
            </a:r>
          </a:p>
          <a:p>
            <a:pPr lvl="1" algn="l"/>
            <a:r>
              <a:rPr lang="en-US" altLang="en-US" sz="1400" b="0" dirty="0" err="1">
                <a:latin typeface="Courier New" panose="02070309020205020404" pitchFamily="49" charset="0"/>
              </a:rPr>
              <a:t>int</a:t>
            </a:r>
            <a:r>
              <a:rPr lang="en-US" altLang="en-US" sz="1400" b="0" dirty="0">
                <a:latin typeface="Courier New" panose="02070309020205020404" pitchFamily="49" charset="0"/>
              </a:rPr>
              <a:t> result;</a:t>
            </a:r>
          </a:p>
          <a:p>
            <a:pPr lvl="1" algn="l"/>
            <a:r>
              <a:rPr lang="en-US" altLang="en-US" sz="1400" b="0" dirty="0">
                <a:latin typeface="Courier New" panose="02070309020205020404" pitchFamily="49" charset="0"/>
              </a:rPr>
              <a:t>result = </a:t>
            </a:r>
            <a:r>
              <a:rPr lang="en-US" altLang="en-US" sz="1400" b="0" dirty="0" err="1">
                <a:latin typeface="Courier New" panose="02070309020205020404" pitchFamily="49" charset="0"/>
              </a:rPr>
              <a:t>gcd</a:t>
            </a:r>
            <a:r>
              <a:rPr lang="en-US" altLang="en-US" sz="1400" b="0" dirty="0">
                <a:latin typeface="Courier New" panose="02070309020205020404" pitchFamily="49" charset="0"/>
              </a:rPr>
              <a:t> (150, 35);</a:t>
            </a:r>
          </a:p>
          <a:p>
            <a:pPr lvl="1" algn="l"/>
            <a:r>
              <a:rPr lang="en-US" altLang="en-US" sz="1400" b="0" dirty="0" err="1">
                <a:latin typeface="Courier New" panose="02070309020205020404" pitchFamily="49" charset="0"/>
              </a:rPr>
              <a:t>printf</a:t>
            </a:r>
            <a:r>
              <a:rPr lang="en-US" altLang="en-US" sz="1400" b="0" dirty="0">
                <a:latin typeface="Courier New" panose="02070309020205020404" pitchFamily="49" charset="0"/>
              </a:rPr>
              <a:t> ("The </a:t>
            </a:r>
            <a:r>
              <a:rPr lang="en-US" altLang="en-US" sz="1400" b="0" dirty="0" err="1">
                <a:latin typeface="Courier New" panose="02070309020205020404" pitchFamily="49" charset="0"/>
              </a:rPr>
              <a:t>gcd</a:t>
            </a:r>
            <a:r>
              <a:rPr lang="en-US" altLang="en-US" sz="1400" b="0" dirty="0">
                <a:latin typeface="Courier New" panose="02070309020205020404" pitchFamily="49" charset="0"/>
              </a:rPr>
              <a:t> of 150 and 35 is %</a:t>
            </a:r>
            <a:r>
              <a:rPr lang="en-US" altLang="en-US" sz="1400" b="0" dirty="0" err="1">
                <a:latin typeface="Courier New" panose="02070309020205020404" pitchFamily="49" charset="0"/>
              </a:rPr>
              <a:t>i</a:t>
            </a:r>
            <a:r>
              <a:rPr lang="en-US" altLang="en-US" sz="1400" b="0" dirty="0">
                <a:latin typeface="Courier New" panose="02070309020205020404" pitchFamily="49" charset="0"/>
              </a:rPr>
              <a:t>\n", result);</a:t>
            </a:r>
          </a:p>
          <a:p>
            <a:pPr lvl="1" algn="l"/>
            <a:r>
              <a:rPr lang="en-US" altLang="en-US" sz="1400" b="0" dirty="0">
                <a:latin typeface="Courier New" panose="02070309020205020404" pitchFamily="49" charset="0"/>
              </a:rPr>
              <a:t>result = </a:t>
            </a:r>
            <a:r>
              <a:rPr lang="en-US" altLang="en-US" sz="1400" b="0" dirty="0" err="1">
                <a:latin typeface="Courier New" panose="02070309020205020404" pitchFamily="49" charset="0"/>
              </a:rPr>
              <a:t>gcd</a:t>
            </a:r>
            <a:r>
              <a:rPr lang="en-US" altLang="en-US" sz="1400" b="0" dirty="0">
                <a:latin typeface="Courier New" panose="02070309020205020404" pitchFamily="49" charset="0"/>
              </a:rPr>
              <a:t> (1026, 405);</a:t>
            </a:r>
          </a:p>
          <a:p>
            <a:pPr lvl="1" algn="l"/>
            <a:r>
              <a:rPr lang="en-US" altLang="en-US" sz="1400" b="0" dirty="0" err="1">
                <a:latin typeface="Courier New" panose="02070309020205020404" pitchFamily="49" charset="0"/>
              </a:rPr>
              <a:t>printf</a:t>
            </a:r>
            <a:r>
              <a:rPr lang="en-US" altLang="en-US" sz="1400" b="0" dirty="0">
                <a:latin typeface="Courier New" panose="02070309020205020404" pitchFamily="49" charset="0"/>
              </a:rPr>
              <a:t> ("The </a:t>
            </a:r>
            <a:r>
              <a:rPr lang="en-US" altLang="en-US" sz="1400" b="0" dirty="0" err="1">
                <a:latin typeface="Courier New" panose="02070309020205020404" pitchFamily="49" charset="0"/>
              </a:rPr>
              <a:t>gcd</a:t>
            </a:r>
            <a:r>
              <a:rPr lang="en-US" altLang="en-US" sz="1400" b="0" dirty="0">
                <a:latin typeface="Courier New" panose="02070309020205020404" pitchFamily="49" charset="0"/>
              </a:rPr>
              <a:t> of 1026 and 405 is %</a:t>
            </a:r>
            <a:r>
              <a:rPr lang="en-US" altLang="en-US" sz="1400" b="0" dirty="0" err="1">
                <a:latin typeface="Courier New" panose="02070309020205020404" pitchFamily="49" charset="0"/>
              </a:rPr>
              <a:t>i</a:t>
            </a:r>
            <a:r>
              <a:rPr lang="en-US" altLang="en-US" sz="1400" b="0" dirty="0">
                <a:latin typeface="Courier New" panose="02070309020205020404" pitchFamily="49" charset="0"/>
              </a:rPr>
              <a:t>\n", result);</a:t>
            </a:r>
          </a:p>
          <a:p>
            <a:pPr lvl="1" algn="l"/>
            <a:r>
              <a:rPr lang="en-US" altLang="en-US" sz="1400" b="0" dirty="0" err="1">
                <a:latin typeface="Courier New" panose="02070309020205020404" pitchFamily="49" charset="0"/>
              </a:rPr>
              <a:t>printf</a:t>
            </a:r>
            <a:r>
              <a:rPr lang="en-US" altLang="en-US" sz="1400" b="0" dirty="0">
                <a:latin typeface="Courier New" panose="02070309020205020404" pitchFamily="49" charset="0"/>
              </a:rPr>
              <a:t> ("The </a:t>
            </a:r>
            <a:r>
              <a:rPr lang="en-US" altLang="en-US" sz="1400" b="0" dirty="0" err="1">
                <a:latin typeface="Courier New" panose="02070309020205020404" pitchFamily="49" charset="0"/>
              </a:rPr>
              <a:t>gcd</a:t>
            </a:r>
            <a:r>
              <a:rPr lang="en-US" altLang="en-US" sz="1400" b="0" dirty="0">
                <a:latin typeface="Courier New" panose="02070309020205020404" pitchFamily="49" charset="0"/>
              </a:rPr>
              <a:t> of 83 and 240 is %</a:t>
            </a:r>
            <a:r>
              <a:rPr lang="en-US" altLang="en-US" sz="1400" b="0" dirty="0" err="1">
                <a:latin typeface="Courier New" panose="02070309020205020404" pitchFamily="49" charset="0"/>
              </a:rPr>
              <a:t>i</a:t>
            </a:r>
            <a:r>
              <a:rPr lang="en-US" altLang="en-US" sz="1400" b="0" dirty="0">
                <a:latin typeface="Courier New" panose="02070309020205020404" pitchFamily="49" charset="0"/>
              </a:rPr>
              <a:t>\n", </a:t>
            </a:r>
            <a:r>
              <a:rPr lang="en-US" altLang="en-US" sz="1400" b="0" dirty="0" err="1">
                <a:latin typeface="Courier New" panose="02070309020205020404" pitchFamily="49" charset="0"/>
              </a:rPr>
              <a:t>gcd</a:t>
            </a:r>
            <a:r>
              <a:rPr lang="en-US" altLang="en-US" sz="1400" b="0" dirty="0">
                <a:latin typeface="Courier New" panose="02070309020205020404" pitchFamily="49" charset="0"/>
              </a:rPr>
              <a:t> (83, 240));</a:t>
            </a:r>
          </a:p>
          <a:p>
            <a:pPr lvl="1" algn="l"/>
            <a:r>
              <a:rPr lang="en-US" altLang="en-US" sz="1400" b="0" dirty="0">
                <a:latin typeface="Courier New" panose="02070309020205020404" pitchFamily="49" charset="0"/>
              </a:rPr>
              <a:t>return 0;</a:t>
            </a:r>
          </a:p>
          <a:p>
            <a:pPr algn="l"/>
            <a:r>
              <a:rPr lang="en-US" altLang="en-US" sz="1400" b="0" dirty="0">
                <a:latin typeface="Courier New" panose="02070309020205020404" pitchFamily="49" charset="0"/>
              </a:rPr>
              <a:t>}</a:t>
            </a:r>
          </a:p>
        </p:txBody>
      </p:sp>
    </p:spTree>
    <p:extLst>
      <p:ext uri="{BB962C8B-B14F-4D97-AF65-F5344CB8AC3E}">
        <p14:creationId xmlns:p14="http://schemas.microsoft.com/office/powerpoint/2010/main" val="21379895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en-US" altLang="en-US"/>
              <a:t>Function declaration</a:t>
            </a:r>
          </a:p>
        </p:txBody>
      </p:sp>
      <p:sp>
        <p:nvSpPr>
          <p:cNvPr id="108547" name="Rectangle 3"/>
          <p:cNvSpPr>
            <a:spLocks noGrp="1" noChangeArrowheads="1"/>
          </p:cNvSpPr>
          <p:nvPr>
            <p:ph type="body" idx="1"/>
          </p:nvPr>
        </p:nvSpPr>
        <p:spPr/>
        <p:txBody>
          <a:bodyPr/>
          <a:lstStyle/>
          <a:p>
            <a:r>
              <a:rPr lang="en-US" altLang="en-US" sz="1800"/>
              <a:t>a function prototype—a declaration that states the return type, the number of arguments, and the types of those arguments. </a:t>
            </a:r>
          </a:p>
          <a:p>
            <a:r>
              <a:rPr lang="en-US" altLang="en-US" sz="1800"/>
              <a:t>Useful mechanism when the called function is defined after the calling function</a:t>
            </a:r>
          </a:p>
          <a:p>
            <a:r>
              <a:rPr lang="en-US" altLang="en-US" sz="1800"/>
              <a:t>The </a:t>
            </a:r>
            <a:r>
              <a:rPr lang="en-US" altLang="en-US" sz="1800" b="1" i="1"/>
              <a:t>prototype</a:t>
            </a:r>
            <a:r>
              <a:rPr lang="en-US" altLang="en-US" sz="1800"/>
              <a:t> of the called function is everything the compiler needs  in order to be able to </a:t>
            </a:r>
            <a:r>
              <a:rPr lang="en-US" altLang="en-US" sz="1800" b="1" i="1"/>
              <a:t>compile</a:t>
            </a:r>
            <a:r>
              <a:rPr lang="en-US" altLang="en-US" sz="1800"/>
              <a:t> the calling function</a:t>
            </a:r>
          </a:p>
          <a:p>
            <a:r>
              <a:rPr lang="en-US" altLang="en-US" sz="1800"/>
              <a:t>In order to produce the </a:t>
            </a:r>
            <a:r>
              <a:rPr lang="en-US" altLang="en-US" sz="1800" b="1" i="1"/>
              <a:t>executable program</a:t>
            </a:r>
            <a:r>
              <a:rPr lang="en-US" altLang="en-US" sz="1800"/>
              <a:t>, of course that also the whole </a:t>
            </a:r>
            <a:r>
              <a:rPr lang="en-US" altLang="en-US" sz="1800" b="1" i="1"/>
              <a:t>definition</a:t>
            </a:r>
            <a:r>
              <a:rPr lang="en-US" altLang="en-US" sz="1800"/>
              <a:t> of the function body is needed, but this occurs later,  in the process of </a:t>
            </a:r>
            <a:r>
              <a:rPr lang="en-US" altLang="en-US" sz="1800" b="1" i="1"/>
              <a:t>linking</a:t>
            </a:r>
            <a:r>
              <a:rPr lang="en-US" altLang="en-US" sz="1800"/>
              <a:t> </a:t>
            </a:r>
          </a:p>
        </p:txBody>
      </p:sp>
    </p:spTree>
    <p:extLst>
      <p:ext uri="{BB962C8B-B14F-4D97-AF65-F5344CB8AC3E}">
        <p14:creationId xmlns:p14="http://schemas.microsoft.com/office/powerpoint/2010/main" val="372431725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r>
              <a:rPr lang="en-US" altLang="en-US" dirty="0"/>
              <a:t>Example: function declaration</a:t>
            </a:r>
          </a:p>
        </p:txBody>
      </p:sp>
      <p:sp>
        <p:nvSpPr>
          <p:cNvPr id="110596" name="Text Box 4"/>
          <p:cNvSpPr txBox="1">
            <a:spLocks noChangeArrowheads="1"/>
          </p:cNvSpPr>
          <p:nvPr/>
        </p:nvSpPr>
        <p:spPr bwMode="auto">
          <a:xfrm>
            <a:off x="517525" y="14843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p>
        </p:txBody>
      </p:sp>
      <p:sp>
        <p:nvSpPr>
          <p:cNvPr id="110597" name="Text Box 5"/>
          <p:cNvSpPr txBox="1">
            <a:spLocks noChangeArrowheads="1"/>
          </p:cNvSpPr>
          <p:nvPr/>
        </p:nvSpPr>
        <p:spPr bwMode="auto">
          <a:xfrm>
            <a:off x="691952" y="1124744"/>
            <a:ext cx="5603875" cy="5035550"/>
          </a:xfrm>
          <a:prstGeom prst="rect">
            <a:avLst/>
          </a:prstGeom>
          <a:solidFill>
            <a:schemeClr val="bg1"/>
          </a:solidFill>
          <a:ln>
            <a:noFill/>
          </a:ln>
          <a:effectLst/>
        </p:spPr>
        <p:txBody>
          <a:bodyPr wrap="none">
            <a:spAutoFit/>
          </a:bodyPr>
          <a:lstStyle/>
          <a:p>
            <a:pPr algn="l"/>
            <a:r>
              <a:rPr lang="en-US" altLang="en-US" b="0" dirty="0">
                <a:latin typeface="Courier New" panose="02070309020205020404" pitchFamily="49" charset="0"/>
              </a:rPr>
              <a:t>#include &lt;</a:t>
            </a:r>
            <a:r>
              <a:rPr lang="en-US" altLang="en-US" b="0" dirty="0" err="1">
                <a:latin typeface="Courier New" panose="02070309020205020404" pitchFamily="49" charset="0"/>
              </a:rPr>
              <a:t>stdio.h</a:t>
            </a:r>
            <a:r>
              <a:rPr lang="en-US" altLang="en-US" b="0" dirty="0">
                <a:latin typeface="Courier New" panose="02070309020205020404" pitchFamily="49" charset="0"/>
              </a:rPr>
              <a:t>&gt;</a:t>
            </a:r>
          </a:p>
          <a:p>
            <a:pPr algn="l"/>
            <a:endParaRPr lang="en-US" altLang="en-US" b="0" dirty="0">
              <a:latin typeface="Courier New" panose="02070309020205020404" pitchFamily="49" charset="0"/>
            </a:endParaRPr>
          </a:p>
          <a:p>
            <a:pPr algn="l"/>
            <a:r>
              <a:rPr lang="en-US" altLang="en-US" b="0" dirty="0">
                <a:latin typeface="Courier New" panose="02070309020205020404" pitchFamily="49" charset="0"/>
              </a:rPr>
              <a:t>void </a:t>
            </a:r>
            <a:r>
              <a:rPr lang="en-US" altLang="en-US" b="0" dirty="0" err="1">
                <a:latin typeface="Courier New" panose="02070309020205020404" pitchFamily="49" charset="0"/>
              </a:rPr>
              <a:t>printMessage</a:t>
            </a:r>
            <a:r>
              <a:rPr lang="en-US" altLang="en-US" b="0" dirty="0">
                <a:latin typeface="Courier New" panose="02070309020205020404" pitchFamily="49" charset="0"/>
              </a:rPr>
              <a:t> (void) ;</a:t>
            </a:r>
          </a:p>
          <a:p>
            <a:pPr algn="l"/>
            <a:endParaRPr lang="en-US" altLang="en-US" b="0" dirty="0">
              <a:latin typeface="Courier New" panose="02070309020205020404" pitchFamily="49" charset="0"/>
            </a:endParaRPr>
          </a:p>
          <a:p>
            <a:pPr algn="l"/>
            <a:endParaRPr lang="en-US" altLang="en-US" b="0" dirty="0">
              <a:latin typeface="Courier New" panose="02070309020205020404" pitchFamily="49" charset="0"/>
            </a:endParaRPr>
          </a:p>
          <a:p>
            <a:pPr algn="l"/>
            <a:r>
              <a:rPr lang="en-US" altLang="en-US" b="0" dirty="0" err="1">
                <a:latin typeface="Courier New" panose="02070309020205020404" pitchFamily="49" charset="0"/>
              </a:rPr>
              <a:t>int</a:t>
            </a:r>
            <a:r>
              <a:rPr lang="en-US" altLang="en-US" b="0" dirty="0">
                <a:latin typeface="Courier New" panose="02070309020205020404" pitchFamily="49" charset="0"/>
              </a:rPr>
              <a:t> main (void)</a:t>
            </a:r>
          </a:p>
          <a:p>
            <a:pPr algn="l"/>
            <a:r>
              <a:rPr lang="en-US" altLang="en-US" b="0" dirty="0">
                <a:latin typeface="Courier New" panose="02070309020205020404" pitchFamily="49" charset="0"/>
              </a:rPr>
              <a:t>{</a:t>
            </a:r>
          </a:p>
          <a:p>
            <a:pPr algn="l"/>
            <a:r>
              <a:rPr lang="en-US" altLang="en-US" b="0" dirty="0">
                <a:latin typeface="Courier New" panose="02070309020205020404" pitchFamily="49" charset="0"/>
              </a:rPr>
              <a:t>	</a:t>
            </a:r>
            <a:r>
              <a:rPr lang="en-US" altLang="en-US" b="0" dirty="0" err="1">
                <a:latin typeface="Courier New" panose="02070309020205020404" pitchFamily="49" charset="0"/>
              </a:rPr>
              <a:t>printMessage</a:t>
            </a:r>
            <a:r>
              <a:rPr lang="en-US" altLang="en-US" b="0" dirty="0">
                <a:latin typeface="Courier New" panose="02070309020205020404" pitchFamily="49" charset="0"/>
              </a:rPr>
              <a:t> (); </a:t>
            </a:r>
          </a:p>
          <a:p>
            <a:pPr algn="l"/>
            <a:r>
              <a:rPr lang="en-US" altLang="en-US" b="0" dirty="0">
                <a:latin typeface="Courier New" panose="02070309020205020404" pitchFamily="49" charset="0"/>
              </a:rPr>
              <a:t>	</a:t>
            </a:r>
            <a:r>
              <a:rPr lang="en-US" altLang="en-US" b="0" dirty="0" err="1">
                <a:latin typeface="Courier New" panose="02070309020205020404" pitchFamily="49" charset="0"/>
              </a:rPr>
              <a:t>printMessage</a:t>
            </a:r>
            <a:r>
              <a:rPr lang="en-US" altLang="en-US" b="0" dirty="0">
                <a:latin typeface="Courier New" panose="02070309020205020404" pitchFamily="49" charset="0"/>
              </a:rPr>
              <a:t> ();</a:t>
            </a:r>
          </a:p>
          <a:p>
            <a:pPr algn="l"/>
            <a:r>
              <a:rPr lang="en-US" altLang="en-US" b="0" dirty="0">
                <a:latin typeface="Courier New" panose="02070309020205020404" pitchFamily="49" charset="0"/>
              </a:rPr>
              <a:t>	return 0;</a:t>
            </a:r>
          </a:p>
          <a:p>
            <a:pPr algn="l"/>
            <a:r>
              <a:rPr lang="en-US" altLang="en-US" b="0" dirty="0">
                <a:latin typeface="Courier New" panose="02070309020205020404" pitchFamily="49" charset="0"/>
              </a:rPr>
              <a:t>}</a:t>
            </a:r>
          </a:p>
          <a:p>
            <a:pPr algn="l"/>
            <a:endParaRPr lang="en-US" altLang="en-US" b="0" dirty="0">
              <a:latin typeface="Courier New" panose="02070309020205020404" pitchFamily="49" charset="0"/>
            </a:endParaRPr>
          </a:p>
          <a:p>
            <a:pPr algn="l"/>
            <a:r>
              <a:rPr lang="en-US" altLang="en-US" b="0" dirty="0">
                <a:latin typeface="Courier New" panose="02070309020205020404" pitchFamily="49" charset="0"/>
              </a:rPr>
              <a:t>void </a:t>
            </a:r>
            <a:r>
              <a:rPr lang="en-US" altLang="en-US" b="0" dirty="0" err="1">
                <a:latin typeface="Courier New" panose="02070309020205020404" pitchFamily="49" charset="0"/>
              </a:rPr>
              <a:t>printMessage</a:t>
            </a:r>
            <a:r>
              <a:rPr lang="en-US" altLang="en-US" b="0" dirty="0">
                <a:latin typeface="Courier New" panose="02070309020205020404" pitchFamily="49" charset="0"/>
              </a:rPr>
              <a:t> (void)</a:t>
            </a:r>
          </a:p>
          <a:p>
            <a:pPr algn="l"/>
            <a:r>
              <a:rPr lang="en-US" altLang="en-US" b="0" dirty="0">
                <a:latin typeface="Courier New" panose="02070309020205020404" pitchFamily="49" charset="0"/>
              </a:rPr>
              <a:t>{</a:t>
            </a:r>
          </a:p>
          <a:p>
            <a:pPr algn="l"/>
            <a:r>
              <a:rPr lang="en-US" altLang="en-US" b="0" dirty="0">
                <a:latin typeface="Courier New" panose="02070309020205020404" pitchFamily="49" charset="0"/>
              </a:rPr>
              <a:t>	</a:t>
            </a:r>
            <a:r>
              <a:rPr lang="en-US" altLang="en-US" b="0" dirty="0" err="1">
                <a:latin typeface="Courier New" panose="02070309020205020404" pitchFamily="49" charset="0"/>
              </a:rPr>
              <a:t>printf</a:t>
            </a:r>
            <a:r>
              <a:rPr lang="en-US" altLang="en-US" b="0" dirty="0">
                <a:latin typeface="Courier New" panose="02070309020205020404" pitchFamily="49" charset="0"/>
              </a:rPr>
              <a:t> ("Programming is fun.\n");</a:t>
            </a:r>
          </a:p>
          <a:p>
            <a:pPr algn="l"/>
            <a:r>
              <a:rPr lang="en-US" altLang="en-US" b="0" dirty="0">
                <a:latin typeface="Courier New" panose="02070309020205020404" pitchFamily="49" charset="0"/>
              </a:rPr>
              <a:t>}</a:t>
            </a:r>
          </a:p>
          <a:p>
            <a:pPr algn="l"/>
            <a:endParaRPr lang="en-US" altLang="en-US" b="0" dirty="0">
              <a:latin typeface="Courier New" panose="02070309020205020404" pitchFamily="49" charset="0"/>
            </a:endParaRPr>
          </a:p>
          <a:p>
            <a:pPr algn="l"/>
            <a:endParaRPr lang="en-US" altLang="en-US" b="0" dirty="0">
              <a:latin typeface="Courier New" panose="02070309020205020404" pitchFamily="49" charset="0"/>
            </a:endParaRPr>
          </a:p>
        </p:txBody>
      </p:sp>
      <p:sp>
        <p:nvSpPr>
          <p:cNvPr id="110598" name="AutoShape 6"/>
          <p:cNvSpPr>
            <a:spLocks noChangeArrowheads="1"/>
          </p:cNvSpPr>
          <p:nvPr/>
        </p:nvSpPr>
        <p:spPr bwMode="auto">
          <a:xfrm>
            <a:off x="691952" y="4401344"/>
            <a:ext cx="5867400" cy="1447800"/>
          </a:xfrm>
          <a:prstGeom prst="roundRect">
            <a:avLst>
              <a:gd name="adj" fmla="val 16667"/>
            </a:avLst>
          </a:prstGeom>
          <a:noFill/>
          <a:ln w="158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0599" name="AutoShape 7"/>
          <p:cNvSpPr>
            <a:spLocks noChangeArrowheads="1"/>
          </p:cNvSpPr>
          <p:nvPr/>
        </p:nvSpPr>
        <p:spPr bwMode="auto">
          <a:xfrm>
            <a:off x="539552" y="1658144"/>
            <a:ext cx="4572000" cy="381000"/>
          </a:xfrm>
          <a:prstGeom prst="roundRect">
            <a:avLst>
              <a:gd name="adj" fmla="val 16667"/>
            </a:avLst>
          </a:prstGeom>
          <a:noFill/>
          <a:ln w="158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0600" name="AutoShape 8"/>
          <p:cNvSpPr>
            <a:spLocks noChangeArrowheads="1"/>
          </p:cNvSpPr>
          <p:nvPr/>
        </p:nvSpPr>
        <p:spPr bwMode="auto">
          <a:xfrm>
            <a:off x="539552" y="3029744"/>
            <a:ext cx="4572000" cy="381000"/>
          </a:xfrm>
          <a:prstGeom prst="roundRect">
            <a:avLst>
              <a:gd name="adj" fmla="val 16667"/>
            </a:avLst>
          </a:prstGeom>
          <a:noFill/>
          <a:ln w="158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0601" name="AutoShape 9"/>
          <p:cNvSpPr>
            <a:spLocks noChangeArrowheads="1"/>
          </p:cNvSpPr>
          <p:nvPr/>
        </p:nvSpPr>
        <p:spPr bwMode="auto">
          <a:xfrm>
            <a:off x="539552" y="3410744"/>
            <a:ext cx="4572000" cy="304800"/>
          </a:xfrm>
          <a:prstGeom prst="roundRect">
            <a:avLst>
              <a:gd name="adj" fmla="val 16667"/>
            </a:avLst>
          </a:prstGeom>
          <a:noFill/>
          <a:ln w="158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0602" name="Text Box 10"/>
          <p:cNvSpPr txBox="1">
            <a:spLocks noChangeArrowheads="1"/>
          </p:cNvSpPr>
          <p:nvPr/>
        </p:nvSpPr>
        <p:spPr bwMode="auto">
          <a:xfrm>
            <a:off x="5248077" y="1542257"/>
            <a:ext cx="3943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i="1" dirty="0"/>
              <a:t>Function declaration (prototype)</a:t>
            </a:r>
          </a:p>
          <a:p>
            <a:pPr algn="l"/>
            <a:r>
              <a:rPr lang="en-US" altLang="en-US" b="0" i="1" dirty="0"/>
              <a:t>(has to be before the calling function)</a:t>
            </a:r>
          </a:p>
        </p:txBody>
      </p:sp>
      <p:sp>
        <p:nvSpPr>
          <p:cNvPr id="110603" name="Text Box 11"/>
          <p:cNvSpPr txBox="1">
            <a:spLocks noChangeArrowheads="1"/>
          </p:cNvSpPr>
          <p:nvPr/>
        </p:nvSpPr>
        <p:spPr bwMode="auto">
          <a:xfrm>
            <a:off x="5263952" y="3044032"/>
            <a:ext cx="1784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i="1" dirty="0"/>
              <a:t>Function  calls</a:t>
            </a:r>
          </a:p>
        </p:txBody>
      </p:sp>
      <p:sp>
        <p:nvSpPr>
          <p:cNvPr id="110604" name="Text Box 12"/>
          <p:cNvSpPr txBox="1">
            <a:spLocks noChangeArrowheads="1"/>
          </p:cNvSpPr>
          <p:nvPr/>
        </p:nvSpPr>
        <p:spPr bwMode="auto">
          <a:xfrm>
            <a:off x="6489502" y="4629944"/>
            <a:ext cx="205697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i="1" dirty="0"/>
              <a:t>Function definition</a:t>
            </a:r>
          </a:p>
          <a:p>
            <a:pPr algn="l"/>
            <a:r>
              <a:rPr lang="en-US" altLang="en-US" b="0" i="1" dirty="0"/>
              <a:t>(can be after the </a:t>
            </a:r>
          </a:p>
          <a:p>
            <a:pPr algn="l"/>
            <a:r>
              <a:rPr lang="en-US" altLang="en-US" b="0" i="1" dirty="0"/>
              <a:t>calling function)</a:t>
            </a:r>
          </a:p>
        </p:txBody>
      </p:sp>
      <p:sp>
        <p:nvSpPr>
          <p:cNvPr id="110605" name="Freeform 13"/>
          <p:cNvSpPr>
            <a:spLocks/>
          </p:cNvSpPr>
          <p:nvPr/>
        </p:nvSpPr>
        <p:spPr bwMode="auto">
          <a:xfrm>
            <a:off x="4125715" y="1537494"/>
            <a:ext cx="376237" cy="552450"/>
          </a:xfrm>
          <a:custGeom>
            <a:avLst/>
            <a:gdLst>
              <a:gd name="T0" fmla="*/ 119 w 237"/>
              <a:gd name="T1" fmla="*/ 0 h 348"/>
              <a:gd name="T2" fmla="*/ 237 w 237"/>
              <a:gd name="T3" fmla="*/ 229 h 348"/>
              <a:gd name="T4" fmla="*/ 229 w 237"/>
              <a:gd name="T5" fmla="*/ 284 h 348"/>
              <a:gd name="T6" fmla="*/ 205 w 237"/>
              <a:gd name="T7" fmla="*/ 292 h 348"/>
              <a:gd name="T8" fmla="*/ 127 w 237"/>
              <a:gd name="T9" fmla="*/ 316 h 348"/>
              <a:gd name="T10" fmla="*/ 79 w 237"/>
              <a:gd name="T11" fmla="*/ 348 h 348"/>
              <a:gd name="T12" fmla="*/ 16 w 237"/>
              <a:gd name="T13" fmla="*/ 316 h 348"/>
              <a:gd name="T14" fmla="*/ 0 w 237"/>
              <a:gd name="T15" fmla="*/ 269 h 348"/>
              <a:gd name="T16" fmla="*/ 8 w 237"/>
              <a:gd name="T17" fmla="*/ 79 h 348"/>
              <a:gd name="T18" fmla="*/ 111 w 237"/>
              <a:gd name="T19" fmla="*/ 32 h 348"/>
              <a:gd name="T20" fmla="*/ 119 w 237"/>
              <a:gd name="T21" fmla="*/ 0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7" h="348">
                <a:moveTo>
                  <a:pt x="119" y="0"/>
                </a:moveTo>
                <a:cubicBezTo>
                  <a:pt x="194" y="52"/>
                  <a:pt x="219" y="143"/>
                  <a:pt x="237" y="229"/>
                </a:cubicBezTo>
                <a:cubicBezTo>
                  <a:pt x="234" y="247"/>
                  <a:pt x="237" y="267"/>
                  <a:pt x="229" y="284"/>
                </a:cubicBezTo>
                <a:cubicBezTo>
                  <a:pt x="225" y="292"/>
                  <a:pt x="213" y="290"/>
                  <a:pt x="205" y="292"/>
                </a:cubicBezTo>
                <a:cubicBezTo>
                  <a:pt x="186" y="298"/>
                  <a:pt x="141" y="307"/>
                  <a:pt x="127" y="316"/>
                </a:cubicBezTo>
                <a:cubicBezTo>
                  <a:pt x="111" y="327"/>
                  <a:pt x="79" y="348"/>
                  <a:pt x="79" y="348"/>
                </a:cubicBezTo>
                <a:cubicBezTo>
                  <a:pt x="48" y="342"/>
                  <a:pt x="33" y="346"/>
                  <a:pt x="16" y="316"/>
                </a:cubicBezTo>
                <a:cubicBezTo>
                  <a:pt x="8" y="302"/>
                  <a:pt x="0" y="269"/>
                  <a:pt x="0" y="269"/>
                </a:cubicBezTo>
                <a:cubicBezTo>
                  <a:pt x="3" y="206"/>
                  <a:pt x="1" y="142"/>
                  <a:pt x="8" y="79"/>
                </a:cubicBezTo>
                <a:cubicBezTo>
                  <a:pt x="13" y="30"/>
                  <a:pt x="88" y="46"/>
                  <a:pt x="111" y="32"/>
                </a:cubicBezTo>
                <a:cubicBezTo>
                  <a:pt x="120" y="26"/>
                  <a:pt x="116" y="11"/>
                  <a:pt x="119" y="0"/>
                </a:cubicBezTo>
                <a:close/>
              </a:path>
            </a:pathLst>
          </a:custGeom>
          <a:noFill/>
          <a:ln w="22225">
            <a:solidFill>
              <a:srgbClr val="3399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Tree>
    <p:extLst>
      <p:ext uri="{BB962C8B-B14F-4D97-AF65-F5344CB8AC3E}">
        <p14:creationId xmlns:p14="http://schemas.microsoft.com/office/powerpoint/2010/main" val="414946774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r>
              <a:rPr lang="en-US" altLang="en-US"/>
              <a:t>Global variables</a:t>
            </a:r>
          </a:p>
        </p:txBody>
      </p:sp>
      <p:sp>
        <p:nvSpPr>
          <p:cNvPr id="117763" name="Rectangle 3"/>
          <p:cNvSpPr>
            <a:spLocks noGrp="1" noChangeArrowheads="1"/>
          </p:cNvSpPr>
          <p:nvPr>
            <p:ph type="body" idx="1"/>
          </p:nvPr>
        </p:nvSpPr>
        <p:spPr/>
        <p:txBody>
          <a:bodyPr/>
          <a:lstStyle/>
          <a:p>
            <a:pPr>
              <a:lnSpc>
                <a:spcPct val="95000"/>
              </a:lnSpc>
            </a:pPr>
            <a:r>
              <a:rPr lang="en-US" altLang="en-US" sz="2000"/>
              <a:t>A </a:t>
            </a:r>
            <a:r>
              <a:rPr lang="en-US" altLang="en-US" sz="2000" b="1" i="1">
                <a:solidFill>
                  <a:srgbClr val="FF3399"/>
                </a:solidFill>
              </a:rPr>
              <a:t>global variable</a:t>
            </a:r>
            <a:r>
              <a:rPr lang="en-US" altLang="en-US" sz="2000"/>
              <a:t> declaration is made </a:t>
            </a:r>
            <a:r>
              <a:rPr lang="en-US" altLang="en-US" sz="2000" i="1"/>
              <a:t>outside </a:t>
            </a:r>
            <a:r>
              <a:rPr lang="en-US" altLang="en-US" sz="2000"/>
              <a:t>of any function. </a:t>
            </a:r>
          </a:p>
          <a:p>
            <a:pPr>
              <a:lnSpc>
                <a:spcPct val="95000"/>
              </a:lnSpc>
            </a:pPr>
            <a:r>
              <a:rPr lang="en-US" altLang="en-US" sz="2000"/>
              <a:t>It does not belong to any particular function. </a:t>
            </a:r>
            <a:r>
              <a:rPr lang="en-US" altLang="en-US" sz="2000" i="1"/>
              <a:t>Any </a:t>
            </a:r>
            <a:r>
              <a:rPr lang="en-US" altLang="en-US" sz="2000"/>
              <a:t>function in the program can then access the value of that variable and can change its value.</a:t>
            </a:r>
          </a:p>
          <a:p>
            <a:pPr>
              <a:lnSpc>
                <a:spcPct val="95000"/>
              </a:lnSpc>
            </a:pPr>
            <a:r>
              <a:rPr lang="en-US" altLang="en-US" sz="2000"/>
              <a:t>The primary use of global variables is in programs in which many functions must access the value of the same variable. Rather than having to pass the value of the variable to each individual function as an argument, the function can explicitly reference the variable instead.</a:t>
            </a:r>
          </a:p>
          <a:p>
            <a:pPr>
              <a:lnSpc>
                <a:spcPct val="95000"/>
              </a:lnSpc>
            </a:pPr>
            <a:r>
              <a:rPr lang="en-US" altLang="en-US" sz="2000"/>
              <a:t>There is a </a:t>
            </a:r>
            <a:r>
              <a:rPr lang="en-US" altLang="en-US" sz="2000" b="1"/>
              <a:t>drawback</a:t>
            </a:r>
            <a:r>
              <a:rPr lang="en-US" altLang="en-US" sz="2000"/>
              <a:t> with this approach:  Because the function explicitly  references a particular global variable, the generality of the function is somewhat reduced !</a:t>
            </a:r>
          </a:p>
          <a:p>
            <a:pPr>
              <a:lnSpc>
                <a:spcPct val="95000"/>
              </a:lnSpc>
            </a:pPr>
            <a:r>
              <a:rPr lang="en-US" altLang="en-US" sz="2000"/>
              <a:t>Global variables do have </a:t>
            </a:r>
            <a:r>
              <a:rPr lang="en-US" altLang="en-US" sz="2000" b="1"/>
              <a:t>default initial values: zero</a:t>
            </a:r>
          </a:p>
        </p:txBody>
      </p:sp>
    </p:spTree>
    <p:extLst>
      <p:ext uri="{BB962C8B-B14F-4D97-AF65-F5344CB8AC3E}">
        <p14:creationId xmlns:p14="http://schemas.microsoft.com/office/powerpoint/2010/main" val="139699200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r>
              <a:rPr lang="en-US" altLang="en-US"/>
              <a:t>Example: global variables</a:t>
            </a:r>
          </a:p>
        </p:txBody>
      </p:sp>
      <p:sp>
        <p:nvSpPr>
          <p:cNvPr id="122884" name="Text Box 4"/>
          <p:cNvSpPr txBox="1">
            <a:spLocks noChangeArrowheads="1"/>
          </p:cNvSpPr>
          <p:nvPr/>
        </p:nvSpPr>
        <p:spPr bwMode="auto">
          <a:xfrm>
            <a:off x="1475656" y="1052736"/>
            <a:ext cx="3829050" cy="503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b="0" dirty="0">
                <a:latin typeface="Courier New" panose="02070309020205020404" pitchFamily="49" charset="0"/>
              </a:rPr>
              <a:t>#include &lt;</a:t>
            </a:r>
            <a:r>
              <a:rPr lang="en-US" altLang="en-US" b="0" dirty="0" err="1">
                <a:latin typeface="Courier New" panose="02070309020205020404" pitchFamily="49" charset="0"/>
              </a:rPr>
              <a:t>stdio.h</a:t>
            </a:r>
            <a:r>
              <a:rPr lang="en-US" altLang="en-US" b="0" dirty="0">
                <a:latin typeface="Courier New" panose="02070309020205020404" pitchFamily="49" charset="0"/>
              </a:rPr>
              <a:t>&gt;</a:t>
            </a:r>
          </a:p>
          <a:p>
            <a:pPr algn="l"/>
            <a:endParaRPr lang="en-US" altLang="en-US" b="0" dirty="0">
              <a:latin typeface="Courier New" panose="02070309020205020404" pitchFamily="49" charset="0"/>
            </a:endParaRPr>
          </a:p>
          <a:p>
            <a:pPr algn="l"/>
            <a:r>
              <a:rPr lang="en-US" altLang="en-US" b="0" dirty="0" err="1">
                <a:latin typeface="Courier New" panose="02070309020205020404" pitchFamily="49" charset="0"/>
              </a:rPr>
              <a:t>int</a:t>
            </a:r>
            <a:r>
              <a:rPr lang="en-US" altLang="en-US" b="0" dirty="0">
                <a:latin typeface="Courier New" panose="02070309020205020404" pitchFamily="49" charset="0"/>
              </a:rPr>
              <a:t> x;</a:t>
            </a:r>
          </a:p>
          <a:p>
            <a:pPr algn="l"/>
            <a:endParaRPr lang="en-US" altLang="en-US" b="0" dirty="0">
              <a:latin typeface="Courier New" panose="02070309020205020404" pitchFamily="49" charset="0"/>
            </a:endParaRPr>
          </a:p>
          <a:p>
            <a:pPr algn="l"/>
            <a:r>
              <a:rPr lang="en-US" altLang="en-US" b="0" dirty="0">
                <a:latin typeface="Courier New" panose="02070309020205020404" pitchFamily="49" charset="0"/>
              </a:rPr>
              <a:t>void f1 (void) {</a:t>
            </a:r>
          </a:p>
          <a:p>
            <a:pPr algn="l"/>
            <a:r>
              <a:rPr lang="en-US" altLang="en-US" b="0" dirty="0">
                <a:latin typeface="Courier New" panose="02070309020205020404" pitchFamily="49" charset="0"/>
              </a:rPr>
              <a:t>	x++;</a:t>
            </a:r>
          </a:p>
          <a:p>
            <a:pPr algn="l"/>
            <a:r>
              <a:rPr lang="en-US" altLang="en-US" b="0" dirty="0">
                <a:latin typeface="Courier New" panose="02070309020205020404" pitchFamily="49" charset="0"/>
              </a:rPr>
              <a:t>}</a:t>
            </a:r>
          </a:p>
          <a:p>
            <a:pPr algn="l"/>
            <a:endParaRPr lang="en-US" altLang="en-US" b="0" dirty="0">
              <a:latin typeface="Courier New" panose="02070309020205020404" pitchFamily="49" charset="0"/>
            </a:endParaRPr>
          </a:p>
          <a:p>
            <a:pPr algn="l"/>
            <a:r>
              <a:rPr lang="en-US" altLang="en-US" b="0" dirty="0">
                <a:latin typeface="Courier New" panose="02070309020205020404" pitchFamily="49" charset="0"/>
              </a:rPr>
              <a:t>void f2 (void) {</a:t>
            </a:r>
          </a:p>
          <a:p>
            <a:pPr algn="l"/>
            <a:r>
              <a:rPr lang="en-US" altLang="en-US" b="0" dirty="0">
                <a:latin typeface="Courier New" panose="02070309020205020404" pitchFamily="49" charset="0"/>
              </a:rPr>
              <a:t>	x++;</a:t>
            </a:r>
          </a:p>
          <a:p>
            <a:pPr algn="l"/>
            <a:r>
              <a:rPr lang="en-US" altLang="en-US" b="0" dirty="0">
                <a:latin typeface="Courier New" panose="02070309020205020404" pitchFamily="49" charset="0"/>
              </a:rPr>
              <a:t>}</a:t>
            </a:r>
          </a:p>
          <a:p>
            <a:pPr algn="l"/>
            <a:endParaRPr lang="en-US" altLang="en-US" b="0" dirty="0">
              <a:latin typeface="Courier New" panose="02070309020205020404" pitchFamily="49" charset="0"/>
            </a:endParaRPr>
          </a:p>
          <a:p>
            <a:pPr algn="l"/>
            <a:r>
              <a:rPr lang="en-US" altLang="en-US" b="0" dirty="0" err="1">
                <a:latin typeface="Courier New" panose="02070309020205020404" pitchFamily="49" charset="0"/>
              </a:rPr>
              <a:t>int</a:t>
            </a:r>
            <a:r>
              <a:rPr lang="en-US" altLang="en-US" b="0" dirty="0">
                <a:latin typeface="Courier New" panose="02070309020205020404" pitchFamily="49" charset="0"/>
              </a:rPr>
              <a:t> main(void) {</a:t>
            </a:r>
          </a:p>
          <a:p>
            <a:pPr algn="l"/>
            <a:r>
              <a:rPr lang="en-US" altLang="en-US" b="0" dirty="0">
                <a:latin typeface="Courier New" panose="02070309020205020404" pitchFamily="49" charset="0"/>
              </a:rPr>
              <a:t>	x=7;</a:t>
            </a:r>
          </a:p>
          <a:p>
            <a:pPr algn="l"/>
            <a:r>
              <a:rPr lang="en-US" altLang="en-US" b="0" dirty="0">
                <a:latin typeface="Courier New" panose="02070309020205020404" pitchFamily="49" charset="0"/>
              </a:rPr>
              <a:t>	f1();</a:t>
            </a:r>
          </a:p>
          <a:p>
            <a:pPr algn="l"/>
            <a:r>
              <a:rPr lang="en-US" altLang="en-US" b="0" dirty="0">
                <a:latin typeface="Courier New" panose="02070309020205020404" pitchFamily="49" charset="0"/>
              </a:rPr>
              <a:t>	f2();</a:t>
            </a:r>
          </a:p>
          <a:p>
            <a:pPr algn="l"/>
            <a:r>
              <a:rPr lang="en-US" altLang="en-US" b="0" dirty="0">
                <a:latin typeface="Courier New" panose="02070309020205020404" pitchFamily="49" charset="0"/>
              </a:rPr>
              <a:t>	</a:t>
            </a:r>
            <a:r>
              <a:rPr lang="en-US" altLang="en-US" b="0" dirty="0" err="1">
                <a:latin typeface="Courier New" panose="02070309020205020404" pitchFamily="49" charset="0"/>
              </a:rPr>
              <a:t>printf</a:t>
            </a:r>
            <a:r>
              <a:rPr lang="en-US" altLang="en-US" b="0" dirty="0">
                <a:latin typeface="Courier New" panose="02070309020205020404" pitchFamily="49" charset="0"/>
              </a:rPr>
              <a:t>(“x=%</a:t>
            </a:r>
            <a:r>
              <a:rPr lang="en-US" altLang="en-US" b="0" dirty="0" err="1">
                <a:latin typeface="Courier New" panose="02070309020205020404" pitchFamily="49" charset="0"/>
              </a:rPr>
              <a:t>i</a:t>
            </a:r>
            <a:r>
              <a:rPr lang="en-US" altLang="en-US" b="0" dirty="0">
                <a:latin typeface="Courier New" panose="02070309020205020404" pitchFamily="49" charset="0"/>
              </a:rPr>
              <a:t> \</a:t>
            </a:r>
            <a:r>
              <a:rPr lang="en-US" altLang="en-US" b="0" dirty="0" err="1">
                <a:latin typeface="Courier New" panose="02070309020205020404" pitchFamily="49" charset="0"/>
              </a:rPr>
              <a:t>n”,x</a:t>
            </a:r>
            <a:r>
              <a:rPr lang="en-US" altLang="en-US" b="0" dirty="0">
                <a:latin typeface="Courier New" panose="02070309020205020404" pitchFamily="49" charset="0"/>
              </a:rPr>
              <a:t>);</a:t>
            </a:r>
          </a:p>
          <a:p>
            <a:pPr algn="l"/>
            <a:r>
              <a:rPr lang="en-US" altLang="en-US" b="0" dirty="0">
                <a:latin typeface="Courier New" panose="02070309020205020404" pitchFamily="49" charset="0"/>
              </a:rPr>
              <a:t>}</a:t>
            </a:r>
          </a:p>
        </p:txBody>
      </p:sp>
    </p:spTree>
    <p:extLst>
      <p:ext uri="{BB962C8B-B14F-4D97-AF65-F5344CB8AC3E}">
        <p14:creationId xmlns:p14="http://schemas.microsoft.com/office/powerpoint/2010/main" val="668387104"/>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76CA9145-A3C4-4022-B990-A03E3B455E3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12377</TotalTime>
  <Words>1620</Words>
  <Application>Microsoft Office PowerPoint</Application>
  <PresentationFormat>On-screen Show (4:3)</PresentationFormat>
  <Paragraphs>321</Paragraphs>
  <Slides>23</Slides>
  <Notes>0</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23</vt:i4>
      </vt:variant>
    </vt:vector>
  </HeadingPairs>
  <TitlesOfParts>
    <vt:vector size="29" baseType="lpstr">
      <vt:lpstr>Arial</vt:lpstr>
      <vt:lpstr>Calibri</vt:lpstr>
      <vt:lpstr>Courier New</vt:lpstr>
      <vt:lpstr>Default Design</vt:lpstr>
      <vt:lpstr>1_Custom Design</vt:lpstr>
      <vt:lpstr>2_Custom Design</vt:lpstr>
      <vt:lpstr>CSI 121: Structured Programming Language Simple Functions Salekul Islam United International University</vt:lpstr>
      <vt:lpstr>Outline</vt:lpstr>
      <vt:lpstr>What is a function</vt:lpstr>
      <vt:lpstr>Defining a function</vt:lpstr>
      <vt:lpstr>Transfer of control flow</vt:lpstr>
      <vt:lpstr>Function definitions</vt:lpstr>
      <vt:lpstr>Function prototype</vt:lpstr>
      <vt:lpstr>Function arguments</vt:lpstr>
      <vt:lpstr>Example: arguments</vt:lpstr>
      <vt:lpstr>Arguments and local variables</vt:lpstr>
      <vt:lpstr>Automatic local variables</vt:lpstr>
      <vt:lpstr>Example: scope of local variables </vt:lpstr>
      <vt:lpstr>Arguments are passed by copying values !</vt:lpstr>
      <vt:lpstr>Example: arguments</vt:lpstr>
      <vt:lpstr>Example: arguments are passed by copying values !</vt:lpstr>
      <vt:lpstr>Arguments by copying</vt:lpstr>
      <vt:lpstr>Returning function results</vt:lpstr>
      <vt:lpstr>Return example</vt:lpstr>
      <vt:lpstr>Example: function result</vt:lpstr>
      <vt:lpstr>Function declaration</vt:lpstr>
      <vt:lpstr>Example: function declaration</vt:lpstr>
      <vt:lpstr>Global variables</vt:lpstr>
      <vt:lpstr>Example: global variables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Crystal Winter</dc:title>
  <dc:creator>Salekul</dc:creator>
  <cp:lastModifiedBy>Salekul</cp:lastModifiedBy>
  <cp:revision>342</cp:revision>
  <dcterms:modified xsi:type="dcterms:W3CDTF">2015-04-08T18:29:35Z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TC025753819991</vt:lpwstr>
  </property>
</Properties>
</file>