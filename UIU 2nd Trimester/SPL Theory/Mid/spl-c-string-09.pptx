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5.xml" ContentType="application/vnd.openxmlformats-officedocument.theme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activeX/activeX1.xml" ContentType="application/vnd.ms-office.activeX+xml"/>
  <Default Extension="jpeg" ContentType="image/jpeg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Default Extension="gif" ContentType="image/gif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2"/>
    <p:sldMasterId id="2147483651" r:id="rId3"/>
    <p:sldMasterId id="2147483652" r:id="rId4"/>
  </p:sldMasterIdLst>
  <p:notesMasterIdLst>
    <p:notesMasterId r:id="rId27"/>
  </p:notesMasterIdLst>
  <p:handoutMasterIdLst>
    <p:handoutMasterId r:id="rId28"/>
  </p:handoutMasterIdLst>
  <p:sldIdLst>
    <p:sldId id="261" r:id="rId5"/>
    <p:sldId id="396" r:id="rId6"/>
    <p:sldId id="397" r:id="rId7"/>
    <p:sldId id="398" r:id="rId8"/>
    <p:sldId id="399" r:id="rId9"/>
    <p:sldId id="400" r:id="rId10"/>
    <p:sldId id="401" r:id="rId11"/>
    <p:sldId id="402" r:id="rId12"/>
    <p:sldId id="404" r:id="rId13"/>
    <p:sldId id="405" r:id="rId14"/>
    <p:sldId id="406" r:id="rId15"/>
    <p:sldId id="407" r:id="rId16"/>
    <p:sldId id="408" r:id="rId17"/>
    <p:sldId id="409" r:id="rId18"/>
    <p:sldId id="410" r:id="rId19"/>
    <p:sldId id="411" r:id="rId20"/>
    <p:sldId id="412" r:id="rId21"/>
    <p:sldId id="413" r:id="rId22"/>
    <p:sldId id="414" r:id="rId23"/>
    <p:sldId id="415" r:id="rId24"/>
    <p:sldId id="416" r:id="rId25"/>
    <p:sldId id="417" r:id="rId26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A2D1F1"/>
    <a:srgbClr val="292929"/>
    <a:srgbClr val="993300"/>
    <a:srgbClr val="006600"/>
    <a:srgbClr val="FFCC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 autoAdjust="0"/>
    <p:restoredTop sz="94667" autoAdjust="0"/>
  </p:normalViewPr>
  <p:slideViewPr>
    <p:cSldViewPr>
      <p:cViewPr varScale="1">
        <p:scale>
          <a:sx n="75" d="100"/>
          <a:sy n="75" d="100"/>
        </p:scale>
        <p:origin x="-93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-2598" y="-108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2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3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activeX/activeX1.xml><?xml version="1.0" encoding="utf-8"?>
<ax:ocx xmlns:ax="http://schemas.microsoft.com/office/2006/activeX" xmlns:r="http://schemas.openxmlformats.org/officeDocument/2006/relationships" ax:classid="{D27CDB6E-AE6D-11CF-96B8-444553540000}" ax:persistence="persistPropertyBag">
  <ax:ocxPr ax:name="_cx" ax:value="5080"/>
  <ax:ocxPr ax:name="_cy" ax:value="5080"/>
  <ax:ocxPr ax:name="FlashVars" ax:value=""/>
  <ax:ocxPr ax:name="Movie" ax:value=""/>
  <ax:ocxPr ax:name="Src" ax:value=""/>
  <ax:ocxPr ax:name="WMode" ax:value="Window"/>
  <ax:ocxPr ax:name="Play" ax:value="-1"/>
  <ax:ocxPr ax:name="Loop" ax:value="-1"/>
  <ax:ocxPr ax:name="Quality" ax:value="High"/>
  <ax:ocxPr ax:name="SAlign" ax:value=""/>
  <ax:ocxPr ax:name="Menu" ax:value="-1"/>
  <ax:ocxPr ax:name="Base" ax:value=""/>
  <ax:ocxPr ax:name="AllowScriptAccess" ax:value=""/>
  <ax:ocxPr ax:name="Scale" ax:value="ShowAll"/>
  <ax:ocxPr ax:name="DeviceFont" ax:value="0"/>
  <ax:ocxPr ax:name="EmbedMovie" ax:value="0"/>
  <ax:ocxPr ax:name="BGColor" ax:value=""/>
  <ax:ocxPr ax:name="SWRemote" ax:value=""/>
  <ax:ocxPr ax:name="MovieData" ax:value=""/>
  <ax:ocxPr ax:name="SeamlessTabbing" ax:value="1"/>
  <ax:ocxPr ax:name="Profile" ax:value="0"/>
  <ax:ocxPr ax:name="ProfileAddress" ax:value=""/>
  <ax:ocxPr ax:name="ProfilePort" ax:value="0"/>
  <ax:ocxPr ax:name="AllowNetworking" ax:value="all"/>
  <ax:ocxPr ax:name="AllowFullScreen" ax:value="false"/>
</ax:ocx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7D44D0C-B02A-4C62-A03B-23C0670E435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773403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36CE50-9E7D-4CDF-8C8F-3321AEA25267}" type="datetimeFigureOut">
              <a:rPr lang="en-US" smtClean="0"/>
              <a:pPr/>
              <a:t>4/11/2015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39459B-34B6-4CDA-B945-5A2462D19951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2677099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gi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990600" y="2797175"/>
            <a:ext cx="7239000" cy="1470025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noProof="0" dirty="0" smtClean="0"/>
              <a:t>Your 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52600" y="4267200"/>
            <a:ext cx="6019800" cy="1752600"/>
          </a:xfrm>
        </p:spPr>
        <p:txBody>
          <a:bodyPr/>
          <a:lstStyle>
            <a:lvl1pPr marL="0" indent="0">
              <a:buFontTx/>
              <a:buNone/>
              <a:defRPr sz="1400"/>
            </a:lvl1pPr>
          </a:lstStyle>
          <a:p>
            <a:pPr lvl="0"/>
            <a:r>
              <a:rPr lang="en-US" noProof="0" smtClean="0"/>
              <a:t>Sub Title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A75EE78C-35AD-4809-B0EF-2F30548A824A}" type="datetime5">
              <a:rPr lang="en-US" smtClean="0"/>
              <a:pPr/>
              <a:t>11-Apr-15</a:t>
            </a:fld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CSE 225: Digital Logic Design</a:t>
            </a:r>
            <a:endParaRPr lang="en-US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4B4629A1-273F-4E06-ACDC-D3805787C543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11" name="Picture 10" descr="800px-UIU_Campus_3582FAB2.jpg"/>
          <p:cNvPicPr>
            <a:picLocks noChangeAspect="1"/>
          </p:cNvPicPr>
          <p:nvPr userDrawn="1"/>
        </p:nvPicPr>
        <p:blipFill>
          <a:blip r:embed="rId3" cstate="print"/>
          <a:srcRect b="12509"/>
          <a:stretch>
            <a:fillRect/>
          </a:stretch>
        </p:blipFill>
        <p:spPr>
          <a:xfrm>
            <a:off x="4953000" y="0"/>
            <a:ext cx="4191000" cy="2438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 descr="UIU_Logo.gif"/>
          <p:cNvPicPr>
            <a:picLocks noChangeAspect="1"/>
          </p:cNvPicPr>
          <p:nvPr userDrawn="1"/>
        </p:nvPicPr>
        <p:blipFill>
          <a:blip r:embed="rId4" cstate="print"/>
          <a:srcRect r="3379"/>
          <a:stretch>
            <a:fillRect/>
          </a:stretch>
        </p:blipFill>
        <p:spPr>
          <a:xfrm>
            <a:off x="0" y="381000"/>
            <a:ext cx="4876799" cy="10063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93B0D4F-04A9-453B-B0A6-531991C794BD}" type="datetime5">
              <a:rPr lang="en-US" smtClean="0"/>
              <a:pPr/>
              <a:t>11-Apr-15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CSE 225: Digital Logic Design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A8121A-BC65-4240-8B49-A7031E02F99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2052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87B0EF3-DDE0-4548-A810-E5DE2D925974}" type="datetime5">
              <a:rPr lang="en-US" smtClean="0"/>
              <a:pPr/>
              <a:t>11-Apr-15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CSE 225: Digital Logic Design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6020CF-1514-496E-BC35-A2974E3467E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29854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295400"/>
            <a:ext cx="38481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95900" y="1295400"/>
            <a:ext cx="38481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2D091FA-F5FE-4D1F-A4A1-F545AF11A4AC}" type="datetime5">
              <a:rPr lang="en-US" smtClean="0"/>
              <a:pPr/>
              <a:t>11-Apr-15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CSE 225: Digital Logic Design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C6EE28-BF58-4997-98BA-7F06E3B9AD7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04555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1014E47-405C-4154-A0F4-A6EEC5EA70BA}" type="datetime5">
              <a:rPr lang="en-US" smtClean="0"/>
              <a:pPr/>
              <a:t>11-Apr-15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CSE 225: Digital Logic Design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94A99C-875E-4529-A60E-BCD06F1B8E1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66222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8B65AA0-FAE8-4438-84D9-5B7723565DBE}" type="datetime5">
              <a:rPr lang="en-US" smtClean="0"/>
              <a:pPr/>
              <a:t>11-Apr-15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CSE 225: Digital Logic Design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1796DF-E0FE-4E7A-9D2A-718C847D350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28890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73C3098-4D94-4BDF-9008-0523DE0BA4B9}" type="datetime5">
              <a:rPr lang="en-US" smtClean="0"/>
              <a:pPr/>
              <a:t>11-Apr-15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CSE 225: Digital Logic Design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D0AA0F-4CB8-41BA-B282-8EBF3BEB193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77980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196E36D-A6E8-4C11-A43D-355ED785C9F0}" type="datetime5">
              <a:rPr lang="en-US" smtClean="0"/>
              <a:pPr/>
              <a:t>11-Apr-15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CSE 225: Digital Logic Design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2EBD2E-2ED0-477B-8430-90466F94013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5708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52706C2-7D13-40C5-BEF6-8C1213806C70}" type="datetime5">
              <a:rPr lang="en-US" smtClean="0"/>
              <a:pPr/>
              <a:t>11-Apr-15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CSE 225: Digital Logic Design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971FB5-C5F6-4D05-BB8A-8A7E3DE8E00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59787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2DBE5AC-08E7-4B0C-83E4-6FEECE542350}" type="datetime5">
              <a:rPr lang="en-US" smtClean="0"/>
              <a:pPr/>
              <a:t>11-Apr-15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CSE 225: Digital Logic Design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CE48AE-F3F0-426D-94A9-C7CF15689FE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93213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381000"/>
            <a:ext cx="1962150" cy="6172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400" y="381000"/>
            <a:ext cx="5734050" cy="6172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42922B6-37D1-4AAD-B85C-D4767C0D0C98}" type="datetime5">
              <a:rPr lang="en-US" smtClean="0"/>
              <a:pPr/>
              <a:t>11-Apr-15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CSE 225: Digital Logic Design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383741-8A21-4434-937A-618F9D9BE92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237305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2E1C737-3614-4BBC-9DCF-DDB74A7C5AF9}" type="datetime5">
              <a:rPr lang="en-US" smtClean="0"/>
              <a:pPr/>
              <a:t>11-Apr-15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CSE 225: Digital Logic Design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BD332D-5F35-4D57-BE33-A3E062B219D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145059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304800"/>
            <a:ext cx="7328848" cy="60960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066800"/>
            <a:ext cx="7772400" cy="5029200"/>
          </a:xfrm>
        </p:spPr>
        <p:txBody>
          <a:bodyPr/>
          <a:lstStyle>
            <a:lvl1pPr>
              <a:buSzPct val="115000"/>
              <a:buFont typeface="Arial" pitchFamily="34" charset="0"/>
              <a:buChar char="•"/>
              <a:defRPr sz="2400"/>
            </a:lvl1pPr>
            <a:lvl2pPr>
              <a:buSzPct val="80000"/>
              <a:buFont typeface="Courier New" pitchFamily="49" charset="0"/>
              <a:buChar char="o"/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1896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C496562B-8786-4769-A4C9-F5F316D27C5E}" type="datetime5">
              <a:rPr lang="en-US" smtClean="0"/>
              <a:pPr/>
              <a:t>11-Apr-15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24600"/>
            <a:ext cx="3657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CSE 225: Digital Logic Design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63246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15CD6780-CDB5-4341-BE76-A36E52D8C54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975161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7ACDD07-EA10-415D-9526-07B4700A3967}" type="datetime5">
              <a:rPr lang="en-US" smtClean="0"/>
              <a:pPr/>
              <a:t>11-Apr-15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CSE 225: Digital Logic Design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A615FD-BD52-4B9B-BE83-317E843D90D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988878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265238"/>
            <a:ext cx="3638550" cy="42211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62550" y="1265238"/>
            <a:ext cx="3638550" cy="42211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FFB2A95-AFD3-472D-A317-C0D72E55E34E}" type="datetime5">
              <a:rPr lang="en-US" smtClean="0"/>
              <a:pPr/>
              <a:t>11-Apr-15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CSE 225: Digital Logic Design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DA3C12-3926-4EB4-B88B-CFFED6CCD50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427837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A3E21A1-3E2A-43FF-AF80-3E8A8C7199D5}" type="datetime5">
              <a:rPr lang="en-US" smtClean="0"/>
              <a:pPr/>
              <a:t>11-Apr-15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CSE 225: Digital Logic Design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F47421-0CDC-478E-A7CA-01DA3B1837F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049244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4E92149-7AC7-4794-AB42-3762BC5B38F7}" type="datetime5">
              <a:rPr lang="en-US" smtClean="0"/>
              <a:pPr/>
              <a:t>11-Apr-15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CSE 225: Digital Logic Design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500C6D-0BCF-4C30-982F-97586F9E641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556771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1BB12EA-6002-4B86-8696-DF9860CADDA1}" type="datetime5">
              <a:rPr lang="en-US" smtClean="0"/>
              <a:pPr/>
              <a:t>11-Apr-15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CSE 225: Digital Logic Design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CE49BA-5AA6-4557-AA0E-BB7E1350362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307925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3D3501B-E948-46FB-ACF6-697236CBF662}" type="datetime5">
              <a:rPr lang="en-US" smtClean="0"/>
              <a:pPr/>
              <a:t>11-Apr-15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CSE 225: Digital Logic Design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75D357-93F4-4CA6-9F27-64659B73E24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525382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B2EA741-CF20-4EE4-AEC9-091E61EAF560}" type="datetime5">
              <a:rPr lang="en-US" smtClean="0"/>
              <a:pPr/>
              <a:t>11-Apr-15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CSE 225: Digital Logic Design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E7CDFA-D5E7-4007-A74C-A6327031F82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892878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5B03394-8F23-4A3D-B78D-0C8BB768227E}" type="datetime5">
              <a:rPr lang="en-US" smtClean="0"/>
              <a:pPr/>
              <a:t>11-Apr-15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CSE 225: Digital Logic Design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138A0F-CAAE-4810-B698-E489650DF55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54639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43725" y="304800"/>
            <a:ext cx="1857375" cy="5181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304800"/>
            <a:ext cx="5419725" cy="5181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83002B-4904-4A4A-83EB-3C8B696DD87F}" type="datetime5">
              <a:rPr lang="en-US" smtClean="0"/>
              <a:pPr/>
              <a:t>11-Apr-15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CSE 225: Digital Logic Design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72A598-8ECE-4E7D-A8FF-D64CAB15701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664776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E2403C-36F8-4677-97DB-F41E1950E06F}" type="datetime5">
              <a:rPr lang="en-US" smtClean="0"/>
              <a:pPr/>
              <a:t>11-Apr-15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CSE 225: Digital Logic Design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63523B-164A-4974-895C-9D01DC8A9D2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48132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3CB7C2B-32CC-476F-A052-37E276BD8C63}" type="datetime5">
              <a:rPr lang="en-US" smtClean="0"/>
              <a:pPr/>
              <a:t>11-Apr-15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CSE 225: Digital Logic Design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F965A1-26AD-430E-9B51-C914CDF6369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337442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B319B46-836C-41F9-A279-147D69DCFA57}" type="datetime5">
              <a:rPr lang="en-US" smtClean="0"/>
              <a:pPr/>
              <a:t>11-Apr-15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CSE 225: Digital Logic Design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0E1D77-A370-4F8E-B650-88F5BB2C063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070144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295400"/>
            <a:ext cx="3562350" cy="42211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38750" y="1295400"/>
            <a:ext cx="3562350" cy="42211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C0DBAC-7109-4EC7-91F9-D9C64A2D47BA}" type="datetime5">
              <a:rPr lang="en-US" smtClean="0"/>
              <a:pPr/>
              <a:t>11-Apr-15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CSE 225: Digital Logic Design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DFCA12-3969-4A8B-A338-97F0776FC12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999832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ECDF8FE-9F05-488B-B802-72A934F9F64C}" type="datetime5">
              <a:rPr lang="en-US" smtClean="0"/>
              <a:pPr/>
              <a:t>11-Apr-15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CSE 225: Digital Logic Design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A57B6F-5ACE-4161-8153-A1A0C388F9D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376569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1CC4E7F-AF6C-48CC-9676-473E8FE77D8F}" type="datetime5">
              <a:rPr lang="en-US" smtClean="0"/>
              <a:pPr/>
              <a:t>11-Apr-15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CSE 225: Digital Logic Design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81F89E-158F-4393-AF3B-5A399655EA5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7813318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2F2E0E2-6AC4-411A-AFDC-14B6F9426ABC}" type="datetime5">
              <a:rPr lang="en-US" smtClean="0"/>
              <a:pPr/>
              <a:t>11-Apr-15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CSE 225: Digital Logic Design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714129-4A18-4E51-B258-4C5FA284E40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685445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429CD6D-B501-4BBE-821F-E90EFD9A0B42}" type="datetime5">
              <a:rPr lang="en-US" smtClean="0"/>
              <a:pPr/>
              <a:t>11-Apr-15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CSE 225: Digital Logic Design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927A20-7129-481E-AF6D-B62E8E0F2FB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892628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B238757-B99B-41C5-8FAC-75534CC7D4C8}" type="datetime5">
              <a:rPr lang="en-US" smtClean="0"/>
              <a:pPr/>
              <a:t>11-Apr-15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CSE 225: Digital Logic Design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8400C7-CDF5-4255-9DC6-E3589ADD025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996109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6A336D7-5721-4A79-AE5A-22AE9FC54946}" type="datetime5">
              <a:rPr lang="en-US" smtClean="0"/>
              <a:pPr/>
              <a:t>11-Apr-15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CSE 225: Digital Logic Design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69EAF3-2CB3-4C9C-9BDB-BDF22AA1DF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6100254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81825" y="304800"/>
            <a:ext cx="1819275" cy="5211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304800"/>
            <a:ext cx="5305425" cy="52117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0E8A2D3-F615-46D4-A616-6F8749879B91}" type="datetime5">
              <a:rPr lang="en-US" smtClean="0"/>
              <a:pPr/>
              <a:t>11-Apr-15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CSE 225: Digital Logic Design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DA548F-7792-41F3-89E2-5E25412E156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02354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control" Target="../activeX/activeX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6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2D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95400" y="381000"/>
            <a:ext cx="701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95400" y="1295400"/>
            <a:ext cx="7848600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82B08AF5-BFF6-4EC2-AED8-CBB85B2F2CDF}" type="datetime5">
              <a:rPr lang="en-US" smtClean="0"/>
              <a:pPr/>
              <a:t>11-Apr-15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r>
              <a:rPr lang="en-US" smtClean="0"/>
              <a:t>CSE 225: Digital Logic Design</a:t>
            </a: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F15CF9D-E97D-46B1-94CC-E4BB91AFD052}" type="slidenum">
              <a:rPr lang="en-US"/>
              <a:pPr/>
              <a:t>‹#›</a:t>
            </a:fld>
            <a:endParaRPr lang="en-US"/>
          </a:p>
        </p:txBody>
      </p:sp>
    </p:spTree>
    <p:controls>
      <p:control spid="1048" name="ShockwaveFlash2" r:id="rId14" imgW="1828800" imgH="1828800"/>
    </p:controls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rgbClr val="003399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400">
          <a:solidFill>
            <a:srgbClr val="003399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rgbClr val="003399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>
          <a:solidFill>
            <a:srgbClr val="003399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rgbClr val="003399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rgbClr val="003399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rgbClr val="003399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rgbClr val="003399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rgbClr val="003399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71600" y="304800"/>
            <a:ext cx="72390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1600" y="1265238"/>
            <a:ext cx="7429500" cy="4678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403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D089BFAE-4929-44E0-8ED2-642AE4406193}" type="datetime5">
              <a:rPr lang="en-US" smtClean="0"/>
              <a:pPr/>
              <a:t>11-Apr-15</a:t>
            </a:fld>
            <a:endParaRPr lang="en-US"/>
          </a:p>
        </p:txBody>
      </p:sp>
      <p:sp>
        <p:nvSpPr>
          <p:cNvPr id="4403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r>
              <a:rPr lang="en-US" smtClean="0"/>
              <a:t>CSE 225: Digital Logic Design</a:t>
            </a:r>
            <a:endParaRPr lang="en-US"/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3DAFE89-861D-4E86-8071-574D17232F9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" y="914400"/>
            <a:ext cx="990600" cy="259080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100" dirty="0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accent1">
                    <a:satMod val="280000"/>
                    <a:tint val="100000"/>
                    <a:alpha val="5700"/>
                  </a:schemeClr>
                </a:solidFill>
                <a:effectLst>
                  <a:outerShdw blurRad="25000" dist="20000" dir="16020000" algn="tl">
                    <a:schemeClr val="accent1">
                      <a:satMod val="200000"/>
                      <a:shade val="1000"/>
                      <a:alpha val="60000"/>
                    </a:schemeClr>
                  </a:outerShdw>
                </a:effectLst>
              </a:rPr>
              <a:t>U</a:t>
            </a:r>
          </a:p>
          <a:p>
            <a:pPr algn="ctr"/>
            <a:r>
              <a:rPr lang="en-US" sz="5400" b="1" cap="none" spc="100" dirty="0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accent1">
                    <a:satMod val="280000"/>
                    <a:tint val="100000"/>
                    <a:alpha val="5700"/>
                  </a:schemeClr>
                </a:solidFill>
                <a:effectLst>
                  <a:outerShdw blurRad="25000" dist="20000" dir="16020000" algn="tl">
                    <a:schemeClr val="accent1">
                      <a:satMod val="200000"/>
                      <a:shade val="1000"/>
                      <a:alpha val="60000"/>
                    </a:schemeClr>
                  </a:outerShdw>
                </a:effectLst>
              </a:rPr>
              <a:t>I</a:t>
            </a:r>
          </a:p>
          <a:p>
            <a:pPr algn="ctr"/>
            <a:r>
              <a:rPr lang="en-US" sz="5400" b="1" cap="none" spc="100" dirty="0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accent1">
                    <a:satMod val="280000"/>
                    <a:tint val="100000"/>
                    <a:alpha val="5700"/>
                  </a:schemeClr>
                </a:solidFill>
                <a:effectLst>
                  <a:outerShdw blurRad="25000" dist="20000" dir="16020000" algn="tl">
                    <a:schemeClr val="accent1">
                      <a:satMod val="200000"/>
                      <a:shade val="1000"/>
                      <a:alpha val="60000"/>
                    </a:schemeClr>
                  </a:outerShdw>
                </a:effectLst>
              </a:rPr>
              <a:t>U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304800"/>
            <a:ext cx="70866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0" y="1295400"/>
            <a:ext cx="7277100" cy="422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451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1DB5029F-BFA3-4462-9757-6842DBB07225}" type="datetime5">
              <a:rPr lang="en-US" smtClean="0"/>
              <a:pPr/>
              <a:t>11-Apr-15</a:t>
            </a:fld>
            <a:endParaRPr lang="en-US"/>
          </a:p>
        </p:txBody>
      </p:sp>
      <p:sp>
        <p:nvSpPr>
          <p:cNvPr id="6451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r>
              <a:rPr lang="en-US" smtClean="0"/>
              <a:t>CSE 225: Digital Logic Design</a:t>
            </a:r>
            <a:endParaRPr lang="en-US"/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3193279-FB8B-470F-A7A9-DD33211868A3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800">
          <a:solidFill>
            <a:srgbClr val="003399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rgbClr val="003399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rgbClr val="003399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rgbClr val="003399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3399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3399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3399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3399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3399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0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pc="100" dirty="0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CSI 121</a:t>
            </a:r>
            <a:r>
              <a:rPr lang="en-US" spc="100" dirty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n-US" spc="100" dirty="0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Structured Programming Language</a:t>
            </a:r>
            <a:br>
              <a:rPr lang="en-US" spc="100" dirty="0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CA" spc="100" dirty="0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Strings</a:t>
            </a:r>
            <a:r>
              <a:rPr lang="en-US" spc="100" dirty="0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pc="100" dirty="0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400" spc="100" dirty="0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Salekul Islam</a:t>
            </a:r>
            <a:br>
              <a:rPr lang="en-US" sz="2400" spc="100" dirty="0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400" spc="100" dirty="0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United International University</a:t>
            </a:r>
            <a:endParaRPr lang="en-US" sz="2400" spc="100" dirty="0">
              <a:ln w="18000">
                <a:solidFill>
                  <a:schemeClr val="accent1">
                    <a:satMod val="200000"/>
                    <a:tint val="72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ct val="90000"/>
              </a:lnSpc>
            </a:pPr>
            <a:r>
              <a:rPr lang="en-US" sz="2400" dirty="0" smtClean="0"/>
              <a:t>Character </a:t>
            </a:r>
            <a:r>
              <a:rPr lang="en-US" sz="2400" dirty="0"/>
              <a:t>Arrays/ Character Strings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Initializing Character Strings. The null string. 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Escape Characters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Displaying Character Strings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Inputting Character Strings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String processing: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Testing  Strings for Equality 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Comparing   Strings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Copying Strings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Functions in &lt;</a:t>
            </a:r>
            <a:r>
              <a:rPr lang="en-US" sz="2400" dirty="0" err="1"/>
              <a:t>string.h</a:t>
            </a:r>
            <a:r>
              <a:rPr lang="en-US" sz="2400" dirty="0"/>
              <a:t>&gt;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String to number conversion functions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Arrays of characters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latin typeface="Courier New" pitchFamily="49" charset="0"/>
              </a:rPr>
              <a:t>char word [] = { 'H', 'e', 'l', 'l', 'o', '!' };</a:t>
            </a:r>
          </a:p>
          <a:p>
            <a:r>
              <a:rPr lang="en-US" sz="1800" dirty="0"/>
              <a:t>To print out the contents of the array word, you run through each element in the array and display it using the %c format characters.</a:t>
            </a:r>
          </a:p>
          <a:p>
            <a:r>
              <a:rPr lang="en-US" sz="1800" dirty="0"/>
              <a:t>To do </a:t>
            </a:r>
            <a:r>
              <a:rPr lang="en-US" sz="1800" dirty="0" smtClean="0"/>
              <a:t>processing </a:t>
            </a:r>
            <a:r>
              <a:rPr lang="en-US" sz="1800" dirty="0"/>
              <a:t>of the word (copy, concatenate two words, etc) you need to have the actual length of the character array in a separate variable ! </a:t>
            </a:r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2"/>
          <a:srcRect r="3267"/>
          <a:stretch>
            <a:fillRect/>
          </a:stretch>
        </p:blipFill>
        <p:spPr bwMode="auto">
          <a:xfrm>
            <a:off x="2786050" y="3071810"/>
            <a:ext cx="2706687" cy="298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Character strings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071546"/>
            <a:ext cx="7801004" cy="45259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1800" dirty="0"/>
              <a:t>A method for dealing with character arrays without having to worry about precisely how many characters you have stored in them: </a:t>
            </a:r>
          </a:p>
          <a:p>
            <a:pPr>
              <a:lnSpc>
                <a:spcPct val="90000"/>
              </a:lnSpc>
            </a:pPr>
            <a:r>
              <a:rPr lang="en-US" sz="1800" b="1" dirty="0"/>
              <a:t>Placing a special character at the end of every character string</a:t>
            </a:r>
            <a:r>
              <a:rPr lang="en-US" sz="1800" dirty="0"/>
              <a:t>. In this manner, the function can then determine for itself when it has reached the end of a character string after it encounters this special character.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In the C language, the special character that is used to signal the end of a string is known as the </a:t>
            </a:r>
            <a:r>
              <a:rPr lang="en-US" sz="1800" i="1" dirty="0"/>
              <a:t>null </a:t>
            </a:r>
            <a:r>
              <a:rPr lang="en-US" sz="1800" dirty="0"/>
              <a:t>character and is written as </a:t>
            </a:r>
            <a:r>
              <a:rPr lang="en-US" sz="1800" b="1" dirty="0"/>
              <a:t>'\0'</a:t>
            </a:r>
            <a:r>
              <a:rPr lang="en-US" sz="1800" dirty="0"/>
              <a:t>. 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char word [] = { 'H', 'e', 'l', 'l', 'o', '!', '\0' };</a:t>
            </a:r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24200" y="3581400"/>
            <a:ext cx="2555875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string length</a:t>
            </a: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642910" y="1071546"/>
            <a:ext cx="8020050" cy="47609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dirty="0">
                <a:latin typeface="Courier New" pitchFamily="49" charset="0"/>
              </a:rPr>
              <a:t>// Function to count the number of characters in a string</a:t>
            </a:r>
          </a:p>
          <a:p>
            <a:pPr algn="l"/>
            <a:r>
              <a:rPr lang="en-US" dirty="0">
                <a:latin typeface="Courier New" pitchFamily="49" charset="0"/>
              </a:rPr>
              <a:t>#include &lt;</a:t>
            </a:r>
            <a:r>
              <a:rPr lang="en-US" dirty="0" err="1">
                <a:latin typeface="Courier New" pitchFamily="49" charset="0"/>
              </a:rPr>
              <a:t>stdio.h</a:t>
            </a:r>
            <a:r>
              <a:rPr lang="en-US" dirty="0">
                <a:latin typeface="Courier New" pitchFamily="49" charset="0"/>
              </a:rPr>
              <a:t>&gt;</a:t>
            </a:r>
          </a:p>
          <a:p>
            <a:pPr algn="l"/>
            <a:endParaRPr lang="en-US" b="1" dirty="0">
              <a:latin typeface="Courier New" pitchFamily="49" charset="0"/>
            </a:endParaRPr>
          </a:p>
          <a:p>
            <a:pPr algn="l"/>
            <a:r>
              <a:rPr lang="en-US" dirty="0" err="1">
                <a:latin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</a:rPr>
              <a:t>stringLength</a:t>
            </a:r>
            <a:r>
              <a:rPr lang="en-US" dirty="0">
                <a:latin typeface="Courier New" pitchFamily="49" charset="0"/>
              </a:rPr>
              <a:t> (char string[]){</a:t>
            </a:r>
          </a:p>
          <a:p>
            <a:pPr lvl="1" algn="l"/>
            <a:r>
              <a:rPr lang="en-US" dirty="0" err="1">
                <a:latin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</a:rPr>
              <a:t> count = 0;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while ( string[count] != '\0' )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	++count;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return count;</a:t>
            </a:r>
          </a:p>
          <a:p>
            <a:pPr algn="l"/>
            <a:r>
              <a:rPr lang="en-US" dirty="0">
                <a:latin typeface="Courier New" pitchFamily="49" charset="0"/>
              </a:rPr>
              <a:t>}</a:t>
            </a:r>
          </a:p>
          <a:p>
            <a:pPr algn="l"/>
            <a:r>
              <a:rPr lang="en-US" dirty="0" err="1">
                <a:latin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</a:rPr>
              <a:t> main (void) {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char word1[] = { 'a', 's', 't', 'e', 'r', '\0' };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char word2[] = { 'a', 't', '\0' };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char word3[] = { 'a', 'w', 'e', '\0' };</a:t>
            </a:r>
          </a:p>
          <a:p>
            <a:pPr lvl="1" algn="l"/>
            <a:r>
              <a:rPr lang="en-US" dirty="0" err="1">
                <a:latin typeface="Courier New" pitchFamily="49" charset="0"/>
              </a:rPr>
              <a:t>printf</a:t>
            </a:r>
            <a:r>
              <a:rPr lang="en-US" dirty="0">
                <a:latin typeface="Courier New" pitchFamily="49" charset="0"/>
              </a:rPr>
              <a:t> ("%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</a:rPr>
              <a:t> %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</a:rPr>
              <a:t> %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</a:rPr>
              <a:t>\n", </a:t>
            </a:r>
            <a:r>
              <a:rPr lang="en-US" dirty="0" err="1">
                <a:latin typeface="Courier New" pitchFamily="49" charset="0"/>
              </a:rPr>
              <a:t>stringLength</a:t>
            </a:r>
            <a:r>
              <a:rPr lang="en-US" dirty="0">
                <a:latin typeface="Courier New" pitchFamily="49" charset="0"/>
              </a:rPr>
              <a:t> (word1),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		</a:t>
            </a:r>
            <a:r>
              <a:rPr lang="en-US" dirty="0" err="1">
                <a:latin typeface="Courier New" pitchFamily="49" charset="0"/>
              </a:rPr>
              <a:t>stringLength</a:t>
            </a:r>
            <a:r>
              <a:rPr lang="en-US" dirty="0">
                <a:latin typeface="Courier New" pitchFamily="49" charset="0"/>
              </a:rPr>
              <a:t> (word2), </a:t>
            </a:r>
            <a:r>
              <a:rPr lang="en-US" dirty="0" err="1">
                <a:latin typeface="Courier New" pitchFamily="49" charset="0"/>
              </a:rPr>
              <a:t>stringLength</a:t>
            </a:r>
            <a:r>
              <a:rPr lang="en-US" dirty="0">
                <a:latin typeface="Courier New" pitchFamily="49" charset="0"/>
              </a:rPr>
              <a:t> (word3));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return 0;</a:t>
            </a:r>
          </a:p>
          <a:p>
            <a:pPr algn="l"/>
            <a:r>
              <a:rPr lang="en-US" dirty="0">
                <a:latin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const strings</a:t>
            </a:r>
          </a:p>
        </p:txBody>
      </p:sp>
      <p:sp>
        <p:nvSpPr>
          <p:cNvPr id="35843" name="Text Box 1027"/>
          <p:cNvSpPr txBox="1">
            <a:spLocks noChangeArrowheads="1"/>
          </p:cNvSpPr>
          <p:nvPr/>
        </p:nvSpPr>
        <p:spPr bwMode="auto">
          <a:xfrm>
            <a:off x="541367" y="1142984"/>
            <a:ext cx="8150225" cy="47609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dirty="0">
                <a:latin typeface="Courier New" pitchFamily="49" charset="0"/>
              </a:rPr>
              <a:t>// Function to count the number of characters in a string</a:t>
            </a:r>
          </a:p>
          <a:p>
            <a:pPr algn="l"/>
            <a:r>
              <a:rPr lang="en-US" dirty="0">
                <a:latin typeface="Courier New" pitchFamily="49" charset="0"/>
              </a:rPr>
              <a:t>#include &lt;</a:t>
            </a:r>
            <a:r>
              <a:rPr lang="en-US" dirty="0" err="1">
                <a:latin typeface="Courier New" pitchFamily="49" charset="0"/>
              </a:rPr>
              <a:t>stdio.h</a:t>
            </a:r>
            <a:r>
              <a:rPr lang="en-US" dirty="0">
                <a:latin typeface="Courier New" pitchFamily="49" charset="0"/>
              </a:rPr>
              <a:t>&gt;</a:t>
            </a:r>
          </a:p>
          <a:p>
            <a:pPr algn="l"/>
            <a:endParaRPr lang="en-US" b="1" dirty="0">
              <a:latin typeface="Courier New" pitchFamily="49" charset="0"/>
            </a:endParaRPr>
          </a:p>
          <a:p>
            <a:pPr algn="l"/>
            <a:r>
              <a:rPr lang="en-US" dirty="0" err="1">
                <a:latin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</a:rPr>
              <a:t>stringLength</a:t>
            </a:r>
            <a:r>
              <a:rPr lang="en-US" dirty="0">
                <a:latin typeface="Courier New" pitchFamily="49" charset="0"/>
              </a:rPr>
              <a:t> (const char string[]){</a:t>
            </a:r>
          </a:p>
          <a:p>
            <a:pPr lvl="1" algn="l"/>
            <a:r>
              <a:rPr lang="en-US" dirty="0" err="1">
                <a:latin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</a:rPr>
              <a:t> count = 0;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while ( string[count] != '\0' )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	++count;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return count;</a:t>
            </a:r>
          </a:p>
          <a:p>
            <a:pPr algn="l"/>
            <a:r>
              <a:rPr lang="en-US" dirty="0">
                <a:latin typeface="Courier New" pitchFamily="49" charset="0"/>
              </a:rPr>
              <a:t>}</a:t>
            </a:r>
          </a:p>
          <a:p>
            <a:pPr algn="l"/>
            <a:r>
              <a:rPr lang="en-US" dirty="0" err="1">
                <a:latin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</a:rPr>
              <a:t> main (void) {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const char word1[] = { 'a', 's', 't', 'e', 'r', '\0' };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const char word2[] = { 'a', 't', '\0' };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const char word3[] = { 'a', 'w', 'e', '\0' };</a:t>
            </a:r>
          </a:p>
          <a:p>
            <a:pPr lvl="1" algn="l"/>
            <a:r>
              <a:rPr lang="en-US" dirty="0" err="1">
                <a:latin typeface="Courier New" pitchFamily="49" charset="0"/>
              </a:rPr>
              <a:t>printf</a:t>
            </a:r>
            <a:r>
              <a:rPr lang="en-US" dirty="0">
                <a:latin typeface="Courier New" pitchFamily="49" charset="0"/>
              </a:rPr>
              <a:t> ("%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</a:rPr>
              <a:t> %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</a:rPr>
              <a:t> %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</a:rPr>
              <a:t>\n", </a:t>
            </a:r>
            <a:r>
              <a:rPr lang="en-US" dirty="0" err="1">
                <a:latin typeface="Courier New" pitchFamily="49" charset="0"/>
              </a:rPr>
              <a:t>stringLength</a:t>
            </a:r>
            <a:r>
              <a:rPr lang="en-US" dirty="0">
                <a:latin typeface="Courier New" pitchFamily="49" charset="0"/>
              </a:rPr>
              <a:t> (word1),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		</a:t>
            </a:r>
            <a:r>
              <a:rPr lang="en-US" dirty="0" err="1">
                <a:latin typeface="Courier New" pitchFamily="49" charset="0"/>
              </a:rPr>
              <a:t>stringLength</a:t>
            </a:r>
            <a:r>
              <a:rPr lang="en-US" dirty="0">
                <a:latin typeface="Courier New" pitchFamily="49" charset="0"/>
              </a:rPr>
              <a:t> (word2), </a:t>
            </a:r>
            <a:r>
              <a:rPr lang="en-US" dirty="0" err="1">
                <a:latin typeface="Courier New" pitchFamily="49" charset="0"/>
              </a:rPr>
              <a:t>stringLength</a:t>
            </a:r>
            <a:r>
              <a:rPr lang="en-US" dirty="0">
                <a:latin typeface="Courier New" pitchFamily="49" charset="0"/>
              </a:rPr>
              <a:t> (word3));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return 0;</a:t>
            </a:r>
          </a:p>
          <a:p>
            <a:pPr algn="l"/>
            <a:r>
              <a:rPr lang="en-US" dirty="0">
                <a:latin typeface="Courier New" pitchFamily="49" charset="0"/>
              </a:rPr>
              <a:t>}</a:t>
            </a:r>
          </a:p>
        </p:txBody>
      </p:sp>
      <p:sp>
        <p:nvSpPr>
          <p:cNvPr id="35845" name="Freeform 1029"/>
          <p:cNvSpPr>
            <a:spLocks/>
          </p:cNvSpPr>
          <p:nvPr/>
        </p:nvSpPr>
        <p:spPr bwMode="auto">
          <a:xfrm>
            <a:off x="3071842" y="1924034"/>
            <a:ext cx="817563" cy="427038"/>
          </a:xfrm>
          <a:custGeom>
            <a:avLst/>
            <a:gdLst/>
            <a:ahLst/>
            <a:cxnLst>
              <a:cxn ang="0">
                <a:pos x="76" y="54"/>
              </a:cxn>
              <a:cxn ang="0">
                <a:pos x="4" y="110"/>
              </a:cxn>
              <a:cxn ang="0">
                <a:pos x="37" y="227"/>
              </a:cxn>
              <a:cxn ang="0">
                <a:pos x="300" y="250"/>
              </a:cxn>
              <a:cxn ang="0">
                <a:pos x="423" y="244"/>
              </a:cxn>
              <a:cxn ang="0">
                <a:pos x="429" y="227"/>
              </a:cxn>
              <a:cxn ang="0">
                <a:pos x="445" y="222"/>
              </a:cxn>
              <a:cxn ang="0">
                <a:pos x="434" y="138"/>
              </a:cxn>
              <a:cxn ang="0">
                <a:pos x="76" y="54"/>
              </a:cxn>
            </a:cxnLst>
            <a:rect l="0" t="0" r="r" b="b"/>
            <a:pathLst>
              <a:path w="467" h="269">
                <a:moveTo>
                  <a:pt x="76" y="54"/>
                </a:moveTo>
                <a:cubicBezTo>
                  <a:pt x="4" y="60"/>
                  <a:pt x="13" y="50"/>
                  <a:pt x="4" y="110"/>
                </a:cubicBezTo>
                <a:cubicBezTo>
                  <a:pt x="6" y="137"/>
                  <a:pt x="0" y="216"/>
                  <a:pt x="37" y="227"/>
                </a:cubicBezTo>
                <a:cubicBezTo>
                  <a:pt x="103" y="269"/>
                  <a:pt x="218" y="243"/>
                  <a:pt x="300" y="250"/>
                </a:cubicBezTo>
                <a:cubicBezTo>
                  <a:pt x="341" y="248"/>
                  <a:pt x="383" y="251"/>
                  <a:pt x="423" y="244"/>
                </a:cubicBezTo>
                <a:cubicBezTo>
                  <a:pt x="429" y="243"/>
                  <a:pt x="425" y="231"/>
                  <a:pt x="429" y="227"/>
                </a:cubicBezTo>
                <a:cubicBezTo>
                  <a:pt x="433" y="223"/>
                  <a:pt x="440" y="224"/>
                  <a:pt x="445" y="222"/>
                </a:cubicBezTo>
                <a:cubicBezTo>
                  <a:pt x="457" y="189"/>
                  <a:pt x="467" y="159"/>
                  <a:pt x="434" y="138"/>
                </a:cubicBezTo>
                <a:cubicBezTo>
                  <a:pt x="345" y="0"/>
                  <a:pt x="280" y="54"/>
                  <a:pt x="76" y="54"/>
                </a:cubicBezTo>
                <a:close/>
              </a:path>
            </a:pathLst>
          </a:custGeom>
          <a:noFill/>
          <a:ln w="3175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35846" name="Freeform 1030"/>
          <p:cNvSpPr>
            <a:spLocks/>
          </p:cNvSpPr>
          <p:nvPr/>
        </p:nvSpPr>
        <p:spPr bwMode="auto">
          <a:xfrm>
            <a:off x="1035080" y="3829034"/>
            <a:ext cx="817562" cy="427038"/>
          </a:xfrm>
          <a:custGeom>
            <a:avLst/>
            <a:gdLst/>
            <a:ahLst/>
            <a:cxnLst>
              <a:cxn ang="0">
                <a:pos x="76" y="54"/>
              </a:cxn>
              <a:cxn ang="0">
                <a:pos x="4" y="110"/>
              </a:cxn>
              <a:cxn ang="0">
                <a:pos x="37" y="227"/>
              </a:cxn>
              <a:cxn ang="0">
                <a:pos x="300" y="250"/>
              </a:cxn>
              <a:cxn ang="0">
                <a:pos x="423" y="244"/>
              </a:cxn>
              <a:cxn ang="0">
                <a:pos x="429" y="227"/>
              </a:cxn>
              <a:cxn ang="0">
                <a:pos x="445" y="222"/>
              </a:cxn>
              <a:cxn ang="0">
                <a:pos x="434" y="138"/>
              </a:cxn>
              <a:cxn ang="0">
                <a:pos x="76" y="54"/>
              </a:cxn>
            </a:cxnLst>
            <a:rect l="0" t="0" r="r" b="b"/>
            <a:pathLst>
              <a:path w="467" h="269">
                <a:moveTo>
                  <a:pt x="76" y="54"/>
                </a:moveTo>
                <a:cubicBezTo>
                  <a:pt x="4" y="60"/>
                  <a:pt x="13" y="50"/>
                  <a:pt x="4" y="110"/>
                </a:cubicBezTo>
                <a:cubicBezTo>
                  <a:pt x="6" y="137"/>
                  <a:pt x="0" y="216"/>
                  <a:pt x="37" y="227"/>
                </a:cubicBezTo>
                <a:cubicBezTo>
                  <a:pt x="103" y="269"/>
                  <a:pt x="218" y="243"/>
                  <a:pt x="300" y="250"/>
                </a:cubicBezTo>
                <a:cubicBezTo>
                  <a:pt x="341" y="248"/>
                  <a:pt x="383" y="251"/>
                  <a:pt x="423" y="244"/>
                </a:cubicBezTo>
                <a:cubicBezTo>
                  <a:pt x="429" y="243"/>
                  <a:pt x="425" y="231"/>
                  <a:pt x="429" y="227"/>
                </a:cubicBezTo>
                <a:cubicBezTo>
                  <a:pt x="433" y="223"/>
                  <a:pt x="440" y="224"/>
                  <a:pt x="445" y="222"/>
                </a:cubicBezTo>
                <a:cubicBezTo>
                  <a:pt x="457" y="189"/>
                  <a:pt x="467" y="159"/>
                  <a:pt x="434" y="138"/>
                </a:cubicBezTo>
                <a:cubicBezTo>
                  <a:pt x="345" y="0"/>
                  <a:pt x="280" y="54"/>
                  <a:pt x="76" y="54"/>
                </a:cubicBezTo>
                <a:close/>
              </a:path>
            </a:pathLst>
          </a:custGeom>
          <a:noFill/>
          <a:ln w="3175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35847" name="AutoShape 1031"/>
          <p:cNvSpPr>
            <a:spLocks noChangeArrowheads="1"/>
          </p:cNvSpPr>
          <p:nvPr/>
        </p:nvSpPr>
        <p:spPr bwMode="auto">
          <a:xfrm>
            <a:off x="6196042" y="1543034"/>
            <a:ext cx="2590800" cy="1828800"/>
          </a:xfrm>
          <a:prstGeom prst="cloudCallout">
            <a:avLst>
              <a:gd name="adj1" fmla="val -141727"/>
              <a:gd name="adj2" fmla="val -8852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r>
              <a:rPr lang="en-US" sz="1400">
                <a:latin typeface="Times New Roman" pitchFamily="18" charset="0"/>
              </a:rPr>
              <a:t>The function declares its argument as a const array of characters because it is not making any changes to the array</a:t>
            </a:r>
          </a:p>
          <a:p>
            <a:pPr algn="ctr"/>
            <a:endParaRPr lang="en-US" sz="140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Initializing character strings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1600"/>
              <a:t>Initializing a string: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600">
                <a:latin typeface="Courier New" pitchFamily="49" charset="0"/>
              </a:rPr>
              <a:t>char word[] = "Hello!";</a:t>
            </a:r>
          </a:p>
          <a:p>
            <a:pPr>
              <a:lnSpc>
                <a:spcPct val="90000"/>
              </a:lnSpc>
            </a:pPr>
            <a:r>
              <a:rPr lang="en-US" sz="1600"/>
              <a:t>Is equivalent with: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600">
                <a:latin typeface="Courier New" pitchFamily="49" charset="0"/>
              </a:rPr>
              <a:t>char word[] = { 'H', 'e', 'l', 'l', 'o', '!', '\0' };</a:t>
            </a:r>
          </a:p>
          <a:p>
            <a:pPr>
              <a:lnSpc>
                <a:spcPct val="90000"/>
              </a:lnSpc>
            </a:pPr>
            <a:r>
              <a:rPr lang="en-US" sz="1600"/>
              <a:t>The null string: A character string that contains no characters other than the null character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600">
                <a:latin typeface="Courier New" pitchFamily="49" charset="0"/>
              </a:rPr>
              <a:t>char empty[]= "";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600">
                <a:latin typeface="Courier New" pitchFamily="49" charset="0"/>
              </a:rPr>
              <a:t>char buf[100]= "";</a:t>
            </a:r>
          </a:p>
          <a:p>
            <a:pPr>
              <a:lnSpc>
                <a:spcPct val="90000"/>
              </a:lnSpc>
            </a:pPr>
            <a:r>
              <a:rPr lang="en-US" sz="1600"/>
              <a:t>Initializing a very long string over several lines: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600">
                <a:latin typeface="Courier New" pitchFamily="49" charset="0"/>
              </a:rPr>
              <a:t>char letters[] =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600">
                <a:latin typeface="Courier New" pitchFamily="49" charset="0"/>
              </a:rPr>
              <a:t>{ "abcdefghijklmnopqrstuvwxyz\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600">
                <a:latin typeface="Courier New" pitchFamily="49" charset="0"/>
              </a:rPr>
              <a:t>ABCDEFGHIJKLMNOPQRSTUVWXYZ" };</a:t>
            </a:r>
          </a:p>
          <a:p>
            <a:pPr>
              <a:lnSpc>
                <a:spcPct val="90000"/>
              </a:lnSpc>
            </a:pPr>
            <a:r>
              <a:rPr lang="en-US" sz="1600"/>
              <a:t>Adjacent strings are concatenated: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600">
                <a:latin typeface="Courier New" pitchFamily="49" charset="0"/>
              </a:rPr>
              <a:t>char letters[] =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600">
                <a:latin typeface="Courier New" pitchFamily="49" charset="0"/>
              </a:rPr>
              <a:t>{ "abcdefghijklmnopqrstuvwxyz"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600">
                <a:latin typeface="Courier New" pitchFamily="49" charset="0"/>
              </a:rPr>
              <a:t>"ABCDEFGHIJKLMNOPQRSTUVWXYZ" };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1600">
              <a:latin typeface="Courier New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1600">
                <a:latin typeface="Courier New" pitchFamily="49" charset="0"/>
              </a:rPr>
              <a:t>printf ("Programming" " in C is fun\n");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1600">
              <a:latin typeface="Courier New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Strings vs Characters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en-US" sz="2000"/>
              <a:t>The string constant "x“</a:t>
            </a:r>
          </a:p>
          <a:p>
            <a:pPr marL="609600" indent="-609600"/>
            <a:r>
              <a:rPr lang="en-US" sz="2000"/>
              <a:t>The character constant 'x‘</a:t>
            </a:r>
          </a:p>
          <a:p>
            <a:pPr marL="609600" indent="-609600"/>
            <a:r>
              <a:rPr lang="en-US" sz="2000"/>
              <a:t>Differences:</a:t>
            </a:r>
          </a:p>
          <a:p>
            <a:pPr marL="990600" lvl="1" indent="-533400">
              <a:buFontTx/>
              <a:buAutoNum type="arabicPeriod"/>
            </a:pPr>
            <a:r>
              <a:rPr lang="en-US" sz="1800"/>
              <a:t>'x' is a basic type (char) but  "x" is a derived type, an array of char</a:t>
            </a:r>
          </a:p>
          <a:p>
            <a:pPr marL="990600" lvl="1" indent="-533400">
              <a:buFontTx/>
              <a:buAutoNum type="arabicPeriod"/>
            </a:pPr>
            <a:r>
              <a:rPr lang="en-US" sz="1800"/>
              <a:t>"x" really consists of two characters, 'x' and '\0', the null character</a:t>
            </a:r>
            <a:r>
              <a:rPr lang="en-US"/>
              <a:t> </a:t>
            </a:r>
          </a:p>
          <a:p>
            <a:pPr marL="609600" indent="-609600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Examples: Escape characters </a:t>
            </a:r>
          </a:p>
        </p:txBody>
      </p:sp>
      <p:sp>
        <p:nvSpPr>
          <p:cNvPr id="40963" name="Text Box 1027"/>
          <p:cNvSpPr txBox="1">
            <a:spLocks noChangeArrowheads="1"/>
          </p:cNvSpPr>
          <p:nvPr/>
        </p:nvSpPr>
        <p:spPr bwMode="auto">
          <a:xfrm>
            <a:off x="1285852" y="1214422"/>
            <a:ext cx="7010400" cy="421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dirty="0" err="1">
                <a:latin typeface="Courier New" pitchFamily="49" charset="0"/>
              </a:rPr>
              <a:t>printf</a:t>
            </a:r>
            <a:r>
              <a:rPr lang="en-US" dirty="0">
                <a:latin typeface="Courier New" pitchFamily="49" charset="0"/>
              </a:rPr>
              <a:t> ("\</a:t>
            </a:r>
            <a:r>
              <a:rPr lang="en-US" dirty="0" err="1">
                <a:latin typeface="Courier New" pitchFamily="49" charset="0"/>
              </a:rPr>
              <a:t>aSYSTEM</a:t>
            </a:r>
            <a:r>
              <a:rPr lang="en-US" dirty="0">
                <a:latin typeface="Courier New" pitchFamily="49" charset="0"/>
              </a:rPr>
              <a:t> SHUT DOWN IN 5 MINUTES!!\n");</a:t>
            </a:r>
          </a:p>
          <a:p>
            <a:pPr algn="l"/>
            <a:endParaRPr lang="en-US" dirty="0">
              <a:latin typeface="Courier New" pitchFamily="49" charset="0"/>
            </a:endParaRPr>
          </a:p>
          <a:p>
            <a:pPr algn="l"/>
            <a:r>
              <a:rPr lang="en-US" dirty="0" err="1">
                <a:latin typeface="Courier New" pitchFamily="49" charset="0"/>
              </a:rPr>
              <a:t>printf</a:t>
            </a:r>
            <a:r>
              <a:rPr lang="en-US" dirty="0">
                <a:latin typeface="Courier New" pitchFamily="49" charset="0"/>
              </a:rPr>
              <a:t> ("%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</a:rPr>
              <a:t>\</a:t>
            </a:r>
            <a:r>
              <a:rPr lang="en-US" dirty="0" err="1">
                <a:latin typeface="Courier New" pitchFamily="49" charset="0"/>
              </a:rPr>
              <a:t>t%i</a:t>
            </a:r>
            <a:r>
              <a:rPr lang="en-US" dirty="0">
                <a:latin typeface="Courier New" pitchFamily="49" charset="0"/>
              </a:rPr>
              <a:t>\</a:t>
            </a:r>
            <a:r>
              <a:rPr lang="en-US" dirty="0" err="1">
                <a:latin typeface="Courier New" pitchFamily="49" charset="0"/>
              </a:rPr>
              <a:t>t%i</a:t>
            </a:r>
            <a:r>
              <a:rPr lang="en-US" dirty="0">
                <a:latin typeface="Courier New" pitchFamily="49" charset="0"/>
              </a:rPr>
              <a:t>\n", a, b, c);</a:t>
            </a:r>
          </a:p>
          <a:p>
            <a:pPr algn="l"/>
            <a:endParaRPr lang="en-US" dirty="0">
              <a:latin typeface="Courier New" pitchFamily="49" charset="0"/>
            </a:endParaRPr>
          </a:p>
          <a:p>
            <a:pPr algn="l"/>
            <a:r>
              <a:rPr lang="en-US" dirty="0" err="1">
                <a:latin typeface="Courier New" pitchFamily="49" charset="0"/>
              </a:rPr>
              <a:t>printf</a:t>
            </a:r>
            <a:r>
              <a:rPr lang="en-US" dirty="0">
                <a:latin typeface="Courier New" pitchFamily="49" charset="0"/>
              </a:rPr>
              <a:t> ("\\t is the horizontal tab character.\n");</a:t>
            </a:r>
          </a:p>
          <a:p>
            <a:pPr algn="l"/>
            <a:endParaRPr lang="en-US" dirty="0">
              <a:latin typeface="Courier New" pitchFamily="49" charset="0"/>
            </a:endParaRPr>
          </a:p>
          <a:p>
            <a:pPr algn="l"/>
            <a:r>
              <a:rPr lang="en-US" dirty="0" err="1">
                <a:latin typeface="Courier New" pitchFamily="49" charset="0"/>
              </a:rPr>
              <a:t>printf</a:t>
            </a:r>
            <a:r>
              <a:rPr lang="en-US" dirty="0">
                <a:latin typeface="Courier New" pitchFamily="49" charset="0"/>
              </a:rPr>
              <a:t> ("\"Hello,\" he said.\n");</a:t>
            </a:r>
          </a:p>
          <a:p>
            <a:pPr algn="l"/>
            <a:endParaRPr lang="en-US" dirty="0">
              <a:latin typeface="Courier New" pitchFamily="49" charset="0"/>
            </a:endParaRPr>
          </a:p>
          <a:p>
            <a:pPr algn="l"/>
            <a:r>
              <a:rPr lang="en-US" dirty="0">
                <a:latin typeface="Courier New" pitchFamily="49" charset="0"/>
              </a:rPr>
              <a:t>c = '\'';</a:t>
            </a:r>
          </a:p>
          <a:p>
            <a:pPr algn="l"/>
            <a:endParaRPr lang="en-US" dirty="0">
              <a:latin typeface="Courier New" pitchFamily="49" charset="0"/>
            </a:endParaRPr>
          </a:p>
          <a:p>
            <a:pPr algn="l"/>
            <a:r>
              <a:rPr lang="en-US" dirty="0" err="1">
                <a:latin typeface="Courier New" pitchFamily="49" charset="0"/>
              </a:rPr>
              <a:t>printf</a:t>
            </a:r>
            <a:r>
              <a:rPr lang="en-US" dirty="0">
                <a:latin typeface="Courier New" pitchFamily="49" charset="0"/>
              </a:rPr>
              <a:t>("\033\"Hello\"\n");</a:t>
            </a:r>
          </a:p>
          <a:p>
            <a:pPr algn="l"/>
            <a:endParaRPr lang="en-US" dirty="0">
              <a:latin typeface="Courier New" pitchFamily="49" charset="0"/>
            </a:endParaRPr>
          </a:p>
          <a:p>
            <a:pPr algn="l"/>
            <a:endParaRPr lang="en-US" dirty="0">
              <a:latin typeface="Courier New" pitchFamily="49" charset="0"/>
            </a:endParaRPr>
          </a:p>
          <a:p>
            <a:pPr algn="l"/>
            <a:endParaRPr lang="en-US" dirty="0">
              <a:latin typeface="Courier New" pitchFamily="49" charset="0"/>
            </a:endParaRPr>
          </a:p>
          <a:p>
            <a:pPr algn="l"/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Displaying character strings</a:t>
            </a:r>
          </a:p>
        </p:txBody>
      </p:sp>
      <p:sp>
        <p:nvSpPr>
          <p:cNvPr id="38915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endParaRPr lang="en-US" sz="1800">
              <a:latin typeface="Courier New" pitchFamily="49" charset="0"/>
            </a:endParaRPr>
          </a:p>
          <a:p>
            <a:r>
              <a:rPr lang="en-US" sz="1800"/>
              <a:t>Displaying a string: %s</a:t>
            </a:r>
          </a:p>
          <a:p>
            <a:r>
              <a:rPr lang="en-US" sz="1800">
                <a:latin typeface="Courier New" pitchFamily="49" charset="0"/>
              </a:rPr>
              <a:t>printf ("%s\n", word);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Inputting character strings</a:t>
            </a:r>
          </a:p>
        </p:txBody>
      </p:sp>
      <p:sp>
        <p:nvSpPr>
          <p:cNvPr id="17411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214282" y="1142984"/>
            <a:ext cx="8686800" cy="5286412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95000"/>
              </a:lnSpc>
            </a:pPr>
            <a:r>
              <a:rPr lang="en-US" sz="2400" dirty="0">
                <a:latin typeface="Courier New" pitchFamily="49" charset="0"/>
              </a:rPr>
              <a:t>char string[81];</a:t>
            </a:r>
          </a:p>
          <a:p>
            <a:pPr>
              <a:lnSpc>
                <a:spcPct val="95000"/>
              </a:lnSpc>
            </a:pPr>
            <a:r>
              <a:rPr lang="en-US" sz="2400" dirty="0" err="1">
                <a:solidFill>
                  <a:srgbClr val="FF0000"/>
                </a:solidFill>
                <a:latin typeface="Courier New" pitchFamily="49" charset="0"/>
              </a:rPr>
              <a:t>scanf</a:t>
            </a:r>
            <a:r>
              <a:rPr lang="en-US" sz="2400" dirty="0">
                <a:solidFill>
                  <a:srgbClr val="FF0000"/>
                </a:solidFill>
                <a:latin typeface="Courier New" pitchFamily="49" charset="0"/>
              </a:rPr>
              <a:t> ("%s", string);  // NOT recommended !</a:t>
            </a:r>
          </a:p>
          <a:p>
            <a:pPr lvl="1">
              <a:lnSpc>
                <a:spcPct val="95000"/>
              </a:lnSpc>
            </a:pPr>
            <a:r>
              <a:rPr lang="en-US" sz="2000" dirty="0"/>
              <a:t>The </a:t>
            </a:r>
            <a:r>
              <a:rPr lang="en-US" sz="2000" dirty="0" err="1"/>
              <a:t>scanf</a:t>
            </a:r>
            <a:r>
              <a:rPr lang="en-US" sz="2000" dirty="0"/>
              <a:t> function can be used with the %s format characters to read in a string of characters up to a blank space, tab character, or the end of the line, whichever occurs first</a:t>
            </a:r>
          </a:p>
          <a:p>
            <a:pPr lvl="1">
              <a:lnSpc>
                <a:spcPct val="95000"/>
              </a:lnSpc>
            </a:pPr>
            <a:r>
              <a:rPr lang="en-US" sz="2000" dirty="0"/>
              <a:t>The string terminator (null character) is appended to string</a:t>
            </a:r>
          </a:p>
          <a:p>
            <a:pPr lvl="1">
              <a:lnSpc>
                <a:spcPct val="95000"/>
              </a:lnSpc>
            </a:pPr>
            <a:r>
              <a:rPr lang="en-US" sz="2000" dirty="0"/>
              <a:t>Note that unlike previous </a:t>
            </a:r>
            <a:r>
              <a:rPr lang="en-US" sz="2000" dirty="0" err="1"/>
              <a:t>scanf</a:t>
            </a:r>
            <a:r>
              <a:rPr lang="en-US" sz="2000" dirty="0"/>
              <a:t> calls, in the case of reading strings, the &amp; is </a:t>
            </a:r>
            <a:r>
              <a:rPr lang="en-US" sz="2000" i="1" dirty="0"/>
              <a:t>not </a:t>
            </a:r>
            <a:r>
              <a:rPr lang="en-US" sz="2000" dirty="0"/>
              <a:t>placed before the array name !</a:t>
            </a:r>
          </a:p>
          <a:p>
            <a:pPr lvl="1">
              <a:lnSpc>
                <a:spcPct val="95000"/>
              </a:lnSpc>
            </a:pPr>
            <a:r>
              <a:rPr lang="en-US" sz="2000" dirty="0"/>
              <a:t>If you type in more than 80 consecutive characters to the preceding program without pressing the spacebar, the tab key, or the Enter (or Return) key, </a:t>
            </a:r>
            <a:r>
              <a:rPr lang="en-US" sz="2000" dirty="0" err="1"/>
              <a:t>scanf</a:t>
            </a:r>
            <a:r>
              <a:rPr lang="en-US" sz="2000" dirty="0"/>
              <a:t> overflows the character array !</a:t>
            </a:r>
          </a:p>
          <a:p>
            <a:pPr>
              <a:lnSpc>
                <a:spcPct val="95000"/>
              </a:lnSpc>
            </a:pPr>
            <a:r>
              <a:rPr lang="en-US" sz="2400" dirty="0"/>
              <a:t>Correct use of </a:t>
            </a:r>
            <a:r>
              <a:rPr lang="en-US" sz="2400" dirty="0" err="1"/>
              <a:t>scanf</a:t>
            </a:r>
            <a:r>
              <a:rPr lang="en-US" sz="2400" dirty="0"/>
              <a:t> for reading strings:</a:t>
            </a:r>
          </a:p>
          <a:p>
            <a:pPr>
              <a:lnSpc>
                <a:spcPct val="95000"/>
              </a:lnSpc>
            </a:pPr>
            <a:r>
              <a:rPr lang="en-US" sz="2400" dirty="0" err="1">
                <a:solidFill>
                  <a:srgbClr val="FF0000"/>
                </a:solidFill>
                <a:latin typeface="Courier New" pitchFamily="49" charset="0"/>
              </a:rPr>
              <a:t>scanf</a:t>
            </a:r>
            <a:r>
              <a:rPr lang="en-US" sz="2400" dirty="0">
                <a:solidFill>
                  <a:srgbClr val="FF0000"/>
                </a:solidFill>
                <a:latin typeface="Courier New" pitchFamily="49" charset="0"/>
              </a:rPr>
              <a:t> ("%80s", string); // Safer version !</a:t>
            </a:r>
          </a:p>
          <a:p>
            <a:pPr lvl="1">
              <a:lnSpc>
                <a:spcPct val="95000"/>
              </a:lnSpc>
            </a:pPr>
            <a:r>
              <a:rPr lang="en-US" sz="2000" dirty="0"/>
              <a:t>If you place a number after the % in the </a:t>
            </a:r>
            <a:r>
              <a:rPr lang="en-US" sz="2000" dirty="0" err="1"/>
              <a:t>scanf</a:t>
            </a:r>
            <a:r>
              <a:rPr lang="en-US" sz="2000" dirty="0"/>
              <a:t> format string, this tells </a:t>
            </a:r>
            <a:r>
              <a:rPr lang="en-US" sz="2000" dirty="0" err="1"/>
              <a:t>scanf</a:t>
            </a:r>
            <a:r>
              <a:rPr lang="en-US" sz="2000" dirty="0"/>
              <a:t> the maximum number of characters to read. </a:t>
            </a:r>
          </a:p>
          <a:p>
            <a:pPr lvl="1">
              <a:lnSpc>
                <a:spcPct val="95000"/>
              </a:lnSpc>
              <a:buFontTx/>
              <a:buNone/>
            </a:pPr>
            <a:endParaRPr lang="en-US" sz="2000" dirty="0">
              <a:solidFill>
                <a:srgbClr val="FF0000"/>
              </a:solidFill>
              <a:latin typeface="Courier New" pitchFamily="49" charset="0"/>
            </a:endParaRPr>
          </a:p>
        </p:txBody>
      </p:sp>
      <p:sp>
        <p:nvSpPr>
          <p:cNvPr id="17412" name="Freeform 1028"/>
          <p:cNvSpPr>
            <a:spLocks/>
          </p:cNvSpPr>
          <p:nvPr/>
        </p:nvSpPr>
        <p:spPr bwMode="auto">
          <a:xfrm>
            <a:off x="3048000" y="1600200"/>
            <a:ext cx="760413" cy="469900"/>
          </a:xfrm>
          <a:custGeom>
            <a:avLst/>
            <a:gdLst/>
            <a:ahLst/>
            <a:cxnLst>
              <a:cxn ang="0">
                <a:pos x="127" y="0"/>
              </a:cxn>
              <a:cxn ang="0">
                <a:pos x="21" y="17"/>
              </a:cxn>
              <a:cxn ang="0">
                <a:pos x="49" y="179"/>
              </a:cxn>
              <a:cxn ang="0">
                <a:pos x="105" y="224"/>
              </a:cxn>
              <a:cxn ang="0">
                <a:pos x="367" y="146"/>
              </a:cxn>
              <a:cxn ang="0">
                <a:pos x="339" y="95"/>
              </a:cxn>
              <a:cxn ang="0">
                <a:pos x="289" y="34"/>
              </a:cxn>
              <a:cxn ang="0">
                <a:pos x="127" y="0"/>
              </a:cxn>
            </a:cxnLst>
            <a:rect l="0" t="0" r="r" b="b"/>
            <a:pathLst>
              <a:path w="479" h="296">
                <a:moveTo>
                  <a:pt x="127" y="0"/>
                </a:moveTo>
                <a:cubicBezTo>
                  <a:pt x="79" y="4"/>
                  <a:pt x="59" y="3"/>
                  <a:pt x="21" y="17"/>
                </a:cubicBezTo>
                <a:cubicBezTo>
                  <a:pt x="24" y="103"/>
                  <a:pt x="0" y="134"/>
                  <a:pt x="49" y="179"/>
                </a:cubicBezTo>
                <a:cubicBezTo>
                  <a:pt x="57" y="207"/>
                  <a:pt x="80" y="215"/>
                  <a:pt x="105" y="224"/>
                </a:cubicBezTo>
                <a:cubicBezTo>
                  <a:pt x="133" y="223"/>
                  <a:pt x="479" y="296"/>
                  <a:pt x="367" y="146"/>
                </a:cubicBezTo>
                <a:cubicBezTo>
                  <a:pt x="360" y="122"/>
                  <a:pt x="357" y="113"/>
                  <a:pt x="339" y="95"/>
                </a:cubicBezTo>
                <a:cubicBezTo>
                  <a:pt x="331" y="69"/>
                  <a:pt x="316" y="42"/>
                  <a:pt x="289" y="34"/>
                </a:cubicBezTo>
                <a:cubicBezTo>
                  <a:pt x="237" y="0"/>
                  <a:pt x="189" y="0"/>
                  <a:pt x="127" y="0"/>
                </a:cubicBezTo>
                <a:close/>
              </a:path>
            </a:pathLst>
          </a:custGeom>
          <a:noFill/>
          <a:ln w="25400">
            <a:solidFill>
              <a:srgbClr val="FF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17413" name="Freeform 1029"/>
          <p:cNvSpPr>
            <a:spLocks/>
          </p:cNvSpPr>
          <p:nvPr/>
        </p:nvSpPr>
        <p:spPr bwMode="auto">
          <a:xfrm>
            <a:off x="2071670" y="5286388"/>
            <a:ext cx="760412" cy="469900"/>
          </a:xfrm>
          <a:custGeom>
            <a:avLst/>
            <a:gdLst/>
            <a:ahLst/>
            <a:cxnLst>
              <a:cxn ang="0">
                <a:pos x="127" y="0"/>
              </a:cxn>
              <a:cxn ang="0">
                <a:pos x="21" y="17"/>
              </a:cxn>
              <a:cxn ang="0">
                <a:pos x="49" y="179"/>
              </a:cxn>
              <a:cxn ang="0">
                <a:pos x="105" y="224"/>
              </a:cxn>
              <a:cxn ang="0">
                <a:pos x="367" y="146"/>
              </a:cxn>
              <a:cxn ang="0">
                <a:pos x="339" y="95"/>
              </a:cxn>
              <a:cxn ang="0">
                <a:pos x="289" y="34"/>
              </a:cxn>
              <a:cxn ang="0">
                <a:pos x="127" y="0"/>
              </a:cxn>
            </a:cxnLst>
            <a:rect l="0" t="0" r="r" b="b"/>
            <a:pathLst>
              <a:path w="479" h="296">
                <a:moveTo>
                  <a:pt x="127" y="0"/>
                </a:moveTo>
                <a:cubicBezTo>
                  <a:pt x="79" y="4"/>
                  <a:pt x="59" y="3"/>
                  <a:pt x="21" y="17"/>
                </a:cubicBezTo>
                <a:cubicBezTo>
                  <a:pt x="24" y="103"/>
                  <a:pt x="0" y="134"/>
                  <a:pt x="49" y="179"/>
                </a:cubicBezTo>
                <a:cubicBezTo>
                  <a:pt x="57" y="207"/>
                  <a:pt x="80" y="215"/>
                  <a:pt x="105" y="224"/>
                </a:cubicBezTo>
                <a:cubicBezTo>
                  <a:pt x="133" y="223"/>
                  <a:pt x="479" y="296"/>
                  <a:pt x="367" y="146"/>
                </a:cubicBezTo>
                <a:cubicBezTo>
                  <a:pt x="360" y="122"/>
                  <a:pt x="357" y="113"/>
                  <a:pt x="339" y="95"/>
                </a:cubicBezTo>
                <a:cubicBezTo>
                  <a:pt x="331" y="69"/>
                  <a:pt x="316" y="42"/>
                  <a:pt x="289" y="34"/>
                </a:cubicBezTo>
                <a:cubicBezTo>
                  <a:pt x="237" y="0"/>
                  <a:pt x="189" y="0"/>
                  <a:pt x="127" y="0"/>
                </a:cubicBezTo>
                <a:close/>
              </a:path>
            </a:pathLst>
          </a:custGeom>
          <a:noFill/>
          <a:ln w="25400">
            <a:solidFill>
              <a:srgbClr val="FF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string processing</a:t>
            </a:r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1000100" y="1285860"/>
            <a:ext cx="7269939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dirty="0">
                <a:latin typeface="Courier New" pitchFamily="49" charset="0"/>
              </a:rPr>
              <a:t>#include &lt;</a:t>
            </a:r>
            <a:r>
              <a:rPr lang="en-US" dirty="0" err="1">
                <a:latin typeface="Courier New" pitchFamily="49" charset="0"/>
              </a:rPr>
              <a:t>stdio.h</a:t>
            </a:r>
            <a:r>
              <a:rPr lang="en-US" dirty="0">
                <a:latin typeface="Courier New" pitchFamily="49" charset="0"/>
              </a:rPr>
              <a:t>&gt;</a:t>
            </a:r>
          </a:p>
          <a:p>
            <a:pPr algn="l"/>
            <a:endParaRPr lang="en-US" dirty="0">
              <a:latin typeface="Courier New" pitchFamily="49" charset="0"/>
            </a:endParaRPr>
          </a:p>
          <a:p>
            <a:pPr algn="l"/>
            <a:r>
              <a:rPr lang="en-US" dirty="0">
                <a:latin typeface="Courier New" pitchFamily="49" charset="0"/>
              </a:rPr>
              <a:t>void </a:t>
            </a:r>
            <a:r>
              <a:rPr lang="en-US" dirty="0" err="1">
                <a:latin typeface="Courier New" pitchFamily="49" charset="0"/>
              </a:rPr>
              <a:t>concat</a:t>
            </a:r>
            <a:r>
              <a:rPr lang="en-US" dirty="0">
                <a:latin typeface="Courier New" pitchFamily="49" charset="0"/>
              </a:rPr>
              <a:t> (char result[], </a:t>
            </a:r>
          </a:p>
          <a:p>
            <a:pPr algn="l"/>
            <a:r>
              <a:rPr lang="en-US" dirty="0">
                <a:latin typeface="Courier New" pitchFamily="49" charset="0"/>
              </a:rPr>
              <a:t>		</a:t>
            </a:r>
            <a:r>
              <a:rPr lang="en-US" dirty="0" smtClean="0">
                <a:latin typeface="Courier New" pitchFamily="49" charset="0"/>
              </a:rPr>
              <a:t>const </a:t>
            </a:r>
            <a:r>
              <a:rPr lang="en-US" dirty="0">
                <a:latin typeface="Courier New" pitchFamily="49" charset="0"/>
              </a:rPr>
              <a:t>char str1[], const char str2[]);</a:t>
            </a:r>
          </a:p>
          <a:p>
            <a:pPr algn="l"/>
            <a:endParaRPr lang="en-US" dirty="0">
              <a:latin typeface="Courier New" pitchFamily="49" charset="0"/>
            </a:endParaRPr>
          </a:p>
          <a:p>
            <a:pPr algn="l"/>
            <a:r>
              <a:rPr lang="en-US" dirty="0" err="1">
                <a:latin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</a:rPr>
              <a:t> main (void)</a:t>
            </a:r>
          </a:p>
          <a:p>
            <a:pPr algn="l"/>
            <a:r>
              <a:rPr lang="en-US" dirty="0">
                <a:latin typeface="Courier New" pitchFamily="49" charset="0"/>
              </a:rPr>
              <a:t>{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const char s1[] = "Test " ;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const char s2[] = "works." ;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char s3[20];</a:t>
            </a:r>
          </a:p>
          <a:p>
            <a:pPr lvl="1" algn="l"/>
            <a:r>
              <a:rPr lang="en-US" dirty="0" err="1">
                <a:latin typeface="Courier New" pitchFamily="49" charset="0"/>
              </a:rPr>
              <a:t>concat</a:t>
            </a:r>
            <a:r>
              <a:rPr lang="en-US" dirty="0">
                <a:latin typeface="Courier New" pitchFamily="49" charset="0"/>
              </a:rPr>
              <a:t> (s3, s1, s2);</a:t>
            </a:r>
          </a:p>
          <a:p>
            <a:pPr lvl="1" algn="l"/>
            <a:r>
              <a:rPr lang="en-US" dirty="0" err="1">
                <a:latin typeface="Courier New" pitchFamily="49" charset="0"/>
              </a:rPr>
              <a:t>printf</a:t>
            </a:r>
            <a:r>
              <a:rPr lang="en-US" dirty="0">
                <a:latin typeface="Courier New" pitchFamily="49" charset="0"/>
              </a:rPr>
              <a:t> ("%s\n", s3);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return 0;</a:t>
            </a:r>
          </a:p>
          <a:p>
            <a:pPr algn="l"/>
            <a:r>
              <a:rPr lang="en-US" dirty="0">
                <a:latin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Example: concatenate strings</a:t>
            </a: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1222381" y="1285860"/>
            <a:ext cx="8421717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dirty="0">
                <a:latin typeface="Courier New" pitchFamily="49" charset="0"/>
              </a:rPr>
              <a:t>// Function to concatenate two character strings</a:t>
            </a:r>
          </a:p>
          <a:p>
            <a:pPr algn="l"/>
            <a:r>
              <a:rPr lang="en-US" dirty="0">
                <a:latin typeface="Courier New" pitchFamily="49" charset="0"/>
              </a:rPr>
              <a:t>void </a:t>
            </a:r>
            <a:r>
              <a:rPr lang="en-US" dirty="0" err="1">
                <a:latin typeface="Courier New" pitchFamily="49" charset="0"/>
              </a:rPr>
              <a:t>concat</a:t>
            </a:r>
            <a:r>
              <a:rPr lang="en-US" dirty="0">
                <a:latin typeface="Courier New" pitchFamily="49" charset="0"/>
              </a:rPr>
              <a:t> (char result[], const char str1[], </a:t>
            </a:r>
          </a:p>
          <a:p>
            <a:pPr algn="l"/>
            <a:r>
              <a:rPr lang="en-US" dirty="0">
                <a:latin typeface="Courier New" pitchFamily="49" charset="0"/>
              </a:rPr>
              <a:t>					</a:t>
            </a:r>
            <a:r>
              <a:rPr lang="en-US" dirty="0" smtClean="0">
                <a:latin typeface="Courier New" pitchFamily="49" charset="0"/>
              </a:rPr>
              <a:t>const </a:t>
            </a:r>
            <a:r>
              <a:rPr lang="en-US" dirty="0">
                <a:latin typeface="Courier New" pitchFamily="49" charset="0"/>
              </a:rPr>
              <a:t>char str2[])</a:t>
            </a:r>
          </a:p>
          <a:p>
            <a:pPr algn="l"/>
            <a:r>
              <a:rPr lang="en-US" dirty="0">
                <a:latin typeface="Courier New" pitchFamily="49" charset="0"/>
              </a:rPr>
              <a:t>{</a:t>
            </a:r>
          </a:p>
          <a:p>
            <a:pPr lvl="1" algn="l"/>
            <a:r>
              <a:rPr lang="en-US" dirty="0" err="1">
                <a:latin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</a:rPr>
              <a:t>, j;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// copy str1 to result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for ( 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</a:rPr>
              <a:t> = 0; str1[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</a:rPr>
              <a:t>] != '\0'; ++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</a:rPr>
              <a:t> )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	result[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</a:rPr>
              <a:t>] = str1[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</a:rPr>
              <a:t>];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// copy str2 to result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for ( j = 0; str2[j] != '\0'; ++j )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	result[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</a:rPr>
              <a:t> + j] = str2[j];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// Terminate the concatenated string with a </a:t>
            </a:r>
            <a:r>
              <a:rPr lang="en-US" dirty="0" smtClean="0">
                <a:latin typeface="Courier New" pitchFamily="49" charset="0"/>
              </a:rPr>
              <a:t>null</a:t>
            </a:r>
            <a:endParaRPr lang="en-US" dirty="0">
              <a:latin typeface="Courier New" pitchFamily="49" charset="0"/>
            </a:endParaRPr>
          </a:p>
          <a:p>
            <a:pPr lvl="1" algn="l"/>
            <a:r>
              <a:rPr lang="en-US" dirty="0">
                <a:latin typeface="Courier New" pitchFamily="49" charset="0"/>
              </a:rPr>
              <a:t>result [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</a:rPr>
              <a:t> + j] = '\0';</a:t>
            </a:r>
          </a:p>
          <a:p>
            <a:pPr algn="l"/>
            <a:r>
              <a:rPr lang="en-US" dirty="0">
                <a:latin typeface="Courier New" pitchFamily="49" charset="0"/>
              </a:rPr>
              <a:t>}</a:t>
            </a:r>
          </a:p>
          <a:p>
            <a:pPr algn="l"/>
            <a:endParaRPr lang="en-US" dirty="0">
              <a:latin typeface="Courier New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Testing strings for equality</a:t>
            </a:r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658816" y="1214422"/>
            <a:ext cx="8199464" cy="341632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dirty="0" err="1">
                <a:latin typeface="Courier New" pitchFamily="49" charset="0"/>
              </a:rPr>
              <a:t>bool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</a:rPr>
              <a:t>equalStrings</a:t>
            </a:r>
            <a:r>
              <a:rPr lang="en-US" dirty="0">
                <a:latin typeface="Courier New" pitchFamily="49" charset="0"/>
              </a:rPr>
              <a:t> (const char s1[], const char s2[])</a:t>
            </a:r>
          </a:p>
          <a:p>
            <a:pPr algn="l"/>
            <a:r>
              <a:rPr lang="en-US" dirty="0">
                <a:latin typeface="Courier New" pitchFamily="49" charset="0"/>
              </a:rPr>
              <a:t>{</a:t>
            </a:r>
          </a:p>
          <a:p>
            <a:pPr lvl="1" algn="l"/>
            <a:r>
              <a:rPr lang="en-US" dirty="0" err="1">
                <a:latin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</a:rPr>
              <a:t> = 0;</a:t>
            </a:r>
          </a:p>
          <a:p>
            <a:pPr lvl="1" algn="l"/>
            <a:r>
              <a:rPr lang="en-US" dirty="0" err="1">
                <a:latin typeface="Courier New" pitchFamily="49" charset="0"/>
              </a:rPr>
              <a:t>bool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</a:rPr>
              <a:t>areEqual</a:t>
            </a:r>
            <a:r>
              <a:rPr lang="en-US" dirty="0">
                <a:latin typeface="Courier New" pitchFamily="49" charset="0"/>
              </a:rPr>
              <a:t>;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while </a:t>
            </a:r>
            <a:r>
              <a:rPr lang="en-US" dirty="0" smtClean="0">
                <a:latin typeface="Courier New" pitchFamily="49" charset="0"/>
              </a:rPr>
              <a:t>(s1[</a:t>
            </a:r>
            <a:r>
              <a:rPr lang="en-US" dirty="0" err="1" smtClean="0">
                <a:latin typeface="Courier New" pitchFamily="49" charset="0"/>
              </a:rPr>
              <a:t>i</a:t>
            </a:r>
            <a:r>
              <a:rPr lang="en-US" dirty="0" smtClean="0">
                <a:latin typeface="Courier New" pitchFamily="49" charset="0"/>
              </a:rPr>
              <a:t>]==s2[</a:t>
            </a:r>
            <a:r>
              <a:rPr lang="en-US" dirty="0" err="1" smtClean="0">
                <a:latin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</a:rPr>
              <a:t>] &amp;&amp;  s1[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 smtClean="0">
                <a:latin typeface="Courier New" pitchFamily="49" charset="0"/>
              </a:rPr>
              <a:t>]!='\</a:t>
            </a:r>
            <a:r>
              <a:rPr lang="en-US" dirty="0">
                <a:latin typeface="Courier New" pitchFamily="49" charset="0"/>
              </a:rPr>
              <a:t>0' &amp;&amp; s2[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 smtClean="0">
                <a:latin typeface="Courier New" pitchFamily="49" charset="0"/>
              </a:rPr>
              <a:t>]!='\</a:t>
            </a:r>
            <a:r>
              <a:rPr lang="en-US" dirty="0">
                <a:latin typeface="Courier New" pitchFamily="49" charset="0"/>
              </a:rPr>
              <a:t>0' )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	++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</a:rPr>
              <a:t>;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if ( s1[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</a:rPr>
              <a:t>] == '\0' &amp;&amp; s2[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</a:rPr>
              <a:t>] == '\0' )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	</a:t>
            </a:r>
            <a:r>
              <a:rPr lang="en-US" dirty="0" err="1">
                <a:latin typeface="Courier New" pitchFamily="49" charset="0"/>
              </a:rPr>
              <a:t>areEqual</a:t>
            </a:r>
            <a:r>
              <a:rPr lang="en-US" dirty="0">
                <a:latin typeface="Courier New" pitchFamily="49" charset="0"/>
              </a:rPr>
              <a:t> = true;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else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	</a:t>
            </a:r>
            <a:r>
              <a:rPr lang="en-US" dirty="0" err="1">
                <a:latin typeface="Courier New" pitchFamily="49" charset="0"/>
              </a:rPr>
              <a:t>areEqual</a:t>
            </a:r>
            <a:r>
              <a:rPr lang="en-US" dirty="0">
                <a:latin typeface="Courier New" pitchFamily="49" charset="0"/>
              </a:rPr>
              <a:t> = false;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return </a:t>
            </a:r>
            <a:r>
              <a:rPr lang="en-US" dirty="0" err="1">
                <a:latin typeface="Courier New" pitchFamily="49" charset="0"/>
              </a:rPr>
              <a:t>areEqual</a:t>
            </a:r>
            <a:r>
              <a:rPr lang="en-US" dirty="0">
                <a:latin typeface="Courier New" pitchFamily="49" charset="0"/>
              </a:rPr>
              <a:t>;</a:t>
            </a:r>
          </a:p>
          <a:p>
            <a:pPr algn="l"/>
            <a:r>
              <a:rPr lang="en-US" dirty="0">
                <a:latin typeface="Courier New" pitchFamily="49" charset="0"/>
              </a:rPr>
              <a:t>}</a:t>
            </a:r>
          </a:p>
        </p:txBody>
      </p:sp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2117725" y="5224463"/>
            <a:ext cx="3697288" cy="64135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600" b="1"/>
              <a:t>!!! NOT</a:t>
            </a:r>
            <a:r>
              <a:rPr lang="en-US" sz="3600"/>
              <a:t>:  s1==s2</a:t>
            </a:r>
            <a:r>
              <a:rPr lang="en-US" sz="2400"/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Alphabetically comparing strings</a:t>
            </a:r>
          </a:p>
        </p:txBody>
      </p:sp>
      <p:sp>
        <p:nvSpPr>
          <p:cNvPr id="25604" name="Text Box 4"/>
          <p:cNvSpPr txBox="1">
            <a:spLocks noChangeArrowheads="1"/>
          </p:cNvSpPr>
          <p:nvPr/>
        </p:nvSpPr>
        <p:spPr bwMode="auto">
          <a:xfrm>
            <a:off x="2520950" y="5430838"/>
            <a:ext cx="3905250" cy="1190625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600"/>
              <a:t>!!!  NOT:  s1 &lt;  s2 </a:t>
            </a:r>
          </a:p>
          <a:p>
            <a:r>
              <a:rPr lang="en-US" sz="3600"/>
              <a:t>!!!  NOT:  s1  &gt; s2</a:t>
            </a:r>
            <a:r>
              <a:rPr lang="en-US" sz="2400"/>
              <a:t> </a:t>
            </a:r>
          </a:p>
        </p:txBody>
      </p:sp>
      <p:sp>
        <p:nvSpPr>
          <p:cNvPr id="25605" name="Text Box 5"/>
          <p:cNvSpPr txBox="1">
            <a:spLocks noChangeArrowheads="1"/>
          </p:cNvSpPr>
          <p:nvPr/>
        </p:nvSpPr>
        <p:spPr bwMode="auto">
          <a:xfrm>
            <a:off x="357158" y="1142984"/>
            <a:ext cx="8423275" cy="3937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dirty="0">
                <a:latin typeface="Courier New" pitchFamily="49" charset="0"/>
              </a:rPr>
              <a:t>// Function to compare two character strings</a:t>
            </a:r>
          </a:p>
          <a:p>
            <a:pPr algn="l"/>
            <a:r>
              <a:rPr lang="en-US" dirty="0" err="1">
                <a:latin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</a:rPr>
              <a:t>compareStrings</a:t>
            </a:r>
            <a:r>
              <a:rPr lang="en-US" dirty="0">
                <a:latin typeface="Courier New" pitchFamily="49" charset="0"/>
              </a:rPr>
              <a:t> (const char s1[], const char s2[])</a:t>
            </a:r>
          </a:p>
          <a:p>
            <a:pPr algn="l"/>
            <a:r>
              <a:rPr lang="en-US" dirty="0">
                <a:latin typeface="Courier New" pitchFamily="49" charset="0"/>
              </a:rPr>
              <a:t>{</a:t>
            </a:r>
          </a:p>
          <a:p>
            <a:pPr lvl="1" algn="l"/>
            <a:r>
              <a:rPr lang="en-US" dirty="0" err="1">
                <a:latin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</a:rPr>
              <a:t> = 0, answer;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while ( s1[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</a:rPr>
              <a:t>] == s2[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</a:rPr>
              <a:t>] &amp;&amp; s1[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</a:rPr>
              <a:t>] != '\0'&amp;&amp; s2[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</a:rPr>
              <a:t>] != '\0' )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	++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</a:rPr>
              <a:t>;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if ( s1[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</a:rPr>
              <a:t>] &lt; s2[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</a:rPr>
              <a:t>] )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	answer = -1; /* s1 &lt; s2 */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else if ( s1[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</a:rPr>
              <a:t>] == s2[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</a:rPr>
              <a:t>] )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	answer = 0; /* s1 == s2 */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else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	answer = 1; /* s1 &gt; s2 */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return answer;</a:t>
            </a:r>
          </a:p>
          <a:p>
            <a:pPr algn="l"/>
            <a:r>
              <a:rPr lang="en-US" dirty="0">
                <a:latin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Copying strings</a:t>
            </a:r>
          </a:p>
        </p:txBody>
      </p:sp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2362200" y="5105400"/>
            <a:ext cx="4268788" cy="64135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3600"/>
              <a:t>!!! NOT:  dest = srs</a:t>
            </a:r>
            <a:r>
              <a:rPr lang="en-US" sz="2400"/>
              <a:t> </a:t>
            </a:r>
          </a:p>
        </p:txBody>
      </p:sp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1500166" y="1500174"/>
            <a:ext cx="5918200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dirty="0">
                <a:latin typeface="Courier New" pitchFamily="49" charset="0"/>
              </a:rPr>
              <a:t>void </a:t>
            </a:r>
            <a:r>
              <a:rPr lang="en-US" dirty="0" err="1">
                <a:latin typeface="Courier New" pitchFamily="49" charset="0"/>
              </a:rPr>
              <a:t>copyString</a:t>
            </a:r>
            <a:r>
              <a:rPr lang="en-US" dirty="0">
                <a:latin typeface="Courier New" pitchFamily="49" charset="0"/>
              </a:rPr>
              <a:t>(char </a:t>
            </a:r>
            <a:r>
              <a:rPr lang="en-US" dirty="0" err="1">
                <a:latin typeface="Courier New" pitchFamily="49" charset="0"/>
              </a:rPr>
              <a:t>dest</a:t>
            </a:r>
            <a:r>
              <a:rPr lang="en-US" dirty="0">
                <a:latin typeface="Courier New" pitchFamily="49" charset="0"/>
              </a:rPr>
              <a:t>[], char </a:t>
            </a:r>
            <a:r>
              <a:rPr lang="en-US" dirty="0" err="1">
                <a:latin typeface="Courier New" pitchFamily="49" charset="0"/>
              </a:rPr>
              <a:t>srs</a:t>
            </a:r>
            <a:r>
              <a:rPr lang="en-US" dirty="0">
                <a:latin typeface="Courier New" pitchFamily="49" charset="0"/>
              </a:rPr>
              <a:t>[]) {</a:t>
            </a:r>
          </a:p>
          <a:p>
            <a:pPr algn="l"/>
            <a:r>
              <a:rPr lang="en-US" dirty="0">
                <a:latin typeface="Courier New" pitchFamily="49" charset="0"/>
              </a:rPr>
              <a:t>	</a:t>
            </a:r>
            <a:r>
              <a:rPr lang="en-US" dirty="0" err="1">
                <a:latin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</a:rPr>
              <a:t>; </a:t>
            </a:r>
          </a:p>
          <a:p>
            <a:pPr algn="l"/>
            <a:r>
              <a:rPr lang="en-US" dirty="0">
                <a:latin typeface="Courier New" pitchFamily="49" charset="0"/>
              </a:rPr>
              <a:t>	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</a:rPr>
              <a:t>=0;</a:t>
            </a:r>
          </a:p>
          <a:p>
            <a:pPr algn="l"/>
            <a:r>
              <a:rPr lang="en-US" dirty="0">
                <a:latin typeface="Courier New" pitchFamily="49" charset="0"/>
              </a:rPr>
              <a:t>	while ((</a:t>
            </a:r>
            <a:r>
              <a:rPr lang="en-US" dirty="0" err="1">
                <a:latin typeface="Courier New" pitchFamily="49" charset="0"/>
              </a:rPr>
              <a:t>dest</a:t>
            </a:r>
            <a:r>
              <a:rPr lang="en-US" dirty="0">
                <a:latin typeface="Courier New" pitchFamily="49" charset="0"/>
              </a:rPr>
              <a:t>[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</a:rPr>
              <a:t>] = </a:t>
            </a:r>
            <a:r>
              <a:rPr lang="en-US" dirty="0" err="1">
                <a:latin typeface="Courier New" pitchFamily="49" charset="0"/>
              </a:rPr>
              <a:t>srs</a:t>
            </a:r>
            <a:r>
              <a:rPr lang="en-US" dirty="0">
                <a:latin typeface="Courier New" pitchFamily="49" charset="0"/>
              </a:rPr>
              <a:t>[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</a:rPr>
              <a:t>]) != '\0')</a:t>
            </a:r>
          </a:p>
          <a:p>
            <a:pPr algn="l"/>
            <a:r>
              <a:rPr lang="en-US" dirty="0">
                <a:latin typeface="Courier New" pitchFamily="49" charset="0"/>
              </a:rPr>
              <a:t>		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</a:rPr>
              <a:t>++;</a:t>
            </a:r>
          </a:p>
          <a:p>
            <a:pPr algn="l"/>
            <a:r>
              <a:rPr lang="en-US" dirty="0">
                <a:latin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String functions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14442" y="1066800"/>
            <a:ext cx="7772400" cy="50292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1800" dirty="0"/>
              <a:t>The C library supplies several string-handling functions;  You don’t have to re-write them from scratch !</a:t>
            </a:r>
          </a:p>
          <a:p>
            <a:pPr>
              <a:lnSpc>
                <a:spcPct val="80000"/>
              </a:lnSpc>
            </a:pPr>
            <a:r>
              <a:rPr lang="en-US" sz="1800" dirty="0"/>
              <a:t>ANSI C uses the &lt;</a:t>
            </a:r>
            <a:r>
              <a:rPr lang="en-US" sz="1800" dirty="0" err="1"/>
              <a:t>string.h</a:t>
            </a:r>
            <a:r>
              <a:rPr lang="en-US" sz="1800" dirty="0"/>
              <a:t>&gt; header file to provide the prototypes. </a:t>
            </a:r>
          </a:p>
          <a:p>
            <a:pPr>
              <a:lnSpc>
                <a:spcPct val="80000"/>
              </a:lnSpc>
            </a:pPr>
            <a:r>
              <a:rPr lang="en-US" sz="1800" dirty="0"/>
              <a:t>Most frequently used functions: </a:t>
            </a:r>
            <a:r>
              <a:rPr lang="en-US" sz="1800" dirty="0" err="1"/>
              <a:t>strlen</a:t>
            </a:r>
            <a:r>
              <a:rPr lang="en-US" sz="1800" dirty="0"/>
              <a:t>(), </a:t>
            </a:r>
            <a:r>
              <a:rPr lang="en-US" sz="1800" dirty="0" err="1"/>
              <a:t>strcat</a:t>
            </a:r>
            <a:r>
              <a:rPr lang="en-US" sz="1800" dirty="0"/>
              <a:t>(), </a:t>
            </a:r>
            <a:r>
              <a:rPr lang="en-US" sz="1800" dirty="0" err="1"/>
              <a:t>strncat</a:t>
            </a:r>
            <a:r>
              <a:rPr lang="en-US" sz="1800" dirty="0"/>
              <a:t>(), </a:t>
            </a:r>
            <a:r>
              <a:rPr lang="en-US" sz="1800" dirty="0" err="1"/>
              <a:t>strcmp</a:t>
            </a:r>
            <a:r>
              <a:rPr lang="en-US" sz="1800" dirty="0"/>
              <a:t>(), </a:t>
            </a:r>
            <a:r>
              <a:rPr lang="en-US" sz="1800" dirty="0" err="1"/>
              <a:t>strncmp</a:t>
            </a:r>
            <a:r>
              <a:rPr lang="en-US" sz="1800" dirty="0"/>
              <a:t>(), </a:t>
            </a:r>
            <a:r>
              <a:rPr lang="en-US" sz="1800" dirty="0" err="1"/>
              <a:t>strcpy</a:t>
            </a:r>
            <a:r>
              <a:rPr lang="en-US" sz="1800" dirty="0"/>
              <a:t>(), and </a:t>
            </a:r>
            <a:r>
              <a:rPr lang="en-US" sz="1800" dirty="0" err="1"/>
              <a:t>strncpy</a:t>
            </a:r>
            <a:r>
              <a:rPr lang="en-US" sz="1800" dirty="0"/>
              <a:t>(). 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800" dirty="0"/>
          </a:p>
          <a:p>
            <a:pPr>
              <a:lnSpc>
                <a:spcPct val="80000"/>
              </a:lnSpc>
            </a:pPr>
            <a:r>
              <a:rPr lang="en-US" sz="1800" dirty="0"/>
              <a:t>#include &lt;</a:t>
            </a:r>
            <a:r>
              <a:rPr lang="en-US" sz="1800" dirty="0" err="1"/>
              <a:t>string.h</a:t>
            </a:r>
            <a:r>
              <a:rPr lang="en-US" sz="1800" dirty="0"/>
              <a:t>&gt;</a:t>
            </a:r>
          </a:p>
          <a:p>
            <a:pPr>
              <a:lnSpc>
                <a:spcPct val="80000"/>
              </a:lnSpc>
            </a:pPr>
            <a:r>
              <a:rPr lang="en-US" sz="1800" dirty="0" err="1"/>
              <a:t>strcat</a:t>
            </a:r>
            <a:r>
              <a:rPr lang="en-US" sz="1800" dirty="0"/>
              <a:t> (</a:t>
            </a:r>
            <a:r>
              <a:rPr lang="en-US" sz="1800" i="1" dirty="0"/>
              <a:t>s1, s2</a:t>
            </a:r>
            <a:r>
              <a:rPr lang="en-US" sz="1800" dirty="0"/>
              <a:t>)</a:t>
            </a:r>
          </a:p>
          <a:p>
            <a:pPr lvl="1">
              <a:lnSpc>
                <a:spcPct val="80000"/>
              </a:lnSpc>
            </a:pPr>
            <a:r>
              <a:rPr lang="en-US" sz="1800" dirty="0"/>
              <a:t>Concatenates the character string </a:t>
            </a:r>
            <a:r>
              <a:rPr lang="en-US" sz="1800" i="1" dirty="0"/>
              <a:t>s2 </a:t>
            </a:r>
            <a:r>
              <a:rPr lang="en-US" sz="1800" dirty="0"/>
              <a:t>to the end of </a:t>
            </a:r>
            <a:r>
              <a:rPr lang="en-US" sz="1800" i="1" dirty="0"/>
              <a:t>s1</a:t>
            </a:r>
            <a:r>
              <a:rPr lang="en-US" sz="1800" dirty="0"/>
              <a:t>, placing a null character at the end of the final </a:t>
            </a:r>
            <a:r>
              <a:rPr lang="en-US" sz="1800" dirty="0" err="1"/>
              <a:t>string.The</a:t>
            </a:r>
            <a:r>
              <a:rPr lang="en-US" sz="1800" dirty="0"/>
              <a:t> function also returns </a:t>
            </a:r>
            <a:r>
              <a:rPr lang="en-US" sz="1800" i="1" dirty="0"/>
              <a:t>s1</a:t>
            </a:r>
            <a:r>
              <a:rPr lang="en-US" sz="1800" dirty="0"/>
              <a:t>.</a:t>
            </a:r>
          </a:p>
          <a:p>
            <a:pPr>
              <a:lnSpc>
                <a:spcPct val="80000"/>
              </a:lnSpc>
            </a:pPr>
            <a:r>
              <a:rPr lang="en-US" sz="1800" dirty="0" err="1"/>
              <a:t>strcmp</a:t>
            </a:r>
            <a:r>
              <a:rPr lang="en-US" sz="1800" dirty="0"/>
              <a:t> (</a:t>
            </a:r>
            <a:r>
              <a:rPr lang="en-US" sz="1800" i="1" dirty="0"/>
              <a:t>s1, s2</a:t>
            </a:r>
            <a:r>
              <a:rPr lang="en-US" sz="1800" dirty="0"/>
              <a:t>)</a:t>
            </a:r>
          </a:p>
          <a:p>
            <a:pPr lvl="1">
              <a:lnSpc>
                <a:spcPct val="80000"/>
              </a:lnSpc>
            </a:pPr>
            <a:r>
              <a:rPr lang="en-US" sz="1800" dirty="0"/>
              <a:t>Compares strings </a:t>
            </a:r>
            <a:r>
              <a:rPr lang="en-US" sz="1800" i="1" dirty="0"/>
              <a:t>s1 </a:t>
            </a:r>
            <a:r>
              <a:rPr lang="en-US" sz="1800" dirty="0"/>
              <a:t>and </a:t>
            </a:r>
            <a:r>
              <a:rPr lang="en-US" sz="1800" i="1" dirty="0"/>
              <a:t>s2 </a:t>
            </a:r>
            <a:r>
              <a:rPr lang="en-US" sz="1800" dirty="0"/>
              <a:t>and returns a value less than zero if </a:t>
            </a:r>
            <a:r>
              <a:rPr lang="en-US" sz="1800" i="1" dirty="0"/>
              <a:t>s1 </a:t>
            </a:r>
            <a:r>
              <a:rPr lang="en-US" sz="1800" dirty="0"/>
              <a:t>is less than </a:t>
            </a:r>
            <a:r>
              <a:rPr lang="en-US" sz="1800" i="1" dirty="0"/>
              <a:t>s2</a:t>
            </a:r>
            <a:r>
              <a:rPr lang="en-US" sz="1800" dirty="0"/>
              <a:t>, equal to zero if </a:t>
            </a:r>
            <a:r>
              <a:rPr lang="en-US" sz="1800" i="1" dirty="0"/>
              <a:t>s1 </a:t>
            </a:r>
            <a:r>
              <a:rPr lang="en-US" sz="1800" dirty="0"/>
              <a:t>is equal to </a:t>
            </a:r>
            <a:r>
              <a:rPr lang="en-US" sz="1800" i="1" dirty="0"/>
              <a:t>s2</a:t>
            </a:r>
            <a:r>
              <a:rPr lang="en-US" sz="1800" dirty="0"/>
              <a:t>, and greater than zero if </a:t>
            </a:r>
            <a:r>
              <a:rPr lang="en-US" sz="1800" i="1" dirty="0"/>
              <a:t>s1 </a:t>
            </a:r>
            <a:r>
              <a:rPr lang="en-US" sz="1800" dirty="0"/>
              <a:t>is greater than </a:t>
            </a:r>
            <a:r>
              <a:rPr lang="en-US" sz="1800" i="1" dirty="0"/>
              <a:t>s2</a:t>
            </a:r>
            <a:r>
              <a:rPr lang="en-US" sz="1800" dirty="0"/>
              <a:t>.</a:t>
            </a:r>
          </a:p>
          <a:p>
            <a:pPr>
              <a:lnSpc>
                <a:spcPct val="80000"/>
              </a:lnSpc>
            </a:pPr>
            <a:r>
              <a:rPr lang="en-US" sz="1800" dirty="0" err="1"/>
              <a:t>strcpy</a:t>
            </a:r>
            <a:r>
              <a:rPr lang="en-US" sz="1800" dirty="0"/>
              <a:t> (</a:t>
            </a:r>
            <a:r>
              <a:rPr lang="en-US" sz="1800" i="1" dirty="0"/>
              <a:t>s1, s2</a:t>
            </a:r>
            <a:r>
              <a:rPr lang="en-US" sz="1800" dirty="0"/>
              <a:t>)</a:t>
            </a:r>
          </a:p>
          <a:p>
            <a:pPr lvl="1">
              <a:lnSpc>
                <a:spcPct val="80000"/>
              </a:lnSpc>
            </a:pPr>
            <a:r>
              <a:rPr lang="en-US" sz="1800" dirty="0"/>
              <a:t>Copies the string </a:t>
            </a:r>
            <a:r>
              <a:rPr lang="en-US" sz="1800" i="1" dirty="0"/>
              <a:t>s2 </a:t>
            </a:r>
            <a:r>
              <a:rPr lang="en-US" sz="1800" dirty="0"/>
              <a:t>to </a:t>
            </a:r>
            <a:r>
              <a:rPr lang="en-US" sz="1800" i="1" dirty="0"/>
              <a:t>s1</a:t>
            </a:r>
            <a:r>
              <a:rPr lang="en-US" sz="1800" dirty="0"/>
              <a:t>, also returning </a:t>
            </a:r>
            <a:r>
              <a:rPr lang="en-US" sz="1800" i="1" dirty="0"/>
              <a:t>s1</a:t>
            </a:r>
            <a:r>
              <a:rPr lang="en-US" sz="1800" dirty="0"/>
              <a:t>.</a:t>
            </a:r>
          </a:p>
          <a:p>
            <a:pPr>
              <a:lnSpc>
                <a:spcPct val="80000"/>
              </a:lnSpc>
            </a:pPr>
            <a:r>
              <a:rPr lang="en-US" sz="1800" dirty="0" err="1"/>
              <a:t>strlen</a:t>
            </a:r>
            <a:r>
              <a:rPr lang="en-US" sz="1800" dirty="0"/>
              <a:t> (</a:t>
            </a:r>
            <a:r>
              <a:rPr lang="en-US" sz="1800" i="1" dirty="0"/>
              <a:t>s</a:t>
            </a:r>
            <a:r>
              <a:rPr lang="en-US" sz="1800" dirty="0"/>
              <a:t>)</a:t>
            </a:r>
          </a:p>
          <a:p>
            <a:pPr lvl="1">
              <a:lnSpc>
                <a:spcPct val="80000"/>
              </a:lnSpc>
            </a:pPr>
            <a:r>
              <a:rPr lang="en-US" sz="1800" dirty="0"/>
              <a:t>Returns the number of characters in </a:t>
            </a:r>
            <a:r>
              <a:rPr lang="en-US" sz="1800" i="1" dirty="0"/>
              <a:t>s</a:t>
            </a:r>
            <a:r>
              <a:rPr lang="en-US" sz="1800" dirty="0"/>
              <a:t>, excluding the null character.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String functions (cont.)</a:t>
            </a:r>
          </a:p>
        </p:txBody>
      </p:sp>
      <p:sp>
        <p:nvSpPr>
          <p:cNvPr id="30724" name="Text Box 4"/>
          <p:cNvSpPr txBox="1">
            <a:spLocks noChangeArrowheads="1"/>
          </p:cNvSpPr>
          <p:nvPr/>
        </p:nvSpPr>
        <p:spPr bwMode="auto">
          <a:xfrm>
            <a:off x="669925" y="1712913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1800"/>
              <a:t>strncat (</a:t>
            </a:r>
            <a:r>
              <a:rPr lang="en-US" sz="1800" i="1"/>
              <a:t>s1, s2, n</a:t>
            </a:r>
            <a:r>
              <a:rPr lang="en-US" sz="1800"/>
              <a:t>)</a:t>
            </a:r>
          </a:p>
          <a:p>
            <a:pPr lvl="1">
              <a:lnSpc>
                <a:spcPct val="80000"/>
              </a:lnSpc>
            </a:pPr>
            <a:r>
              <a:rPr lang="en-US" sz="1800"/>
              <a:t>Copies </a:t>
            </a:r>
            <a:r>
              <a:rPr lang="en-US" sz="1800" i="1"/>
              <a:t>s2 </a:t>
            </a:r>
            <a:r>
              <a:rPr lang="en-US" sz="1800"/>
              <a:t>to the </a:t>
            </a:r>
            <a:r>
              <a:rPr lang="en-US" sz="1800" i="1"/>
              <a:t>end </a:t>
            </a:r>
            <a:r>
              <a:rPr lang="en-US" sz="1800"/>
              <a:t>of </a:t>
            </a:r>
            <a:r>
              <a:rPr lang="en-US" sz="1800" i="1"/>
              <a:t>s1 </a:t>
            </a:r>
            <a:r>
              <a:rPr lang="en-US" sz="1800"/>
              <a:t>until either the null character is reached or </a:t>
            </a:r>
            <a:r>
              <a:rPr lang="en-US" sz="1800" i="1"/>
              <a:t>n </a:t>
            </a:r>
            <a:r>
              <a:rPr lang="en-US" sz="1800"/>
              <a:t>characters have been copied, whichever occurs first. Returns </a:t>
            </a:r>
            <a:r>
              <a:rPr lang="en-US" sz="1800" i="1"/>
              <a:t>s1</a:t>
            </a:r>
            <a:r>
              <a:rPr lang="en-US" sz="1800"/>
              <a:t>.</a:t>
            </a:r>
          </a:p>
          <a:p>
            <a:pPr>
              <a:lnSpc>
                <a:spcPct val="80000"/>
              </a:lnSpc>
            </a:pPr>
            <a:r>
              <a:rPr lang="en-US" sz="1800"/>
              <a:t>strncmp (</a:t>
            </a:r>
            <a:r>
              <a:rPr lang="en-US" sz="1800" i="1"/>
              <a:t>s1, s2, n</a:t>
            </a:r>
            <a:r>
              <a:rPr lang="en-US" sz="1800"/>
              <a:t>)</a:t>
            </a:r>
          </a:p>
          <a:p>
            <a:pPr lvl="1">
              <a:lnSpc>
                <a:spcPct val="80000"/>
              </a:lnSpc>
            </a:pPr>
            <a:r>
              <a:rPr lang="en-US" sz="1800"/>
              <a:t>Performs the same function as strcmp, except that at most </a:t>
            </a:r>
            <a:r>
              <a:rPr lang="en-US" sz="1800" i="1"/>
              <a:t>n </a:t>
            </a:r>
            <a:r>
              <a:rPr lang="en-US" sz="1800"/>
              <a:t>characters from the strings are compared.</a:t>
            </a:r>
          </a:p>
          <a:p>
            <a:pPr>
              <a:lnSpc>
                <a:spcPct val="80000"/>
              </a:lnSpc>
            </a:pPr>
            <a:r>
              <a:rPr lang="en-US" sz="1800"/>
              <a:t>strncpy (</a:t>
            </a:r>
            <a:r>
              <a:rPr lang="en-US" sz="1800" i="1"/>
              <a:t>s1, s2, n</a:t>
            </a:r>
            <a:r>
              <a:rPr lang="en-US" sz="1800"/>
              <a:t>)</a:t>
            </a:r>
          </a:p>
          <a:p>
            <a:pPr lvl="1">
              <a:lnSpc>
                <a:spcPct val="80000"/>
              </a:lnSpc>
            </a:pPr>
            <a:r>
              <a:rPr lang="en-US" sz="1800"/>
              <a:t>Copies </a:t>
            </a:r>
            <a:r>
              <a:rPr lang="en-US" sz="1800" i="1"/>
              <a:t>s2 </a:t>
            </a:r>
            <a:r>
              <a:rPr lang="en-US" sz="1800"/>
              <a:t>to </a:t>
            </a:r>
            <a:r>
              <a:rPr lang="en-US" sz="1800" i="1"/>
              <a:t>s1 </a:t>
            </a:r>
            <a:r>
              <a:rPr lang="en-US" sz="1800"/>
              <a:t>until either the null character is reached or </a:t>
            </a:r>
            <a:r>
              <a:rPr lang="en-US" sz="1800" i="1"/>
              <a:t>n </a:t>
            </a:r>
            <a:r>
              <a:rPr lang="en-US" sz="1800"/>
              <a:t>characters have been copied, whichever occurs first. Returns </a:t>
            </a:r>
            <a:r>
              <a:rPr lang="en-US" sz="1800" i="1"/>
              <a:t>s1</a:t>
            </a:r>
            <a:r>
              <a:rPr lang="en-US" sz="1800"/>
              <a:t>.</a:t>
            </a:r>
          </a:p>
          <a:p>
            <a:pPr>
              <a:lnSpc>
                <a:spcPct val="80000"/>
              </a:lnSpc>
            </a:pPr>
            <a:r>
              <a:rPr lang="en-US" sz="1800"/>
              <a:t>strchr (</a:t>
            </a:r>
            <a:r>
              <a:rPr lang="en-US" sz="1800" i="1"/>
              <a:t>s, c</a:t>
            </a:r>
            <a:r>
              <a:rPr lang="en-US" sz="1800"/>
              <a:t>)</a:t>
            </a:r>
          </a:p>
          <a:p>
            <a:pPr lvl="1">
              <a:lnSpc>
                <a:spcPct val="80000"/>
              </a:lnSpc>
            </a:pPr>
            <a:r>
              <a:rPr lang="en-US" sz="1800"/>
              <a:t>Searches the string </a:t>
            </a:r>
            <a:r>
              <a:rPr lang="en-US" sz="1800" i="1"/>
              <a:t>s </a:t>
            </a:r>
            <a:r>
              <a:rPr lang="en-US" sz="1800"/>
              <a:t>for the last occurrence of the character </a:t>
            </a:r>
            <a:r>
              <a:rPr lang="en-US" sz="1800" i="1"/>
              <a:t>c</a:t>
            </a:r>
            <a:r>
              <a:rPr lang="en-US" sz="1800"/>
              <a:t>. If found, a pointer to the character in </a:t>
            </a:r>
            <a:r>
              <a:rPr lang="en-US" sz="1800" i="1"/>
              <a:t>s </a:t>
            </a:r>
            <a:r>
              <a:rPr lang="en-US" sz="1800"/>
              <a:t>is returned; otherwise, the null pointer is returned.</a:t>
            </a:r>
          </a:p>
          <a:p>
            <a:pPr>
              <a:lnSpc>
                <a:spcPct val="80000"/>
              </a:lnSpc>
            </a:pPr>
            <a:r>
              <a:rPr lang="en-US" sz="1800"/>
              <a:t>strstr (</a:t>
            </a:r>
            <a:r>
              <a:rPr lang="en-US" sz="1800" i="1"/>
              <a:t>s1, s2</a:t>
            </a:r>
            <a:r>
              <a:rPr lang="en-US" sz="1800"/>
              <a:t>)</a:t>
            </a:r>
          </a:p>
          <a:p>
            <a:pPr lvl="1">
              <a:lnSpc>
                <a:spcPct val="80000"/>
              </a:lnSpc>
            </a:pPr>
            <a:r>
              <a:rPr lang="en-US" sz="1800"/>
              <a:t>Searches the string </a:t>
            </a:r>
            <a:r>
              <a:rPr lang="en-US" sz="1800" i="1"/>
              <a:t>s1 </a:t>
            </a:r>
            <a:r>
              <a:rPr lang="en-US" sz="1800"/>
              <a:t>for the first occurrence of the string </a:t>
            </a:r>
            <a:r>
              <a:rPr lang="en-US" sz="1800" i="1"/>
              <a:t>s2</a:t>
            </a:r>
            <a:r>
              <a:rPr lang="en-US" sz="1800"/>
              <a:t>. If found, a pointer to the start of where </a:t>
            </a:r>
            <a:r>
              <a:rPr lang="en-US" sz="1800" i="1"/>
              <a:t>s2 </a:t>
            </a:r>
            <a:r>
              <a:rPr lang="en-US" sz="1800"/>
              <a:t>is located inside </a:t>
            </a:r>
            <a:r>
              <a:rPr lang="en-US" sz="1800" i="1"/>
              <a:t>s1 </a:t>
            </a:r>
            <a:r>
              <a:rPr lang="en-US" sz="1800"/>
              <a:t>is returned; otherwise, if </a:t>
            </a:r>
            <a:r>
              <a:rPr lang="en-US" sz="1800" i="1"/>
              <a:t>s2 </a:t>
            </a:r>
            <a:r>
              <a:rPr lang="en-US" sz="1800"/>
              <a:t>is not located inside </a:t>
            </a:r>
            <a:r>
              <a:rPr lang="en-US" sz="1800" i="1"/>
              <a:t>s1</a:t>
            </a:r>
            <a:r>
              <a:rPr lang="en-US" sz="1800"/>
              <a:t>, the null pointer is returned.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String functions</a:t>
            </a:r>
          </a:p>
        </p:txBody>
      </p:sp>
      <p:sp>
        <p:nvSpPr>
          <p:cNvPr id="41988" name="Text Box 1028"/>
          <p:cNvSpPr txBox="1">
            <a:spLocks noChangeArrowheads="1"/>
          </p:cNvSpPr>
          <p:nvPr/>
        </p:nvSpPr>
        <p:spPr bwMode="auto">
          <a:xfrm>
            <a:off x="714406" y="1142984"/>
            <a:ext cx="8286750" cy="42116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dirty="0">
                <a:latin typeface="Courier New" pitchFamily="49" charset="0"/>
              </a:rPr>
              <a:t>#include &lt;</a:t>
            </a:r>
            <a:r>
              <a:rPr lang="en-US" dirty="0" err="1">
                <a:latin typeface="Courier New" pitchFamily="49" charset="0"/>
              </a:rPr>
              <a:t>stdio.h</a:t>
            </a:r>
            <a:r>
              <a:rPr lang="en-US" dirty="0">
                <a:latin typeface="Courier New" pitchFamily="49" charset="0"/>
              </a:rPr>
              <a:t>&gt; </a:t>
            </a:r>
          </a:p>
          <a:p>
            <a:pPr algn="l"/>
            <a:endParaRPr lang="en-US" dirty="0">
              <a:latin typeface="Courier New" pitchFamily="49" charset="0"/>
            </a:endParaRPr>
          </a:p>
          <a:p>
            <a:pPr algn="l"/>
            <a:r>
              <a:rPr lang="en-US" dirty="0">
                <a:latin typeface="Courier New" pitchFamily="49" charset="0"/>
              </a:rPr>
              <a:t>#include &lt;</a:t>
            </a:r>
            <a:r>
              <a:rPr lang="en-US" dirty="0" err="1">
                <a:latin typeface="Courier New" pitchFamily="49" charset="0"/>
              </a:rPr>
              <a:t>string.h</a:t>
            </a:r>
            <a:r>
              <a:rPr lang="en-US" dirty="0">
                <a:latin typeface="Courier New" pitchFamily="49" charset="0"/>
              </a:rPr>
              <a:t>&gt; /* provides </a:t>
            </a:r>
            <a:r>
              <a:rPr lang="en-US" dirty="0" err="1">
                <a:latin typeface="Courier New" pitchFamily="49" charset="0"/>
              </a:rPr>
              <a:t>strlen</a:t>
            </a:r>
            <a:r>
              <a:rPr lang="en-US" dirty="0">
                <a:latin typeface="Courier New" pitchFamily="49" charset="0"/>
              </a:rPr>
              <a:t>() prototype */ </a:t>
            </a:r>
          </a:p>
          <a:p>
            <a:pPr algn="l"/>
            <a:endParaRPr lang="en-US" dirty="0">
              <a:latin typeface="Courier New" pitchFamily="49" charset="0"/>
            </a:endParaRPr>
          </a:p>
          <a:p>
            <a:pPr algn="l"/>
            <a:r>
              <a:rPr lang="en-US" dirty="0">
                <a:latin typeface="Courier New" pitchFamily="49" charset="0"/>
              </a:rPr>
              <a:t>#define PRAISE "What a super marvelous name!" </a:t>
            </a:r>
          </a:p>
          <a:p>
            <a:pPr algn="l"/>
            <a:endParaRPr lang="en-US" dirty="0">
              <a:latin typeface="Courier New" pitchFamily="49" charset="0"/>
            </a:endParaRPr>
          </a:p>
          <a:p>
            <a:pPr algn="l"/>
            <a:r>
              <a:rPr lang="en-US" dirty="0" err="1">
                <a:latin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</a:rPr>
              <a:t> main(void) { 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char name[40]; </a:t>
            </a:r>
          </a:p>
          <a:p>
            <a:pPr lvl="1" algn="l"/>
            <a:r>
              <a:rPr lang="en-US" dirty="0" err="1">
                <a:latin typeface="Courier New" pitchFamily="49" charset="0"/>
              </a:rPr>
              <a:t>printf</a:t>
            </a:r>
            <a:r>
              <a:rPr lang="en-US" dirty="0">
                <a:latin typeface="Courier New" pitchFamily="49" charset="0"/>
              </a:rPr>
              <a:t>("What's your name?\n"); </a:t>
            </a:r>
          </a:p>
          <a:p>
            <a:pPr lvl="1" algn="l"/>
            <a:r>
              <a:rPr lang="en-US" dirty="0" err="1">
                <a:latin typeface="Courier New" pitchFamily="49" charset="0"/>
              </a:rPr>
              <a:t>scanf</a:t>
            </a:r>
            <a:r>
              <a:rPr lang="en-US" dirty="0">
                <a:latin typeface="Courier New" pitchFamily="49" charset="0"/>
              </a:rPr>
              <a:t>("%39s", name); </a:t>
            </a:r>
          </a:p>
          <a:p>
            <a:pPr lvl="1" algn="l"/>
            <a:r>
              <a:rPr lang="en-US" dirty="0" err="1">
                <a:latin typeface="Courier New" pitchFamily="49" charset="0"/>
              </a:rPr>
              <a:t>printf</a:t>
            </a:r>
            <a:r>
              <a:rPr lang="en-US" dirty="0">
                <a:latin typeface="Courier New" pitchFamily="49" charset="0"/>
              </a:rPr>
              <a:t>("Hello, %s. %s\n", name, PRAISE); </a:t>
            </a:r>
          </a:p>
          <a:p>
            <a:pPr lvl="1" algn="l"/>
            <a:r>
              <a:rPr lang="en-US" dirty="0" err="1">
                <a:latin typeface="Courier New" pitchFamily="49" charset="0"/>
              </a:rPr>
              <a:t>printf</a:t>
            </a:r>
            <a:r>
              <a:rPr lang="en-US" dirty="0">
                <a:latin typeface="Courier New" pitchFamily="49" charset="0"/>
              </a:rPr>
              <a:t>("Your name of %d letters occupies %d memory \n", 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	</a:t>
            </a:r>
            <a:r>
              <a:rPr lang="en-US" dirty="0" err="1">
                <a:latin typeface="Courier New" pitchFamily="49" charset="0"/>
              </a:rPr>
              <a:t>strlen</a:t>
            </a:r>
            <a:r>
              <a:rPr lang="en-US" dirty="0">
                <a:latin typeface="Courier New" pitchFamily="49" charset="0"/>
              </a:rPr>
              <a:t>(name), </a:t>
            </a:r>
            <a:r>
              <a:rPr lang="en-US" dirty="0" err="1">
                <a:latin typeface="Courier New" pitchFamily="49" charset="0"/>
              </a:rPr>
              <a:t>sizeof</a:t>
            </a:r>
            <a:r>
              <a:rPr lang="en-US" dirty="0">
                <a:latin typeface="Courier New" pitchFamily="49" charset="0"/>
              </a:rPr>
              <a:t> name); 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return 0; </a:t>
            </a:r>
          </a:p>
          <a:p>
            <a:pPr algn="l"/>
            <a:r>
              <a:rPr lang="en-US" dirty="0">
                <a:latin typeface="Courier New" pitchFamily="49" charset="0"/>
              </a:rPr>
              <a:t>}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String functions</a:t>
            </a:r>
          </a:p>
        </p:txBody>
      </p:sp>
      <p:sp>
        <p:nvSpPr>
          <p:cNvPr id="45059" name="Text Box 3"/>
          <p:cNvSpPr txBox="1">
            <a:spLocks noChangeArrowheads="1"/>
          </p:cNvSpPr>
          <p:nvPr/>
        </p:nvSpPr>
        <p:spPr bwMode="auto">
          <a:xfrm>
            <a:off x="1285852" y="1000108"/>
            <a:ext cx="6102350" cy="4760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dirty="0">
                <a:latin typeface="Courier New" pitchFamily="49" charset="0"/>
              </a:rPr>
              <a:t>#include &lt;</a:t>
            </a:r>
            <a:r>
              <a:rPr lang="en-US" dirty="0" err="1">
                <a:latin typeface="Courier New" pitchFamily="49" charset="0"/>
              </a:rPr>
              <a:t>stdio.h</a:t>
            </a:r>
            <a:r>
              <a:rPr lang="en-US" dirty="0">
                <a:latin typeface="Courier New" pitchFamily="49" charset="0"/>
              </a:rPr>
              <a:t>&gt; </a:t>
            </a:r>
          </a:p>
          <a:p>
            <a:pPr algn="l"/>
            <a:endParaRPr lang="en-US" dirty="0">
              <a:latin typeface="Courier New" pitchFamily="49" charset="0"/>
            </a:endParaRPr>
          </a:p>
          <a:p>
            <a:pPr algn="l"/>
            <a:r>
              <a:rPr lang="en-US" dirty="0">
                <a:latin typeface="Courier New" pitchFamily="49" charset="0"/>
              </a:rPr>
              <a:t>#include &lt;</a:t>
            </a:r>
            <a:r>
              <a:rPr lang="en-US" dirty="0" err="1">
                <a:latin typeface="Courier New" pitchFamily="49" charset="0"/>
              </a:rPr>
              <a:t>string.h</a:t>
            </a:r>
            <a:r>
              <a:rPr lang="en-US" dirty="0">
                <a:latin typeface="Courier New" pitchFamily="49" charset="0"/>
              </a:rPr>
              <a:t>&gt;</a:t>
            </a:r>
          </a:p>
          <a:p>
            <a:pPr algn="l"/>
            <a:endParaRPr lang="en-US" dirty="0">
              <a:latin typeface="Courier New" pitchFamily="49" charset="0"/>
            </a:endParaRPr>
          </a:p>
          <a:p>
            <a:pPr algn="l"/>
            <a:r>
              <a:rPr lang="en-US" dirty="0" err="1">
                <a:latin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</a:rPr>
              <a:t> main(void) { 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char string1[] = "this is"; 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char string2[] = "a test";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char string3[20] = "Hello, "; 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char string4[] = "world!"; </a:t>
            </a:r>
          </a:p>
          <a:p>
            <a:pPr lvl="1" algn="l"/>
            <a:r>
              <a:rPr lang="en-US" dirty="0" err="1">
                <a:latin typeface="Courier New" pitchFamily="49" charset="0"/>
              </a:rPr>
              <a:t>printf</a:t>
            </a:r>
            <a:r>
              <a:rPr lang="en-US" dirty="0">
                <a:latin typeface="Courier New" pitchFamily="49" charset="0"/>
              </a:rPr>
              <a:t>("%s\n", string3); </a:t>
            </a:r>
          </a:p>
          <a:p>
            <a:pPr lvl="1" algn="l"/>
            <a:r>
              <a:rPr lang="en-US" dirty="0" err="1">
                <a:latin typeface="Courier New" pitchFamily="49" charset="0"/>
              </a:rPr>
              <a:t>strcat</a:t>
            </a:r>
            <a:r>
              <a:rPr lang="en-US" dirty="0">
                <a:latin typeface="Courier New" pitchFamily="49" charset="0"/>
              </a:rPr>
              <a:t>(string3, string4); </a:t>
            </a:r>
          </a:p>
          <a:p>
            <a:pPr lvl="1" algn="l"/>
            <a:r>
              <a:rPr lang="en-US" dirty="0" err="1">
                <a:latin typeface="Courier New" pitchFamily="49" charset="0"/>
              </a:rPr>
              <a:t>printf</a:t>
            </a:r>
            <a:r>
              <a:rPr lang="en-US" dirty="0">
                <a:latin typeface="Courier New" pitchFamily="49" charset="0"/>
              </a:rPr>
              <a:t>("%s\n", string3);  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if(</a:t>
            </a:r>
            <a:r>
              <a:rPr lang="en-US" dirty="0" err="1">
                <a:latin typeface="Courier New" pitchFamily="49" charset="0"/>
              </a:rPr>
              <a:t>strcmp</a:t>
            </a:r>
            <a:r>
              <a:rPr lang="en-US" dirty="0">
                <a:latin typeface="Courier New" pitchFamily="49" charset="0"/>
              </a:rPr>
              <a:t>(string1, string2) == 0) 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	</a:t>
            </a:r>
            <a:r>
              <a:rPr lang="en-US" dirty="0" err="1">
                <a:latin typeface="Courier New" pitchFamily="49" charset="0"/>
              </a:rPr>
              <a:t>printf</a:t>
            </a:r>
            <a:r>
              <a:rPr lang="en-US" dirty="0">
                <a:latin typeface="Courier New" pitchFamily="49" charset="0"/>
              </a:rPr>
              <a:t>("strings are equal\n"); 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else </a:t>
            </a:r>
            <a:r>
              <a:rPr lang="en-US" dirty="0" err="1">
                <a:latin typeface="Courier New" pitchFamily="49" charset="0"/>
              </a:rPr>
              <a:t>printf</a:t>
            </a:r>
            <a:r>
              <a:rPr lang="en-US" dirty="0">
                <a:latin typeface="Courier New" pitchFamily="49" charset="0"/>
              </a:rPr>
              <a:t>("strings are different\n"); 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return 0; </a:t>
            </a:r>
          </a:p>
          <a:p>
            <a:pPr algn="l"/>
            <a:r>
              <a:rPr lang="en-US" dirty="0">
                <a:latin typeface="Courier New" pitchFamily="49" charset="0"/>
              </a:rPr>
              <a:t>}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String to number conversions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/>
              <a:t>Storing a number as a string means storing the digit characters</a:t>
            </a:r>
          </a:p>
          <a:p>
            <a:r>
              <a:rPr lang="en-US" sz="2000"/>
              <a:t>Example: the number 213 can be stored in a character string array as the digits '2', '1', '3', '\0'. Storing 213 in numeric form means storing it as an int.</a:t>
            </a:r>
          </a:p>
          <a:p>
            <a:r>
              <a:rPr lang="en-US" sz="2000"/>
              <a:t>C requires numeric forms for numeric operations, such as addition and comparison, but displaying numbers on your screen requires a string form because a screen displays characters. The printf() and scanf() functions, through their %d and other specifiers, convert numeric forms to string forms, and vice versa.</a:t>
            </a:r>
          </a:p>
          <a:p>
            <a:r>
              <a:rPr lang="en-US" sz="2000"/>
              <a:t>C also has functions whose sole purpose is to convert string forms to numeric forms.</a:t>
            </a:r>
          </a:p>
          <a:p>
            <a:endParaRPr lang="en-US" sz="2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String to number </a:t>
            </a:r>
            <a:r>
              <a:rPr lang="en-US" sz="2800" dirty="0" smtClean="0"/>
              <a:t>conversion </a:t>
            </a:r>
            <a:r>
              <a:rPr lang="en-US" sz="2800" dirty="0"/>
              <a:t>functions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/>
              <a:t>&lt;stdlib.h&gt; </a:t>
            </a:r>
          </a:p>
          <a:p>
            <a:r>
              <a:rPr lang="en-US" sz="1800"/>
              <a:t>atoi(s) converts string s to a type int value and returns it. The function converts characters until it encounters something that is not part of an integer.</a:t>
            </a:r>
          </a:p>
          <a:p>
            <a:r>
              <a:rPr lang="en-US" sz="1800"/>
              <a:t>atof() converts a string to a type double value and returns it</a:t>
            </a:r>
          </a:p>
          <a:p>
            <a:r>
              <a:rPr lang="en-US" sz="1800"/>
              <a:t>atol() converts a string to a type long value and returns it</a:t>
            </a:r>
          </a:p>
        </p:txBody>
      </p:sp>
      <p:sp>
        <p:nvSpPr>
          <p:cNvPr id="31748" name="Text Box 4"/>
          <p:cNvSpPr txBox="1">
            <a:spLocks noChangeArrowheads="1"/>
          </p:cNvSpPr>
          <p:nvPr/>
        </p:nvSpPr>
        <p:spPr bwMode="auto">
          <a:xfrm>
            <a:off x="1714480" y="3214686"/>
            <a:ext cx="5283200" cy="283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dirty="0">
                <a:latin typeface="Courier New" pitchFamily="49" charset="0"/>
              </a:rPr>
              <a:t>// Using </a:t>
            </a:r>
            <a:r>
              <a:rPr lang="en-US" dirty="0" err="1">
                <a:latin typeface="Courier New" pitchFamily="49" charset="0"/>
              </a:rPr>
              <a:t>atoi</a:t>
            </a:r>
            <a:r>
              <a:rPr lang="en-US" dirty="0">
                <a:latin typeface="Courier New" pitchFamily="49" charset="0"/>
              </a:rPr>
              <a:t> </a:t>
            </a:r>
          </a:p>
          <a:p>
            <a:pPr algn="l"/>
            <a:r>
              <a:rPr lang="en-US" dirty="0">
                <a:latin typeface="Courier New" pitchFamily="49" charset="0"/>
              </a:rPr>
              <a:t>#include &lt;</a:t>
            </a:r>
            <a:r>
              <a:rPr lang="en-US" dirty="0" err="1">
                <a:latin typeface="Courier New" pitchFamily="49" charset="0"/>
              </a:rPr>
              <a:t>stdio.h</a:t>
            </a:r>
            <a:r>
              <a:rPr lang="en-US" dirty="0">
                <a:latin typeface="Courier New" pitchFamily="49" charset="0"/>
              </a:rPr>
              <a:t>&gt;</a:t>
            </a:r>
          </a:p>
          <a:p>
            <a:pPr algn="l"/>
            <a:r>
              <a:rPr lang="en-US" dirty="0">
                <a:latin typeface="Courier New" pitchFamily="49" charset="0"/>
              </a:rPr>
              <a:t>#include &lt;</a:t>
            </a:r>
            <a:r>
              <a:rPr lang="en-US" dirty="0" err="1">
                <a:latin typeface="Courier New" pitchFamily="49" charset="0"/>
              </a:rPr>
              <a:t>stdlib.h</a:t>
            </a:r>
            <a:r>
              <a:rPr lang="en-US" dirty="0">
                <a:latin typeface="Courier New" pitchFamily="49" charset="0"/>
              </a:rPr>
              <a:t>&gt;</a:t>
            </a:r>
          </a:p>
          <a:p>
            <a:pPr algn="l"/>
            <a:r>
              <a:rPr lang="en-US" dirty="0" err="1">
                <a:latin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</a:rPr>
              <a:t> main (void) {</a:t>
            </a:r>
          </a:p>
          <a:p>
            <a:pPr lvl="1" algn="l"/>
            <a:r>
              <a:rPr lang="en-US" dirty="0" err="1">
                <a:latin typeface="Courier New" pitchFamily="49" charset="0"/>
              </a:rPr>
              <a:t>printf</a:t>
            </a:r>
            <a:r>
              <a:rPr lang="en-US" dirty="0">
                <a:latin typeface="Courier New" pitchFamily="49" charset="0"/>
              </a:rPr>
              <a:t> ("%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</a:rPr>
              <a:t>\n", </a:t>
            </a:r>
            <a:r>
              <a:rPr lang="en-US" dirty="0" err="1">
                <a:latin typeface="Courier New" pitchFamily="49" charset="0"/>
              </a:rPr>
              <a:t>atoi</a:t>
            </a:r>
            <a:r>
              <a:rPr lang="en-US" dirty="0">
                <a:latin typeface="Courier New" pitchFamily="49" charset="0"/>
              </a:rPr>
              <a:t>("245"));</a:t>
            </a:r>
          </a:p>
          <a:p>
            <a:pPr lvl="1" algn="l"/>
            <a:r>
              <a:rPr lang="en-US" dirty="0" err="1">
                <a:latin typeface="Courier New" pitchFamily="49" charset="0"/>
              </a:rPr>
              <a:t>printf</a:t>
            </a:r>
            <a:r>
              <a:rPr lang="en-US" dirty="0">
                <a:latin typeface="Courier New" pitchFamily="49" charset="0"/>
              </a:rPr>
              <a:t> ("%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</a:rPr>
              <a:t>\n", </a:t>
            </a:r>
            <a:r>
              <a:rPr lang="en-US" dirty="0" err="1">
                <a:latin typeface="Courier New" pitchFamily="49" charset="0"/>
              </a:rPr>
              <a:t>atoi</a:t>
            </a:r>
            <a:r>
              <a:rPr lang="en-US" dirty="0">
                <a:latin typeface="Courier New" pitchFamily="49" charset="0"/>
              </a:rPr>
              <a:t>("100") + 25);</a:t>
            </a:r>
          </a:p>
          <a:p>
            <a:pPr lvl="1" algn="l"/>
            <a:r>
              <a:rPr lang="en-US" dirty="0" err="1">
                <a:latin typeface="Courier New" pitchFamily="49" charset="0"/>
              </a:rPr>
              <a:t>printf</a:t>
            </a:r>
            <a:r>
              <a:rPr lang="en-US" dirty="0">
                <a:latin typeface="Courier New" pitchFamily="49" charset="0"/>
              </a:rPr>
              <a:t> ("%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</a:rPr>
              <a:t>\n", </a:t>
            </a:r>
            <a:r>
              <a:rPr lang="en-US" dirty="0" err="1">
                <a:latin typeface="Courier New" pitchFamily="49" charset="0"/>
              </a:rPr>
              <a:t>atoi</a:t>
            </a:r>
            <a:r>
              <a:rPr lang="en-US" dirty="0">
                <a:latin typeface="Courier New" pitchFamily="49" charset="0"/>
              </a:rPr>
              <a:t>("13x5"));</a:t>
            </a:r>
          </a:p>
          <a:p>
            <a:pPr lvl="1" algn="l"/>
            <a:r>
              <a:rPr lang="en-US" dirty="0">
                <a:latin typeface="Courier New" pitchFamily="49" charset="0"/>
              </a:rPr>
              <a:t>return 0;</a:t>
            </a:r>
          </a:p>
          <a:p>
            <a:pPr algn="l"/>
            <a:r>
              <a:rPr lang="en-US" dirty="0">
                <a:latin typeface="Courier New" pitchFamily="49" charset="0"/>
              </a:rPr>
              <a:t>}</a:t>
            </a:r>
          </a:p>
          <a:p>
            <a:pPr algn="l"/>
            <a:endParaRPr lang="en-US" dirty="0">
              <a:latin typeface="Courier New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2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76CA9145-A3C4-4022-B990-A03E3B455E3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12478</TotalTime>
  <Words>1667</Words>
  <Application>Microsoft Office PowerPoint</Application>
  <PresentationFormat>On-screen Show (4:3)</PresentationFormat>
  <Paragraphs>258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Default Design</vt:lpstr>
      <vt:lpstr>1_Custom Design</vt:lpstr>
      <vt:lpstr>2_Custom Design</vt:lpstr>
      <vt:lpstr>CSI 121: Structured Programming Language Strings Salekul Islam United International University</vt:lpstr>
      <vt:lpstr>Outline</vt:lpstr>
      <vt:lpstr>Arrays of characters</vt:lpstr>
      <vt:lpstr>Character strings</vt:lpstr>
      <vt:lpstr>Example: string length</vt:lpstr>
      <vt:lpstr>Example: const strings</vt:lpstr>
      <vt:lpstr>Initializing character strings</vt:lpstr>
      <vt:lpstr>Strings vs Characters</vt:lpstr>
      <vt:lpstr>Examples: Escape characters </vt:lpstr>
      <vt:lpstr>Displaying character strings</vt:lpstr>
      <vt:lpstr>Inputting character strings</vt:lpstr>
      <vt:lpstr>Example: string processing</vt:lpstr>
      <vt:lpstr>Example: concatenate strings</vt:lpstr>
      <vt:lpstr>Testing strings for equality</vt:lpstr>
      <vt:lpstr>Alphabetically comparing strings</vt:lpstr>
      <vt:lpstr>Copying strings</vt:lpstr>
      <vt:lpstr>String functions</vt:lpstr>
      <vt:lpstr>String functions (cont.)</vt:lpstr>
      <vt:lpstr>Example: String functions</vt:lpstr>
      <vt:lpstr>Example: String functions</vt:lpstr>
      <vt:lpstr>String to number conversions</vt:lpstr>
      <vt:lpstr>String to number conversion functions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Crystal Winter</dc:title>
  <dc:creator>Salekul</dc:creator>
  <cp:lastModifiedBy>Salekul</cp:lastModifiedBy>
  <cp:revision>346</cp:revision>
  <dcterms:modified xsi:type="dcterms:W3CDTF">2015-04-11T17:16:02Z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TC025753819991</vt:lpwstr>
  </property>
</Properties>
</file>