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activeX/activeX1.xml" ContentType="application/vnd.ms-office.activeX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2"/>
    <p:sldMasterId id="2147483651" r:id="rId3"/>
    <p:sldMasterId id="2147483652" r:id="rId4"/>
  </p:sldMasterIdLst>
  <p:notesMasterIdLst>
    <p:notesMasterId r:id="rId31"/>
  </p:notesMasterIdLst>
  <p:handoutMasterIdLst>
    <p:handoutMasterId r:id="rId32"/>
  </p:handoutMasterIdLst>
  <p:sldIdLst>
    <p:sldId id="261" r:id="rId5"/>
    <p:sldId id="373" r:id="rId6"/>
    <p:sldId id="429" r:id="rId7"/>
    <p:sldId id="430" r:id="rId8"/>
    <p:sldId id="431" r:id="rId9"/>
    <p:sldId id="432" r:id="rId10"/>
    <p:sldId id="433" r:id="rId11"/>
    <p:sldId id="434" r:id="rId12"/>
    <p:sldId id="435" r:id="rId13"/>
    <p:sldId id="436" r:id="rId14"/>
    <p:sldId id="437" r:id="rId15"/>
    <p:sldId id="443" r:id="rId16"/>
    <p:sldId id="444" r:id="rId17"/>
    <p:sldId id="445" r:id="rId18"/>
    <p:sldId id="451" r:id="rId19"/>
    <p:sldId id="446" r:id="rId20"/>
    <p:sldId id="447" r:id="rId21"/>
    <p:sldId id="448" r:id="rId22"/>
    <p:sldId id="449" r:id="rId23"/>
    <p:sldId id="450" r:id="rId24"/>
    <p:sldId id="452" r:id="rId25"/>
    <p:sldId id="453" r:id="rId26"/>
    <p:sldId id="454" r:id="rId27"/>
    <p:sldId id="455" r:id="rId28"/>
    <p:sldId id="456" r:id="rId29"/>
    <p:sldId id="458" r:id="rId30"/>
  </p:sldIdLst>
  <p:sldSz cx="9144000" cy="6858000" type="screen4x3"/>
  <p:notesSz cx="6858000" cy="91440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A2D1F1"/>
    <a:srgbClr val="292929"/>
    <a:srgbClr val="993300"/>
    <a:srgbClr val="006600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 autoAdjust="0"/>
    <p:restoredTop sz="94667" autoAdjust="0"/>
  </p:normalViewPr>
  <p:slideViewPr>
    <p:cSldViewPr>
      <p:cViewPr varScale="1">
        <p:scale>
          <a:sx n="79" d="100"/>
          <a:sy n="79" d="100"/>
        </p:scale>
        <p:origin x="1570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3" d="100"/>
          <a:sy n="53" d="100"/>
        </p:scale>
        <p:origin x="-2598" y="-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2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3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/Relationships>
</file>

<file path=ppt/activeX/activeX1.xml><?xml version="1.0" encoding="utf-8"?>
<ax:ocx xmlns:ax="http://schemas.microsoft.com/office/2006/activeX" xmlns:r="http://schemas.openxmlformats.org/officeDocument/2006/relationships" ax:classid="{D27CDB6E-AE6D-11CF-96B8-444553540000}">
  <ax:ocxPr ax:name="_cx" ax:value="5080"/>
  <ax:ocxPr ax:name="_cy" ax:value="5080"/>
  <ax:ocxPr ax:name="FlashVars" ax:value=""/>
  <ax:ocxPr ax:name="Movie" ax:value=""/>
  <ax:ocxPr ax:name="Src" ax:value=""/>
  <ax:ocxPr ax:name="WMode" ax:value="Window"/>
  <ax:ocxPr ax:name="Play" ax:value="-1"/>
  <ax:ocxPr ax:name="Loop" ax:value="-1"/>
  <ax:ocxPr ax:name="Quality" ax:value="High"/>
  <ax:ocxPr ax:name="SAlign" ax:value=""/>
  <ax:ocxPr ax:name="Menu" ax:value="-1"/>
  <ax:ocxPr ax:name="Base" ax:value=""/>
  <ax:ocxPr ax:name="AllowScriptAccess" ax:value=""/>
  <ax:ocxPr ax:name="Scale" ax:value="ShowAll"/>
  <ax:ocxPr ax:name="DeviceFont" ax:value="0"/>
  <ax:ocxPr ax:name="EmbedMovie" ax:value="0"/>
  <ax:ocxPr ax:name="BGColor" ax:value=""/>
  <ax:ocxPr ax:name="SWRemote" ax:value=""/>
  <ax:ocxPr ax:name="MovieData" ax:value=""/>
  <ax:ocxPr ax:name="SeamlessTabbing" ax:value="1"/>
  <ax:ocxPr ax:name="Profile" ax:value="0"/>
  <ax:ocxPr ax:name="ProfileAddress" ax:value=""/>
  <ax:ocxPr ax:name="ProfilePort" ax:value="0"/>
  <ax:ocxPr ax:name="AllowNetworking" ax:value="all"/>
  <ax:ocxPr ax:name="AllowFullScreen" ax:value="false"/>
</ax:ocx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7D44D0C-B02A-4C62-A03B-23C0670E435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3403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36CE50-9E7D-4CDF-8C8F-3321AEA25267}" type="datetimeFigureOut">
              <a:rPr lang="en-US" smtClean="0"/>
              <a:pPr/>
              <a:t>1/28/2023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39459B-34B6-4CDA-B945-5A2462D19951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770997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gif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990600" y="2797175"/>
            <a:ext cx="7239000" cy="1470025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noProof="0" dirty="0"/>
              <a:t>Your 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752600" y="4267200"/>
            <a:ext cx="6019800" cy="1752600"/>
          </a:xfrm>
        </p:spPr>
        <p:txBody>
          <a:bodyPr/>
          <a:lstStyle>
            <a:lvl1pPr marL="0" indent="0">
              <a:buFontTx/>
              <a:buNone/>
              <a:defRPr sz="1400"/>
            </a:lvl1pPr>
          </a:lstStyle>
          <a:p>
            <a:pPr lvl="0"/>
            <a:r>
              <a:rPr lang="en-US" noProof="0"/>
              <a:t>Sub Title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fld id="{A75EE78C-35AD-4809-B0EF-2F30548A824A}" type="datetime5">
              <a:rPr lang="en-US" smtClean="0"/>
              <a:pPr/>
              <a:t>28-Jan-23</a:t>
            </a:fld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 225: Digital Logic Design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4B4629A1-273F-4E06-ACDC-D3805787C543}" type="slidenum">
              <a:rPr lang="en-US"/>
              <a:pPr/>
              <a:t>‹#›</a:t>
            </a:fld>
            <a:endParaRPr lang="en-US"/>
          </a:p>
        </p:txBody>
      </p:sp>
      <p:pic>
        <p:nvPicPr>
          <p:cNvPr id="11" name="Picture 10" descr="800px-UIU_Campus_3582FAB2.jpg"/>
          <p:cNvPicPr>
            <a:picLocks noChangeAspect="1"/>
          </p:cNvPicPr>
          <p:nvPr userDrawn="1"/>
        </p:nvPicPr>
        <p:blipFill>
          <a:blip r:embed="rId3" cstate="print"/>
          <a:srcRect b="12509"/>
          <a:stretch>
            <a:fillRect/>
          </a:stretch>
        </p:blipFill>
        <p:spPr>
          <a:xfrm>
            <a:off x="4953000" y="0"/>
            <a:ext cx="4191000" cy="2438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 descr="UIU_Logo.gif"/>
          <p:cNvPicPr>
            <a:picLocks noChangeAspect="1"/>
          </p:cNvPicPr>
          <p:nvPr userDrawn="1"/>
        </p:nvPicPr>
        <p:blipFill>
          <a:blip r:embed="rId4" cstate="print"/>
          <a:srcRect r="3379"/>
          <a:stretch>
            <a:fillRect/>
          </a:stretch>
        </p:blipFill>
        <p:spPr>
          <a:xfrm>
            <a:off x="0" y="381000"/>
            <a:ext cx="4876799" cy="100632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93B0D4F-04A9-453B-B0A6-531991C794BD}" type="datetime5">
              <a:rPr lang="en-US" smtClean="0"/>
              <a:pPr/>
              <a:t>28-Jan-23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 225: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A8121A-BC65-4240-8B49-A7031E02F99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052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87B0EF3-DDE0-4548-A810-E5DE2D925974}" type="datetime5">
              <a:rPr lang="en-US" smtClean="0"/>
              <a:pPr/>
              <a:t>28-Jan-23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 225: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56020CF-1514-496E-BC35-A2974E3467E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854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5400" y="1295400"/>
            <a:ext cx="3848100" cy="5257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95900" y="1295400"/>
            <a:ext cx="3848100" cy="5257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2D091FA-F5FE-4D1F-A4A1-F545AF11A4AC}" type="datetime5">
              <a:rPr lang="en-US" smtClean="0"/>
              <a:pPr/>
              <a:t>28-Jan-23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 225: Digital Logic Design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C6EE28-BF58-4997-98BA-7F06E3B9AD7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555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1014E47-405C-4154-A0F4-A6EEC5EA70BA}" type="datetime5">
              <a:rPr lang="en-US" smtClean="0"/>
              <a:pPr/>
              <a:t>28-Jan-23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 225: Digital Logic Design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94A99C-875E-4529-A60E-BCD06F1B8E1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222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8B65AA0-FAE8-4438-84D9-5B7723565DBE}" type="datetime5">
              <a:rPr lang="en-US" smtClean="0"/>
              <a:pPr/>
              <a:t>28-Jan-23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 225: Digital Logic Design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1796DF-E0FE-4E7A-9D2A-718C847D350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890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73C3098-4D94-4BDF-9008-0523DE0BA4B9}" type="datetime5">
              <a:rPr lang="en-US" smtClean="0"/>
              <a:pPr/>
              <a:t>28-Jan-23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 225: Digital Logic Design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D0AA0F-4CB8-41BA-B282-8EBF3BEB193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9802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196E36D-A6E8-4C11-A43D-355ED785C9F0}" type="datetime5">
              <a:rPr lang="en-US" smtClean="0"/>
              <a:pPr/>
              <a:t>28-Jan-23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 225: Digital Logic Design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2EBD2E-2ED0-477B-8430-90466F94013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086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52706C2-7D13-40C5-BEF6-8C1213806C70}" type="datetime5">
              <a:rPr lang="en-US" smtClean="0"/>
              <a:pPr/>
              <a:t>28-Jan-23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 225: Digital Logic Design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971FB5-C5F6-4D05-BB8A-8A7E3DE8E00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787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2DBE5AC-08E7-4B0C-83E4-6FEECE542350}" type="datetime5">
              <a:rPr lang="en-US" smtClean="0"/>
              <a:pPr/>
              <a:t>28-Jan-23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 225: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CE48AE-F3F0-426D-94A9-C7CF15689FE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213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81850" y="381000"/>
            <a:ext cx="1962150" cy="6172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400" y="381000"/>
            <a:ext cx="5734050" cy="6172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42922B6-37D1-4AAD-B85C-D4767C0D0C98}" type="datetime5">
              <a:rPr lang="en-US" smtClean="0"/>
              <a:pPr/>
              <a:t>28-Jan-23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 225: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383741-8A21-4434-937A-618F9D9BE92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7305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2E1C737-3614-4BBC-9DCF-DDB74A7C5AF9}" type="datetime5">
              <a:rPr lang="en-US" smtClean="0"/>
              <a:pPr/>
              <a:t>28-Jan-23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 225: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BD332D-5F35-4D57-BE33-A3E062B219D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5059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304800"/>
            <a:ext cx="7328848" cy="6096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066800"/>
            <a:ext cx="7772400" cy="5029200"/>
          </a:xfrm>
        </p:spPr>
        <p:txBody>
          <a:bodyPr/>
          <a:lstStyle>
            <a:lvl1pPr>
              <a:buSzPct val="115000"/>
              <a:buFont typeface="Arial" pitchFamily="34" charset="0"/>
              <a:buChar char="•"/>
              <a:defRPr sz="2400"/>
            </a:lvl1pPr>
            <a:lvl2pPr>
              <a:buSzPct val="80000"/>
              <a:buFont typeface="Courier New" pitchFamily="49" charset="0"/>
              <a:buChar char="o"/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1896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C496562B-8786-4769-A4C9-F5F316D27C5E}" type="datetime5">
              <a:rPr lang="en-US" smtClean="0"/>
              <a:pPr/>
              <a:t>28-Jan-23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200" y="6324600"/>
            <a:ext cx="3657600" cy="476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CSE 225: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29400" y="632460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15CD6780-CDB5-4341-BE76-A36E52D8C54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5161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7ACDD07-EA10-415D-9526-07B4700A3967}" type="datetime5">
              <a:rPr lang="en-US" smtClean="0"/>
              <a:pPr/>
              <a:t>28-Jan-23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 225: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A615FD-BD52-4B9B-BE83-317E843D90D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8878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1265238"/>
            <a:ext cx="3638550" cy="42211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62550" y="1265238"/>
            <a:ext cx="3638550" cy="42211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FFB2A95-AFD3-472D-A317-C0D72E55E34E}" type="datetime5">
              <a:rPr lang="en-US" smtClean="0"/>
              <a:pPr/>
              <a:t>28-Jan-23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 225: Digital Logic Design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DA3C12-3926-4EB4-B88B-CFFED6CCD50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7837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A3E21A1-3E2A-43FF-AF80-3E8A8C7199D5}" type="datetime5">
              <a:rPr lang="en-US" smtClean="0"/>
              <a:pPr/>
              <a:t>28-Jan-23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 225: Digital Logic Design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F47421-0CDC-478E-A7CA-01DA3B1837F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9244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4E92149-7AC7-4794-AB42-3762BC5B38F7}" type="datetime5">
              <a:rPr lang="en-US" smtClean="0"/>
              <a:pPr/>
              <a:t>28-Jan-23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 225: Digital Logic Design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500C6D-0BCF-4C30-982F-97586F9E641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6771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1BB12EA-6002-4B86-8696-DF9860CADDA1}" type="datetime5">
              <a:rPr lang="en-US" smtClean="0"/>
              <a:pPr/>
              <a:t>28-Jan-23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 225: Digital Logic Design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6CE49BA-5AA6-4557-AA0E-BB7E1350362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7925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3D3501B-E948-46FB-ACF6-697236CBF662}" type="datetime5">
              <a:rPr lang="en-US" smtClean="0"/>
              <a:pPr/>
              <a:t>28-Jan-23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 225: Digital Logic Design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75D357-93F4-4CA6-9F27-64659B73E24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53821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B2EA741-CF20-4EE4-AEC9-091E61EAF560}" type="datetime5">
              <a:rPr lang="en-US" smtClean="0"/>
              <a:pPr/>
              <a:t>28-Jan-23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 225: Digital Logic Design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E7CDFA-D5E7-4007-A74C-A6327031F82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28788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5B03394-8F23-4A3D-B78D-0C8BB768227E}" type="datetime5">
              <a:rPr lang="en-US" smtClean="0"/>
              <a:pPr/>
              <a:t>28-Jan-23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 225: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138A0F-CAAE-4810-B698-E489650DF55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46398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43725" y="304800"/>
            <a:ext cx="1857375" cy="5181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304800"/>
            <a:ext cx="5419725" cy="5181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83002B-4904-4A4A-83EB-3C8B696DD87F}" type="datetime5">
              <a:rPr lang="en-US" smtClean="0"/>
              <a:pPr/>
              <a:t>28-Jan-23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 225: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72A598-8ECE-4E7D-A8FF-D64CAB15701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47760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E2403C-36F8-4677-97DB-F41E1950E06F}" type="datetime5">
              <a:rPr lang="en-US" smtClean="0"/>
              <a:pPr/>
              <a:t>28-Jan-23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 225: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63523B-164A-4974-895C-9D01DC8A9D2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13245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3CB7C2B-32CC-476F-A052-37E276BD8C63}" type="datetime5">
              <a:rPr lang="en-US" smtClean="0"/>
              <a:pPr/>
              <a:t>28-Jan-23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 225: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F965A1-26AD-430E-9B51-C914CDF6369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74421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B319B46-836C-41F9-A279-147D69DCFA57}" type="datetime5">
              <a:rPr lang="en-US" smtClean="0"/>
              <a:pPr/>
              <a:t>28-Jan-23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 225: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0E1D77-A370-4F8E-B650-88F5BB2C063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0144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0" y="1295400"/>
            <a:ext cx="3562350" cy="42211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38750" y="1295400"/>
            <a:ext cx="3562350" cy="42211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C0DBAC-7109-4EC7-91F9-D9C64A2D47BA}" type="datetime5">
              <a:rPr lang="en-US" smtClean="0"/>
              <a:pPr/>
              <a:t>28-Jan-23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 225: Digital Logic Design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DFCA12-3969-4A8B-A338-97F0776FC12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98320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ECDF8FE-9F05-488B-B802-72A934F9F64C}" type="datetime5">
              <a:rPr lang="en-US" smtClean="0"/>
              <a:pPr/>
              <a:t>28-Jan-23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 225: Digital Logic Design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A57B6F-5ACE-4161-8153-A1A0C388F9D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65699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1CC4E7F-AF6C-48CC-9676-473E8FE77D8F}" type="datetime5">
              <a:rPr lang="en-US" smtClean="0"/>
              <a:pPr/>
              <a:t>28-Jan-23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 225: Digital Logic Design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81F89E-158F-4393-AF3B-5A399655EA5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13318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2F2E0E2-6AC4-411A-AFDC-14B6F9426ABC}" type="datetime5">
              <a:rPr lang="en-US" smtClean="0"/>
              <a:pPr/>
              <a:t>28-Jan-23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 225: Digital Logic Design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714129-4A18-4E51-B258-4C5FA284E40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5445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429CD6D-B501-4BBE-821F-E90EFD9A0B42}" type="datetime5">
              <a:rPr lang="en-US" smtClean="0"/>
              <a:pPr/>
              <a:t>28-Jan-23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 225: Digital Logic Design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927A20-7129-481E-AF6D-B62E8E0F2FB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26284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B238757-B99B-41C5-8FAC-75534CC7D4C8}" type="datetime5">
              <a:rPr lang="en-US" smtClean="0"/>
              <a:pPr/>
              <a:t>28-Jan-23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 225: Digital Logic Design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8400C7-CDF5-4255-9DC6-E3589ADD025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61090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6A336D7-5721-4A79-AE5A-22AE9FC54946}" type="datetime5">
              <a:rPr lang="en-US" smtClean="0"/>
              <a:pPr/>
              <a:t>28-Jan-23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 225: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69EAF3-2CB3-4C9C-9BDB-BDF22AA1DF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00254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81825" y="304800"/>
            <a:ext cx="1819275" cy="5211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0" y="304800"/>
            <a:ext cx="5305425" cy="5211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0E8A2D3-F615-46D4-A616-6F8749879B91}" type="datetime5">
              <a:rPr lang="en-US" smtClean="0"/>
              <a:pPr/>
              <a:t>28-Jan-23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 225: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DA548F-7792-41F3-89E2-5E25412E156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354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control" Target="../activeX/activeX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w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5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6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2D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295400" y="381000"/>
            <a:ext cx="7010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95400" y="1295400"/>
            <a:ext cx="7848600" cy="525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/>
            </a:lvl1pPr>
          </a:lstStyle>
          <a:p>
            <a:fld id="{82B08AF5-BFF6-4EC2-AED8-CBB85B2F2CDF}" type="datetime5">
              <a:rPr lang="en-US" smtClean="0"/>
              <a:pPr/>
              <a:t>28-Jan-23</a:t>
            </a:fld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r>
              <a:rPr lang="en-US"/>
              <a:t>CSE 225: Digital Logic Design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CF15CF9D-E97D-46B1-94CC-E4BB91AFD052}" type="slidenum">
              <a:rPr lang="en-US"/>
              <a:pPr/>
              <a:t>‹#›</a:t>
            </a:fld>
            <a:endParaRPr lang="en-US"/>
          </a:p>
        </p:txBody>
      </p:sp>
    </p:spTree>
    <p:controls>
      <mc:AlternateContent xmlns:mc="http://schemas.openxmlformats.org/markup-compatibility/2006">
        <mc:Choice xmlns:v="urn:schemas-microsoft-com:vml" Requires="v">
          <p:control r:id="rId13" imgW="1828800" imgH="1828800"/>
        </mc:Choice>
        <mc:Fallback>
          <p:control r:id="rId13" imgW="1828800" imgH="1828800">
            <p:pic>
              <p:nvPicPr>
                <p:cNvPr id="2" name="ShockwaveFlash2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1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0" y="0"/>
                  <a:ext cx="1295400" cy="68580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</a:extLst>
              </p:spPr>
            </p:pic>
          </p:control>
        </mc:Fallback>
      </mc:AlternateContent>
    </p:controls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hf hdr="0"/>
  <p:txStyles>
    <p:titleStyle>
      <a:lvl1pPr algn="l" rtl="0" fontAlgn="base">
        <a:spcBef>
          <a:spcPct val="0"/>
        </a:spcBef>
        <a:spcAft>
          <a:spcPct val="0"/>
        </a:spcAft>
        <a:defRPr sz="2800" b="1">
          <a:solidFill>
            <a:srgbClr val="003399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800" b="1">
          <a:solidFill>
            <a:srgbClr val="003399"/>
          </a:solidFill>
          <a:latin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2800" b="1">
          <a:solidFill>
            <a:srgbClr val="003399"/>
          </a:solidFill>
          <a:latin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2800" b="1">
          <a:solidFill>
            <a:srgbClr val="003399"/>
          </a:solidFill>
          <a:latin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2800" b="1">
          <a:solidFill>
            <a:srgbClr val="003399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800" b="1">
          <a:solidFill>
            <a:srgbClr val="003399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800" b="1">
          <a:solidFill>
            <a:srgbClr val="003399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800" b="1">
          <a:solidFill>
            <a:srgbClr val="003399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800" b="1">
          <a:solidFill>
            <a:srgbClr val="003399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rgbClr val="003399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400">
          <a:solidFill>
            <a:srgbClr val="003399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rgbClr val="003399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>
          <a:solidFill>
            <a:srgbClr val="003399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rgbClr val="003399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rgbClr val="003399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rgbClr val="003399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rgbClr val="003399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rgbClr val="003399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371600" y="304800"/>
            <a:ext cx="72390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71600" y="1265238"/>
            <a:ext cx="7429500" cy="4678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403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/>
            </a:lvl1pPr>
          </a:lstStyle>
          <a:p>
            <a:fld id="{D089BFAE-4929-44E0-8ED2-642AE4406193}" type="datetime5">
              <a:rPr lang="en-US" smtClean="0"/>
              <a:pPr/>
              <a:t>28-Jan-23</a:t>
            </a:fld>
            <a:endParaRPr lang="en-US"/>
          </a:p>
        </p:txBody>
      </p:sp>
      <p:sp>
        <p:nvSpPr>
          <p:cNvPr id="4403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r>
              <a:rPr lang="en-US"/>
              <a:t>CSE 225: Digital Logic Design</a:t>
            </a:r>
          </a:p>
        </p:txBody>
      </p:sp>
      <p:sp>
        <p:nvSpPr>
          <p:cNvPr id="4403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A3DAFE89-861D-4E86-8071-574D17232F99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1" y="914400"/>
            <a:ext cx="990600" cy="259080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100" dirty="0">
                <a:ln w="18000">
                  <a:solidFill>
                    <a:schemeClr val="accent1">
                      <a:satMod val="200000"/>
                      <a:tint val="72000"/>
                    </a:schemeClr>
                  </a:solidFill>
                  <a:prstDash val="solid"/>
                </a:ln>
                <a:solidFill>
                  <a:schemeClr val="accent1">
                    <a:satMod val="280000"/>
                    <a:tint val="100000"/>
                    <a:alpha val="5700"/>
                  </a:schemeClr>
                </a:solidFill>
                <a:effectLst>
                  <a:outerShdw blurRad="25000" dist="20000" dir="16020000" algn="tl">
                    <a:schemeClr val="accent1">
                      <a:satMod val="200000"/>
                      <a:shade val="1000"/>
                      <a:alpha val="60000"/>
                    </a:schemeClr>
                  </a:outerShdw>
                </a:effectLst>
              </a:rPr>
              <a:t>U</a:t>
            </a:r>
          </a:p>
          <a:p>
            <a:pPr algn="ctr"/>
            <a:r>
              <a:rPr lang="en-US" sz="5400" b="1" cap="none" spc="100" dirty="0">
                <a:ln w="18000">
                  <a:solidFill>
                    <a:schemeClr val="accent1">
                      <a:satMod val="200000"/>
                      <a:tint val="72000"/>
                    </a:schemeClr>
                  </a:solidFill>
                  <a:prstDash val="solid"/>
                </a:ln>
                <a:solidFill>
                  <a:schemeClr val="accent1">
                    <a:satMod val="280000"/>
                    <a:tint val="100000"/>
                    <a:alpha val="5700"/>
                  </a:schemeClr>
                </a:solidFill>
                <a:effectLst>
                  <a:outerShdw blurRad="25000" dist="20000" dir="16020000" algn="tl">
                    <a:schemeClr val="accent1">
                      <a:satMod val="200000"/>
                      <a:shade val="1000"/>
                      <a:alpha val="60000"/>
                    </a:schemeClr>
                  </a:outerShdw>
                </a:effectLst>
              </a:rPr>
              <a:t>I</a:t>
            </a:r>
          </a:p>
          <a:p>
            <a:pPr algn="ctr"/>
            <a:r>
              <a:rPr lang="en-US" sz="5400" b="1" cap="none" spc="100" dirty="0">
                <a:ln w="18000">
                  <a:solidFill>
                    <a:schemeClr val="accent1">
                      <a:satMod val="200000"/>
                      <a:tint val="72000"/>
                    </a:schemeClr>
                  </a:solidFill>
                  <a:prstDash val="solid"/>
                </a:ln>
                <a:solidFill>
                  <a:schemeClr val="accent1">
                    <a:satMod val="280000"/>
                    <a:tint val="100000"/>
                    <a:alpha val="5700"/>
                  </a:schemeClr>
                </a:solidFill>
                <a:effectLst>
                  <a:outerShdw blurRad="25000" dist="20000" dir="16020000" algn="tl">
                    <a:schemeClr val="accent1">
                      <a:satMod val="200000"/>
                      <a:shade val="1000"/>
                      <a:alpha val="60000"/>
                    </a:schemeClr>
                  </a:outerShdw>
                </a:effectLst>
              </a:rPr>
              <a:t>U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hdr="0"/>
  <p:txStyles>
    <p:titleStyle>
      <a:lvl1pPr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304800"/>
            <a:ext cx="70866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24000" y="1295400"/>
            <a:ext cx="7277100" cy="422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451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/>
            </a:lvl1pPr>
          </a:lstStyle>
          <a:p>
            <a:fld id="{1DB5029F-BFA3-4462-9757-6842DBB07225}" type="datetime5">
              <a:rPr lang="en-US" smtClean="0"/>
              <a:pPr/>
              <a:t>28-Jan-23</a:t>
            </a:fld>
            <a:endParaRPr lang="en-US"/>
          </a:p>
        </p:txBody>
      </p:sp>
      <p:sp>
        <p:nvSpPr>
          <p:cNvPr id="6451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r>
              <a:rPr lang="en-US"/>
              <a:t>CSE 225: Digital Logic Design</a:t>
            </a:r>
          </a:p>
        </p:txBody>
      </p:sp>
      <p:sp>
        <p:nvSpPr>
          <p:cNvPr id="6451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23193279-FB8B-470F-A7A9-DD33211868A3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hdr="0"/>
  <p:txStyles>
    <p:titleStyle>
      <a:lvl1pPr algn="l" rtl="0" fontAlgn="base">
        <a:spcBef>
          <a:spcPct val="0"/>
        </a:spcBef>
        <a:spcAft>
          <a:spcPct val="0"/>
        </a:spcAft>
        <a:defRPr sz="2800" b="1">
          <a:solidFill>
            <a:srgbClr val="003399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800" b="1">
          <a:solidFill>
            <a:srgbClr val="003399"/>
          </a:solidFill>
          <a:latin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2800" b="1">
          <a:solidFill>
            <a:srgbClr val="003399"/>
          </a:solidFill>
          <a:latin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2800" b="1">
          <a:solidFill>
            <a:srgbClr val="003399"/>
          </a:solidFill>
          <a:latin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2800" b="1">
          <a:solidFill>
            <a:srgbClr val="003399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800" b="1">
          <a:solidFill>
            <a:srgbClr val="003399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800" b="1">
          <a:solidFill>
            <a:srgbClr val="003399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800" b="1">
          <a:solidFill>
            <a:srgbClr val="003399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800" b="1">
          <a:solidFill>
            <a:srgbClr val="003399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2800">
          <a:solidFill>
            <a:srgbClr val="003399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rgbClr val="003399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rgbClr val="003399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rgbClr val="003399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003399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003399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003399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003399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003399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20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spc="100" dirty="0">
                <a:ln w="18000">
                  <a:solidFill>
                    <a:schemeClr val="accent1">
                      <a:satMod val="200000"/>
                      <a:tint val="72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CSI 121: Structured Programming Language</a:t>
            </a:r>
            <a:br>
              <a:rPr lang="en-US" spc="100" dirty="0">
                <a:ln w="18000">
                  <a:solidFill>
                    <a:schemeClr val="accent1">
                      <a:satMod val="200000"/>
                      <a:tint val="72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CA" spc="100" dirty="0">
                <a:ln w="18000">
                  <a:solidFill>
                    <a:schemeClr val="accent1">
                      <a:satMod val="200000"/>
                      <a:tint val="72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 to C</a:t>
            </a:r>
            <a:br>
              <a:rPr lang="en-CA" spc="100" dirty="0">
                <a:ln w="18000">
                  <a:solidFill>
                    <a:schemeClr val="accent1">
                      <a:satMod val="200000"/>
                      <a:tint val="72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spc="100" dirty="0">
                <a:ln w="18000">
                  <a:solidFill>
                    <a:schemeClr val="accent1">
                      <a:satMod val="200000"/>
                      <a:tint val="72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400" spc="100" dirty="0">
                <a:ln w="18000">
                  <a:solidFill>
                    <a:schemeClr val="accent1">
                      <a:satMod val="200000"/>
                      <a:tint val="72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Riasat Azim</a:t>
            </a:r>
            <a:br>
              <a:rPr lang="en-US" sz="2400" spc="100" dirty="0">
                <a:ln w="18000">
                  <a:solidFill>
                    <a:schemeClr val="accent1">
                      <a:satMod val="200000"/>
                      <a:tint val="72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400" spc="100" dirty="0">
                <a:ln w="18000">
                  <a:solidFill>
                    <a:schemeClr val="accent1">
                      <a:satMod val="200000"/>
                      <a:tint val="72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United International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Acknowledgment</a:t>
            </a:r>
            <a:endParaRPr lang="en-US" b="1" dirty="0"/>
          </a:p>
        </p:txBody>
      </p:sp>
      <p:sp>
        <p:nvSpPr>
          <p:cNvPr id="326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0" eaLnBrk="0" hangingPunct="0">
              <a:buSzTx/>
              <a:buFontTx/>
              <a:buChar char="•"/>
            </a:pPr>
            <a:r>
              <a:rPr lang="en-US" altLang="en-US" dirty="0">
                <a:solidFill>
                  <a:srgbClr val="222222"/>
                </a:solidFill>
              </a:rPr>
              <a:t>The slides were originally prepared by</a:t>
            </a:r>
          </a:p>
          <a:p>
            <a:pPr eaLnBrk="0" hangingPunct="0">
              <a:buSzTx/>
              <a:buNone/>
            </a:pPr>
            <a:r>
              <a:rPr lang="en-US" dirty="0"/>
              <a:t>	</a:t>
            </a:r>
            <a:r>
              <a:rPr lang="en-US" sz="2800" dirty="0" err="1">
                <a:solidFill>
                  <a:srgbClr val="C00000"/>
                </a:solidFill>
              </a:rPr>
              <a:t>Politehnica</a:t>
            </a:r>
            <a:r>
              <a:rPr lang="en-US" sz="2800" dirty="0">
                <a:solidFill>
                  <a:srgbClr val="C00000"/>
                </a:solidFill>
              </a:rPr>
              <a:t> Timisoara International - Computer Engineering Study Program.</a:t>
            </a:r>
          </a:p>
          <a:p>
            <a:pPr eaLnBrk="0" hangingPunct="0">
              <a:buSzTx/>
              <a:buNone/>
            </a:pPr>
            <a:r>
              <a:rPr lang="en-US" dirty="0">
                <a:solidFill>
                  <a:srgbClr val="C00000"/>
                </a:solidFill>
              </a:rPr>
              <a:t>			and</a:t>
            </a:r>
          </a:p>
          <a:p>
            <a:pPr eaLnBrk="0" hangingPunct="0">
              <a:buSzTx/>
              <a:buNone/>
            </a:pPr>
            <a:r>
              <a:rPr lang="en-US" dirty="0">
                <a:solidFill>
                  <a:srgbClr val="C00000"/>
                </a:solidFill>
              </a:rPr>
              <a:t>	</a:t>
            </a:r>
            <a:r>
              <a:rPr lang="en-US" sz="2800" dirty="0">
                <a:solidFill>
                  <a:srgbClr val="C00000"/>
                </a:solidFill>
              </a:rPr>
              <a:t>CSE Department, </a:t>
            </a:r>
            <a:r>
              <a:rPr lang="en-US" sz="2800" dirty="0" err="1">
                <a:solidFill>
                  <a:srgbClr val="C00000"/>
                </a:solidFill>
              </a:rPr>
              <a:t>Kharagpur</a:t>
            </a:r>
            <a:r>
              <a:rPr lang="en-US" sz="2800" dirty="0">
                <a:solidFill>
                  <a:srgbClr val="C00000"/>
                </a:solidFill>
              </a:rPr>
              <a:t> IIT</a:t>
            </a:r>
            <a:endParaRPr lang="en-US" dirty="0">
              <a:solidFill>
                <a:srgbClr val="C00000"/>
              </a:solidFill>
            </a:endParaRPr>
          </a:p>
          <a:p>
            <a:pPr eaLnBrk="0" hangingPunct="0">
              <a:buSzTx/>
              <a:buNone/>
            </a:pPr>
            <a:endParaRPr lang="en-US" dirty="0">
              <a:solidFill>
                <a:srgbClr val="C00000"/>
              </a:solidFill>
            </a:endParaRPr>
          </a:p>
          <a:p>
            <a:pPr eaLnBrk="0" hangingPunct="0">
              <a:buSzTx/>
            </a:pPr>
            <a:r>
              <a:rPr lang="en-US" dirty="0"/>
              <a:t>We have modified according to our needs.</a:t>
            </a:r>
          </a:p>
          <a:p>
            <a:pPr lvl="0" eaLnBrk="0" hangingPunct="0">
              <a:buSzTx/>
              <a:buNone/>
            </a:pPr>
            <a:endParaRPr lang="en-US" altLang="en-US" dirty="0">
              <a:solidFill>
                <a:srgbClr val="222222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D6780-CDB5-4341-BE76-A36E52D8C546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05" name="Line 13"/>
          <p:cNvSpPr>
            <a:spLocks noChangeShapeType="1"/>
          </p:cNvSpPr>
          <p:nvPr/>
        </p:nvSpPr>
        <p:spPr bwMode="auto">
          <a:xfrm>
            <a:off x="5857884" y="2319326"/>
            <a:ext cx="914400" cy="0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CA"/>
          </a:p>
        </p:txBody>
      </p:sp>
      <p:sp>
        <p:nvSpPr>
          <p:cNvPr id="33804" name="Line 12"/>
          <p:cNvSpPr>
            <a:spLocks noChangeShapeType="1"/>
          </p:cNvSpPr>
          <p:nvPr/>
        </p:nvSpPr>
        <p:spPr bwMode="auto">
          <a:xfrm>
            <a:off x="2385986" y="2319326"/>
            <a:ext cx="914400" cy="0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CA"/>
          </a:p>
        </p:txBody>
      </p:sp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1128746" y="304800"/>
            <a:ext cx="8229600" cy="1143000"/>
          </a:xfrm>
        </p:spPr>
        <p:txBody>
          <a:bodyPr/>
          <a:lstStyle/>
          <a:p>
            <a:r>
              <a:rPr lang="en-US" dirty="0"/>
              <a:t>The von Neumann architecture </a:t>
            </a:r>
          </a:p>
        </p:txBody>
      </p:sp>
      <p:sp>
        <p:nvSpPr>
          <p:cNvPr id="33796" name="Rectangle 4"/>
          <p:cNvSpPr>
            <a:spLocks noChangeArrowheads="1"/>
          </p:cNvSpPr>
          <p:nvPr/>
        </p:nvSpPr>
        <p:spPr bwMode="auto">
          <a:xfrm>
            <a:off x="3300386" y="1785926"/>
            <a:ext cx="2743200" cy="11430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endParaRPr lang="en-US"/>
          </a:p>
          <a:p>
            <a:pPr algn="ctr"/>
            <a:endParaRPr lang="en-US"/>
          </a:p>
          <a:p>
            <a:pPr algn="ctr"/>
            <a:endParaRPr lang="en-US"/>
          </a:p>
        </p:txBody>
      </p:sp>
      <p:sp>
        <p:nvSpPr>
          <p:cNvPr id="33797" name="Rectangle 5"/>
          <p:cNvSpPr>
            <a:spLocks noChangeArrowheads="1"/>
          </p:cNvSpPr>
          <p:nvPr/>
        </p:nvSpPr>
        <p:spPr bwMode="auto">
          <a:xfrm>
            <a:off x="1142976" y="1938326"/>
            <a:ext cx="1500198" cy="7620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/>
              <a:t>Input Device</a:t>
            </a:r>
          </a:p>
        </p:txBody>
      </p:sp>
      <p:sp>
        <p:nvSpPr>
          <p:cNvPr id="33798" name="Rectangle 6"/>
          <p:cNvSpPr>
            <a:spLocks noChangeArrowheads="1"/>
          </p:cNvSpPr>
          <p:nvPr/>
        </p:nvSpPr>
        <p:spPr bwMode="auto">
          <a:xfrm>
            <a:off x="6786578" y="1938326"/>
            <a:ext cx="1600200" cy="7620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/>
              <a:t>Output Device</a:t>
            </a:r>
          </a:p>
        </p:txBody>
      </p:sp>
      <p:sp>
        <p:nvSpPr>
          <p:cNvPr id="33799" name="Rectangle 7"/>
          <p:cNvSpPr>
            <a:spLocks noChangeArrowheads="1"/>
          </p:cNvSpPr>
          <p:nvPr/>
        </p:nvSpPr>
        <p:spPr bwMode="auto">
          <a:xfrm>
            <a:off x="3528986" y="2166926"/>
            <a:ext cx="990600" cy="533400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en-US"/>
              <a:t>ALU</a:t>
            </a:r>
          </a:p>
        </p:txBody>
      </p:sp>
      <p:sp>
        <p:nvSpPr>
          <p:cNvPr id="33800" name="Rectangle 8"/>
          <p:cNvSpPr>
            <a:spLocks noChangeArrowheads="1"/>
          </p:cNvSpPr>
          <p:nvPr/>
        </p:nvSpPr>
        <p:spPr bwMode="auto">
          <a:xfrm>
            <a:off x="4824386" y="2166926"/>
            <a:ext cx="990600" cy="533400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en-US"/>
              <a:t>CU</a:t>
            </a:r>
          </a:p>
        </p:txBody>
      </p:sp>
      <p:sp>
        <p:nvSpPr>
          <p:cNvPr id="33801" name="Text Box 9"/>
          <p:cNvSpPr txBox="1">
            <a:spLocks noChangeArrowheads="1"/>
          </p:cNvSpPr>
          <p:nvPr/>
        </p:nvSpPr>
        <p:spPr bwMode="auto">
          <a:xfrm>
            <a:off x="4290986" y="1785926"/>
            <a:ext cx="666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CPU</a:t>
            </a:r>
          </a:p>
        </p:txBody>
      </p:sp>
      <p:sp>
        <p:nvSpPr>
          <p:cNvPr id="33802" name="Rectangle 10"/>
          <p:cNvSpPr>
            <a:spLocks noChangeArrowheads="1"/>
          </p:cNvSpPr>
          <p:nvPr/>
        </p:nvSpPr>
        <p:spPr bwMode="auto">
          <a:xfrm>
            <a:off x="3757586" y="3386126"/>
            <a:ext cx="1600200" cy="7620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/>
              <a:t>Main memory</a:t>
            </a:r>
          </a:p>
          <a:p>
            <a:pPr algn="ctr"/>
            <a:r>
              <a:rPr lang="en-US"/>
              <a:t>(RAM)</a:t>
            </a:r>
          </a:p>
        </p:txBody>
      </p:sp>
      <p:sp>
        <p:nvSpPr>
          <p:cNvPr id="33803" name="Rectangle 11"/>
          <p:cNvSpPr>
            <a:spLocks noChangeArrowheads="1"/>
          </p:cNvSpPr>
          <p:nvPr/>
        </p:nvSpPr>
        <p:spPr bwMode="auto">
          <a:xfrm>
            <a:off x="6272186" y="3309926"/>
            <a:ext cx="1600200" cy="7620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/>
              <a:t>Secondary </a:t>
            </a:r>
          </a:p>
          <a:p>
            <a:pPr algn="ctr"/>
            <a:r>
              <a:rPr lang="en-US"/>
              <a:t>storage</a:t>
            </a:r>
          </a:p>
        </p:txBody>
      </p:sp>
      <p:sp>
        <p:nvSpPr>
          <p:cNvPr id="33806" name="Line 14"/>
          <p:cNvSpPr>
            <a:spLocks noChangeShapeType="1"/>
          </p:cNvSpPr>
          <p:nvPr/>
        </p:nvSpPr>
        <p:spPr bwMode="auto">
          <a:xfrm>
            <a:off x="4671986" y="2928926"/>
            <a:ext cx="0" cy="457200"/>
          </a:xfrm>
          <a:prstGeom prst="line">
            <a:avLst/>
          </a:prstGeom>
          <a:ln>
            <a:headEnd type="triangle" w="med" len="med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CA"/>
          </a:p>
        </p:txBody>
      </p:sp>
      <p:sp>
        <p:nvSpPr>
          <p:cNvPr id="33807" name="Line 15"/>
          <p:cNvSpPr>
            <a:spLocks noChangeShapeType="1"/>
          </p:cNvSpPr>
          <p:nvPr/>
        </p:nvSpPr>
        <p:spPr bwMode="auto">
          <a:xfrm>
            <a:off x="5510186" y="2928926"/>
            <a:ext cx="1295400" cy="381000"/>
          </a:xfrm>
          <a:prstGeom prst="line">
            <a:avLst/>
          </a:prstGeom>
          <a:ln>
            <a:headEnd type="triangle" w="med" len="med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1071538" y="357166"/>
            <a:ext cx="7328848" cy="609600"/>
          </a:xfrm>
        </p:spPr>
        <p:txBody>
          <a:bodyPr/>
          <a:lstStyle/>
          <a:p>
            <a:r>
              <a:rPr lang="en-US"/>
              <a:t>The first C program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43000" y="714356"/>
            <a:ext cx="7772400" cy="5029200"/>
          </a:xfrm>
        </p:spPr>
        <p:txBody>
          <a:bodyPr/>
          <a:lstStyle/>
          <a:p>
            <a:pPr>
              <a:buFontTx/>
              <a:buNone/>
            </a:pPr>
            <a:r>
              <a:rPr lang="en-US" dirty="0"/>
              <a:t>  </a:t>
            </a:r>
          </a:p>
          <a:p>
            <a:pPr>
              <a:buFontTx/>
              <a:buNone/>
            </a:pPr>
            <a:endParaRPr lang="en-US" dirty="0"/>
          </a:p>
        </p:txBody>
      </p:sp>
      <p:sp>
        <p:nvSpPr>
          <p:cNvPr id="4100" name="Text Box 4"/>
          <p:cNvSpPr txBox="1">
            <a:spLocks noChangeArrowheads="1"/>
          </p:cNvSpPr>
          <p:nvPr/>
        </p:nvSpPr>
        <p:spPr bwMode="auto">
          <a:xfrm>
            <a:off x="3225800" y="1738294"/>
            <a:ext cx="5613400" cy="22987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endParaRPr lang="en-US" dirty="0">
              <a:latin typeface="Courier New" pitchFamily="49" charset="0"/>
            </a:endParaRPr>
          </a:p>
          <a:p>
            <a:pPr algn="l"/>
            <a:r>
              <a:rPr lang="en-US" dirty="0">
                <a:latin typeface="Courier New" pitchFamily="49" charset="0"/>
              </a:rPr>
              <a:t>#include &lt;</a:t>
            </a:r>
            <a:r>
              <a:rPr lang="en-US" dirty="0" err="1">
                <a:latin typeface="Courier New" pitchFamily="49" charset="0"/>
              </a:rPr>
              <a:t>stdio.h</a:t>
            </a:r>
            <a:r>
              <a:rPr lang="en-US" dirty="0">
                <a:latin typeface="Courier New" pitchFamily="49" charset="0"/>
              </a:rPr>
              <a:t>&gt;</a:t>
            </a:r>
          </a:p>
          <a:p>
            <a:pPr algn="l"/>
            <a:endParaRPr lang="en-US" dirty="0">
              <a:latin typeface="Courier New" pitchFamily="49" charset="0"/>
            </a:endParaRPr>
          </a:p>
          <a:p>
            <a:pPr algn="l"/>
            <a:r>
              <a:rPr lang="en-US" dirty="0">
                <a:latin typeface="Courier New" pitchFamily="49" charset="0"/>
              </a:rPr>
              <a:t>void main (void)</a:t>
            </a:r>
          </a:p>
          <a:p>
            <a:pPr algn="l"/>
            <a:r>
              <a:rPr lang="en-US" dirty="0">
                <a:latin typeface="Courier New" pitchFamily="49" charset="0"/>
              </a:rPr>
              <a:t>{</a:t>
            </a:r>
          </a:p>
          <a:p>
            <a:pPr algn="l"/>
            <a:r>
              <a:rPr lang="en-US" dirty="0">
                <a:latin typeface="Courier New" pitchFamily="49" charset="0"/>
              </a:rPr>
              <a:t>	</a:t>
            </a:r>
            <a:r>
              <a:rPr lang="en-US" dirty="0" err="1">
                <a:latin typeface="Courier New" pitchFamily="49" charset="0"/>
              </a:rPr>
              <a:t>printf</a:t>
            </a:r>
            <a:r>
              <a:rPr lang="en-US" dirty="0">
                <a:latin typeface="Courier New" pitchFamily="49" charset="0"/>
              </a:rPr>
              <a:t> ("Programming is fun.\n");</a:t>
            </a:r>
          </a:p>
          <a:p>
            <a:pPr algn="l"/>
            <a:r>
              <a:rPr lang="en-US" dirty="0">
                <a:latin typeface="Courier New" pitchFamily="49" charset="0"/>
              </a:rPr>
              <a:t>	</a:t>
            </a:r>
          </a:p>
          <a:p>
            <a:pPr algn="l"/>
            <a:r>
              <a:rPr lang="en-US" dirty="0">
                <a:latin typeface="Courier New" pitchFamily="49" charset="0"/>
              </a:rPr>
              <a:t>}</a:t>
            </a:r>
          </a:p>
        </p:txBody>
      </p:sp>
      <p:sp>
        <p:nvSpPr>
          <p:cNvPr id="4101" name="Line 5"/>
          <p:cNvSpPr>
            <a:spLocks noChangeShapeType="1"/>
          </p:cNvSpPr>
          <p:nvPr/>
        </p:nvSpPr>
        <p:spPr bwMode="auto">
          <a:xfrm>
            <a:off x="2667000" y="1704956"/>
            <a:ext cx="609600" cy="4572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4102" name="Text Box 6"/>
          <p:cNvSpPr txBox="1">
            <a:spLocks noChangeArrowheads="1"/>
          </p:cNvSpPr>
          <p:nvPr/>
        </p:nvSpPr>
        <p:spPr bwMode="auto">
          <a:xfrm>
            <a:off x="1142976" y="1095356"/>
            <a:ext cx="285752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>
              <a:spcBef>
                <a:spcPct val="20000"/>
              </a:spcBef>
            </a:pPr>
            <a:r>
              <a:rPr lang="en-US" sz="1600" dirty="0"/>
              <a:t>uses standard library input and output functions  (</a:t>
            </a:r>
            <a:r>
              <a:rPr lang="en-US" sz="1600" dirty="0" err="1"/>
              <a:t>printf</a:t>
            </a:r>
            <a:r>
              <a:rPr lang="en-US" sz="1600" dirty="0"/>
              <a:t>) </a:t>
            </a:r>
          </a:p>
        </p:txBody>
      </p:sp>
      <p:sp>
        <p:nvSpPr>
          <p:cNvPr id="4103" name="Text Box 7"/>
          <p:cNvSpPr txBox="1">
            <a:spLocks noChangeArrowheads="1"/>
          </p:cNvSpPr>
          <p:nvPr/>
        </p:nvSpPr>
        <p:spPr bwMode="auto">
          <a:xfrm>
            <a:off x="838200" y="2058407"/>
            <a:ext cx="23622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en-US" sz="1600" dirty="0"/>
              <a:t>the program</a:t>
            </a:r>
          </a:p>
          <a:p>
            <a:endParaRPr lang="en-US" sz="1600" dirty="0"/>
          </a:p>
        </p:txBody>
      </p:sp>
      <p:sp>
        <p:nvSpPr>
          <p:cNvPr id="4104" name="Text Box 8"/>
          <p:cNvSpPr txBox="1">
            <a:spLocks noChangeArrowheads="1"/>
          </p:cNvSpPr>
          <p:nvPr/>
        </p:nvSpPr>
        <p:spPr bwMode="auto">
          <a:xfrm>
            <a:off x="785786" y="2786044"/>
            <a:ext cx="1736373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/>
              <a:t>begin of program</a:t>
            </a:r>
          </a:p>
        </p:txBody>
      </p:sp>
      <p:sp>
        <p:nvSpPr>
          <p:cNvPr id="4105" name="Text Box 9"/>
          <p:cNvSpPr txBox="1">
            <a:spLocks noChangeArrowheads="1"/>
          </p:cNvSpPr>
          <p:nvPr/>
        </p:nvSpPr>
        <p:spPr bwMode="auto">
          <a:xfrm>
            <a:off x="928662" y="3700444"/>
            <a:ext cx="15776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/>
              <a:t>end of program</a:t>
            </a:r>
          </a:p>
        </p:txBody>
      </p:sp>
      <p:sp>
        <p:nvSpPr>
          <p:cNvPr id="4106" name="Line 10"/>
          <p:cNvSpPr>
            <a:spLocks noChangeShapeType="1"/>
          </p:cNvSpPr>
          <p:nvPr/>
        </p:nvSpPr>
        <p:spPr bwMode="auto">
          <a:xfrm>
            <a:off x="2286000" y="2390756"/>
            <a:ext cx="1066800" cy="3048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4107" name="Line 11"/>
          <p:cNvSpPr>
            <a:spLocks noChangeShapeType="1"/>
          </p:cNvSpPr>
          <p:nvPr/>
        </p:nvSpPr>
        <p:spPr bwMode="auto">
          <a:xfrm>
            <a:off x="2438400" y="3000356"/>
            <a:ext cx="8382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4108" name="Line 12"/>
          <p:cNvSpPr>
            <a:spLocks noChangeShapeType="1"/>
          </p:cNvSpPr>
          <p:nvPr/>
        </p:nvSpPr>
        <p:spPr bwMode="auto">
          <a:xfrm>
            <a:off x="2438400" y="3838556"/>
            <a:ext cx="8382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4109" name="Text Box 13"/>
          <p:cNvSpPr txBox="1">
            <a:spLocks noChangeArrowheads="1"/>
          </p:cNvSpPr>
          <p:nvPr/>
        </p:nvSpPr>
        <p:spPr bwMode="auto">
          <a:xfrm>
            <a:off x="1381987" y="3243244"/>
            <a:ext cx="1189749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/>
              <a:t>statements</a:t>
            </a:r>
          </a:p>
        </p:txBody>
      </p:sp>
      <p:sp>
        <p:nvSpPr>
          <p:cNvPr id="4110" name="Line 14"/>
          <p:cNvSpPr>
            <a:spLocks noChangeShapeType="1"/>
          </p:cNvSpPr>
          <p:nvPr/>
        </p:nvSpPr>
        <p:spPr bwMode="auto">
          <a:xfrm flipV="1">
            <a:off x="2438400" y="3305156"/>
            <a:ext cx="1752600" cy="152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4112" name="Text Box 16"/>
          <p:cNvSpPr txBox="1">
            <a:spLocks noChangeArrowheads="1"/>
          </p:cNvSpPr>
          <p:nvPr/>
        </p:nvSpPr>
        <p:spPr bwMode="auto">
          <a:xfrm>
            <a:off x="1357290" y="4143380"/>
            <a:ext cx="7429552" cy="17789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88900" indent="-88900" algn="l">
              <a:spcAft>
                <a:spcPct val="30000"/>
              </a:spcAft>
              <a:buFont typeface="Arial" pitchFamily="34" charset="0"/>
              <a:buChar char="•"/>
            </a:pPr>
            <a:r>
              <a:rPr lang="en-US" sz="1600" dirty="0"/>
              <a:t> main: a special name that indicates where the program must begin execution. It is a special </a:t>
            </a:r>
            <a:r>
              <a:rPr lang="en-US" sz="1600" i="1" dirty="0"/>
              <a:t>function</a:t>
            </a:r>
            <a:r>
              <a:rPr lang="en-US" sz="1600" dirty="0"/>
              <a:t>.</a:t>
            </a:r>
          </a:p>
          <a:p>
            <a:pPr marL="88900" indent="-88900" algn="l">
              <a:spcAft>
                <a:spcPct val="30000"/>
              </a:spcAft>
              <a:buFont typeface="Arial" pitchFamily="34" charset="0"/>
              <a:buChar char="•"/>
            </a:pPr>
            <a:r>
              <a:rPr lang="en-US" sz="1600" dirty="0"/>
              <a:t> first statement: calls a routine named </a:t>
            </a:r>
            <a:r>
              <a:rPr lang="en-US" sz="1600" dirty="0" err="1"/>
              <a:t>printf</a:t>
            </a:r>
            <a:r>
              <a:rPr lang="en-US" sz="1600" dirty="0"/>
              <a:t>, with argument the string of characters “Programming is fun \n” </a:t>
            </a:r>
          </a:p>
          <a:p>
            <a:pPr marL="88900" indent="-88900" algn="l">
              <a:spcAft>
                <a:spcPct val="30000"/>
              </a:spcAft>
              <a:buFont typeface="Arial" pitchFamily="34" charset="0"/>
              <a:buChar char="•"/>
            </a:pPr>
            <a:r>
              <a:rPr lang="en-US" sz="1600" dirty="0"/>
              <a:t> last statement: finishes execution of main and returns to the system a status value of 0 (conventional value for OK)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format in C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/>
              <a:t>Statements are terminated with semicolons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Indentation are used for increased readability.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Free format: white spaces and indentation is ignored by compiler</a:t>
            </a:r>
          </a:p>
          <a:p>
            <a:pPr>
              <a:lnSpc>
                <a:spcPct val="90000"/>
              </a:lnSpc>
            </a:pPr>
            <a:r>
              <a:rPr lang="en-US" sz="2400" b="1" dirty="0"/>
              <a:t>C is case sensitive</a:t>
            </a:r>
            <a:r>
              <a:rPr lang="en-US" sz="2400" dirty="0"/>
              <a:t> – pay attention to lower and upper case letters when typing ! 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All C keywords and standard functions are lower case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Typing INT, </a:t>
            </a:r>
            <a:r>
              <a:rPr lang="en-US" sz="2000" dirty="0" err="1"/>
              <a:t>Int</a:t>
            </a:r>
            <a:r>
              <a:rPr lang="en-US" sz="2000" dirty="0"/>
              <a:t>, etc instead of </a:t>
            </a:r>
            <a:r>
              <a:rPr lang="en-US" sz="2000" dirty="0" err="1"/>
              <a:t>int</a:t>
            </a:r>
            <a:r>
              <a:rPr lang="en-US" sz="2000" dirty="0"/>
              <a:t> is a compiler error 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New line is represented by \n (Escape sequence)</a:t>
            </a:r>
          </a:p>
          <a:p>
            <a:pPr>
              <a:lnSpc>
                <a:spcPct val="90000"/>
              </a:lnSpc>
            </a:pP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51" name="Rectangle 19"/>
          <p:cNvSpPr>
            <a:spLocks noChangeArrowheads="1"/>
          </p:cNvSpPr>
          <p:nvPr/>
        </p:nvSpPr>
        <p:spPr bwMode="auto">
          <a:xfrm>
            <a:off x="2438400" y="1043006"/>
            <a:ext cx="2286000" cy="5029200"/>
          </a:xfrm>
          <a:prstGeom prst="rect">
            <a:avLst/>
          </a:prstGeom>
          <a:noFill/>
          <a:ln w="76200">
            <a:solidFill>
              <a:srgbClr val="00CC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CA"/>
          </a:p>
        </p:txBody>
      </p:sp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0" dirty="0"/>
              <a:t>Compiling and running C programs</a:t>
            </a:r>
          </a:p>
        </p:txBody>
      </p:sp>
      <p:sp>
        <p:nvSpPr>
          <p:cNvPr id="44036" name="Rectangle 4"/>
          <p:cNvSpPr>
            <a:spLocks noChangeArrowheads="1"/>
          </p:cNvSpPr>
          <p:nvPr/>
        </p:nvSpPr>
        <p:spPr bwMode="auto">
          <a:xfrm>
            <a:off x="2895600" y="1424006"/>
            <a:ext cx="12192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Editor</a:t>
            </a:r>
          </a:p>
        </p:txBody>
      </p:sp>
      <p:sp>
        <p:nvSpPr>
          <p:cNvPr id="44038" name="Rectangle 6"/>
          <p:cNvSpPr>
            <a:spLocks noChangeArrowheads="1"/>
          </p:cNvSpPr>
          <p:nvPr/>
        </p:nvSpPr>
        <p:spPr bwMode="auto">
          <a:xfrm>
            <a:off x="2895600" y="2719406"/>
            <a:ext cx="12192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Compiler</a:t>
            </a:r>
          </a:p>
        </p:txBody>
      </p:sp>
      <p:sp>
        <p:nvSpPr>
          <p:cNvPr id="44039" name="Rectangle 7"/>
          <p:cNvSpPr>
            <a:spLocks noChangeArrowheads="1"/>
          </p:cNvSpPr>
          <p:nvPr/>
        </p:nvSpPr>
        <p:spPr bwMode="auto">
          <a:xfrm>
            <a:off x="2895600" y="4167206"/>
            <a:ext cx="12192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Linker</a:t>
            </a:r>
          </a:p>
        </p:txBody>
      </p:sp>
      <p:sp>
        <p:nvSpPr>
          <p:cNvPr id="44040" name="Oval 8"/>
          <p:cNvSpPr>
            <a:spLocks noChangeArrowheads="1"/>
          </p:cNvSpPr>
          <p:nvPr/>
        </p:nvSpPr>
        <p:spPr bwMode="auto">
          <a:xfrm>
            <a:off x="5715000" y="1576406"/>
            <a:ext cx="1905000" cy="914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i="1"/>
              <a:t>Source code</a:t>
            </a:r>
          </a:p>
          <a:p>
            <a:pPr algn="ctr"/>
            <a:r>
              <a:rPr lang="en-US"/>
              <a:t>file.c</a:t>
            </a:r>
          </a:p>
        </p:txBody>
      </p:sp>
      <p:sp>
        <p:nvSpPr>
          <p:cNvPr id="44042" name="Oval 10"/>
          <p:cNvSpPr>
            <a:spLocks noChangeArrowheads="1"/>
          </p:cNvSpPr>
          <p:nvPr/>
        </p:nvSpPr>
        <p:spPr bwMode="auto">
          <a:xfrm>
            <a:off x="5791200" y="3024206"/>
            <a:ext cx="1905000" cy="914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i="1"/>
              <a:t>Object code</a:t>
            </a:r>
          </a:p>
          <a:p>
            <a:pPr algn="ctr"/>
            <a:r>
              <a:rPr lang="en-US"/>
              <a:t>file.obj</a:t>
            </a:r>
          </a:p>
        </p:txBody>
      </p:sp>
      <p:sp>
        <p:nvSpPr>
          <p:cNvPr id="44043" name="Oval 11"/>
          <p:cNvSpPr>
            <a:spLocks noChangeArrowheads="1"/>
          </p:cNvSpPr>
          <p:nvPr/>
        </p:nvSpPr>
        <p:spPr bwMode="auto">
          <a:xfrm>
            <a:off x="5791200" y="4472006"/>
            <a:ext cx="1905000" cy="914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i="1"/>
              <a:t>Executable code</a:t>
            </a:r>
          </a:p>
          <a:p>
            <a:pPr algn="ctr"/>
            <a:r>
              <a:rPr lang="en-US"/>
              <a:t>file.exe</a:t>
            </a:r>
          </a:p>
        </p:txBody>
      </p:sp>
      <p:sp>
        <p:nvSpPr>
          <p:cNvPr id="44044" name="Line 12"/>
          <p:cNvSpPr>
            <a:spLocks noChangeShapeType="1"/>
          </p:cNvSpPr>
          <p:nvPr/>
        </p:nvSpPr>
        <p:spPr bwMode="auto">
          <a:xfrm>
            <a:off x="4114800" y="1576406"/>
            <a:ext cx="15240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44045" name="Line 13"/>
          <p:cNvSpPr>
            <a:spLocks noChangeShapeType="1"/>
          </p:cNvSpPr>
          <p:nvPr/>
        </p:nvSpPr>
        <p:spPr bwMode="auto">
          <a:xfrm>
            <a:off x="4114800" y="3024206"/>
            <a:ext cx="1600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44046" name="Line 14"/>
          <p:cNvSpPr>
            <a:spLocks noChangeShapeType="1"/>
          </p:cNvSpPr>
          <p:nvPr/>
        </p:nvSpPr>
        <p:spPr bwMode="auto">
          <a:xfrm>
            <a:off x="4114800" y="4395806"/>
            <a:ext cx="1676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44047" name="Line 15"/>
          <p:cNvSpPr>
            <a:spLocks noChangeShapeType="1"/>
          </p:cNvSpPr>
          <p:nvPr/>
        </p:nvSpPr>
        <p:spPr bwMode="auto">
          <a:xfrm flipH="1">
            <a:off x="4114800" y="2490806"/>
            <a:ext cx="2209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44048" name="Line 16"/>
          <p:cNvSpPr>
            <a:spLocks noChangeShapeType="1"/>
          </p:cNvSpPr>
          <p:nvPr/>
        </p:nvSpPr>
        <p:spPr bwMode="auto">
          <a:xfrm flipH="1">
            <a:off x="4114800" y="3938606"/>
            <a:ext cx="2286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44049" name="Oval 17"/>
          <p:cNvSpPr>
            <a:spLocks noChangeArrowheads="1"/>
          </p:cNvSpPr>
          <p:nvPr/>
        </p:nvSpPr>
        <p:spPr bwMode="auto">
          <a:xfrm>
            <a:off x="304800" y="3938606"/>
            <a:ext cx="1905000" cy="914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i="1"/>
              <a:t>Libraries </a:t>
            </a:r>
          </a:p>
        </p:txBody>
      </p:sp>
      <p:sp>
        <p:nvSpPr>
          <p:cNvPr id="44050" name="Line 18"/>
          <p:cNvSpPr>
            <a:spLocks noChangeShapeType="1"/>
          </p:cNvSpPr>
          <p:nvPr/>
        </p:nvSpPr>
        <p:spPr bwMode="auto">
          <a:xfrm>
            <a:off x="2209800" y="4395806"/>
            <a:ext cx="60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44052" name="Text Box 20"/>
          <p:cNvSpPr txBox="1">
            <a:spLocks noChangeArrowheads="1"/>
          </p:cNvSpPr>
          <p:nvPr/>
        </p:nvSpPr>
        <p:spPr bwMode="auto">
          <a:xfrm>
            <a:off x="2143108" y="5081606"/>
            <a:ext cx="2857520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/>
              <a:t>IDE (Integrated Development Environment)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 Compilers and IDE’s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sz="2400" dirty="0"/>
              <a:t>One can:</a:t>
            </a:r>
          </a:p>
          <a:p>
            <a:pPr lvl="1">
              <a:lnSpc>
                <a:spcPct val="80000"/>
              </a:lnSpc>
            </a:pPr>
            <a:r>
              <a:rPr lang="en-US" sz="2000" dirty="0"/>
              <a:t>use a text editor to edit source code, and then use independent command-line compilers and linkers</a:t>
            </a:r>
          </a:p>
          <a:p>
            <a:pPr lvl="1">
              <a:lnSpc>
                <a:spcPct val="80000"/>
              </a:lnSpc>
            </a:pPr>
            <a:r>
              <a:rPr lang="en-US" sz="2000" dirty="0"/>
              <a:t>use an IDE: everything together + facilities to debug, develop and organize large projects</a:t>
            </a:r>
          </a:p>
          <a:p>
            <a:pPr>
              <a:lnSpc>
                <a:spcPct val="80000"/>
              </a:lnSpc>
            </a:pPr>
            <a:r>
              <a:rPr lang="en-US" sz="2400" dirty="0"/>
              <a:t>There are several C compilers and IDE’s that support various C compilers </a:t>
            </a:r>
          </a:p>
          <a:p>
            <a:pPr>
              <a:lnSpc>
                <a:spcPct val="80000"/>
              </a:lnSpc>
            </a:pPr>
            <a:r>
              <a:rPr lang="en-US" sz="2400" dirty="0"/>
              <a:t>Lab: </a:t>
            </a:r>
            <a:r>
              <a:rPr lang="en-US" sz="2400" dirty="0">
                <a:solidFill>
                  <a:srgbClr val="FF0000"/>
                </a:solidFill>
              </a:rPr>
              <a:t>Visual Studio IDE for C and C++</a:t>
            </a:r>
            <a:endParaRPr lang="en-US" sz="2000" dirty="0"/>
          </a:p>
          <a:p>
            <a:pPr>
              <a:lnSpc>
                <a:spcPct val="80000"/>
              </a:lnSpc>
            </a:pP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Debugging program errors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/>
              <a:t> </a:t>
            </a:r>
          </a:p>
        </p:txBody>
      </p:sp>
      <p:sp>
        <p:nvSpPr>
          <p:cNvPr id="51204" name="Rectangle 4"/>
          <p:cNvSpPr>
            <a:spLocks noChangeArrowheads="1"/>
          </p:cNvSpPr>
          <p:nvPr/>
        </p:nvSpPr>
        <p:spPr bwMode="auto">
          <a:xfrm>
            <a:off x="2895600" y="1828800"/>
            <a:ext cx="12192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Editor</a:t>
            </a:r>
          </a:p>
        </p:txBody>
      </p:sp>
      <p:sp>
        <p:nvSpPr>
          <p:cNvPr id="51205" name="Rectangle 5"/>
          <p:cNvSpPr>
            <a:spLocks noChangeArrowheads="1"/>
          </p:cNvSpPr>
          <p:nvPr/>
        </p:nvSpPr>
        <p:spPr bwMode="auto">
          <a:xfrm>
            <a:off x="2895600" y="3124200"/>
            <a:ext cx="12192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Compiler</a:t>
            </a:r>
          </a:p>
        </p:txBody>
      </p:sp>
      <p:sp>
        <p:nvSpPr>
          <p:cNvPr id="51206" name="Rectangle 6"/>
          <p:cNvSpPr>
            <a:spLocks noChangeArrowheads="1"/>
          </p:cNvSpPr>
          <p:nvPr/>
        </p:nvSpPr>
        <p:spPr bwMode="auto">
          <a:xfrm>
            <a:off x="2895600" y="4572000"/>
            <a:ext cx="12192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Linker</a:t>
            </a:r>
          </a:p>
        </p:txBody>
      </p:sp>
      <p:sp>
        <p:nvSpPr>
          <p:cNvPr id="51207" name="Oval 7"/>
          <p:cNvSpPr>
            <a:spLocks noChangeArrowheads="1"/>
          </p:cNvSpPr>
          <p:nvPr/>
        </p:nvSpPr>
        <p:spPr bwMode="auto">
          <a:xfrm>
            <a:off x="5715000" y="1981200"/>
            <a:ext cx="1905000" cy="914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i="1"/>
              <a:t>Source code</a:t>
            </a:r>
          </a:p>
          <a:p>
            <a:pPr algn="ctr"/>
            <a:r>
              <a:rPr lang="en-US"/>
              <a:t>file.c</a:t>
            </a:r>
          </a:p>
        </p:txBody>
      </p:sp>
      <p:sp>
        <p:nvSpPr>
          <p:cNvPr id="51208" name="Oval 8"/>
          <p:cNvSpPr>
            <a:spLocks noChangeArrowheads="1"/>
          </p:cNvSpPr>
          <p:nvPr/>
        </p:nvSpPr>
        <p:spPr bwMode="auto">
          <a:xfrm>
            <a:off x="5791200" y="3429000"/>
            <a:ext cx="1905000" cy="914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i="1"/>
              <a:t>Object code</a:t>
            </a:r>
          </a:p>
          <a:p>
            <a:pPr algn="ctr"/>
            <a:r>
              <a:rPr lang="en-US"/>
              <a:t>file.obj</a:t>
            </a:r>
          </a:p>
        </p:txBody>
      </p:sp>
      <p:sp>
        <p:nvSpPr>
          <p:cNvPr id="51209" name="Oval 9"/>
          <p:cNvSpPr>
            <a:spLocks noChangeArrowheads="1"/>
          </p:cNvSpPr>
          <p:nvPr/>
        </p:nvSpPr>
        <p:spPr bwMode="auto">
          <a:xfrm>
            <a:off x="5791200" y="4876800"/>
            <a:ext cx="1905000" cy="914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i="1"/>
              <a:t>Executable code</a:t>
            </a:r>
          </a:p>
          <a:p>
            <a:pPr algn="ctr"/>
            <a:r>
              <a:rPr lang="en-US"/>
              <a:t>file.exe</a:t>
            </a:r>
          </a:p>
        </p:txBody>
      </p:sp>
      <p:sp>
        <p:nvSpPr>
          <p:cNvPr id="51210" name="Line 10"/>
          <p:cNvSpPr>
            <a:spLocks noChangeShapeType="1"/>
          </p:cNvSpPr>
          <p:nvPr/>
        </p:nvSpPr>
        <p:spPr bwMode="auto">
          <a:xfrm>
            <a:off x="4114800" y="1981200"/>
            <a:ext cx="15240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51211" name="Line 11"/>
          <p:cNvSpPr>
            <a:spLocks noChangeShapeType="1"/>
          </p:cNvSpPr>
          <p:nvPr/>
        </p:nvSpPr>
        <p:spPr bwMode="auto">
          <a:xfrm>
            <a:off x="4114800" y="3429000"/>
            <a:ext cx="1600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51212" name="Line 12"/>
          <p:cNvSpPr>
            <a:spLocks noChangeShapeType="1"/>
          </p:cNvSpPr>
          <p:nvPr/>
        </p:nvSpPr>
        <p:spPr bwMode="auto">
          <a:xfrm>
            <a:off x="4114800" y="4800600"/>
            <a:ext cx="1676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51213" name="Line 13"/>
          <p:cNvSpPr>
            <a:spLocks noChangeShapeType="1"/>
          </p:cNvSpPr>
          <p:nvPr/>
        </p:nvSpPr>
        <p:spPr bwMode="auto">
          <a:xfrm flipH="1">
            <a:off x="4114800" y="2895600"/>
            <a:ext cx="2209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51214" name="Line 14"/>
          <p:cNvSpPr>
            <a:spLocks noChangeShapeType="1"/>
          </p:cNvSpPr>
          <p:nvPr/>
        </p:nvSpPr>
        <p:spPr bwMode="auto">
          <a:xfrm flipH="1">
            <a:off x="4114800" y="4343400"/>
            <a:ext cx="2286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51215" name="Oval 15"/>
          <p:cNvSpPr>
            <a:spLocks noChangeArrowheads="1"/>
          </p:cNvSpPr>
          <p:nvPr/>
        </p:nvSpPr>
        <p:spPr bwMode="auto">
          <a:xfrm>
            <a:off x="304800" y="4343400"/>
            <a:ext cx="1905000" cy="914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i="1"/>
              <a:t>Libraries </a:t>
            </a:r>
          </a:p>
        </p:txBody>
      </p:sp>
      <p:sp>
        <p:nvSpPr>
          <p:cNvPr id="51216" name="Line 16"/>
          <p:cNvSpPr>
            <a:spLocks noChangeShapeType="1"/>
          </p:cNvSpPr>
          <p:nvPr/>
        </p:nvSpPr>
        <p:spPr bwMode="auto">
          <a:xfrm>
            <a:off x="2209800" y="4800600"/>
            <a:ext cx="60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51219" name="Freeform 19"/>
          <p:cNvSpPr>
            <a:spLocks/>
          </p:cNvSpPr>
          <p:nvPr/>
        </p:nvSpPr>
        <p:spPr bwMode="auto">
          <a:xfrm>
            <a:off x="2044700" y="2057400"/>
            <a:ext cx="774700" cy="1371600"/>
          </a:xfrm>
          <a:custGeom>
            <a:avLst/>
            <a:gdLst/>
            <a:ahLst/>
            <a:cxnLst>
              <a:cxn ang="0">
                <a:pos x="488" y="1008"/>
              </a:cxn>
              <a:cxn ang="0">
                <a:pos x="152" y="864"/>
              </a:cxn>
              <a:cxn ang="0">
                <a:pos x="56" y="192"/>
              </a:cxn>
              <a:cxn ang="0">
                <a:pos x="488" y="0"/>
              </a:cxn>
            </a:cxnLst>
            <a:rect l="0" t="0" r="r" b="b"/>
            <a:pathLst>
              <a:path w="488" h="1008">
                <a:moveTo>
                  <a:pt x="488" y="1008"/>
                </a:moveTo>
                <a:cubicBezTo>
                  <a:pt x="356" y="1004"/>
                  <a:pt x="224" y="1000"/>
                  <a:pt x="152" y="864"/>
                </a:cubicBezTo>
                <a:cubicBezTo>
                  <a:pt x="80" y="728"/>
                  <a:pt x="0" y="336"/>
                  <a:pt x="56" y="192"/>
                </a:cubicBezTo>
                <a:cubicBezTo>
                  <a:pt x="112" y="48"/>
                  <a:pt x="300" y="24"/>
                  <a:pt x="488" y="0"/>
                </a:cubicBezTo>
              </a:path>
            </a:pathLst>
          </a:custGeom>
          <a:noFill/>
          <a:ln w="50800">
            <a:solidFill>
              <a:srgbClr val="FF0000"/>
            </a:solidFill>
            <a:round/>
            <a:headEnd/>
            <a:tailEnd type="stealth" w="lg" len="lg"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51220" name="Text Box 20"/>
          <p:cNvSpPr txBox="1">
            <a:spLocks noChangeArrowheads="1"/>
          </p:cNvSpPr>
          <p:nvPr/>
        </p:nvSpPr>
        <p:spPr bwMode="auto">
          <a:xfrm>
            <a:off x="669925" y="2017713"/>
            <a:ext cx="12001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Syntactic</a:t>
            </a:r>
          </a:p>
          <a:p>
            <a:r>
              <a:rPr lang="en-US" b="1">
                <a:solidFill>
                  <a:srgbClr val="FF0000"/>
                </a:solidFill>
              </a:rPr>
              <a:t>Errors</a:t>
            </a:r>
          </a:p>
        </p:txBody>
      </p:sp>
      <p:sp>
        <p:nvSpPr>
          <p:cNvPr id="51222" name="Freeform 22"/>
          <p:cNvSpPr>
            <a:spLocks/>
          </p:cNvSpPr>
          <p:nvPr/>
        </p:nvSpPr>
        <p:spPr bwMode="auto">
          <a:xfrm>
            <a:off x="4191000" y="1346200"/>
            <a:ext cx="4648200" cy="4508500"/>
          </a:xfrm>
          <a:custGeom>
            <a:avLst/>
            <a:gdLst/>
            <a:ahLst/>
            <a:cxnLst>
              <a:cxn ang="0">
                <a:pos x="2256" y="2608"/>
              </a:cxn>
              <a:cxn ang="0">
                <a:pos x="2592" y="2464"/>
              </a:cxn>
              <a:cxn ang="0">
                <a:pos x="2496" y="352"/>
              </a:cxn>
              <a:cxn ang="0">
                <a:pos x="0" y="352"/>
              </a:cxn>
            </a:cxnLst>
            <a:rect l="0" t="0" r="r" b="b"/>
            <a:pathLst>
              <a:path w="2928" h="2840">
                <a:moveTo>
                  <a:pt x="2256" y="2608"/>
                </a:moveTo>
                <a:cubicBezTo>
                  <a:pt x="2404" y="2724"/>
                  <a:pt x="2552" y="2840"/>
                  <a:pt x="2592" y="2464"/>
                </a:cubicBezTo>
                <a:cubicBezTo>
                  <a:pt x="2632" y="2088"/>
                  <a:pt x="2928" y="704"/>
                  <a:pt x="2496" y="352"/>
                </a:cubicBezTo>
                <a:cubicBezTo>
                  <a:pt x="2064" y="0"/>
                  <a:pt x="1032" y="176"/>
                  <a:pt x="0" y="352"/>
                </a:cubicBezTo>
              </a:path>
            </a:pathLst>
          </a:custGeom>
          <a:noFill/>
          <a:ln w="53975">
            <a:solidFill>
              <a:srgbClr val="FF0000"/>
            </a:solidFill>
            <a:round/>
            <a:headEnd/>
            <a:tailEnd type="stealth" w="lg" len="lg"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51223" name="Text Box 23"/>
          <p:cNvSpPr txBox="1">
            <a:spLocks noChangeArrowheads="1"/>
          </p:cNvSpPr>
          <p:nvPr/>
        </p:nvSpPr>
        <p:spPr bwMode="auto">
          <a:xfrm>
            <a:off x="7562850" y="5835650"/>
            <a:ext cx="12001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Semantic</a:t>
            </a:r>
          </a:p>
          <a:p>
            <a:r>
              <a:rPr lang="en-US" b="1">
                <a:solidFill>
                  <a:srgbClr val="FF0000"/>
                </a:solidFill>
              </a:rPr>
              <a:t>Errors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Syntax and Semantics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dirty="0">
                <a:solidFill>
                  <a:srgbClr val="C00000"/>
                </a:solidFill>
              </a:rPr>
              <a:t>Syntax</a:t>
            </a:r>
            <a:r>
              <a:rPr lang="en-US" sz="2800" dirty="0"/>
              <a:t> errors: violation of programming language rules (grammar)</a:t>
            </a:r>
          </a:p>
          <a:p>
            <a:pPr lvl="1"/>
            <a:r>
              <a:rPr lang="en-US" sz="2400" dirty="0"/>
              <a:t>"</a:t>
            </a:r>
            <a:r>
              <a:rPr lang="en-US" sz="2400" i="1" dirty="0"/>
              <a:t>Me speak English good</a:t>
            </a:r>
            <a:r>
              <a:rPr lang="en-US" sz="2400" dirty="0"/>
              <a:t>." </a:t>
            </a:r>
          </a:p>
          <a:p>
            <a:pPr lvl="1"/>
            <a:r>
              <a:rPr lang="en-US" sz="2400" dirty="0"/>
              <a:t>Use valid C symbols in wrong places</a:t>
            </a:r>
          </a:p>
          <a:p>
            <a:pPr lvl="1"/>
            <a:r>
              <a:rPr lang="en-US" sz="2400" dirty="0"/>
              <a:t>Detected by the compiler</a:t>
            </a:r>
          </a:p>
          <a:p>
            <a:r>
              <a:rPr lang="en-US" sz="2800" dirty="0">
                <a:solidFill>
                  <a:srgbClr val="C00000"/>
                </a:solidFill>
              </a:rPr>
              <a:t>Semantics</a:t>
            </a:r>
            <a:r>
              <a:rPr lang="en-US" sz="2800" dirty="0"/>
              <a:t> errors: errors in meaning: </a:t>
            </a:r>
          </a:p>
          <a:p>
            <a:pPr lvl="1"/>
            <a:r>
              <a:rPr lang="en-US" sz="2400" dirty="0"/>
              <a:t>"</a:t>
            </a:r>
            <a:r>
              <a:rPr lang="en-US" sz="2400" i="1" dirty="0"/>
              <a:t>This sentence is excellent Italian</a:t>
            </a:r>
            <a:r>
              <a:rPr lang="en-US" sz="2400" dirty="0"/>
              <a:t>." </a:t>
            </a:r>
          </a:p>
          <a:p>
            <a:pPr lvl="1"/>
            <a:r>
              <a:rPr lang="en-US" sz="2400" dirty="0"/>
              <a:t>Programs are syntactically correct but don’t produce the expected output</a:t>
            </a:r>
          </a:p>
          <a:p>
            <a:pPr lvl="1"/>
            <a:r>
              <a:rPr lang="en-US" sz="2400" dirty="0"/>
              <a:t>User observes output of running program</a:t>
            </a:r>
          </a:p>
          <a:p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Second program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/>
              <a:t>   </a:t>
            </a:r>
          </a:p>
        </p:txBody>
      </p:sp>
      <p:sp>
        <p:nvSpPr>
          <p:cNvPr id="5124" name="Text Box 4"/>
          <p:cNvSpPr txBox="1">
            <a:spLocks noChangeArrowheads="1"/>
          </p:cNvSpPr>
          <p:nvPr/>
        </p:nvSpPr>
        <p:spPr bwMode="auto">
          <a:xfrm>
            <a:off x="1057276" y="1142984"/>
            <a:ext cx="8015318" cy="230832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/>
            <a:endParaRPr lang="en-US" dirty="0">
              <a:latin typeface="Courier New" pitchFamily="49" charset="0"/>
            </a:endParaRPr>
          </a:p>
          <a:p>
            <a:pPr algn="just"/>
            <a:r>
              <a:rPr lang="en-US" dirty="0">
                <a:latin typeface="Courier New" pitchFamily="49" charset="0"/>
              </a:rPr>
              <a:t>#include &lt;</a:t>
            </a:r>
            <a:r>
              <a:rPr lang="en-US" dirty="0" err="1">
                <a:latin typeface="Courier New" pitchFamily="49" charset="0"/>
              </a:rPr>
              <a:t>stdio.h</a:t>
            </a:r>
            <a:r>
              <a:rPr lang="en-US" dirty="0">
                <a:latin typeface="Courier New" pitchFamily="49" charset="0"/>
              </a:rPr>
              <a:t>&gt;</a:t>
            </a:r>
          </a:p>
          <a:p>
            <a:pPr algn="just"/>
            <a:r>
              <a:rPr lang="en-US" dirty="0" err="1">
                <a:latin typeface="Courier New" pitchFamily="49" charset="0"/>
              </a:rPr>
              <a:t>int</a:t>
            </a:r>
            <a:r>
              <a:rPr lang="en-US" dirty="0">
                <a:latin typeface="Courier New" pitchFamily="49" charset="0"/>
              </a:rPr>
              <a:t> main (void)</a:t>
            </a:r>
          </a:p>
          <a:p>
            <a:pPr algn="just"/>
            <a:r>
              <a:rPr lang="en-US" dirty="0">
                <a:latin typeface="Courier New" pitchFamily="49" charset="0"/>
              </a:rPr>
              <a:t>{</a:t>
            </a:r>
          </a:p>
          <a:p>
            <a:pPr algn="just"/>
            <a:r>
              <a:rPr lang="en-US" dirty="0">
                <a:latin typeface="Courier New" pitchFamily="49" charset="0"/>
              </a:rPr>
              <a:t>    </a:t>
            </a:r>
            <a:r>
              <a:rPr lang="en-US" dirty="0" err="1">
                <a:latin typeface="Courier New" pitchFamily="49" charset="0"/>
              </a:rPr>
              <a:t>printf</a:t>
            </a:r>
            <a:r>
              <a:rPr lang="en-US" dirty="0">
                <a:latin typeface="Courier New" pitchFamily="49" charset="0"/>
              </a:rPr>
              <a:t> ("Programming is fun.\n");</a:t>
            </a:r>
          </a:p>
          <a:p>
            <a:pPr algn="just"/>
            <a:r>
              <a:rPr lang="en-US" dirty="0">
                <a:latin typeface="Courier New" pitchFamily="49" charset="0"/>
              </a:rPr>
              <a:t>    </a:t>
            </a:r>
            <a:r>
              <a:rPr lang="en-US" dirty="0" err="1">
                <a:latin typeface="Courier New" pitchFamily="49" charset="0"/>
              </a:rPr>
              <a:t>printf</a:t>
            </a:r>
            <a:r>
              <a:rPr lang="en-US" dirty="0">
                <a:latin typeface="Courier New" pitchFamily="49" charset="0"/>
              </a:rPr>
              <a:t> ("And programming in C is even more fun.\n");</a:t>
            </a:r>
          </a:p>
          <a:p>
            <a:pPr algn="just"/>
            <a:r>
              <a:rPr lang="en-US" dirty="0">
                <a:latin typeface="Courier New" pitchFamily="49" charset="0"/>
              </a:rPr>
              <a:t>    return 0;</a:t>
            </a:r>
          </a:p>
          <a:p>
            <a:pPr algn="just"/>
            <a:r>
              <a:rPr lang="en-US" dirty="0">
                <a:latin typeface="Courier New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Displaying multiple lines of text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endParaRPr lang="en-US" dirty="0"/>
          </a:p>
          <a:p>
            <a:pPr>
              <a:buFontTx/>
              <a:buNone/>
            </a:pPr>
            <a:endParaRPr lang="en-US" dirty="0"/>
          </a:p>
        </p:txBody>
      </p:sp>
      <p:sp>
        <p:nvSpPr>
          <p:cNvPr id="6148" name="Text Box 4"/>
          <p:cNvSpPr txBox="1">
            <a:spLocks noChangeArrowheads="1"/>
          </p:cNvSpPr>
          <p:nvPr/>
        </p:nvSpPr>
        <p:spPr bwMode="auto">
          <a:xfrm>
            <a:off x="1341461" y="1109678"/>
            <a:ext cx="6337300" cy="20240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endParaRPr lang="en-US" b="1" dirty="0">
              <a:latin typeface="Courier New" pitchFamily="49" charset="0"/>
            </a:endParaRPr>
          </a:p>
          <a:p>
            <a:pPr algn="l"/>
            <a:r>
              <a:rPr lang="en-US" dirty="0">
                <a:latin typeface="Courier New" pitchFamily="49" charset="0"/>
              </a:rPr>
              <a:t>#include &lt;</a:t>
            </a:r>
            <a:r>
              <a:rPr lang="en-US" dirty="0" err="1">
                <a:latin typeface="Courier New" pitchFamily="49" charset="0"/>
              </a:rPr>
              <a:t>stdio.h</a:t>
            </a:r>
            <a:r>
              <a:rPr lang="en-US" dirty="0">
                <a:latin typeface="Courier New" pitchFamily="49" charset="0"/>
              </a:rPr>
              <a:t>&gt;</a:t>
            </a:r>
          </a:p>
          <a:p>
            <a:pPr algn="l"/>
            <a:r>
              <a:rPr lang="en-US" dirty="0" err="1">
                <a:latin typeface="Courier New" pitchFamily="49" charset="0"/>
              </a:rPr>
              <a:t>int</a:t>
            </a:r>
            <a:r>
              <a:rPr lang="en-US" dirty="0">
                <a:latin typeface="Courier New" pitchFamily="49" charset="0"/>
              </a:rPr>
              <a:t> main (void)</a:t>
            </a:r>
          </a:p>
          <a:p>
            <a:pPr algn="l"/>
            <a:r>
              <a:rPr lang="en-US" dirty="0">
                <a:latin typeface="Courier New" pitchFamily="49" charset="0"/>
              </a:rPr>
              <a:t>{</a:t>
            </a:r>
          </a:p>
          <a:p>
            <a:pPr algn="l"/>
            <a:r>
              <a:rPr lang="en-US" dirty="0">
                <a:latin typeface="Courier New" pitchFamily="49" charset="0"/>
              </a:rPr>
              <a:t>   </a:t>
            </a:r>
            <a:r>
              <a:rPr lang="en-US" dirty="0" err="1">
                <a:latin typeface="Courier New" pitchFamily="49" charset="0"/>
              </a:rPr>
              <a:t>printf</a:t>
            </a:r>
            <a:r>
              <a:rPr lang="en-US" dirty="0">
                <a:latin typeface="Courier New" pitchFamily="49" charset="0"/>
              </a:rPr>
              <a:t> ("Testing...\n..1\n...2\n....3\n");</a:t>
            </a:r>
          </a:p>
          <a:p>
            <a:pPr algn="l"/>
            <a:r>
              <a:rPr lang="en-US" dirty="0">
                <a:latin typeface="Courier New" pitchFamily="49" charset="0"/>
              </a:rPr>
              <a:t>   return 0;</a:t>
            </a:r>
          </a:p>
          <a:p>
            <a:pPr algn="l"/>
            <a:r>
              <a:rPr lang="en-US" dirty="0">
                <a:latin typeface="Courier New" pitchFamily="49" charset="0"/>
              </a:rPr>
              <a:t>}</a:t>
            </a:r>
          </a:p>
        </p:txBody>
      </p:sp>
      <p:sp>
        <p:nvSpPr>
          <p:cNvPr id="6149" name="Text Box 5"/>
          <p:cNvSpPr txBox="1">
            <a:spLocks noChangeArrowheads="1"/>
          </p:cNvSpPr>
          <p:nvPr/>
        </p:nvSpPr>
        <p:spPr bwMode="auto">
          <a:xfrm>
            <a:off x="6437776" y="3786190"/>
            <a:ext cx="1563248" cy="120032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just"/>
            <a:r>
              <a:rPr lang="en-US" dirty="0">
                <a:latin typeface="Courier New" pitchFamily="49" charset="0"/>
              </a:rPr>
              <a:t>Testing...</a:t>
            </a:r>
          </a:p>
          <a:p>
            <a:pPr algn="just"/>
            <a:r>
              <a:rPr lang="en-US" dirty="0">
                <a:latin typeface="Courier New" pitchFamily="49" charset="0"/>
              </a:rPr>
              <a:t>..1</a:t>
            </a:r>
          </a:p>
          <a:p>
            <a:pPr algn="just"/>
            <a:r>
              <a:rPr lang="en-US" dirty="0">
                <a:latin typeface="Courier New" pitchFamily="49" charset="0"/>
              </a:rPr>
              <a:t>...2</a:t>
            </a:r>
          </a:p>
          <a:p>
            <a:pPr algn="just"/>
            <a:r>
              <a:rPr lang="en-US" dirty="0">
                <a:latin typeface="Courier New" pitchFamily="49" charset="0"/>
              </a:rPr>
              <a:t>....3</a:t>
            </a:r>
          </a:p>
        </p:txBody>
      </p:sp>
      <p:sp>
        <p:nvSpPr>
          <p:cNvPr id="6150" name="AutoShape 6"/>
          <p:cNvSpPr>
            <a:spLocks noChangeArrowheads="1"/>
          </p:cNvSpPr>
          <p:nvPr/>
        </p:nvSpPr>
        <p:spPr bwMode="auto">
          <a:xfrm>
            <a:off x="1493861" y="3514740"/>
            <a:ext cx="3429000" cy="2057400"/>
          </a:xfrm>
          <a:prstGeom prst="cloudCallout">
            <a:avLst>
              <a:gd name="adj1" fmla="val 67917"/>
              <a:gd name="adj2" fmla="val -95912"/>
            </a:avLst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algn="ctr"/>
            <a:r>
              <a:rPr lang="en-US"/>
              <a:t>It is not necessary to make a separate call to printf for each line of output ! 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7950" y="3357562"/>
            <a:ext cx="133722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sz="2000" b="1" dirty="0"/>
              <a:t>Output: ?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6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C Character Set</a:t>
            </a:r>
          </a:p>
        </p:txBody>
      </p:sp>
      <p:sp>
        <p:nvSpPr>
          <p:cNvPr id="361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 language alphabet:</a:t>
            </a:r>
          </a:p>
          <a:p>
            <a:pPr lvl="1"/>
            <a:r>
              <a:rPr lang="en-US" dirty="0"/>
              <a:t>Uppercase letters ‘A’ to ‘Z’</a:t>
            </a:r>
          </a:p>
          <a:p>
            <a:pPr lvl="1"/>
            <a:r>
              <a:rPr lang="en-US" dirty="0"/>
              <a:t>Lowercase letters ‘a’ to ‘z’</a:t>
            </a:r>
          </a:p>
          <a:p>
            <a:pPr lvl="1"/>
            <a:r>
              <a:rPr lang="en-US" dirty="0"/>
              <a:t>Digits ‘0’ to ‘9’</a:t>
            </a:r>
          </a:p>
          <a:p>
            <a:pPr lvl="1"/>
            <a:r>
              <a:rPr lang="en-US" dirty="0"/>
              <a:t>Certain special characters:</a:t>
            </a:r>
          </a:p>
        </p:txBody>
      </p:sp>
      <p:sp>
        <p:nvSpPr>
          <p:cNvPr id="361476" name="Text Box 4"/>
          <p:cNvSpPr txBox="1">
            <a:spLocks noChangeArrowheads="1"/>
          </p:cNvSpPr>
          <p:nvPr/>
        </p:nvSpPr>
        <p:spPr bwMode="auto">
          <a:xfrm>
            <a:off x="1785918" y="3571876"/>
            <a:ext cx="5429288" cy="178510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>
                <a:latin typeface="Arial" pitchFamily="34" charset="0"/>
              </a:rPr>
              <a:t>!       #       %       ^       &amp;       *       (       )  </a:t>
            </a:r>
          </a:p>
          <a:p>
            <a:pPr>
              <a:spcBef>
                <a:spcPct val="50000"/>
              </a:spcBef>
              <a:buFontTx/>
              <a:buChar char="-"/>
            </a:pPr>
            <a:r>
              <a:rPr lang="en-US" sz="2000" dirty="0">
                <a:latin typeface="Arial" pitchFamily="34" charset="0"/>
              </a:rPr>
              <a:t>       _       +        =       ~       [        ]       \      </a:t>
            </a:r>
          </a:p>
          <a:p>
            <a:pPr>
              <a:spcBef>
                <a:spcPct val="50000"/>
              </a:spcBef>
            </a:pPr>
            <a:r>
              <a:rPr lang="en-US" sz="2000" dirty="0">
                <a:latin typeface="Arial" pitchFamily="34" charset="0"/>
              </a:rPr>
              <a:t> |       ;        :       ‘         “        {        }       ,      </a:t>
            </a:r>
          </a:p>
          <a:p>
            <a:pPr>
              <a:spcBef>
                <a:spcPct val="50000"/>
              </a:spcBef>
            </a:pPr>
            <a:r>
              <a:rPr lang="en-US" sz="2000" dirty="0">
                <a:latin typeface="Arial" pitchFamily="34" charset="0"/>
              </a:rPr>
              <a:t>.        &lt;       &gt;      /         ?       blank</a:t>
            </a: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Identifiers and Keywords</a:t>
            </a:r>
          </a:p>
        </p:txBody>
      </p:sp>
      <p:sp>
        <p:nvSpPr>
          <p:cNvPr id="448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4866" y="1214422"/>
            <a:ext cx="7981976" cy="4800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/>
              <a:t>Identifiers</a:t>
            </a:r>
          </a:p>
          <a:p>
            <a:pPr lvl="1">
              <a:lnSpc>
                <a:spcPct val="90000"/>
              </a:lnSpc>
            </a:pPr>
            <a:endParaRPr lang="en-US" sz="900" dirty="0"/>
          </a:p>
          <a:p>
            <a:pPr lvl="1">
              <a:lnSpc>
                <a:spcPct val="90000"/>
              </a:lnSpc>
            </a:pPr>
            <a:r>
              <a:rPr lang="en-US" sz="2400" dirty="0"/>
              <a:t>Names given to various program elements (variables, constants, functions, etc.)</a:t>
            </a:r>
          </a:p>
          <a:p>
            <a:pPr lvl="1">
              <a:lnSpc>
                <a:spcPct val="90000"/>
              </a:lnSpc>
            </a:pPr>
            <a:endParaRPr lang="en-US" sz="900" dirty="0"/>
          </a:p>
          <a:p>
            <a:pPr lvl="1">
              <a:lnSpc>
                <a:spcPct val="90000"/>
              </a:lnSpc>
            </a:pPr>
            <a:r>
              <a:rPr lang="en-US" sz="2400" dirty="0"/>
              <a:t>May consist of </a:t>
            </a:r>
            <a:r>
              <a:rPr lang="en-US" sz="2400" i="1" dirty="0">
                <a:solidFill>
                  <a:srgbClr val="993300"/>
                </a:solidFill>
              </a:rPr>
              <a:t>letters</a:t>
            </a:r>
            <a:r>
              <a:rPr lang="en-US" sz="2400" dirty="0"/>
              <a:t>, </a:t>
            </a:r>
            <a:r>
              <a:rPr lang="en-US" sz="2400" i="1" dirty="0">
                <a:solidFill>
                  <a:srgbClr val="993300"/>
                </a:solidFill>
              </a:rPr>
              <a:t>digits</a:t>
            </a:r>
            <a:r>
              <a:rPr lang="en-US" sz="2400" dirty="0"/>
              <a:t> and the </a:t>
            </a:r>
            <a:r>
              <a:rPr lang="en-US" sz="2400" i="1" dirty="0">
                <a:solidFill>
                  <a:srgbClr val="993300"/>
                </a:solidFill>
              </a:rPr>
              <a:t>underscore</a:t>
            </a:r>
            <a:r>
              <a:rPr lang="en-US" sz="2400" dirty="0"/>
              <a:t> (‘_’) character, with no space between.</a:t>
            </a:r>
          </a:p>
          <a:p>
            <a:pPr lvl="1">
              <a:lnSpc>
                <a:spcPct val="90000"/>
              </a:lnSpc>
            </a:pPr>
            <a:endParaRPr lang="en-US" sz="900" dirty="0"/>
          </a:p>
          <a:p>
            <a:pPr lvl="1">
              <a:lnSpc>
                <a:spcPct val="90000"/>
              </a:lnSpc>
            </a:pPr>
            <a:r>
              <a:rPr lang="en-US" sz="2400" dirty="0"/>
              <a:t>First character must be a letter or underscore.</a:t>
            </a:r>
          </a:p>
          <a:p>
            <a:pPr lvl="1">
              <a:lnSpc>
                <a:spcPct val="90000"/>
              </a:lnSpc>
            </a:pPr>
            <a:endParaRPr lang="en-US" sz="900" dirty="0"/>
          </a:p>
          <a:p>
            <a:pPr lvl="1">
              <a:lnSpc>
                <a:spcPct val="90000"/>
              </a:lnSpc>
            </a:pPr>
            <a:r>
              <a:rPr lang="en-US" sz="2400" dirty="0"/>
              <a:t>An identifier can be arbitrary long.</a:t>
            </a:r>
          </a:p>
          <a:p>
            <a:pPr lvl="1">
              <a:lnSpc>
                <a:spcPct val="90000"/>
              </a:lnSpc>
            </a:pPr>
            <a:endParaRPr lang="en-US" sz="900" dirty="0"/>
          </a:p>
          <a:p>
            <a:pPr lvl="1">
              <a:lnSpc>
                <a:spcPct val="90000"/>
              </a:lnSpc>
            </a:pPr>
            <a:r>
              <a:rPr lang="en-US" sz="2400" dirty="0"/>
              <a:t>Case sensitive</a:t>
            </a:r>
          </a:p>
          <a:p>
            <a:pPr lvl="2">
              <a:lnSpc>
                <a:spcPct val="90000"/>
              </a:lnSpc>
            </a:pPr>
            <a:r>
              <a:rPr lang="en-US" sz="2000" dirty="0"/>
              <a:t>‘area’, ‘AREA’ and ‘Area’ are all different.</a:t>
            </a: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Valid and Invalid Identifiers</a:t>
            </a:r>
          </a:p>
        </p:txBody>
      </p:sp>
      <p:sp>
        <p:nvSpPr>
          <p:cNvPr id="44953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208093" y="1295400"/>
            <a:ext cx="4221163" cy="5029200"/>
          </a:xfrm>
        </p:spPr>
        <p:txBody>
          <a:bodyPr/>
          <a:lstStyle/>
          <a:p>
            <a:r>
              <a:rPr lang="en-US" sz="2400" dirty="0"/>
              <a:t>Valid identifiers</a:t>
            </a:r>
          </a:p>
          <a:p>
            <a:pPr lvl="1">
              <a:buFontTx/>
              <a:buNone/>
            </a:pPr>
            <a:r>
              <a:rPr lang="en-US" sz="2000" dirty="0"/>
              <a:t>X</a:t>
            </a:r>
          </a:p>
          <a:p>
            <a:pPr lvl="1">
              <a:buFontTx/>
              <a:buNone/>
            </a:pPr>
            <a:r>
              <a:rPr lang="en-US" sz="2000" dirty="0" err="1"/>
              <a:t>abc</a:t>
            </a:r>
            <a:endParaRPr lang="en-US" sz="2000" dirty="0"/>
          </a:p>
          <a:p>
            <a:pPr lvl="1">
              <a:buFontTx/>
              <a:buNone/>
            </a:pPr>
            <a:r>
              <a:rPr lang="en-US" sz="2000" dirty="0" err="1"/>
              <a:t>simple_interest</a:t>
            </a:r>
            <a:endParaRPr lang="en-US" sz="2000" dirty="0"/>
          </a:p>
          <a:p>
            <a:pPr lvl="1">
              <a:buFontTx/>
              <a:buNone/>
            </a:pPr>
            <a:r>
              <a:rPr lang="en-US" sz="2000" dirty="0"/>
              <a:t>a123</a:t>
            </a:r>
          </a:p>
          <a:p>
            <a:pPr lvl="1">
              <a:buFontTx/>
              <a:buNone/>
            </a:pPr>
            <a:r>
              <a:rPr lang="en-US" sz="2000" dirty="0"/>
              <a:t>LIST</a:t>
            </a:r>
          </a:p>
          <a:p>
            <a:pPr lvl="1">
              <a:buFontTx/>
              <a:buNone/>
            </a:pPr>
            <a:r>
              <a:rPr lang="en-US" sz="2000" dirty="0" err="1"/>
              <a:t>stud_name</a:t>
            </a:r>
            <a:endParaRPr lang="en-US" sz="2000" dirty="0"/>
          </a:p>
          <a:p>
            <a:pPr lvl="1">
              <a:buFontTx/>
              <a:buNone/>
            </a:pPr>
            <a:r>
              <a:rPr lang="en-US" sz="2000" dirty="0"/>
              <a:t>Empl_1</a:t>
            </a:r>
          </a:p>
          <a:p>
            <a:pPr lvl="1">
              <a:buFontTx/>
              <a:buNone/>
            </a:pPr>
            <a:r>
              <a:rPr lang="en-US" sz="2000" dirty="0"/>
              <a:t>Empl_2</a:t>
            </a:r>
          </a:p>
          <a:p>
            <a:pPr lvl="1">
              <a:buFontTx/>
              <a:buNone/>
            </a:pPr>
            <a:r>
              <a:rPr lang="en-US" sz="2000" dirty="0" err="1"/>
              <a:t>avg_empl_salary</a:t>
            </a:r>
            <a:endParaRPr lang="en-US" sz="2000" dirty="0"/>
          </a:p>
        </p:txBody>
      </p:sp>
      <p:sp>
        <p:nvSpPr>
          <p:cNvPr id="449540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694238" y="1295400"/>
            <a:ext cx="4221162" cy="5029200"/>
          </a:xfrm>
        </p:spPr>
        <p:txBody>
          <a:bodyPr/>
          <a:lstStyle/>
          <a:p>
            <a:r>
              <a:rPr lang="en-US" sz="2400"/>
              <a:t>Invalid identifiers</a:t>
            </a:r>
          </a:p>
          <a:p>
            <a:pPr lvl="1">
              <a:buFontTx/>
              <a:buNone/>
            </a:pPr>
            <a:r>
              <a:rPr lang="en-US" sz="2000"/>
              <a:t>10abc</a:t>
            </a:r>
          </a:p>
          <a:p>
            <a:pPr lvl="1">
              <a:buFontTx/>
              <a:buNone/>
            </a:pPr>
            <a:r>
              <a:rPr lang="en-US" sz="2000"/>
              <a:t>my-name</a:t>
            </a:r>
          </a:p>
          <a:p>
            <a:pPr lvl="1">
              <a:buFontTx/>
              <a:buNone/>
            </a:pPr>
            <a:r>
              <a:rPr lang="en-US" sz="2000"/>
              <a:t>“hello”</a:t>
            </a:r>
          </a:p>
          <a:p>
            <a:pPr lvl="1">
              <a:buFontTx/>
              <a:buNone/>
            </a:pPr>
            <a:r>
              <a:rPr lang="en-US" sz="2000"/>
              <a:t>simple interest</a:t>
            </a:r>
          </a:p>
          <a:p>
            <a:pPr lvl="1">
              <a:buFontTx/>
              <a:buNone/>
            </a:pPr>
            <a:r>
              <a:rPr lang="en-US" sz="2000"/>
              <a:t>(area)</a:t>
            </a:r>
          </a:p>
          <a:p>
            <a:pPr lvl="1">
              <a:buFontTx/>
              <a:buNone/>
            </a:pPr>
            <a:r>
              <a:rPr lang="en-US" sz="2000"/>
              <a:t>%rate</a:t>
            </a: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Variables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Programs can use symbolic names for storing computation data and results</a:t>
            </a:r>
          </a:p>
          <a:p>
            <a:pPr>
              <a:lnSpc>
                <a:spcPct val="90000"/>
              </a:lnSpc>
            </a:pPr>
            <a:r>
              <a:rPr lang="en-US" dirty="0"/>
              <a:t>Variable: a symbolic name for a memory location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programmer doesn’t has to worry about specifying (or even knowing) the value of the location’s address</a:t>
            </a:r>
          </a:p>
          <a:p>
            <a:pPr>
              <a:lnSpc>
                <a:spcPct val="90000"/>
              </a:lnSpc>
            </a:pPr>
            <a:r>
              <a:rPr lang="en-US" dirty="0"/>
              <a:t>In C, variables have to be </a:t>
            </a:r>
            <a:r>
              <a:rPr lang="en-US" b="1" i="1" dirty="0"/>
              <a:t>declared</a:t>
            </a:r>
            <a:r>
              <a:rPr lang="en-US" dirty="0"/>
              <a:t> before they are used</a:t>
            </a:r>
          </a:p>
          <a:p>
            <a:pPr lvl="1">
              <a:lnSpc>
                <a:spcPct val="90000"/>
              </a:lnSpc>
            </a:pP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 and Constants</a:t>
            </a:r>
          </a:p>
        </p:txBody>
      </p:sp>
      <p:sp>
        <p:nvSpPr>
          <p:cNvPr id="450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42976" y="1142984"/>
            <a:ext cx="7715304" cy="4876800"/>
          </a:xfrm>
        </p:spPr>
        <p:txBody>
          <a:bodyPr/>
          <a:lstStyle/>
          <a:p>
            <a:r>
              <a:rPr lang="en-US" dirty="0"/>
              <a:t>Most important concept for problem solving using computers</a:t>
            </a:r>
          </a:p>
          <a:p>
            <a:r>
              <a:rPr lang="en-US" dirty="0"/>
              <a:t>All temporary results are stored in terms of variables</a:t>
            </a:r>
          </a:p>
          <a:p>
            <a:pPr lvl="1"/>
            <a:r>
              <a:rPr lang="en-US" dirty="0"/>
              <a:t>The value of a variable can be changed.</a:t>
            </a:r>
          </a:p>
          <a:p>
            <a:pPr lvl="1"/>
            <a:r>
              <a:rPr lang="en-US" dirty="0"/>
              <a:t>The value of a constant do not change.</a:t>
            </a:r>
          </a:p>
          <a:p>
            <a:r>
              <a:rPr lang="en-US" dirty="0"/>
              <a:t>In C, variables have to be </a:t>
            </a:r>
            <a:r>
              <a:rPr lang="en-US" b="1" i="1" dirty="0"/>
              <a:t>declared</a:t>
            </a:r>
            <a:r>
              <a:rPr lang="en-US" dirty="0"/>
              <a:t> before they are used</a:t>
            </a:r>
          </a:p>
          <a:p>
            <a:r>
              <a:rPr lang="en-US" dirty="0"/>
              <a:t>Where are they stored?</a:t>
            </a:r>
          </a:p>
          <a:p>
            <a:pPr lvl="1"/>
            <a:r>
              <a:rPr lang="en-US" dirty="0"/>
              <a:t>In main memory.</a:t>
            </a: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586" name="Rectangle 2"/>
          <p:cNvSpPr>
            <a:spLocks noGrp="1" noChangeArrowheads="1"/>
          </p:cNvSpPr>
          <p:nvPr>
            <p:ph type="title"/>
          </p:nvPr>
        </p:nvSpPr>
        <p:spPr>
          <a:xfrm>
            <a:off x="1285852" y="304800"/>
            <a:ext cx="7715304" cy="685800"/>
          </a:xfrm>
        </p:spPr>
        <p:txBody>
          <a:bodyPr/>
          <a:lstStyle/>
          <a:p>
            <a:r>
              <a:rPr lang="en-US" dirty="0"/>
              <a:t>Variables and Constants Storage</a:t>
            </a:r>
          </a:p>
        </p:txBody>
      </p:sp>
      <p:sp>
        <p:nvSpPr>
          <p:cNvPr id="451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43000" y="1066800"/>
            <a:ext cx="7429528" cy="5029200"/>
          </a:xfrm>
        </p:spPr>
        <p:txBody>
          <a:bodyPr/>
          <a:lstStyle/>
          <a:p>
            <a:r>
              <a:rPr lang="en-US" dirty="0"/>
              <a:t>How does memory look like (logically)?</a:t>
            </a:r>
          </a:p>
          <a:p>
            <a:pPr lvl="1"/>
            <a:endParaRPr lang="en-US" sz="800" dirty="0"/>
          </a:p>
          <a:p>
            <a:pPr lvl="1"/>
            <a:r>
              <a:rPr lang="en-US" dirty="0"/>
              <a:t>As a list of storage locations, each having a unique address.</a:t>
            </a:r>
          </a:p>
          <a:p>
            <a:pPr lvl="1"/>
            <a:endParaRPr lang="en-US" sz="800" dirty="0"/>
          </a:p>
          <a:p>
            <a:pPr lvl="1"/>
            <a:r>
              <a:rPr lang="en-US" dirty="0"/>
              <a:t>Variables and constants are stored in these storage locations.</a:t>
            </a:r>
          </a:p>
          <a:p>
            <a:pPr lvl="1"/>
            <a:endParaRPr lang="en-US" sz="800" dirty="0"/>
          </a:p>
          <a:p>
            <a:pPr lvl="1"/>
            <a:r>
              <a:rPr lang="en-US" dirty="0"/>
              <a:t>A variable is like a </a:t>
            </a:r>
            <a:r>
              <a:rPr lang="en-US" i="1" dirty="0">
                <a:solidFill>
                  <a:srgbClr val="CC0000"/>
                </a:solidFill>
              </a:rPr>
              <a:t>basket</a:t>
            </a:r>
            <a:endParaRPr lang="en-US" dirty="0"/>
          </a:p>
          <a:p>
            <a:pPr lvl="2"/>
            <a:r>
              <a:rPr lang="en-US" dirty="0"/>
              <a:t>The contents of the </a:t>
            </a:r>
            <a:r>
              <a:rPr lang="en-US" i="1" dirty="0"/>
              <a:t>basket</a:t>
            </a:r>
            <a:r>
              <a:rPr lang="en-US" dirty="0"/>
              <a:t> is the </a:t>
            </a:r>
            <a:r>
              <a:rPr lang="en-US" i="1" dirty="0">
                <a:solidFill>
                  <a:srgbClr val="CC0000"/>
                </a:solidFill>
              </a:rPr>
              <a:t>value</a:t>
            </a:r>
            <a:r>
              <a:rPr lang="en-US" dirty="0"/>
              <a:t> of the variable</a:t>
            </a:r>
          </a:p>
          <a:p>
            <a:pPr lvl="2"/>
            <a:r>
              <a:rPr lang="en-US" dirty="0"/>
              <a:t>The variable name is used to refer to the value of the variable</a:t>
            </a:r>
          </a:p>
          <a:p>
            <a:pPr lvl="2"/>
            <a:r>
              <a:rPr lang="en-US" dirty="0"/>
              <a:t>A variable is mapped to a </a:t>
            </a:r>
            <a:r>
              <a:rPr lang="en-US" i="1" dirty="0"/>
              <a:t>location </a:t>
            </a:r>
            <a:r>
              <a:rPr lang="en-US" dirty="0"/>
              <a:t>of the memory, called its </a:t>
            </a:r>
            <a:r>
              <a:rPr lang="en-US" i="1" dirty="0">
                <a:solidFill>
                  <a:srgbClr val="FF0000"/>
                </a:solidFill>
              </a:rPr>
              <a:t>address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Memory map</a:t>
            </a:r>
          </a:p>
        </p:txBody>
      </p:sp>
      <p:sp>
        <p:nvSpPr>
          <p:cNvPr id="452611" name="Rectangle 3"/>
          <p:cNvSpPr>
            <a:spLocks noChangeArrowheads="1"/>
          </p:cNvSpPr>
          <p:nvPr/>
        </p:nvSpPr>
        <p:spPr bwMode="auto">
          <a:xfrm>
            <a:off x="1357290" y="3652822"/>
            <a:ext cx="2133600" cy="304800"/>
          </a:xfrm>
          <a:prstGeom prst="rect">
            <a:avLst/>
          </a:prstGeom>
          <a:solidFill>
            <a:srgbClr val="FFFF9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CA"/>
          </a:p>
        </p:txBody>
      </p:sp>
      <p:sp>
        <p:nvSpPr>
          <p:cNvPr id="452612" name="Rectangle 4"/>
          <p:cNvSpPr>
            <a:spLocks noChangeArrowheads="1"/>
          </p:cNvSpPr>
          <p:nvPr/>
        </p:nvSpPr>
        <p:spPr bwMode="auto">
          <a:xfrm>
            <a:off x="1357290" y="3348022"/>
            <a:ext cx="2133600" cy="304800"/>
          </a:xfrm>
          <a:prstGeom prst="rect">
            <a:avLst/>
          </a:prstGeom>
          <a:solidFill>
            <a:srgbClr val="FFFF9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CA"/>
          </a:p>
        </p:txBody>
      </p:sp>
      <p:sp>
        <p:nvSpPr>
          <p:cNvPr id="452613" name="Rectangle 5"/>
          <p:cNvSpPr>
            <a:spLocks noChangeArrowheads="1"/>
          </p:cNvSpPr>
          <p:nvPr/>
        </p:nvSpPr>
        <p:spPr bwMode="auto">
          <a:xfrm>
            <a:off x="1357290" y="3043222"/>
            <a:ext cx="2133600" cy="304800"/>
          </a:xfrm>
          <a:prstGeom prst="rect">
            <a:avLst/>
          </a:prstGeom>
          <a:solidFill>
            <a:srgbClr val="FFFF9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CA"/>
          </a:p>
        </p:txBody>
      </p:sp>
      <p:sp>
        <p:nvSpPr>
          <p:cNvPr id="452614" name="Rectangle 6"/>
          <p:cNvSpPr>
            <a:spLocks noChangeArrowheads="1"/>
          </p:cNvSpPr>
          <p:nvPr/>
        </p:nvSpPr>
        <p:spPr bwMode="auto">
          <a:xfrm>
            <a:off x="1357290" y="2738422"/>
            <a:ext cx="2133600" cy="304800"/>
          </a:xfrm>
          <a:prstGeom prst="rect">
            <a:avLst/>
          </a:prstGeom>
          <a:solidFill>
            <a:srgbClr val="FFFF9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CA"/>
          </a:p>
        </p:txBody>
      </p:sp>
      <p:sp>
        <p:nvSpPr>
          <p:cNvPr id="452615" name="Rectangle 7"/>
          <p:cNvSpPr>
            <a:spLocks noChangeArrowheads="1"/>
          </p:cNvSpPr>
          <p:nvPr/>
        </p:nvSpPr>
        <p:spPr bwMode="auto">
          <a:xfrm>
            <a:off x="1357290" y="2433622"/>
            <a:ext cx="2133600" cy="304800"/>
          </a:xfrm>
          <a:prstGeom prst="rect">
            <a:avLst/>
          </a:prstGeom>
          <a:solidFill>
            <a:srgbClr val="FFFF9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CA"/>
          </a:p>
        </p:txBody>
      </p:sp>
      <p:sp>
        <p:nvSpPr>
          <p:cNvPr id="452616" name="Rectangle 8"/>
          <p:cNvSpPr>
            <a:spLocks noChangeArrowheads="1"/>
          </p:cNvSpPr>
          <p:nvPr/>
        </p:nvSpPr>
        <p:spPr bwMode="auto">
          <a:xfrm>
            <a:off x="1357290" y="2128822"/>
            <a:ext cx="2133600" cy="304800"/>
          </a:xfrm>
          <a:prstGeom prst="rect">
            <a:avLst/>
          </a:prstGeom>
          <a:solidFill>
            <a:srgbClr val="FFFF9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CA"/>
          </a:p>
        </p:txBody>
      </p:sp>
      <p:sp>
        <p:nvSpPr>
          <p:cNvPr id="452617" name="Rectangle 9"/>
          <p:cNvSpPr>
            <a:spLocks noChangeArrowheads="1"/>
          </p:cNvSpPr>
          <p:nvPr/>
        </p:nvSpPr>
        <p:spPr bwMode="auto">
          <a:xfrm>
            <a:off x="1357290" y="1824022"/>
            <a:ext cx="2133600" cy="304800"/>
          </a:xfrm>
          <a:prstGeom prst="rect">
            <a:avLst/>
          </a:prstGeom>
          <a:solidFill>
            <a:srgbClr val="FFFF9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CA"/>
          </a:p>
        </p:txBody>
      </p:sp>
      <p:sp>
        <p:nvSpPr>
          <p:cNvPr id="452618" name="Rectangle 10"/>
          <p:cNvSpPr>
            <a:spLocks noChangeArrowheads="1"/>
          </p:cNvSpPr>
          <p:nvPr/>
        </p:nvSpPr>
        <p:spPr bwMode="auto">
          <a:xfrm>
            <a:off x="1357290" y="1519222"/>
            <a:ext cx="2133600" cy="304800"/>
          </a:xfrm>
          <a:prstGeom prst="rect">
            <a:avLst/>
          </a:prstGeom>
          <a:solidFill>
            <a:srgbClr val="FFFF9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CA"/>
          </a:p>
        </p:txBody>
      </p:sp>
      <p:sp>
        <p:nvSpPr>
          <p:cNvPr id="452619" name="Rectangle 11"/>
          <p:cNvSpPr>
            <a:spLocks noChangeArrowheads="1"/>
          </p:cNvSpPr>
          <p:nvPr/>
        </p:nvSpPr>
        <p:spPr bwMode="auto">
          <a:xfrm>
            <a:off x="1357290" y="1214422"/>
            <a:ext cx="2133600" cy="304800"/>
          </a:xfrm>
          <a:prstGeom prst="rect">
            <a:avLst/>
          </a:prstGeom>
          <a:solidFill>
            <a:srgbClr val="FFFF9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CA"/>
          </a:p>
        </p:txBody>
      </p:sp>
      <p:sp>
        <p:nvSpPr>
          <p:cNvPr id="452620" name="Rectangle 12"/>
          <p:cNvSpPr>
            <a:spLocks noChangeArrowheads="1"/>
          </p:cNvSpPr>
          <p:nvPr/>
        </p:nvSpPr>
        <p:spPr bwMode="auto">
          <a:xfrm>
            <a:off x="1357290" y="4795822"/>
            <a:ext cx="2133600" cy="304800"/>
          </a:xfrm>
          <a:prstGeom prst="rect">
            <a:avLst/>
          </a:prstGeom>
          <a:solidFill>
            <a:srgbClr val="FFFF9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CA"/>
          </a:p>
        </p:txBody>
      </p:sp>
      <p:sp>
        <p:nvSpPr>
          <p:cNvPr id="452621" name="Rectangle 13"/>
          <p:cNvSpPr>
            <a:spLocks noChangeArrowheads="1"/>
          </p:cNvSpPr>
          <p:nvPr/>
        </p:nvSpPr>
        <p:spPr bwMode="auto">
          <a:xfrm>
            <a:off x="1357290" y="4491022"/>
            <a:ext cx="2133600" cy="304800"/>
          </a:xfrm>
          <a:prstGeom prst="rect">
            <a:avLst/>
          </a:prstGeom>
          <a:solidFill>
            <a:srgbClr val="FFFF9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CA"/>
          </a:p>
        </p:txBody>
      </p:sp>
      <p:sp>
        <p:nvSpPr>
          <p:cNvPr id="452622" name="Text Box 14"/>
          <p:cNvSpPr txBox="1">
            <a:spLocks noChangeArrowheads="1"/>
          </p:cNvSpPr>
          <p:nvPr/>
        </p:nvSpPr>
        <p:spPr bwMode="auto">
          <a:xfrm>
            <a:off x="3719490" y="1214422"/>
            <a:ext cx="14398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>
                <a:solidFill>
                  <a:schemeClr val="accent2"/>
                </a:solidFill>
                <a:latin typeface="Arial" pitchFamily="34" charset="0"/>
              </a:rPr>
              <a:t>Address 0</a:t>
            </a:r>
          </a:p>
        </p:txBody>
      </p:sp>
      <p:sp>
        <p:nvSpPr>
          <p:cNvPr id="452623" name="Text Box 15"/>
          <p:cNvSpPr txBox="1">
            <a:spLocks noChangeArrowheads="1"/>
          </p:cNvSpPr>
          <p:nvPr/>
        </p:nvSpPr>
        <p:spPr bwMode="auto">
          <a:xfrm>
            <a:off x="3719490" y="1519222"/>
            <a:ext cx="14398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>
                <a:solidFill>
                  <a:schemeClr val="accent2"/>
                </a:solidFill>
                <a:latin typeface="Arial" pitchFamily="34" charset="0"/>
              </a:rPr>
              <a:t>Address 1</a:t>
            </a:r>
          </a:p>
        </p:txBody>
      </p:sp>
      <p:sp>
        <p:nvSpPr>
          <p:cNvPr id="452624" name="Text Box 16"/>
          <p:cNvSpPr txBox="1">
            <a:spLocks noChangeArrowheads="1"/>
          </p:cNvSpPr>
          <p:nvPr/>
        </p:nvSpPr>
        <p:spPr bwMode="auto">
          <a:xfrm>
            <a:off x="3719490" y="1824022"/>
            <a:ext cx="14398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>
                <a:solidFill>
                  <a:schemeClr val="accent2"/>
                </a:solidFill>
                <a:latin typeface="Arial" pitchFamily="34" charset="0"/>
              </a:rPr>
              <a:t>Address 2</a:t>
            </a:r>
          </a:p>
        </p:txBody>
      </p:sp>
      <p:sp>
        <p:nvSpPr>
          <p:cNvPr id="452625" name="Text Box 17"/>
          <p:cNvSpPr txBox="1">
            <a:spLocks noChangeArrowheads="1"/>
          </p:cNvSpPr>
          <p:nvPr/>
        </p:nvSpPr>
        <p:spPr bwMode="auto">
          <a:xfrm>
            <a:off x="3719490" y="2128822"/>
            <a:ext cx="14398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>
                <a:solidFill>
                  <a:schemeClr val="accent2"/>
                </a:solidFill>
                <a:latin typeface="Arial" pitchFamily="34" charset="0"/>
              </a:rPr>
              <a:t>Address 3</a:t>
            </a:r>
          </a:p>
        </p:txBody>
      </p:sp>
      <p:sp>
        <p:nvSpPr>
          <p:cNvPr id="452626" name="Text Box 18"/>
          <p:cNvSpPr txBox="1">
            <a:spLocks noChangeArrowheads="1"/>
          </p:cNvSpPr>
          <p:nvPr/>
        </p:nvSpPr>
        <p:spPr bwMode="auto">
          <a:xfrm>
            <a:off x="3719490" y="2433622"/>
            <a:ext cx="14398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>
                <a:solidFill>
                  <a:schemeClr val="accent2"/>
                </a:solidFill>
                <a:latin typeface="Arial" pitchFamily="34" charset="0"/>
              </a:rPr>
              <a:t>Address 4</a:t>
            </a:r>
          </a:p>
        </p:txBody>
      </p:sp>
      <p:sp>
        <p:nvSpPr>
          <p:cNvPr id="452627" name="Text Box 19"/>
          <p:cNvSpPr txBox="1">
            <a:spLocks noChangeArrowheads="1"/>
          </p:cNvSpPr>
          <p:nvPr/>
        </p:nvSpPr>
        <p:spPr bwMode="auto">
          <a:xfrm>
            <a:off x="3719490" y="2738422"/>
            <a:ext cx="14398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>
                <a:solidFill>
                  <a:schemeClr val="accent2"/>
                </a:solidFill>
                <a:latin typeface="Arial" pitchFamily="34" charset="0"/>
              </a:rPr>
              <a:t>Address 5</a:t>
            </a:r>
          </a:p>
        </p:txBody>
      </p:sp>
      <p:sp>
        <p:nvSpPr>
          <p:cNvPr id="452628" name="Text Box 20"/>
          <p:cNvSpPr txBox="1">
            <a:spLocks noChangeArrowheads="1"/>
          </p:cNvSpPr>
          <p:nvPr/>
        </p:nvSpPr>
        <p:spPr bwMode="auto">
          <a:xfrm>
            <a:off x="3719490" y="3043222"/>
            <a:ext cx="14398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>
                <a:solidFill>
                  <a:schemeClr val="accent2"/>
                </a:solidFill>
                <a:latin typeface="Arial" pitchFamily="34" charset="0"/>
              </a:rPr>
              <a:t>Address 6</a:t>
            </a:r>
          </a:p>
        </p:txBody>
      </p:sp>
      <p:sp>
        <p:nvSpPr>
          <p:cNvPr id="452629" name="Text Box 21"/>
          <p:cNvSpPr txBox="1">
            <a:spLocks noChangeArrowheads="1"/>
          </p:cNvSpPr>
          <p:nvPr/>
        </p:nvSpPr>
        <p:spPr bwMode="auto">
          <a:xfrm>
            <a:off x="3719490" y="4795822"/>
            <a:ext cx="1600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>
                <a:solidFill>
                  <a:schemeClr val="accent2"/>
                </a:solidFill>
                <a:latin typeface="Arial" pitchFamily="34" charset="0"/>
              </a:rPr>
              <a:t>Address N-1</a:t>
            </a:r>
          </a:p>
        </p:txBody>
      </p:sp>
      <p:sp>
        <p:nvSpPr>
          <p:cNvPr id="452630" name="Text Box 22"/>
          <p:cNvSpPr txBox="1">
            <a:spLocks noChangeArrowheads="1"/>
          </p:cNvSpPr>
          <p:nvPr/>
        </p:nvSpPr>
        <p:spPr bwMode="auto">
          <a:xfrm>
            <a:off x="5457852" y="2332037"/>
            <a:ext cx="2971800" cy="1025525"/>
          </a:xfrm>
          <a:prstGeom prst="rect">
            <a:avLst/>
          </a:prstGeom>
          <a:solidFill>
            <a:srgbClr val="CCFFFF"/>
          </a:solidFill>
          <a:ln w="19050">
            <a:solidFill>
              <a:srgbClr val="9933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latin typeface="Arial" pitchFamily="34" charset="0"/>
              </a:rPr>
              <a:t>Every variable is mapped to a particular memory address</a:t>
            </a: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634" name="Rectangle 2"/>
          <p:cNvSpPr>
            <a:spLocks noGrp="1" noChangeArrowheads="1"/>
          </p:cNvSpPr>
          <p:nvPr>
            <p:ph type="title"/>
          </p:nvPr>
        </p:nvSpPr>
        <p:spPr>
          <a:xfrm>
            <a:off x="1142976" y="304800"/>
            <a:ext cx="7772400" cy="762000"/>
          </a:xfrm>
        </p:spPr>
        <p:txBody>
          <a:bodyPr/>
          <a:lstStyle/>
          <a:p>
            <a:r>
              <a:rPr lang="en-US" dirty="0"/>
              <a:t>Variables in Memory</a:t>
            </a:r>
          </a:p>
        </p:txBody>
      </p:sp>
      <p:sp>
        <p:nvSpPr>
          <p:cNvPr id="453635" name="Text Box 3"/>
          <p:cNvSpPr txBox="1">
            <a:spLocks noChangeArrowheads="1"/>
          </p:cNvSpPr>
          <p:nvPr/>
        </p:nvSpPr>
        <p:spPr bwMode="auto">
          <a:xfrm>
            <a:off x="6253138" y="1214422"/>
            <a:ext cx="2209800" cy="46672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>
                <a:solidFill>
                  <a:srgbClr val="A50021"/>
                </a:solidFill>
                <a:latin typeface="Arial" pitchFamily="34" charset="0"/>
              </a:rPr>
              <a:t>Variable X</a:t>
            </a:r>
          </a:p>
        </p:txBody>
      </p:sp>
      <p:sp>
        <p:nvSpPr>
          <p:cNvPr id="453636" name="Text Box 4"/>
          <p:cNvSpPr txBox="1">
            <a:spLocks noChangeArrowheads="1"/>
          </p:cNvSpPr>
          <p:nvPr/>
        </p:nvSpPr>
        <p:spPr bwMode="auto">
          <a:xfrm>
            <a:off x="2747938" y="1976422"/>
            <a:ext cx="1447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0">
                <a:latin typeface="Arial" pitchFamily="34" charset="0"/>
              </a:rPr>
              <a:t>X = 10</a:t>
            </a:r>
          </a:p>
        </p:txBody>
      </p:sp>
      <p:sp>
        <p:nvSpPr>
          <p:cNvPr id="453637" name="Text Box 5"/>
          <p:cNvSpPr txBox="1">
            <a:spLocks noChangeArrowheads="1"/>
          </p:cNvSpPr>
          <p:nvPr/>
        </p:nvSpPr>
        <p:spPr bwMode="auto">
          <a:xfrm>
            <a:off x="2747938" y="2967022"/>
            <a:ext cx="1447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0">
                <a:latin typeface="Arial" pitchFamily="34" charset="0"/>
              </a:rPr>
              <a:t>X = 20</a:t>
            </a:r>
          </a:p>
        </p:txBody>
      </p:sp>
      <p:sp>
        <p:nvSpPr>
          <p:cNvPr id="453638" name="Text Box 6"/>
          <p:cNvSpPr txBox="1">
            <a:spLocks noChangeArrowheads="1"/>
          </p:cNvSpPr>
          <p:nvPr/>
        </p:nvSpPr>
        <p:spPr bwMode="auto">
          <a:xfrm>
            <a:off x="2747938" y="3881422"/>
            <a:ext cx="152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0">
                <a:latin typeface="Arial" pitchFamily="34" charset="0"/>
              </a:rPr>
              <a:t>X = X + 1</a:t>
            </a:r>
          </a:p>
        </p:txBody>
      </p:sp>
      <p:sp>
        <p:nvSpPr>
          <p:cNvPr id="453639" name="Text Box 7"/>
          <p:cNvSpPr txBox="1">
            <a:spLocks noChangeArrowheads="1"/>
          </p:cNvSpPr>
          <p:nvPr/>
        </p:nvSpPr>
        <p:spPr bwMode="auto">
          <a:xfrm>
            <a:off x="2671738" y="4795822"/>
            <a:ext cx="1447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0">
                <a:latin typeface="Arial" pitchFamily="34" charset="0"/>
              </a:rPr>
              <a:t>X = X * 5</a:t>
            </a: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4348138" y="1976422"/>
            <a:ext cx="3657600" cy="533400"/>
            <a:chOff x="2256" y="1584"/>
            <a:chExt cx="2304" cy="336"/>
          </a:xfrm>
        </p:grpSpPr>
        <p:sp>
          <p:nvSpPr>
            <p:cNvPr id="453641" name="Rectangle 9"/>
            <p:cNvSpPr>
              <a:spLocks noChangeArrowheads="1"/>
            </p:cNvSpPr>
            <p:nvPr/>
          </p:nvSpPr>
          <p:spPr bwMode="auto">
            <a:xfrm>
              <a:off x="3792" y="1584"/>
              <a:ext cx="768" cy="336"/>
            </a:xfrm>
            <a:prstGeom prst="rect">
              <a:avLst/>
            </a:prstGeom>
            <a:solidFill>
              <a:srgbClr val="CCFFFF"/>
            </a:solidFill>
            <a:ln w="25400">
              <a:solidFill>
                <a:srgbClr val="0033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>
                  <a:latin typeface="Arial" pitchFamily="34" charset="0"/>
                </a:rPr>
                <a:t>10</a:t>
              </a:r>
            </a:p>
          </p:txBody>
        </p:sp>
        <p:sp>
          <p:nvSpPr>
            <p:cNvPr id="453642" name="AutoShape 10"/>
            <p:cNvSpPr>
              <a:spLocks noChangeArrowheads="1"/>
            </p:cNvSpPr>
            <p:nvPr/>
          </p:nvSpPr>
          <p:spPr bwMode="auto">
            <a:xfrm>
              <a:off x="2256" y="1680"/>
              <a:ext cx="1200" cy="192"/>
            </a:xfrm>
            <a:prstGeom prst="rightArrow">
              <a:avLst>
                <a:gd name="adj1" fmla="val 65620"/>
                <a:gd name="adj2" fmla="val 62500"/>
              </a:avLst>
            </a:prstGeom>
            <a:solidFill>
              <a:srgbClr val="FF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</p:grpSp>
      <p:sp>
        <p:nvSpPr>
          <p:cNvPr id="453643" name="Text Box 11"/>
          <p:cNvSpPr txBox="1">
            <a:spLocks noChangeArrowheads="1"/>
          </p:cNvSpPr>
          <p:nvPr/>
        </p:nvSpPr>
        <p:spPr bwMode="auto">
          <a:xfrm>
            <a:off x="1147738" y="1214422"/>
            <a:ext cx="3276600" cy="46672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dirty="0">
                <a:solidFill>
                  <a:srgbClr val="A50021"/>
                </a:solidFill>
                <a:latin typeface="Arial" pitchFamily="34" charset="0"/>
              </a:rPr>
              <a:t>Instruction executed</a:t>
            </a:r>
          </a:p>
        </p:txBody>
      </p:sp>
      <p:sp>
        <p:nvSpPr>
          <p:cNvPr id="453644" name="AutoShape 12"/>
          <p:cNvSpPr>
            <a:spLocks noChangeArrowheads="1"/>
          </p:cNvSpPr>
          <p:nvPr/>
        </p:nvSpPr>
        <p:spPr bwMode="auto">
          <a:xfrm>
            <a:off x="1681138" y="2052622"/>
            <a:ext cx="381000" cy="3124200"/>
          </a:xfrm>
          <a:prstGeom prst="downArrow">
            <a:avLst>
              <a:gd name="adj1" fmla="val 62500"/>
              <a:gd name="adj2" fmla="val 58767"/>
            </a:avLst>
          </a:prstGeom>
          <a:solidFill>
            <a:srgbClr val="000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CA"/>
          </a:p>
        </p:txBody>
      </p:sp>
      <p:sp>
        <p:nvSpPr>
          <p:cNvPr id="453645" name="Text Box 13"/>
          <p:cNvSpPr txBox="1">
            <a:spLocks noChangeArrowheads="1"/>
          </p:cNvSpPr>
          <p:nvPr/>
        </p:nvSpPr>
        <p:spPr bwMode="auto">
          <a:xfrm>
            <a:off x="1071538" y="2586022"/>
            <a:ext cx="685800" cy="210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sz="2400">
                <a:latin typeface="Arial" pitchFamily="34" charset="0"/>
              </a:rPr>
              <a:t>T</a:t>
            </a:r>
          </a:p>
          <a:p>
            <a:pPr algn="ctr"/>
            <a:r>
              <a:rPr lang="en-US" sz="2400">
                <a:latin typeface="Arial" pitchFamily="34" charset="0"/>
              </a:rPr>
              <a:t>i</a:t>
            </a:r>
          </a:p>
          <a:p>
            <a:pPr algn="ctr"/>
            <a:r>
              <a:rPr lang="en-US" sz="2400">
                <a:latin typeface="Arial" pitchFamily="34" charset="0"/>
              </a:rPr>
              <a:t>m</a:t>
            </a:r>
          </a:p>
          <a:p>
            <a:pPr algn="ctr"/>
            <a:r>
              <a:rPr lang="en-US" sz="2400">
                <a:latin typeface="Arial" pitchFamily="34" charset="0"/>
              </a:rPr>
              <a:t>e</a:t>
            </a:r>
          </a:p>
          <a:p>
            <a:pPr>
              <a:spcBef>
                <a:spcPct val="50000"/>
              </a:spcBef>
            </a:pPr>
            <a:endParaRPr lang="en-US" sz="2400">
              <a:latin typeface="Arial" pitchFamily="34" charset="0"/>
            </a:endParaRPr>
          </a:p>
        </p:txBody>
      </p:sp>
      <p:grpSp>
        <p:nvGrpSpPr>
          <p:cNvPr id="3" name="Group 14"/>
          <p:cNvGrpSpPr>
            <a:grpSpLocks/>
          </p:cNvGrpSpPr>
          <p:nvPr/>
        </p:nvGrpSpPr>
        <p:grpSpPr bwMode="auto">
          <a:xfrm>
            <a:off x="4348138" y="2890822"/>
            <a:ext cx="3657600" cy="533400"/>
            <a:chOff x="2256" y="2160"/>
            <a:chExt cx="2304" cy="336"/>
          </a:xfrm>
        </p:grpSpPr>
        <p:sp>
          <p:nvSpPr>
            <p:cNvPr id="453647" name="Rectangle 15"/>
            <p:cNvSpPr>
              <a:spLocks noChangeArrowheads="1"/>
            </p:cNvSpPr>
            <p:nvPr/>
          </p:nvSpPr>
          <p:spPr bwMode="auto">
            <a:xfrm>
              <a:off x="3792" y="2160"/>
              <a:ext cx="768" cy="336"/>
            </a:xfrm>
            <a:prstGeom prst="rect">
              <a:avLst/>
            </a:prstGeom>
            <a:solidFill>
              <a:srgbClr val="CCFFFF"/>
            </a:solidFill>
            <a:ln w="25400">
              <a:solidFill>
                <a:srgbClr val="0033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>
                  <a:latin typeface="Arial" pitchFamily="34" charset="0"/>
                </a:rPr>
                <a:t>20</a:t>
              </a:r>
            </a:p>
          </p:txBody>
        </p:sp>
        <p:sp>
          <p:nvSpPr>
            <p:cNvPr id="453648" name="AutoShape 16"/>
            <p:cNvSpPr>
              <a:spLocks noChangeArrowheads="1"/>
            </p:cNvSpPr>
            <p:nvPr/>
          </p:nvSpPr>
          <p:spPr bwMode="auto">
            <a:xfrm>
              <a:off x="2256" y="2256"/>
              <a:ext cx="1200" cy="192"/>
            </a:xfrm>
            <a:prstGeom prst="rightArrow">
              <a:avLst>
                <a:gd name="adj1" fmla="val 65620"/>
                <a:gd name="adj2" fmla="val 62500"/>
              </a:avLst>
            </a:prstGeom>
            <a:solidFill>
              <a:srgbClr val="FF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</p:grpSp>
      <p:grpSp>
        <p:nvGrpSpPr>
          <p:cNvPr id="4" name="Group 17"/>
          <p:cNvGrpSpPr>
            <a:grpSpLocks/>
          </p:cNvGrpSpPr>
          <p:nvPr/>
        </p:nvGrpSpPr>
        <p:grpSpPr bwMode="auto">
          <a:xfrm>
            <a:off x="4348138" y="3805222"/>
            <a:ext cx="3657600" cy="533400"/>
            <a:chOff x="2256" y="2736"/>
            <a:chExt cx="2304" cy="336"/>
          </a:xfrm>
        </p:grpSpPr>
        <p:sp>
          <p:nvSpPr>
            <p:cNvPr id="453650" name="Rectangle 18"/>
            <p:cNvSpPr>
              <a:spLocks noChangeArrowheads="1"/>
            </p:cNvSpPr>
            <p:nvPr/>
          </p:nvSpPr>
          <p:spPr bwMode="auto">
            <a:xfrm>
              <a:off x="3792" y="2736"/>
              <a:ext cx="768" cy="336"/>
            </a:xfrm>
            <a:prstGeom prst="rect">
              <a:avLst/>
            </a:prstGeom>
            <a:solidFill>
              <a:srgbClr val="CCFFFF"/>
            </a:solidFill>
            <a:ln w="25400">
              <a:solidFill>
                <a:srgbClr val="0033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>
                  <a:latin typeface="Arial" pitchFamily="34" charset="0"/>
                </a:rPr>
                <a:t>21</a:t>
              </a:r>
            </a:p>
          </p:txBody>
        </p:sp>
        <p:sp>
          <p:nvSpPr>
            <p:cNvPr id="453651" name="AutoShape 19"/>
            <p:cNvSpPr>
              <a:spLocks noChangeArrowheads="1"/>
            </p:cNvSpPr>
            <p:nvPr/>
          </p:nvSpPr>
          <p:spPr bwMode="auto">
            <a:xfrm>
              <a:off x="2256" y="2832"/>
              <a:ext cx="1200" cy="192"/>
            </a:xfrm>
            <a:prstGeom prst="rightArrow">
              <a:avLst>
                <a:gd name="adj1" fmla="val 65620"/>
                <a:gd name="adj2" fmla="val 62500"/>
              </a:avLst>
            </a:prstGeom>
            <a:solidFill>
              <a:srgbClr val="FF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</p:grpSp>
      <p:grpSp>
        <p:nvGrpSpPr>
          <p:cNvPr id="5" name="Group 20"/>
          <p:cNvGrpSpPr>
            <a:grpSpLocks/>
          </p:cNvGrpSpPr>
          <p:nvPr/>
        </p:nvGrpSpPr>
        <p:grpSpPr bwMode="auto">
          <a:xfrm>
            <a:off x="4348138" y="4719622"/>
            <a:ext cx="3657600" cy="533400"/>
            <a:chOff x="2256" y="3312"/>
            <a:chExt cx="2304" cy="336"/>
          </a:xfrm>
        </p:grpSpPr>
        <p:sp>
          <p:nvSpPr>
            <p:cNvPr id="453653" name="Rectangle 21"/>
            <p:cNvSpPr>
              <a:spLocks noChangeArrowheads="1"/>
            </p:cNvSpPr>
            <p:nvPr/>
          </p:nvSpPr>
          <p:spPr bwMode="auto">
            <a:xfrm>
              <a:off x="3792" y="3312"/>
              <a:ext cx="768" cy="336"/>
            </a:xfrm>
            <a:prstGeom prst="rect">
              <a:avLst/>
            </a:prstGeom>
            <a:solidFill>
              <a:srgbClr val="CCFFFF"/>
            </a:solidFill>
            <a:ln w="25400">
              <a:solidFill>
                <a:srgbClr val="0033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>
                  <a:latin typeface="Arial" pitchFamily="34" charset="0"/>
                </a:rPr>
                <a:t>105</a:t>
              </a:r>
            </a:p>
          </p:txBody>
        </p:sp>
        <p:sp>
          <p:nvSpPr>
            <p:cNvPr id="453654" name="AutoShape 22"/>
            <p:cNvSpPr>
              <a:spLocks noChangeArrowheads="1"/>
            </p:cNvSpPr>
            <p:nvPr/>
          </p:nvSpPr>
          <p:spPr bwMode="auto">
            <a:xfrm>
              <a:off x="2256" y="3408"/>
              <a:ext cx="1200" cy="192"/>
            </a:xfrm>
            <a:prstGeom prst="rightArrow">
              <a:avLst>
                <a:gd name="adj1" fmla="val 65620"/>
                <a:gd name="adj2" fmla="val 62500"/>
              </a:avLst>
            </a:prstGeom>
            <a:solidFill>
              <a:srgbClr val="FF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658" name="Rectangle 2"/>
          <p:cNvSpPr>
            <a:spLocks noGrp="1" noChangeArrowheads="1"/>
          </p:cNvSpPr>
          <p:nvPr>
            <p:ph type="title"/>
          </p:nvPr>
        </p:nvSpPr>
        <p:spPr>
          <a:xfrm>
            <a:off x="1157318" y="304800"/>
            <a:ext cx="7772400" cy="762000"/>
          </a:xfrm>
        </p:spPr>
        <p:txBody>
          <a:bodyPr/>
          <a:lstStyle/>
          <a:p>
            <a:r>
              <a:rPr lang="en-US" dirty="0"/>
              <a:t>Variables in Memory (contd.)</a:t>
            </a:r>
          </a:p>
        </p:txBody>
      </p:sp>
      <p:sp>
        <p:nvSpPr>
          <p:cNvPr id="454659" name="Text Box 3"/>
          <p:cNvSpPr txBox="1">
            <a:spLocks noChangeArrowheads="1"/>
          </p:cNvSpPr>
          <p:nvPr/>
        </p:nvSpPr>
        <p:spPr bwMode="auto">
          <a:xfrm>
            <a:off x="6019800" y="1371600"/>
            <a:ext cx="2590800" cy="101441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>
                <a:solidFill>
                  <a:srgbClr val="A50021"/>
                </a:solidFill>
                <a:latin typeface="Arial" pitchFamily="34" charset="0"/>
              </a:rPr>
              <a:t>Variable</a:t>
            </a:r>
          </a:p>
          <a:p>
            <a:pPr algn="ctr">
              <a:spcBef>
                <a:spcPct val="50000"/>
              </a:spcBef>
            </a:pPr>
            <a:r>
              <a:rPr lang="en-US" sz="2400">
                <a:solidFill>
                  <a:srgbClr val="A50021"/>
                </a:solidFill>
                <a:latin typeface="Arial" pitchFamily="34" charset="0"/>
              </a:rPr>
              <a:t>X               Y     </a:t>
            </a:r>
          </a:p>
        </p:txBody>
      </p:sp>
      <p:sp>
        <p:nvSpPr>
          <p:cNvPr id="454660" name="Text Box 4"/>
          <p:cNvSpPr txBox="1">
            <a:spLocks noChangeArrowheads="1"/>
          </p:cNvSpPr>
          <p:nvPr/>
        </p:nvSpPr>
        <p:spPr bwMode="auto">
          <a:xfrm>
            <a:off x="1981200" y="2514600"/>
            <a:ext cx="1447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0">
                <a:latin typeface="Arial" pitchFamily="34" charset="0"/>
              </a:rPr>
              <a:t>X = 20</a:t>
            </a:r>
          </a:p>
        </p:txBody>
      </p:sp>
      <p:sp>
        <p:nvSpPr>
          <p:cNvPr id="454661" name="Text Box 5"/>
          <p:cNvSpPr txBox="1">
            <a:spLocks noChangeArrowheads="1"/>
          </p:cNvSpPr>
          <p:nvPr/>
        </p:nvSpPr>
        <p:spPr bwMode="auto">
          <a:xfrm>
            <a:off x="1981200" y="3505200"/>
            <a:ext cx="1447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0">
                <a:latin typeface="Arial" pitchFamily="34" charset="0"/>
              </a:rPr>
              <a:t>Y = 15</a:t>
            </a:r>
          </a:p>
        </p:txBody>
      </p:sp>
      <p:sp>
        <p:nvSpPr>
          <p:cNvPr id="454662" name="Text Box 6"/>
          <p:cNvSpPr txBox="1">
            <a:spLocks noChangeArrowheads="1"/>
          </p:cNvSpPr>
          <p:nvPr/>
        </p:nvSpPr>
        <p:spPr bwMode="auto">
          <a:xfrm>
            <a:off x="1981200" y="4419600"/>
            <a:ext cx="1600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0">
                <a:latin typeface="Arial" pitchFamily="34" charset="0"/>
              </a:rPr>
              <a:t>X = Y + 3</a:t>
            </a:r>
          </a:p>
        </p:txBody>
      </p:sp>
      <p:sp>
        <p:nvSpPr>
          <p:cNvPr id="454663" name="Text Box 7"/>
          <p:cNvSpPr txBox="1">
            <a:spLocks noChangeArrowheads="1"/>
          </p:cNvSpPr>
          <p:nvPr/>
        </p:nvSpPr>
        <p:spPr bwMode="auto">
          <a:xfrm>
            <a:off x="1905000" y="5334000"/>
            <a:ext cx="1447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0">
                <a:latin typeface="Arial" pitchFamily="34" charset="0"/>
              </a:rPr>
              <a:t>Y = X / 6</a:t>
            </a:r>
          </a:p>
        </p:txBody>
      </p:sp>
      <p:sp>
        <p:nvSpPr>
          <p:cNvPr id="454664" name="Text Box 8"/>
          <p:cNvSpPr txBox="1">
            <a:spLocks noChangeArrowheads="1"/>
          </p:cNvSpPr>
          <p:nvPr/>
        </p:nvSpPr>
        <p:spPr bwMode="auto">
          <a:xfrm>
            <a:off x="381000" y="1752600"/>
            <a:ext cx="3276600" cy="46672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dirty="0">
                <a:solidFill>
                  <a:srgbClr val="A50021"/>
                </a:solidFill>
                <a:latin typeface="Arial" pitchFamily="34" charset="0"/>
              </a:rPr>
              <a:t>Instruction executed</a:t>
            </a:r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3581400" y="2514600"/>
            <a:ext cx="5105400" cy="533400"/>
            <a:chOff x="2256" y="1584"/>
            <a:chExt cx="3216" cy="336"/>
          </a:xfrm>
        </p:grpSpPr>
        <p:sp>
          <p:nvSpPr>
            <p:cNvPr id="454666" name="Rectangle 10"/>
            <p:cNvSpPr>
              <a:spLocks noChangeArrowheads="1"/>
            </p:cNvSpPr>
            <p:nvPr/>
          </p:nvSpPr>
          <p:spPr bwMode="auto">
            <a:xfrm>
              <a:off x="3792" y="1584"/>
              <a:ext cx="768" cy="336"/>
            </a:xfrm>
            <a:prstGeom prst="rect">
              <a:avLst/>
            </a:prstGeom>
            <a:solidFill>
              <a:srgbClr val="CCFFFF"/>
            </a:solidFill>
            <a:ln w="25400">
              <a:solidFill>
                <a:srgbClr val="8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>
                  <a:latin typeface="Arial" pitchFamily="34" charset="0"/>
                </a:rPr>
                <a:t>20</a:t>
              </a:r>
            </a:p>
          </p:txBody>
        </p:sp>
        <p:sp>
          <p:nvSpPr>
            <p:cNvPr id="454667" name="AutoShape 11"/>
            <p:cNvSpPr>
              <a:spLocks noChangeArrowheads="1"/>
            </p:cNvSpPr>
            <p:nvPr/>
          </p:nvSpPr>
          <p:spPr bwMode="auto">
            <a:xfrm>
              <a:off x="2256" y="1680"/>
              <a:ext cx="1200" cy="192"/>
            </a:xfrm>
            <a:prstGeom prst="rightArrow">
              <a:avLst>
                <a:gd name="adj1" fmla="val 65620"/>
                <a:gd name="adj2" fmla="val 63021"/>
              </a:avLst>
            </a:prstGeom>
            <a:solidFill>
              <a:srgbClr val="FF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54668" name="Rectangle 12"/>
            <p:cNvSpPr>
              <a:spLocks noChangeArrowheads="1"/>
            </p:cNvSpPr>
            <p:nvPr/>
          </p:nvSpPr>
          <p:spPr bwMode="auto">
            <a:xfrm>
              <a:off x="4704" y="1584"/>
              <a:ext cx="768" cy="336"/>
            </a:xfrm>
            <a:prstGeom prst="rect">
              <a:avLst/>
            </a:prstGeom>
            <a:solidFill>
              <a:srgbClr val="CCFFFF"/>
            </a:solidFill>
            <a:ln w="25400">
              <a:solidFill>
                <a:srgbClr val="8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>
                  <a:latin typeface="Arial" pitchFamily="34" charset="0"/>
                </a:rPr>
                <a:t>?</a:t>
              </a:r>
            </a:p>
          </p:txBody>
        </p:sp>
      </p:grpSp>
      <p:sp>
        <p:nvSpPr>
          <p:cNvPr id="454669" name="AutoShape 13"/>
          <p:cNvSpPr>
            <a:spLocks noChangeArrowheads="1"/>
          </p:cNvSpPr>
          <p:nvPr/>
        </p:nvSpPr>
        <p:spPr bwMode="auto">
          <a:xfrm>
            <a:off x="914400" y="2590800"/>
            <a:ext cx="381000" cy="3124200"/>
          </a:xfrm>
          <a:prstGeom prst="downArrow">
            <a:avLst>
              <a:gd name="adj1" fmla="val 69167"/>
              <a:gd name="adj2" fmla="val 46239"/>
            </a:avLst>
          </a:prstGeom>
          <a:solidFill>
            <a:srgbClr val="000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CA"/>
          </a:p>
        </p:txBody>
      </p:sp>
      <p:sp>
        <p:nvSpPr>
          <p:cNvPr id="454670" name="Text Box 14"/>
          <p:cNvSpPr txBox="1">
            <a:spLocks noChangeArrowheads="1"/>
          </p:cNvSpPr>
          <p:nvPr/>
        </p:nvSpPr>
        <p:spPr bwMode="auto">
          <a:xfrm>
            <a:off x="304800" y="3124200"/>
            <a:ext cx="685800" cy="210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sz="2400">
                <a:latin typeface="Arial" pitchFamily="34" charset="0"/>
              </a:rPr>
              <a:t>T</a:t>
            </a:r>
          </a:p>
          <a:p>
            <a:pPr algn="ctr"/>
            <a:r>
              <a:rPr lang="en-US" sz="2400">
                <a:latin typeface="Arial" pitchFamily="34" charset="0"/>
              </a:rPr>
              <a:t>i</a:t>
            </a:r>
          </a:p>
          <a:p>
            <a:pPr algn="ctr"/>
            <a:r>
              <a:rPr lang="en-US" sz="2400">
                <a:latin typeface="Arial" pitchFamily="34" charset="0"/>
              </a:rPr>
              <a:t>m</a:t>
            </a:r>
          </a:p>
          <a:p>
            <a:pPr algn="ctr"/>
            <a:r>
              <a:rPr lang="en-US" sz="2400">
                <a:latin typeface="Arial" pitchFamily="34" charset="0"/>
              </a:rPr>
              <a:t>e</a:t>
            </a:r>
          </a:p>
          <a:p>
            <a:pPr>
              <a:spcBef>
                <a:spcPct val="50000"/>
              </a:spcBef>
            </a:pPr>
            <a:endParaRPr lang="en-US" sz="2400">
              <a:latin typeface="Arial" pitchFamily="34" charset="0"/>
            </a:endParaRPr>
          </a:p>
        </p:txBody>
      </p:sp>
      <p:grpSp>
        <p:nvGrpSpPr>
          <p:cNvPr id="3" name="Group 15"/>
          <p:cNvGrpSpPr>
            <a:grpSpLocks/>
          </p:cNvGrpSpPr>
          <p:nvPr/>
        </p:nvGrpSpPr>
        <p:grpSpPr bwMode="auto">
          <a:xfrm>
            <a:off x="3581400" y="3429000"/>
            <a:ext cx="5105400" cy="533400"/>
            <a:chOff x="2256" y="2160"/>
            <a:chExt cx="3216" cy="336"/>
          </a:xfrm>
        </p:grpSpPr>
        <p:sp>
          <p:nvSpPr>
            <p:cNvPr id="454672" name="Rectangle 16"/>
            <p:cNvSpPr>
              <a:spLocks noChangeArrowheads="1"/>
            </p:cNvSpPr>
            <p:nvPr/>
          </p:nvSpPr>
          <p:spPr bwMode="auto">
            <a:xfrm>
              <a:off x="3792" y="2160"/>
              <a:ext cx="768" cy="336"/>
            </a:xfrm>
            <a:prstGeom prst="rect">
              <a:avLst/>
            </a:prstGeom>
            <a:solidFill>
              <a:srgbClr val="CCFFFF"/>
            </a:solidFill>
            <a:ln w="25400">
              <a:solidFill>
                <a:srgbClr val="8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>
                  <a:latin typeface="Arial" pitchFamily="34" charset="0"/>
                </a:rPr>
                <a:t>20</a:t>
              </a:r>
            </a:p>
          </p:txBody>
        </p:sp>
        <p:sp>
          <p:nvSpPr>
            <p:cNvPr id="454673" name="Rectangle 17"/>
            <p:cNvSpPr>
              <a:spLocks noChangeArrowheads="1"/>
            </p:cNvSpPr>
            <p:nvPr/>
          </p:nvSpPr>
          <p:spPr bwMode="auto">
            <a:xfrm>
              <a:off x="4704" y="2160"/>
              <a:ext cx="768" cy="336"/>
            </a:xfrm>
            <a:prstGeom prst="rect">
              <a:avLst/>
            </a:prstGeom>
            <a:solidFill>
              <a:srgbClr val="CCFFFF"/>
            </a:solidFill>
            <a:ln w="25400">
              <a:solidFill>
                <a:srgbClr val="8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>
                  <a:latin typeface="Arial" pitchFamily="34" charset="0"/>
                </a:rPr>
                <a:t>15</a:t>
              </a:r>
            </a:p>
          </p:txBody>
        </p:sp>
        <p:sp>
          <p:nvSpPr>
            <p:cNvPr id="454674" name="AutoShape 18"/>
            <p:cNvSpPr>
              <a:spLocks noChangeArrowheads="1"/>
            </p:cNvSpPr>
            <p:nvPr/>
          </p:nvSpPr>
          <p:spPr bwMode="auto">
            <a:xfrm>
              <a:off x="2256" y="2256"/>
              <a:ext cx="1200" cy="192"/>
            </a:xfrm>
            <a:prstGeom prst="rightArrow">
              <a:avLst>
                <a:gd name="adj1" fmla="val 65620"/>
                <a:gd name="adj2" fmla="val 63021"/>
              </a:avLst>
            </a:prstGeom>
            <a:solidFill>
              <a:srgbClr val="FF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</p:grpSp>
      <p:grpSp>
        <p:nvGrpSpPr>
          <p:cNvPr id="4" name="Group 19"/>
          <p:cNvGrpSpPr>
            <a:grpSpLocks/>
          </p:cNvGrpSpPr>
          <p:nvPr/>
        </p:nvGrpSpPr>
        <p:grpSpPr bwMode="auto">
          <a:xfrm>
            <a:off x="3581400" y="4343400"/>
            <a:ext cx="5105400" cy="533400"/>
            <a:chOff x="2256" y="2736"/>
            <a:chExt cx="3216" cy="336"/>
          </a:xfrm>
        </p:grpSpPr>
        <p:sp>
          <p:nvSpPr>
            <p:cNvPr id="454676" name="Rectangle 20"/>
            <p:cNvSpPr>
              <a:spLocks noChangeArrowheads="1"/>
            </p:cNvSpPr>
            <p:nvPr/>
          </p:nvSpPr>
          <p:spPr bwMode="auto">
            <a:xfrm>
              <a:off x="3792" y="2736"/>
              <a:ext cx="768" cy="336"/>
            </a:xfrm>
            <a:prstGeom prst="rect">
              <a:avLst/>
            </a:prstGeom>
            <a:solidFill>
              <a:srgbClr val="CCFFFF"/>
            </a:solidFill>
            <a:ln w="25400">
              <a:solidFill>
                <a:srgbClr val="8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>
                  <a:latin typeface="Arial" pitchFamily="34" charset="0"/>
                </a:rPr>
                <a:t>18</a:t>
              </a:r>
            </a:p>
          </p:txBody>
        </p:sp>
        <p:sp>
          <p:nvSpPr>
            <p:cNvPr id="454677" name="Rectangle 21"/>
            <p:cNvSpPr>
              <a:spLocks noChangeArrowheads="1"/>
            </p:cNvSpPr>
            <p:nvPr/>
          </p:nvSpPr>
          <p:spPr bwMode="auto">
            <a:xfrm>
              <a:off x="4704" y="2736"/>
              <a:ext cx="768" cy="336"/>
            </a:xfrm>
            <a:prstGeom prst="rect">
              <a:avLst/>
            </a:prstGeom>
            <a:solidFill>
              <a:srgbClr val="CCFFFF"/>
            </a:solidFill>
            <a:ln w="25400">
              <a:solidFill>
                <a:srgbClr val="8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>
                  <a:latin typeface="Arial" pitchFamily="34" charset="0"/>
                </a:rPr>
                <a:t>15</a:t>
              </a:r>
            </a:p>
          </p:txBody>
        </p:sp>
        <p:sp>
          <p:nvSpPr>
            <p:cNvPr id="454678" name="AutoShape 22"/>
            <p:cNvSpPr>
              <a:spLocks noChangeArrowheads="1"/>
            </p:cNvSpPr>
            <p:nvPr/>
          </p:nvSpPr>
          <p:spPr bwMode="auto">
            <a:xfrm>
              <a:off x="2256" y="2832"/>
              <a:ext cx="1200" cy="192"/>
            </a:xfrm>
            <a:prstGeom prst="rightArrow">
              <a:avLst>
                <a:gd name="adj1" fmla="val 65620"/>
                <a:gd name="adj2" fmla="val 63021"/>
              </a:avLst>
            </a:prstGeom>
            <a:solidFill>
              <a:srgbClr val="FF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</p:grpSp>
      <p:grpSp>
        <p:nvGrpSpPr>
          <p:cNvPr id="5" name="Group 23"/>
          <p:cNvGrpSpPr>
            <a:grpSpLocks/>
          </p:cNvGrpSpPr>
          <p:nvPr/>
        </p:nvGrpSpPr>
        <p:grpSpPr bwMode="auto">
          <a:xfrm>
            <a:off x="3581400" y="5257800"/>
            <a:ext cx="5105400" cy="533400"/>
            <a:chOff x="2256" y="3312"/>
            <a:chExt cx="3216" cy="336"/>
          </a:xfrm>
        </p:grpSpPr>
        <p:sp>
          <p:nvSpPr>
            <p:cNvPr id="454680" name="Rectangle 24"/>
            <p:cNvSpPr>
              <a:spLocks noChangeArrowheads="1"/>
            </p:cNvSpPr>
            <p:nvPr/>
          </p:nvSpPr>
          <p:spPr bwMode="auto">
            <a:xfrm>
              <a:off x="3792" y="3312"/>
              <a:ext cx="768" cy="336"/>
            </a:xfrm>
            <a:prstGeom prst="rect">
              <a:avLst/>
            </a:prstGeom>
            <a:solidFill>
              <a:srgbClr val="CCFFFF"/>
            </a:solidFill>
            <a:ln w="25400">
              <a:solidFill>
                <a:srgbClr val="8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>
                  <a:latin typeface="Arial" pitchFamily="34" charset="0"/>
                </a:rPr>
                <a:t>18</a:t>
              </a:r>
            </a:p>
          </p:txBody>
        </p:sp>
        <p:sp>
          <p:nvSpPr>
            <p:cNvPr id="454681" name="Rectangle 25"/>
            <p:cNvSpPr>
              <a:spLocks noChangeArrowheads="1"/>
            </p:cNvSpPr>
            <p:nvPr/>
          </p:nvSpPr>
          <p:spPr bwMode="auto">
            <a:xfrm>
              <a:off x="4704" y="3312"/>
              <a:ext cx="768" cy="336"/>
            </a:xfrm>
            <a:prstGeom prst="rect">
              <a:avLst/>
            </a:prstGeom>
            <a:solidFill>
              <a:srgbClr val="CCFFFF"/>
            </a:solidFill>
            <a:ln w="25400">
              <a:solidFill>
                <a:srgbClr val="8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>
                  <a:latin typeface="Arial" pitchFamily="34" charset="0"/>
                </a:rPr>
                <a:t>3</a:t>
              </a:r>
            </a:p>
          </p:txBody>
        </p:sp>
        <p:sp>
          <p:nvSpPr>
            <p:cNvPr id="454682" name="AutoShape 26"/>
            <p:cNvSpPr>
              <a:spLocks noChangeArrowheads="1"/>
            </p:cNvSpPr>
            <p:nvPr/>
          </p:nvSpPr>
          <p:spPr bwMode="auto">
            <a:xfrm>
              <a:off x="2256" y="3408"/>
              <a:ext cx="1200" cy="192"/>
            </a:xfrm>
            <a:prstGeom prst="rightArrow">
              <a:avLst>
                <a:gd name="adj1" fmla="val 65620"/>
                <a:gd name="adj2" fmla="val 63021"/>
              </a:avLst>
            </a:prstGeom>
            <a:solidFill>
              <a:srgbClr val="FF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Using and Displaying Variables</a:t>
            </a:r>
          </a:p>
        </p:txBody>
      </p:sp>
      <p:sp>
        <p:nvSpPr>
          <p:cNvPr id="7172" name="Text Box 4"/>
          <p:cNvSpPr txBox="1">
            <a:spLocks noChangeArrowheads="1"/>
          </p:cNvSpPr>
          <p:nvPr/>
        </p:nvSpPr>
        <p:spPr bwMode="auto">
          <a:xfrm>
            <a:off x="1184309" y="1168418"/>
            <a:ext cx="7251700" cy="22987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just"/>
            <a:r>
              <a:rPr lang="en-US" dirty="0">
                <a:latin typeface="Courier New" pitchFamily="49" charset="0"/>
              </a:rPr>
              <a:t>#include &lt;</a:t>
            </a:r>
            <a:r>
              <a:rPr lang="en-US" dirty="0" err="1">
                <a:latin typeface="Courier New" pitchFamily="49" charset="0"/>
              </a:rPr>
              <a:t>stdio.h</a:t>
            </a:r>
            <a:r>
              <a:rPr lang="en-US" dirty="0">
                <a:latin typeface="Courier New" pitchFamily="49" charset="0"/>
              </a:rPr>
              <a:t>&gt;</a:t>
            </a:r>
          </a:p>
          <a:p>
            <a:pPr algn="just"/>
            <a:r>
              <a:rPr lang="en-US" dirty="0" err="1">
                <a:latin typeface="Courier New" pitchFamily="49" charset="0"/>
              </a:rPr>
              <a:t>int</a:t>
            </a:r>
            <a:r>
              <a:rPr lang="en-US" dirty="0">
                <a:latin typeface="Courier New" pitchFamily="49" charset="0"/>
              </a:rPr>
              <a:t> main (void)</a:t>
            </a:r>
          </a:p>
          <a:p>
            <a:pPr algn="just"/>
            <a:r>
              <a:rPr lang="en-US" dirty="0">
                <a:latin typeface="Courier New" pitchFamily="49" charset="0"/>
              </a:rPr>
              <a:t>{</a:t>
            </a:r>
          </a:p>
          <a:p>
            <a:pPr algn="just"/>
            <a:r>
              <a:rPr lang="en-US" dirty="0">
                <a:latin typeface="Courier New" pitchFamily="49" charset="0"/>
              </a:rPr>
              <a:t>	</a:t>
            </a:r>
            <a:r>
              <a:rPr lang="en-US" dirty="0" err="1">
                <a:latin typeface="Courier New" pitchFamily="49" charset="0"/>
              </a:rPr>
              <a:t>int</a:t>
            </a:r>
            <a:r>
              <a:rPr lang="en-US" dirty="0">
                <a:latin typeface="Courier New" pitchFamily="49" charset="0"/>
              </a:rPr>
              <a:t> sum;</a:t>
            </a:r>
          </a:p>
          <a:p>
            <a:pPr algn="just"/>
            <a:r>
              <a:rPr lang="en-US" dirty="0">
                <a:latin typeface="Courier New" pitchFamily="49" charset="0"/>
              </a:rPr>
              <a:t>	sum = 50 + 25;</a:t>
            </a:r>
          </a:p>
          <a:p>
            <a:pPr algn="just"/>
            <a:r>
              <a:rPr lang="en-US" dirty="0">
                <a:latin typeface="Courier New" pitchFamily="49" charset="0"/>
              </a:rPr>
              <a:t>	</a:t>
            </a:r>
            <a:r>
              <a:rPr lang="en-US" dirty="0" err="1">
                <a:latin typeface="Courier New" pitchFamily="49" charset="0"/>
              </a:rPr>
              <a:t>printf</a:t>
            </a:r>
            <a:r>
              <a:rPr lang="en-US" dirty="0">
                <a:latin typeface="Courier New" pitchFamily="49" charset="0"/>
              </a:rPr>
              <a:t> ("The sum of 50 and 25 is %</a:t>
            </a:r>
            <a:r>
              <a:rPr lang="en-US" dirty="0" err="1">
                <a:latin typeface="Courier New" pitchFamily="49" charset="0"/>
              </a:rPr>
              <a:t>i</a:t>
            </a:r>
            <a:r>
              <a:rPr lang="en-US" dirty="0">
                <a:latin typeface="Courier New" pitchFamily="49" charset="0"/>
              </a:rPr>
              <a:t>\n", sum);</a:t>
            </a:r>
          </a:p>
          <a:p>
            <a:pPr algn="just"/>
            <a:r>
              <a:rPr lang="en-US" dirty="0">
                <a:latin typeface="Courier New" pitchFamily="49" charset="0"/>
              </a:rPr>
              <a:t>	return 0;</a:t>
            </a:r>
          </a:p>
          <a:p>
            <a:pPr algn="just"/>
            <a:r>
              <a:rPr lang="en-US" dirty="0">
                <a:latin typeface="Courier New" pitchFamily="49" charset="0"/>
              </a:rPr>
              <a:t>}</a:t>
            </a:r>
          </a:p>
        </p:txBody>
      </p:sp>
      <p:sp>
        <p:nvSpPr>
          <p:cNvPr id="7173" name="Text Box 5"/>
          <p:cNvSpPr txBox="1">
            <a:spLocks noChangeArrowheads="1"/>
          </p:cNvSpPr>
          <p:nvPr/>
        </p:nvSpPr>
        <p:spPr bwMode="auto">
          <a:xfrm>
            <a:off x="1854234" y="3643331"/>
            <a:ext cx="73310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/>
            <a:r>
              <a:rPr lang="en-US" dirty="0"/>
              <a:t>Variable sum </a:t>
            </a:r>
            <a:r>
              <a:rPr lang="en-US" b="1" dirty="0"/>
              <a:t>declared</a:t>
            </a:r>
            <a:r>
              <a:rPr lang="en-US" dirty="0"/>
              <a:t> of type </a:t>
            </a:r>
            <a:r>
              <a:rPr lang="en-US" dirty="0" err="1"/>
              <a:t>int</a:t>
            </a:r>
            <a:endParaRPr lang="en-US" dirty="0"/>
          </a:p>
        </p:txBody>
      </p:sp>
      <p:sp>
        <p:nvSpPr>
          <p:cNvPr id="7174" name="Text Box 6"/>
          <p:cNvSpPr txBox="1">
            <a:spLocks noChangeArrowheads="1"/>
          </p:cNvSpPr>
          <p:nvPr/>
        </p:nvSpPr>
        <p:spPr bwMode="auto">
          <a:xfrm>
            <a:off x="1793909" y="4216418"/>
            <a:ext cx="472648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just"/>
            <a:r>
              <a:rPr lang="en-US" dirty="0"/>
              <a:t>Variable sum </a:t>
            </a:r>
            <a:r>
              <a:rPr lang="en-US" b="1" dirty="0"/>
              <a:t>assigned</a:t>
            </a:r>
            <a:r>
              <a:rPr lang="en-US" dirty="0"/>
              <a:t>  expression  50 + 25</a:t>
            </a:r>
          </a:p>
        </p:txBody>
      </p:sp>
      <p:sp>
        <p:nvSpPr>
          <p:cNvPr id="7175" name="Text Box 7"/>
          <p:cNvSpPr txBox="1">
            <a:spLocks noChangeArrowheads="1"/>
          </p:cNvSpPr>
          <p:nvPr/>
        </p:nvSpPr>
        <p:spPr bwMode="auto">
          <a:xfrm>
            <a:off x="1643042" y="4902218"/>
            <a:ext cx="49339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just"/>
            <a:r>
              <a:rPr lang="en-US" dirty="0"/>
              <a:t>Value of variable sum is </a:t>
            </a:r>
            <a:r>
              <a:rPr lang="en-US" b="1" dirty="0"/>
              <a:t>printed</a:t>
            </a:r>
            <a:r>
              <a:rPr lang="en-US" dirty="0"/>
              <a:t> in place of %</a:t>
            </a:r>
            <a:r>
              <a:rPr lang="en-US" dirty="0" err="1"/>
              <a:t>i</a:t>
            </a:r>
            <a:r>
              <a:rPr lang="en-US" dirty="0"/>
              <a:t> </a:t>
            </a:r>
          </a:p>
        </p:txBody>
      </p:sp>
      <p:sp>
        <p:nvSpPr>
          <p:cNvPr id="7176" name="Freeform 8"/>
          <p:cNvSpPr>
            <a:spLocks/>
          </p:cNvSpPr>
          <p:nvPr/>
        </p:nvSpPr>
        <p:spPr bwMode="auto">
          <a:xfrm>
            <a:off x="1679609" y="2159018"/>
            <a:ext cx="419100" cy="1600200"/>
          </a:xfrm>
          <a:custGeom>
            <a:avLst/>
            <a:gdLst/>
            <a:ahLst/>
            <a:cxnLst>
              <a:cxn ang="0">
                <a:pos x="264" y="0"/>
              </a:cxn>
              <a:cxn ang="0">
                <a:pos x="24" y="384"/>
              </a:cxn>
              <a:cxn ang="0">
                <a:pos x="120" y="1008"/>
              </a:cxn>
            </a:cxnLst>
            <a:rect l="0" t="0" r="r" b="b"/>
            <a:pathLst>
              <a:path w="264" h="1008">
                <a:moveTo>
                  <a:pt x="264" y="0"/>
                </a:moveTo>
                <a:cubicBezTo>
                  <a:pt x="156" y="108"/>
                  <a:pt x="48" y="216"/>
                  <a:pt x="24" y="384"/>
                </a:cubicBezTo>
                <a:cubicBezTo>
                  <a:pt x="0" y="552"/>
                  <a:pt x="60" y="780"/>
                  <a:pt x="120" y="1008"/>
                </a:cubicBezTo>
              </a:path>
            </a:pathLst>
          </a:custGeom>
          <a:ln>
            <a:headEnd/>
            <a:tailEnd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CA"/>
          </a:p>
        </p:txBody>
      </p:sp>
      <p:sp>
        <p:nvSpPr>
          <p:cNvPr id="7177" name="Freeform 9"/>
          <p:cNvSpPr>
            <a:spLocks/>
          </p:cNvSpPr>
          <p:nvPr/>
        </p:nvSpPr>
        <p:spPr bwMode="auto">
          <a:xfrm>
            <a:off x="1489109" y="2463818"/>
            <a:ext cx="647700" cy="1905000"/>
          </a:xfrm>
          <a:custGeom>
            <a:avLst/>
            <a:gdLst/>
            <a:ahLst/>
            <a:cxnLst>
              <a:cxn ang="0">
                <a:pos x="264" y="0"/>
              </a:cxn>
              <a:cxn ang="0">
                <a:pos x="24" y="384"/>
              </a:cxn>
              <a:cxn ang="0">
                <a:pos x="120" y="1008"/>
              </a:cxn>
            </a:cxnLst>
            <a:rect l="0" t="0" r="r" b="b"/>
            <a:pathLst>
              <a:path w="264" h="1008">
                <a:moveTo>
                  <a:pt x="264" y="0"/>
                </a:moveTo>
                <a:cubicBezTo>
                  <a:pt x="156" y="108"/>
                  <a:pt x="48" y="216"/>
                  <a:pt x="24" y="384"/>
                </a:cubicBezTo>
                <a:cubicBezTo>
                  <a:pt x="0" y="552"/>
                  <a:pt x="60" y="780"/>
                  <a:pt x="120" y="1008"/>
                </a:cubicBezTo>
              </a:path>
            </a:pathLst>
          </a:custGeom>
          <a:ln>
            <a:headEnd/>
            <a:tailEnd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CA"/>
          </a:p>
        </p:txBody>
      </p:sp>
      <p:sp>
        <p:nvSpPr>
          <p:cNvPr id="7178" name="Freeform 10"/>
          <p:cNvSpPr>
            <a:spLocks/>
          </p:cNvSpPr>
          <p:nvPr/>
        </p:nvSpPr>
        <p:spPr bwMode="auto">
          <a:xfrm>
            <a:off x="1336709" y="2768618"/>
            <a:ext cx="762000" cy="2286000"/>
          </a:xfrm>
          <a:custGeom>
            <a:avLst/>
            <a:gdLst/>
            <a:ahLst/>
            <a:cxnLst>
              <a:cxn ang="0">
                <a:pos x="264" y="0"/>
              </a:cxn>
              <a:cxn ang="0">
                <a:pos x="24" y="384"/>
              </a:cxn>
              <a:cxn ang="0">
                <a:pos x="120" y="1008"/>
              </a:cxn>
            </a:cxnLst>
            <a:rect l="0" t="0" r="r" b="b"/>
            <a:pathLst>
              <a:path w="264" h="1008">
                <a:moveTo>
                  <a:pt x="264" y="0"/>
                </a:moveTo>
                <a:cubicBezTo>
                  <a:pt x="156" y="108"/>
                  <a:pt x="48" y="216"/>
                  <a:pt x="24" y="384"/>
                </a:cubicBezTo>
                <a:cubicBezTo>
                  <a:pt x="0" y="552"/>
                  <a:pt x="60" y="780"/>
                  <a:pt x="120" y="1008"/>
                </a:cubicBezTo>
              </a:path>
            </a:pathLst>
          </a:custGeom>
          <a:ln>
            <a:headEnd/>
            <a:tailEnd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CA"/>
          </a:p>
        </p:txBody>
      </p:sp>
      <p:sp>
        <p:nvSpPr>
          <p:cNvPr id="7179" name="Text Box 11"/>
          <p:cNvSpPr txBox="1">
            <a:spLocks noChangeArrowheads="1"/>
          </p:cNvSpPr>
          <p:nvPr/>
        </p:nvSpPr>
        <p:spPr bwMode="auto">
          <a:xfrm>
            <a:off x="1357290" y="5455523"/>
            <a:ext cx="742955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/>
            <a:r>
              <a:rPr lang="en-US" sz="1600" dirty="0"/>
              <a:t>The </a:t>
            </a:r>
            <a:r>
              <a:rPr lang="en-US" sz="1600" dirty="0" err="1"/>
              <a:t>printf</a:t>
            </a:r>
            <a:r>
              <a:rPr lang="en-US" sz="1600" dirty="0"/>
              <a:t>( ) routine call has now 2 arguments: first argument a string containing also a format </a:t>
            </a:r>
            <a:r>
              <a:rPr lang="en-US" sz="1600" dirty="0" err="1"/>
              <a:t>specifier</a:t>
            </a:r>
            <a:r>
              <a:rPr lang="en-US" sz="1600" dirty="0"/>
              <a:t> (%</a:t>
            </a:r>
            <a:r>
              <a:rPr lang="en-US" sz="1600" dirty="0" err="1"/>
              <a:t>i</a:t>
            </a:r>
            <a:r>
              <a:rPr lang="en-US" sz="1600" dirty="0"/>
              <a:t>), that holds place for an integer value to be inserted here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7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7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7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7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3" grpId="0"/>
      <p:bldP spid="7174" grpId="0"/>
      <p:bldP spid="7175" grpId="0"/>
      <p:bldP spid="7176" grpId="0" animBg="1"/>
      <p:bldP spid="7177" grpId="0" animBg="1"/>
      <p:bldP spid="7178" grpId="0" animBg="1"/>
      <p:bldP spid="717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Displaying multiple values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dirty="0"/>
              <a:t>  </a:t>
            </a:r>
          </a:p>
        </p:txBody>
      </p:sp>
      <p:sp>
        <p:nvSpPr>
          <p:cNvPr id="8196" name="Text Box 4"/>
          <p:cNvSpPr txBox="1">
            <a:spLocks noChangeArrowheads="1"/>
          </p:cNvSpPr>
          <p:nvPr/>
        </p:nvSpPr>
        <p:spPr bwMode="auto">
          <a:xfrm>
            <a:off x="214282" y="1214422"/>
            <a:ext cx="8772556" cy="286232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/>
            <a:r>
              <a:rPr lang="en-US" dirty="0">
                <a:latin typeface="Courier New" pitchFamily="49" charset="0"/>
              </a:rPr>
              <a:t>#include &lt;</a:t>
            </a:r>
            <a:r>
              <a:rPr lang="en-US" dirty="0" err="1">
                <a:latin typeface="Courier New" pitchFamily="49" charset="0"/>
              </a:rPr>
              <a:t>stdio.h</a:t>
            </a:r>
            <a:r>
              <a:rPr lang="en-US" dirty="0">
                <a:latin typeface="Courier New" pitchFamily="49" charset="0"/>
              </a:rPr>
              <a:t>&gt;</a:t>
            </a:r>
          </a:p>
          <a:p>
            <a:pPr algn="just"/>
            <a:r>
              <a:rPr lang="en-US" dirty="0" err="1">
                <a:latin typeface="Courier New" pitchFamily="49" charset="0"/>
              </a:rPr>
              <a:t>int</a:t>
            </a:r>
            <a:r>
              <a:rPr lang="en-US" dirty="0">
                <a:latin typeface="Courier New" pitchFamily="49" charset="0"/>
              </a:rPr>
              <a:t> main (void)</a:t>
            </a:r>
          </a:p>
          <a:p>
            <a:pPr algn="just"/>
            <a:r>
              <a:rPr lang="en-US" dirty="0">
                <a:latin typeface="Courier New" pitchFamily="49" charset="0"/>
              </a:rPr>
              <a:t>{</a:t>
            </a:r>
          </a:p>
          <a:p>
            <a:pPr algn="just"/>
            <a:r>
              <a:rPr lang="en-US" dirty="0">
                <a:latin typeface="Courier New" pitchFamily="49" charset="0"/>
              </a:rPr>
              <a:t>  </a:t>
            </a:r>
            <a:r>
              <a:rPr lang="en-US" dirty="0" err="1">
                <a:latin typeface="Courier New" pitchFamily="49" charset="0"/>
              </a:rPr>
              <a:t>int</a:t>
            </a:r>
            <a:r>
              <a:rPr lang="en-US" dirty="0">
                <a:latin typeface="Courier New" pitchFamily="49" charset="0"/>
              </a:rPr>
              <a:t> value1, value2, sum;</a:t>
            </a:r>
          </a:p>
          <a:p>
            <a:pPr algn="just"/>
            <a:r>
              <a:rPr lang="en-US" dirty="0">
                <a:latin typeface="Courier New" pitchFamily="49" charset="0"/>
              </a:rPr>
              <a:t>  value1 = 50;</a:t>
            </a:r>
          </a:p>
          <a:p>
            <a:pPr algn="just"/>
            <a:r>
              <a:rPr lang="en-US" dirty="0">
                <a:latin typeface="Courier New" pitchFamily="49" charset="0"/>
              </a:rPr>
              <a:t>  value2 = 25;</a:t>
            </a:r>
          </a:p>
          <a:p>
            <a:pPr algn="just"/>
            <a:r>
              <a:rPr lang="en-US" dirty="0">
                <a:latin typeface="Courier New" pitchFamily="49" charset="0"/>
              </a:rPr>
              <a:t>  sum = value1 + value2;</a:t>
            </a:r>
          </a:p>
          <a:p>
            <a:pPr algn="just"/>
            <a:r>
              <a:rPr lang="en-US" dirty="0">
                <a:latin typeface="Courier New" pitchFamily="49" charset="0"/>
              </a:rPr>
              <a:t>  </a:t>
            </a:r>
            <a:r>
              <a:rPr lang="en-US" dirty="0" err="1">
                <a:latin typeface="Courier New" pitchFamily="49" charset="0"/>
              </a:rPr>
              <a:t>printf</a:t>
            </a:r>
            <a:r>
              <a:rPr lang="en-US" dirty="0">
                <a:latin typeface="Courier New" pitchFamily="49" charset="0"/>
              </a:rPr>
              <a:t> ("The sum of %</a:t>
            </a:r>
            <a:r>
              <a:rPr lang="en-US" dirty="0" err="1">
                <a:latin typeface="Courier New" pitchFamily="49" charset="0"/>
              </a:rPr>
              <a:t>i</a:t>
            </a:r>
            <a:r>
              <a:rPr lang="en-US" dirty="0">
                <a:latin typeface="Courier New" pitchFamily="49" charset="0"/>
              </a:rPr>
              <a:t> and %</a:t>
            </a:r>
            <a:r>
              <a:rPr lang="en-US" dirty="0" err="1">
                <a:latin typeface="Courier New" pitchFamily="49" charset="0"/>
              </a:rPr>
              <a:t>i</a:t>
            </a:r>
            <a:r>
              <a:rPr lang="en-US" dirty="0">
                <a:latin typeface="Courier New" pitchFamily="49" charset="0"/>
              </a:rPr>
              <a:t> is %</a:t>
            </a:r>
            <a:r>
              <a:rPr lang="en-US" dirty="0" err="1">
                <a:latin typeface="Courier New" pitchFamily="49" charset="0"/>
              </a:rPr>
              <a:t>i</a:t>
            </a:r>
            <a:r>
              <a:rPr lang="en-US" dirty="0">
                <a:latin typeface="Courier New" pitchFamily="49" charset="0"/>
              </a:rPr>
              <a:t>\n",value1, value2, sum);</a:t>
            </a:r>
          </a:p>
          <a:p>
            <a:pPr algn="just"/>
            <a:r>
              <a:rPr lang="en-US" dirty="0">
                <a:latin typeface="Courier New" pitchFamily="49" charset="0"/>
              </a:rPr>
              <a:t>  return 0;</a:t>
            </a:r>
          </a:p>
          <a:p>
            <a:pPr algn="just"/>
            <a:r>
              <a:rPr lang="en-US" dirty="0">
                <a:latin typeface="Courier New" pitchFamily="49" charset="0"/>
              </a:rPr>
              <a:t>}</a:t>
            </a:r>
          </a:p>
        </p:txBody>
      </p:sp>
      <p:sp>
        <p:nvSpPr>
          <p:cNvPr id="8197" name="Freeform 5"/>
          <p:cNvSpPr>
            <a:spLocks/>
          </p:cNvSpPr>
          <p:nvPr/>
        </p:nvSpPr>
        <p:spPr bwMode="auto">
          <a:xfrm>
            <a:off x="3384576" y="3429000"/>
            <a:ext cx="2984500" cy="928694"/>
          </a:xfrm>
          <a:custGeom>
            <a:avLst/>
            <a:gdLst/>
            <a:ahLst/>
            <a:cxnLst>
              <a:cxn ang="0">
                <a:pos x="1880" y="0"/>
              </a:cxn>
              <a:cxn ang="0">
                <a:pos x="1544" y="288"/>
              </a:cxn>
              <a:cxn ang="0">
                <a:pos x="248" y="336"/>
              </a:cxn>
              <a:cxn ang="0">
                <a:pos x="56" y="0"/>
              </a:cxn>
            </a:cxnLst>
            <a:rect l="0" t="0" r="r" b="b"/>
            <a:pathLst>
              <a:path w="1880" h="384">
                <a:moveTo>
                  <a:pt x="1880" y="0"/>
                </a:moveTo>
                <a:cubicBezTo>
                  <a:pt x="1848" y="116"/>
                  <a:pt x="1816" y="232"/>
                  <a:pt x="1544" y="288"/>
                </a:cubicBezTo>
                <a:cubicBezTo>
                  <a:pt x="1272" y="344"/>
                  <a:pt x="496" y="384"/>
                  <a:pt x="248" y="336"/>
                </a:cubicBezTo>
                <a:cubicBezTo>
                  <a:pt x="0" y="288"/>
                  <a:pt x="28" y="144"/>
                  <a:pt x="56" y="0"/>
                </a:cubicBezTo>
              </a:path>
            </a:pathLst>
          </a:custGeom>
          <a:ln>
            <a:headEnd/>
            <a:tailEnd type="triangle" w="lg" len="lg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CA"/>
          </a:p>
        </p:txBody>
      </p:sp>
      <p:sp>
        <p:nvSpPr>
          <p:cNvPr id="8198" name="Freeform 6"/>
          <p:cNvSpPr>
            <a:spLocks/>
          </p:cNvSpPr>
          <p:nvPr/>
        </p:nvSpPr>
        <p:spPr bwMode="auto">
          <a:xfrm>
            <a:off x="4387876" y="3429000"/>
            <a:ext cx="2984500" cy="928694"/>
          </a:xfrm>
          <a:custGeom>
            <a:avLst/>
            <a:gdLst/>
            <a:ahLst/>
            <a:cxnLst>
              <a:cxn ang="0">
                <a:pos x="1880" y="0"/>
              </a:cxn>
              <a:cxn ang="0">
                <a:pos x="1544" y="288"/>
              </a:cxn>
              <a:cxn ang="0">
                <a:pos x="248" y="336"/>
              </a:cxn>
              <a:cxn ang="0">
                <a:pos x="56" y="0"/>
              </a:cxn>
            </a:cxnLst>
            <a:rect l="0" t="0" r="r" b="b"/>
            <a:pathLst>
              <a:path w="1880" h="384">
                <a:moveTo>
                  <a:pt x="1880" y="0"/>
                </a:moveTo>
                <a:cubicBezTo>
                  <a:pt x="1848" y="116"/>
                  <a:pt x="1816" y="232"/>
                  <a:pt x="1544" y="288"/>
                </a:cubicBezTo>
                <a:cubicBezTo>
                  <a:pt x="1272" y="344"/>
                  <a:pt x="496" y="384"/>
                  <a:pt x="248" y="336"/>
                </a:cubicBezTo>
                <a:cubicBezTo>
                  <a:pt x="0" y="288"/>
                  <a:pt x="28" y="144"/>
                  <a:pt x="56" y="0"/>
                </a:cubicBezTo>
              </a:path>
            </a:pathLst>
          </a:custGeom>
          <a:ln>
            <a:headEnd/>
            <a:tailEnd type="triangle" w="lg" len="lg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CA"/>
          </a:p>
        </p:txBody>
      </p:sp>
      <p:sp>
        <p:nvSpPr>
          <p:cNvPr id="8199" name="Freeform 7"/>
          <p:cNvSpPr>
            <a:spLocks/>
          </p:cNvSpPr>
          <p:nvPr/>
        </p:nvSpPr>
        <p:spPr bwMode="auto">
          <a:xfrm>
            <a:off x="5302276" y="3429000"/>
            <a:ext cx="2984500" cy="928694"/>
          </a:xfrm>
          <a:custGeom>
            <a:avLst/>
            <a:gdLst/>
            <a:ahLst/>
            <a:cxnLst>
              <a:cxn ang="0">
                <a:pos x="1880" y="0"/>
              </a:cxn>
              <a:cxn ang="0">
                <a:pos x="1544" y="288"/>
              </a:cxn>
              <a:cxn ang="0">
                <a:pos x="248" y="336"/>
              </a:cxn>
              <a:cxn ang="0">
                <a:pos x="56" y="0"/>
              </a:cxn>
            </a:cxnLst>
            <a:rect l="0" t="0" r="r" b="b"/>
            <a:pathLst>
              <a:path w="1880" h="384">
                <a:moveTo>
                  <a:pt x="1880" y="0"/>
                </a:moveTo>
                <a:cubicBezTo>
                  <a:pt x="1848" y="116"/>
                  <a:pt x="1816" y="232"/>
                  <a:pt x="1544" y="288"/>
                </a:cubicBezTo>
                <a:cubicBezTo>
                  <a:pt x="1272" y="344"/>
                  <a:pt x="496" y="384"/>
                  <a:pt x="248" y="336"/>
                </a:cubicBezTo>
                <a:cubicBezTo>
                  <a:pt x="0" y="288"/>
                  <a:pt x="28" y="144"/>
                  <a:pt x="56" y="0"/>
                </a:cubicBezTo>
              </a:path>
            </a:pathLst>
          </a:custGeom>
          <a:ln>
            <a:headEnd/>
            <a:tailEnd type="triangle" w="lg" len="lg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CA"/>
          </a:p>
        </p:txBody>
      </p:sp>
      <p:sp>
        <p:nvSpPr>
          <p:cNvPr id="8200" name="Text Box 8"/>
          <p:cNvSpPr txBox="1">
            <a:spLocks noChangeArrowheads="1"/>
          </p:cNvSpPr>
          <p:nvPr/>
        </p:nvSpPr>
        <p:spPr bwMode="auto">
          <a:xfrm>
            <a:off x="1285852" y="4714884"/>
            <a:ext cx="7134246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The format string (written inside </a:t>
            </a:r>
            <a:r>
              <a:rPr lang="en-US" dirty="0" err="1"/>
              <a:t>printf</a:t>
            </a:r>
            <a:r>
              <a:rPr lang="en-US" dirty="0"/>
              <a:t>) must contain as many placeholders as expressions to be printed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What will be the output here?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7" grpId="0" animBg="1"/>
      <p:bldP spid="8198" grpId="0" animBg="1"/>
      <p:bldP spid="819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Using comments in a program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/>
              <a:t>  </a:t>
            </a:r>
          </a:p>
        </p:txBody>
      </p:sp>
      <p:sp>
        <p:nvSpPr>
          <p:cNvPr id="9221" name="Rectangle 5"/>
          <p:cNvSpPr>
            <a:spLocks noChangeArrowheads="1"/>
          </p:cNvSpPr>
          <p:nvPr/>
        </p:nvSpPr>
        <p:spPr bwMode="auto">
          <a:xfrm>
            <a:off x="1142976" y="1214422"/>
            <a:ext cx="7000924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algn="just">
              <a:spcBef>
                <a:spcPct val="20000"/>
              </a:spcBef>
              <a:buFontTx/>
              <a:buChar char="•"/>
            </a:pPr>
            <a:r>
              <a:rPr lang="en-US" sz="2400" dirty="0"/>
              <a:t>Comment statements are used in a program to document it and to enhance its readability. </a:t>
            </a:r>
          </a:p>
          <a:p>
            <a:pPr marL="342900" indent="-342900" algn="just">
              <a:spcBef>
                <a:spcPct val="20000"/>
              </a:spcBef>
              <a:buFontTx/>
              <a:buChar char="•"/>
            </a:pPr>
            <a:r>
              <a:rPr lang="en-US" sz="2400" dirty="0"/>
              <a:t>Useful for human readers of the program – compiler ignores comments</a:t>
            </a:r>
          </a:p>
          <a:p>
            <a:pPr marL="342900" indent="-342900" algn="just">
              <a:spcBef>
                <a:spcPct val="20000"/>
              </a:spcBef>
              <a:buFontTx/>
              <a:buChar char="•"/>
            </a:pPr>
            <a:r>
              <a:rPr lang="en-US" sz="2400" dirty="0"/>
              <a:t>Ways to insert comments in C:</a:t>
            </a:r>
          </a:p>
          <a:p>
            <a:pPr marL="742950" lvl="1" indent="-285750" algn="just">
              <a:spcBef>
                <a:spcPct val="20000"/>
              </a:spcBef>
              <a:buFontTx/>
              <a:buChar char="–"/>
            </a:pPr>
            <a:r>
              <a:rPr lang="en-US" sz="2000" dirty="0"/>
              <a:t>When comments span several lines: start marked with /*, end marked with */</a:t>
            </a:r>
          </a:p>
          <a:p>
            <a:pPr marL="742950" lvl="1" indent="-285750" algn="just">
              <a:spcBef>
                <a:spcPct val="20000"/>
              </a:spcBef>
              <a:buFontTx/>
              <a:buChar char="–"/>
            </a:pPr>
            <a:r>
              <a:rPr lang="en-US" sz="2000" dirty="0"/>
              <a:t>Comments at the end of a line: start marked with // 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Using comments in a program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/>
              <a:t>  </a:t>
            </a:r>
          </a:p>
        </p:txBody>
      </p:sp>
      <p:sp>
        <p:nvSpPr>
          <p:cNvPr id="54276" name="Text Box 4"/>
          <p:cNvSpPr txBox="1">
            <a:spLocks noChangeArrowheads="1"/>
          </p:cNvSpPr>
          <p:nvPr/>
        </p:nvSpPr>
        <p:spPr bwMode="auto">
          <a:xfrm>
            <a:off x="977931" y="1142984"/>
            <a:ext cx="7523159" cy="480131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/>
            <a:r>
              <a:rPr lang="en-US" dirty="0">
                <a:latin typeface="Courier New" pitchFamily="49" charset="0"/>
              </a:rPr>
              <a:t>/* This program adds two integer values and displays the results */</a:t>
            </a:r>
          </a:p>
          <a:p>
            <a:pPr algn="just"/>
            <a:endParaRPr lang="en-US" dirty="0">
              <a:latin typeface="Courier New" pitchFamily="49" charset="0"/>
            </a:endParaRPr>
          </a:p>
          <a:p>
            <a:pPr algn="just"/>
            <a:r>
              <a:rPr lang="en-US" dirty="0">
                <a:latin typeface="Courier New" pitchFamily="49" charset="0"/>
              </a:rPr>
              <a:t>#include &lt;</a:t>
            </a:r>
            <a:r>
              <a:rPr lang="en-US" dirty="0" err="1">
                <a:latin typeface="Courier New" pitchFamily="49" charset="0"/>
              </a:rPr>
              <a:t>stdio.h</a:t>
            </a:r>
            <a:r>
              <a:rPr lang="en-US" dirty="0">
                <a:latin typeface="Courier New" pitchFamily="49" charset="0"/>
              </a:rPr>
              <a:t>&gt;</a:t>
            </a:r>
          </a:p>
          <a:p>
            <a:pPr algn="just"/>
            <a:r>
              <a:rPr lang="en-US" dirty="0" err="1">
                <a:latin typeface="Courier New" pitchFamily="49" charset="0"/>
              </a:rPr>
              <a:t>int</a:t>
            </a:r>
            <a:r>
              <a:rPr lang="en-US" dirty="0">
                <a:latin typeface="Courier New" pitchFamily="49" charset="0"/>
              </a:rPr>
              <a:t> main (void)</a:t>
            </a:r>
          </a:p>
          <a:p>
            <a:pPr algn="just"/>
            <a:r>
              <a:rPr lang="en-US" dirty="0">
                <a:latin typeface="Courier New" pitchFamily="49" charset="0"/>
              </a:rPr>
              <a:t>{</a:t>
            </a:r>
          </a:p>
          <a:p>
            <a:pPr lvl="1" algn="just"/>
            <a:r>
              <a:rPr lang="en-US" dirty="0">
                <a:latin typeface="Courier New" pitchFamily="49" charset="0"/>
              </a:rPr>
              <a:t>// Declare variables</a:t>
            </a:r>
          </a:p>
          <a:p>
            <a:pPr lvl="1" algn="just"/>
            <a:r>
              <a:rPr lang="en-US" dirty="0" err="1">
                <a:latin typeface="Courier New" pitchFamily="49" charset="0"/>
              </a:rPr>
              <a:t>int</a:t>
            </a:r>
            <a:r>
              <a:rPr lang="en-US" dirty="0">
                <a:latin typeface="Courier New" pitchFamily="49" charset="0"/>
              </a:rPr>
              <a:t> value1, value2, sum;</a:t>
            </a:r>
          </a:p>
          <a:p>
            <a:pPr lvl="1" algn="just"/>
            <a:r>
              <a:rPr lang="en-US" dirty="0">
                <a:latin typeface="Courier New" pitchFamily="49" charset="0"/>
              </a:rPr>
              <a:t>// Assign values and calculate their sum</a:t>
            </a:r>
          </a:p>
          <a:p>
            <a:pPr lvl="1" algn="just"/>
            <a:r>
              <a:rPr lang="en-US" dirty="0">
                <a:latin typeface="Courier New" pitchFamily="49" charset="0"/>
              </a:rPr>
              <a:t>value1 = 50;</a:t>
            </a:r>
          </a:p>
          <a:p>
            <a:pPr lvl="1" algn="just"/>
            <a:r>
              <a:rPr lang="en-US" dirty="0">
                <a:latin typeface="Courier New" pitchFamily="49" charset="0"/>
              </a:rPr>
              <a:t>value2 = 25;</a:t>
            </a:r>
          </a:p>
          <a:p>
            <a:pPr lvl="1" algn="just"/>
            <a:r>
              <a:rPr lang="en-US" dirty="0">
                <a:latin typeface="Courier New" pitchFamily="49" charset="0"/>
              </a:rPr>
              <a:t>sum = value1 + value2;</a:t>
            </a:r>
          </a:p>
          <a:p>
            <a:pPr lvl="1" algn="just"/>
            <a:r>
              <a:rPr lang="en-US" dirty="0">
                <a:latin typeface="Courier New" pitchFamily="49" charset="0"/>
              </a:rPr>
              <a:t>// Display the result</a:t>
            </a:r>
          </a:p>
          <a:p>
            <a:pPr lvl="1" algn="just"/>
            <a:r>
              <a:rPr lang="en-US" dirty="0" err="1">
                <a:latin typeface="Courier New" pitchFamily="49" charset="0"/>
              </a:rPr>
              <a:t>printf</a:t>
            </a:r>
            <a:r>
              <a:rPr lang="en-US" dirty="0">
                <a:latin typeface="Courier New" pitchFamily="49" charset="0"/>
              </a:rPr>
              <a:t> ("The sum of %</a:t>
            </a:r>
            <a:r>
              <a:rPr lang="en-US" dirty="0" err="1">
                <a:latin typeface="Courier New" pitchFamily="49" charset="0"/>
              </a:rPr>
              <a:t>i</a:t>
            </a:r>
            <a:r>
              <a:rPr lang="en-US" dirty="0">
                <a:latin typeface="Courier New" pitchFamily="49" charset="0"/>
              </a:rPr>
              <a:t> and %</a:t>
            </a:r>
            <a:r>
              <a:rPr lang="en-US" dirty="0" err="1">
                <a:latin typeface="Courier New" pitchFamily="49" charset="0"/>
              </a:rPr>
              <a:t>i</a:t>
            </a:r>
            <a:r>
              <a:rPr lang="en-US" dirty="0">
                <a:latin typeface="Courier New" pitchFamily="49" charset="0"/>
              </a:rPr>
              <a:t> is %</a:t>
            </a:r>
            <a:r>
              <a:rPr lang="en-US" dirty="0" err="1">
                <a:latin typeface="Courier New" pitchFamily="49" charset="0"/>
              </a:rPr>
              <a:t>i</a:t>
            </a:r>
            <a:r>
              <a:rPr lang="en-US" dirty="0">
                <a:latin typeface="Courier New" pitchFamily="49" charset="0"/>
              </a:rPr>
              <a:t>\n", </a:t>
            </a:r>
          </a:p>
          <a:p>
            <a:pPr lvl="1" algn="just"/>
            <a:r>
              <a:rPr lang="en-US" dirty="0">
                <a:latin typeface="Courier New" pitchFamily="49" charset="0"/>
              </a:rPr>
              <a:t>                            value1, value2, sum);</a:t>
            </a:r>
          </a:p>
          <a:p>
            <a:pPr lvl="1" algn="just"/>
            <a:r>
              <a:rPr lang="en-US" dirty="0">
                <a:latin typeface="Courier New" pitchFamily="49" charset="0"/>
              </a:rPr>
              <a:t>return 0;</a:t>
            </a:r>
          </a:p>
          <a:p>
            <a:pPr algn="just"/>
            <a:r>
              <a:rPr lang="en-US" dirty="0">
                <a:latin typeface="Courier New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Taking Inputs: </a:t>
            </a:r>
            <a:r>
              <a:rPr lang="en-CA" dirty="0" err="1"/>
              <a:t>scanf</a:t>
            </a:r>
            <a:r>
              <a:rPr lang="en-CA" dirty="0"/>
              <a:t>( 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44500" lvl="1" indent="-355600">
              <a:lnSpc>
                <a:spcPct val="110000"/>
              </a:lnSpc>
              <a:tabLst>
                <a:tab pos="444500" algn="l"/>
              </a:tabLst>
            </a:pPr>
            <a:r>
              <a:rPr lang="en-GB" dirty="0"/>
              <a:t>Performs input from the standard input device, which is the keyboard by default.</a:t>
            </a:r>
          </a:p>
          <a:p>
            <a:pPr marL="444500" lvl="1" indent="-355600">
              <a:lnSpc>
                <a:spcPct val="110000"/>
              </a:lnSpc>
              <a:tabLst>
                <a:tab pos="444500" algn="l"/>
              </a:tabLst>
            </a:pPr>
            <a:r>
              <a:rPr lang="en-GB" dirty="0"/>
              <a:t>It requires a format string and a list of variables into which the value received from the input device will be stored.</a:t>
            </a:r>
          </a:p>
          <a:p>
            <a:pPr marL="444500" lvl="1" indent="-355600">
              <a:lnSpc>
                <a:spcPct val="110000"/>
              </a:lnSpc>
              <a:tabLst>
                <a:tab pos="444500" algn="l"/>
              </a:tabLst>
            </a:pPr>
            <a:r>
              <a:rPr lang="en-GB" dirty="0"/>
              <a:t>It is required to put an ampersand (&amp;) before the names of the variables.</a:t>
            </a:r>
          </a:p>
          <a:p>
            <a:pPr marL="901700" lvl="2" indent="-412750">
              <a:lnSpc>
                <a:spcPct val="110000"/>
              </a:lnSpc>
              <a:buNone/>
              <a:tabLst>
                <a:tab pos="444500" algn="l"/>
              </a:tabLst>
            </a:pPr>
            <a:r>
              <a:rPr lang="en-GB" dirty="0"/>
              <a:t> 	</a:t>
            </a:r>
            <a:r>
              <a:rPr lang="en-GB" sz="20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2000" dirty="0">
                <a:latin typeface="Courier New" pitchFamily="49" charset="0"/>
                <a:cs typeface="Courier New" pitchFamily="49" charset="0"/>
              </a:rPr>
              <a:t> size;</a:t>
            </a:r>
          </a:p>
          <a:p>
            <a:pPr marL="444500" lvl="2" indent="-355600">
              <a:lnSpc>
                <a:spcPct val="110000"/>
              </a:lnSpc>
              <a:buFontTx/>
              <a:buNone/>
              <a:tabLst>
                <a:tab pos="444500" algn="l"/>
              </a:tabLst>
            </a:pPr>
            <a:r>
              <a:rPr lang="en-GB" sz="2000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GB" sz="2000" dirty="0" err="1">
                <a:latin typeface="Courier New" pitchFamily="49" charset="0"/>
                <a:cs typeface="Courier New" pitchFamily="49" charset="0"/>
              </a:rPr>
              <a:t>scanf</a:t>
            </a:r>
            <a:r>
              <a:rPr lang="en-GB" sz="2000" dirty="0">
                <a:latin typeface="Courier New" pitchFamily="49" charset="0"/>
                <a:cs typeface="Courier New" pitchFamily="49" charset="0"/>
              </a:rPr>
              <a:t> ("%d", &amp;size);</a:t>
            </a:r>
          </a:p>
          <a:p>
            <a:pPr marL="444500" lvl="1" indent="-355600">
              <a:lnSpc>
                <a:spcPct val="110000"/>
              </a:lnSpc>
              <a:tabLst>
                <a:tab pos="444500" algn="l"/>
              </a:tabLst>
            </a:pPr>
            <a:r>
              <a:rPr lang="en-GB" dirty="0"/>
              <a:t>Reading multiple values</a:t>
            </a:r>
          </a:p>
          <a:p>
            <a:pPr marL="444500" lvl="1" indent="-355600">
              <a:lnSpc>
                <a:spcPct val="110000"/>
              </a:lnSpc>
              <a:buNone/>
              <a:tabLst>
                <a:tab pos="444500" algn="l"/>
              </a:tabLst>
            </a:pPr>
            <a:r>
              <a:rPr lang="en-GB" dirty="0"/>
              <a:t>		</a:t>
            </a:r>
            <a:r>
              <a:rPr lang="en-GB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dirty="0">
                <a:latin typeface="Courier New" pitchFamily="49" charset="0"/>
                <a:cs typeface="Courier New" pitchFamily="49" charset="0"/>
              </a:rPr>
              <a:t> length, width;</a:t>
            </a:r>
          </a:p>
          <a:p>
            <a:pPr marL="444500" lvl="2" indent="-355600">
              <a:lnSpc>
                <a:spcPct val="110000"/>
              </a:lnSpc>
              <a:buFontTx/>
              <a:buNone/>
              <a:tabLst>
                <a:tab pos="444500" algn="l"/>
              </a:tabLst>
            </a:pPr>
            <a:r>
              <a:rPr lang="en-GB" sz="2000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GB" sz="2000" dirty="0" err="1">
                <a:latin typeface="Courier New" pitchFamily="49" charset="0"/>
                <a:cs typeface="Courier New" pitchFamily="49" charset="0"/>
              </a:rPr>
              <a:t>scanf</a:t>
            </a:r>
            <a:r>
              <a:rPr lang="en-GB" sz="2000" dirty="0">
                <a:latin typeface="Courier New" pitchFamily="49" charset="0"/>
                <a:cs typeface="Courier New" pitchFamily="49" charset="0"/>
              </a:rPr>
              <a:t> (“%d  %d”, &amp;length, &amp;width);</a:t>
            </a:r>
            <a:endParaRPr lang="en-US" sz="2000" dirty="0">
              <a:latin typeface="Courier New" pitchFamily="49" charset="0"/>
              <a:cs typeface="Courier New" pitchFamily="49" charset="0"/>
            </a:endParaRPr>
          </a:p>
          <a:p>
            <a:pPr marL="444500" indent="-355600">
              <a:tabLst>
                <a:tab pos="444500" algn="l"/>
              </a:tabLst>
            </a:pPr>
            <a:endParaRPr lang="en-CA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6562B-8786-4769-A4C9-F5F316D27C5E}" type="datetime5">
              <a:rPr lang="en-US" smtClean="0"/>
              <a:pPr/>
              <a:t>28-Jan-23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D6780-CDB5-4341-BE76-A36E52D8C546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02" name="Rectangle 2"/>
          <p:cNvSpPr>
            <a:spLocks noGrp="1" noChangeArrowheads="1"/>
          </p:cNvSpPr>
          <p:nvPr>
            <p:ph type="title"/>
          </p:nvPr>
        </p:nvSpPr>
        <p:spPr>
          <a:xfrm>
            <a:off x="1142976" y="304800"/>
            <a:ext cx="7239000" cy="60960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Adding two numbers</a:t>
            </a:r>
          </a:p>
        </p:txBody>
      </p:sp>
      <p:sp>
        <p:nvSpPr>
          <p:cNvPr id="460812" name="Text Box 12"/>
          <p:cNvSpPr txBox="1">
            <a:spLocks noChangeArrowheads="1"/>
          </p:cNvSpPr>
          <p:nvPr/>
        </p:nvSpPr>
        <p:spPr bwMode="auto">
          <a:xfrm>
            <a:off x="3571868" y="1600200"/>
            <a:ext cx="4648200" cy="40640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just"/>
            <a:r>
              <a:rPr lang="en-US" sz="2000" dirty="0">
                <a:latin typeface="Courier New" pitchFamily="49" charset="0"/>
              </a:rPr>
              <a:t>#include &lt;</a:t>
            </a:r>
            <a:r>
              <a:rPr lang="en-US" sz="2000" dirty="0" err="1">
                <a:latin typeface="Courier New" pitchFamily="49" charset="0"/>
              </a:rPr>
              <a:t>stdio.h</a:t>
            </a:r>
            <a:r>
              <a:rPr lang="en-US" sz="2000" dirty="0">
                <a:latin typeface="Courier New" pitchFamily="49" charset="0"/>
              </a:rPr>
              <a:t>&gt;</a:t>
            </a:r>
          </a:p>
          <a:p>
            <a:pPr algn="just"/>
            <a:r>
              <a:rPr lang="en-US" sz="2000" dirty="0">
                <a:latin typeface="Courier New" pitchFamily="49" charset="0"/>
              </a:rPr>
              <a:t>main()</a:t>
            </a:r>
          </a:p>
          <a:p>
            <a:pPr algn="just"/>
            <a:r>
              <a:rPr lang="en-US" sz="2000" dirty="0">
                <a:latin typeface="Courier New" pitchFamily="49" charset="0"/>
              </a:rPr>
              <a:t>{</a:t>
            </a:r>
          </a:p>
          <a:p>
            <a:pPr algn="just"/>
            <a:r>
              <a:rPr lang="en-US" sz="2000" dirty="0">
                <a:latin typeface="Courier New" pitchFamily="49" charset="0"/>
              </a:rPr>
              <a:t>  </a:t>
            </a:r>
            <a:r>
              <a:rPr lang="en-US" sz="2000" dirty="0" err="1">
                <a:latin typeface="Courier New" pitchFamily="49" charset="0"/>
              </a:rPr>
              <a:t>int</a:t>
            </a:r>
            <a:r>
              <a:rPr lang="en-US" sz="2000" dirty="0">
                <a:latin typeface="Courier New" pitchFamily="49" charset="0"/>
              </a:rPr>
              <a:t> a, b, c;</a:t>
            </a:r>
          </a:p>
          <a:p>
            <a:pPr algn="just"/>
            <a:r>
              <a:rPr lang="en-US" sz="2000" dirty="0">
                <a:latin typeface="Courier New" pitchFamily="49" charset="0"/>
              </a:rPr>
              <a:t>  </a:t>
            </a:r>
          </a:p>
          <a:p>
            <a:pPr algn="just"/>
            <a:r>
              <a:rPr lang="en-US" sz="2000" dirty="0">
                <a:latin typeface="Courier New" pitchFamily="49" charset="0"/>
              </a:rPr>
              <a:t>  </a:t>
            </a:r>
            <a:r>
              <a:rPr lang="en-US" sz="2000" dirty="0" err="1">
                <a:latin typeface="Courier New" pitchFamily="49" charset="0"/>
              </a:rPr>
              <a:t>scanf</a:t>
            </a:r>
            <a:r>
              <a:rPr lang="en-US" sz="2000" dirty="0">
                <a:latin typeface="Courier New" pitchFamily="49" charset="0"/>
              </a:rPr>
              <a:t>(“%d %d”, &amp;a, &amp;b);</a:t>
            </a:r>
          </a:p>
          <a:p>
            <a:pPr algn="just"/>
            <a:endParaRPr lang="en-US" sz="2000" dirty="0">
              <a:latin typeface="Courier New" pitchFamily="49" charset="0"/>
            </a:endParaRPr>
          </a:p>
          <a:p>
            <a:pPr algn="just"/>
            <a:endParaRPr lang="en-US" sz="2000" dirty="0">
              <a:latin typeface="Courier New" pitchFamily="49" charset="0"/>
            </a:endParaRPr>
          </a:p>
          <a:p>
            <a:pPr algn="just"/>
            <a:r>
              <a:rPr lang="en-US" sz="2000" dirty="0">
                <a:latin typeface="Courier New" pitchFamily="49" charset="0"/>
              </a:rPr>
              <a:t>  c = a + b;</a:t>
            </a:r>
          </a:p>
          <a:p>
            <a:pPr algn="just"/>
            <a:endParaRPr lang="en-US" sz="2000" dirty="0">
              <a:latin typeface="Courier New" pitchFamily="49" charset="0"/>
            </a:endParaRPr>
          </a:p>
          <a:p>
            <a:pPr algn="just"/>
            <a:endParaRPr lang="en-US" sz="2000" dirty="0">
              <a:latin typeface="Courier New" pitchFamily="49" charset="0"/>
            </a:endParaRPr>
          </a:p>
          <a:p>
            <a:pPr algn="just"/>
            <a:r>
              <a:rPr lang="en-US" sz="2000" dirty="0">
                <a:latin typeface="Courier New" pitchFamily="49" charset="0"/>
              </a:rPr>
              <a:t>  </a:t>
            </a:r>
            <a:r>
              <a:rPr lang="en-US" sz="2000" dirty="0" err="1">
                <a:latin typeface="Courier New" pitchFamily="49" charset="0"/>
              </a:rPr>
              <a:t>printf</a:t>
            </a:r>
            <a:r>
              <a:rPr lang="en-US" sz="2000" dirty="0">
                <a:latin typeface="Courier New" pitchFamily="49" charset="0"/>
              </a:rPr>
              <a:t>(“Sum = %d”, c);</a:t>
            </a:r>
          </a:p>
          <a:p>
            <a:pPr algn="just"/>
            <a:r>
              <a:rPr lang="en-US" sz="2000" dirty="0">
                <a:latin typeface="Courier New" pitchFamily="49" charset="0"/>
              </a:rPr>
              <a:t>}</a:t>
            </a:r>
          </a:p>
        </p:txBody>
      </p:sp>
      <p:sp>
        <p:nvSpPr>
          <p:cNvPr id="460813" name="Text Box 13"/>
          <p:cNvSpPr txBox="1">
            <a:spLocks noChangeArrowheads="1"/>
          </p:cNvSpPr>
          <p:nvPr/>
        </p:nvSpPr>
        <p:spPr bwMode="auto">
          <a:xfrm>
            <a:off x="6553200" y="2057400"/>
            <a:ext cx="2390775" cy="37623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t>Variable Declaration</a:t>
            </a:r>
          </a:p>
        </p:txBody>
      </p:sp>
      <p:sp>
        <p:nvSpPr>
          <p:cNvPr id="460814" name="Line 14"/>
          <p:cNvSpPr>
            <a:spLocks noChangeShapeType="1"/>
          </p:cNvSpPr>
          <p:nvPr/>
        </p:nvSpPr>
        <p:spPr bwMode="auto">
          <a:xfrm flipH="1">
            <a:off x="5029200" y="2209800"/>
            <a:ext cx="152400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CA"/>
          </a:p>
        </p:txBody>
      </p:sp>
      <p:sp>
        <p:nvSpPr>
          <p:cNvPr id="460815" name="Line 15"/>
          <p:cNvSpPr>
            <a:spLocks noChangeShapeType="1"/>
          </p:cNvSpPr>
          <p:nvPr/>
        </p:nvSpPr>
        <p:spPr bwMode="auto">
          <a:xfrm>
            <a:off x="2667000" y="2667000"/>
            <a:ext cx="1219200" cy="533400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CA"/>
          </a:p>
        </p:txBody>
      </p:sp>
      <p:sp>
        <p:nvSpPr>
          <p:cNvPr id="460816" name="Line 16"/>
          <p:cNvSpPr>
            <a:spLocks noChangeShapeType="1"/>
          </p:cNvSpPr>
          <p:nvPr/>
        </p:nvSpPr>
        <p:spPr bwMode="auto">
          <a:xfrm>
            <a:off x="2667000" y="3581400"/>
            <a:ext cx="1219200" cy="533400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CA"/>
          </a:p>
        </p:txBody>
      </p:sp>
      <p:sp>
        <p:nvSpPr>
          <p:cNvPr id="460817" name="Line 17"/>
          <p:cNvSpPr>
            <a:spLocks noChangeShapeType="1"/>
          </p:cNvSpPr>
          <p:nvPr/>
        </p:nvSpPr>
        <p:spPr bwMode="auto">
          <a:xfrm>
            <a:off x="2667000" y="4648200"/>
            <a:ext cx="1219200" cy="533400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CA"/>
          </a:p>
        </p:txBody>
      </p:sp>
      <p:sp>
        <p:nvSpPr>
          <p:cNvPr id="460803" name="AutoShape 3"/>
          <p:cNvSpPr>
            <a:spLocks noChangeArrowheads="1"/>
          </p:cNvSpPr>
          <p:nvPr/>
        </p:nvSpPr>
        <p:spPr bwMode="auto">
          <a:xfrm>
            <a:off x="795326" y="2362200"/>
            <a:ext cx="2133600" cy="609600"/>
          </a:xfrm>
          <a:prstGeom prst="flowChartInputOutput">
            <a:avLst/>
          </a:prstGeom>
          <a:solidFill>
            <a:srgbClr val="FFFFCC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effectLst>
                  <a:outerShdw blurRad="38100" dist="38100" dir="2700000" algn="tl">
                    <a:srgbClr val="FFFFFF"/>
                  </a:outerShdw>
                </a:effectLst>
                <a:latin typeface="Arial" pitchFamily="34" charset="0"/>
              </a:rPr>
              <a:t>READ  A, B</a:t>
            </a:r>
          </a:p>
        </p:txBody>
      </p:sp>
      <p:sp>
        <p:nvSpPr>
          <p:cNvPr id="460804" name="Rectangle 4"/>
          <p:cNvSpPr>
            <a:spLocks noChangeArrowheads="1"/>
          </p:cNvSpPr>
          <p:nvPr/>
        </p:nvSpPr>
        <p:spPr bwMode="auto">
          <a:xfrm>
            <a:off x="871526" y="3352800"/>
            <a:ext cx="1981200" cy="609600"/>
          </a:xfrm>
          <a:prstGeom prst="rect">
            <a:avLst/>
          </a:prstGeom>
          <a:solidFill>
            <a:srgbClr val="FFFFCC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effectLst>
                  <a:outerShdw blurRad="38100" dist="38100" dir="2700000" algn="tl">
                    <a:srgbClr val="FFFFFF"/>
                  </a:outerShdw>
                </a:effectLst>
                <a:latin typeface="Arial" pitchFamily="34" charset="0"/>
              </a:rPr>
              <a:t>C = A + B</a:t>
            </a:r>
          </a:p>
        </p:txBody>
      </p:sp>
      <p:sp>
        <p:nvSpPr>
          <p:cNvPr id="460805" name="AutoShape 5"/>
          <p:cNvSpPr>
            <a:spLocks noChangeArrowheads="1"/>
          </p:cNvSpPr>
          <p:nvPr/>
        </p:nvSpPr>
        <p:spPr bwMode="auto">
          <a:xfrm>
            <a:off x="719126" y="4419600"/>
            <a:ext cx="2057400" cy="609600"/>
          </a:xfrm>
          <a:prstGeom prst="flowChartInputOutput">
            <a:avLst/>
          </a:prstGeom>
          <a:solidFill>
            <a:srgbClr val="FFFFCC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effectLst>
                  <a:outerShdw blurRad="38100" dist="38100" dir="2700000" algn="tl">
                    <a:srgbClr val="FFFFFF"/>
                  </a:outerShdw>
                </a:effectLst>
                <a:latin typeface="Arial" pitchFamily="34" charset="0"/>
              </a:rPr>
              <a:t>PRINT  C</a:t>
            </a:r>
          </a:p>
        </p:txBody>
      </p:sp>
      <p:sp>
        <p:nvSpPr>
          <p:cNvPr id="460806" name="Oval 6"/>
          <p:cNvSpPr>
            <a:spLocks noChangeArrowheads="1"/>
          </p:cNvSpPr>
          <p:nvPr/>
        </p:nvSpPr>
        <p:spPr bwMode="auto">
          <a:xfrm>
            <a:off x="1023926" y="5410200"/>
            <a:ext cx="1600200" cy="685800"/>
          </a:xfrm>
          <a:prstGeom prst="ellipse">
            <a:avLst/>
          </a:prstGeom>
          <a:solidFill>
            <a:srgbClr val="FFFFCC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effectLst>
                  <a:outerShdw blurRad="38100" dist="38100" dir="2700000" algn="tl">
                    <a:srgbClr val="FFFFFF"/>
                  </a:outerShdw>
                </a:effectLst>
                <a:latin typeface="Arial" pitchFamily="34" charset="0"/>
              </a:rPr>
              <a:t>STOP</a:t>
            </a:r>
          </a:p>
        </p:txBody>
      </p:sp>
      <p:sp>
        <p:nvSpPr>
          <p:cNvPr id="460807" name="Oval 7"/>
          <p:cNvSpPr>
            <a:spLocks noChangeArrowheads="1"/>
          </p:cNvSpPr>
          <p:nvPr/>
        </p:nvSpPr>
        <p:spPr bwMode="auto">
          <a:xfrm>
            <a:off x="1100126" y="1371600"/>
            <a:ext cx="1600200" cy="685800"/>
          </a:xfrm>
          <a:prstGeom prst="ellipse">
            <a:avLst/>
          </a:prstGeom>
          <a:solidFill>
            <a:srgbClr val="FFFFCC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effectLst>
                  <a:outerShdw blurRad="38100" dist="38100" dir="2700000" algn="tl">
                    <a:srgbClr val="FFFFFF"/>
                  </a:outerShdw>
                </a:effectLst>
                <a:latin typeface="Arial" pitchFamily="34" charset="0"/>
              </a:rPr>
              <a:t>START</a:t>
            </a:r>
          </a:p>
        </p:txBody>
      </p:sp>
      <p:sp>
        <p:nvSpPr>
          <p:cNvPr id="460808" name="Line 8"/>
          <p:cNvSpPr>
            <a:spLocks noChangeShapeType="1"/>
          </p:cNvSpPr>
          <p:nvPr/>
        </p:nvSpPr>
        <p:spPr bwMode="auto">
          <a:xfrm>
            <a:off x="1862126" y="2057400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460809" name="Line 9"/>
          <p:cNvSpPr>
            <a:spLocks noChangeShapeType="1"/>
          </p:cNvSpPr>
          <p:nvPr/>
        </p:nvSpPr>
        <p:spPr bwMode="auto">
          <a:xfrm>
            <a:off x="1862126" y="2971800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460810" name="Line 10"/>
          <p:cNvSpPr>
            <a:spLocks noChangeShapeType="1"/>
          </p:cNvSpPr>
          <p:nvPr/>
        </p:nvSpPr>
        <p:spPr bwMode="auto">
          <a:xfrm>
            <a:off x="1862126" y="3962400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460811" name="Line 11"/>
          <p:cNvSpPr>
            <a:spLocks noChangeShapeType="1"/>
          </p:cNvSpPr>
          <p:nvPr/>
        </p:nvSpPr>
        <p:spPr bwMode="auto">
          <a:xfrm>
            <a:off x="1862126" y="5029200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ustom Design">
  <a:themeElements>
    <a:clrScheme name="1_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1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Custom Design">
  <a:themeElements>
    <a:clrScheme name="2_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2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76CA9145-A3C4-4022-B990-A03E3B455E3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12330</TotalTime>
  <Words>1552</Words>
  <Application>Microsoft Office PowerPoint</Application>
  <PresentationFormat>On-screen Show (4:3)</PresentationFormat>
  <Paragraphs>307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Calibri</vt:lpstr>
      <vt:lpstr>Courier New</vt:lpstr>
      <vt:lpstr>Default Design</vt:lpstr>
      <vt:lpstr>1_Custom Design</vt:lpstr>
      <vt:lpstr>2_Custom Design</vt:lpstr>
      <vt:lpstr>CSI 121: Structured Programming Language Introduction to C  Riasat Azim United International University</vt:lpstr>
      <vt:lpstr>Acknowledgment</vt:lpstr>
      <vt:lpstr>The von Neumann architecture </vt:lpstr>
      <vt:lpstr>The first C program</vt:lpstr>
      <vt:lpstr>The format in C</vt:lpstr>
      <vt:lpstr>Compiling and running C programs</vt:lpstr>
      <vt:lpstr>C Compilers and IDE’s</vt:lpstr>
      <vt:lpstr>Debugging program errors</vt:lpstr>
      <vt:lpstr>Syntax and Semantics</vt:lpstr>
      <vt:lpstr>Second program</vt:lpstr>
      <vt:lpstr>Displaying multiple lines of text</vt:lpstr>
      <vt:lpstr>The C Character Set</vt:lpstr>
      <vt:lpstr>Identifiers and Keywords</vt:lpstr>
      <vt:lpstr>Valid and Invalid Identifiers</vt:lpstr>
      <vt:lpstr>Variables</vt:lpstr>
      <vt:lpstr>Variables and Constants</vt:lpstr>
      <vt:lpstr>Variables and Constants Storage</vt:lpstr>
      <vt:lpstr>Memory map</vt:lpstr>
      <vt:lpstr>Variables in Memory</vt:lpstr>
      <vt:lpstr>Variables in Memory (contd.)</vt:lpstr>
      <vt:lpstr>Using and Displaying Variables</vt:lpstr>
      <vt:lpstr>Displaying multiple values</vt:lpstr>
      <vt:lpstr>Using comments in a program</vt:lpstr>
      <vt:lpstr>Using comments in a program</vt:lpstr>
      <vt:lpstr>Taking Inputs: scanf( )</vt:lpstr>
      <vt:lpstr>Adding two numbers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Crystal Winter</dc:title>
  <dc:creator>Salekul</dc:creator>
  <cp:lastModifiedBy>Riasat Azim</cp:lastModifiedBy>
  <cp:revision>326</cp:revision>
  <dcterms:modified xsi:type="dcterms:W3CDTF">2023-01-28T07:38:16Z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TC025753819991</vt:lpwstr>
  </property>
</Properties>
</file>